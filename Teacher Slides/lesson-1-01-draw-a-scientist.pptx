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4th grade science! This is Day 1 of the year. Keep energy high. After introducing the learning goals, ask: 'Before we look at anything, I want to know what you already think. Get your science notebooks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visible 2-minute timer. While students draw, circulate silently — don't comment on their drawings. After time is up: 'Keep your notebook open to this page. We are going to look at these together later.' Do NOT ask students to share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4–5 shares. LISTEN without correcting — just notice patterns aloud: 'Interesting, I'm hearing a lot of ___.' Follow-up moves:
• 'What makes you say that?'
• 'Does anyone's scientist look different from that?'
• 'Who can add on to what they shared?'
Don't reveal the research finding yet — just let students share and notice patterns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4th grade rigor move: evidence-based predictions. Students must give a 'because' — not just a guess.
Collect 3–4 predictions. Write a few on the board. Tell students: 'We're going to come back to these predictions at the end of class and see if your thinking changed — and why.'
Keep energy curious and open: 'There's no single right answer yet. That's what investigation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several students share. Follow-up: 'What makes you say that was scientific? What question were you trying to answer?'
Key point to land: Being a scientist is about HOW you think, not where you work or what you look like.
Follow-up move: 'Who can add on to what ___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'Stop &amp; Reason' question is in the HTML assignment (Part B, Q2). By discussing it here, students have already practiced the answer before they write it independently.
Follow-up moves:
• 'What makes you say that?'
• 'Can anyone give an example of something you could draw that would be hard to describe in words?'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(label vs. diagram) is directly from Part B of the assignment. Flag it explicitly: 'Remember this — you'll need it later.'
Key idea to reinforce: a label names a part; a diagram shows HOW things connect or work. A sketch becomes a diagram when labels explain relationships, not just identify parts.
Follow-up: 'Who can add on?' / 'Does that match what you first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pair-share (30 seconds), then a few call-outs. This is low-stakes — just building identity connection.
Follow-up: 'What evidence would a field scientist record that a lab scientist might not? What would be the same?'
4th grade rigor: push students to think about WHY different scientists work in different places — what are they investigating? What's the phenomenon they're trying to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discovery moment BEFORE you reveal the 5 rules. Don't name the rules yet — let students identify what's missing themselves.
Take 3–4 responses. Write key ideas on the board. Then say: 'Let's see if your ideas match what scientists actually figured out. These are called the 5 Rules of Scientific Sketching.'
4th grade rigor: require the 'because' in predictions. Push: 'Why would that make it better? What problem does it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students' predictions from the last slide. Celebrate correct predictions: 'You figured out Rule B before I told you!' This reinforces that science is something THEY can do.
Point out Part A of the assignment: students will need to match each letter (A–E) to its meaning. Have them note the letters as you go through.
Follow-up: 'What would happen if you skipped Rule A? Rule E? What information would a scientist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Slide 9's prediction moment. Ask: 'Did this match what you predicted?'
Key teaching point: same subject, two very different scientific records. One communicates; one doesn't.
Push for specifics: 'Which rule had the biggest impact? Why? What evidence supports your answer?' — this is 4th grade rigor in action: evidence-based reasoning in discussion, not just opinion.
Follow-up: 'What would change your mind about which rule is most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extends the concept into COMMUNICATION — why science is a shared, cumulative practice, not just individual work.
Connect to Part B Q1 (label vs. diagram): 'So based on what we just said, how would you explain the difference between a label and a diagram in your own words?'
Follow-up: 'What evidence from today's lesson supports the idea that diagrams are more useful than just words or just pictures?'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students to use evidence-based reasoning: 'What evidence from da Vinci's story supports the idea that scientific sketches are valuable?'
This is a preview of the CER pattern — using a specific example as evidence to support a claim.
Make the personal connection: 'Your science notebook this year is part of that same tradition. What's something you'd want to sketch and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(why observe before drawing) directly prepares students for the thinking in Part B.
Follow-up: 'Can you say more about that? What specific detail might you miss?' / 'Does anyone see it differently?'
4th grade rigor: Push for 'because' in every answer. 'I think you should observe first BECAUSE ___.' Model it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B Question 3 from the assignment — rehearsing it out loud right now.
Take 4-5 specific suggestions. Write them on the board. Push for specificity: 'Not just colors — which specific patterns? Which details?'
Follow-up: 'What makes you say that detail is important? What would a scientist NEED to see in someone else's sketch to understand what you observed?'
After collecting ideas: 'These are exactly the kinds of things you'll be thinking about when you do your Draw a Scientist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 the date and location turn a sketch into a DATA POINT — something that can be compared, tracked, and verified. This is what makes science reproducible.
4th grade rigor: 'What evidence would be lost if you forgot the date?' → Push students to think about what that would mean for scientific study (can't track changes over time, can't compare observations).
Follow-up: 'Does anyone see it differently? Is there a situation where the date and location wouldn't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is from the HTML's 'Stop &amp; Reason' prompt and directly matches Part B Q2 on the assignment.
Q2 is the 4th grade upgrade — instead of just asking 'why,' asking students to use specific EVIDENCE from the lesson. This is the first step toward CER thinking: identifying specific evidence to support a point.
Facilitation moves:
• 'What makes you say that?'
• 'Can you point to a specific example from what we looked at today?'
• 'Does anyone have different evidence?'
• 'What would change your mind?'
This is laying the foundation for CER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4th grade SCIENTIFIC ARGUMENTATION — students use evidence to respond to each other, not just answer the teacher.
Key facilitation:
• After the first student answers Q1, redirect: 'What evidence supports that? What would change your mind?'
• For Q2: 'Can someone add on to that? Does anyone disagree with that explanation?'
• For Q3: 'What evidence would be convincing? What would NOT be convincing, and why?'
Close with: 'Your drawing from the beginning of class is a data point in this same study. That's why we kept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CER Stage 1 — just the CLAIM. Do not rush to Evidence yet.
TEACHER MODELS FIRST:
'I'll go first. My claim is: A scientist is someone who asks questions about the natural world and tries to find answers through careful observation. That's one sentence — my claim.'
Then take 3–4 student claims. Redirect any that are too vague: 'Can you say that in one clear sentence? What do you think is true?'
NOTE: Do NOT ask for evidence or reasoning yet — that comes on the next two slides. This staged approach is deliberate: students need to practice making a clear claim BEFORE adding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MODELS FIRST:
'Now I'm going to add evidence to my claim. My evidence is: In the lesson, I learned that scientists work in forests, oceans, hospitals, and space — not just in labs. This is specific — it's from the lesson.'
Key distinction for students: Evidence is SPECIFIC. Not 'because I believe it' — but a specific thing from the lesson, observation, or investigation.
Take 2–3 student evidence statements. After each one, check: 'Is that specific? Can you point to where you saw/learned that in today's lesson?'
Follow-up: 'Does anyone have different evidence for the same claim? Can the same claim have more than one piece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MODELS THE FULL CER FIRST — reading it aloud and explaining EACH piece as you go.
Key teaching point on Reasoning: 'Reasoning is the bridge between your evidence and your claim. It answers: WHY does that evidence prove it? Students often just restate the evidence — that's not reasoning. Reasoning connects back to the science idea.'
Give partners 60–90 seconds. Then call on 2–3 pairs to share their full CER.
After sharing, validate and praise: 'That is real scientific writing. That's what scientists publish in journals.'
Close: 'This is the tool you'll be using all year. It gets easier with practice. Every time you write a CER, you're thinking like a real scientist.'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graded — use them to gauge understanding and correct misconceptions before students go to the assignment.
For each question, ask for a show of hands or thumbs (up/sideways/down) before revealing the answer. This gives you quick formative data.
Bonus question directly prepares students for Part B Q1 on the assignment — labels vs. diagram.
If most students miss Q1: Go back and revisit the 5 Rules briefly. 'Let's look at our leaf sketches again — which one used accuracy?'
Close: 'If you answered all three, you're ready for the assignment. If something felt fuzzy, use your science notebook to look back at the 5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part briefly. For each one, say: 'We practiced this on slide ___.' This builds confidence.
Key message: 'Nothing on this assignment is brand new. You've done all of this thinking already today — now you're just writing it down.'
If students look nervous about the CER: 'The sentence starters are there in your assignment. Use them! You already wrote a CER together just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RITUAL: Go back to the predictions students made on Slide 4. Ask: 'How did your prediction compare to what you discovered? Did your thinking change? What evidence changed it?'
This brings everything full circle: prediction → investigation → evidence → revised thinking. That IS the scientific process.
For the EQ response: give students 3–5 minutes to write independently in their notebooks. This is their first formal scientific writing of the year.
Send students off with energy and belief: 'You drew a scientist today. That drawing IS a data point. And you wrote your first CER. You are thinking and writing like real scientists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731520"/>
            <a:ext cx="8686800" cy="1371600"/>
          </a:xfrm>
          <a:prstGeom prst="rect">
            <a:avLst/>
          </a:prstGeom>
          <a:noFill/>
          <a:ln/>
        </p:spPr>
        <p:txBody>
          <a:bodyPr wrap="square" rtlCol="0" anchor="ctr"/>
          <a:lstStyle/>
          <a:p>
            <a:pPr algn="l" indent="0" marL="0">
              <a:buNone/>
            </a:pPr>
            <a:r>
              <a:rPr lang="en-US" sz="5200" b="1" dirty="0">
                <a:solidFill>
                  <a:srgbClr val="FFFFFF"/>
                </a:solidFill>
                <a:latin typeface="Calibri" pitchFamily="34" charset="0"/>
                <a:ea typeface="Calibri" pitchFamily="34" charset="-122"/>
                <a:cs typeface="Calibri" pitchFamily="34" charset="-120"/>
              </a:rPr>
              <a:t>Draw a Scientist</a:t>
            </a:r>
            <a:endParaRPr lang="en-US" sz="5200" dirty="0"/>
          </a:p>
        </p:txBody>
      </p:sp>
      <p:sp>
        <p:nvSpPr>
          <p:cNvPr id="4" name="Text 2"/>
          <p:cNvSpPr/>
          <p:nvPr/>
        </p:nvSpPr>
        <p:spPr>
          <a:xfrm>
            <a:off x="548640" y="2057400"/>
            <a:ext cx="8686800" cy="365760"/>
          </a:xfrm>
          <a:prstGeom prst="rect">
            <a:avLst/>
          </a:prstGeom>
          <a:noFill/>
          <a:ln/>
        </p:spPr>
        <p:txBody>
          <a:bodyPr wrap="square" rtlCol="0" anchor="ctr"/>
          <a:lstStyle/>
          <a:p>
            <a:pPr algn="l" indent="0" marL="0">
              <a:buNone/>
            </a:pPr>
            <a:r>
              <a:rPr lang="en-US" sz="1400" dirty="0">
                <a:solidFill>
                  <a:srgbClr val="4CC9F0"/>
                </a:solidFill>
                <a:latin typeface="Calibri" pitchFamily="34" charset="0"/>
                <a:ea typeface="Calibri" pitchFamily="34" charset="-122"/>
                <a:cs typeface="Calibri" pitchFamily="34" charset="-120"/>
              </a:rPr>
              <a:t>Lesson 1.01  ·  Scientific Practices  ·  Q1 Unit 1: Introduction to Science</a:t>
            </a:r>
            <a:endParaRPr lang="en-US" sz="1400" dirty="0"/>
          </a:p>
        </p:txBody>
      </p:sp>
      <p:sp>
        <p:nvSpPr>
          <p:cNvPr id="5" name="Shape 3"/>
          <p:cNvSpPr/>
          <p:nvPr/>
        </p:nvSpPr>
        <p:spPr>
          <a:xfrm>
            <a:off x="548640" y="2514600"/>
            <a:ext cx="4754880" cy="502920"/>
          </a:xfrm>
          <a:prstGeom prst="roundRect">
            <a:avLst>
              <a:gd name="adj" fmla="val 14545"/>
            </a:avLst>
          </a:prstGeom>
          <a:solidFill>
            <a:srgbClr val="1E2F45"/>
          </a:solidFill>
          <a:ln w="12700">
            <a:solidFill>
              <a:srgbClr val="4CC9F0"/>
            </a:solidFill>
            <a:prstDash val="solid"/>
          </a:ln>
        </p:spPr>
      </p:sp>
      <p:sp>
        <p:nvSpPr>
          <p:cNvPr id="6" name="Text 4"/>
          <p:cNvSpPr/>
          <p:nvPr/>
        </p:nvSpPr>
        <p:spPr>
          <a:xfrm>
            <a:off x="685800" y="2514600"/>
            <a:ext cx="4572000" cy="502920"/>
          </a:xfrm>
          <a:prstGeom prst="rect">
            <a:avLst/>
          </a:prstGeom>
          <a:noFill/>
          <a:ln/>
        </p:spPr>
        <p:txBody>
          <a:bodyPr wrap="square" rtlCol="0" anchor="ctr"/>
          <a:lstStyle/>
          <a:p>
            <a:pPr algn="l" indent="0" marL="0">
              <a:buNone/>
            </a:pPr>
            <a:r>
              <a:rPr lang="en-US" sz="1200" dirty="0">
                <a:solidFill>
                  <a:srgbClr val="B0C4D8"/>
                </a:solidFill>
                <a:latin typeface="Calibri" pitchFamily="34" charset="0"/>
                <a:ea typeface="Calibri" pitchFamily="34" charset="-122"/>
                <a:cs typeface="Calibri" pitchFamily="34" charset="-120"/>
              </a:rPr>
              <a:t>📋  NGSS SEP 8 — Communicating Information</a:t>
            </a:r>
            <a:endParaRPr lang="en-US" sz="1200" dirty="0"/>
          </a:p>
        </p:txBody>
      </p:sp>
      <p:sp>
        <p:nvSpPr>
          <p:cNvPr id="7" name="Shape 5"/>
          <p:cNvSpPr/>
          <p:nvPr/>
        </p:nvSpPr>
        <p:spPr>
          <a:xfrm>
            <a:off x="548640" y="3154680"/>
            <a:ext cx="7315200" cy="1645920"/>
          </a:xfrm>
          <a:prstGeom prst="roundRect">
            <a:avLst>
              <a:gd name="adj" fmla="val 4444"/>
            </a:avLst>
          </a:prstGeom>
          <a:solidFill>
            <a:srgbClr val="1E2F45"/>
          </a:solidFill>
          <a:ln w="12700">
            <a:solidFill>
              <a:srgbClr val="243A52"/>
            </a:solidFill>
            <a:prstDash val="solid"/>
          </a:ln>
        </p:spPr>
      </p:sp>
      <p:sp>
        <p:nvSpPr>
          <p:cNvPr id="8" name="Text 6"/>
          <p:cNvSpPr/>
          <p:nvPr/>
        </p:nvSpPr>
        <p:spPr>
          <a:xfrm>
            <a:off x="685800" y="3200400"/>
            <a:ext cx="7040880" cy="32004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9" name="Text 7"/>
          <p:cNvSpPr/>
          <p:nvPr/>
        </p:nvSpPr>
        <p:spPr>
          <a:xfrm>
            <a:off x="777240" y="3566160"/>
            <a:ext cx="6949440" cy="320040"/>
          </a:xfrm>
          <a:prstGeom prst="rect">
            <a:avLst/>
          </a:prstGeom>
          <a:noFill/>
          <a:ln/>
        </p:spPr>
        <p:txBody>
          <a:bodyPr wrap="square" rtlCol="0" anchor="ctr"/>
          <a:lstStyle/>
          <a:p>
            <a:pPr algn="l" indent="0" marL="0">
              <a:buNone/>
            </a:pPr>
            <a:r>
              <a:rPr lang="en-US" sz="1100" dirty="0">
                <a:solidFill>
                  <a:srgbClr val="B0C4D8"/>
                </a:solidFill>
                <a:latin typeface="Calibri" pitchFamily="34" charset="0"/>
                <a:ea typeface="Calibri" pitchFamily="34" charset="-122"/>
                <a:cs typeface="Calibri" pitchFamily="34" charset="-120"/>
              </a:rPr>
              <a:t>✓  I can explain what a scientific sketch is and why scientists use them.</a:t>
            </a:r>
            <a:endParaRPr lang="en-US" sz="1100" dirty="0"/>
          </a:p>
        </p:txBody>
      </p:sp>
      <p:sp>
        <p:nvSpPr>
          <p:cNvPr id="10" name="Text 8"/>
          <p:cNvSpPr/>
          <p:nvPr/>
        </p:nvSpPr>
        <p:spPr>
          <a:xfrm>
            <a:off x="777240" y="3913632"/>
            <a:ext cx="6949440" cy="320040"/>
          </a:xfrm>
          <a:prstGeom prst="rect">
            <a:avLst/>
          </a:prstGeom>
          <a:noFill/>
          <a:ln/>
        </p:spPr>
        <p:txBody>
          <a:bodyPr wrap="square" rtlCol="0" anchor="ctr"/>
          <a:lstStyle/>
          <a:p>
            <a:pPr algn="l" indent="0" marL="0">
              <a:buNone/>
            </a:pPr>
            <a:r>
              <a:rPr lang="en-US" sz="1100" dirty="0">
                <a:solidFill>
                  <a:srgbClr val="B0C4D8"/>
                </a:solidFill>
                <a:latin typeface="Calibri" pitchFamily="34" charset="0"/>
                <a:ea typeface="Calibri" pitchFamily="34" charset="-122"/>
                <a:cs typeface="Calibri" pitchFamily="34" charset="-120"/>
              </a:rPr>
              <a:t>✓  I can apply the five rules of scientific sketching: Accurate, Big, Color, Details, Explanations.</a:t>
            </a:r>
            <a:endParaRPr lang="en-US" sz="1100" dirty="0"/>
          </a:p>
        </p:txBody>
      </p:sp>
      <p:sp>
        <p:nvSpPr>
          <p:cNvPr id="11" name="Text 9"/>
          <p:cNvSpPr/>
          <p:nvPr/>
        </p:nvSpPr>
        <p:spPr>
          <a:xfrm>
            <a:off x="777240" y="4261104"/>
            <a:ext cx="6949440" cy="320040"/>
          </a:xfrm>
          <a:prstGeom prst="rect">
            <a:avLst/>
          </a:prstGeom>
          <a:noFill/>
          <a:ln/>
        </p:spPr>
        <p:txBody>
          <a:bodyPr wrap="square" rtlCol="0" anchor="ctr"/>
          <a:lstStyle/>
          <a:p>
            <a:pPr algn="l" indent="0" marL="0">
              <a:buNone/>
            </a:pPr>
            <a:r>
              <a:rPr lang="en-US" sz="1100" dirty="0">
                <a:solidFill>
                  <a:srgbClr val="B0C4D8"/>
                </a:solidFill>
                <a:latin typeface="Calibri" pitchFamily="34" charset="0"/>
                <a:ea typeface="Calibri" pitchFamily="34" charset="-122"/>
                <a:cs typeface="Calibri" pitchFamily="34" charset="-120"/>
              </a:rPr>
              <a:t>✓  I can create a detailed drawing of a scientist doing science, with labels and details.</a:t>
            </a:r>
            <a:endParaRPr lang="en-US" sz="1100" dirty="0"/>
          </a:p>
        </p:txBody>
      </p:sp>
      <p:sp>
        <p:nvSpPr>
          <p:cNvPr id="12" name="Shape 10"/>
          <p:cNvSpPr/>
          <p:nvPr/>
        </p:nvSpPr>
        <p:spPr>
          <a:xfrm>
            <a:off x="9326880" y="457200"/>
            <a:ext cx="2560320" cy="2560320"/>
          </a:xfrm>
          <a:prstGeom prst="ellipse">
            <a:avLst/>
          </a:prstGeom>
          <a:solidFill>
            <a:srgbClr val="162233"/>
          </a:solidFill>
          <a:ln w="25400">
            <a:solidFill>
              <a:srgbClr val="4CC9F0"/>
            </a:solidFill>
            <a:prstDash val="solid"/>
          </a:ln>
        </p:spPr>
      </p:sp>
      <p:sp>
        <p:nvSpPr>
          <p:cNvPr id="13" name="Text 11"/>
          <p:cNvSpPr/>
          <p:nvPr/>
        </p:nvSpPr>
        <p:spPr>
          <a:xfrm>
            <a:off x="9418320" y="1097280"/>
            <a:ext cx="2377440" cy="1280160"/>
          </a:xfrm>
          <a:prstGeom prst="rect">
            <a:avLst/>
          </a:prstGeom>
          <a:noFill/>
          <a:ln/>
        </p:spPr>
        <p:txBody>
          <a:bodyPr wrap="square" rtlCol="0" anchor="ctr"/>
          <a:lstStyle/>
          <a:p>
            <a:pPr algn="ctr" indent="0" marL="0">
              <a:buNone/>
            </a:pPr>
            <a:r>
              <a:rPr lang="en-US" sz="7200" dirty="0">
                <a:solidFill>
                  <a:srgbClr val="000000"/>
                </a:solidFill>
              </a:rPr>
              <a:t>🔬</a:t>
            </a:r>
            <a:endParaRPr lang="en-US" sz="7200" dirty="0"/>
          </a:p>
        </p:txBody>
      </p:sp>
      <p:sp>
        <p:nvSpPr>
          <p:cNvPr id="14" name="Text 12"/>
          <p:cNvSpPr/>
          <p:nvPr/>
        </p:nvSpPr>
        <p:spPr>
          <a:xfrm>
            <a:off x="548640" y="5029200"/>
            <a:ext cx="1828800" cy="274320"/>
          </a:xfrm>
          <a:prstGeom prst="rect">
            <a:avLst/>
          </a:prstGeom>
          <a:noFill/>
          <a:ln/>
        </p:spPr>
        <p:txBody>
          <a:bodyPr wrap="square" rtlCol="0" anchor="ctr"/>
          <a:lstStyle/>
          <a:p>
            <a:pPr indent="0" marL="0">
              <a:buNone/>
            </a:pPr>
            <a:r>
              <a:rPr lang="en-US" sz="1000" b="1" dirty="0">
                <a:solidFill>
                  <a:srgbClr val="FFB703"/>
                </a:solidFill>
                <a:latin typeface="Calibri" pitchFamily="34" charset="0"/>
                <a:ea typeface="Calibri" pitchFamily="34" charset="-122"/>
                <a:cs typeface="Calibri" pitchFamily="34" charset="-120"/>
              </a:rPr>
              <a:t>You'll need:</a:t>
            </a:r>
            <a:endParaRPr lang="en-US" sz="1000" dirty="0"/>
          </a:p>
        </p:txBody>
      </p:sp>
      <p:sp>
        <p:nvSpPr>
          <p:cNvPr id="15" name="Text 13"/>
          <p:cNvSpPr/>
          <p:nvPr/>
        </p:nvSpPr>
        <p:spPr>
          <a:xfrm>
            <a:off x="548640" y="5321808"/>
            <a:ext cx="219456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Science notebook</a:t>
            </a:r>
            <a:endParaRPr lang="en-US" sz="1100" dirty="0"/>
          </a:p>
        </p:txBody>
      </p:sp>
      <p:sp>
        <p:nvSpPr>
          <p:cNvPr id="16" name="Text 14"/>
          <p:cNvSpPr/>
          <p:nvPr/>
        </p:nvSpPr>
        <p:spPr>
          <a:xfrm>
            <a:off x="2834640" y="5321808"/>
            <a:ext cx="219456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Pencil</a:t>
            </a:r>
            <a:endParaRPr lang="en-US" sz="1100" dirty="0"/>
          </a:p>
        </p:txBody>
      </p:sp>
      <p:sp>
        <p:nvSpPr>
          <p:cNvPr id="17" name="Text 15"/>
          <p:cNvSpPr/>
          <p:nvPr/>
        </p:nvSpPr>
        <p:spPr>
          <a:xfrm>
            <a:off x="5120640" y="5321808"/>
            <a:ext cx="2194560" cy="25603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Colored pencils</a:t>
            </a:r>
            <a:endParaRPr lang="en-US" sz="11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ENGAGE — Quick Draw!  (2 minutes)</a:t>
            </a:r>
            <a:endParaRPr lang="en-US" sz="1600" dirty="0"/>
          </a:p>
        </p:txBody>
      </p:sp>
      <p:sp>
        <p:nvSpPr>
          <p:cNvPr id="5" name="Shape 3"/>
          <p:cNvSpPr/>
          <p:nvPr/>
        </p:nvSpPr>
        <p:spPr>
          <a:xfrm>
            <a:off x="8595360" y="822960"/>
            <a:ext cx="3200400" cy="3200400"/>
          </a:xfrm>
          <a:prstGeom prst="ellipse">
            <a:avLst/>
          </a:prstGeom>
          <a:solidFill>
            <a:srgbClr val="1E2F45"/>
          </a:solidFill>
          <a:ln w="38100">
            <a:solidFill>
              <a:srgbClr val="FFB703"/>
            </a:solidFill>
            <a:prstDash val="solid"/>
          </a:ln>
        </p:spPr>
      </p:sp>
      <p:sp>
        <p:nvSpPr>
          <p:cNvPr id="6" name="Text 4"/>
          <p:cNvSpPr/>
          <p:nvPr/>
        </p:nvSpPr>
        <p:spPr>
          <a:xfrm>
            <a:off x="8595360" y="1188720"/>
            <a:ext cx="3200400" cy="2468880"/>
          </a:xfrm>
          <a:prstGeom prst="rect">
            <a:avLst/>
          </a:prstGeom>
          <a:noFill/>
          <a:ln/>
        </p:spPr>
        <p:txBody>
          <a:bodyPr wrap="square" rtlCol="0" anchor="ctr"/>
          <a:lstStyle/>
          <a:p>
            <a:pPr algn="ctr" indent="0" marL="0">
              <a:buNone/>
            </a:pPr>
            <a:r>
              <a:rPr lang="en-US" sz="2800" b="1" dirty="0">
                <a:solidFill>
                  <a:srgbClr val="FFB703"/>
                </a:solidFill>
                <a:latin typeface="Calibri" pitchFamily="34" charset="0"/>
                <a:ea typeface="Calibri" pitchFamily="34" charset="-122"/>
                <a:cs typeface="Calibri" pitchFamily="34" charset="-120"/>
              </a:rPr>
              <a:t>⏱</a:t>
            </a:r>
            <a:endParaRPr lang="en-US" sz="2800" dirty="0"/>
          </a:p>
          <a:p>
            <a:pPr algn="ctr" indent="0" marL="0">
              <a:buNone/>
            </a:pPr>
            <a:r>
              <a:rPr lang="en-US" sz="2800" b="1" dirty="0">
                <a:solidFill>
                  <a:srgbClr val="FFB703"/>
                </a:solidFill>
                <a:latin typeface="Calibri" pitchFamily="34" charset="0"/>
                <a:ea typeface="Calibri" pitchFamily="34" charset="-122"/>
                <a:cs typeface="Calibri" pitchFamily="34" charset="-120"/>
              </a:rPr>
              <a:t>2 min</a:t>
            </a:r>
            <a:endParaRPr lang="en-US" sz="2800" dirty="0"/>
          </a:p>
        </p:txBody>
      </p:sp>
      <p:sp>
        <p:nvSpPr>
          <p:cNvPr id="7" name="Shape 5"/>
          <p:cNvSpPr/>
          <p:nvPr/>
        </p:nvSpPr>
        <p:spPr>
          <a:xfrm>
            <a:off x="365760" y="777240"/>
            <a:ext cx="7955280" cy="1005840"/>
          </a:xfrm>
          <a:prstGeom prst="roundRect">
            <a:avLst>
              <a:gd name="adj" fmla="val 7273"/>
            </a:avLst>
          </a:prstGeom>
          <a:solidFill>
            <a:srgbClr val="1E2F45"/>
          </a:solidFill>
          <a:ln w="12700">
            <a:solidFill>
              <a:srgbClr val="FFB703"/>
            </a:solidFill>
            <a:prstDash val="solid"/>
          </a:ln>
        </p:spPr>
      </p:sp>
      <p:sp>
        <p:nvSpPr>
          <p:cNvPr id="8" name="Text 6"/>
          <p:cNvSpPr/>
          <p:nvPr/>
        </p:nvSpPr>
        <p:spPr>
          <a:xfrm>
            <a:off x="548640" y="822960"/>
            <a:ext cx="7589520" cy="41148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Open to a fresh page in your science notebook.</a:t>
            </a:r>
            <a:endParaRPr lang="en-US" sz="1800" dirty="0"/>
          </a:p>
        </p:txBody>
      </p:sp>
      <p:sp>
        <p:nvSpPr>
          <p:cNvPr id="9" name="Text 7"/>
          <p:cNvSpPr/>
          <p:nvPr/>
        </p:nvSpPr>
        <p:spPr>
          <a:xfrm>
            <a:off x="548640" y="1234440"/>
            <a:ext cx="7589520" cy="411480"/>
          </a:xfrm>
          <a:prstGeom prst="rect">
            <a:avLst/>
          </a:prstGeom>
          <a:noFill/>
          <a:ln/>
        </p:spPr>
        <p:txBody>
          <a:bodyPr wrap="square" rtlCol="0" anchor="ctr"/>
          <a:lstStyle/>
          <a:p>
            <a:pPr algn="l" indent="0" marL="0">
              <a:buNone/>
            </a:pPr>
            <a:r>
              <a:rPr lang="en-US" sz="1500" dirty="0">
                <a:solidFill>
                  <a:srgbClr val="B0C4D8"/>
                </a:solidFill>
                <a:latin typeface="Calibri" pitchFamily="34" charset="0"/>
                <a:ea typeface="Calibri" pitchFamily="34" charset="-122"/>
                <a:cs typeface="Calibri" pitchFamily="34" charset="-120"/>
              </a:rPr>
              <a:t>Draw what you think a scientist looks like. Go with your first idea!</a:t>
            </a:r>
            <a:endParaRPr lang="en-US" sz="1500" dirty="0"/>
          </a:p>
        </p:txBody>
      </p:sp>
      <p:sp>
        <p:nvSpPr>
          <p:cNvPr id="10" name="Shape 8"/>
          <p:cNvSpPr/>
          <p:nvPr/>
        </p:nvSpPr>
        <p:spPr>
          <a:xfrm>
            <a:off x="365760" y="1920240"/>
            <a:ext cx="7955280" cy="1280160"/>
          </a:xfrm>
          <a:prstGeom prst="roundRect">
            <a:avLst>
              <a:gd name="adj" fmla="val 5714"/>
            </a:avLst>
          </a:prstGeom>
          <a:solidFill>
            <a:srgbClr val="162233"/>
          </a:solidFill>
          <a:ln w="12700">
            <a:solidFill>
              <a:srgbClr val="243A52"/>
            </a:solidFill>
            <a:prstDash val="solid"/>
          </a:ln>
        </p:spPr>
      </p:sp>
      <p:sp>
        <p:nvSpPr>
          <p:cNvPr id="11" name="Text 9"/>
          <p:cNvSpPr/>
          <p:nvPr/>
        </p:nvSpPr>
        <p:spPr>
          <a:xfrm>
            <a:off x="548640" y="1965960"/>
            <a:ext cx="7589520" cy="384048"/>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  No rules — just your first idea!</a:t>
            </a:r>
            <a:endParaRPr lang="en-US" sz="1300" dirty="0"/>
          </a:p>
        </p:txBody>
      </p:sp>
      <p:sp>
        <p:nvSpPr>
          <p:cNvPr id="12" name="Text 10"/>
          <p:cNvSpPr/>
          <p:nvPr/>
        </p:nvSpPr>
        <p:spPr>
          <a:xfrm>
            <a:off x="548640" y="2331720"/>
            <a:ext cx="7589520" cy="77724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Don't look anything up. Don't erase or second-guess. This is your BEFORE sketch — and it's important data we'll come back to at the end of class.</a:t>
            </a:r>
            <a:endParaRPr lang="en-US" sz="1200" dirty="0"/>
          </a:p>
        </p:txBody>
      </p:sp>
      <p:sp>
        <p:nvSpPr>
          <p:cNvPr id="13" name="Shape 11"/>
          <p:cNvSpPr/>
          <p:nvPr/>
        </p:nvSpPr>
        <p:spPr>
          <a:xfrm>
            <a:off x="365760" y="3337560"/>
            <a:ext cx="7955280" cy="914400"/>
          </a:xfrm>
          <a:prstGeom prst="roundRect">
            <a:avLst>
              <a:gd name="adj" fmla="val 8000"/>
            </a:avLst>
          </a:prstGeom>
          <a:solidFill>
            <a:srgbClr val="1E2F45"/>
          </a:solidFill>
          <a:ln w="12700">
            <a:solidFill>
              <a:srgbClr val="0096C7"/>
            </a:solidFill>
            <a:prstDash val="solid"/>
          </a:ln>
        </p:spPr>
      </p:sp>
      <p:sp>
        <p:nvSpPr>
          <p:cNvPr id="14" name="Text 12"/>
          <p:cNvSpPr/>
          <p:nvPr/>
        </p:nvSpPr>
        <p:spPr>
          <a:xfrm>
            <a:off x="548640" y="3383280"/>
            <a:ext cx="768096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When you finish your sketch, write 1–2 sentences below it:</a:t>
            </a:r>
            <a:endParaRPr lang="en-US" sz="1200" dirty="0"/>
          </a:p>
        </p:txBody>
      </p:sp>
      <p:sp>
        <p:nvSpPr>
          <p:cNvPr id="15" name="Text 13"/>
          <p:cNvSpPr/>
          <p:nvPr/>
        </p:nvSpPr>
        <p:spPr>
          <a:xfrm>
            <a:off x="548640" y="3721608"/>
            <a:ext cx="7680960" cy="45720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"What is your scientist doing? Where are they? What tools are they using?"</a:t>
            </a:r>
            <a:endParaRPr lang="en-US" sz="12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Notice &amp; Wonder — What Did You Draw?</a:t>
            </a:r>
            <a:endParaRPr lang="en-US" sz="1600" dirty="0"/>
          </a:p>
        </p:txBody>
      </p:sp>
      <p:sp>
        <p:nvSpPr>
          <p:cNvPr id="5" name="Shape 3"/>
          <p:cNvSpPr/>
          <p:nvPr/>
        </p:nvSpPr>
        <p:spPr>
          <a:xfrm>
            <a:off x="365760" y="749808"/>
            <a:ext cx="4754880" cy="347472"/>
          </a:xfrm>
          <a:prstGeom prst="roundRect">
            <a:avLst>
              <a:gd name="adj" fmla="val 23684"/>
            </a:avLst>
          </a:prstGeom>
          <a:solidFill>
            <a:srgbClr val="E09200"/>
          </a:solidFill>
          <a:ln w="19050">
            <a:solidFill>
              <a:srgbClr val="FFB703"/>
            </a:solidFill>
            <a:prstDash val="solid"/>
          </a:ln>
        </p:spPr>
      </p:sp>
      <p:sp>
        <p:nvSpPr>
          <p:cNvPr id="6" name="Text 4"/>
          <p:cNvSpPr/>
          <p:nvPr/>
        </p:nvSpPr>
        <p:spPr>
          <a:xfrm>
            <a:off x="365760" y="749808"/>
            <a:ext cx="475488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7" name="Shape 5"/>
          <p:cNvSpPr/>
          <p:nvPr/>
        </p:nvSpPr>
        <p:spPr>
          <a:xfrm>
            <a:off x="365760" y="1298448"/>
            <a:ext cx="11430000" cy="1325880"/>
          </a:xfrm>
          <a:prstGeom prst="roundRect">
            <a:avLst>
              <a:gd name="adj" fmla="val 5517"/>
            </a:avLst>
          </a:prstGeom>
          <a:solidFill>
            <a:srgbClr val="1E2F45"/>
          </a:solidFill>
          <a:ln w="12700">
            <a:solidFill>
              <a:srgbClr val="243A52"/>
            </a:solidFill>
            <a:prstDash val="solid"/>
          </a:ln>
        </p:spPr>
      </p:sp>
      <p:sp>
        <p:nvSpPr>
          <p:cNvPr id="8" name="Text 6"/>
          <p:cNvSpPr/>
          <p:nvPr/>
        </p:nvSpPr>
        <p:spPr>
          <a:xfrm>
            <a:off x="457200" y="1353312"/>
            <a:ext cx="640080" cy="10972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9" name="Text 7"/>
          <p:cNvSpPr/>
          <p:nvPr/>
        </p:nvSpPr>
        <p:spPr>
          <a:xfrm>
            <a:off x="1143000" y="1389888"/>
            <a:ext cx="10424160" cy="438912"/>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does your scientist look like?</a:t>
            </a:r>
            <a:endParaRPr lang="en-US" sz="1600" dirty="0"/>
          </a:p>
        </p:txBody>
      </p:sp>
      <p:sp>
        <p:nvSpPr>
          <p:cNvPr id="10" name="Text 8"/>
          <p:cNvSpPr/>
          <p:nvPr/>
        </p:nvSpPr>
        <p:spPr>
          <a:xfrm>
            <a:off x="1143000" y="1828800"/>
            <a:ext cx="10424160" cy="685800"/>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Age, gender, appearance, clothing?</a:t>
            </a:r>
            <a:endParaRPr lang="en-US" sz="1300" dirty="0"/>
          </a:p>
        </p:txBody>
      </p:sp>
      <p:sp>
        <p:nvSpPr>
          <p:cNvPr id="11" name="Shape 9"/>
          <p:cNvSpPr/>
          <p:nvPr/>
        </p:nvSpPr>
        <p:spPr>
          <a:xfrm>
            <a:off x="365760" y="2761488"/>
            <a:ext cx="11430000" cy="1325880"/>
          </a:xfrm>
          <a:prstGeom prst="roundRect">
            <a:avLst>
              <a:gd name="adj" fmla="val 5517"/>
            </a:avLst>
          </a:prstGeom>
          <a:solidFill>
            <a:srgbClr val="1E2F45"/>
          </a:solidFill>
          <a:ln w="12700">
            <a:solidFill>
              <a:srgbClr val="243A52"/>
            </a:solidFill>
            <a:prstDash val="solid"/>
          </a:ln>
        </p:spPr>
      </p:sp>
      <p:sp>
        <p:nvSpPr>
          <p:cNvPr id="12" name="Text 10"/>
          <p:cNvSpPr/>
          <p:nvPr/>
        </p:nvSpPr>
        <p:spPr>
          <a:xfrm>
            <a:off x="457200" y="2816352"/>
            <a:ext cx="640080" cy="10972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1143000" y="2852928"/>
            <a:ext cx="10424160" cy="438912"/>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Where are they working?</a:t>
            </a:r>
            <a:endParaRPr lang="en-US" sz="1600" dirty="0"/>
          </a:p>
        </p:txBody>
      </p:sp>
      <p:sp>
        <p:nvSpPr>
          <p:cNvPr id="14" name="Text 12"/>
          <p:cNvSpPr/>
          <p:nvPr/>
        </p:nvSpPr>
        <p:spPr>
          <a:xfrm>
            <a:off x="1143000" y="3291840"/>
            <a:ext cx="10424160" cy="685800"/>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Lab, outdoors, somewhere else?</a:t>
            </a:r>
            <a:endParaRPr lang="en-US" sz="1300" dirty="0"/>
          </a:p>
        </p:txBody>
      </p:sp>
      <p:sp>
        <p:nvSpPr>
          <p:cNvPr id="15" name="Shape 13"/>
          <p:cNvSpPr/>
          <p:nvPr/>
        </p:nvSpPr>
        <p:spPr>
          <a:xfrm>
            <a:off x="365760" y="4224528"/>
            <a:ext cx="11430000" cy="1325880"/>
          </a:xfrm>
          <a:prstGeom prst="roundRect">
            <a:avLst>
              <a:gd name="adj" fmla="val 5517"/>
            </a:avLst>
          </a:prstGeom>
          <a:solidFill>
            <a:srgbClr val="1E2F45"/>
          </a:solidFill>
          <a:ln w="12700">
            <a:solidFill>
              <a:srgbClr val="243A52"/>
            </a:solidFill>
            <a:prstDash val="solid"/>
          </a:ln>
        </p:spPr>
      </p:sp>
      <p:sp>
        <p:nvSpPr>
          <p:cNvPr id="16" name="Text 14"/>
          <p:cNvSpPr/>
          <p:nvPr/>
        </p:nvSpPr>
        <p:spPr>
          <a:xfrm>
            <a:off x="457200" y="4279392"/>
            <a:ext cx="640080" cy="109728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7" name="Text 15"/>
          <p:cNvSpPr/>
          <p:nvPr/>
        </p:nvSpPr>
        <p:spPr>
          <a:xfrm>
            <a:off x="1143000" y="4315968"/>
            <a:ext cx="10424160" cy="438912"/>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tools or equipment do they have?</a:t>
            </a:r>
            <a:endParaRPr lang="en-US" sz="1600" dirty="0"/>
          </a:p>
        </p:txBody>
      </p:sp>
      <p:sp>
        <p:nvSpPr>
          <p:cNvPr id="18" name="Text 16"/>
          <p:cNvSpPr/>
          <p:nvPr/>
        </p:nvSpPr>
        <p:spPr>
          <a:xfrm>
            <a:off x="1143000" y="4754880"/>
            <a:ext cx="10424160" cy="685800"/>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What are they doing in your drawing?</a:t>
            </a:r>
            <a:endParaRPr lang="en-US" sz="13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Our Big Question for Today</a:t>
            </a:r>
            <a:endParaRPr lang="en-US" sz="1600" dirty="0"/>
          </a:p>
        </p:txBody>
      </p:sp>
      <p:sp>
        <p:nvSpPr>
          <p:cNvPr id="5" name="Shape 3"/>
          <p:cNvSpPr/>
          <p:nvPr/>
        </p:nvSpPr>
        <p:spPr>
          <a:xfrm>
            <a:off x="457200" y="777240"/>
            <a:ext cx="11247120" cy="2011680"/>
          </a:xfrm>
          <a:prstGeom prst="roundRect">
            <a:avLst>
              <a:gd name="adj" fmla="val 6818"/>
            </a:avLst>
          </a:prstGeom>
          <a:solidFill>
            <a:srgbClr val="162233"/>
          </a:solidFill>
          <a:ln w="31750">
            <a:solidFill>
              <a:srgbClr val="4CC9F0"/>
            </a:solidFill>
            <a:prstDash val="solid"/>
          </a:ln>
        </p:spPr>
      </p:sp>
      <p:sp>
        <p:nvSpPr>
          <p:cNvPr id="6" name="Shape 4"/>
          <p:cNvSpPr/>
          <p:nvPr/>
        </p:nvSpPr>
        <p:spPr>
          <a:xfrm>
            <a:off x="457200" y="777240"/>
            <a:ext cx="73152" cy="2011680"/>
          </a:xfrm>
          <a:prstGeom prst="rect">
            <a:avLst/>
          </a:prstGeom>
          <a:solidFill>
            <a:srgbClr val="4CC9F0"/>
          </a:solidFill>
          <a:ln/>
        </p:spPr>
      </p:sp>
      <p:sp>
        <p:nvSpPr>
          <p:cNvPr id="7" name="Text 5"/>
          <p:cNvSpPr/>
          <p:nvPr/>
        </p:nvSpPr>
        <p:spPr>
          <a:xfrm>
            <a:off x="685800" y="841248"/>
            <a:ext cx="10881360" cy="1828800"/>
          </a:xfrm>
          <a:prstGeom prst="rect">
            <a:avLst/>
          </a:prstGeom>
          <a:noFill/>
          <a:ln/>
        </p:spPr>
        <p:txBody>
          <a:bodyPr wrap="square"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"What does a scientist really look like?</a:t>
            </a:r>
            <a:endParaRPr lang="en-US" sz="2200" dirty="0"/>
          </a:p>
          <a:p>
            <a:pPr algn="l" indent="0" marL="0">
              <a:buNone/>
            </a:pPr>
            <a:r>
              <a:rPr lang="en-US" sz="2200" b="1" dirty="0">
                <a:solidFill>
                  <a:srgbClr val="FFFFFF"/>
                </a:solidFill>
                <a:latin typeface="Calibri" pitchFamily="34" charset="0"/>
                <a:ea typeface="Calibri" pitchFamily="34" charset="-122"/>
                <a:cs typeface="Calibri" pitchFamily="34" charset="-120"/>
              </a:rPr>
              <a:t>And how do scientists record and share what they discover?"</a:t>
            </a:r>
            <a:endParaRPr lang="en-US" sz="2200" dirty="0"/>
          </a:p>
        </p:txBody>
      </p:sp>
      <p:sp>
        <p:nvSpPr>
          <p:cNvPr id="8" name="Text 6"/>
          <p:cNvSpPr/>
          <p:nvPr/>
        </p:nvSpPr>
        <p:spPr>
          <a:xfrm>
            <a:off x="457200" y="2926080"/>
            <a:ext cx="11247120" cy="502920"/>
          </a:xfrm>
          <a:prstGeom prst="rect">
            <a:avLst/>
          </a:prstGeom>
          <a:noFill/>
          <a:ln/>
        </p:spPr>
        <p:txBody>
          <a:bodyPr wrap="square" rtlCol="0" anchor="ctr"/>
          <a:lstStyle/>
          <a:p>
            <a:pPr algn="ctr" indent="0" marL="0">
              <a:buNone/>
            </a:pPr>
            <a:r>
              <a:rPr lang="en-US" sz="1300" dirty="0">
                <a:solidFill>
                  <a:srgbClr val="B0C4D8"/>
                </a:solidFill>
                <a:latin typeface="Calibri" pitchFamily="34" charset="0"/>
                <a:ea typeface="Calibri" pitchFamily="34" charset="-122"/>
                <a:cs typeface="Calibri" pitchFamily="34" charset="-120"/>
              </a:rPr>
              <a:t>Hold this question in your mind as you work through today's lesson. By the end, you'll have your own answer — and a sketch to prove it!</a:t>
            </a:r>
            <a:endParaRPr lang="en-US" sz="1300" dirty="0"/>
          </a:p>
        </p:txBody>
      </p:sp>
      <p:sp>
        <p:nvSpPr>
          <p:cNvPr id="9" name="Shape 7"/>
          <p:cNvSpPr/>
          <p:nvPr/>
        </p:nvSpPr>
        <p:spPr>
          <a:xfrm>
            <a:off x="457200" y="3566160"/>
            <a:ext cx="11247120" cy="1920240"/>
          </a:xfrm>
          <a:prstGeom prst="roundRect">
            <a:avLst>
              <a:gd name="adj" fmla="val 3810"/>
            </a:avLst>
          </a:prstGeom>
          <a:solidFill>
            <a:srgbClr val="1E2F45"/>
          </a:solidFill>
          <a:ln w="12700">
            <a:solidFill>
              <a:srgbClr val="FFB703"/>
            </a:solidFill>
            <a:prstDash val="solid"/>
          </a:ln>
        </p:spPr>
      </p:sp>
      <p:sp>
        <p:nvSpPr>
          <p:cNvPr id="10" name="Text 8"/>
          <p:cNvSpPr/>
          <p:nvPr/>
        </p:nvSpPr>
        <p:spPr>
          <a:xfrm>
            <a:off x="640080" y="3621024"/>
            <a:ext cx="109728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Make a Prediction — Before We Investigate</a:t>
            </a:r>
            <a:endParaRPr lang="en-US" sz="1300" dirty="0"/>
          </a:p>
        </p:txBody>
      </p:sp>
      <p:sp>
        <p:nvSpPr>
          <p:cNvPr id="11" name="Text 9"/>
          <p:cNvSpPr/>
          <p:nvPr/>
        </p:nvSpPr>
        <p:spPr>
          <a:xfrm>
            <a:off x="640080" y="4023360"/>
            <a:ext cx="10972800" cy="640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What do you think is the most important thing a scientist needs?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Not their tools or their location — but something ABOUT them.</a:t>
            </a:r>
            <a:endParaRPr lang="en-US" sz="1300" dirty="0"/>
          </a:p>
        </p:txBody>
      </p:sp>
      <p:sp>
        <p:nvSpPr>
          <p:cNvPr id="12" name="Text 10"/>
          <p:cNvSpPr/>
          <p:nvPr/>
        </p:nvSpPr>
        <p:spPr>
          <a:xfrm>
            <a:off x="640080" y="4663440"/>
            <a:ext cx="10972800" cy="685800"/>
          </a:xfrm>
          <a:prstGeom prst="rect">
            <a:avLst/>
          </a:prstGeom>
          <a:noFill/>
          <a:ln/>
        </p:spPr>
        <p:txBody>
          <a:bodyPr wrap="square" rtlCol="0" anchor="ctr"/>
          <a:lstStyle/>
          <a:p>
            <a:pPr indent="0" marL="0">
              <a:buNone/>
            </a:pPr>
            <a:r>
              <a:rPr lang="en-US" sz="1250" i="1" dirty="0">
                <a:solidFill>
                  <a:srgbClr val="4CC9F0"/>
                </a:solidFill>
                <a:latin typeface="Calibri" pitchFamily="34" charset="0"/>
                <a:ea typeface="Calibri" pitchFamily="34" charset="-122"/>
                <a:cs typeface="Calibri" pitchFamily="34" charset="-120"/>
              </a:rPr>
              <a:t>💬  Start with: "I predict the most important thing a scientist needs is ___  because ___."</a:t>
            </a:r>
            <a:endParaRPr lang="en-US" sz="125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Word 1 of 6</a:t>
            </a:r>
            <a:endParaRPr lang="en-US" sz="1600" dirty="0"/>
          </a:p>
        </p:txBody>
      </p:sp>
      <p:sp>
        <p:nvSpPr>
          <p:cNvPr id="5" name="Shape 3"/>
          <p:cNvSpPr/>
          <p:nvPr/>
        </p:nvSpPr>
        <p:spPr>
          <a:xfrm>
            <a:off x="457200" y="777240"/>
            <a:ext cx="11247120" cy="1005840"/>
          </a:xfrm>
          <a:prstGeom prst="roundRect">
            <a:avLst>
              <a:gd name="adj" fmla="val 9091"/>
            </a:avLst>
          </a:prstGeom>
          <a:solidFill>
            <a:srgbClr val="4CC9F0"/>
          </a:solidFill>
          <a:ln w="19050">
            <a:solidFill>
              <a:srgbClr val="0096C7"/>
            </a:solidFill>
            <a:prstDash val="solid"/>
          </a:ln>
        </p:spPr>
      </p:sp>
      <p:sp>
        <p:nvSpPr>
          <p:cNvPr id="6" name="Text 4"/>
          <p:cNvSpPr/>
          <p:nvPr/>
        </p:nvSpPr>
        <p:spPr>
          <a:xfrm>
            <a:off x="457200" y="777240"/>
            <a:ext cx="11247120" cy="1005840"/>
          </a:xfrm>
          <a:prstGeom prst="rect">
            <a:avLst/>
          </a:prstGeom>
          <a:noFill/>
          <a:ln/>
        </p:spPr>
        <p:txBody>
          <a:bodyPr wrap="square" rtlCol="0" anchor="ctr"/>
          <a:lstStyle/>
          <a:p>
            <a:pPr algn="ctr" indent="0" marL="0">
              <a:buNone/>
            </a:pPr>
            <a:r>
              <a:rPr lang="en-US" sz="4400" b="1" dirty="0">
                <a:solidFill>
                  <a:srgbClr val="0D1B2A"/>
                </a:solidFill>
                <a:latin typeface="Calibri" pitchFamily="34" charset="0"/>
                <a:ea typeface="Calibri" pitchFamily="34" charset="-122"/>
                <a:cs typeface="Calibri" pitchFamily="34" charset="-120"/>
              </a:rPr>
              <a:t>SCIENTIST</a:t>
            </a:r>
            <a:endParaRPr lang="en-US" sz="4400" dirty="0"/>
          </a:p>
        </p:txBody>
      </p:sp>
      <p:sp>
        <p:nvSpPr>
          <p:cNvPr id="7" name="Shape 5"/>
          <p:cNvSpPr/>
          <p:nvPr/>
        </p:nvSpPr>
        <p:spPr>
          <a:xfrm>
            <a:off x="457200" y="1920240"/>
            <a:ext cx="11247120" cy="914400"/>
          </a:xfrm>
          <a:prstGeom prst="roundRect">
            <a:avLst>
              <a:gd name="adj" fmla="val 8000"/>
            </a:avLst>
          </a:prstGeom>
          <a:solidFill>
            <a:srgbClr val="1E2F45"/>
          </a:solidFill>
          <a:ln w="12700">
            <a:solidFill>
              <a:srgbClr val="243A52"/>
            </a:solidFill>
            <a:prstDash val="solid"/>
          </a:ln>
        </p:spPr>
      </p:sp>
      <p:sp>
        <p:nvSpPr>
          <p:cNvPr id="8" name="Text 6"/>
          <p:cNvSpPr/>
          <p:nvPr/>
        </p:nvSpPr>
        <p:spPr>
          <a:xfrm>
            <a:off x="640080" y="1965960"/>
            <a:ext cx="10881360" cy="8229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 person who studies the natural world by making careful observations, asking questions, and investigating.</a:t>
            </a:r>
            <a:endParaRPr lang="en-US" sz="1600" dirty="0"/>
          </a:p>
        </p:txBody>
      </p:sp>
      <p:sp>
        <p:nvSpPr>
          <p:cNvPr id="9" name="Shape 7"/>
          <p:cNvSpPr/>
          <p:nvPr/>
        </p:nvSpPr>
        <p:spPr>
          <a:xfrm>
            <a:off x="457200" y="2971800"/>
            <a:ext cx="11247120" cy="2560320"/>
          </a:xfrm>
          <a:prstGeom prst="roundRect">
            <a:avLst>
              <a:gd name="adj" fmla="val 4286"/>
            </a:avLst>
          </a:prstGeom>
          <a:solidFill>
            <a:srgbClr val="162233"/>
          </a:solidFill>
          <a:ln w="19050">
            <a:solidFill>
              <a:srgbClr val="FFB703"/>
            </a:solidFill>
            <a:prstDash val="solid"/>
          </a:ln>
        </p:spPr>
      </p:sp>
      <p:sp>
        <p:nvSpPr>
          <p:cNvPr id="10" name="Text 8"/>
          <p:cNvSpPr/>
          <p:nvPr/>
        </p:nvSpPr>
        <p:spPr>
          <a:xfrm>
            <a:off x="640080" y="3035808"/>
            <a:ext cx="10972800" cy="36576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Think</a:t>
            </a:r>
            <a:endParaRPr lang="en-US" sz="1300" dirty="0"/>
          </a:p>
        </p:txBody>
      </p:sp>
      <p:sp>
        <p:nvSpPr>
          <p:cNvPr id="11" name="Text 9"/>
          <p:cNvSpPr/>
          <p:nvPr/>
        </p:nvSpPr>
        <p:spPr>
          <a:xfrm>
            <a:off x="640080" y="3429000"/>
            <a:ext cx="10972800" cy="1005840"/>
          </a:xfrm>
          <a:prstGeom prst="rect">
            <a:avLst/>
          </a:prstGeom>
          <a:noFill/>
          <a:ln/>
        </p:spPr>
        <p:txBody>
          <a:bodyPr wrap="square" rtlCol="0" anchor="ctr"/>
          <a:lstStyle/>
          <a:p>
            <a:pPr indent="0" marL="0">
              <a:buNone/>
            </a:pPr>
            <a:r>
              <a:rPr lang="en-US" sz="1450" i="1" dirty="0">
                <a:solidFill>
                  <a:srgbClr val="FFFFFF"/>
                </a:solidFill>
                <a:latin typeface="Calibri" pitchFamily="34" charset="0"/>
                <a:ea typeface="Calibri" pitchFamily="34" charset="-122"/>
                <a:cs typeface="Calibri" pitchFamily="34" charset="-120"/>
              </a:rPr>
              <a:t>"Can you think of a time when YOU acted like a scientist? Maybe you wondered why something happened, looked closely at a bug, or tried something different to see what would happen?"</a:t>
            </a:r>
            <a:endParaRPr lang="en-US" sz="1450" dirty="0"/>
          </a:p>
        </p:txBody>
      </p:sp>
      <p:sp>
        <p:nvSpPr>
          <p:cNvPr id="12" name="Text 10"/>
          <p:cNvSpPr/>
          <p:nvPr/>
        </p:nvSpPr>
        <p:spPr>
          <a:xfrm>
            <a:off x="640080" y="4526280"/>
            <a:ext cx="10972800" cy="8229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  Real World: Scientists work in forests, oceans, hospitals, kitchens, outer space — and yes, in labs too. Anyone can be a scientist.</a:t>
            </a:r>
            <a:endParaRPr lang="en-US" sz="12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Words 2 &amp; 3 of 6</a:t>
            </a:r>
            <a:endParaRPr lang="en-US" sz="1600" dirty="0"/>
          </a:p>
        </p:txBody>
      </p:sp>
      <p:sp>
        <p:nvSpPr>
          <p:cNvPr id="5" name="Shape 3"/>
          <p:cNvSpPr/>
          <p:nvPr/>
        </p:nvSpPr>
        <p:spPr>
          <a:xfrm>
            <a:off x="365760" y="777240"/>
            <a:ext cx="5486400" cy="1234440"/>
          </a:xfrm>
          <a:prstGeom prst="roundRect">
            <a:avLst>
              <a:gd name="adj" fmla="val 7407"/>
            </a:avLst>
          </a:prstGeom>
          <a:solidFill>
            <a:srgbClr val="1E2F45"/>
          </a:solidFill>
          <a:ln w="25400">
            <a:solidFill>
              <a:srgbClr val="2DC653"/>
            </a:solidFill>
            <a:prstDash val="solid"/>
          </a:ln>
        </p:spPr>
      </p:sp>
      <p:sp>
        <p:nvSpPr>
          <p:cNvPr id="6" name="Shape 4"/>
          <p:cNvSpPr/>
          <p:nvPr/>
        </p:nvSpPr>
        <p:spPr>
          <a:xfrm>
            <a:off x="365760" y="777240"/>
            <a:ext cx="5486400" cy="347472"/>
          </a:xfrm>
          <a:prstGeom prst="rect">
            <a:avLst/>
          </a:prstGeom>
          <a:solidFill>
            <a:srgbClr val="2DC653"/>
          </a:solidFill>
          <a:ln w="12700">
            <a:solidFill>
              <a:srgbClr val="2DC653"/>
            </a:solidFill>
            <a:prstDash val="solid"/>
          </a:ln>
        </p:spPr>
      </p:sp>
      <p:sp>
        <p:nvSpPr>
          <p:cNvPr id="7" name="Text 5"/>
          <p:cNvSpPr/>
          <p:nvPr/>
        </p:nvSpPr>
        <p:spPr>
          <a:xfrm>
            <a:off x="457200" y="804672"/>
            <a:ext cx="53035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OBSERVATION</a:t>
            </a:r>
            <a:endParaRPr lang="en-US" sz="1200" dirty="0"/>
          </a:p>
        </p:txBody>
      </p:sp>
      <p:sp>
        <p:nvSpPr>
          <p:cNvPr id="8" name="Text 6"/>
          <p:cNvSpPr/>
          <p:nvPr/>
        </p:nvSpPr>
        <p:spPr>
          <a:xfrm>
            <a:off x="475488" y="1161288"/>
            <a:ext cx="5266944" cy="804672"/>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Using your senses to carefully notice and record details about something in the world around you.</a:t>
            </a:r>
            <a:endParaRPr lang="en-US" sz="1050" dirty="0"/>
          </a:p>
        </p:txBody>
      </p:sp>
      <p:sp>
        <p:nvSpPr>
          <p:cNvPr id="9" name="Shape 7"/>
          <p:cNvSpPr/>
          <p:nvPr/>
        </p:nvSpPr>
        <p:spPr>
          <a:xfrm>
            <a:off x="6126480" y="777240"/>
            <a:ext cx="5486400" cy="1234440"/>
          </a:xfrm>
          <a:prstGeom prst="roundRect">
            <a:avLst>
              <a:gd name="adj" fmla="val 7407"/>
            </a:avLst>
          </a:prstGeom>
          <a:solidFill>
            <a:srgbClr val="1E2F45"/>
          </a:solidFill>
          <a:ln w="25400">
            <a:solidFill>
              <a:srgbClr val="4CC9F0"/>
            </a:solidFill>
            <a:prstDash val="solid"/>
          </a:ln>
        </p:spPr>
      </p:sp>
      <p:sp>
        <p:nvSpPr>
          <p:cNvPr id="10" name="Shape 8"/>
          <p:cNvSpPr/>
          <p:nvPr/>
        </p:nvSpPr>
        <p:spPr>
          <a:xfrm>
            <a:off x="6126480" y="777240"/>
            <a:ext cx="5486400" cy="347472"/>
          </a:xfrm>
          <a:prstGeom prst="rect">
            <a:avLst/>
          </a:prstGeom>
          <a:solidFill>
            <a:srgbClr val="4CC9F0"/>
          </a:solidFill>
          <a:ln w="12700">
            <a:solidFill>
              <a:srgbClr val="4CC9F0"/>
            </a:solidFill>
            <a:prstDash val="solid"/>
          </a:ln>
        </p:spPr>
      </p:sp>
      <p:sp>
        <p:nvSpPr>
          <p:cNvPr id="11" name="Text 9"/>
          <p:cNvSpPr/>
          <p:nvPr/>
        </p:nvSpPr>
        <p:spPr>
          <a:xfrm>
            <a:off x="6217920" y="804672"/>
            <a:ext cx="53035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SCIENTIFIC SKETCH</a:t>
            </a:r>
            <a:endParaRPr lang="en-US" sz="1200" dirty="0"/>
          </a:p>
        </p:txBody>
      </p:sp>
      <p:sp>
        <p:nvSpPr>
          <p:cNvPr id="12" name="Text 10"/>
          <p:cNvSpPr/>
          <p:nvPr/>
        </p:nvSpPr>
        <p:spPr>
          <a:xfrm>
            <a:off x="6236208" y="1161288"/>
            <a:ext cx="5266944" cy="804672"/>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careful, detailed drawing that scientists use to record and communicate what they observe.</a:t>
            </a:r>
            <a:endParaRPr lang="en-US" sz="1050" dirty="0"/>
          </a:p>
        </p:txBody>
      </p:sp>
      <p:sp>
        <p:nvSpPr>
          <p:cNvPr id="13" name="Shape 11"/>
          <p:cNvSpPr/>
          <p:nvPr/>
        </p:nvSpPr>
        <p:spPr>
          <a:xfrm>
            <a:off x="365760" y="2194560"/>
            <a:ext cx="11247120" cy="731520"/>
          </a:xfrm>
          <a:prstGeom prst="roundRect">
            <a:avLst>
              <a:gd name="adj" fmla="val 12500"/>
            </a:avLst>
          </a:prstGeom>
          <a:solidFill>
            <a:srgbClr val="1E2F45"/>
          </a:solidFill>
          <a:ln w="19050">
            <a:solidFill>
              <a:srgbClr val="4CC9F0"/>
            </a:solidFill>
            <a:prstDash val="solid"/>
          </a:ln>
        </p:spPr>
      </p:sp>
      <p:sp>
        <p:nvSpPr>
          <p:cNvPr id="14" name="Text 12"/>
          <p:cNvSpPr/>
          <p:nvPr/>
        </p:nvSpPr>
        <p:spPr>
          <a:xfrm>
            <a:off x="548640" y="2194560"/>
            <a:ext cx="10972800" cy="7315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The connection: Scientists make OBSERVATIONS → then they record them as SCIENTIFIC SKETCHES</a:t>
            </a:r>
            <a:endParaRPr lang="en-US" sz="1400" dirty="0"/>
          </a:p>
        </p:txBody>
      </p:sp>
      <p:sp>
        <p:nvSpPr>
          <p:cNvPr id="15" name="Shape 13"/>
          <p:cNvSpPr/>
          <p:nvPr/>
        </p:nvSpPr>
        <p:spPr>
          <a:xfrm>
            <a:off x="365760" y="3063240"/>
            <a:ext cx="11247120" cy="1920240"/>
          </a:xfrm>
          <a:prstGeom prst="roundRect">
            <a:avLst>
              <a:gd name="adj" fmla="val 5714"/>
            </a:avLst>
          </a:prstGeom>
          <a:solidFill>
            <a:srgbClr val="162233"/>
          </a:solidFill>
          <a:ln w="19050">
            <a:solidFill>
              <a:srgbClr val="FFB703"/>
            </a:solidFill>
            <a:prstDash val="solid"/>
          </a:ln>
        </p:spPr>
      </p:sp>
      <p:sp>
        <p:nvSpPr>
          <p:cNvPr id="16" name="Text 14"/>
          <p:cNvSpPr/>
          <p:nvPr/>
        </p:nvSpPr>
        <p:spPr>
          <a:xfrm>
            <a:off x="548640" y="3127248"/>
            <a:ext cx="1097280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Stop &amp; Reason</a:t>
            </a:r>
            <a:endParaRPr lang="en-US" sz="1300" dirty="0"/>
          </a:p>
        </p:txBody>
      </p:sp>
      <p:sp>
        <p:nvSpPr>
          <p:cNvPr id="17" name="Text 15"/>
          <p:cNvSpPr/>
          <p:nvPr/>
        </p:nvSpPr>
        <p:spPr>
          <a:xfrm>
            <a:off x="548640" y="3502152"/>
            <a:ext cx="10972800" cy="1325880"/>
          </a:xfrm>
          <a:prstGeom prst="rect">
            <a:avLst/>
          </a:prstGeom>
          <a:noFill/>
          <a:ln/>
        </p:spPr>
        <p:txBody>
          <a:bodyPr wrap="square" rtlCol="0" anchor="t"/>
          <a:lstStyle/>
          <a:p>
            <a:pPr algn="l" indent="0" marL="0">
              <a:buNone/>
            </a:pPr>
            <a:r>
              <a:rPr lang="en-US" sz="1500" i="1" dirty="0">
                <a:solidFill>
                  <a:srgbClr val="FFFFFF"/>
                </a:solidFill>
                <a:latin typeface="Calibri" pitchFamily="34" charset="0"/>
                <a:ea typeface="Calibri" pitchFamily="34" charset="-122"/>
                <a:cs typeface="Calibri" pitchFamily="34" charset="-120"/>
              </a:rPr>
              <a:t>"Why do scientists use sketches instead of just writing words?</a:t>
            </a:r>
            <a:endParaRPr lang="en-US" sz="1500" dirty="0"/>
          </a:p>
          <a:p>
            <a:pPr algn="l" indent="0" marL="0">
              <a:buNone/>
            </a:pPr>
            <a:r>
              <a:rPr lang="en-US" sz="1500" i="1" dirty="0">
                <a:solidFill>
                  <a:srgbClr val="FFFFFF"/>
                </a:solidFill>
                <a:latin typeface="Calibri" pitchFamily="34" charset="0"/>
                <a:ea typeface="Calibri" pitchFamily="34" charset="-122"/>
                <a:cs typeface="Calibri" pitchFamily="34" charset="-120"/>
              </a:rPr>
              <a:t>What can a drawing communicate that a sentence can't?"</a:t>
            </a:r>
            <a:endParaRPr lang="en-US" sz="15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Vocabulary — Words 4, 5 &amp; 6 of 6</a:t>
            </a:r>
            <a:endParaRPr lang="en-US" sz="1600" dirty="0"/>
          </a:p>
        </p:txBody>
      </p:sp>
      <p:sp>
        <p:nvSpPr>
          <p:cNvPr id="5" name="Shape 3"/>
          <p:cNvSpPr/>
          <p:nvPr/>
        </p:nvSpPr>
        <p:spPr>
          <a:xfrm>
            <a:off x="274320" y="777240"/>
            <a:ext cx="3566160" cy="1234440"/>
          </a:xfrm>
          <a:prstGeom prst="roundRect">
            <a:avLst>
              <a:gd name="adj" fmla="val 7407"/>
            </a:avLst>
          </a:prstGeom>
          <a:solidFill>
            <a:srgbClr val="1E2F45"/>
          </a:solidFill>
          <a:ln w="25400">
            <a:solidFill>
              <a:srgbClr val="FFB703"/>
            </a:solidFill>
            <a:prstDash val="solid"/>
          </a:ln>
        </p:spPr>
      </p:sp>
      <p:sp>
        <p:nvSpPr>
          <p:cNvPr id="6" name="Shape 4"/>
          <p:cNvSpPr/>
          <p:nvPr/>
        </p:nvSpPr>
        <p:spPr>
          <a:xfrm>
            <a:off x="274320" y="777240"/>
            <a:ext cx="3566160" cy="347472"/>
          </a:xfrm>
          <a:prstGeom prst="rect">
            <a:avLst/>
          </a:prstGeom>
          <a:solidFill>
            <a:srgbClr val="FFB703"/>
          </a:solidFill>
          <a:ln w="12700">
            <a:solidFill>
              <a:srgbClr val="FFB703"/>
            </a:solidFill>
            <a:prstDash val="solid"/>
          </a:ln>
        </p:spPr>
      </p:sp>
      <p:sp>
        <p:nvSpPr>
          <p:cNvPr id="7" name="Text 5"/>
          <p:cNvSpPr/>
          <p:nvPr/>
        </p:nvSpPr>
        <p:spPr>
          <a:xfrm>
            <a:off x="365760" y="804672"/>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LABEL</a:t>
            </a:r>
            <a:endParaRPr lang="en-US" sz="1200" dirty="0"/>
          </a:p>
        </p:txBody>
      </p:sp>
      <p:sp>
        <p:nvSpPr>
          <p:cNvPr id="8" name="Text 6"/>
          <p:cNvSpPr/>
          <p:nvPr/>
        </p:nvSpPr>
        <p:spPr>
          <a:xfrm>
            <a:off x="384048" y="1161288"/>
            <a:ext cx="3346704" cy="804672"/>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word or short phrase written on a drawing to identify and name its different parts.</a:t>
            </a:r>
            <a:endParaRPr lang="en-US" sz="1050" dirty="0"/>
          </a:p>
        </p:txBody>
      </p:sp>
      <p:sp>
        <p:nvSpPr>
          <p:cNvPr id="9" name="Shape 7"/>
          <p:cNvSpPr/>
          <p:nvPr/>
        </p:nvSpPr>
        <p:spPr>
          <a:xfrm>
            <a:off x="4114800" y="777240"/>
            <a:ext cx="3566160" cy="1234440"/>
          </a:xfrm>
          <a:prstGeom prst="roundRect">
            <a:avLst>
              <a:gd name="adj" fmla="val 7407"/>
            </a:avLst>
          </a:prstGeom>
          <a:solidFill>
            <a:srgbClr val="1E2F45"/>
          </a:solidFill>
          <a:ln w="25400">
            <a:solidFill>
              <a:srgbClr val="F4736A"/>
            </a:solidFill>
            <a:prstDash val="solid"/>
          </a:ln>
        </p:spPr>
      </p:sp>
      <p:sp>
        <p:nvSpPr>
          <p:cNvPr id="10" name="Shape 8"/>
          <p:cNvSpPr/>
          <p:nvPr/>
        </p:nvSpPr>
        <p:spPr>
          <a:xfrm>
            <a:off x="4114800" y="777240"/>
            <a:ext cx="3566160" cy="347472"/>
          </a:xfrm>
          <a:prstGeom prst="rect">
            <a:avLst/>
          </a:prstGeom>
          <a:solidFill>
            <a:srgbClr val="F4736A"/>
          </a:solidFill>
          <a:ln w="12700">
            <a:solidFill>
              <a:srgbClr val="F4736A"/>
            </a:solidFill>
            <a:prstDash val="solid"/>
          </a:ln>
        </p:spPr>
      </p:sp>
      <p:sp>
        <p:nvSpPr>
          <p:cNvPr id="11" name="Text 9"/>
          <p:cNvSpPr/>
          <p:nvPr/>
        </p:nvSpPr>
        <p:spPr>
          <a:xfrm>
            <a:off x="4206240" y="804672"/>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DIAGRAM</a:t>
            </a:r>
            <a:endParaRPr lang="en-US" sz="1200" dirty="0"/>
          </a:p>
        </p:txBody>
      </p:sp>
      <p:sp>
        <p:nvSpPr>
          <p:cNvPr id="12" name="Text 10"/>
          <p:cNvSpPr/>
          <p:nvPr/>
        </p:nvSpPr>
        <p:spPr>
          <a:xfrm>
            <a:off x="4224528" y="1161288"/>
            <a:ext cx="3346704" cy="804672"/>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drawing that shows how something works or what its different parts are and how they connect.</a:t>
            </a:r>
            <a:endParaRPr lang="en-US" sz="1050" dirty="0"/>
          </a:p>
        </p:txBody>
      </p:sp>
      <p:sp>
        <p:nvSpPr>
          <p:cNvPr id="13" name="Shape 11"/>
          <p:cNvSpPr/>
          <p:nvPr/>
        </p:nvSpPr>
        <p:spPr>
          <a:xfrm>
            <a:off x="7955280" y="777240"/>
            <a:ext cx="3566160" cy="1234440"/>
          </a:xfrm>
          <a:prstGeom prst="roundRect">
            <a:avLst>
              <a:gd name="adj" fmla="val 7407"/>
            </a:avLst>
          </a:prstGeom>
          <a:solidFill>
            <a:srgbClr val="1E2F45"/>
          </a:solidFill>
          <a:ln w="25400">
            <a:solidFill>
              <a:srgbClr val="2DC653"/>
            </a:solidFill>
            <a:prstDash val="solid"/>
          </a:ln>
        </p:spPr>
      </p:sp>
      <p:sp>
        <p:nvSpPr>
          <p:cNvPr id="14" name="Shape 12"/>
          <p:cNvSpPr/>
          <p:nvPr/>
        </p:nvSpPr>
        <p:spPr>
          <a:xfrm>
            <a:off x="7955280" y="777240"/>
            <a:ext cx="3566160" cy="347472"/>
          </a:xfrm>
          <a:prstGeom prst="rect">
            <a:avLst/>
          </a:prstGeom>
          <a:solidFill>
            <a:srgbClr val="2DC653"/>
          </a:solidFill>
          <a:ln w="12700">
            <a:solidFill>
              <a:srgbClr val="2DC653"/>
            </a:solidFill>
            <a:prstDash val="solid"/>
          </a:ln>
        </p:spPr>
      </p:sp>
      <p:sp>
        <p:nvSpPr>
          <p:cNvPr id="15" name="Text 13"/>
          <p:cNvSpPr/>
          <p:nvPr/>
        </p:nvSpPr>
        <p:spPr>
          <a:xfrm>
            <a:off x="8046720" y="804672"/>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p>
        </p:txBody>
      </p:sp>
      <p:sp>
        <p:nvSpPr>
          <p:cNvPr id="16" name="Text 14"/>
          <p:cNvSpPr/>
          <p:nvPr/>
        </p:nvSpPr>
        <p:spPr>
          <a:xfrm>
            <a:off x="8065008" y="1161288"/>
            <a:ext cx="3346704" cy="804672"/>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Drawing exactly what you see, with careful attention to real shapes, sizes, and details.</a:t>
            </a:r>
            <a:endParaRPr lang="en-US" sz="1050" dirty="0"/>
          </a:p>
        </p:txBody>
      </p:sp>
      <p:sp>
        <p:nvSpPr>
          <p:cNvPr id="17" name="Shape 15"/>
          <p:cNvSpPr/>
          <p:nvPr/>
        </p:nvSpPr>
        <p:spPr>
          <a:xfrm>
            <a:off x="274320" y="2194560"/>
            <a:ext cx="11338560" cy="685800"/>
          </a:xfrm>
          <a:prstGeom prst="roundRect">
            <a:avLst>
              <a:gd name="adj" fmla="val 10667"/>
            </a:avLst>
          </a:prstGeom>
          <a:solidFill>
            <a:srgbClr val="1E2F45"/>
          </a:solidFill>
          <a:ln w="12700">
            <a:solidFill>
              <a:srgbClr val="243A52"/>
            </a:solidFill>
            <a:prstDash val="solid"/>
          </a:ln>
        </p:spPr>
      </p:sp>
      <p:sp>
        <p:nvSpPr>
          <p:cNvPr id="18" name="Text 16"/>
          <p:cNvSpPr/>
          <p:nvPr/>
        </p:nvSpPr>
        <p:spPr>
          <a:xfrm>
            <a:off x="274320" y="2194560"/>
            <a:ext cx="11338560" cy="685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Sketch  +  LABELS  =  DIAGRAM</a:t>
            </a:r>
            <a:endParaRPr lang="en-US" sz="2000" dirty="0"/>
          </a:p>
        </p:txBody>
      </p:sp>
      <p:sp>
        <p:nvSpPr>
          <p:cNvPr id="19" name="Shape 17"/>
          <p:cNvSpPr/>
          <p:nvPr/>
        </p:nvSpPr>
        <p:spPr>
          <a:xfrm>
            <a:off x="274320" y="3017520"/>
            <a:ext cx="11338560" cy="1737360"/>
          </a:xfrm>
          <a:prstGeom prst="roundRect">
            <a:avLst>
              <a:gd name="adj" fmla="val 4211"/>
            </a:avLst>
          </a:prstGeom>
          <a:solidFill>
            <a:srgbClr val="162233"/>
          </a:solidFill>
          <a:ln w="12700">
            <a:solidFill>
              <a:srgbClr val="FFB703"/>
            </a:solidFill>
            <a:prstDash val="solid"/>
          </a:ln>
        </p:spPr>
      </p:sp>
      <p:sp>
        <p:nvSpPr>
          <p:cNvPr id="20" name="Text 18"/>
          <p:cNvSpPr/>
          <p:nvPr/>
        </p:nvSpPr>
        <p:spPr>
          <a:xfrm>
            <a:off x="457200" y="3090672"/>
            <a:ext cx="1097280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Quick Discussion:</a:t>
            </a:r>
            <a:endParaRPr lang="en-US" sz="1300" dirty="0"/>
          </a:p>
        </p:txBody>
      </p:sp>
      <p:sp>
        <p:nvSpPr>
          <p:cNvPr id="21" name="Text 19"/>
          <p:cNvSpPr/>
          <p:nvPr/>
        </p:nvSpPr>
        <p:spPr>
          <a:xfrm>
            <a:off x="457200" y="3456432"/>
            <a:ext cx="10972800" cy="11887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"What is the difference between a label and a diagram?"</a:t>
            </a:r>
            <a:endParaRPr lang="en-US" sz="1350" dirty="0"/>
          </a:p>
          <a:p>
            <a:pPr indent="0" marL="0">
              <a:buNone/>
            </a:pP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  This is Part B, Question 1 on your assignment — you're practicing the answer right now!</a:t>
            </a:r>
            <a:endParaRPr lang="en-US" sz="135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Scientists Come in All Kinds!</a:t>
            </a:r>
            <a:endParaRPr lang="en-US" sz="1600" dirty="0"/>
          </a:p>
        </p:txBody>
      </p:sp>
      <p:sp>
        <p:nvSpPr>
          <p:cNvPr id="5" name="Shape 3"/>
          <p:cNvSpPr/>
          <p:nvPr/>
        </p:nvSpPr>
        <p:spPr>
          <a:xfrm>
            <a:off x="320040" y="777240"/>
            <a:ext cx="3749040" cy="3657600"/>
          </a:xfrm>
          <a:prstGeom prst="roundRect">
            <a:avLst>
              <a:gd name="adj" fmla="val 2000"/>
            </a:avLst>
          </a:prstGeom>
          <a:solidFill>
            <a:srgbClr val="1E2F45"/>
          </a:solidFill>
          <a:ln w="12700">
            <a:solidFill>
              <a:srgbClr val="2DC653"/>
            </a:solidFill>
            <a:prstDash val="solid"/>
          </a:ln>
        </p:spPr>
      </p:sp>
      <p:sp>
        <p:nvSpPr>
          <p:cNvPr id="6" name="Text 4"/>
          <p:cNvSpPr/>
          <p:nvPr/>
        </p:nvSpPr>
        <p:spPr>
          <a:xfrm>
            <a:off x="320040" y="868680"/>
            <a:ext cx="3749040" cy="77724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7" name="Text 5"/>
          <p:cNvSpPr/>
          <p:nvPr/>
        </p:nvSpPr>
        <p:spPr>
          <a:xfrm>
            <a:off x="411480" y="1691640"/>
            <a:ext cx="3566160" cy="384048"/>
          </a:xfrm>
          <a:prstGeom prst="rect">
            <a:avLst/>
          </a:prstGeom>
          <a:noFill/>
          <a:ln/>
        </p:spPr>
        <p:txBody>
          <a:bodyPr wrap="square" rtlCol="0" anchor="ctr"/>
          <a:lstStyle/>
          <a:p>
            <a:pPr algn="ctr" indent="0" marL="0">
              <a:buNone/>
            </a:pPr>
            <a:r>
              <a:rPr lang="en-US" sz="1400" b="1" dirty="0">
                <a:solidFill>
                  <a:srgbClr val="2DC653"/>
                </a:solidFill>
                <a:latin typeface="Calibri" pitchFamily="34" charset="0"/>
                <a:ea typeface="Calibri" pitchFamily="34" charset="-122"/>
                <a:cs typeface="Calibri" pitchFamily="34" charset="-120"/>
              </a:rPr>
              <a:t>Field Scientist</a:t>
            </a:r>
            <a:endParaRPr lang="en-US" sz="1400" dirty="0"/>
          </a:p>
        </p:txBody>
      </p:sp>
      <p:sp>
        <p:nvSpPr>
          <p:cNvPr id="8" name="Text 6"/>
          <p:cNvSpPr/>
          <p:nvPr/>
        </p:nvSpPr>
        <p:spPr>
          <a:xfrm>
            <a:off x="457200" y="2103120"/>
            <a:ext cx="3474720" cy="2103120"/>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Works outdoors — in forests, oceans, mountains, and jungles — observing nature up close.</a:t>
            </a:r>
            <a:endParaRPr lang="en-US" sz="1150" dirty="0"/>
          </a:p>
        </p:txBody>
      </p:sp>
      <p:sp>
        <p:nvSpPr>
          <p:cNvPr id="9" name="Shape 7"/>
          <p:cNvSpPr/>
          <p:nvPr/>
        </p:nvSpPr>
        <p:spPr>
          <a:xfrm>
            <a:off x="4251960" y="777240"/>
            <a:ext cx="3749040" cy="3657600"/>
          </a:xfrm>
          <a:prstGeom prst="roundRect">
            <a:avLst>
              <a:gd name="adj" fmla="val 2000"/>
            </a:avLst>
          </a:prstGeom>
          <a:solidFill>
            <a:srgbClr val="1E2F45"/>
          </a:solidFill>
          <a:ln w="12700">
            <a:solidFill>
              <a:srgbClr val="4CC9F0"/>
            </a:solidFill>
            <a:prstDash val="solid"/>
          </a:ln>
        </p:spPr>
      </p:sp>
      <p:sp>
        <p:nvSpPr>
          <p:cNvPr id="10" name="Text 8"/>
          <p:cNvSpPr/>
          <p:nvPr/>
        </p:nvSpPr>
        <p:spPr>
          <a:xfrm>
            <a:off x="4251960" y="868680"/>
            <a:ext cx="3749040" cy="77724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1" name="Text 9"/>
          <p:cNvSpPr/>
          <p:nvPr/>
        </p:nvSpPr>
        <p:spPr>
          <a:xfrm>
            <a:off x="4343400" y="1691640"/>
            <a:ext cx="3566160" cy="384048"/>
          </a:xfrm>
          <a:prstGeom prst="rect">
            <a:avLst/>
          </a:prstGeom>
          <a:noFill/>
          <a:ln/>
        </p:spPr>
        <p:txBody>
          <a:bodyPr wrap="square" rtlCol="0" anchor="ctr"/>
          <a:lstStyle/>
          <a:p>
            <a:pPr algn="ctr" indent="0" marL="0">
              <a:buNone/>
            </a:pPr>
            <a:r>
              <a:rPr lang="en-US" sz="1400" b="1" dirty="0">
                <a:solidFill>
                  <a:srgbClr val="4CC9F0"/>
                </a:solidFill>
                <a:latin typeface="Calibri" pitchFamily="34" charset="0"/>
                <a:ea typeface="Calibri" pitchFamily="34" charset="-122"/>
                <a:cs typeface="Calibri" pitchFamily="34" charset="-120"/>
              </a:rPr>
              <a:t>Lab Scientist</a:t>
            </a:r>
            <a:endParaRPr lang="en-US" sz="1400" dirty="0"/>
          </a:p>
        </p:txBody>
      </p:sp>
      <p:sp>
        <p:nvSpPr>
          <p:cNvPr id="12" name="Text 10"/>
          <p:cNvSpPr/>
          <p:nvPr/>
        </p:nvSpPr>
        <p:spPr>
          <a:xfrm>
            <a:off x="4389120" y="2103120"/>
            <a:ext cx="3474720" cy="2103120"/>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Works indoors in a laboratory with equipment like microscopes, beakers, and computers.</a:t>
            </a:r>
            <a:endParaRPr lang="en-US" sz="1150" dirty="0"/>
          </a:p>
        </p:txBody>
      </p:sp>
      <p:sp>
        <p:nvSpPr>
          <p:cNvPr id="13" name="Shape 11"/>
          <p:cNvSpPr/>
          <p:nvPr/>
        </p:nvSpPr>
        <p:spPr>
          <a:xfrm>
            <a:off x="8183880" y="777240"/>
            <a:ext cx="3749040" cy="3657600"/>
          </a:xfrm>
          <a:prstGeom prst="roundRect">
            <a:avLst>
              <a:gd name="adj" fmla="val 2000"/>
            </a:avLst>
          </a:prstGeom>
          <a:solidFill>
            <a:srgbClr val="1E2F45"/>
          </a:solidFill>
          <a:ln w="12700">
            <a:solidFill>
              <a:srgbClr val="FFB703"/>
            </a:solidFill>
            <a:prstDash val="solid"/>
          </a:ln>
        </p:spPr>
      </p:sp>
      <p:sp>
        <p:nvSpPr>
          <p:cNvPr id="14" name="Text 12"/>
          <p:cNvSpPr/>
          <p:nvPr/>
        </p:nvSpPr>
        <p:spPr>
          <a:xfrm>
            <a:off x="8183880" y="868680"/>
            <a:ext cx="3749040" cy="77724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5" name="Text 13"/>
          <p:cNvSpPr/>
          <p:nvPr/>
        </p:nvSpPr>
        <p:spPr>
          <a:xfrm>
            <a:off x="8275320" y="1691640"/>
            <a:ext cx="3566160" cy="384048"/>
          </a:xfrm>
          <a:prstGeom prst="rect">
            <a:avLst/>
          </a:prstGeom>
          <a:noFill/>
          <a:ln/>
        </p:spPr>
        <p:txBody>
          <a:bodyPr wrap="square" rtlCol="0" anchor="ctr"/>
          <a:lstStyle/>
          <a:p>
            <a:pPr algn="ctr" indent="0" marL="0">
              <a:buNone/>
            </a:pPr>
            <a:r>
              <a:rPr lang="en-US" sz="1400" b="1" dirty="0">
                <a:solidFill>
                  <a:srgbClr val="FFB703"/>
                </a:solidFill>
                <a:latin typeface="Calibri" pitchFamily="34" charset="0"/>
                <a:ea typeface="Calibri" pitchFamily="34" charset="-122"/>
                <a:cs typeface="Calibri" pitchFamily="34" charset="-120"/>
              </a:rPr>
              <a:t>Citizen Scientist</a:t>
            </a:r>
            <a:endParaRPr lang="en-US" sz="1400" dirty="0"/>
          </a:p>
        </p:txBody>
      </p:sp>
      <p:sp>
        <p:nvSpPr>
          <p:cNvPr id="16" name="Text 14"/>
          <p:cNvSpPr/>
          <p:nvPr/>
        </p:nvSpPr>
        <p:spPr>
          <a:xfrm>
            <a:off x="8321040" y="2103120"/>
            <a:ext cx="3474720" cy="2103120"/>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Regular people — even kids like you — who observe and record data to help real scientists!</a:t>
            </a:r>
            <a:endParaRPr lang="en-US" sz="1150" dirty="0"/>
          </a:p>
        </p:txBody>
      </p:sp>
      <p:sp>
        <p:nvSpPr>
          <p:cNvPr id="17" name="Shape 15"/>
          <p:cNvSpPr/>
          <p:nvPr/>
        </p:nvSpPr>
        <p:spPr>
          <a:xfrm>
            <a:off x="320040" y="4617720"/>
            <a:ext cx="11338560" cy="777240"/>
          </a:xfrm>
          <a:prstGeom prst="roundRect">
            <a:avLst>
              <a:gd name="adj" fmla="val 9412"/>
            </a:avLst>
          </a:prstGeom>
          <a:solidFill>
            <a:srgbClr val="162233"/>
          </a:solidFill>
          <a:ln w="12700">
            <a:solidFill>
              <a:srgbClr val="2DC653"/>
            </a:solidFill>
            <a:prstDash val="solid"/>
          </a:ln>
        </p:spPr>
      </p:sp>
      <p:sp>
        <p:nvSpPr>
          <p:cNvPr id="18" name="Text 16"/>
          <p:cNvSpPr/>
          <p:nvPr/>
        </p:nvSpPr>
        <p:spPr>
          <a:xfrm>
            <a:off x="502920" y="4663440"/>
            <a:ext cx="11064240" cy="685800"/>
          </a:xfrm>
          <a:prstGeom prst="rect">
            <a:avLst/>
          </a:prstGeom>
          <a:noFill/>
          <a:ln/>
        </p:spPr>
        <p:txBody>
          <a:bodyPr wrap="square"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Real World: Apps like iNaturalist let anyone upload nature observations that professional scientists use in their research. You are already a scientist!</a:t>
            </a:r>
            <a:endParaRPr lang="en-US" sz="1200" dirty="0"/>
          </a:p>
        </p:txBody>
      </p:sp>
      <p:sp>
        <p:nvSpPr>
          <p:cNvPr id="19" name="Text 17"/>
          <p:cNvSpPr/>
          <p:nvPr/>
        </p:nvSpPr>
        <p:spPr>
          <a:xfrm>
            <a:off x="320040" y="5532120"/>
            <a:ext cx="11338560" cy="411480"/>
          </a:xfrm>
          <a:prstGeom prst="rect">
            <a:avLst/>
          </a:prstGeom>
          <a:noFill/>
          <a:ln/>
        </p:spPr>
        <p:txBody>
          <a:bodyPr wrap="square" rtlCol="0" anchor="ctr"/>
          <a:lstStyle/>
          <a:p>
            <a:pPr indent="0" marL="0">
              <a:buNone/>
            </a:pPr>
            <a:r>
              <a:rPr lang="en-US" sz="1300" i="1" dirty="0">
                <a:solidFill>
                  <a:srgbClr val="FFB703"/>
                </a:solidFill>
                <a:latin typeface="Calibri" pitchFamily="34" charset="0"/>
                <a:ea typeface="Calibri" pitchFamily="34" charset="-122"/>
                <a:cs typeface="Calibri" pitchFamily="34" charset="-120"/>
              </a:rPr>
              <a:t>💬  "Which type of scientist sounds most interesting to you? What would you investigate?"</a:t>
            </a:r>
            <a:endParaRPr lang="en-US" sz="13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Look at This Sketch — What Do You Notice?</a:t>
            </a:r>
            <a:endParaRPr lang="en-US" sz="1600" dirty="0"/>
          </a:p>
        </p:txBody>
      </p:sp>
      <p:sp>
        <p:nvSpPr>
          <p:cNvPr id="5" name="Shape 3"/>
          <p:cNvSpPr/>
          <p:nvPr/>
        </p:nvSpPr>
        <p:spPr>
          <a:xfrm>
            <a:off x="365760" y="777240"/>
            <a:ext cx="5303520" cy="5029200"/>
          </a:xfrm>
          <a:prstGeom prst="roundRect">
            <a:avLst>
              <a:gd name="adj" fmla="val 1455"/>
            </a:avLst>
          </a:prstGeom>
          <a:solidFill>
            <a:srgbClr val="1E2F45"/>
          </a:solidFill>
          <a:ln w="12700">
            <a:solidFill>
              <a:srgbClr val="243A52"/>
            </a:solidFill>
            <a:prstDash val="solid"/>
          </a:ln>
        </p:spPr>
      </p:sp>
      <p:sp>
        <p:nvSpPr>
          <p:cNvPr id="6" name="Text 4"/>
          <p:cNvSpPr/>
          <p:nvPr/>
        </p:nvSpPr>
        <p:spPr>
          <a:xfrm>
            <a:off x="457200" y="822960"/>
            <a:ext cx="5120640" cy="365760"/>
          </a:xfrm>
          <a:prstGeom prst="rect">
            <a:avLst/>
          </a:prstGeom>
          <a:noFill/>
          <a:ln/>
        </p:spPr>
        <p:txBody>
          <a:bodyPr wrap="square" rtlCol="0" anchor="ctr"/>
          <a:lstStyle/>
          <a:p>
            <a:pPr algn="ctr" indent="0" marL="0">
              <a:buNone/>
            </a:pPr>
            <a:r>
              <a:rPr lang="en-US" sz="1300" b="1" dirty="0">
                <a:solidFill>
                  <a:srgbClr val="F4736A"/>
                </a:solidFill>
                <a:latin typeface="Calibri" pitchFamily="34" charset="0"/>
                <a:ea typeface="Calibri" pitchFamily="34" charset="-122"/>
                <a:cs typeface="Calibri" pitchFamily="34" charset="-120"/>
              </a:rPr>
              <a:t>❌ Sketch A</a:t>
            </a:r>
            <a:endParaRPr lang="en-US" sz="1300" dirty="0"/>
          </a:p>
        </p:txBody>
      </p:sp>
      <p:sp>
        <p:nvSpPr>
          <p:cNvPr id="7" name="Shape 5"/>
          <p:cNvSpPr/>
          <p:nvPr/>
        </p:nvSpPr>
        <p:spPr>
          <a:xfrm>
            <a:off x="1828800" y="1645920"/>
            <a:ext cx="1371600" cy="822960"/>
          </a:xfrm>
          <a:prstGeom prst="ellipse">
            <a:avLst/>
          </a:prstGeom>
          <a:solidFill>
            <a:srgbClr val="3A4A3A"/>
          </a:solidFill>
          <a:ln w="12700">
            <a:solidFill>
              <a:srgbClr val="4A5A4A"/>
            </a:solidFill>
            <a:prstDash val="solid"/>
          </a:ln>
        </p:spPr>
      </p:sp>
      <p:sp>
        <p:nvSpPr>
          <p:cNvPr id="8" name="Shape 6"/>
          <p:cNvSpPr/>
          <p:nvPr/>
        </p:nvSpPr>
        <p:spPr>
          <a:xfrm>
            <a:off x="2514600" y="2468880"/>
            <a:ext cx="0" cy="731520"/>
          </a:xfrm>
          <a:prstGeom prst="line">
            <a:avLst/>
          </a:prstGeom>
          <a:noFill/>
          <a:ln w="25400">
            <a:solidFill>
              <a:srgbClr val="4A5A4A"/>
            </a:solidFill>
            <a:prstDash val="solid"/>
          </a:ln>
        </p:spPr>
      </p:sp>
      <p:sp>
        <p:nvSpPr>
          <p:cNvPr id="9" name="Shape 7"/>
          <p:cNvSpPr/>
          <p:nvPr/>
        </p:nvSpPr>
        <p:spPr>
          <a:xfrm>
            <a:off x="1645920" y="2651760"/>
            <a:ext cx="1737360" cy="0"/>
          </a:xfrm>
          <a:prstGeom prst="line">
            <a:avLst/>
          </a:prstGeom>
          <a:noFill/>
          <a:ln w="19050">
            <a:solidFill>
              <a:srgbClr val="4A5A4A"/>
            </a:solidFill>
            <a:prstDash val="solid"/>
          </a:ln>
        </p:spPr>
      </p:sp>
      <p:sp>
        <p:nvSpPr>
          <p:cNvPr id="10" name="Text 8"/>
          <p:cNvSpPr/>
          <p:nvPr/>
        </p:nvSpPr>
        <p:spPr>
          <a:xfrm>
            <a:off x="457200" y="3474720"/>
            <a:ext cx="5120640" cy="457200"/>
          </a:xfrm>
          <a:prstGeom prst="rect">
            <a:avLst/>
          </a:prstGeom>
          <a:noFill/>
          <a:ln/>
        </p:spPr>
        <p:txBody>
          <a:bodyPr wrap="square" rtlCol="0" anchor="ctr"/>
          <a:lstStyle/>
          <a:p>
            <a:pPr algn="ctr" indent="0" marL="0">
              <a:buNone/>
            </a:pPr>
            <a:r>
              <a:rPr lang="en-US" sz="1050" i="1" dirty="0">
                <a:solidFill>
                  <a:srgbClr val="8899AA"/>
                </a:solidFill>
                <a:latin typeface="Calibri" pitchFamily="34" charset="0"/>
                <a:ea typeface="Calibri" pitchFamily="34" charset="-122"/>
                <a:cs typeface="Calibri" pitchFamily="34" charset="-120"/>
              </a:rPr>
              <a:t>(tiny, no labels, no color, no details)</a:t>
            </a:r>
            <a:endParaRPr lang="en-US" sz="1050" dirty="0"/>
          </a:p>
        </p:txBody>
      </p:sp>
      <p:sp>
        <p:nvSpPr>
          <p:cNvPr id="11" name="Text 9"/>
          <p:cNvSpPr/>
          <p:nvPr/>
        </p:nvSpPr>
        <p:spPr>
          <a:xfrm>
            <a:off x="457200" y="5120640"/>
            <a:ext cx="5120640" cy="457200"/>
          </a:xfrm>
          <a:prstGeom prst="rect">
            <a:avLst/>
          </a:prstGeom>
          <a:noFill/>
          <a:ln/>
        </p:spPr>
        <p:txBody>
          <a:bodyPr wrap="square" rtlCol="0" anchor="ctr"/>
          <a:lstStyle/>
          <a:p>
            <a:pPr algn="ctr" indent="0" marL="0">
              <a:buNone/>
            </a:pPr>
            <a:r>
              <a:rPr lang="en-US" sz="1100" b="1" dirty="0">
                <a:solidFill>
                  <a:srgbClr val="F4736A"/>
                </a:solidFill>
                <a:latin typeface="Calibri" pitchFamily="34" charset="0"/>
                <a:ea typeface="Calibri" pitchFamily="34" charset="-122"/>
                <a:cs typeface="Calibri" pitchFamily="34" charset="-120"/>
              </a:rPr>
              <a:t>Hard to understand · Not scientific</a:t>
            </a:r>
            <a:endParaRPr lang="en-US" sz="1100" dirty="0"/>
          </a:p>
        </p:txBody>
      </p:sp>
      <p:sp>
        <p:nvSpPr>
          <p:cNvPr id="12" name="Shape 10"/>
          <p:cNvSpPr/>
          <p:nvPr/>
        </p:nvSpPr>
        <p:spPr>
          <a:xfrm>
            <a:off x="5943600" y="777240"/>
            <a:ext cx="5852160" cy="2286000"/>
          </a:xfrm>
          <a:prstGeom prst="roundRect">
            <a:avLst>
              <a:gd name="adj" fmla="val 3200"/>
            </a:avLst>
          </a:prstGeom>
          <a:solidFill>
            <a:srgbClr val="162233"/>
          </a:solidFill>
          <a:ln w="12700">
            <a:solidFill>
              <a:srgbClr val="FFB703"/>
            </a:solidFill>
            <a:prstDash val="solid"/>
          </a:ln>
        </p:spPr>
      </p:sp>
      <p:sp>
        <p:nvSpPr>
          <p:cNvPr id="13" name="Shape 11"/>
          <p:cNvSpPr/>
          <p:nvPr/>
        </p:nvSpPr>
        <p:spPr>
          <a:xfrm>
            <a:off x="6035040" y="877824"/>
            <a:ext cx="5577840" cy="347472"/>
          </a:xfrm>
          <a:prstGeom prst="roundRect">
            <a:avLst>
              <a:gd name="adj" fmla="val 23684"/>
            </a:avLst>
          </a:prstGeom>
          <a:solidFill>
            <a:srgbClr val="E09200"/>
          </a:solidFill>
          <a:ln w="19050">
            <a:solidFill>
              <a:srgbClr val="FFB703"/>
            </a:solidFill>
            <a:prstDash val="solid"/>
          </a:ln>
        </p:spPr>
      </p:sp>
      <p:sp>
        <p:nvSpPr>
          <p:cNvPr id="14" name="Text 12"/>
          <p:cNvSpPr/>
          <p:nvPr/>
        </p:nvSpPr>
        <p:spPr>
          <a:xfrm>
            <a:off x="6035040" y="877824"/>
            <a:ext cx="55778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15" name="Text 13"/>
          <p:cNvSpPr/>
          <p:nvPr/>
        </p:nvSpPr>
        <p:spPr>
          <a:xfrm>
            <a:off x="6080760" y="1298448"/>
            <a:ext cx="5577840" cy="1600200"/>
          </a:xfrm>
          <a:prstGeom prst="rect">
            <a:avLst/>
          </a:prstGeom>
          <a:noFill/>
          <a:ln/>
        </p:spPr>
        <p:txBody>
          <a:bodyPr wrap="square"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"What do you notice about this sketch? What seems like it's missing? What would make it more useful?"</a:t>
            </a:r>
            <a:endParaRPr lang="en-US" sz="1350" dirty="0"/>
          </a:p>
        </p:txBody>
      </p:sp>
      <p:sp>
        <p:nvSpPr>
          <p:cNvPr id="16" name="Shape 14"/>
          <p:cNvSpPr/>
          <p:nvPr/>
        </p:nvSpPr>
        <p:spPr>
          <a:xfrm>
            <a:off x="5943600" y="3246120"/>
            <a:ext cx="5852160" cy="2560320"/>
          </a:xfrm>
          <a:prstGeom prst="roundRect">
            <a:avLst>
              <a:gd name="adj" fmla="val 2857"/>
            </a:avLst>
          </a:prstGeom>
          <a:solidFill>
            <a:srgbClr val="1E2F45"/>
          </a:solidFill>
          <a:ln w="12700">
            <a:solidFill>
              <a:srgbClr val="4CC9F0"/>
            </a:solidFill>
            <a:prstDash val="solid"/>
          </a:ln>
        </p:spPr>
      </p:sp>
      <p:sp>
        <p:nvSpPr>
          <p:cNvPr id="17" name="Text 15"/>
          <p:cNvSpPr/>
          <p:nvPr/>
        </p:nvSpPr>
        <p:spPr>
          <a:xfrm>
            <a:off x="6080760" y="3310128"/>
            <a:ext cx="566928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Make a Prediction:</a:t>
            </a:r>
            <a:endParaRPr lang="en-US" sz="1300" dirty="0"/>
          </a:p>
        </p:txBody>
      </p:sp>
      <p:sp>
        <p:nvSpPr>
          <p:cNvPr id="18" name="Text 16"/>
          <p:cNvSpPr/>
          <p:nvPr/>
        </p:nvSpPr>
        <p:spPr>
          <a:xfrm>
            <a:off x="6080760" y="3685032"/>
            <a:ext cx="5669280" cy="77724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"I predict a better scientific sketch would need ___  because ___."</a:t>
            </a:r>
            <a:endParaRPr lang="en-US" sz="1250" dirty="0"/>
          </a:p>
        </p:txBody>
      </p:sp>
      <p:sp>
        <p:nvSpPr>
          <p:cNvPr id="19" name="Text 17"/>
          <p:cNvSpPr/>
          <p:nvPr/>
        </p:nvSpPr>
        <p:spPr>
          <a:xfrm>
            <a:off x="6080760" y="4526280"/>
            <a:ext cx="5669280" cy="68580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Share with a partner. We'll check your predictions on the next slide.</a:t>
            </a:r>
            <a:endParaRPr lang="en-US" sz="115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The 5 Rules of Scientific Sketching</a:t>
            </a:r>
            <a:endParaRPr lang="en-US" sz="1600" dirty="0"/>
          </a:p>
        </p:txBody>
      </p:sp>
      <p:sp>
        <p:nvSpPr>
          <p:cNvPr id="5" name="Shape 3"/>
          <p:cNvSpPr/>
          <p:nvPr/>
        </p:nvSpPr>
        <p:spPr>
          <a:xfrm>
            <a:off x="320040" y="777240"/>
            <a:ext cx="2176272" cy="5029200"/>
          </a:xfrm>
          <a:prstGeom prst="roundRect">
            <a:avLst>
              <a:gd name="adj" fmla="val 3361"/>
            </a:avLst>
          </a:prstGeom>
          <a:solidFill>
            <a:srgbClr val="1E2F45"/>
          </a:solidFill>
          <a:ln w="12700">
            <a:solidFill>
              <a:srgbClr val="4CC9F0"/>
            </a:solidFill>
            <a:prstDash val="solid"/>
          </a:ln>
        </p:spPr>
      </p:sp>
      <p:sp>
        <p:nvSpPr>
          <p:cNvPr id="6" name="Shape 4"/>
          <p:cNvSpPr/>
          <p:nvPr/>
        </p:nvSpPr>
        <p:spPr>
          <a:xfrm>
            <a:off x="950976" y="896112"/>
            <a:ext cx="914400" cy="914400"/>
          </a:xfrm>
          <a:prstGeom prst="ellipse">
            <a:avLst/>
          </a:prstGeom>
          <a:solidFill>
            <a:srgbClr val="4CC9F0"/>
          </a:solidFill>
          <a:ln w="12700">
            <a:solidFill>
              <a:srgbClr val="4CC9F0"/>
            </a:solidFill>
            <a:prstDash val="solid"/>
          </a:ln>
        </p:spPr>
      </p:sp>
      <p:sp>
        <p:nvSpPr>
          <p:cNvPr id="7" name="Text 5"/>
          <p:cNvSpPr/>
          <p:nvPr/>
        </p:nvSpPr>
        <p:spPr>
          <a:xfrm>
            <a:off x="950976" y="896112"/>
            <a:ext cx="914400" cy="914400"/>
          </a:xfrm>
          <a:prstGeom prst="rect">
            <a:avLst/>
          </a:prstGeom>
          <a:noFill/>
          <a:ln/>
        </p:spPr>
        <p:txBody>
          <a:bodyPr wrap="square" rtlCol="0" anchor="ctr"/>
          <a:lstStyle/>
          <a:p>
            <a:pPr algn="ctr" indent="0" marL="0">
              <a:buNone/>
            </a:pPr>
            <a:r>
              <a:rPr lang="en-US" sz="3200" b="1" dirty="0">
                <a:solidFill>
                  <a:srgbClr val="0D1B2A"/>
                </a:solidFill>
                <a:latin typeface="Calibri" pitchFamily="34" charset="0"/>
                <a:ea typeface="Calibri" pitchFamily="34" charset="-122"/>
                <a:cs typeface="Calibri" pitchFamily="34" charset="-120"/>
              </a:rPr>
              <a:t>A</a:t>
            </a:r>
            <a:endParaRPr lang="en-US" sz="3200" dirty="0"/>
          </a:p>
        </p:txBody>
      </p:sp>
      <p:sp>
        <p:nvSpPr>
          <p:cNvPr id="8" name="Text 6"/>
          <p:cNvSpPr/>
          <p:nvPr/>
        </p:nvSpPr>
        <p:spPr>
          <a:xfrm>
            <a:off x="411480" y="1920240"/>
            <a:ext cx="1993392" cy="41148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Accurate</a:t>
            </a:r>
            <a:endParaRPr lang="en-US" sz="1300" dirty="0"/>
          </a:p>
        </p:txBody>
      </p:sp>
      <p:sp>
        <p:nvSpPr>
          <p:cNvPr id="9" name="Text 7"/>
          <p:cNvSpPr/>
          <p:nvPr/>
        </p:nvSpPr>
        <p:spPr>
          <a:xfrm>
            <a:off x="411480" y="2359152"/>
            <a:ext cx="1993392" cy="2331720"/>
          </a:xfrm>
          <a:prstGeom prst="rect">
            <a:avLst/>
          </a:prstGeom>
          <a:noFill/>
          <a:ln/>
        </p:spPr>
        <p:txBody>
          <a:bodyPr wrap="square" rtlCol="0" anchor="ctr"/>
          <a:lstStyle/>
          <a:p>
            <a:pPr algn="l" indent="0" marL="0">
              <a:buNone/>
            </a:pPr>
            <a:r>
              <a:rPr lang="en-US" sz="1100" dirty="0">
                <a:solidFill>
                  <a:srgbClr val="B0C4D8"/>
                </a:solidFill>
                <a:latin typeface="Calibri" pitchFamily="34" charset="0"/>
                <a:ea typeface="Calibri" pitchFamily="34" charset="-122"/>
                <a:cs typeface="Calibri" pitchFamily="34" charset="-120"/>
              </a:rPr>
              <a:t>Draw exactly what you see. No guessing or imagining extra details!</a:t>
            </a:r>
            <a:endParaRPr lang="en-US" sz="1100" dirty="0"/>
          </a:p>
        </p:txBody>
      </p:sp>
      <p:sp>
        <p:nvSpPr>
          <p:cNvPr id="10" name="Shape 8"/>
          <p:cNvSpPr/>
          <p:nvPr/>
        </p:nvSpPr>
        <p:spPr>
          <a:xfrm>
            <a:off x="2624328" y="777240"/>
            <a:ext cx="2176272" cy="5029200"/>
          </a:xfrm>
          <a:prstGeom prst="roundRect">
            <a:avLst>
              <a:gd name="adj" fmla="val 3361"/>
            </a:avLst>
          </a:prstGeom>
          <a:solidFill>
            <a:srgbClr val="1E2F45"/>
          </a:solidFill>
          <a:ln w="12700">
            <a:solidFill>
              <a:srgbClr val="2DC653"/>
            </a:solidFill>
            <a:prstDash val="solid"/>
          </a:ln>
        </p:spPr>
      </p:sp>
      <p:sp>
        <p:nvSpPr>
          <p:cNvPr id="11" name="Shape 9"/>
          <p:cNvSpPr/>
          <p:nvPr/>
        </p:nvSpPr>
        <p:spPr>
          <a:xfrm>
            <a:off x="3255264" y="896112"/>
            <a:ext cx="914400" cy="914400"/>
          </a:xfrm>
          <a:prstGeom prst="ellipse">
            <a:avLst/>
          </a:prstGeom>
          <a:solidFill>
            <a:srgbClr val="2DC653"/>
          </a:solidFill>
          <a:ln w="12700">
            <a:solidFill>
              <a:srgbClr val="2DC653"/>
            </a:solidFill>
            <a:prstDash val="solid"/>
          </a:ln>
        </p:spPr>
      </p:sp>
      <p:sp>
        <p:nvSpPr>
          <p:cNvPr id="12" name="Text 10"/>
          <p:cNvSpPr/>
          <p:nvPr/>
        </p:nvSpPr>
        <p:spPr>
          <a:xfrm>
            <a:off x="3255264" y="896112"/>
            <a:ext cx="914400" cy="914400"/>
          </a:xfrm>
          <a:prstGeom prst="rect">
            <a:avLst/>
          </a:prstGeom>
          <a:noFill/>
          <a:ln/>
        </p:spPr>
        <p:txBody>
          <a:bodyPr wrap="square" rtlCol="0" anchor="ctr"/>
          <a:lstStyle/>
          <a:p>
            <a:pPr algn="ctr" indent="0" marL="0">
              <a:buNone/>
            </a:pPr>
            <a:r>
              <a:rPr lang="en-US" sz="3200" b="1" dirty="0">
                <a:solidFill>
                  <a:srgbClr val="0D1B2A"/>
                </a:solidFill>
                <a:latin typeface="Calibri" pitchFamily="34" charset="0"/>
                <a:ea typeface="Calibri" pitchFamily="34" charset="-122"/>
                <a:cs typeface="Calibri" pitchFamily="34" charset="-120"/>
              </a:rPr>
              <a:t>B</a:t>
            </a:r>
            <a:endParaRPr lang="en-US" sz="3200" dirty="0"/>
          </a:p>
        </p:txBody>
      </p:sp>
      <p:sp>
        <p:nvSpPr>
          <p:cNvPr id="13" name="Text 11"/>
          <p:cNvSpPr/>
          <p:nvPr/>
        </p:nvSpPr>
        <p:spPr>
          <a:xfrm>
            <a:off x="2715768" y="1920240"/>
            <a:ext cx="1993392" cy="411480"/>
          </a:xfrm>
          <a:prstGeom prst="rect">
            <a:avLst/>
          </a:prstGeom>
          <a:noFill/>
          <a:ln/>
        </p:spPr>
        <p:txBody>
          <a:bodyPr wrap="square" rtlCol="0" anchor="ctr"/>
          <a:lstStyle/>
          <a:p>
            <a:pPr algn="ctr" indent="0" marL="0">
              <a:buNone/>
            </a:pPr>
            <a:r>
              <a:rPr lang="en-US" sz="1300" b="1" dirty="0">
                <a:solidFill>
                  <a:srgbClr val="2DC653"/>
                </a:solidFill>
                <a:latin typeface="Calibri" pitchFamily="34" charset="0"/>
                <a:ea typeface="Calibri" pitchFamily="34" charset="-122"/>
                <a:cs typeface="Calibri" pitchFamily="34" charset="-120"/>
              </a:rPr>
              <a:t>Big</a:t>
            </a:r>
            <a:endParaRPr lang="en-US" sz="1300" dirty="0"/>
          </a:p>
        </p:txBody>
      </p:sp>
      <p:sp>
        <p:nvSpPr>
          <p:cNvPr id="14" name="Text 12"/>
          <p:cNvSpPr/>
          <p:nvPr/>
        </p:nvSpPr>
        <p:spPr>
          <a:xfrm>
            <a:off x="2715768" y="2359152"/>
            <a:ext cx="1993392" cy="2331720"/>
          </a:xfrm>
          <a:prstGeom prst="rect">
            <a:avLst/>
          </a:prstGeom>
          <a:noFill/>
          <a:ln/>
        </p:spPr>
        <p:txBody>
          <a:bodyPr wrap="square" rtlCol="0" anchor="ctr"/>
          <a:lstStyle/>
          <a:p>
            <a:pPr algn="l" indent="0" marL="0">
              <a:buNone/>
            </a:pPr>
            <a:r>
              <a:rPr lang="en-US" sz="1100" dirty="0">
                <a:solidFill>
                  <a:srgbClr val="B0C4D8"/>
                </a:solidFill>
                <a:latin typeface="Calibri" pitchFamily="34" charset="0"/>
                <a:ea typeface="Calibri" pitchFamily="34" charset="-122"/>
                <a:cs typeface="Calibri" pitchFamily="34" charset="-120"/>
              </a:rPr>
              <a:t>Use the entire page! A big drawing is easier to see and add details to.</a:t>
            </a:r>
            <a:endParaRPr lang="en-US" sz="1100" dirty="0"/>
          </a:p>
        </p:txBody>
      </p:sp>
      <p:sp>
        <p:nvSpPr>
          <p:cNvPr id="15" name="Shape 13"/>
          <p:cNvSpPr/>
          <p:nvPr/>
        </p:nvSpPr>
        <p:spPr>
          <a:xfrm>
            <a:off x="4928616" y="777240"/>
            <a:ext cx="2176272" cy="5029200"/>
          </a:xfrm>
          <a:prstGeom prst="roundRect">
            <a:avLst>
              <a:gd name="adj" fmla="val 3361"/>
            </a:avLst>
          </a:prstGeom>
          <a:solidFill>
            <a:srgbClr val="1E2F45"/>
          </a:solidFill>
          <a:ln w="12700">
            <a:solidFill>
              <a:srgbClr val="F4736A"/>
            </a:solidFill>
            <a:prstDash val="solid"/>
          </a:ln>
        </p:spPr>
      </p:sp>
      <p:sp>
        <p:nvSpPr>
          <p:cNvPr id="16" name="Shape 14"/>
          <p:cNvSpPr/>
          <p:nvPr/>
        </p:nvSpPr>
        <p:spPr>
          <a:xfrm>
            <a:off x="5559552" y="896112"/>
            <a:ext cx="914400" cy="914400"/>
          </a:xfrm>
          <a:prstGeom prst="ellipse">
            <a:avLst/>
          </a:prstGeom>
          <a:solidFill>
            <a:srgbClr val="F4736A"/>
          </a:solidFill>
          <a:ln w="12700">
            <a:solidFill>
              <a:srgbClr val="F4736A"/>
            </a:solidFill>
            <a:prstDash val="solid"/>
          </a:ln>
        </p:spPr>
      </p:sp>
      <p:sp>
        <p:nvSpPr>
          <p:cNvPr id="17" name="Text 15"/>
          <p:cNvSpPr/>
          <p:nvPr/>
        </p:nvSpPr>
        <p:spPr>
          <a:xfrm>
            <a:off x="5559552" y="896112"/>
            <a:ext cx="914400" cy="914400"/>
          </a:xfrm>
          <a:prstGeom prst="rect">
            <a:avLst/>
          </a:prstGeom>
          <a:noFill/>
          <a:ln/>
        </p:spPr>
        <p:txBody>
          <a:bodyPr wrap="square" rtlCol="0" anchor="ctr"/>
          <a:lstStyle/>
          <a:p>
            <a:pPr algn="ctr" indent="0" marL="0">
              <a:buNone/>
            </a:pPr>
            <a:r>
              <a:rPr lang="en-US" sz="3200" b="1" dirty="0">
                <a:solidFill>
                  <a:srgbClr val="0D1B2A"/>
                </a:solidFill>
                <a:latin typeface="Calibri" pitchFamily="34" charset="0"/>
                <a:ea typeface="Calibri" pitchFamily="34" charset="-122"/>
                <a:cs typeface="Calibri" pitchFamily="34" charset="-120"/>
              </a:rPr>
              <a:t>C</a:t>
            </a:r>
            <a:endParaRPr lang="en-US" sz="3200" dirty="0"/>
          </a:p>
        </p:txBody>
      </p:sp>
      <p:sp>
        <p:nvSpPr>
          <p:cNvPr id="18" name="Text 16"/>
          <p:cNvSpPr/>
          <p:nvPr/>
        </p:nvSpPr>
        <p:spPr>
          <a:xfrm>
            <a:off x="5020056" y="1920240"/>
            <a:ext cx="1993392" cy="411480"/>
          </a:xfrm>
          <a:prstGeom prst="rect">
            <a:avLst/>
          </a:prstGeom>
          <a:noFill/>
          <a:ln/>
        </p:spPr>
        <p:txBody>
          <a:bodyPr wrap="square" rtlCol="0" anchor="ctr"/>
          <a:lstStyle/>
          <a:p>
            <a:pPr algn="ctr" indent="0" marL="0">
              <a:buNone/>
            </a:pPr>
            <a:r>
              <a:rPr lang="en-US" sz="1300" b="1" dirty="0">
                <a:solidFill>
                  <a:srgbClr val="F4736A"/>
                </a:solidFill>
                <a:latin typeface="Calibri" pitchFamily="34" charset="0"/>
                <a:ea typeface="Calibri" pitchFamily="34" charset="-122"/>
                <a:cs typeface="Calibri" pitchFamily="34" charset="-120"/>
              </a:rPr>
              <a:t>Color</a:t>
            </a:r>
            <a:endParaRPr lang="en-US" sz="1300" dirty="0"/>
          </a:p>
        </p:txBody>
      </p:sp>
      <p:sp>
        <p:nvSpPr>
          <p:cNvPr id="19" name="Text 17"/>
          <p:cNvSpPr/>
          <p:nvPr/>
        </p:nvSpPr>
        <p:spPr>
          <a:xfrm>
            <a:off x="5020056" y="2359152"/>
            <a:ext cx="1993392" cy="2331720"/>
          </a:xfrm>
          <a:prstGeom prst="rect">
            <a:avLst/>
          </a:prstGeom>
          <a:noFill/>
          <a:ln/>
        </p:spPr>
        <p:txBody>
          <a:bodyPr wrap="square" rtlCol="0" anchor="ctr"/>
          <a:lstStyle/>
          <a:p>
            <a:pPr algn="l" indent="0" marL="0">
              <a:buNone/>
            </a:pPr>
            <a:r>
              <a:rPr lang="en-US" sz="1100" dirty="0">
                <a:solidFill>
                  <a:srgbClr val="B0C4D8"/>
                </a:solidFill>
                <a:latin typeface="Calibri" pitchFamily="34" charset="0"/>
                <a:ea typeface="Calibri" pitchFamily="34" charset="-122"/>
                <a:cs typeface="Calibri" pitchFamily="34" charset="-120"/>
              </a:rPr>
              <a:t>Add real colors — the colors you actually observe, not what you think it should look like.</a:t>
            </a:r>
            <a:endParaRPr lang="en-US" sz="1100" dirty="0"/>
          </a:p>
        </p:txBody>
      </p:sp>
      <p:sp>
        <p:nvSpPr>
          <p:cNvPr id="20" name="Shape 18"/>
          <p:cNvSpPr/>
          <p:nvPr/>
        </p:nvSpPr>
        <p:spPr>
          <a:xfrm>
            <a:off x="7232904" y="777240"/>
            <a:ext cx="2176272" cy="5029200"/>
          </a:xfrm>
          <a:prstGeom prst="roundRect">
            <a:avLst>
              <a:gd name="adj" fmla="val 3361"/>
            </a:avLst>
          </a:prstGeom>
          <a:solidFill>
            <a:srgbClr val="1E2F45"/>
          </a:solidFill>
          <a:ln w="12700">
            <a:solidFill>
              <a:srgbClr val="FFB703"/>
            </a:solidFill>
            <a:prstDash val="solid"/>
          </a:ln>
        </p:spPr>
      </p:sp>
      <p:sp>
        <p:nvSpPr>
          <p:cNvPr id="21" name="Shape 19"/>
          <p:cNvSpPr/>
          <p:nvPr/>
        </p:nvSpPr>
        <p:spPr>
          <a:xfrm>
            <a:off x="7863840" y="896112"/>
            <a:ext cx="914400" cy="914400"/>
          </a:xfrm>
          <a:prstGeom prst="ellipse">
            <a:avLst/>
          </a:prstGeom>
          <a:solidFill>
            <a:srgbClr val="FFB703"/>
          </a:solidFill>
          <a:ln w="12700">
            <a:solidFill>
              <a:srgbClr val="FFB703"/>
            </a:solidFill>
            <a:prstDash val="solid"/>
          </a:ln>
        </p:spPr>
      </p:sp>
      <p:sp>
        <p:nvSpPr>
          <p:cNvPr id="22" name="Text 20"/>
          <p:cNvSpPr/>
          <p:nvPr/>
        </p:nvSpPr>
        <p:spPr>
          <a:xfrm>
            <a:off x="7863840" y="896112"/>
            <a:ext cx="914400" cy="914400"/>
          </a:xfrm>
          <a:prstGeom prst="rect">
            <a:avLst/>
          </a:prstGeom>
          <a:noFill/>
          <a:ln/>
        </p:spPr>
        <p:txBody>
          <a:bodyPr wrap="square" rtlCol="0" anchor="ctr"/>
          <a:lstStyle/>
          <a:p>
            <a:pPr algn="ctr" indent="0" marL="0">
              <a:buNone/>
            </a:pPr>
            <a:r>
              <a:rPr lang="en-US" sz="3200" b="1" dirty="0">
                <a:solidFill>
                  <a:srgbClr val="0D1B2A"/>
                </a:solidFill>
                <a:latin typeface="Calibri" pitchFamily="34" charset="0"/>
                <a:ea typeface="Calibri" pitchFamily="34" charset="-122"/>
                <a:cs typeface="Calibri" pitchFamily="34" charset="-120"/>
              </a:rPr>
              <a:t>D</a:t>
            </a:r>
            <a:endParaRPr lang="en-US" sz="3200" dirty="0"/>
          </a:p>
        </p:txBody>
      </p:sp>
      <p:sp>
        <p:nvSpPr>
          <p:cNvPr id="23" name="Text 21"/>
          <p:cNvSpPr/>
          <p:nvPr/>
        </p:nvSpPr>
        <p:spPr>
          <a:xfrm>
            <a:off x="7324344" y="1920240"/>
            <a:ext cx="1993392" cy="411480"/>
          </a:xfrm>
          <a:prstGeom prst="rect">
            <a:avLst/>
          </a:prstGeom>
          <a:noFill/>
          <a:ln/>
        </p:spPr>
        <p:txBody>
          <a:bodyPr wrap="square"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Details</a:t>
            </a:r>
            <a:endParaRPr lang="en-US" sz="1300" dirty="0"/>
          </a:p>
        </p:txBody>
      </p:sp>
      <p:sp>
        <p:nvSpPr>
          <p:cNvPr id="24" name="Text 22"/>
          <p:cNvSpPr/>
          <p:nvPr/>
        </p:nvSpPr>
        <p:spPr>
          <a:xfrm>
            <a:off x="7324344" y="2359152"/>
            <a:ext cx="1993392" cy="2331720"/>
          </a:xfrm>
          <a:prstGeom prst="rect">
            <a:avLst/>
          </a:prstGeom>
          <a:noFill/>
          <a:ln/>
        </p:spPr>
        <p:txBody>
          <a:bodyPr wrap="square" rtlCol="0" anchor="ctr"/>
          <a:lstStyle/>
          <a:p>
            <a:pPr algn="l" indent="0" marL="0">
              <a:buNone/>
            </a:pPr>
            <a:r>
              <a:rPr lang="en-US" sz="1100" dirty="0">
                <a:solidFill>
                  <a:srgbClr val="B0C4D8"/>
                </a:solidFill>
                <a:latin typeface="Calibri" pitchFamily="34" charset="0"/>
                <a:ea typeface="Calibri" pitchFamily="34" charset="-122"/>
                <a:cs typeface="Calibri" pitchFamily="34" charset="-120"/>
              </a:rPr>
              <a:t>Focus on the small things! Texture, patterns, edges, and features make your sketch scientific.</a:t>
            </a:r>
            <a:endParaRPr lang="en-US" sz="1100" dirty="0"/>
          </a:p>
        </p:txBody>
      </p:sp>
      <p:sp>
        <p:nvSpPr>
          <p:cNvPr id="25" name="Shape 23"/>
          <p:cNvSpPr/>
          <p:nvPr/>
        </p:nvSpPr>
        <p:spPr>
          <a:xfrm>
            <a:off x="9537192" y="777240"/>
            <a:ext cx="2176272" cy="5029200"/>
          </a:xfrm>
          <a:prstGeom prst="roundRect">
            <a:avLst>
              <a:gd name="adj" fmla="val 3361"/>
            </a:avLst>
          </a:prstGeom>
          <a:solidFill>
            <a:srgbClr val="1E2F45"/>
          </a:solidFill>
          <a:ln w="12700">
            <a:solidFill>
              <a:srgbClr val="4CC9F0"/>
            </a:solidFill>
            <a:prstDash val="solid"/>
          </a:ln>
        </p:spPr>
      </p:sp>
      <p:sp>
        <p:nvSpPr>
          <p:cNvPr id="26" name="Shape 24"/>
          <p:cNvSpPr/>
          <p:nvPr/>
        </p:nvSpPr>
        <p:spPr>
          <a:xfrm>
            <a:off x="10168128" y="896112"/>
            <a:ext cx="914400" cy="914400"/>
          </a:xfrm>
          <a:prstGeom prst="ellipse">
            <a:avLst/>
          </a:prstGeom>
          <a:solidFill>
            <a:srgbClr val="4CC9F0"/>
          </a:solidFill>
          <a:ln w="12700">
            <a:solidFill>
              <a:srgbClr val="4CC9F0"/>
            </a:solidFill>
            <a:prstDash val="solid"/>
          </a:ln>
        </p:spPr>
      </p:sp>
      <p:sp>
        <p:nvSpPr>
          <p:cNvPr id="27" name="Text 25"/>
          <p:cNvSpPr/>
          <p:nvPr/>
        </p:nvSpPr>
        <p:spPr>
          <a:xfrm>
            <a:off x="10168128" y="896112"/>
            <a:ext cx="914400" cy="914400"/>
          </a:xfrm>
          <a:prstGeom prst="rect">
            <a:avLst/>
          </a:prstGeom>
          <a:noFill/>
          <a:ln/>
        </p:spPr>
        <p:txBody>
          <a:bodyPr wrap="square" rtlCol="0" anchor="ctr"/>
          <a:lstStyle/>
          <a:p>
            <a:pPr algn="ctr" indent="0" marL="0">
              <a:buNone/>
            </a:pPr>
            <a:r>
              <a:rPr lang="en-US" sz="3200" b="1" dirty="0">
                <a:solidFill>
                  <a:srgbClr val="0D1B2A"/>
                </a:solidFill>
                <a:latin typeface="Calibri" pitchFamily="34" charset="0"/>
                <a:ea typeface="Calibri" pitchFamily="34" charset="-122"/>
                <a:cs typeface="Calibri" pitchFamily="34" charset="-120"/>
              </a:rPr>
              <a:t>E</a:t>
            </a:r>
            <a:endParaRPr lang="en-US" sz="3200" dirty="0"/>
          </a:p>
        </p:txBody>
      </p:sp>
      <p:sp>
        <p:nvSpPr>
          <p:cNvPr id="28" name="Text 26"/>
          <p:cNvSpPr/>
          <p:nvPr/>
        </p:nvSpPr>
        <p:spPr>
          <a:xfrm>
            <a:off x="9628632" y="1920240"/>
            <a:ext cx="1993392" cy="411480"/>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Explanations / Labels</a:t>
            </a:r>
            <a:endParaRPr lang="en-US" sz="1300" dirty="0"/>
          </a:p>
        </p:txBody>
      </p:sp>
      <p:sp>
        <p:nvSpPr>
          <p:cNvPr id="29" name="Text 27"/>
          <p:cNvSpPr/>
          <p:nvPr/>
        </p:nvSpPr>
        <p:spPr>
          <a:xfrm>
            <a:off x="9628632" y="2359152"/>
            <a:ext cx="1993392" cy="2331720"/>
          </a:xfrm>
          <a:prstGeom prst="rect">
            <a:avLst/>
          </a:prstGeom>
          <a:noFill/>
          <a:ln/>
        </p:spPr>
        <p:txBody>
          <a:bodyPr wrap="square" rtlCol="0" anchor="ctr"/>
          <a:lstStyle/>
          <a:p>
            <a:pPr algn="l" indent="0" marL="0">
              <a:buNone/>
            </a:pPr>
            <a:r>
              <a:rPr lang="en-US" sz="1100" dirty="0">
                <a:solidFill>
                  <a:srgbClr val="B0C4D8"/>
                </a:solidFill>
                <a:latin typeface="Calibri" pitchFamily="34" charset="0"/>
                <a:ea typeface="Calibri" pitchFamily="34" charset="-122"/>
                <a:cs typeface="Calibri" pitchFamily="34" charset="-120"/>
              </a:rPr>
              <a:t>Write labels and notes that explain what you drew. A drawing with words is even more powerful!</a:t>
            </a:r>
            <a:endParaRPr lang="en-US" sz="1100" dirty="0"/>
          </a:p>
        </p:txBody>
      </p:sp>
      <p:sp>
        <p:nvSpPr>
          <p:cNvPr id="30" name="Text 28"/>
          <p:cNvSpPr/>
          <p:nvPr/>
        </p:nvSpPr>
        <p:spPr>
          <a:xfrm>
            <a:off x="320040" y="5961888"/>
            <a:ext cx="11338560" cy="411480"/>
          </a:xfrm>
          <a:prstGeom prst="rect">
            <a:avLst/>
          </a:prstGeom>
          <a:noFill/>
          <a:ln/>
        </p:spPr>
        <p:txBody>
          <a:bodyPr wrap="square" rtlCol="0" anchor="ctr"/>
          <a:lstStyle/>
          <a:p>
            <a:pPr indent="0" marL="0">
              <a:buNone/>
            </a:pPr>
            <a:r>
              <a:rPr lang="en-US" sz="1250" i="1" dirty="0">
                <a:solidFill>
                  <a:srgbClr val="FFB703"/>
                </a:solidFill>
                <a:latin typeface="Calibri" pitchFamily="34" charset="0"/>
                <a:ea typeface="Calibri" pitchFamily="34" charset="-122"/>
                <a:cs typeface="Calibri" pitchFamily="34" charset="-120"/>
              </a:rPr>
              <a:t>💬  "Which of your predictions from the last slide matched these rules? Which ones did you come up with on your own?"</a:t>
            </a:r>
            <a:endParaRPr lang="en-US" sz="1250" dirty="0"/>
          </a:p>
        </p:txBody>
      </p:sp>
      <p:sp>
        <p:nvSpPr>
          <p:cNvPr id="31" name="Shape 29"/>
          <p:cNvSpPr/>
          <p:nvPr/>
        </p:nvSpPr>
        <p:spPr>
          <a:xfrm>
            <a:off x="0" y="6629400"/>
            <a:ext cx="12192000" cy="228600"/>
          </a:xfrm>
          <a:prstGeom prst="rect">
            <a:avLst/>
          </a:prstGeom>
          <a:solidFill>
            <a:srgbClr val="162233"/>
          </a:solidFill>
          <a:ln/>
        </p:spPr>
      </p:sp>
      <p:sp>
        <p:nvSpPr>
          <p:cNvPr id="32" name="Text 3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The Same Leaf — Two Very Different Results</a:t>
            </a:r>
            <a:endParaRPr lang="en-US" sz="1600" dirty="0"/>
          </a:p>
        </p:txBody>
      </p:sp>
      <p:sp>
        <p:nvSpPr>
          <p:cNvPr id="5" name="Shape 3"/>
          <p:cNvSpPr/>
          <p:nvPr/>
        </p:nvSpPr>
        <p:spPr>
          <a:xfrm>
            <a:off x="274320" y="777240"/>
            <a:ext cx="5394960" cy="5212080"/>
          </a:xfrm>
          <a:prstGeom prst="roundRect">
            <a:avLst>
              <a:gd name="adj" fmla="val 1404"/>
            </a:avLst>
          </a:prstGeom>
          <a:solidFill>
            <a:srgbClr val="1E2F45"/>
          </a:solidFill>
          <a:ln w="12700">
            <a:solidFill>
              <a:srgbClr val="F4736A"/>
            </a:solidFill>
            <a:prstDash val="solid"/>
          </a:ln>
        </p:spPr>
      </p:sp>
      <p:sp>
        <p:nvSpPr>
          <p:cNvPr id="6" name="Shape 4"/>
          <p:cNvSpPr/>
          <p:nvPr/>
        </p:nvSpPr>
        <p:spPr>
          <a:xfrm>
            <a:off x="274320" y="777240"/>
            <a:ext cx="5394960" cy="384048"/>
          </a:xfrm>
          <a:prstGeom prst="rect">
            <a:avLst/>
          </a:prstGeom>
          <a:solidFill>
            <a:srgbClr val="6B1A1A"/>
          </a:solidFill>
          <a:ln w="12700">
            <a:solidFill>
              <a:srgbClr val="F4736A"/>
            </a:solidFill>
            <a:prstDash val="solid"/>
          </a:ln>
        </p:spPr>
      </p:sp>
      <p:sp>
        <p:nvSpPr>
          <p:cNvPr id="7" name="Text 5"/>
          <p:cNvSpPr/>
          <p:nvPr/>
        </p:nvSpPr>
        <p:spPr>
          <a:xfrm>
            <a:off x="274320" y="777240"/>
            <a:ext cx="539496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WITHOUT the 5 Rules</a:t>
            </a:r>
            <a:endParaRPr lang="en-US" sz="1300" dirty="0"/>
          </a:p>
        </p:txBody>
      </p:sp>
      <p:sp>
        <p:nvSpPr>
          <p:cNvPr id="8" name="Shape 6"/>
          <p:cNvSpPr/>
          <p:nvPr/>
        </p:nvSpPr>
        <p:spPr>
          <a:xfrm>
            <a:off x="1828800" y="1645920"/>
            <a:ext cx="1280160" cy="777240"/>
          </a:xfrm>
          <a:prstGeom prst="ellipse">
            <a:avLst/>
          </a:prstGeom>
          <a:solidFill>
            <a:srgbClr val="3A5A3A"/>
          </a:solidFill>
          <a:ln w="12700">
            <a:solidFill>
              <a:srgbClr val="4A7A4A"/>
            </a:solidFill>
            <a:prstDash val="solid"/>
          </a:ln>
        </p:spPr>
      </p:sp>
      <p:sp>
        <p:nvSpPr>
          <p:cNvPr id="9" name="Shape 7"/>
          <p:cNvSpPr/>
          <p:nvPr/>
        </p:nvSpPr>
        <p:spPr>
          <a:xfrm>
            <a:off x="2468880" y="2423160"/>
            <a:ext cx="0" cy="594360"/>
          </a:xfrm>
          <a:prstGeom prst="line">
            <a:avLst/>
          </a:prstGeom>
          <a:noFill/>
          <a:ln w="25400">
            <a:solidFill>
              <a:srgbClr val="4A7A4A"/>
            </a:solidFill>
            <a:prstDash val="solid"/>
          </a:ln>
        </p:spPr>
      </p:sp>
      <p:sp>
        <p:nvSpPr>
          <p:cNvPr id="10" name="Text 8"/>
          <p:cNvSpPr/>
          <p:nvPr/>
        </p:nvSpPr>
        <p:spPr>
          <a:xfrm>
            <a:off x="457200" y="3337560"/>
            <a:ext cx="5029200" cy="1280160"/>
          </a:xfrm>
          <a:prstGeom prst="rect">
            <a:avLst/>
          </a:prstGeom>
          <a:noFill/>
          <a:ln/>
        </p:spPr>
        <p:txBody>
          <a:bodyPr wrap="square" rtlCol="0" anchor="ctr"/>
          <a:lstStyle/>
          <a:p>
            <a:pPr algn="ctr" indent="0" marL="0">
              <a:buNone/>
            </a:pPr>
            <a:r>
              <a:rPr lang="en-US" sz="1200" i="1" dirty="0">
                <a:solidFill>
                  <a:srgbClr val="F4736A"/>
                </a:solidFill>
                <a:latin typeface="Calibri" pitchFamily="34" charset="0"/>
                <a:ea typeface="Calibri" pitchFamily="34" charset="-122"/>
                <a:cs typeface="Calibri" pitchFamily="34" charset="-120"/>
              </a:rPr>
              <a:t>(No labels)</a:t>
            </a:r>
            <a:endParaRPr lang="en-US" sz="1200" dirty="0"/>
          </a:p>
          <a:p>
            <a:pPr algn="ctr" indent="0" marL="0">
              <a:buNone/>
            </a:pPr>
            <a:r>
              <a:rPr lang="en-US" sz="1200" i="1" dirty="0">
                <a:solidFill>
                  <a:srgbClr val="F4736A"/>
                </a:solidFill>
                <a:latin typeface="Calibri" pitchFamily="34" charset="0"/>
                <a:ea typeface="Calibri" pitchFamily="34" charset="-122"/>
                <a:cs typeface="Calibri" pitchFamily="34" charset="-120"/>
              </a:rPr>
              <a:t>(No color)</a:t>
            </a:r>
            <a:endParaRPr lang="en-US" sz="1200" dirty="0"/>
          </a:p>
          <a:p>
            <a:pPr algn="ctr" indent="0" marL="0">
              <a:buNone/>
            </a:pPr>
            <a:r>
              <a:rPr lang="en-US" sz="1200" i="1" dirty="0">
                <a:solidFill>
                  <a:srgbClr val="F4736A"/>
                </a:solidFill>
                <a:latin typeface="Calibri" pitchFamily="34" charset="0"/>
                <a:ea typeface="Calibri" pitchFamily="34" charset="-122"/>
                <a:cs typeface="Calibri" pitchFamily="34" charset="-120"/>
              </a:rPr>
              <a:t>(No details)</a:t>
            </a:r>
            <a:endParaRPr lang="en-US" sz="1200" dirty="0"/>
          </a:p>
          <a:p>
            <a:pPr algn="ctr" indent="0" marL="0">
              <a:buNone/>
            </a:pPr>
            <a:r>
              <a:rPr lang="en-US" sz="1200" i="1" dirty="0">
                <a:solidFill>
                  <a:srgbClr val="F4736A"/>
                </a:solidFill>
                <a:latin typeface="Calibri" pitchFamily="34" charset="0"/>
                <a:ea typeface="Calibri" pitchFamily="34" charset="-122"/>
                <a:cs typeface="Calibri" pitchFamily="34" charset="-120"/>
              </a:rPr>
              <a:t>(Tiny drawing)</a:t>
            </a:r>
            <a:endParaRPr lang="en-US" sz="1200" dirty="0"/>
          </a:p>
        </p:txBody>
      </p:sp>
      <p:sp>
        <p:nvSpPr>
          <p:cNvPr id="11" name="Text 9"/>
          <p:cNvSpPr/>
          <p:nvPr/>
        </p:nvSpPr>
        <p:spPr>
          <a:xfrm>
            <a:off x="457200" y="5257800"/>
            <a:ext cx="5029200" cy="502920"/>
          </a:xfrm>
          <a:prstGeom prst="rect">
            <a:avLst/>
          </a:prstGeom>
          <a:noFill/>
          <a:ln/>
        </p:spPr>
        <p:txBody>
          <a:bodyPr wrap="square" rtlCol="0" anchor="ctr"/>
          <a:lstStyle/>
          <a:p>
            <a:pPr algn="ctr" indent="0" marL="0">
              <a:buNone/>
            </a:pPr>
            <a:r>
              <a:rPr lang="en-US" sz="1100" b="1" dirty="0">
                <a:solidFill>
                  <a:srgbClr val="F4736A"/>
                </a:solidFill>
                <a:latin typeface="Calibri" pitchFamily="34" charset="0"/>
                <a:ea typeface="Calibri" pitchFamily="34" charset="-122"/>
                <a:cs typeface="Calibri" pitchFamily="34" charset="-120"/>
              </a:rPr>
              <a:t>Hard to understand · Not scientific</a:t>
            </a:r>
            <a:endParaRPr lang="en-US" sz="1100" dirty="0"/>
          </a:p>
        </p:txBody>
      </p:sp>
      <p:sp>
        <p:nvSpPr>
          <p:cNvPr id="12" name="Shape 10"/>
          <p:cNvSpPr/>
          <p:nvPr/>
        </p:nvSpPr>
        <p:spPr>
          <a:xfrm>
            <a:off x="5943600" y="777240"/>
            <a:ext cx="5623560" cy="5212080"/>
          </a:xfrm>
          <a:prstGeom prst="roundRect">
            <a:avLst>
              <a:gd name="adj" fmla="val 1404"/>
            </a:avLst>
          </a:prstGeom>
          <a:solidFill>
            <a:srgbClr val="1E2F45"/>
          </a:solidFill>
          <a:ln w="12700">
            <a:solidFill>
              <a:srgbClr val="2DC653"/>
            </a:solidFill>
            <a:prstDash val="solid"/>
          </a:ln>
        </p:spPr>
      </p:sp>
      <p:sp>
        <p:nvSpPr>
          <p:cNvPr id="13" name="Shape 11"/>
          <p:cNvSpPr/>
          <p:nvPr/>
        </p:nvSpPr>
        <p:spPr>
          <a:xfrm>
            <a:off x="5943600" y="777240"/>
            <a:ext cx="5623560" cy="384048"/>
          </a:xfrm>
          <a:prstGeom prst="rect">
            <a:avLst/>
          </a:prstGeom>
          <a:solidFill>
            <a:srgbClr val="145C30"/>
          </a:solidFill>
          <a:ln w="12700">
            <a:solidFill>
              <a:srgbClr val="2DC653"/>
            </a:solidFill>
            <a:prstDash val="solid"/>
          </a:ln>
        </p:spPr>
      </p:sp>
      <p:sp>
        <p:nvSpPr>
          <p:cNvPr id="14" name="Text 12"/>
          <p:cNvSpPr/>
          <p:nvPr/>
        </p:nvSpPr>
        <p:spPr>
          <a:xfrm>
            <a:off x="5943600" y="777240"/>
            <a:ext cx="5623560" cy="38404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WITH the 5 Rules</a:t>
            </a:r>
            <a:endParaRPr lang="en-US" sz="1300" dirty="0"/>
          </a:p>
        </p:txBody>
      </p:sp>
      <p:sp>
        <p:nvSpPr>
          <p:cNvPr id="15" name="Shape 13"/>
          <p:cNvSpPr/>
          <p:nvPr/>
        </p:nvSpPr>
        <p:spPr>
          <a:xfrm>
            <a:off x="6949440" y="1325880"/>
            <a:ext cx="3474720" cy="2011680"/>
          </a:xfrm>
          <a:prstGeom prst="ellipse">
            <a:avLst/>
          </a:prstGeom>
          <a:solidFill>
            <a:srgbClr val="2D7A2D"/>
          </a:solidFill>
          <a:ln w="25400">
            <a:solidFill>
              <a:srgbClr val="1A5A1A"/>
            </a:solidFill>
            <a:prstDash val="solid"/>
          </a:ln>
        </p:spPr>
      </p:sp>
      <p:sp>
        <p:nvSpPr>
          <p:cNvPr id="16" name="Shape 14"/>
          <p:cNvSpPr/>
          <p:nvPr/>
        </p:nvSpPr>
        <p:spPr>
          <a:xfrm>
            <a:off x="8686800" y="1325880"/>
            <a:ext cx="0" cy="2011680"/>
          </a:xfrm>
          <a:prstGeom prst="line">
            <a:avLst/>
          </a:prstGeom>
          <a:noFill/>
          <a:ln w="31750">
            <a:solidFill>
              <a:srgbClr val="1A5A1A"/>
            </a:solidFill>
            <a:prstDash val="solid"/>
          </a:ln>
        </p:spPr>
      </p:sp>
      <p:sp>
        <p:nvSpPr>
          <p:cNvPr id="17" name="Shape 15"/>
          <p:cNvSpPr/>
          <p:nvPr/>
        </p:nvSpPr>
        <p:spPr>
          <a:xfrm>
            <a:off x="10241280" y="1645920"/>
            <a:ext cx="-274320" cy="0"/>
          </a:xfrm>
          <a:prstGeom prst="line">
            <a:avLst/>
          </a:prstGeom>
          <a:noFill/>
          <a:ln w="12700">
            <a:solidFill>
              <a:srgbClr val="B0C4D8"/>
            </a:solidFill>
            <a:prstDash val="solid"/>
          </a:ln>
        </p:spPr>
      </p:sp>
      <p:sp>
        <p:nvSpPr>
          <p:cNvPr id="18" name="Text 16"/>
          <p:cNvSpPr/>
          <p:nvPr/>
        </p:nvSpPr>
        <p:spPr>
          <a:xfrm>
            <a:off x="10287000" y="1508760"/>
            <a:ext cx="1097280" cy="347472"/>
          </a:xfrm>
          <a:prstGeom prst="rect">
            <a:avLst/>
          </a:prstGeom>
          <a:noFill/>
          <a:ln/>
        </p:spPr>
        <p:txBody>
          <a:bodyPr wrap="square" rtlCol="0" anchor="ctr"/>
          <a:lstStyle/>
          <a:p>
            <a:pPr indent="0" marL="0">
              <a:buNone/>
            </a:pPr>
            <a:r>
              <a:rPr lang="en-US" sz="950" dirty="0">
                <a:solidFill>
                  <a:srgbClr val="B0C4D8"/>
                </a:solidFill>
                <a:latin typeface="Calibri" pitchFamily="34" charset="0"/>
                <a:ea typeface="Calibri" pitchFamily="34" charset="-122"/>
                <a:cs typeface="Calibri" pitchFamily="34" charset="-120"/>
              </a:rPr>
              <a:t>midrib</a:t>
            </a:r>
            <a:endParaRPr lang="en-US" sz="950" dirty="0"/>
          </a:p>
        </p:txBody>
      </p:sp>
      <p:sp>
        <p:nvSpPr>
          <p:cNvPr id="19" name="Shape 17"/>
          <p:cNvSpPr/>
          <p:nvPr/>
        </p:nvSpPr>
        <p:spPr>
          <a:xfrm>
            <a:off x="10241280" y="2194560"/>
            <a:ext cx="-274320" cy="0"/>
          </a:xfrm>
          <a:prstGeom prst="line">
            <a:avLst/>
          </a:prstGeom>
          <a:noFill/>
          <a:ln w="12700">
            <a:solidFill>
              <a:srgbClr val="B0C4D8"/>
            </a:solidFill>
            <a:prstDash val="solid"/>
          </a:ln>
        </p:spPr>
      </p:sp>
      <p:sp>
        <p:nvSpPr>
          <p:cNvPr id="20" name="Text 18"/>
          <p:cNvSpPr/>
          <p:nvPr/>
        </p:nvSpPr>
        <p:spPr>
          <a:xfrm>
            <a:off x="10287000" y="2057400"/>
            <a:ext cx="1097280" cy="347472"/>
          </a:xfrm>
          <a:prstGeom prst="rect">
            <a:avLst/>
          </a:prstGeom>
          <a:noFill/>
          <a:ln/>
        </p:spPr>
        <p:txBody>
          <a:bodyPr wrap="square" rtlCol="0" anchor="ctr"/>
          <a:lstStyle/>
          <a:p>
            <a:pPr indent="0" marL="0">
              <a:buNone/>
            </a:pPr>
            <a:r>
              <a:rPr lang="en-US" sz="950" dirty="0">
                <a:solidFill>
                  <a:srgbClr val="B0C4D8"/>
                </a:solidFill>
                <a:latin typeface="Calibri" pitchFamily="34" charset="0"/>
                <a:ea typeface="Calibri" pitchFamily="34" charset="-122"/>
                <a:cs typeface="Calibri" pitchFamily="34" charset="-120"/>
              </a:rPr>
              <a:t>leaf vein</a:t>
            </a:r>
            <a:endParaRPr lang="en-US" sz="950" dirty="0"/>
          </a:p>
        </p:txBody>
      </p:sp>
      <p:sp>
        <p:nvSpPr>
          <p:cNvPr id="21" name="Shape 19"/>
          <p:cNvSpPr/>
          <p:nvPr/>
        </p:nvSpPr>
        <p:spPr>
          <a:xfrm>
            <a:off x="10241280" y="2743200"/>
            <a:ext cx="-274320" cy="0"/>
          </a:xfrm>
          <a:prstGeom prst="line">
            <a:avLst/>
          </a:prstGeom>
          <a:noFill/>
          <a:ln w="12700">
            <a:solidFill>
              <a:srgbClr val="B0C4D8"/>
            </a:solidFill>
            <a:prstDash val="solid"/>
          </a:ln>
        </p:spPr>
      </p:sp>
      <p:sp>
        <p:nvSpPr>
          <p:cNvPr id="22" name="Text 20"/>
          <p:cNvSpPr/>
          <p:nvPr/>
        </p:nvSpPr>
        <p:spPr>
          <a:xfrm>
            <a:off x="10287000" y="2606040"/>
            <a:ext cx="1097280" cy="347472"/>
          </a:xfrm>
          <a:prstGeom prst="rect">
            <a:avLst/>
          </a:prstGeom>
          <a:noFill/>
          <a:ln/>
        </p:spPr>
        <p:txBody>
          <a:bodyPr wrap="square" rtlCol="0" anchor="ctr"/>
          <a:lstStyle/>
          <a:p>
            <a:pPr indent="0" marL="0">
              <a:buNone/>
            </a:pPr>
            <a:r>
              <a:rPr lang="en-US" sz="950" dirty="0">
                <a:solidFill>
                  <a:srgbClr val="B0C4D8"/>
                </a:solidFill>
                <a:latin typeface="Calibri" pitchFamily="34" charset="0"/>
                <a:ea typeface="Calibri" pitchFamily="34" charset="-122"/>
                <a:cs typeface="Calibri" pitchFamily="34" charset="-120"/>
              </a:rPr>
              <a:t>serrated</a:t>
            </a:r>
            <a:endParaRPr lang="en-US" sz="950" dirty="0"/>
          </a:p>
          <a:p>
            <a:pPr indent="0" marL="0">
              <a:buNone/>
            </a:pPr>
            <a:r>
              <a:rPr lang="en-US" sz="950" dirty="0">
                <a:solidFill>
                  <a:srgbClr val="B0C4D8"/>
                </a:solidFill>
                <a:latin typeface="Calibri" pitchFamily="34" charset="0"/>
                <a:ea typeface="Calibri" pitchFamily="34" charset="-122"/>
                <a:cs typeface="Calibri" pitchFamily="34" charset="-120"/>
              </a:rPr>
              <a:t>edge</a:t>
            </a:r>
            <a:endParaRPr lang="en-US" sz="950" dirty="0"/>
          </a:p>
        </p:txBody>
      </p:sp>
      <p:sp>
        <p:nvSpPr>
          <p:cNvPr id="23" name="Text 21"/>
          <p:cNvSpPr/>
          <p:nvPr/>
        </p:nvSpPr>
        <p:spPr>
          <a:xfrm>
            <a:off x="6035040" y="3520440"/>
            <a:ext cx="5394960" cy="411480"/>
          </a:xfrm>
          <a:prstGeom prst="rect">
            <a:avLst/>
          </a:prstGeom>
          <a:noFill/>
          <a:ln/>
        </p:spPr>
        <p:txBody>
          <a:bodyPr wrap="square" rtlCol="0" anchor="ctr"/>
          <a:lstStyle/>
          <a:p>
            <a:pPr indent="0" marL="0">
              <a:buNone/>
            </a:pPr>
            <a:r>
              <a:rPr lang="en-US" sz="1000" i="1" dirty="0">
                <a:solidFill>
                  <a:srgbClr val="B0C4D8"/>
                </a:solidFill>
                <a:latin typeface="Calibri" pitchFamily="34" charset="0"/>
                <a:ea typeface="Calibri" pitchFamily="34" charset="-122"/>
                <a:cs typeface="Calibri" pitchFamily="34" charset="-120"/>
              </a:rPr>
              <a:t>Observed: May 12 · Backyard garden · Color: deep green</a:t>
            </a:r>
            <a:endParaRPr lang="en-US" sz="1000" dirty="0"/>
          </a:p>
        </p:txBody>
      </p:sp>
      <p:sp>
        <p:nvSpPr>
          <p:cNvPr id="24" name="Text 22"/>
          <p:cNvSpPr/>
          <p:nvPr/>
        </p:nvSpPr>
        <p:spPr>
          <a:xfrm>
            <a:off x="6035040" y="5257800"/>
            <a:ext cx="5394960" cy="502920"/>
          </a:xfrm>
          <a:prstGeom prst="rect">
            <a:avLst/>
          </a:prstGeom>
          <a:noFill/>
          <a:ln/>
        </p:spPr>
        <p:txBody>
          <a:bodyPr wrap="square" rtlCol="0" anchor="ctr"/>
          <a:lstStyle/>
          <a:p>
            <a:pPr algn="ctr" indent="0" marL="0">
              <a:buNone/>
            </a:pPr>
            <a:r>
              <a:rPr lang="en-US" sz="1100" b="1" dirty="0">
                <a:solidFill>
                  <a:srgbClr val="2DC653"/>
                </a:solidFill>
                <a:latin typeface="Calibri" pitchFamily="34" charset="0"/>
                <a:ea typeface="Calibri" pitchFamily="34" charset="-122"/>
                <a:cs typeface="Calibri" pitchFamily="34" charset="-120"/>
              </a:rPr>
              <a:t>Clear · Accurate · Scientific! 🌿</a:t>
            </a:r>
            <a:endParaRPr lang="en-US" sz="1100" dirty="0"/>
          </a:p>
        </p:txBody>
      </p:sp>
      <p:sp>
        <p:nvSpPr>
          <p:cNvPr id="25" name="Shape 23"/>
          <p:cNvSpPr/>
          <p:nvPr/>
        </p:nvSpPr>
        <p:spPr>
          <a:xfrm>
            <a:off x="274320" y="6053328"/>
            <a:ext cx="3657600" cy="347472"/>
          </a:xfrm>
          <a:prstGeom prst="roundRect">
            <a:avLst>
              <a:gd name="adj" fmla="val 23684"/>
            </a:avLst>
          </a:prstGeom>
          <a:solidFill>
            <a:srgbClr val="E09200"/>
          </a:solidFill>
          <a:ln w="19050">
            <a:solidFill>
              <a:srgbClr val="FFB703"/>
            </a:solidFill>
            <a:prstDash val="solid"/>
          </a:ln>
        </p:spPr>
      </p:sp>
      <p:sp>
        <p:nvSpPr>
          <p:cNvPr id="26" name="Text 24"/>
          <p:cNvSpPr/>
          <p:nvPr/>
        </p:nvSpPr>
        <p:spPr>
          <a:xfrm>
            <a:off x="274320" y="6053328"/>
            <a:ext cx="365760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27" name="Text 25"/>
          <p:cNvSpPr/>
          <p:nvPr/>
        </p:nvSpPr>
        <p:spPr>
          <a:xfrm>
            <a:off x="4069080" y="6053328"/>
            <a:ext cx="7452360" cy="347472"/>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"What makes the difference? Which rule had the biggest impact, and why?"</a:t>
            </a:r>
            <a:endParaRPr lang="en-US" sz="1250" dirty="0"/>
          </a:p>
        </p:txBody>
      </p:sp>
      <p:sp>
        <p:nvSpPr>
          <p:cNvPr id="28" name="Shape 26"/>
          <p:cNvSpPr/>
          <p:nvPr/>
        </p:nvSpPr>
        <p:spPr>
          <a:xfrm>
            <a:off x="0" y="6629400"/>
            <a:ext cx="12192000" cy="228600"/>
          </a:xfrm>
          <a:prstGeom prst="rect">
            <a:avLst/>
          </a:prstGeom>
          <a:solidFill>
            <a:srgbClr val="162233"/>
          </a:solidFill>
          <a:ln/>
        </p:spPr>
      </p:sp>
      <p:sp>
        <p:nvSpPr>
          <p:cNvPr id="29" name="Text 2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Key Concept</a:t>
            </a:r>
            <a:endParaRPr lang="en-US" sz="1600" dirty="0"/>
          </a:p>
        </p:txBody>
      </p:sp>
      <p:sp>
        <p:nvSpPr>
          <p:cNvPr id="5" name="Shape 3"/>
          <p:cNvSpPr/>
          <p:nvPr/>
        </p:nvSpPr>
        <p:spPr>
          <a:xfrm>
            <a:off x="365760" y="777240"/>
            <a:ext cx="11247120" cy="1188720"/>
          </a:xfrm>
          <a:prstGeom prst="roundRect">
            <a:avLst>
              <a:gd name="adj" fmla="val 9231"/>
            </a:avLst>
          </a:prstGeom>
          <a:solidFill>
            <a:srgbClr val="1E2F45"/>
          </a:solidFill>
          <a:ln w="25400">
            <a:solidFill>
              <a:srgbClr val="4CC9F0"/>
            </a:solidFill>
            <a:prstDash val="solid"/>
          </a:ln>
        </p:spPr>
      </p:sp>
      <p:sp>
        <p:nvSpPr>
          <p:cNvPr id="6" name="Shape 4"/>
          <p:cNvSpPr/>
          <p:nvPr/>
        </p:nvSpPr>
        <p:spPr>
          <a:xfrm>
            <a:off x="365760" y="777240"/>
            <a:ext cx="73152" cy="1188720"/>
          </a:xfrm>
          <a:prstGeom prst="rect">
            <a:avLst/>
          </a:prstGeom>
          <a:solidFill>
            <a:srgbClr val="4CC9F0"/>
          </a:solidFill>
          <a:ln/>
        </p:spPr>
      </p:sp>
      <p:sp>
        <p:nvSpPr>
          <p:cNvPr id="7" name="Text 5"/>
          <p:cNvSpPr/>
          <p:nvPr/>
        </p:nvSpPr>
        <p:spPr>
          <a:xfrm>
            <a:off x="594360" y="822960"/>
            <a:ext cx="10972800" cy="1097280"/>
          </a:xfrm>
          <a:prstGeom prst="rect">
            <a:avLst/>
          </a:prstGeom>
          <a:noFill/>
          <a:ln/>
        </p:spPr>
        <p:txBody>
          <a:bodyPr wrap="square"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A scientific sketch is a scientist's superpower.</a:t>
            </a:r>
            <a:endParaRPr lang="en-US" sz="1900" dirty="0"/>
          </a:p>
          <a:p>
            <a:pPr algn="l" indent="0" marL="0">
              <a:buNone/>
            </a:pPr>
            <a:r>
              <a:rPr lang="en-US" sz="1900" b="1" dirty="0">
                <a:solidFill>
                  <a:srgbClr val="FFFFFF"/>
                </a:solidFill>
                <a:latin typeface="Calibri" pitchFamily="34" charset="0"/>
                <a:ea typeface="Calibri" pitchFamily="34" charset="-122"/>
                <a:cs typeface="Calibri" pitchFamily="34" charset="-120"/>
              </a:rPr>
              <a:t>It captures details that words alone can't describe.</a:t>
            </a:r>
            <a:endParaRPr lang="en-US" sz="1900" dirty="0"/>
          </a:p>
        </p:txBody>
      </p:sp>
      <p:sp>
        <p:nvSpPr>
          <p:cNvPr id="8" name="Shape 6"/>
          <p:cNvSpPr/>
          <p:nvPr/>
        </p:nvSpPr>
        <p:spPr>
          <a:xfrm>
            <a:off x="365760" y="2148840"/>
            <a:ext cx="11247120" cy="1645920"/>
          </a:xfrm>
          <a:prstGeom prst="roundRect">
            <a:avLst>
              <a:gd name="adj" fmla="val 4444"/>
            </a:avLst>
          </a:prstGeom>
          <a:solidFill>
            <a:srgbClr val="162233"/>
          </a:solidFill>
          <a:ln w="12700">
            <a:solidFill>
              <a:srgbClr val="243A52"/>
            </a:solidFill>
            <a:prstDash val="solid"/>
          </a:ln>
        </p:spPr>
      </p:sp>
      <p:sp>
        <p:nvSpPr>
          <p:cNvPr id="9" name="Text 7"/>
          <p:cNvSpPr/>
          <p:nvPr/>
        </p:nvSpPr>
        <p:spPr>
          <a:xfrm>
            <a:off x="548640" y="2286000"/>
            <a:ext cx="2560320" cy="1280160"/>
          </a:xfrm>
          <a:prstGeom prst="rect">
            <a:avLst/>
          </a:prstGeom>
          <a:noFill/>
          <a:ln/>
        </p:spPr>
        <p:txBody>
          <a:bodyPr wrap="square" rtlCol="0" anchor="ctr"/>
          <a:lstStyle/>
          <a:p>
            <a:pPr algn="ctr" indent="0" marL="0">
              <a:buNone/>
            </a:pPr>
            <a:r>
              <a:rPr lang="en-US" sz="1800" b="1" dirty="0">
                <a:solidFill>
                  <a:srgbClr val="2DC653"/>
                </a:solidFill>
                <a:latin typeface="Calibri" pitchFamily="34" charset="0"/>
                <a:ea typeface="Calibri" pitchFamily="34" charset="-122"/>
                <a:cs typeface="Calibri" pitchFamily="34" charset="-120"/>
              </a:rPr>
              <a:t>Observation</a:t>
            </a:r>
            <a:endParaRPr lang="en-US" sz="1800" dirty="0"/>
          </a:p>
        </p:txBody>
      </p:sp>
      <p:sp>
        <p:nvSpPr>
          <p:cNvPr id="10" name="Shape 8"/>
          <p:cNvSpPr/>
          <p:nvPr/>
        </p:nvSpPr>
        <p:spPr>
          <a:xfrm>
            <a:off x="3200400" y="2834640"/>
            <a:ext cx="274320" cy="36576"/>
          </a:xfrm>
          <a:prstGeom prst="rect">
            <a:avLst/>
          </a:prstGeom>
          <a:solidFill>
            <a:srgbClr val="8899AA"/>
          </a:solidFill>
          <a:ln/>
        </p:spPr>
      </p:sp>
      <p:sp>
        <p:nvSpPr>
          <p:cNvPr id="11" name="Text 9"/>
          <p:cNvSpPr/>
          <p:nvPr/>
        </p:nvSpPr>
        <p:spPr>
          <a:xfrm>
            <a:off x="3246120" y="2651760"/>
            <a:ext cx="457200" cy="365760"/>
          </a:xfrm>
          <a:prstGeom prst="rect">
            <a:avLst/>
          </a:prstGeom>
          <a:noFill/>
          <a:ln/>
        </p:spPr>
        <p:txBody>
          <a:bodyPr wrap="square" rtlCol="0" anchor="ctr"/>
          <a:lstStyle/>
          <a:p>
            <a:pPr algn="ctr" indent="0" marL="0">
              <a:buNone/>
            </a:pPr>
            <a:r>
              <a:rPr lang="en-US" sz="2200" dirty="0">
                <a:solidFill>
                  <a:srgbClr val="8899AA"/>
                </a:solidFill>
              </a:rPr>
              <a:t>→</a:t>
            </a:r>
            <a:endParaRPr lang="en-US" sz="2200" dirty="0"/>
          </a:p>
        </p:txBody>
      </p:sp>
      <p:sp>
        <p:nvSpPr>
          <p:cNvPr id="12" name="Text 10"/>
          <p:cNvSpPr/>
          <p:nvPr/>
        </p:nvSpPr>
        <p:spPr>
          <a:xfrm>
            <a:off x="3703320" y="2286000"/>
            <a:ext cx="3017520" cy="1280160"/>
          </a:xfrm>
          <a:prstGeom prst="rect">
            <a:avLst/>
          </a:prstGeom>
          <a:noFill/>
          <a:ln/>
        </p:spPr>
        <p:txBody>
          <a:bodyPr wrap="square" rtlCol="0" anchor="ctr"/>
          <a:lstStyle/>
          <a:p>
            <a:pPr algn="ctr" indent="0" marL="0">
              <a:buNone/>
            </a:pPr>
            <a:r>
              <a:rPr lang="en-US" sz="1800" b="1" dirty="0">
                <a:solidFill>
                  <a:srgbClr val="4CC9F0"/>
                </a:solidFill>
                <a:latin typeface="Calibri" pitchFamily="34" charset="0"/>
                <a:ea typeface="Calibri" pitchFamily="34" charset="-122"/>
                <a:cs typeface="Calibri" pitchFamily="34" charset="-120"/>
              </a:rPr>
              <a:t>Scientific Sketch</a:t>
            </a:r>
            <a:endParaRPr lang="en-US" sz="1800" dirty="0"/>
          </a:p>
        </p:txBody>
      </p:sp>
      <p:sp>
        <p:nvSpPr>
          <p:cNvPr id="13" name="Text 11"/>
          <p:cNvSpPr/>
          <p:nvPr/>
        </p:nvSpPr>
        <p:spPr>
          <a:xfrm>
            <a:off x="6766560" y="2651760"/>
            <a:ext cx="457200" cy="365760"/>
          </a:xfrm>
          <a:prstGeom prst="rect">
            <a:avLst/>
          </a:prstGeom>
          <a:noFill/>
          <a:ln/>
        </p:spPr>
        <p:txBody>
          <a:bodyPr wrap="square" rtlCol="0" anchor="ctr"/>
          <a:lstStyle/>
          <a:p>
            <a:pPr algn="ctr" indent="0" marL="0">
              <a:buNone/>
            </a:pPr>
            <a:r>
              <a:rPr lang="en-US" sz="2200" b="1" dirty="0">
                <a:solidFill>
                  <a:srgbClr val="8899AA"/>
                </a:solidFill>
              </a:rPr>
              <a:t>+</a:t>
            </a:r>
            <a:endParaRPr lang="en-US" sz="2200" dirty="0"/>
          </a:p>
        </p:txBody>
      </p:sp>
      <p:sp>
        <p:nvSpPr>
          <p:cNvPr id="14" name="Text 12"/>
          <p:cNvSpPr/>
          <p:nvPr/>
        </p:nvSpPr>
        <p:spPr>
          <a:xfrm>
            <a:off x="7269480" y="2286000"/>
            <a:ext cx="2011680" cy="1280160"/>
          </a:xfrm>
          <a:prstGeom prst="rect">
            <a:avLst/>
          </a:prstGeom>
          <a:noFill/>
          <a:ln/>
        </p:spPr>
        <p:txBody>
          <a:bodyPr wrap="square" rtlCol="0" anchor="ctr"/>
          <a:lstStyle/>
          <a:p>
            <a:pPr algn="ctr" indent="0" marL="0">
              <a:buNone/>
            </a:pPr>
            <a:r>
              <a:rPr lang="en-US" sz="1800" b="1" dirty="0">
                <a:solidFill>
                  <a:srgbClr val="FFB703"/>
                </a:solidFill>
                <a:latin typeface="Calibri" pitchFamily="34" charset="0"/>
                <a:ea typeface="Calibri" pitchFamily="34" charset="-122"/>
                <a:cs typeface="Calibri" pitchFamily="34" charset="-120"/>
              </a:rPr>
              <a:t>Labels</a:t>
            </a:r>
            <a:endParaRPr lang="en-US" sz="1800" dirty="0"/>
          </a:p>
        </p:txBody>
      </p:sp>
      <p:sp>
        <p:nvSpPr>
          <p:cNvPr id="15" name="Text 13"/>
          <p:cNvSpPr/>
          <p:nvPr/>
        </p:nvSpPr>
        <p:spPr>
          <a:xfrm>
            <a:off x="9326880" y="2651760"/>
            <a:ext cx="457200" cy="365760"/>
          </a:xfrm>
          <a:prstGeom prst="rect">
            <a:avLst/>
          </a:prstGeom>
          <a:noFill/>
          <a:ln/>
        </p:spPr>
        <p:txBody>
          <a:bodyPr wrap="square" rtlCol="0" anchor="ctr"/>
          <a:lstStyle/>
          <a:p>
            <a:pPr algn="ctr" indent="0" marL="0">
              <a:buNone/>
            </a:pPr>
            <a:r>
              <a:rPr lang="en-US" sz="2200" dirty="0">
                <a:solidFill>
                  <a:srgbClr val="8899AA"/>
                </a:solidFill>
              </a:rPr>
              <a:t>→</a:t>
            </a:r>
            <a:endParaRPr lang="en-US" sz="2200" dirty="0"/>
          </a:p>
        </p:txBody>
      </p:sp>
      <p:sp>
        <p:nvSpPr>
          <p:cNvPr id="16" name="Text 14"/>
          <p:cNvSpPr/>
          <p:nvPr/>
        </p:nvSpPr>
        <p:spPr>
          <a:xfrm>
            <a:off x="9784080" y="2286000"/>
            <a:ext cx="1828800" cy="1280160"/>
          </a:xfrm>
          <a:prstGeom prst="rect">
            <a:avLst/>
          </a:prstGeom>
          <a:noFill/>
          <a:ln/>
        </p:spPr>
        <p:txBody>
          <a:bodyPr wrap="square" rtlCol="0" anchor="ctr"/>
          <a:lstStyle/>
          <a:p>
            <a:pPr algn="ctr" indent="0" marL="0">
              <a:buNone/>
            </a:pPr>
            <a:r>
              <a:rPr lang="en-US" sz="2000" b="1" dirty="0">
                <a:solidFill>
                  <a:srgbClr val="F4736A"/>
                </a:solidFill>
                <a:latin typeface="Calibri" pitchFamily="34" charset="0"/>
                <a:ea typeface="Calibri" pitchFamily="34" charset="-122"/>
                <a:cs typeface="Calibri" pitchFamily="34" charset="-120"/>
              </a:rPr>
              <a:t>DIAGRAM</a:t>
            </a:r>
            <a:endParaRPr lang="en-US" sz="2000" dirty="0"/>
          </a:p>
        </p:txBody>
      </p:sp>
      <p:sp>
        <p:nvSpPr>
          <p:cNvPr id="17" name="Shape 15"/>
          <p:cNvSpPr/>
          <p:nvPr/>
        </p:nvSpPr>
        <p:spPr>
          <a:xfrm>
            <a:off x="365760" y="3977640"/>
            <a:ext cx="11247120" cy="1005840"/>
          </a:xfrm>
          <a:prstGeom prst="roundRect">
            <a:avLst>
              <a:gd name="adj" fmla="val 7273"/>
            </a:avLst>
          </a:prstGeom>
          <a:solidFill>
            <a:srgbClr val="1A3520"/>
          </a:solidFill>
          <a:ln w="12700">
            <a:solidFill>
              <a:srgbClr val="2DC653"/>
            </a:solidFill>
            <a:prstDash val="solid"/>
          </a:ln>
        </p:spPr>
      </p:sp>
      <p:sp>
        <p:nvSpPr>
          <p:cNvPr id="18" name="Text 16"/>
          <p:cNvSpPr/>
          <p:nvPr/>
        </p:nvSpPr>
        <p:spPr>
          <a:xfrm>
            <a:off x="548640" y="4041648"/>
            <a:ext cx="10972800" cy="9144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  Remember: It's not about being a good artist. It's about being a careful OBSERVER.</a:t>
            </a:r>
            <a:endParaRPr lang="en-US" sz="1600" dirty="0"/>
          </a:p>
        </p:txBody>
      </p:sp>
      <p:sp>
        <p:nvSpPr>
          <p:cNvPr id="19" name="Text 17"/>
          <p:cNvSpPr/>
          <p:nvPr/>
        </p:nvSpPr>
        <p:spPr>
          <a:xfrm>
            <a:off x="365760" y="5120640"/>
            <a:ext cx="11247120" cy="502920"/>
          </a:xfrm>
          <a:prstGeom prst="rect">
            <a:avLst/>
          </a:prstGeom>
          <a:noFill/>
          <a:ln/>
        </p:spPr>
        <p:txBody>
          <a:bodyPr wrap="square" rtlCol="0" anchor="ctr"/>
          <a:lstStyle/>
          <a:p>
            <a:pPr indent="0" marL="0">
              <a:buNone/>
            </a:pPr>
            <a:r>
              <a:rPr lang="en-US" sz="1300" i="1" dirty="0">
                <a:solidFill>
                  <a:srgbClr val="FFB703"/>
                </a:solidFill>
                <a:latin typeface="Calibri" pitchFamily="34" charset="0"/>
                <a:ea typeface="Calibri" pitchFamily="34" charset="-122"/>
                <a:cs typeface="Calibri" pitchFamily="34" charset="-120"/>
              </a:rPr>
              <a:t>💬  "Why do scientists share their diagrams with each other? What would happen if each scientist kept their sketches private?"</a:t>
            </a:r>
            <a:endParaRPr lang="en-US" sz="13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FFB703"/>
          </a:solidFill>
          <a:ln/>
        </p:spPr>
      </p:sp>
      <p:sp>
        <p:nvSpPr>
          <p:cNvPr id="3" name="Shape 1"/>
          <p:cNvSpPr/>
          <p:nvPr/>
        </p:nvSpPr>
        <p:spPr>
          <a:xfrm>
            <a:off x="0" y="0"/>
            <a:ext cx="12192000" cy="594360"/>
          </a:xfrm>
          <a:prstGeom prst="rect">
            <a:avLst/>
          </a:prstGeom>
          <a:solidFill>
            <a:srgbClr val="162233"/>
          </a:solidFill>
          <a:ln/>
        </p:spPr>
      </p:sp>
      <p:sp>
        <p:nvSpPr>
          <p:cNvPr id="4" name="Shape 2"/>
          <p:cNvSpPr/>
          <p:nvPr/>
        </p:nvSpPr>
        <p:spPr>
          <a:xfrm>
            <a:off x="0" y="548640"/>
            <a:ext cx="12192000" cy="45720"/>
          </a:xfrm>
          <a:prstGeom prst="rect">
            <a:avLst/>
          </a:prstGeom>
          <a:solidFill>
            <a:srgbClr val="FFB703"/>
          </a:solidFill>
          <a:ln/>
        </p:spPr>
      </p:sp>
      <p:sp>
        <p:nvSpPr>
          <p:cNvPr id="5" name="Text 3"/>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Mind-Blowing Science Fact</a:t>
            </a:r>
            <a:endParaRPr lang="en-US" sz="1600" dirty="0"/>
          </a:p>
        </p:txBody>
      </p:sp>
      <p:sp>
        <p:nvSpPr>
          <p:cNvPr id="6" name="Shape 4"/>
          <p:cNvSpPr/>
          <p:nvPr/>
        </p:nvSpPr>
        <p:spPr>
          <a:xfrm>
            <a:off x="365760" y="777240"/>
            <a:ext cx="11247120" cy="1920240"/>
          </a:xfrm>
          <a:prstGeom prst="roundRect">
            <a:avLst>
              <a:gd name="adj" fmla="val 7143"/>
            </a:avLst>
          </a:prstGeom>
          <a:solidFill>
            <a:srgbClr val="162233"/>
          </a:solidFill>
          <a:ln w="31750">
            <a:solidFill>
              <a:srgbClr val="FFB703"/>
            </a:solidFill>
            <a:prstDash val="solid"/>
          </a:ln>
        </p:spPr>
      </p:sp>
      <p:sp>
        <p:nvSpPr>
          <p:cNvPr id="7" name="Text 5"/>
          <p:cNvSpPr/>
          <p:nvPr/>
        </p:nvSpPr>
        <p:spPr>
          <a:xfrm>
            <a:off x="548640" y="841248"/>
            <a:ext cx="10972800" cy="530352"/>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Leonardo da Vinci was both a famous artist AND a scientist!</a:t>
            </a:r>
            <a:endParaRPr lang="en-US" sz="2000" dirty="0"/>
          </a:p>
        </p:txBody>
      </p:sp>
      <p:sp>
        <p:nvSpPr>
          <p:cNvPr id="8" name="Text 6"/>
          <p:cNvSpPr/>
          <p:nvPr/>
        </p:nvSpPr>
        <p:spPr>
          <a:xfrm>
            <a:off x="548640" y="1389888"/>
            <a:ext cx="10972800" cy="822960"/>
          </a:xfrm>
          <a:prstGeom prst="rect">
            <a:avLst/>
          </a:prstGeom>
          <a:noFill/>
          <a:ln/>
        </p:spPr>
        <p:txBody>
          <a:bodyPr wrap="square" rtlCol="0" anchor="ctr"/>
          <a:lstStyle/>
          <a:p>
            <a:pPr algn="ctr" indent="0" marL="0">
              <a:buNone/>
            </a:pPr>
            <a:r>
              <a:rPr lang="en-US" sz="1550" dirty="0">
                <a:solidFill>
                  <a:srgbClr val="B0C4D8"/>
                </a:solidFill>
                <a:latin typeface="Calibri" pitchFamily="34" charset="0"/>
                <a:ea typeface="Calibri" pitchFamily="34" charset="-122"/>
                <a:cs typeface="Calibri" pitchFamily="34" charset="-120"/>
              </a:rPr>
              <a:t>He filled over  13,000 pages  of scientific notebooks — sketches of birds, plants, human bones, rivers, and flying machines.</a:t>
            </a:r>
            <a:endParaRPr lang="en-US" sz="1550" dirty="0"/>
          </a:p>
        </p:txBody>
      </p:sp>
      <p:sp>
        <p:nvSpPr>
          <p:cNvPr id="9" name="Text 7"/>
          <p:cNvSpPr/>
          <p:nvPr/>
        </p:nvSpPr>
        <p:spPr>
          <a:xfrm>
            <a:off x="548640" y="2267712"/>
            <a:ext cx="10972800" cy="365760"/>
          </a:xfrm>
          <a:prstGeom prst="rect">
            <a:avLst/>
          </a:prstGeom>
          <a:noFill/>
          <a:ln/>
        </p:spPr>
        <p:txBody>
          <a:bodyPr wrap="square" rtlCol="0" anchor="ctr"/>
          <a:lstStyle/>
          <a:p>
            <a:pPr algn="ctr" indent="0" marL="0">
              <a:buNone/>
            </a:pPr>
            <a:r>
              <a:rPr lang="en-US" sz="1400" b="1" dirty="0">
                <a:solidFill>
                  <a:srgbClr val="FFB703"/>
                </a:solidFill>
                <a:latin typeface="Calibri" pitchFamily="34" charset="0"/>
                <a:ea typeface="Calibri" pitchFamily="34" charset="-122"/>
                <a:cs typeface="Calibri" pitchFamily="34" charset="-120"/>
              </a:rPr>
              <a:t>Scientists still study his drawings today — 500+ years later.</a:t>
            </a:r>
            <a:endParaRPr lang="en-US" sz="1400" dirty="0"/>
          </a:p>
        </p:txBody>
      </p:sp>
      <p:sp>
        <p:nvSpPr>
          <p:cNvPr id="10" name="Shape 8"/>
          <p:cNvSpPr/>
          <p:nvPr/>
        </p:nvSpPr>
        <p:spPr>
          <a:xfrm>
            <a:off x="365760" y="2880360"/>
            <a:ext cx="11247120" cy="2240280"/>
          </a:xfrm>
          <a:prstGeom prst="roundRect">
            <a:avLst>
              <a:gd name="adj" fmla="val 3265"/>
            </a:avLst>
          </a:prstGeom>
          <a:solidFill>
            <a:srgbClr val="1E2F45"/>
          </a:solidFill>
          <a:ln w="12700">
            <a:solidFill>
              <a:srgbClr val="0096C7"/>
            </a:solidFill>
            <a:prstDash val="solid"/>
          </a:ln>
        </p:spPr>
      </p:sp>
      <p:sp>
        <p:nvSpPr>
          <p:cNvPr id="11" name="Text 9"/>
          <p:cNvSpPr/>
          <p:nvPr/>
        </p:nvSpPr>
        <p:spPr>
          <a:xfrm>
            <a:off x="548640" y="2944368"/>
            <a:ext cx="1097280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Go Deeper — Scientists and Their Notebooks</a:t>
            </a:r>
            <a:endParaRPr lang="en-US" sz="1300" dirty="0"/>
          </a:p>
        </p:txBody>
      </p:sp>
      <p:sp>
        <p:nvSpPr>
          <p:cNvPr id="12" name="Text 10"/>
          <p:cNvSpPr/>
          <p:nvPr/>
        </p:nvSpPr>
        <p:spPr>
          <a:xfrm>
            <a:off x="548640" y="3355848"/>
            <a:ext cx="10972800" cy="164592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Charles Darwin  sketched Galápagos animals — his drawings helped develop the theory of evolution.</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Marie Curie  kept detailed lab notebooks. They're still mildly radioactive — scientists wear gloves to read them!</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Nikola Tesla  sketched electrical inventions before building them.</a:t>
            </a:r>
            <a:endParaRPr lang="en-US" sz="1200" dirty="0"/>
          </a:p>
        </p:txBody>
      </p:sp>
      <p:sp>
        <p:nvSpPr>
          <p:cNvPr id="13" name="Text 11"/>
          <p:cNvSpPr/>
          <p:nvPr/>
        </p:nvSpPr>
        <p:spPr>
          <a:xfrm>
            <a:off x="365760" y="5257800"/>
            <a:ext cx="11247120" cy="411480"/>
          </a:xfrm>
          <a:prstGeom prst="rect">
            <a:avLst/>
          </a:prstGeom>
          <a:noFill/>
          <a:ln/>
        </p:spPr>
        <p:txBody>
          <a:bodyPr wrap="square" rtlCol="0" anchor="ctr"/>
          <a:lstStyle/>
          <a:p>
            <a:pPr indent="0" marL="0">
              <a:buNone/>
            </a:pPr>
            <a:r>
              <a:rPr lang="en-US" sz="1300" i="1" dirty="0">
                <a:solidFill>
                  <a:srgbClr val="FFB703"/>
                </a:solidFill>
                <a:latin typeface="Calibri" pitchFamily="34" charset="0"/>
                <a:ea typeface="Calibri" pitchFamily="34" charset="-122"/>
                <a:cs typeface="Calibri" pitchFamily="34" charset="-120"/>
              </a:rPr>
              <a:t>💬  "What does da Vinci's story tell us about why sketching matters? What evidence does it give us?"</a:t>
            </a:r>
            <a:endParaRPr lang="en-US" sz="13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 How to Make a Scientific Sketch</a:t>
            </a:r>
            <a:endParaRPr lang="en-US" sz="1600" dirty="0"/>
          </a:p>
        </p:txBody>
      </p:sp>
      <p:sp>
        <p:nvSpPr>
          <p:cNvPr id="5" name="Shape 3"/>
          <p:cNvSpPr/>
          <p:nvPr/>
        </p:nvSpPr>
        <p:spPr>
          <a:xfrm>
            <a:off x="365760" y="749808"/>
            <a:ext cx="1463040" cy="256032"/>
          </a:xfrm>
          <a:prstGeom prst="roundRect">
            <a:avLst>
              <a:gd name="adj" fmla="val 50000"/>
            </a:avLst>
          </a:prstGeom>
          <a:solidFill>
            <a:srgbClr val="2DC653"/>
          </a:solidFill>
          <a:ln w="12700">
            <a:solidFill>
              <a:srgbClr val="2DC653"/>
            </a:solidFill>
            <a:prstDash val="solid"/>
          </a:ln>
        </p:spPr>
      </p:sp>
      <p:sp>
        <p:nvSpPr>
          <p:cNvPr id="6" name="Text 4"/>
          <p:cNvSpPr/>
          <p:nvPr/>
        </p:nvSpPr>
        <p:spPr>
          <a:xfrm>
            <a:off x="365760" y="749808"/>
            <a:ext cx="146304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1 OF 4</a:t>
            </a:r>
            <a:endParaRPr lang="en-US" sz="900" dirty="0"/>
          </a:p>
        </p:txBody>
      </p:sp>
      <p:sp>
        <p:nvSpPr>
          <p:cNvPr id="7" name="Shape 5"/>
          <p:cNvSpPr/>
          <p:nvPr/>
        </p:nvSpPr>
        <p:spPr>
          <a:xfrm>
            <a:off x="365760" y="1115568"/>
            <a:ext cx="11247120" cy="1554480"/>
          </a:xfrm>
          <a:prstGeom prst="roundRect">
            <a:avLst>
              <a:gd name="adj" fmla="val 4706"/>
            </a:avLst>
          </a:prstGeom>
          <a:solidFill>
            <a:srgbClr val="1E2F45"/>
          </a:solidFill>
          <a:ln w="12700">
            <a:solidFill>
              <a:srgbClr val="2DC653"/>
            </a:solidFill>
            <a:prstDash val="solid"/>
          </a:ln>
        </p:spPr>
      </p:sp>
      <p:sp>
        <p:nvSpPr>
          <p:cNvPr id="8" name="Text 6"/>
          <p:cNvSpPr/>
          <p:nvPr/>
        </p:nvSpPr>
        <p:spPr>
          <a:xfrm>
            <a:off x="548640" y="1188720"/>
            <a:ext cx="10972800" cy="475488"/>
          </a:xfrm>
          <a:prstGeom prst="rect">
            <a:avLst/>
          </a:prstGeom>
          <a:noFill/>
          <a:ln/>
        </p:spPr>
        <p:txBody>
          <a:bodyPr wrap="square" rtlCol="0" anchor="ctr"/>
          <a:lstStyle/>
          <a:p>
            <a:pPr indent="0" marL="0">
              <a:buNone/>
            </a:pPr>
            <a:r>
              <a:rPr lang="en-US" sz="2200" b="1" dirty="0">
                <a:solidFill>
                  <a:srgbClr val="2DC653"/>
                </a:solidFill>
                <a:latin typeface="Calibri" pitchFamily="34" charset="0"/>
                <a:ea typeface="Calibri" pitchFamily="34" charset="-122"/>
                <a:cs typeface="Calibri" pitchFamily="34" charset="-120"/>
              </a:rPr>
              <a:t>👁️  Observe First</a:t>
            </a:r>
            <a:endParaRPr lang="en-US" sz="2200" dirty="0"/>
          </a:p>
        </p:txBody>
      </p:sp>
      <p:sp>
        <p:nvSpPr>
          <p:cNvPr id="9" name="Text 7"/>
          <p:cNvSpPr/>
          <p:nvPr/>
        </p:nvSpPr>
        <p:spPr>
          <a:xfrm>
            <a:off x="548640" y="1691640"/>
            <a:ext cx="10972800" cy="8686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Before you draw a single line — spend 30 seconds just LOOKING. What shapes do you notice? Colors? Patterns? What makes this thing unique?</a:t>
            </a:r>
            <a:endParaRPr lang="en-US" sz="1400" dirty="0"/>
          </a:p>
        </p:txBody>
      </p:sp>
      <p:sp>
        <p:nvSpPr>
          <p:cNvPr id="10" name="Shape 8"/>
          <p:cNvSpPr/>
          <p:nvPr/>
        </p:nvSpPr>
        <p:spPr>
          <a:xfrm>
            <a:off x="365760" y="2834640"/>
            <a:ext cx="11247120" cy="594360"/>
          </a:xfrm>
          <a:prstGeom prst="roundRect">
            <a:avLst>
              <a:gd name="adj" fmla="val 12308"/>
            </a:avLst>
          </a:prstGeom>
          <a:solidFill>
            <a:srgbClr val="1A3A1A"/>
          </a:solidFill>
          <a:ln w="12700">
            <a:solidFill>
              <a:srgbClr val="2DC653"/>
            </a:solidFill>
            <a:prstDash val="solid"/>
          </a:ln>
        </p:spPr>
      </p:sp>
      <p:sp>
        <p:nvSpPr>
          <p:cNvPr id="11" name="Text 9"/>
          <p:cNvSpPr/>
          <p:nvPr/>
        </p:nvSpPr>
        <p:spPr>
          <a:xfrm>
            <a:off x="548640" y="2862072"/>
            <a:ext cx="10972800" cy="53035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  Scientists say: "Observe before you draw."</a:t>
            </a:r>
            <a:endParaRPr lang="en-US" sz="1500" dirty="0"/>
          </a:p>
        </p:txBody>
      </p:sp>
      <p:sp>
        <p:nvSpPr>
          <p:cNvPr id="12" name="Shape 10"/>
          <p:cNvSpPr/>
          <p:nvPr/>
        </p:nvSpPr>
        <p:spPr>
          <a:xfrm>
            <a:off x="365760" y="3566160"/>
            <a:ext cx="11247120" cy="2194560"/>
          </a:xfrm>
          <a:prstGeom prst="roundRect">
            <a:avLst>
              <a:gd name="adj" fmla="val 5000"/>
            </a:avLst>
          </a:prstGeom>
          <a:solidFill>
            <a:srgbClr val="162233"/>
          </a:solidFill>
          <a:ln w="19050">
            <a:solidFill>
              <a:srgbClr val="FFB703"/>
            </a:solidFill>
            <a:prstDash val="solid"/>
          </a:ln>
        </p:spPr>
      </p:sp>
      <p:sp>
        <p:nvSpPr>
          <p:cNvPr id="13" name="Text 11"/>
          <p:cNvSpPr/>
          <p:nvPr/>
        </p:nvSpPr>
        <p:spPr>
          <a:xfrm>
            <a:off x="548640" y="3630168"/>
            <a:ext cx="109728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Think Like a Scientist:</a:t>
            </a:r>
            <a:endParaRPr lang="en-US" sz="1300" dirty="0"/>
          </a:p>
        </p:txBody>
      </p:sp>
      <p:sp>
        <p:nvSpPr>
          <p:cNvPr id="14" name="Text 12"/>
          <p:cNvSpPr/>
          <p:nvPr/>
        </p:nvSpPr>
        <p:spPr>
          <a:xfrm>
            <a:off x="548640" y="4041648"/>
            <a:ext cx="10972800" cy="91440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"Why do you think scientists spend time observing BEFORE they draw? What might you miss if you jumped straight into drawing without looking first?"</a:t>
            </a:r>
            <a:endParaRPr lang="en-US" sz="1400" dirty="0"/>
          </a:p>
        </p:txBody>
      </p:sp>
      <p:sp>
        <p:nvSpPr>
          <p:cNvPr id="15" name="Shape 13"/>
          <p:cNvSpPr/>
          <p:nvPr/>
        </p:nvSpPr>
        <p:spPr>
          <a:xfrm>
            <a:off x="365760" y="5870448"/>
            <a:ext cx="11247120" cy="566928"/>
          </a:xfrm>
          <a:prstGeom prst="roundRect">
            <a:avLst>
              <a:gd name="adj" fmla="val 12903"/>
            </a:avLst>
          </a:prstGeom>
          <a:solidFill>
            <a:srgbClr val="1E2F45"/>
          </a:solidFill>
          <a:ln w="12700">
            <a:solidFill>
              <a:srgbClr val="0096C7"/>
            </a:solidFill>
            <a:prstDash val="solid"/>
          </a:ln>
        </p:spPr>
      </p:sp>
      <p:sp>
        <p:nvSpPr>
          <p:cNvPr id="16" name="Text 14"/>
          <p:cNvSpPr/>
          <p:nvPr/>
        </p:nvSpPr>
        <p:spPr>
          <a:xfrm>
            <a:off x="548640" y="5897880"/>
            <a:ext cx="10972800" cy="512064"/>
          </a:xfrm>
          <a:prstGeom prst="rect">
            <a:avLst/>
          </a:prstGeom>
          <a:noFill/>
          <a:ln/>
        </p:spPr>
        <p:txBody>
          <a:bodyPr wrap="square" rtlCol="0" anchor="ctr"/>
          <a:lstStyle/>
          <a:p>
            <a:pPr indent="0" marL="0">
              <a:buNone/>
            </a:pPr>
            <a:r>
              <a:rPr lang="en-US" sz="1100" dirty="0">
                <a:solidFill>
                  <a:srgbClr val="4CC9F0"/>
                </a:solidFill>
                <a:latin typeface="Calibri" pitchFamily="34" charset="0"/>
                <a:ea typeface="Calibri" pitchFamily="34" charset="-122"/>
                <a:cs typeface="Calibri" pitchFamily="34" charset="-120"/>
              </a:rPr>
              <a:t>📝  Assignment connection: What specific details would you include if you sketched a butterfly? We're practicing that now!</a:t>
            </a:r>
            <a:endParaRPr lang="en-US" sz="11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 How to Make a Scientific Sketch</a:t>
            </a:r>
            <a:endParaRPr lang="en-US" sz="1600" dirty="0"/>
          </a:p>
        </p:txBody>
      </p:sp>
      <p:sp>
        <p:nvSpPr>
          <p:cNvPr id="5" name="Shape 3"/>
          <p:cNvSpPr/>
          <p:nvPr/>
        </p:nvSpPr>
        <p:spPr>
          <a:xfrm>
            <a:off x="365760" y="749808"/>
            <a:ext cx="1463040" cy="256032"/>
          </a:xfrm>
          <a:prstGeom prst="roundRect">
            <a:avLst>
              <a:gd name="adj" fmla="val 50000"/>
            </a:avLst>
          </a:prstGeom>
          <a:solidFill>
            <a:srgbClr val="4CC9F0"/>
          </a:solidFill>
          <a:ln w="12700">
            <a:solidFill>
              <a:srgbClr val="4CC9F0"/>
            </a:solidFill>
            <a:prstDash val="solid"/>
          </a:ln>
        </p:spPr>
      </p:sp>
      <p:sp>
        <p:nvSpPr>
          <p:cNvPr id="6" name="Text 4"/>
          <p:cNvSpPr/>
          <p:nvPr/>
        </p:nvSpPr>
        <p:spPr>
          <a:xfrm>
            <a:off x="365760" y="749808"/>
            <a:ext cx="146304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2 OF 4</a:t>
            </a:r>
            <a:endParaRPr lang="en-US" sz="900" dirty="0"/>
          </a:p>
        </p:txBody>
      </p:sp>
      <p:sp>
        <p:nvSpPr>
          <p:cNvPr id="7" name="Shape 5"/>
          <p:cNvSpPr/>
          <p:nvPr/>
        </p:nvSpPr>
        <p:spPr>
          <a:xfrm>
            <a:off x="365760" y="1115568"/>
            <a:ext cx="11247120" cy="1463040"/>
          </a:xfrm>
          <a:prstGeom prst="roundRect">
            <a:avLst>
              <a:gd name="adj" fmla="val 5000"/>
            </a:avLst>
          </a:prstGeom>
          <a:solidFill>
            <a:srgbClr val="1E2F45"/>
          </a:solidFill>
          <a:ln w="12700">
            <a:solidFill>
              <a:srgbClr val="4CC9F0"/>
            </a:solidFill>
            <a:prstDash val="solid"/>
          </a:ln>
        </p:spPr>
      </p:sp>
      <p:sp>
        <p:nvSpPr>
          <p:cNvPr id="8" name="Text 6"/>
          <p:cNvSpPr/>
          <p:nvPr/>
        </p:nvSpPr>
        <p:spPr>
          <a:xfrm>
            <a:off x="548640" y="1170432"/>
            <a:ext cx="10972800" cy="438912"/>
          </a:xfrm>
          <a:prstGeom prst="rect">
            <a:avLst/>
          </a:prstGeom>
          <a:noFill/>
          <a:ln/>
        </p:spPr>
        <p:txBody>
          <a:bodyPr wrap="square" rtlCol="0" anchor="ctr"/>
          <a:lstStyle/>
          <a:p>
            <a:pPr indent="0" marL="0">
              <a:buNone/>
            </a:pPr>
            <a:r>
              <a:rPr lang="en-US" sz="2000" b="1" dirty="0">
                <a:solidFill>
                  <a:srgbClr val="4CC9F0"/>
                </a:solidFill>
                <a:latin typeface="Calibri" pitchFamily="34" charset="0"/>
                <a:ea typeface="Calibri" pitchFamily="34" charset="-122"/>
                <a:cs typeface="Calibri" pitchFamily="34" charset="-120"/>
              </a:rPr>
              <a:t>📏  Start Big</a:t>
            </a:r>
            <a:endParaRPr lang="en-US" sz="2000" dirty="0"/>
          </a:p>
        </p:txBody>
      </p:sp>
      <p:sp>
        <p:nvSpPr>
          <p:cNvPr id="9" name="Text 7"/>
          <p:cNvSpPr/>
          <p:nvPr/>
        </p:nvSpPr>
        <p:spPr>
          <a:xfrm>
            <a:off x="548640" y="1627632"/>
            <a:ext cx="10972800" cy="8229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Draw the main outline first. Make it fill MOST of the page! Don't start tiny — you can always add detail, but you can't add space you didn't leave. Use light pencil lines first so you can adjust.</a:t>
            </a:r>
            <a:endParaRPr lang="en-US" sz="1350" dirty="0"/>
          </a:p>
        </p:txBody>
      </p:sp>
      <p:sp>
        <p:nvSpPr>
          <p:cNvPr id="10" name="Shape 8"/>
          <p:cNvSpPr/>
          <p:nvPr/>
        </p:nvSpPr>
        <p:spPr>
          <a:xfrm>
            <a:off x="365760" y="2743200"/>
            <a:ext cx="1463040" cy="256032"/>
          </a:xfrm>
          <a:prstGeom prst="roundRect">
            <a:avLst>
              <a:gd name="adj" fmla="val 50000"/>
            </a:avLst>
          </a:prstGeom>
          <a:solidFill>
            <a:srgbClr val="FFB703"/>
          </a:solidFill>
          <a:ln w="12700">
            <a:solidFill>
              <a:srgbClr val="FFB703"/>
            </a:solidFill>
            <a:prstDash val="solid"/>
          </a:ln>
        </p:spPr>
      </p:sp>
      <p:sp>
        <p:nvSpPr>
          <p:cNvPr id="11" name="Text 9"/>
          <p:cNvSpPr/>
          <p:nvPr/>
        </p:nvSpPr>
        <p:spPr>
          <a:xfrm>
            <a:off x="365760" y="2743200"/>
            <a:ext cx="146304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3 OF 4</a:t>
            </a:r>
            <a:endParaRPr lang="en-US" sz="900" dirty="0"/>
          </a:p>
        </p:txBody>
      </p:sp>
      <p:sp>
        <p:nvSpPr>
          <p:cNvPr id="12" name="Shape 10"/>
          <p:cNvSpPr/>
          <p:nvPr/>
        </p:nvSpPr>
        <p:spPr>
          <a:xfrm>
            <a:off x="365760" y="3108960"/>
            <a:ext cx="11247120" cy="1691640"/>
          </a:xfrm>
          <a:prstGeom prst="roundRect">
            <a:avLst>
              <a:gd name="adj" fmla="val 4324"/>
            </a:avLst>
          </a:prstGeom>
          <a:solidFill>
            <a:srgbClr val="1E2F45"/>
          </a:solidFill>
          <a:ln w="12700">
            <a:solidFill>
              <a:srgbClr val="FFB703"/>
            </a:solidFill>
            <a:prstDash val="solid"/>
          </a:ln>
        </p:spPr>
      </p:sp>
      <p:sp>
        <p:nvSpPr>
          <p:cNvPr id="13" name="Text 11"/>
          <p:cNvSpPr/>
          <p:nvPr/>
        </p:nvSpPr>
        <p:spPr>
          <a:xfrm>
            <a:off x="548640" y="3163824"/>
            <a:ext cx="10972800" cy="438912"/>
          </a:xfrm>
          <a:prstGeom prst="rect">
            <a:avLst/>
          </a:prstGeom>
          <a:noFill/>
          <a:ln/>
        </p:spPr>
        <p:txBody>
          <a:bodyPr wrap="square" rtlCol="0" anchor="ctr"/>
          <a:lstStyle/>
          <a:p>
            <a:pPr indent="0" marL="0">
              <a:buNone/>
            </a:pPr>
            <a:r>
              <a:rPr lang="en-US" sz="2000" b="1" dirty="0">
                <a:solidFill>
                  <a:srgbClr val="FFB703"/>
                </a:solidFill>
                <a:latin typeface="Calibri" pitchFamily="34" charset="0"/>
                <a:ea typeface="Calibri" pitchFamily="34" charset="-122"/>
                <a:cs typeface="Calibri" pitchFamily="34" charset="-120"/>
              </a:rPr>
              <a:t>🔍  Add Details &amp; Color</a:t>
            </a:r>
            <a:endParaRPr lang="en-US" sz="2000" dirty="0"/>
          </a:p>
        </p:txBody>
      </p:sp>
      <p:sp>
        <p:nvSpPr>
          <p:cNvPr id="14" name="Text 12"/>
          <p:cNvSpPr/>
          <p:nvPr/>
        </p:nvSpPr>
        <p:spPr>
          <a:xfrm>
            <a:off x="548640" y="3621024"/>
            <a:ext cx="10972800" cy="6400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Now zoom in! Add the small lines, textures, and features that make your subject unique. Then add realistic color.</a:t>
            </a:r>
            <a:endParaRPr lang="en-US" sz="1350" dirty="0"/>
          </a:p>
        </p:txBody>
      </p:sp>
      <p:sp>
        <p:nvSpPr>
          <p:cNvPr id="15" name="Text 13"/>
          <p:cNvSpPr/>
          <p:nvPr/>
        </p:nvSpPr>
        <p:spPr>
          <a:xfrm>
            <a:off x="548640" y="4279392"/>
            <a:ext cx="10972800" cy="438912"/>
          </a:xfrm>
          <a:prstGeom prst="rect">
            <a:avLst/>
          </a:prstGeom>
          <a:noFill/>
          <a:ln/>
        </p:spPr>
        <p:txBody>
          <a:bodyPr wrap="square" rtlCol="0" anchor="ctr"/>
          <a:lstStyle/>
          <a:p>
            <a:pPr indent="0" marL="0">
              <a:buNone/>
            </a:pPr>
            <a:r>
              <a:rPr lang="en-US" sz="1350" b="1" dirty="0">
                <a:solidFill>
                  <a:srgbClr val="FFB703"/>
                </a:solidFill>
                <a:latin typeface="Calibri" pitchFamily="34" charset="0"/>
                <a:ea typeface="Calibri" pitchFamily="34" charset="-122"/>
                <a:cs typeface="Calibri" pitchFamily="34" charset="-120"/>
              </a:rPr>
              <a:t>ACCURACY means using the colors you actually SEE — not what you think it should be.</a:t>
            </a:r>
            <a:endParaRPr lang="en-US" sz="1350" dirty="0"/>
          </a:p>
        </p:txBody>
      </p:sp>
      <p:sp>
        <p:nvSpPr>
          <p:cNvPr id="16" name="Text 14"/>
          <p:cNvSpPr/>
          <p:nvPr/>
        </p:nvSpPr>
        <p:spPr>
          <a:xfrm>
            <a:off x="365760" y="4983480"/>
            <a:ext cx="11247120" cy="658368"/>
          </a:xfrm>
          <a:prstGeom prst="rect">
            <a:avLst/>
          </a:prstGeom>
          <a:noFill/>
          <a:ln/>
        </p:spPr>
        <p:txBody>
          <a:bodyPr wrap="square"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  "If you were sketching a butterfly for your science notebook, what specific DETAILS would you include to make it a good scientific sketch?"</a:t>
            </a:r>
            <a:endParaRPr lang="en-US" sz="135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Explore — How to Make a Scientific Sketch</a:t>
            </a:r>
            <a:endParaRPr lang="en-US" sz="1600" dirty="0"/>
          </a:p>
        </p:txBody>
      </p:sp>
      <p:sp>
        <p:nvSpPr>
          <p:cNvPr id="5" name="Shape 3"/>
          <p:cNvSpPr/>
          <p:nvPr/>
        </p:nvSpPr>
        <p:spPr>
          <a:xfrm>
            <a:off x="365760" y="749808"/>
            <a:ext cx="1463040" cy="256032"/>
          </a:xfrm>
          <a:prstGeom prst="roundRect">
            <a:avLst>
              <a:gd name="adj" fmla="val 50000"/>
            </a:avLst>
          </a:prstGeom>
          <a:solidFill>
            <a:srgbClr val="F4736A"/>
          </a:solidFill>
          <a:ln w="12700">
            <a:solidFill>
              <a:srgbClr val="F4736A"/>
            </a:solidFill>
            <a:prstDash val="solid"/>
          </a:ln>
        </p:spPr>
      </p:sp>
      <p:sp>
        <p:nvSpPr>
          <p:cNvPr id="6" name="Text 4"/>
          <p:cNvSpPr/>
          <p:nvPr/>
        </p:nvSpPr>
        <p:spPr>
          <a:xfrm>
            <a:off x="365760" y="749808"/>
            <a:ext cx="146304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STEP 4 OF 4</a:t>
            </a:r>
            <a:endParaRPr lang="en-US" sz="900" dirty="0"/>
          </a:p>
        </p:txBody>
      </p:sp>
      <p:sp>
        <p:nvSpPr>
          <p:cNvPr id="7" name="Shape 5"/>
          <p:cNvSpPr/>
          <p:nvPr/>
        </p:nvSpPr>
        <p:spPr>
          <a:xfrm>
            <a:off x="365760" y="1115568"/>
            <a:ext cx="11247120" cy="2011680"/>
          </a:xfrm>
          <a:prstGeom prst="roundRect">
            <a:avLst>
              <a:gd name="adj" fmla="val 3636"/>
            </a:avLst>
          </a:prstGeom>
          <a:solidFill>
            <a:srgbClr val="1E2F45"/>
          </a:solidFill>
          <a:ln w="12700">
            <a:solidFill>
              <a:srgbClr val="F4736A"/>
            </a:solidFill>
            <a:prstDash val="solid"/>
          </a:ln>
        </p:spPr>
      </p:sp>
      <p:sp>
        <p:nvSpPr>
          <p:cNvPr id="8" name="Text 6"/>
          <p:cNvSpPr/>
          <p:nvPr/>
        </p:nvSpPr>
        <p:spPr>
          <a:xfrm>
            <a:off x="548640" y="1170432"/>
            <a:ext cx="10972800" cy="457200"/>
          </a:xfrm>
          <a:prstGeom prst="rect">
            <a:avLst/>
          </a:prstGeom>
          <a:noFill/>
          <a:ln/>
        </p:spPr>
        <p:txBody>
          <a:bodyPr wrap="square" rtlCol="0" anchor="ctr"/>
          <a:lstStyle/>
          <a:p>
            <a:pPr indent="0" marL="0">
              <a:buNone/>
            </a:pPr>
            <a:r>
              <a:rPr lang="en-US" sz="2200" b="1" dirty="0">
                <a:solidFill>
                  <a:srgbClr val="F4736A"/>
                </a:solidFill>
                <a:latin typeface="Calibri" pitchFamily="34" charset="0"/>
                <a:ea typeface="Calibri" pitchFamily="34" charset="-122"/>
                <a:cs typeface="Calibri" pitchFamily="34" charset="-120"/>
              </a:rPr>
              <a:t>🏷️  Label &amp; Explain</a:t>
            </a:r>
            <a:endParaRPr lang="en-US" sz="2200" dirty="0"/>
          </a:p>
        </p:txBody>
      </p:sp>
      <p:sp>
        <p:nvSpPr>
          <p:cNvPr id="9" name="Text 7"/>
          <p:cNvSpPr/>
          <p:nvPr/>
        </p:nvSpPr>
        <p:spPr>
          <a:xfrm>
            <a:off x="640080" y="1664208"/>
            <a:ext cx="10881360" cy="338328"/>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  Write LABELS with pointer lines pointing to important parts.</a:t>
            </a:r>
            <a:endParaRPr lang="en-US" sz="1250" dirty="0"/>
          </a:p>
        </p:txBody>
      </p:sp>
      <p:sp>
        <p:nvSpPr>
          <p:cNvPr id="10" name="Text 8"/>
          <p:cNvSpPr/>
          <p:nvPr/>
        </p:nvSpPr>
        <p:spPr>
          <a:xfrm>
            <a:off x="640080" y="2029968"/>
            <a:ext cx="10881360" cy="338328"/>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  Add the DATE and LOCATION — scientists always record when and where.</a:t>
            </a:r>
            <a:endParaRPr lang="en-US" sz="1250" dirty="0"/>
          </a:p>
        </p:txBody>
      </p:sp>
      <p:sp>
        <p:nvSpPr>
          <p:cNvPr id="11" name="Text 9"/>
          <p:cNvSpPr/>
          <p:nvPr/>
        </p:nvSpPr>
        <p:spPr>
          <a:xfrm>
            <a:off x="640080" y="2395728"/>
            <a:ext cx="10881360" cy="338328"/>
          </a:xfrm>
          <a:prstGeom prst="rect">
            <a:avLst/>
          </a:prstGeom>
          <a:noFill/>
          <a:ln/>
        </p:spPr>
        <p:txBody>
          <a:bodyPr wrap="square" rtlCol="0" anchor="ctr"/>
          <a:lstStyle/>
          <a:p>
            <a:pPr indent="0" marL="0">
              <a:buNone/>
            </a:pPr>
            <a:r>
              <a:rPr lang="en-US" sz="1250" dirty="0">
                <a:solidFill>
                  <a:srgbClr val="B0C4D8"/>
                </a:solidFill>
                <a:latin typeface="Calibri" pitchFamily="34" charset="0"/>
                <a:ea typeface="Calibri" pitchFamily="34" charset="-122"/>
                <a:cs typeface="Calibri" pitchFamily="34" charset="-120"/>
              </a:rPr>
              <a:t>→  Write a sentence of explanation.</a:t>
            </a:r>
            <a:endParaRPr lang="en-US" sz="1250" dirty="0"/>
          </a:p>
        </p:txBody>
      </p:sp>
      <p:sp>
        <p:nvSpPr>
          <p:cNvPr id="12" name="Text 10"/>
          <p:cNvSpPr/>
          <p:nvPr/>
        </p:nvSpPr>
        <p:spPr>
          <a:xfrm>
            <a:off x="640080" y="2761488"/>
            <a:ext cx="10881360" cy="33832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  Your drawing is now a scientific DIAGRAM — a communication tool scientists share!</a:t>
            </a:r>
            <a:endParaRPr lang="en-US" sz="1250" dirty="0"/>
          </a:p>
        </p:txBody>
      </p:sp>
      <p:sp>
        <p:nvSpPr>
          <p:cNvPr id="13" name="Shape 11"/>
          <p:cNvSpPr/>
          <p:nvPr/>
        </p:nvSpPr>
        <p:spPr>
          <a:xfrm>
            <a:off x="365760" y="3291840"/>
            <a:ext cx="11247120" cy="640080"/>
          </a:xfrm>
          <a:prstGeom prst="roundRect">
            <a:avLst>
              <a:gd name="adj" fmla="val 11429"/>
            </a:avLst>
          </a:prstGeom>
          <a:solidFill>
            <a:srgbClr val="1A2A3A"/>
          </a:solidFill>
          <a:ln w="12700">
            <a:solidFill>
              <a:srgbClr val="4CC9F0"/>
            </a:solidFill>
            <a:prstDash val="solid"/>
          </a:ln>
        </p:spPr>
      </p:sp>
      <p:sp>
        <p:nvSpPr>
          <p:cNvPr id="14" name="Text 12"/>
          <p:cNvSpPr/>
          <p:nvPr/>
        </p:nvSpPr>
        <p:spPr>
          <a:xfrm>
            <a:off x="548640" y="3319272"/>
            <a:ext cx="10972800"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Full 4-step process: Observe First  →  Start Big  →  Add Details &amp; Color  →  Label &amp; Explain  =  Scientific Diagram</a:t>
            </a:r>
            <a:endParaRPr lang="en-US" sz="1200" dirty="0"/>
          </a:p>
        </p:txBody>
      </p:sp>
      <p:sp>
        <p:nvSpPr>
          <p:cNvPr id="15" name="Shape 13"/>
          <p:cNvSpPr/>
          <p:nvPr/>
        </p:nvSpPr>
        <p:spPr>
          <a:xfrm>
            <a:off x="365760" y="4069080"/>
            <a:ext cx="11247120" cy="1463040"/>
          </a:xfrm>
          <a:prstGeom prst="roundRect">
            <a:avLst>
              <a:gd name="adj" fmla="val 5000"/>
            </a:avLst>
          </a:prstGeom>
          <a:solidFill>
            <a:srgbClr val="162233"/>
          </a:solidFill>
          <a:ln w="12700">
            <a:solidFill>
              <a:srgbClr val="FFB703"/>
            </a:solidFill>
            <a:prstDash val="solid"/>
          </a:ln>
        </p:spPr>
      </p:sp>
      <p:sp>
        <p:nvSpPr>
          <p:cNvPr id="16" name="Text 14"/>
          <p:cNvSpPr/>
          <p:nvPr/>
        </p:nvSpPr>
        <p:spPr>
          <a:xfrm>
            <a:off x="548640" y="4133088"/>
            <a:ext cx="1097280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Think About It:</a:t>
            </a:r>
            <a:endParaRPr lang="en-US" sz="1300" dirty="0"/>
          </a:p>
        </p:txBody>
      </p:sp>
      <p:sp>
        <p:nvSpPr>
          <p:cNvPr id="17" name="Text 15"/>
          <p:cNvSpPr/>
          <p:nvPr/>
        </p:nvSpPr>
        <p:spPr>
          <a:xfrm>
            <a:off x="548640" y="4507992"/>
            <a:ext cx="10972800" cy="914400"/>
          </a:xfrm>
          <a:prstGeom prst="rect">
            <a:avLst/>
          </a:prstGeom>
          <a:noFill/>
          <a:ln/>
        </p:spPr>
        <p:txBody>
          <a:bodyPr wrap="square"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"Why do scientists record the date and location on their sketches? What would happen if they forgot? What evidence would be lost?"</a:t>
            </a:r>
            <a:endParaRPr lang="en-US" sz="135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Scientist Discussion — Let's Reason Together</a:t>
            </a:r>
            <a:endParaRPr lang="en-US" sz="1600" dirty="0"/>
          </a:p>
        </p:txBody>
      </p:sp>
      <p:sp>
        <p:nvSpPr>
          <p:cNvPr id="5" name="Shape 3"/>
          <p:cNvSpPr/>
          <p:nvPr/>
        </p:nvSpPr>
        <p:spPr>
          <a:xfrm>
            <a:off x="365760" y="777240"/>
            <a:ext cx="11247120" cy="2286000"/>
          </a:xfrm>
          <a:prstGeom prst="roundRect">
            <a:avLst>
              <a:gd name="adj" fmla="val 3200"/>
            </a:avLst>
          </a:prstGeom>
          <a:solidFill>
            <a:srgbClr val="1E2F45"/>
          </a:solidFill>
          <a:ln w="12700">
            <a:solidFill>
              <a:srgbClr val="4CC9F0"/>
            </a:solidFill>
            <a:prstDash val="solid"/>
          </a:ln>
        </p:spPr>
      </p:sp>
      <p:sp>
        <p:nvSpPr>
          <p:cNvPr id="6" name="Text 4"/>
          <p:cNvSpPr/>
          <p:nvPr/>
        </p:nvSpPr>
        <p:spPr>
          <a:xfrm>
            <a:off x="548640" y="822960"/>
            <a:ext cx="2743200" cy="347472"/>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Question 1</a:t>
            </a:r>
            <a:endParaRPr lang="en-US" sz="1100" dirty="0"/>
          </a:p>
        </p:txBody>
      </p:sp>
      <p:sp>
        <p:nvSpPr>
          <p:cNvPr id="7" name="Text 5"/>
          <p:cNvSpPr/>
          <p:nvPr/>
        </p:nvSpPr>
        <p:spPr>
          <a:xfrm>
            <a:off x="548640" y="1188720"/>
            <a:ext cx="10972800" cy="1325880"/>
          </a:xfrm>
          <a:prstGeom prst="rect">
            <a:avLst/>
          </a:prstGeom>
          <a:noFill/>
          <a:ln/>
        </p:spPr>
        <p:txBody>
          <a:bodyPr wrap="square" rtlCol="0" anchor="t"/>
          <a:lstStyle/>
          <a:p>
            <a:pPr algn="l" indent="0" marL="0">
              <a:buNone/>
            </a:pPr>
            <a:r>
              <a:rPr lang="en-US" sz="1600" i="1" dirty="0">
                <a:solidFill>
                  <a:srgbClr val="FFFFFF"/>
                </a:solidFill>
                <a:latin typeface="Calibri" pitchFamily="34" charset="0"/>
                <a:ea typeface="Calibri" pitchFamily="34" charset="-122"/>
                <a:cs typeface="Calibri" pitchFamily="34" charset="-120"/>
              </a:rPr>
              <a:t>"Why do scientists use sketches instead of just writing words?</a:t>
            </a:r>
            <a:endParaRPr lang="en-US" sz="1600" dirty="0"/>
          </a:p>
          <a:p>
            <a:pPr algn="l" indent="0" marL="0">
              <a:buNone/>
            </a:pPr>
            <a:r>
              <a:rPr lang="en-US" sz="1600" i="1" dirty="0">
                <a:solidFill>
                  <a:srgbClr val="FFFFFF"/>
                </a:solidFill>
                <a:latin typeface="Calibri" pitchFamily="34" charset="0"/>
                <a:ea typeface="Calibri" pitchFamily="34" charset="-122"/>
                <a:cs typeface="Calibri" pitchFamily="34" charset="-120"/>
              </a:rPr>
              <a:t>What can a drawing communicate that a sentence can't?"</a:t>
            </a:r>
            <a:endParaRPr lang="en-US" sz="1600" dirty="0"/>
          </a:p>
        </p:txBody>
      </p:sp>
      <p:sp>
        <p:nvSpPr>
          <p:cNvPr id="8" name="Shape 6"/>
          <p:cNvSpPr/>
          <p:nvPr/>
        </p:nvSpPr>
        <p:spPr>
          <a:xfrm>
            <a:off x="365760" y="3246120"/>
            <a:ext cx="11247120" cy="2286000"/>
          </a:xfrm>
          <a:prstGeom prst="roundRect">
            <a:avLst>
              <a:gd name="adj" fmla="val 3200"/>
            </a:avLst>
          </a:prstGeom>
          <a:solidFill>
            <a:srgbClr val="1E2F45"/>
          </a:solidFill>
          <a:ln w="12700">
            <a:solidFill>
              <a:srgbClr val="FFB703"/>
            </a:solidFill>
            <a:prstDash val="solid"/>
          </a:ln>
        </p:spPr>
      </p:sp>
      <p:sp>
        <p:nvSpPr>
          <p:cNvPr id="9" name="Text 7"/>
          <p:cNvSpPr/>
          <p:nvPr/>
        </p:nvSpPr>
        <p:spPr>
          <a:xfrm>
            <a:off x="548640" y="3291840"/>
            <a:ext cx="5486400" cy="347472"/>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Question 2 — Evidence-Based</a:t>
            </a:r>
            <a:endParaRPr lang="en-US" sz="1100" dirty="0"/>
          </a:p>
        </p:txBody>
      </p:sp>
      <p:sp>
        <p:nvSpPr>
          <p:cNvPr id="10" name="Text 8"/>
          <p:cNvSpPr/>
          <p:nvPr/>
        </p:nvSpPr>
        <p:spPr>
          <a:xfrm>
            <a:off x="548640" y="3657600"/>
            <a:ext cx="10972800" cy="1691640"/>
          </a:xfrm>
          <a:prstGeom prst="rect">
            <a:avLst/>
          </a:prstGeom>
          <a:noFill/>
          <a:ln/>
        </p:spPr>
        <p:txBody>
          <a:bodyPr wrap="square" rtlCol="0" anchor="t"/>
          <a:lstStyle/>
          <a:p>
            <a:pPr algn="l" indent="0" marL="0">
              <a:buNone/>
            </a:pPr>
            <a:r>
              <a:rPr lang="en-US" sz="1600" i="1" dirty="0">
                <a:solidFill>
                  <a:srgbClr val="FFFFFF"/>
                </a:solidFill>
                <a:latin typeface="Calibri" pitchFamily="34" charset="0"/>
                <a:ea typeface="Calibri" pitchFamily="34" charset="-122"/>
                <a:cs typeface="Calibri" pitchFamily="34" charset="-120"/>
              </a:rPr>
              <a:t>"We've seen two versions of the same leaf sketch today. What EVIDENCE from those two sketches supports the idea that scientific sketches are better than plain drawings?"</a:t>
            </a:r>
            <a:endParaRPr lang="en-US" sz="1600" dirty="0"/>
          </a:p>
        </p:txBody>
      </p:sp>
      <p:sp>
        <p:nvSpPr>
          <p:cNvPr id="11" name="Text 9"/>
          <p:cNvSpPr/>
          <p:nvPr/>
        </p:nvSpPr>
        <p:spPr>
          <a:xfrm>
            <a:off x="365760" y="5669280"/>
            <a:ext cx="11247120" cy="411480"/>
          </a:xfrm>
          <a:prstGeom prst="rect">
            <a:avLst/>
          </a:prstGeom>
          <a:noFill/>
          <a:ln/>
        </p:spPr>
        <p:txBody>
          <a:bodyPr wrap="square" rtlCol="0" anchor="ctr"/>
          <a:lstStyle/>
          <a:p>
            <a:pPr indent="0" marL="0">
              <a:buNone/>
            </a:pPr>
            <a:r>
              <a:rPr lang="en-US" sz="1200" i="1" dirty="0">
                <a:solidFill>
                  <a:srgbClr val="4CC9F0"/>
                </a:solidFill>
                <a:latin typeface="Calibri" pitchFamily="34" charset="0"/>
                <a:ea typeface="Calibri" pitchFamily="34" charset="-122"/>
                <a:cs typeface="Calibri" pitchFamily="34" charset="-120"/>
              </a:rPr>
              <a:t>📝  Evidence frame: "I know this because in the lesson, I saw/learned ___. This shows that ___."</a:t>
            </a:r>
            <a:endParaRPr lang="en-US" sz="1200" dirty="0"/>
          </a:p>
        </p:txBody>
      </p:sp>
      <p:sp>
        <p:nvSpPr>
          <p:cNvPr id="12" name="Shape 10"/>
          <p:cNvSpPr/>
          <p:nvPr/>
        </p:nvSpPr>
        <p:spPr>
          <a:xfrm>
            <a:off x="0" y="6629400"/>
            <a:ext cx="12192000" cy="228600"/>
          </a:xfrm>
          <a:prstGeom prst="rect">
            <a:avLst/>
          </a:prstGeom>
          <a:solidFill>
            <a:srgbClr val="162233"/>
          </a:solidFill>
          <a:ln/>
        </p:spPr>
      </p:sp>
      <p:sp>
        <p:nvSpPr>
          <p:cNvPr id="13" name="Text 1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Real Science: The Draw a Scientist Study</a:t>
            </a:r>
            <a:endParaRPr lang="en-US" sz="1600" dirty="0"/>
          </a:p>
        </p:txBody>
      </p:sp>
      <p:sp>
        <p:nvSpPr>
          <p:cNvPr id="5" name="Shape 3"/>
          <p:cNvSpPr/>
          <p:nvPr/>
        </p:nvSpPr>
        <p:spPr>
          <a:xfrm>
            <a:off x="365760" y="777240"/>
            <a:ext cx="11247120" cy="2194560"/>
          </a:xfrm>
          <a:prstGeom prst="roundRect">
            <a:avLst>
              <a:gd name="adj" fmla="val 5000"/>
            </a:avLst>
          </a:prstGeom>
          <a:solidFill>
            <a:srgbClr val="1E2F45"/>
          </a:solidFill>
          <a:ln w="25400">
            <a:solidFill>
              <a:srgbClr val="4CC9F0"/>
            </a:solidFill>
            <a:prstDash val="solid"/>
          </a:ln>
        </p:spPr>
      </p:sp>
      <p:sp>
        <p:nvSpPr>
          <p:cNvPr id="6" name="Text 4"/>
          <p:cNvSpPr/>
          <p:nvPr/>
        </p:nvSpPr>
        <p:spPr>
          <a:xfrm>
            <a:off x="548640" y="841248"/>
            <a:ext cx="10972800" cy="365760"/>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The Research Finding:</a:t>
            </a:r>
            <a:endParaRPr lang="en-US" sz="1300" dirty="0"/>
          </a:p>
        </p:txBody>
      </p:sp>
      <p:sp>
        <p:nvSpPr>
          <p:cNvPr id="7" name="Text 5"/>
          <p:cNvSpPr/>
          <p:nvPr/>
        </p:nvSpPr>
        <p:spPr>
          <a:xfrm>
            <a:off x="548640" y="1234440"/>
            <a:ext cx="10972800" cy="16002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Scientists have been asking students to 'Draw a Scientist' since the 1950s.</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When shown a picture of a scientist and asked 'Does this look like a scientist?' — more than 70% of students said NO... because the person was a woman, a person of color, or young.</a:t>
            </a:r>
            <a:endParaRPr lang="en-US" sz="1400" dirty="0"/>
          </a:p>
        </p:txBody>
      </p:sp>
      <p:sp>
        <p:nvSpPr>
          <p:cNvPr id="8" name="Shape 6"/>
          <p:cNvSpPr/>
          <p:nvPr/>
        </p:nvSpPr>
        <p:spPr>
          <a:xfrm>
            <a:off x="365760" y="3108960"/>
            <a:ext cx="11247120" cy="2377440"/>
          </a:xfrm>
          <a:prstGeom prst="roundRect">
            <a:avLst>
              <a:gd name="adj" fmla="val 4615"/>
            </a:avLst>
          </a:prstGeom>
          <a:solidFill>
            <a:srgbClr val="162233"/>
          </a:solidFill>
          <a:ln w="19050">
            <a:solidFill>
              <a:srgbClr val="FFB703"/>
            </a:solidFill>
            <a:prstDash val="solid"/>
          </a:ln>
        </p:spPr>
      </p:sp>
      <p:sp>
        <p:nvSpPr>
          <p:cNvPr id="9" name="Text 7"/>
          <p:cNvSpPr/>
          <p:nvPr/>
        </p:nvSpPr>
        <p:spPr>
          <a:xfrm>
            <a:off x="548640" y="3172968"/>
            <a:ext cx="1097280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Scientific Argumentation (4th Grade Mode):</a:t>
            </a:r>
            <a:endParaRPr lang="en-US" sz="1300" dirty="0"/>
          </a:p>
        </p:txBody>
      </p:sp>
      <p:sp>
        <p:nvSpPr>
          <p:cNvPr id="10" name="Text 8"/>
          <p:cNvSpPr/>
          <p:nvPr/>
        </p:nvSpPr>
        <p:spPr>
          <a:xfrm>
            <a:off x="640080" y="3611880"/>
            <a:ext cx="1097280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  Why do you think students answered that way for 70 years?</a:t>
            </a:r>
            <a:endParaRPr lang="en-US" sz="1350" dirty="0"/>
          </a:p>
        </p:txBody>
      </p:sp>
      <p:sp>
        <p:nvSpPr>
          <p:cNvPr id="11" name="Text 9"/>
          <p:cNvSpPr/>
          <p:nvPr/>
        </p:nvSpPr>
        <p:spPr>
          <a:xfrm>
            <a:off x="640080" y="4160520"/>
            <a:ext cx="1097280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  What do you think changed their minds over time?</a:t>
            </a:r>
            <a:endParaRPr lang="en-US" sz="1350" dirty="0"/>
          </a:p>
        </p:txBody>
      </p:sp>
      <p:sp>
        <p:nvSpPr>
          <p:cNvPr id="12" name="Text 10"/>
          <p:cNvSpPr/>
          <p:nvPr/>
        </p:nvSpPr>
        <p:spPr>
          <a:xfrm>
            <a:off x="640080" y="4709160"/>
            <a:ext cx="1097280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  What evidence would convince you that ANYONE can be a scientist?</a:t>
            </a:r>
            <a:endParaRPr lang="en-US" sz="1350" dirty="0"/>
          </a:p>
        </p:txBody>
      </p:sp>
      <p:sp>
        <p:nvSpPr>
          <p:cNvPr id="13" name="Text 11"/>
          <p:cNvSpPr/>
          <p:nvPr/>
        </p:nvSpPr>
        <p:spPr>
          <a:xfrm>
            <a:off x="365760" y="5669280"/>
            <a:ext cx="11247120" cy="411480"/>
          </a:xfrm>
          <a:prstGeom prst="rect">
            <a:avLst/>
          </a:prstGeom>
          <a:noFill/>
          <a:ln/>
        </p:spPr>
        <p:txBody>
          <a:bodyPr wrap="square" rtlCol="0" anchor="ctr"/>
          <a:lstStyle/>
          <a:p>
            <a:pPr indent="0" marL="0">
              <a:buNone/>
            </a:pPr>
            <a:r>
              <a:rPr lang="en-US" sz="1200" dirty="0">
                <a:solidFill>
                  <a:srgbClr val="4CC9F0"/>
                </a:solidFill>
                <a:latin typeface="Calibri" pitchFamily="34" charset="0"/>
                <a:ea typeface="Calibri" pitchFamily="34" charset="-122"/>
                <a:cs typeface="Calibri" pitchFamily="34" charset="-120"/>
              </a:rPr>
              <a:t>📝  Your 'Draw a Scientist' sketch today is part of this same tradition. Your drawing is data!</a:t>
            </a:r>
            <a:endParaRPr lang="en-US" sz="12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New Scientist Tool — Meet CER  (You'll Use This All Year!)</a:t>
            </a:r>
            <a:endParaRPr lang="en-US" sz="1600" dirty="0"/>
          </a:p>
        </p:txBody>
      </p:sp>
      <p:sp>
        <p:nvSpPr>
          <p:cNvPr id="5" name="Text 3"/>
          <p:cNvSpPr/>
          <p:nvPr/>
        </p:nvSpPr>
        <p:spPr>
          <a:xfrm>
            <a:off x="365760" y="749808"/>
            <a:ext cx="11247120" cy="548640"/>
          </a:xfrm>
          <a:prstGeom prst="rect">
            <a:avLst/>
          </a:prstGeom>
          <a:noFill/>
          <a:ln/>
        </p:spPr>
        <p:txBody>
          <a:bodyPr wrap="square" rtlCol="0" anchor="ctr"/>
          <a:lstStyle/>
          <a:p>
            <a:pPr algn="ctr" indent="0" marL="0">
              <a:buNone/>
            </a:pPr>
            <a:r>
              <a:rPr lang="en-US" sz="1400" dirty="0">
                <a:solidFill>
                  <a:srgbClr val="B0C4D8"/>
                </a:solidFill>
                <a:latin typeface="Calibri" pitchFamily="34" charset="0"/>
                <a:ea typeface="Calibri" pitchFamily="34" charset="-122"/>
                <a:cs typeface="Calibri" pitchFamily="34" charset="-120"/>
              </a:rPr>
              <a:t>Real scientists don't just say what they think — they back it up with evidence and explain why it matters.</a:t>
            </a:r>
            <a:endParaRPr lang="en-US" sz="1400" dirty="0"/>
          </a:p>
        </p:txBody>
      </p:sp>
      <p:sp>
        <p:nvSpPr>
          <p:cNvPr id="6" name="Shape 4"/>
          <p:cNvSpPr/>
          <p:nvPr/>
        </p:nvSpPr>
        <p:spPr>
          <a:xfrm>
            <a:off x="365760" y="1389888"/>
            <a:ext cx="3566160" cy="4206240"/>
          </a:xfrm>
          <a:prstGeom prst="roundRect">
            <a:avLst>
              <a:gd name="adj" fmla="val 2564"/>
            </a:avLst>
          </a:prstGeom>
          <a:solidFill>
            <a:srgbClr val="0A3D8F"/>
          </a:solidFill>
          <a:ln w="19050">
            <a:solidFill>
              <a:srgbClr val="1A5FBD"/>
            </a:solidFill>
            <a:prstDash val="solid"/>
          </a:ln>
        </p:spPr>
      </p:sp>
      <p:sp>
        <p:nvSpPr>
          <p:cNvPr id="7" name="Shape 5"/>
          <p:cNvSpPr/>
          <p:nvPr/>
        </p:nvSpPr>
        <p:spPr>
          <a:xfrm>
            <a:off x="365760" y="1389888"/>
            <a:ext cx="3566160" cy="347472"/>
          </a:xfrm>
          <a:prstGeom prst="rect">
            <a:avLst/>
          </a:prstGeom>
          <a:solidFill>
            <a:srgbClr val="1A5FBD"/>
          </a:solidFill>
          <a:ln w="12700">
            <a:solidFill>
              <a:srgbClr val="1A5FBD"/>
            </a:solidFill>
            <a:prstDash val="solid"/>
          </a:ln>
        </p:spPr>
      </p:sp>
      <p:sp>
        <p:nvSpPr>
          <p:cNvPr id="8" name="Text 6"/>
          <p:cNvSpPr/>
          <p:nvPr/>
        </p:nvSpPr>
        <p:spPr>
          <a:xfrm>
            <a:off x="457200" y="140817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9" name="Text 7"/>
          <p:cNvSpPr/>
          <p:nvPr/>
        </p:nvSpPr>
        <p:spPr>
          <a:xfrm>
            <a:off x="502920" y="1792224"/>
            <a:ext cx="3291840" cy="3712464"/>
          </a:xfrm>
          <a:prstGeom prst="rect">
            <a:avLst/>
          </a:prstGeom>
          <a:noFill/>
          <a:ln/>
        </p:spPr>
        <p:txBody>
          <a:bodyPr wrap="square"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Your answer in one clear sentence.</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What do you think is true?</a:t>
            </a:r>
            <a:endParaRPr lang="en-US" sz="1300" dirty="0"/>
          </a:p>
          <a:p>
            <a:pPr algn="l" indent="0" marL="0">
              <a:buNone/>
            </a:pP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  TODAY: We start here.</a:t>
            </a:r>
            <a:endParaRPr lang="en-US" sz="1300" dirty="0"/>
          </a:p>
        </p:txBody>
      </p:sp>
      <p:sp>
        <p:nvSpPr>
          <p:cNvPr id="10" name="Shape 8"/>
          <p:cNvSpPr/>
          <p:nvPr/>
        </p:nvSpPr>
        <p:spPr>
          <a:xfrm>
            <a:off x="4160520" y="1389888"/>
            <a:ext cx="3566160" cy="4206240"/>
          </a:xfrm>
          <a:prstGeom prst="roundRect">
            <a:avLst>
              <a:gd name="adj" fmla="val 2564"/>
            </a:avLst>
          </a:prstGeom>
          <a:solidFill>
            <a:srgbClr val="1A1A2A"/>
          </a:solidFill>
          <a:ln w="19050">
            <a:solidFill>
              <a:srgbClr val="3A3A5A"/>
            </a:solidFill>
            <a:prstDash val="solid"/>
          </a:ln>
        </p:spPr>
      </p:sp>
      <p:sp>
        <p:nvSpPr>
          <p:cNvPr id="11" name="Text 9"/>
          <p:cNvSpPr/>
          <p:nvPr/>
        </p:nvSpPr>
        <p:spPr>
          <a:xfrm>
            <a:off x="4251960" y="1572768"/>
            <a:ext cx="3383280" cy="3840480"/>
          </a:xfrm>
          <a:prstGeom prst="rect">
            <a:avLst/>
          </a:prstGeom>
          <a:noFill/>
          <a:ln/>
        </p:spPr>
        <p:txBody>
          <a:bodyPr wrap="square" rtlCol="0" anchor="ctr"/>
          <a:lstStyle/>
          <a:p>
            <a:pPr algn="ctr" indent="0" marL="0">
              <a:buNone/>
            </a:pPr>
            <a:r>
              <a:rPr lang="en-US" sz="1600" b="1" dirty="0">
                <a:solidFill>
                  <a:srgbClr val="3A3A5A"/>
                </a:solidFill>
                <a:latin typeface="Calibri" pitchFamily="34" charset="0"/>
                <a:ea typeface="Calibri" pitchFamily="34" charset="-122"/>
                <a:cs typeface="Calibri" pitchFamily="34" charset="-120"/>
              </a:rPr>
              <a:t>🔒  EVIDENCE</a:t>
            </a:r>
            <a:endParaRPr lang="en-US" sz="1600" dirty="0"/>
          </a:p>
          <a:p>
            <a:pPr algn="ctr" indent="0" marL="0">
              <a:buNone/>
            </a:pPr>
            <a:endParaRPr lang="en-US" sz="1600" dirty="0"/>
          </a:p>
          <a:p>
            <a:pPr algn="ctr" indent="0" marL="0">
              <a:buNone/>
            </a:pPr>
            <a:r>
              <a:rPr lang="en-US" sz="1600" b="1" dirty="0">
                <a:solidFill>
                  <a:srgbClr val="3A3A5A"/>
                </a:solidFill>
                <a:latin typeface="Calibri" pitchFamily="34" charset="0"/>
                <a:ea typeface="Calibri" pitchFamily="34" charset="-122"/>
                <a:cs typeface="Calibri" pitchFamily="34" charset="-120"/>
              </a:rPr>
              <a:t>Coming next!</a:t>
            </a:r>
            <a:endParaRPr lang="en-US" sz="1600" dirty="0"/>
          </a:p>
        </p:txBody>
      </p:sp>
      <p:sp>
        <p:nvSpPr>
          <p:cNvPr id="12" name="Shape 10"/>
          <p:cNvSpPr/>
          <p:nvPr/>
        </p:nvSpPr>
        <p:spPr>
          <a:xfrm>
            <a:off x="7955280" y="1389888"/>
            <a:ext cx="3566160" cy="4206240"/>
          </a:xfrm>
          <a:prstGeom prst="roundRect">
            <a:avLst>
              <a:gd name="adj" fmla="val 2564"/>
            </a:avLst>
          </a:prstGeom>
          <a:solidFill>
            <a:srgbClr val="1A1A2A"/>
          </a:solidFill>
          <a:ln w="19050">
            <a:solidFill>
              <a:srgbClr val="3A3A5A"/>
            </a:solidFill>
            <a:prstDash val="solid"/>
          </a:ln>
        </p:spPr>
      </p:sp>
      <p:sp>
        <p:nvSpPr>
          <p:cNvPr id="13" name="Text 11"/>
          <p:cNvSpPr/>
          <p:nvPr/>
        </p:nvSpPr>
        <p:spPr>
          <a:xfrm>
            <a:off x="8046720" y="1572768"/>
            <a:ext cx="3383280" cy="3840480"/>
          </a:xfrm>
          <a:prstGeom prst="rect">
            <a:avLst/>
          </a:prstGeom>
          <a:noFill/>
          <a:ln/>
        </p:spPr>
        <p:txBody>
          <a:bodyPr wrap="square" rtlCol="0" anchor="ctr"/>
          <a:lstStyle/>
          <a:p>
            <a:pPr algn="ctr" indent="0" marL="0">
              <a:buNone/>
            </a:pPr>
            <a:r>
              <a:rPr lang="en-US" sz="1600" b="1" dirty="0">
                <a:solidFill>
                  <a:srgbClr val="3A3A5A"/>
                </a:solidFill>
                <a:latin typeface="Calibri" pitchFamily="34" charset="0"/>
                <a:ea typeface="Calibri" pitchFamily="34" charset="-122"/>
                <a:cs typeface="Calibri" pitchFamily="34" charset="-120"/>
              </a:rPr>
              <a:t>🔒  REASONING</a:t>
            </a:r>
            <a:endParaRPr lang="en-US" sz="1600" dirty="0"/>
          </a:p>
          <a:p>
            <a:pPr algn="ctr" indent="0" marL="0">
              <a:buNone/>
            </a:pPr>
            <a:endParaRPr lang="en-US" sz="1600" dirty="0"/>
          </a:p>
          <a:p>
            <a:pPr algn="ctr" indent="0" marL="0">
              <a:buNone/>
            </a:pPr>
            <a:r>
              <a:rPr lang="en-US" sz="1600" b="1" dirty="0">
                <a:solidFill>
                  <a:srgbClr val="3A3A5A"/>
                </a:solidFill>
                <a:latin typeface="Calibri" pitchFamily="34" charset="0"/>
                <a:ea typeface="Calibri" pitchFamily="34" charset="-122"/>
                <a:cs typeface="Calibri" pitchFamily="34" charset="-120"/>
              </a:rPr>
              <a:t>Coming next!</a:t>
            </a:r>
            <a:endParaRPr lang="en-US" sz="1600" dirty="0"/>
          </a:p>
        </p:txBody>
      </p:sp>
      <p:sp>
        <p:nvSpPr>
          <p:cNvPr id="14" name="Text 12"/>
          <p:cNvSpPr/>
          <p:nvPr/>
        </p:nvSpPr>
        <p:spPr>
          <a:xfrm>
            <a:off x="365760" y="5715000"/>
            <a:ext cx="11247120" cy="594360"/>
          </a:xfrm>
          <a:prstGeom prst="rect">
            <a:avLst/>
          </a:prstGeom>
          <a:noFill/>
          <a:ln/>
        </p:spPr>
        <p:txBody>
          <a:bodyPr wrap="square"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  "What makes someone a scientist?"</a:t>
            </a:r>
            <a:endParaRPr lang="en-US" sz="1350" dirty="0"/>
          </a:p>
          <a:p>
            <a:pPr indent="0" marL="0">
              <a:buNone/>
            </a:pPr>
            <a:r>
              <a:rPr lang="en-US" sz="1350" i="1" dirty="0">
                <a:solidFill>
                  <a:srgbClr val="FFFFFF"/>
                </a:solidFill>
                <a:latin typeface="Calibri" pitchFamily="34" charset="0"/>
                <a:ea typeface="Calibri" pitchFamily="34" charset="-122"/>
                <a:cs typeface="Calibri" pitchFamily="34" charset="-120"/>
              </a:rPr>
              <a:t>📝  Start with: "A scientist is someone who…"</a:t>
            </a:r>
            <a:endParaRPr lang="en-US" sz="135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28B5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28B50"/>
                </a:solidFill>
                <a:latin typeface="Calibri" pitchFamily="34" charset="0"/>
                <a:ea typeface="Calibri" pitchFamily="34" charset="-122"/>
                <a:cs typeface="Calibri" pitchFamily="34" charset="-120"/>
              </a:rPr>
              <a:t>🔬  CER — Stage 2: Add the Evidence</a:t>
            </a:r>
            <a:endParaRPr lang="en-US" sz="1600" dirty="0"/>
          </a:p>
        </p:txBody>
      </p:sp>
      <p:sp>
        <p:nvSpPr>
          <p:cNvPr id="5" name="Shape 3"/>
          <p:cNvSpPr/>
          <p:nvPr/>
        </p:nvSpPr>
        <p:spPr>
          <a:xfrm>
            <a:off x="365760" y="749808"/>
            <a:ext cx="3566160" cy="5394960"/>
          </a:xfrm>
          <a:prstGeom prst="roundRect">
            <a:avLst>
              <a:gd name="adj" fmla="val 2564"/>
            </a:avLst>
          </a:prstGeom>
          <a:solidFill>
            <a:srgbClr val="0A3D8F"/>
          </a:solidFill>
          <a:ln w="19050">
            <a:solidFill>
              <a:srgbClr val="1A5FBD"/>
            </a:solidFill>
            <a:prstDash val="solid"/>
          </a:ln>
        </p:spPr>
      </p:sp>
      <p:sp>
        <p:nvSpPr>
          <p:cNvPr id="6" name="Shape 4"/>
          <p:cNvSpPr/>
          <p:nvPr/>
        </p:nvSpPr>
        <p:spPr>
          <a:xfrm>
            <a:off x="365760" y="749808"/>
            <a:ext cx="3566160" cy="347472"/>
          </a:xfrm>
          <a:prstGeom prst="rect">
            <a:avLst/>
          </a:prstGeom>
          <a:solidFill>
            <a:srgbClr val="1A5FBD"/>
          </a:solidFill>
          <a:ln w="12700">
            <a:solidFill>
              <a:srgbClr val="1A5FBD"/>
            </a:solidFill>
            <a:prstDash val="solid"/>
          </a:ln>
        </p:spPr>
      </p:sp>
      <p:sp>
        <p:nvSpPr>
          <p:cNvPr id="7" name="Text 5"/>
          <p:cNvSpPr/>
          <p:nvPr/>
        </p:nvSpPr>
        <p:spPr>
          <a:xfrm>
            <a:off x="45720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8" name="Text 6"/>
          <p:cNvSpPr/>
          <p:nvPr/>
        </p:nvSpPr>
        <p:spPr>
          <a:xfrm>
            <a:off x="502920" y="1152144"/>
            <a:ext cx="3291840" cy="490118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A scientist is someone who makes careful observations, asks questions, and investigates the natural world.</a:t>
            </a:r>
            <a:endParaRPr lang="en-US" sz="1150" dirty="0"/>
          </a:p>
        </p:txBody>
      </p:sp>
      <p:sp>
        <p:nvSpPr>
          <p:cNvPr id="9" name="Shape 7"/>
          <p:cNvSpPr/>
          <p:nvPr/>
        </p:nvSpPr>
        <p:spPr>
          <a:xfrm>
            <a:off x="4160520" y="749808"/>
            <a:ext cx="3566160" cy="5394960"/>
          </a:xfrm>
          <a:prstGeom prst="roundRect">
            <a:avLst>
              <a:gd name="adj" fmla="val 2564"/>
            </a:avLst>
          </a:prstGeom>
          <a:solidFill>
            <a:srgbClr val="145C35"/>
          </a:solidFill>
          <a:ln w="19050">
            <a:solidFill>
              <a:srgbClr val="228B50"/>
            </a:solidFill>
            <a:prstDash val="solid"/>
          </a:ln>
        </p:spPr>
      </p:sp>
      <p:sp>
        <p:nvSpPr>
          <p:cNvPr id="10" name="Shape 8"/>
          <p:cNvSpPr/>
          <p:nvPr/>
        </p:nvSpPr>
        <p:spPr>
          <a:xfrm>
            <a:off x="4160520" y="749808"/>
            <a:ext cx="3566160" cy="347472"/>
          </a:xfrm>
          <a:prstGeom prst="rect">
            <a:avLst/>
          </a:prstGeom>
          <a:solidFill>
            <a:srgbClr val="228B50"/>
          </a:solidFill>
          <a:ln w="12700">
            <a:solidFill>
              <a:srgbClr val="228B50"/>
            </a:solidFill>
            <a:prstDash val="solid"/>
          </a:ln>
        </p:spPr>
      </p:sp>
      <p:sp>
        <p:nvSpPr>
          <p:cNvPr id="11" name="Text 9"/>
          <p:cNvSpPr/>
          <p:nvPr/>
        </p:nvSpPr>
        <p:spPr>
          <a:xfrm>
            <a:off x="425196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2" name="Text 10"/>
          <p:cNvSpPr/>
          <p:nvPr/>
        </p:nvSpPr>
        <p:spPr>
          <a:xfrm>
            <a:off x="4297680" y="1152144"/>
            <a:ext cx="3291840" cy="490118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A specific thing you SAW, LEARNED, or OBSERVED that proves your claim.</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  TODAY: Add this!</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  Starter:</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"In my drawing, I showed… because…"</a:t>
            </a:r>
            <a:endParaRPr lang="en-US" sz="1150" dirty="0"/>
          </a:p>
        </p:txBody>
      </p:sp>
      <p:sp>
        <p:nvSpPr>
          <p:cNvPr id="13" name="Shape 11"/>
          <p:cNvSpPr/>
          <p:nvPr/>
        </p:nvSpPr>
        <p:spPr>
          <a:xfrm>
            <a:off x="7955280" y="749808"/>
            <a:ext cx="3566160" cy="5394960"/>
          </a:xfrm>
          <a:prstGeom prst="roundRect">
            <a:avLst>
              <a:gd name="adj" fmla="val 2564"/>
            </a:avLst>
          </a:prstGeom>
          <a:solidFill>
            <a:srgbClr val="1A1A2A"/>
          </a:solidFill>
          <a:ln w="19050">
            <a:solidFill>
              <a:srgbClr val="3A3A5A"/>
            </a:solidFill>
            <a:prstDash val="solid"/>
          </a:ln>
        </p:spPr>
      </p:sp>
      <p:sp>
        <p:nvSpPr>
          <p:cNvPr id="14" name="Text 12"/>
          <p:cNvSpPr/>
          <p:nvPr/>
        </p:nvSpPr>
        <p:spPr>
          <a:xfrm>
            <a:off x="8046720" y="1005840"/>
            <a:ext cx="3383280" cy="4937760"/>
          </a:xfrm>
          <a:prstGeom prst="rect">
            <a:avLst/>
          </a:prstGeom>
          <a:noFill/>
          <a:ln/>
        </p:spPr>
        <p:txBody>
          <a:bodyPr wrap="square" rtlCol="0" anchor="ctr"/>
          <a:lstStyle/>
          <a:p>
            <a:pPr algn="ctr" indent="0" marL="0">
              <a:buNone/>
            </a:pPr>
            <a:r>
              <a:rPr lang="en-US" sz="1600" b="1" dirty="0">
                <a:solidFill>
                  <a:srgbClr val="3A3A5A"/>
                </a:solidFill>
                <a:latin typeface="Calibri" pitchFamily="34" charset="0"/>
                <a:ea typeface="Calibri" pitchFamily="34" charset="-122"/>
                <a:cs typeface="Calibri" pitchFamily="34" charset="-120"/>
              </a:rPr>
              <a:t>🔒  REASONING</a:t>
            </a:r>
            <a:endParaRPr lang="en-US" sz="1600" dirty="0"/>
          </a:p>
          <a:p>
            <a:pPr algn="ctr" indent="0" marL="0">
              <a:buNone/>
            </a:pPr>
            <a:endParaRPr lang="en-US" sz="1600" dirty="0"/>
          </a:p>
          <a:p>
            <a:pPr algn="ctr" indent="0" marL="0">
              <a:buNone/>
            </a:pPr>
            <a:r>
              <a:rPr lang="en-US" sz="1600" b="1" dirty="0">
                <a:solidFill>
                  <a:srgbClr val="3A3A5A"/>
                </a:solidFill>
                <a:latin typeface="Calibri" pitchFamily="34" charset="0"/>
                <a:ea typeface="Calibri" pitchFamily="34" charset="-122"/>
                <a:cs typeface="Calibri" pitchFamily="34" charset="-120"/>
              </a:rPr>
              <a:t>Coming next!</a:t>
            </a:r>
            <a:endParaRPr lang="en-US" sz="1600" dirty="0"/>
          </a:p>
        </p:txBody>
      </p:sp>
      <p:sp>
        <p:nvSpPr>
          <p:cNvPr id="15" name="Text 13"/>
          <p:cNvSpPr/>
          <p:nvPr/>
        </p:nvSpPr>
        <p:spPr>
          <a:xfrm>
            <a:off x="365760" y="6400800"/>
            <a:ext cx="11247120" cy="41148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  Connect to your drawing: "What specific detail in YOUR sketch shows that a scientist can look like anyone?"</a:t>
            </a:r>
            <a:endParaRPr lang="en-US" sz="12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CER — Full Model: Claim + Evidence + Reasoning</a:t>
            </a:r>
            <a:endParaRPr lang="en-US" sz="1600" dirty="0"/>
          </a:p>
        </p:txBody>
      </p:sp>
      <p:sp>
        <p:nvSpPr>
          <p:cNvPr id="5" name="Shape 3"/>
          <p:cNvSpPr/>
          <p:nvPr/>
        </p:nvSpPr>
        <p:spPr>
          <a:xfrm>
            <a:off x="274320" y="749808"/>
            <a:ext cx="3566160" cy="3931920"/>
          </a:xfrm>
          <a:prstGeom prst="roundRect">
            <a:avLst>
              <a:gd name="adj" fmla="val 2564"/>
            </a:avLst>
          </a:prstGeom>
          <a:solidFill>
            <a:srgbClr val="0A3D8F"/>
          </a:solidFill>
          <a:ln w="19050">
            <a:solidFill>
              <a:srgbClr val="1A5FBD"/>
            </a:solidFill>
            <a:prstDash val="solid"/>
          </a:ln>
        </p:spPr>
      </p:sp>
      <p:sp>
        <p:nvSpPr>
          <p:cNvPr id="6" name="Shape 4"/>
          <p:cNvSpPr/>
          <p:nvPr/>
        </p:nvSpPr>
        <p:spPr>
          <a:xfrm>
            <a:off x="274320" y="749808"/>
            <a:ext cx="3566160" cy="347472"/>
          </a:xfrm>
          <a:prstGeom prst="rect">
            <a:avLst/>
          </a:prstGeom>
          <a:solidFill>
            <a:srgbClr val="1A5FBD"/>
          </a:solidFill>
          <a:ln w="12700">
            <a:solidFill>
              <a:srgbClr val="1A5FBD"/>
            </a:solidFill>
            <a:prstDash val="solid"/>
          </a:ln>
        </p:spPr>
      </p:sp>
      <p:sp>
        <p:nvSpPr>
          <p:cNvPr id="7" name="Text 5"/>
          <p:cNvSpPr/>
          <p:nvPr/>
        </p:nvSpPr>
        <p:spPr>
          <a:xfrm>
            <a:off x="36576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8" name="Text 6"/>
          <p:cNvSpPr/>
          <p:nvPr/>
        </p:nvSpPr>
        <p:spPr>
          <a:xfrm>
            <a:off x="411480" y="1152144"/>
            <a:ext cx="3291840" cy="343814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A scientist is someone who makes careful observations, asks questions, and investigates.</a:t>
            </a:r>
            <a:endParaRPr lang="en-US" sz="1100" dirty="0"/>
          </a:p>
        </p:txBody>
      </p:sp>
      <p:sp>
        <p:nvSpPr>
          <p:cNvPr id="9" name="Shape 7"/>
          <p:cNvSpPr/>
          <p:nvPr/>
        </p:nvSpPr>
        <p:spPr>
          <a:xfrm>
            <a:off x="4023360" y="749808"/>
            <a:ext cx="3566160" cy="3931920"/>
          </a:xfrm>
          <a:prstGeom prst="roundRect">
            <a:avLst>
              <a:gd name="adj" fmla="val 2564"/>
            </a:avLst>
          </a:prstGeom>
          <a:solidFill>
            <a:srgbClr val="145C35"/>
          </a:solidFill>
          <a:ln w="19050">
            <a:solidFill>
              <a:srgbClr val="228B50"/>
            </a:solidFill>
            <a:prstDash val="solid"/>
          </a:ln>
        </p:spPr>
      </p:sp>
      <p:sp>
        <p:nvSpPr>
          <p:cNvPr id="10" name="Shape 8"/>
          <p:cNvSpPr/>
          <p:nvPr/>
        </p:nvSpPr>
        <p:spPr>
          <a:xfrm>
            <a:off x="4023360" y="749808"/>
            <a:ext cx="3566160" cy="347472"/>
          </a:xfrm>
          <a:prstGeom prst="rect">
            <a:avLst/>
          </a:prstGeom>
          <a:solidFill>
            <a:srgbClr val="228B50"/>
          </a:solidFill>
          <a:ln w="12700">
            <a:solidFill>
              <a:srgbClr val="228B50"/>
            </a:solidFill>
            <a:prstDash val="solid"/>
          </a:ln>
        </p:spPr>
      </p:sp>
      <p:sp>
        <p:nvSpPr>
          <p:cNvPr id="11" name="Text 9"/>
          <p:cNvSpPr/>
          <p:nvPr/>
        </p:nvSpPr>
        <p:spPr>
          <a:xfrm>
            <a:off x="411480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2" name="Text 10"/>
          <p:cNvSpPr/>
          <p:nvPr/>
        </p:nvSpPr>
        <p:spPr>
          <a:xfrm>
            <a:off x="4160520" y="1152144"/>
            <a:ext cx="3291840" cy="343814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In my drawing, I showed a person using a magnifying glass outdoors and recording in a notebook, because scientists can work anywhere — not just in labs.</a:t>
            </a:r>
            <a:endParaRPr lang="en-US" sz="1100" dirty="0"/>
          </a:p>
        </p:txBody>
      </p:sp>
      <p:sp>
        <p:nvSpPr>
          <p:cNvPr id="13" name="Shape 11"/>
          <p:cNvSpPr/>
          <p:nvPr/>
        </p:nvSpPr>
        <p:spPr>
          <a:xfrm>
            <a:off x="7772400" y="749808"/>
            <a:ext cx="3566160" cy="3931920"/>
          </a:xfrm>
          <a:prstGeom prst="roundRect">
            <a:avLst>
              <a:gd name="adj" fmla="val 2564"/>
            </a:avLst>
          </a:prstGeom>
          <a:solidFill>
            <a:srgbClr val="7A3200"/>
          </a:solidFill>
          <a:ln w="19050">
            <a:solidFill>
              <a:srgbClr val="B04A00"/>
            </a:solidFill>
            <a:prstDash val="solid"/>
          </a:ln>
        </p:spPr>
      </p:sp>
      <p:sp>
        <p:nvSpPr>
          <p:cNvPr id="14" name="Shape 12"/>
          <p:cNvSpPr/>
          <p:nvPr/>
        </p:nvSpPr>
        <p:spPr>
          <a:xfrm>
            <a:off x="7772400" y="749808"/>
            <a:ext cx="3566160" cy="347472"/>
          </a:xfrm>
          <a:prstGeom prst="rect">
            <a:avLst/>
          </a:prstGeom>
          <a:solidFill>
            <a:srgbClr val="B04A00"/>
          </a:solidFill>
          <a:ln w="12700">
            <a:solidFill>
              <a:srgbClr val="B04A00"/>
            </a:solidFill>
            <a:prstDash val="solid"/>
          </a:ln>
        </p:spPr>
      </p:sp>
      <p:sp>
        <p:nvSpPr>
          <p:cNvPr id="15" name="Text 13"/>
          <p:cNvSpPr/>
          <p:nvPr/>
        </p:nvSpPr>
        <p:spPr>
          <a:xfrm>
            <a:off x="7863840" y="768096"/>
            <a:ext cx="3383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REASONING</a:t>
            </a:r>
            <a:endParaRPr lang="en-US" sz="1200" dirty="0"/>
          </a:p>
        </p:txBody>
      </p:sp>
      <p:sp>
        <p:nvSpPr>
          <p:cNvPr id="16" name="Text 14"/>
          <p:cNvSpPr/>
          <p:nvPr/>
        </p:nvSpPr>
        <p:spPr>
          <a:xfrm>
            <a:off x="7909560" y="1152144"/>
            <a:ext cx="3291840" cy="343814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This makes sense because scientists need to observe the natural world wherever they find it. The most important thing is HOW they think, not where they work.</a:t>
            </a:r>
            <a:endParaRPr lang="en-US" sz="1100" dirty="0"/>
          </a:p>
        </p:txBody>
      </p:sp>
      <p:sp>
        <p:nvSpPr>
          <p:cNvPr id="17" name="Shape 15"/>
          <p:cNvSpPr/>
          <p:nvPr/>
        </p:nvSpPr>
        <p:spPr>
          <a:xfrm>
            <a:off x="274320" y="4828032"/>
            <a:ext cx="11338560" cy="685800"/>
          </a:xfrm>
          <a:prstGeom prst="roundRect">
            <a:avLst>
              <a:gd name="adj" fmla="val 10667"/>
            </a:avLst>
          </a:prstGeom>
          <a:solidFill>
            <a:srgbClr val="162233"/>
          </a:solidFill>
          <a:ln w="12700">
            <a:solidFill>
              <a:srgbClr val="FFB703"/>
            </a:solidFill>
            <a:prstDash val="solid"/>
          </a:ln>
        </p:spPr>
      </p:sp>
      <p:sp>
        <p:nvSpPr>
          <p:cNvPr id="18" name="Text 16"/>
          <p:cNvSpPr/>
          <p:nvPr/>
        </p:nvSpPr>
        <p:spPr>
          <a:xfrm>
            <a:off x="457200" y="4855464"/>
            <a:ext cx="11155680" cy="621792"/>
          </a:xfrm>
          <a:prstGeom prst="rect">
            <a:avLst/>
          </a:prstGeom>
          <a:noFill/>
          <a:ln/>
        </p:spPr>
        <p:txBody>
          <a:bodyPr wrap="square"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  Reasoning = How does your evidence CONNECT to your claim? Why does it PROVE it? This is the hardest part — and the most important.</a:t>
            </a:r>
            <a:endParaRPr lang="en-US" sz="1250" dirty="0"/>
          </a:p>
        </p:txBody>
      </p:sp>
      <p:sp>
        <p:nvSpPr>
          <p:cNvPr id="19" name="Shape 17"/>
          <p:cNvSpPr/>
          <p:nvPr/>
        </p:nvSpPr>
        <p:spPr>
          <a:xfrm>
            <a:off x="274320" y="5623560"/>
            <a:ext cx="11338560" cy="960120"/>
          </a:xfrm>
          <a:prstGeom prst="roundRect">
            <a:avLst>
              <a:gd name="adj" fmla="val 7619"/>
            </a:avLst>
          </a:prstGeom>
          <a:solidFill>
            <a:srgbClr val="1A1A0A"/>
          </a:solidFill>
          <a:ln w="12700">
            <a:solidFill>
              <a:srgbClr val="FFB703"/>
            </a:solidFill>
            <a:prstDash val="solid"/>
          </a:ln>
        </p:spPr>
      </p:sp>
      <p:sp>
        <p:nvSpPr>
          <p:cNvPr id="20" name="Text 18"/>
          <p:cNvSpPr/>
          <p:nvPr/>
        </p:nvSpPr>
        <p:spPr>
          <a:xfrm>
            <a:off x="457200" y="5669280"/>
            <a:ext cx="11155680" cy="43891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Your Turn — Share your CER with a partner! (Use the sentence starters from your assignment)</a:t>
            </a:r>
            <a:endParaRPr lang="en-US" sz="1300" dirty="0"/>
          </a:p>
        </p:txBody>
      </p:sp>
      <p:sp>
        <p:nvSpPr>
          <p:cNvPr id="21" name="Text 19"/>
          <p:cNvSpPr/>
          <p:nvPr/>
        </p:nvSpPr>
        <p:spPr>
          <a:xfrm>
            <a:off x="457200" y="6099048"/>
            <a:ext cx="11155680" cy="411480"/>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Reasoning starter: "This makes sense because scientists need to…"</a:t>
            </a:r>
            <a:endParaRPr lang="en-US" sz="1200" dirty="0"/>
          </a:p>
        </p:txBody>
      </p:sp>
      <p:sp>
        <p:nvSpPr>
          <p:cNvPr id="22" name="Shape 20"/>
          <p:cNvSpPr/>
          <p:nvPr/>
        </p:nvSpPr>
        <p:spPr>
          <a:xfrm>
            <a:off x="0" y="6629400"/>
            <a:ext cx="12192000" cy="228600"/>
          </a:xfrm>
          <a:prstGeom prst="rect">
            <a:avLst/>
          </a:prstGeom>
          <a:solidFill>
            <a:srgbClr val="162233"/>
          </a:solidFill>
          <a:ln/>
        </p:spPr>
      </p:sp>
      <p:sp>
        <p:nvSpPr>
          <p:cNvPr id="23" name="Text 21"/>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Quick Self-Check — Let's Discuss  (Not Graded!)</a:t>
            </a:r>
            <a:endParaRPr lang="en-US" sz="1600" dirty="0"/>
          </a:p>
        </p:txBody>
      </p:sp>
      <p:sp>
        <p:nvSpPr>
          <p:cNvPr id="5" name="Shape 3"/>
          <p:cNvSpPr/>
          <p:nvPr/>
        </p:nvSpPr>
        <p:spPr>
          <a:xfrm>
            <a:off x="365760" y="777240"/>
            <a:ext cx="11247120" cy="2194560"/>
          </a:xfrm>
          <a:prstGeom prst="roundRect">
            <a:avLst>
              <a:gd name="adj" fmla="val 3333"/>
            </a:avLst>
          </a:prstGeom>
          <a:solidFill>
            <a:srgbClr val="1E2F45"/>
          </a:solidFill>
          <a:ln w="12700">
            <a:solidFill>
              <a:srgbClr val="4CC9F0"/>
            </a:solidFill>
            <a:prstDash val="solid"/>
          </a:ln>
        </p:spPr>
      </p:sp>
      <p:sp>
        <p:nvSpPr>
          <p:cNvPr id="6" name="Text 4"/>
          <p:cNvSpPr/>
          <p:nvPr/>
        </p:nvSpPr>
        <p:spPr>
          <a:xfrm>
            <a:off x="548640" y="822960"/>
            <a:ext cx="2286000" cy="36576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Question 1</a:t>
            </a:r>
            <a:endParaRPr lang="en-US" sz="1100" dirty="0"/>
          </a:p>
        </p:txBody>
      </p:sp>
      <p:sp>
        <p:nvSpPr>
          <p:cNvPr id="7" name="Text 5"/>
          <p:cNvSpPr/>
          <p:nvPr/>
        </p:nvSpPr>
        <p:spPr>
          <a:xfrm>
            <a:off x="548640" y="1188720"/>
            <a:ext cx="109728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does it mean to be ACCURATE in a scientific sketch?"</a:t>
            </a:r>
            <a:endParaRPr lang="en-US" sz="1600" dirty="0"/>
          </a:p>
        </p:txBody>
      </p:sp>
      <p:sp>
        <p:nvSpPr>
          <p:cNvPr id="8" name="Text 6"/>
          <p:cNvSpPr/>
          <p:nvPr/>
        </p:nvSpPr>
        <p:spPr>
          <a:xfrm>
            <a:off x="640080" y="1764792"/>
            <a:ext cx="10972800" cy="1078992"/>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A.  Drawing as quickly as possible</a:t>
            </a:r>
            <a:endParaRPr lang="en-US" sz="1300" dirty="0"/>
          </a:p>
          <a:p>
            <a:pPr indent="0" marL="0">
              <a:buNone/>
            </a:pPr>
            <a:r>
              <a:rPr lang="en-US" sz="1300" dirty="0">
                <a:solidFill>
                  <a:srgbClr val="B0C4D8"/>
                </a:solidFill>
                <a:latin typeface="Calibri" pitchFamily="34" charset="0"/>
                <a:ea typeface="Calibri" pitchFamily="34" charset="-122"/>
                <a:cs typeface="Calibri" pitchFamily="34" charset="-120"/>
              </a:rPr>
              <a:t> B.  Only drawing colorful things</a:t>
            </a:r>
            <a:endParaRPr lang="en-US" sz="1300" dirty="0"/>
          </a:p>
          <a:p>
            <a:pPr indent="0" marL="0">
              <a:buNone/>
            </a:pPr>
            <a:r>
              <a:rPr lang="en-US" sz="1300" dirty="0">
                <a:solidFill>
                  <a:srgbClr val="B0C4D8"/>
                </a:solidFill>
                <a:latin typeface="Calibri" pitchFamily="34" charset="0"/>
                <a:ea typeface="Calibri" pitchFamily="34" charset="-122"/>
                <a:cs typeface="Calibri" pitchFamily="34" charset="-120"/>
              </a:rPr>
              <a:t> C.  Drawing exactly what you see with careful attention to real details  ← 🎯</a:t>
            </a:r>
            <a:endParaRPr lang="en-US" sz="1300" dirty="0"/>
          </a:p>
        </p:txBody>
      </p:sp>
      <p:sp>
        <p:nvSpPr>
          <p:cNvPr id="9" name="Shape 7"/>
          <p:cNvSpPr/>
          <p:nvPr/>
        </p:nvSpPr>
        <p:spPr>
          <a:xfrm>
            <a:off x="365760" y="3127248"/>
            <a:ext cx="11247120" cy="2194560"/>
          </a:xfrm>
          <a:prstGeom prst="roundRect">
            <a:avLst>
              <a:gd name="adj" fmla="val 3333"/>
            </a:avLst>
          </a:prstGeom>
          <a:solidFill>
            <a:srgbClr val="1E2F45"/>
          </a:solidFill>
          <a:ln w="12700">
            <a:solidFill>
              <a:srgbClr val="FFB703"/>
            </a:solidFill>
            <a:prstDash val="solid"/>
          </a:ln>
        </p:spPr>
      </p:sp>
      <p:sp>
        <p:nvSpPr>
          <p:cNvPr id="10" name="Text 8"/>
          <p:cNvSpPr/>
          <p:nvPr/>
        </p:nvSpPr>
        <p:spPr>
          <a:xfrm>
            <a:off x="548640" y="3182112"/>
            <a:ext cx="2286000" cy="365760"/>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Question 2</a:t>
            </a:r>
            <a:endParaRPr lang="en-US" sz="1100" dirty="0"/>
          </a:p>
        </p:txBody>
      </p:sp>
      <p:sp>
        <p:nvSpPr>
          <p:cNvPr id="11" name="Text 9"/>
          <p:cNvSpPr/>
          <p:nvPr/>
        </p:nvSpPr>
        <p:spPr>
          <a:xfrm>
            <a:off x="548640" y="3566160"/>
            <a:ext cx="109728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"Which of the 5 rules says your drawing should use the whole page?"</a:t>
            </a:r>
            <a:endParaRPr lang="en-US" sz="1600" dirty="0"/>
          </a:p>
        </p:txBody>
      </p:sp>
      <p:sp>
        <p:nvSpPr>
          <p:cNvPr id="12" name="Text 10"/>
          <p:cNvSpPr/>
          <p:nvPr/>
        </p:nvSpPr>
        <p:spPr>
          <a:xfrm>
            <a:off x="640080" y="4142232"/>
            <a:ext cx="10972800" cy="1078992"/>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A.  Rule A — Accurate</a:t>
            </a:r>
            <a:endParaRPr lang="en-US" sz="1300" dirty="0"/>
          </a:p>
          <a:p>
            <a:pPr indent="0" marL="0">
              <a:buNone/>
            </a:pPr>
            <a:r>
              <a:rPr lang="en-US" sz="1300" dirty="0">
                <a:solidFill>
                  <a:srgbClr val="B0C4D8"/>
                </a:solidFill>
                <a:latin typeface="Calibri" pitchFamily="34" charset="0"/>
                <a:ea typeface="Calibri" pitchFamily="34" charset="-122"/>
                <a:cs typeface="Calibri" pitchFamily="34" charset="-120"/>
              </a:rPr>
              <a:t> B.  Rule B — Big  ← 📏</a:t>
            </a:r>
            <a:endParaRPr lang="en-US" sz="1300" dirty="0"/>
          </a:p>
          <a:p>
            <a:pPr indent="0" marL="0">
              <a:buNone/>
            </a:pPr>
            <a:r>
              <a:rPr lang="en-US" sz="1300" dirty="0">
                <a:solidFill>
                  <a:srgbClr val="B0C4D8"/>
                </a:solidFill>
                <a:latin typeface="Calibri" pitchFamily="34" charset="0"/>
                <a:ea typeface="Calibri" pitchFamily="34" charset="-122"/>
                <a:cs typeface="Calibri" pitchFamily="34" charset="-120"/>
              </a:rPr>
              <a:t> C.  Rule C — Color</a:t>
            </a:r>
            <a:endParaRPr lang="en-US" sz="1300" dirty="0"/>
          </a:p>
        </p:txBody>
      </p:sp>
      <p:sp>
        <p:nvSpPr>
          <p:cNvPr id="13" name="Shape 11"/>
          <p:cNvSpPr/>
          <p:nvPr/>
        </p:nvSpPr>
        <p:spPr>
          <a:xfrm>
            <a:off x="365760" y="5477256"/>
            <a:ext cx="11247120" cy="777240"/>
          </a:xfrm>
          <a:prstGeom prst="roundRect">
            <a:avLst>
              <a:gd name="adj" fmla="val 9412"/>
            </a:avLst>
          </a:prstGeom>
          <a:solidFill>
            <a:srgbClr val="162233"/>
          </a:solidFill>
          <a:ln w="12700">
            <a:solidFill>
              <a:srgbClr val="2DC653"/>
            </a:solidFill>
            <a:prstDash val="solid"/>
          </a:ln>
        </p:spPr>
      </p:sp>
      <p:sp>
        <p:nvSpPr>
          <p:cNvPr id="14" name="Text 12"/>
          <p:cNvSpPr/>
          <p:nvPr/>
        </p:nvSpPr>
        <p:spPr>
          <a:xfrm>
            <a:off x="548640" y="5513832"/>
            <a:ext cx="10972800" cy="70408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  Bonus: "Why do scientists add LABELS to their sketches? What's the difference between a sketch and a diagram?"</a:t>
            </a:r>
            <a:endParaRPr lang="en-US" sz="13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  Assignment Preview — Draw a Scientist</a:t>
            </a:r>
            <a:endParaRPr lang="en-US" sz="1600" dirty="0"/>
          </a:p>
        </p:txBody>
      </p:sp>
      <p:sp>
        <p:nvSpPr>
          <p:cNvPr id="5" name="Shape 3"/>
          <p:cNvSpPr/>
          <p:nvPr/>
        </p:nvSpPr>
        <p:spPr>
          <a:xfrm>
            <a:off x="274320" y="749808"/>
            <a:ext cx="3749040" cy="3749040"/>
          </a:xfrm>
          <a:prstGeom prst="roundRect">
            <a:avLst>
              <a:gd name="adj" fmla="val 1951"/>
            </a:avLst>
          </a:prstGeom>
          <a:solidFill>
            <a:srgbClr val="1E2F45"/>
          </a:solidFill>
          <a:ln w="12700">
            <a:solidFill>
              <a:srgbClr val="4CC9F0"/>
            </a:solidFill>
            <a:prstDash val="solid"/>
          </a:ln>
        </p:spPr>
      </p:sp>
      <p:sp>
        <p:nvSpPr>
          <p:cNvPr id="6" name="Text 4"/>
          <p:cNvSpPr/>
          <p:nvPr/>
        </p:nvSpPr>
        <p:spPr>
          <a:xfrm>
            <a:off x="411480" y="804672"/>
            <a:ext cx="347472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PART A — Rules Check</a:t>
            </a:r>
            <a:endParaRPr lang="en-US" sz="1200" dirty="0"/>
          </a:p>
        </p:txBody>
      </p:sp>
      <p:sp>
        <p:nvSpPr>
          <p:cNvPr id="7" name="Text 5"/>
          <p:cNvSpPr/>
          <p:nvPr/>
        </p:nvSpPr>
        <p:spPr>
          <a:xfrm>
            <a:off x="411480" y="1234440"/>
            <a:ext cx="3474720" cy="566928"/>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1. Keep your drawing ___________.</a:t>
            </a:r>
            <a:endParaRPr lang="en-US" sz="1000" dirty="0"/>
          </a:p>
          <a:p>
            <a:pPr indent="0" marL="0">
              <a:buNone/>
            </a:pPr>
            <a:r>
              <a:rPr lang="en-US" sz="1000" dirty="0">
                <a:solidFill>
                  <a:srgbClr val="B0C4D8"/>
                </a:solidFill>
                <a:latin typeface="Calibri" pitchFamily="34" charset="0"/>
                <a:ea typeface="Calibri" pitchFamily="34" charset="-122"/>
                <a:cs typeface="Calibri" pitchFamily="34" charset="-120"/>
              </a:rPr>
              <a:t>(Draw exactly what you see!)</a:t>
            </a:r>
            <a:endParaRPr lang="en-US" sz="1000" dirty="0"/>
          </a:p>
        </p:txBody>
      </p:sp>
      <p:sp>
        <p:nvSpPr>
          <p:cNvPr id="8" name="Text 6"/>
          <p:cNvSpPr/>
          <p:nvPr/>
        </p:nvSpPr>
        <p:spPr>
          <a:xfrm>
            <a:off x="411480" y="1847088"/>
            <a:ext cx="3474720" cy="566928"/>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2. Make your drawing ___________ — use the entire page!</a:t>
            </a:r>
            <a:endParaRPr lang="en-US" sz="1000" dirty="0"/>
          </a:p>
        </p:txBody>
      </p:sp>
      <p:sp>
        <p:nvSpPr>
          <p:cNvPr id="9" name="Text 7"/>
          <p:cNvSpPr/>
          <p:nvPr/>
        </p:nvSpPr>
        <p:spPr>
          <a:xfrm>
            <a:off x="411480" y="2459736"/>
            <a:ext cx="3474720" cy="566928"/>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3. Add ___________ to show what you observed.</a:t>
            </a:r>
            <a:endParaRPr lang="en-US" sz="1000" dirty="0"/>
          </a:p>
        </p:txBody>
      </p:sp>
      <p:sp>
        <p:nvSpPr>
          <p:cNvPr id="10" name="Text 8"/>
          <p:cNvSpPr/>
          <p:nvPr/>
        </p:nvSpPr>
        <p:spPr>
          <a:xfrm>
            <a:off x="411480" y="3072384"/>
            <a:ext cx="3474720" cy="566928"/>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4. Focus on ___________ — the small features.</a:t>
            </a:r>
            <a:endParaRPr lang="en-US" sz="1000" dirty="0"/>
          </a:p>
        </p:txBody>
      </p:sp>
      <p:sp>
        <p:nvSpPr>
          <p:cNvPr id="11" name="Text 9"/>
          <p:cNvSpPr/>
          <p:nvPr/>
        </p:nvSpPr>
        <p:spPr>
          <a:xfrm>
            <a:off x="411480" y="3685032"/>
            <a:ext cx="3474720" cy="566928"/>
          </a:xfrm>
          <a:prstGeom prst="rect">
            <a:avLst/>
          </a:prstGeom>
          <a:noFill/>
          <a:ln/>
        </p:spPr>
        <p:txBody>
          <a:bodyPr wrap="square" rtlCol="0" anchor="ctr"/>
          <a:lstStyle/>
          <a:p>
            <a:pPr indent="0" marL="0">
              <a:buNone/>
            </a:pPr>
            <a:r>
              <a:rPr lang="en-US" sz="1000" dirty="0">
                <a:solidFill>
                  <a:srgbClr val="B0C4D8"/>
                </a:solidFill>
                <a:latin typeface="Calibri" pitchFamily="34" charset="0"/>
                <a:ea typeface="Calibri" pitchFamily="34" charset="-122"/>
                <a:cs typeface="Calibri" pitchFamily="34" charset="-120"/>
              </a:rPr>
              <a:t>5. Include ___________ that identify parts.</a:t>
            </a:r>
            <a:endParaRPr lang="en-US" sz="1000" dirty="0"/>
          </a:p>
        </p:txBody>
      </p:sp>
      <p:sp>
        <p:nvSpPr>
          <p:cNvPr id="12" name="Shape 10"/>
          <p:cNvSpPr/>
          <p:nvPr/>
        </p:nvSpPr>
        <p:spPr>
          <a:xfrm>
            <a:off x="4206240" y="749808"/>
            <a:ext cx="3657600" cy="3749040"/>
          </a:xfrm>
          <a:prstGeom prst="roundRect">
            <a:avLst>
              <a:gd name="adj" fmla="val 2000"/>
            </a:avLst>
          </a:prstGeom>
          <a:solidFill>
            <a:srgbClr val="1E2F45"/>
          </a:solidFill>
          <a:ln w="12700">
            <a:solidFill>
              <a:srgbClr val="FFB703"/>
            </a:solidFill>
            <a:prstDash val="solid"/>
          </a:ln>
        </p:spPr>
      </p:sp>
      <p:sp>
        <p:nvSpPr>
          <p:cNvPr id="13" name="Text 11"/>
          <p:cNvSpPr/>
          <p:nvPr/>
        </p:nvSpPr>
        <p:spPr>
          <a:xfrm>
            <a:off x="4343400" y="804672"/>
            <a:ext cx="3383280" cy="384048"/>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  PART B — Short Answer</a:t>
            </a:r>
            <a:endParaRPr lang="en-US" sz="1200" dirty="0"/>
          </a:p>
        </p:txBody>
      </p:sp>
      <p:sp>
        <p:nvSpPr>
          <p:cNvPr id="14" name="Text 12"/>
          <p:cNvSpPr/>
          <p:nvPr/>
        </p:nvSpPr>
        <p:spPr>
          <a:xfrm>
            <a:off x="4343400" y="1261872"/>
            <a:ext cx="3383280" cy="749808"/>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5. What is the difference between a label and a diagram?</a:t>
            </a:r>
            <a:endParaRPr lang="en-US" sz="1050" dirty="0"/>
          </a:p>
        </p:txBody>
      </p:sp>
      <p:sp>
        <p:nvSpPr>
          <p:cNvPr id="15" name="Text 13"/>
          <p:cNvSpPr/>
          <p:nvPr/>
        </p:nvSpPr>
        <p:spPr>
          <a:xfrm>
            <a:off x="4343400" y="2084832"/>
            <a:ext cx="3383280" cy="749808"/>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6. Why do scientists make sketches in their notebooks? Why not just write words?</a:t>
            </a:r>
            <a:endParaRPr lang="en-US" sz="1050" dirty="0"/>
          </a:p>
        </p:txBody>
      </p:sp>
      <p:sp>
        <p:nvSpPr>
          <p:cNvPr id="16" name="Text 14"/>
          <p:cNvSpPr/>
          <p:nvPr/>
        </p:nvSpPr>
        <p:spPr>
          <a:xfrm>
            <a:off x="4343400" y="2907792"/>
            <a:ext cx="3383280" cy="749808"/>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7. If you were sketching a butterfly, what specific details would you include?</a:t>
            </a:r>
            <a:endParaRPr lang="en-US" sz="1050" dirty="0"/>
          </a:p>
        </p:txBody>
      </p:sp>
      <p:sp>
        <p:nvSpPr>
          <p:cNvPr id="17" name="Shape 15"/>
          <p:cNvSpPr/>
          <p:nvPr/>
        </p:nvSpPr>
        <p:spPr>
          <a:xfrm>
            <a:off x="8046720" y="749808"/>
            <a:ext cx="3749040" cy="3749040"/>
          </a:xfrm>
          <a:prstGeom prst="roundRect">
            <a:avLst>
              <a:gd name="adj" fmla="val 1951"/>
            </a:avLst>
          </a:prstGeom>
          <a:solidFill>
            <a:srgbClr val="1E2F45"/>
          </a:solidFill>
          <a:ln w="12700">
            <a:solidFill>
              <a:srgbClr val="F4736A"/>
            </a:solidFill>
            <a:prstDash val="solid"/>
          </a:ln>
        </p:spPr>
      </p:sp>
      <p:sp>
        <p:nvSpPr>
          <p:cNvPr id="18" name="Text 16"/>
          <p:cNvSpPr/>
          <p:nvPr/>
        </p:nvSpPr>
        <p:spPr>
          <a:xfrm>
            <a:off x="8183880" y="804672"/>
            <a:ext cx="3474720" cy="384048"/>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  CER + PART C</a:t>
            </a:r>
            <a:endParaRPr lang="en-US" sz="1200" dirty="0"/>
          </a:p>
        </p:txBody>
      </p:sp>
      <p:sp>
        <p:nvSpPr>
          <p:cNvPr id="19" name="Text 17"/>
          <p:cNvSpPr/>
          <p:nvPr/>
        </p:nvSpPr>
        <p:spPr>
          <a:xfrm>
            <a:off x="8183880" y="1234440"/>
            <a:ext cx="3474720" cy="77724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CER: What makes someone a scientist? Use your drawing as evidence.</a:t>
            </a:r>
            <a:endParaRPr lang="en-US" sz="1050" dirty="0"/>
          </a:p>
        </p:txBody>
      </p:sp>
      <p:sp>
        <p:nvSpPr>
          <p:cNvPr id="20" name="Text 18"/>
          <p:cNvSpPr/>
          <p:nvPr/>
        </p:nvSpPr>
        <p:spPr>
          <a:xfrm>
            <a:off x="8183880" y="2057400"/>
            <a:ext cx="3474720" cy="2331720"/>
          </a:xfrm>
          <a:prstGeom prst="rect">
            <a:avLst/>
          </a:prstGeom>
          <a:noFill/>
          <a:ln/>
        </p:spPr>
        <p:txBody>
          <a:bodyPr wrap="square" rtlCol="0" anchor="ctr"/>
          <a:lstStyle/>
          <a:p>
            <a:pPr indent="0" marL="0">
              <a:buNone/>
            </a:pPr>
            <a:r>
              <a:rPr lang="en-US" sz="1050" dirty="0">
                <a:solidFill>
                  <a:srgbClr val="B0C4D8"/>
                </a:solidFill>
                <a:latin typeface="Calibri" pitchFamily="34" charset="0"/>
                <a:ea typeface="Calibri" pitchFamily="34" charset="-122"/>
                <a:cs typeface="Calibri" pitchFamily="34" charset="-120"/>
              </a:rPr>
              <a:t>Part C: Draw a scientist!</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Title: 'Draw A Scientist'</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Apply as many of the 5 rules as you can</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Add labels/details</a:t>
            </a:r>
            <a:endParaRPr lang="en-US" sz="1050" dirty="0"/>
          </a:p>
          <a:p>
            <a:pPr indent="0" marL="0">
              <a:buNone/>
            </a:pPr>
            <a:r>
              <a:rPr lang="en-US" sz="1050" dirty="0">
                <a:solidFill>
                  <a:srgbClr val="B0C4D8"/>
                </a:solidFill>
                <a:latin typeface="Calibri" pitchFamily="34" charset="0"/>
                <a:ea typeface="Calibri" pitchFamily="34" charset="-122"/>
                <a:cs typeface="Calibri" pitchFamily="34" charset="-120"/>
              </a:rPr>
              <a:t>• Upload a photo</a:t>
            </a:r>
            <a:endParaRPr lang="en-US" sz="1050" dirty="0"/>
          </a:p>
        </p:txBody>
      </p:sp>
      <p:sp>
        <p:nvSpPr>
          <p:cNvPr id="21" name="Shape 19"/>
          <p:cNvSpPr/>
          <p:nvPr/>
        </p:nvSpPr>
        <p:spPr>
          <a:xfrm>
            <a:off x="274320" y="4663440"/>
            <a:ext cx="11338560" cy="960120"/>
          </a:xfrm>
          <a:prstGeom prst="roundRect">
            <a:avLst>
              <a:gd name="adj" fmla="val 7619"/>
            </a:avLst>
          </a:prstGeom>
          <a:solidFill>
            <a:srgbClr val="1A2A1A"/>
          </a:solidFill>
          <a:ln w="12700">
            <a:solidFill>
              <a:srgbClr val="2DC653"/>
            </a:solidFill>
            <a:prstDash val="solid"/>
          </a:ln>
        </p:spPr>
      </p:sp>
      <p:sp>
        <p:nvSpPr>
          <p:cNvPr id="22" name="Text 20"/>
          <p:cNvSpPr/>
          <p:nvPr/>
        </p:nvSpPr>
        <p:spPr>
          <a:xfrm>
            <a:off x="457200" y="4709160"/>
            <a:ext cx="11155680"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Everything on this slide — you've already practiced in today's class! You're ready.</a:t>
            </a:r>
            <a:endParaRPr lang="en-US" sz="1400" dirty="0"/>
          </a:p>
        </p:txBody>
      </p:sp>
      <p:sp>
        <p:nvSpPr>
          <p:cNvPr id="23" name="Text 21"/>
          <p:cNvSpPr/>
          <p:nvPr/>
        </p:nvSpPr>
        <p:spPr>
          <a:xfrm>
            <a:off x="457200" y="5148072"/>
            <a:ext cx="11155680" cy="411480"/>
          </a:xfrm>
          <a:prstGeom prst="rect">
            <a:avLst/>
          </a:prstGeom>
          <a:noFill/>
          <a:ln/>
        </p:spPr>
        <p:txBody>
          <a:bodyPr wrap="square" rtlCol="0" anchor="ctr"/>
          <a:lstStyle/>
          <a:p>
            <a:pPr algn="ctr" indent="0" marL="0">
              <a:buNone/>
            </a:pPr>
            <a:r>
              <a:rPr lang="en-US" sz="1050" dirty="0">
                <a:solidFill>
                  <a:srgbClr val="B0C4D8"/>
                </a:solidFill>
                <a:latin typeface="Calibri" pitchFamily="34" charset="0"/>
                <a:ea typeface="Calibri" pitchFamily="34" charset="-122"/>
                <a:cs typeface="Calibri" pitchFamily="34" charset="-120"/>
              </a:rPr>
              <a:t>Part A = 5 rules (slides 9–10)  ·  Part B = discussions (slides 6, 12, 15)  ·  CER = practiced together (slides 19–21)  ·  Part C = 4-step explore (slides 14–16)</a:t>
            </a:r>
            <a:endParaRPr lang="en-US" sz="1050" dirty="0"/>
          </a:p>
        </p:txBody>
      </p:sp>
      <p:sp>
        <p:nvSpPr>
          <p:cNvPr id="24" name="Shape 22"/>
          <p:cNvSpPr/>
          <p:nvPr/>
        </p:nvSpPr>
        <p:spPr>
          <a:xfrm>
            <a:off x="0" y="6629400"/>
            <a:ext cx="12192000" cy="228600"/>
          </a:xfrm>
          <a:prstGeom prst="rect">
            <a:avLst/>
          </a:prstGeom>
          <a:solidFill>
            <a:srgbClr val="162233"/>
          </a:solidFill>
          <a:ln/>
        </p:spPr>
      </p:sp>
      <p:sp>
        <p:nvSpPr>
          <p:cNvPr id="25" name="Text 2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 — You Did Science Today!</a:t>
            </a:r>
            <a:endParaRPr lang="en-US" sz="1600" dirty="0"/>
          </a:p>
        </p:txBody>
      </p:sp>
      <p:sp>
        <p:nvSpPr>
          <p:cNvPr id="5" name="Shape 3"/>
          <p:cNvSpPr/>
          <p:nvPr/>
        </p:nvSpPr>
        <p:spPr>
          <a:xfrm>
            <a:off x="365760" y="749808"/>
            <a:ext cx="11247120" cy="1508760"/>
          </a:xfrm>
          <a:prstGeom prst="roundRect">
            <a:avLst>
              <a:gd name="adj" fmla="val 4848"/>
            </a:avLst>
          </a:prstGeom>
          <a:solidFill>
            <a:srgbClr val="1E2F45"/>
          </a:solidFill>
          <a:ln w="12700">
            <a:solidFill>
              <a:srgbClr val="FFB703"/>
            </a:solidFill>
            <a:prstDash val="solid"/>
          </a:ln>
        </p:spPr>
      </p:sp>
      <p:sp>
        <p:nvSpPr>
          <p:cNvPr id="6" name="Text 4"/>
          <p:cNvSpPr/>
          <p:nvPr/>
        </p:nvSpPr>
        <p:spPr>
          <a:xfrm>
            <a:off x="548640" y="804672"/>
            <a:ext cx="10972800" cy="365760"/>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  Revisit Your Quick Sketch:</a:t>
            </a:r>
            <a:endParaRPr lang="en-US" sz="1300" dirty="0"/>
          </a:p>
        </p:txBody>
      </p:sp>
      <p:sp>
        <p:nvSpPr>
          <p:cNvPr id="7" name="Text 5"/>
          <p:cNvSpPr/>
          <p:nvPr/>
        </p:nvSpPr>
        <p:spPr>
          <a:xfrm>
            <a:off x="548640" y="1188720"/>
            <a:ext cx="10972800" cy="960120"/>
          </a:xfrm>
          <a:prstGeom prst="rect">
            <a:avLst/>
          </a:prstGeom>
          <a:noFill/>
          <a:ln/>
        </p:spPr>
        <p:txBody>
          <a:bodyPr wrap="square"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"Look back at the very first drawing you made at the start of class. How is your thinking about scientists going to be different now? What changed? What does this tell us about how we see science?"</a:t>
            </a:r>
            <a:endParaRPr lang="en-US" sz="1350" dirty="0"/>
          </a:p>
        </p:txBody>
      </p:sp>
      <p:sp>
        <p:nvSpPr>
          <p:cNvPr id="8" name="Shape 6"/>
          <p:cNvSpPr/>
          <p:nvPr/>
        </p:nvSpPr>
        <p:spPr>
          <a:xfrm>
            <a:off x="365760" y="2395728"/>
            <a:ext cx="11247120" cy="1463040"/>
          </a:xfrm>
          <a:prstGeom prst="roundRect">
            <a:avLst>
              <a:gd name="adj" fmla="val 5000"/>
            </a:avLst>
          </a:prstGeom>
          <a:solidFill>
            <a:srgbClr val="162233"/>
          </a:solidFill>
          <a:ln w="12700">
            <a:solidFill>
              <a:srgbClr val="4CC9F0"/>
            </a:solidFill>
            <a:prstDash val="solid"/>
          </a:ln>
        </p:spPr>
      </p:sp>
      <p:sp>
        <p:nvSpPr>
          <p:cNvPr id="9" name="Text 7"/>
          <p:cNvSpPr/>
          <p:nvPr/>
        </p:nvSpPr>
        <p:spPr>
          <a:xfrm>
            <a:off x="548640" y="2450592"/>
            <a:ext cx="1097280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300" dirty="0"/>
          </a:p>
        </p:txBody>
      </p:sp>
      <p:sp>
        <p:nvSpPr>
          <p:cNvPr id="10" name="Text 8"/>
          <p:cNvSpPr/>
          <p:nvPr/>
        </p:nvSpPr>
        <p:spPr>
          <a:xfrm>
            <a:off x="548640" y="2852928"/>
            <a:ext cx="10972800" cy="914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"What does a scientist really look like? And how do scientists record and share what they discover?"</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Write 2–3 sentences using at least 3 of these words: scientist, observation, scientific sketch, label, diagram, accuracy</a:t>
            </a:r>
            <a:endParaRPr lang="en-US" sz="1250" dirty="0"/>
          </a:p>
        </p:txBody>
      </p:sp>
      <p:sp>
        <p:nvSpPr>
          <p:cNvPr id="11" name="Shape 9"/>
          <p:cNvSpPr/>
          <p:nvPr/>
        </p:nvSpPr>
        <p:spPr>
          <a:xfrm>
            <a:off x="365760" y="4005072"/>
            <a:ext cx="7132320" cy="1920240"/>
          </a:xfrm>
          <a:prstGeom prst="roundRect">
            <a:avLst>
              <a:gd name="adj" fmla="val 3810"/>
            </a:avLst>
          </a:prstGeom>
          <a:solidFill>
            <a:srgbClr val="1E2F45"/>
          </a:solidFill>
          <a:ln w="12700">
            <a:solidFill>
              <a:srgbClr val="2DC653"/>
            </a:solidFill>
            <a:prstDash val="solid"/>
          </a:ln>
        </p:spPr>
      </p:sp>
      <p:sp>
        <p:nvSpPr>
          <p:cNvPr id="12" name="Text 10"/>
          <p:cNvSpPr/>
          <p:nvPr/>
        </p:nvSpPr>
        <p:spPr>
          <a:xfrm>
            <a:off x="548640" y="4059936"/>
            <a:ext cx="694944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3" name="Text 11"/>
          <p:cNvSpPr/>
          <p:nvPr/>
        </p:nvSpPr>
        <p:spPr>
          <a:xfrm>
            <a:off x="548640" y="4443984"/>
            <a:ext cx="685800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All 5 rule letters matched to meanings</a:t>
            </a:r>
            <a:endParaRPr lang="en-US" sz="1100" dirty="0"/>
          </a:p>
        </p:txBody>
      </p:sp>
      <p:sp>
        <p:nvSpPr>
          <p:cNvPr id="14" name="Text 12"/>
          <p:cNvSpPr/>
          <p:nvPr/>
        </p:nvSpPr>
        <p:spPr>
          <a:xfrm>
            <a:off x="548640" y="4745736"/>
            <a:ext cx="685800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Questions 5, 6 &amp; 7 in complete sentences with vocab</a:t>
            </a:r>
            <a:endParaRPr lang="en-US" sz="1100" dirty="0"/>
          </a:p>
        </p:txBody>
      </p:sp>
      <p:sp>
        <p:nvSpPr>
          <p:cNvPr id="15" name="Text 13"/>
          <p:cNvSpPr/>
          <p:nvPr/>
        </p:nvSpPr>
        <p:spPr>
          <a:xfrm>
            <a:off x="548640" y="5047488"/>
            <a:ext cx="685800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 Claim, evidence from your drawing, reasoning</a:t>
            </a:r>
            <a:endParaRPr lang="en-US" sz="1100" dirty="0"/>
          </a:p>
        </p:txBody>
      </p:sp>
      <p:sp>
        <p:nvSpPr>
          <p:cNvPr id="16" name="Text 14"/>
          <p:cNvSpPr/>
          <p:nvPr/>
        </p:nvSpPr>
        <p:spPr>
          <a:xfrm>
            <a:off x="548640" y="5349240"/>
            <a:ext cx="685800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Draw a Scientist (detailed, titled, labeled)</a:t>
            </a:r>
            <a:endParaRPr lang="en-US" sz="1100" dirty="0"/>
          </a:p>
        </p:txBody>
      </p:sp>
      <p:sp>
        <p:nvSpPr>
          <p:cNvPr id="17" name="Text 15"/>
          <p:cNvSpPr/>
          <p:nvPr/>
        </p:nvSpPr>
        <p:spPr>
          <a:xfrm>
            <a:off x="548640" y="5650992"/>
            <a:ext cx="6858000" cy="27432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Essential Question — 2–3 sentences, 3+ vocab words</a:t>
            </a:r>
            <a:endParaRPr lang="en-US" sz="1100" dirty="0"/>
          </a:p>
        </p:txBody>
      </p:sp>
      <p:sp>
        <p:nvSpPr>
          <p:cNvPr id="18" name="Shape 16"/>
          <p:cNvSpPr/>
          <p:nvPr/>
        </p:nvSpPr>
        <p:spPr>
          <a:xfrm>
            <a:off x="7726680" y="4005072"/>
            <a:ext cx="4114800" cy="1920240"/>
          </a:xfrm>
          <a:prstGeom prst="roundRect">
            <a:avLst>
              <a:gd name="adj" fmla="val 3810"/>
            </a:avLst>
          </a:prstGeom>
          <a:solidFill>
            <a:srgbClr val="1A1A3A"/>
          </a:solidFill>
          <a:ln w="12700">
            <a:solidFill>
              <a:srgbClr val="0096C7"/>
            </a:solidFill>
            <a:prstDash val="solid"/>
          </a:ln>
        </p:spPr>
      </p:sp>
      <p:sp>
        <p:nvSpPr>
          <p:cNvPr id="19" name="Text 17"/>
          <p:cNvSpPr/>
          <p:nvPr/>
        </p:nvSpPr>
        <p:spPr>
          <a:xfrm>
            <a:off x="7863840" y="4059936"/>
            <a:ext cx="384048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20" name="Text 18"/>
          <p:cNvSpPr/>
          <p:nvPr/>
        </p:nvSpPr>
        <p:spPr>
          <a:xfrm>
            <a:off x="7863840" y="4462272"/>
            <a:ext cx="3840480" cy="137160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1.02:</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What Is a Scientist?</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We'll do our first real science investigation — and your notebook will be your most important tool!</a:t>
            </a:r>
            <a:endParaRPr lang="en-US" sz="1200" dirty="0"/>
          </a:p>
        </p:txBody>
      </p:sp>
      <p:sp>
        <p:nvSpPr>
          <p:cNvPr id="21" name="Shape 19"/>
          <p:cNvSpPr/>
          <p:nvPr/>
        </p:nvSpPr>
        <p:spPr>
          <a:xfrm>
            <a:off x="0" y="6080760"/>
            <a:ext cx="12192000" cy="45720"/>
          </a:xfrm>
          <a:prstGeom prst="rect">
            <a:avLst/>
          </a:prstGeom>
          <a:solidFill>
            <a:srgbClr val="4CC9F0"/>
          </a:solidFill>
          <a:ln/>
        </p:spPr>
      </p:sp>
      <p:sp>
        <p:nvSpPr>
          <p:cNvPr id="22" name="Text 20"/>
          <p:cNvSpPr/>
          <p:nvPr/>
        </p:nvSpPr>
        <p:spPr>
          <a:xfrm>
            <a:off x="365760" y="6144768"/>
            <a:ext cx="11247120"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You did real scientific thinking. See you next time!</a:t>
            </a:r>
            <a:endParaRPr lang="en-US" sz="1300" dirty="0"/>
          </a:p>
        </p:txBody>
      </p:sp>
      <p:sp>
        <p:nvSpPr>
          <p:cNvPr id="23" name="Shape 21"/>
          <p:cNvSpPr/>
          <p:nvPr/>
        </p:nvSpPr>
        <p:spPr>
          <a:xfrm>
            <a:off x="0" y="6629400"/>
            <a:ext cx="12192000" cy="228600"/>
          </a:xfrm>
          <a:prstGeom prst="rect">
            <a:avLst/>
          </a:prstGeom>
          <a:solidFill>
            <a:srgbClr val="162233"/>
          </a:solidFill>
          <a:ln/>
        </p:spPr>
      </p:sp>
      <p:sp>
        <p:nvSpPr>
          <p:cNvPr id="24" name="Text 2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1.01  ·  Draw a Scientist</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2026-07-13T19:25:51Z</dcterms:created>
  <dcterms:modified xsi:type="dcterms:W3CDTF">2026-07-13T19:25:51Z</dcterms:modified>
</cp:coreProperties>
</file>