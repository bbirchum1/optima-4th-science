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scientists! We're continuing our journey through Earth's story. Today we find out HOW the Grand Canyon got carved and how any rock can change over time. Ask: Have you ever seen a crumbling wall, muddy river, or sand blowing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warm-up. Let students sketch freely. After sketching, share a few. Ask: 'What do you think caused those changes?' Connect to last lesson: 'We learned about canyon formation — today we zoom in on the exact forces that do the breaking and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3-4 predictions. Target for bike: rust from water + oxygen; for rock: water gets in cracks and freezes, expanding. Both involve water breaking down the material. The term = WEATHERING. Don't reveal yet — let them discover it. Facilitation: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weathering to the bike prediction: water breaking down material = weathering. Then: 'What's the difference between weathering and erosion?' Target: weathering = break; erosion = move. The smoothie analogy: weathering (blender) must happen FIRST before erosion (pouring) can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order: 1) weathering creates sediment, 2) runoff picks it up and carries it, 3) deposition = when runoff slows and drops it in a new place. Ask: 'What evidence from the definitions helped you figure out the order?' Facilitation: 'Does anyone have a different sequence? What's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presenting all four: 'Which type of weathering do you think is most powerful? What evidence would you use to support that?' Encourage debate — water/ice is very powerful (Grand Canyon) but glacier erosion carved entire mountain valleys. Plant roots are often overlooked but split solid rock! No single 'right' answer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Step 3: 'A fast river can carry boulders; a slow stream only carries sand. Why do you think the SPEED of water matters so much for how much sediment is moved?' Target: faster water has more energy to carry heavier material — like how a strong wind can blow bigger objects than a gentle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predictions after discussing. Ask: 'Why is erosion WORSE on a steep hill than on flat ground?' (Steeper = faster runoff = more energy to carry sediment). 'Why does a hill covered in GRASS erode less than bare rock?' (Plant roots hold soil). These connect directly to the Dust Bowl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moves:
• 'What specific evidence from today's lesson supports that?'
• 'Does anyone have different evidence?'
• 'What would change your mind about whether plants really help?'
Target steep hill: water flows faster → more energy → carries more sediment. Grass: roots = anchors for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both to today's lesson: 'The Dust Bowl happened because people removed plants and didn't understand erosion. Early explorers who DID understand erosion used it to find the best land and resources. How does understanding erosion help people make better decisions?' Facilitation: 'What evidence supports that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topsoil takes 500 years to form ONE inch, and erosion can wash it away in minutes, what does that tell us about why protecting soil matters so much?' Then: 'What could people do TODAY to prevent the kind of erosion that caused the Dust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After Q1: connect back to bike prediction — was the 'breaking down' the students described weathering? After Q2: 'What specific evidence from the Dust Bowl supports the importance of plant roots?' After Q3: 'Have you ever seen freeze-thaw weathering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Emphasize that the cause-effect chart directly mirrors what we practiced in the lesson. The rock's journey drawing should have all 4 steps with labeled vocabulary. Remind students to compare their warm-up sketch from slide 2 to their finished rock journey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warm-up sketches. Ask: 'How is your rock journey diagram different from your first sketch of a hillside?' Close: 'Water seems so simple — but drop by drop, over millions of years, it carved the Grand Canyon. What does that tell you about what small forces can accomplish over huge amounts of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Weathering &amp; Erosion</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Earth's Slow Sculptors — Forces That Shape the Land</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4-ESS2-1 — Earth's Changing Surface</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what weathering is and describe at least three causes of weathering.</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what erosion is and describe how wind, water, ice, and plants affect it.</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connect weathering and erosion to real-world changes in Earth's surface.</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   📐 Ruler (for the chart)</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&amp; Erosion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Notice &amp; Wonder</a:t>
            </a:r>
            <a:endParaRPr lang="en-US" sz="1600" dirty="0"/>
          </a:p>
        </p:txBody>
      </p:sp>
      <p:sp>
        <p:nvSpPr>
          <p:cNvPr id="5" name="Shape 3"/>
          <p:cNvSpPr/>
          <p:nvPr/>
        </p:nvSpPr>
        <p:spPr>
          <a:xfrm>
            <a:off x="365760" y="749808"/>
            <a:ext cx="5669280" cy="4434840"/>
          </a:xfrm>
          <a:prstGeom prst="roundRect">
            <a:avLst>
              <a:gd name="adj" fmla="val 1649"/>
            </a:avLst>
          </a:prstGeom>
          <a:solidFill>
            <a:srgbClr val="0A1520"/>
          </a:solidFill>
          <a:ln w="19050">
            <a:solidFill>
              <a:srgbClr val="4CC9F0"/>
            </a:solidFill>
            <a:prstDash val="dash"/>
          </a:ln>
        </p:spPr>
      </p:sp>
      <p:sp>
        <p:nvSpPr>
          <p:cNvPr id="6" name="Text 4"/>
          <p:cNvSpPr/>
          <p:nvPr/>
        </p:nvSpPr>
        <p:spPr>
          <a:xfrm>
            <a:off x="457200" y="859536"/>
            <a:ext cx="5486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486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449824" cy="33832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"weathered rock arch eroded desert sandstone formation natural arch Utah"</a:t>
            </a:r>
            <a:endParaRPr lang="en-US" sz="950" dirty="0"/>
          </a:p>
        </p:txBody>
      </p:sp>
      <p:sp>
        <p:nvSpPr>
          <p:cNvPr id="9" name="Text 7"/>
          <p:cNvSpPr/>
          <p:nvPr/>
        </p:nvSpPr>
        <p:spPr>
          <a:xfrm>
            <a:off x="365760" y="5221224"/>
            <a:ext cx="56692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Natural rock arch — shaped entirely by weathering and erosion over millions of years</a:t>
            </a:r>
            <a:endParaRPr lang="en-US" sz="900" dirty="0"/>
          </a:p>
        </p:txBody>
      </p:sp>
      <p:sp>
        <p:nvSpPr>
          <p:cNvPr id="10" name="Shape 8"/>
          <p:cNvSpPr/>
          <p:nvPr/>
        </p:nvSpPr>
        <p:spPr>
          <a:xfrm>
            <a:off x="6217920" y="749808"/>
            <a:ext cx="5577840" cy="347472"/>
          </a:xfrm>
          <a:prstGeom prst="roundRect">
            <a:avLst>
              <a:gd name="adj" fmla="val 23684"/>
            </a:avLst>
          </a:prstGeom>
          <a:solidFill>
            <a:srgbClr val="E09200"/>
          </a:solidFill>
          <a:ln w="19050">
            <a:solidFill>
              <a:srgbClr val="FFB703"/>
            </a:solidFill>
            <a:prstDash val="solid"/>
          </a:ln>
        </p:spPr>
      </p:sp>
      <p:sp>
        <p:nvSpPr>
          <p:cNvPr id="11" name="Text 9"/>
          <p:cNvSpPr/>
          <p:nvPr/>
        </p:nvSpPr>
        <p:spPr>
          <a:xfrm>
            <a:off x="6217920" y="749808"/>
            <a:ext cx="55778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2" name="Shape 10"/>
          <p:cNvSpPr/>
          <p:nvPr/>
        </p:nvSpPr>
        <p:spPr>
          <a:xfrm>
            <a:off x="6217920" y="1188720"/>
            <a:ext cx="5577840" cy="1965960"/>
          </a:xfrm>
          <a:prstGeom prst="roundRect">
            <a:avLst>
              <a:gd name="adj" fmla="val 3721"/>
            </a:avLst>
          </a:prstGeom>
          <a:solidFill>
            <a:srgbClr val="1E2F45"/>
          </a:solidFill>
          <a:ln w="12700">
            <a:solidFill>
              <a:srgbClr val="FFB703"/>
            </a:solidFill>
            <a:prstDash val="solid"/>
          </a:ln>
        </p:spPr>
      </p:sp>
      <p:sp>
        <p:nvSpPr>
          <p:cNvPr id="13" name="Text 11"/>
          <p:cNvSpPr/>
          <p:nvPr/>
        </p:nvSpPr>
        <p:spPr>
          <a:xfrm>
            <a:off x="6400800" y="1261872"/>
            <a:ext cx="5212080" cy="16916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 your science notebook, draw a quick sketch of a rocky hillside or cliff.</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What do you think is happening to the rock over time? Label what you can — don't worry about being perfect!</a:t>
            </a:r>
            <a:endParaRPr lang="en-US" sz="1200" dirty="0"/>
          </a:p>
        </p:txBody>
      </p:sp>
      <p:sp>
        <p:nvSpPr>
          <p:cNvPr id="14" name="Shape 12"/>
          <p:cNvSpPr/>
          <p:nvPr/>
        </p:nvSpPr>
        <p:spPr>
          <a:xfrm>
            <a:off x="6217920" y="3273552"/>
            <a:ext cx="5577840" cy="1920240"/>
          </a:xfrm>
          <a:prstGeom prst="roundRect">
            <a:avLst>
              <a:gd name="adj" fmla="val 3810"/>
            </a:avLst>
          </a:prstGeom>
          <a:solidFill>
            <a:srgbClr val="162233"/>
          </a:solidFill>
          <a:ln w="12700">
            <a:solidFill>
              <a:srgbClr val="4CC9F0"/>
            </a:solidFill>
            <a:prstDash val="solid"/>
          </a:ln>
        </p:spPr>
      </p:sp>
      <p:sp>
        <p:nvSpPr>
          <p:cNvPr id="15" name="Text 13"/>
          <p:cNvSpPr/>
          <p:nvPr/>
        </p:nvSpPr>
        <p:spPr>
          <a:xfrm>
            <a:off x="6400800" y="3346704"/>
            <a:ext cx="5212080" cy="347472"/>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Big Question:</a:t>
            </a:r>
            <a:endParaRPr lang="en-US" sz="1100" dirty="0"/>
          </a:p>
        </p:txBody>
      </p:sp>
      <p:sp>
        <p:nvSpPr>
          <p:cNvPr id="16" name="Text 14"/>
          <p:cNvSpPr/>
          <p:nvPr/>
        </p:nvSpPr>
        <p:spPr>
          <a:xfrm>
            <a:off x="6400800" y="3712464"/>
            <a:ext cx="5212080" cy="1353312"/>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"The Grand Canyon is over a mile deep — but it's made of SOLID rock. How could something as simple as water carve through miles of rock over millions of years?"</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Make a Prediction</a:t>
            </a:r>
            <a:endParaRPr lang="en-US" sz="1600" dirty="0"/>
          </a:p>
        </p:txBody>
      </p:sp>
      <p:sp>
        <p:nvSpPr>
          <p:cNvPr id="5" name="Shape 3"/>
          <p:cNvSpPr/>
          <p:nvPr/>
        </p:nvSpPr>
        <p:spPr>
          <a:xfrm>
            <a:off x="365760" y="749808"/>
            <a:ext cx="11430000" cy="1261872"/>
          </a:xfrm>
          <a:prstGeom prst="roundRect">
            <a:avLst>
              <a:gd name="adj" fmla="val 5797"/>
            </a:avLst>
          </a:prstGeom>
          <a:solidFill>
            <a:srgbClr val="1E2F45"/>
          </a:solidFill>
          <a:ln w="12700">
            <a:solidFill>
              <a:srgbClr val="FFB703"/>
            </a:solidFill>
            <a:prstDash val="solid"/>
          </a:ln>
        </p:spPr>
      </p:sp>
      <p:sp>
        <p:nvSpPr>
          <p:cNvPr id="6" name="Text 4"/>
          <p:cNvSpPr/>
          <p:nvPr/>
        </p:nvSpPr>
        <p:spPr>
          <a:xfrm>
            <a:off x="548640" y="804672"/>
            <a:ext cx="10972800" cy="1115568"/>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"If you leave a metal bike outside in the rain for a whole year, what happens to it? How is that SIMILAR to what happens to a rock? What's doing the 'breaking down' in each case?"</a:t>
            </a:r>
            <a:endParaRPr lang="en-US" sz="1400" dirty="0"/>
          </a:p>
        </p:txBody>
      </p:sp>
      <p:sp>
        <p:nvSpPr>
          <p:cNvPr id="7" name="Shape 5"/>
          <p:cNvSpPr/>
          <p:nvPr/>
        </p:nvSpPr>
        <p:spPr>
          <a:xfrm>
            <a:off x="365760" y="2176272"/>
            <a:ext cx="11430000" cy="2057400"/>
          </a:xfrm>
          <a:prstGeom prst="roundRect">
            <a:avLst>
              <a:gd name="adj" fmla="val 3556"/>
            </a:avLst>
          </a:prstGeom>
          <a:solidFill>
            <a:srgbClr val="162233"/>
          </a:solidFill>
          <a:ln w="12700">
            <a:solidFill>
              <a:srgbClr val="FFB703"/>
            </a:solidFill>
            <a:prstDash val="solid"/>
          </a:ln>
        </p:spPr>
      </p:sp>
      <p:sp>
        <p:nvSpPr>
          <p:cNvPr id="8" name="Text 6"/>
          <p:cNvSpPr/>
          <p:nvPr/>
        </p:nvSpPr>
        <p:spPr>
          <a:xfrm>
            <a:off x="530352" y="2249424"/>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Evidence-Based Prediction</a:t>
            </a:r>
            <a:endParaRPr lang="en-US" sz="1300" dirty="0"/>
          </a:p>
        </p:txBody>
      </p:sp>
      <p:sp>
        <p:nvSpPr>
          <p:cNvPr id="9" name="Text 7"/>
          <p:cNvSpPr/>
          <p:nvPr/>
        </p:nvSpPr>
        <p:spPr>
          <a:xfrm>
            <a:off x="530352" y="2615184"/>
            <a:ext cx="11100816" cy="150876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"I predict the bike/rock would ___ because ___.</a:t>
            </a:r>
            <a:endParaRPr lang="en-US" sz="1300" dirty="0"/>
          </a:p>
          <a:p>
            <a:pPr algn="l" indent="0" marL="0">
              <a:buNone/>
            </a:pPr>
            <a:r>
              <a:rPr lang="en-US" sz="1300" i="1" dirty="0">
                <a:solidFill>
                  <a:srgbClr val="FFFFFF"/>
                </a:solidFill>
                <a:latin typeface="Calibri" pitchFamily="34" charset="0"/>
                <a:ea typeface="Calibri" pitchFamily="34" charset="-122"/>
                <a:cs typeface="Calibri" pitchFamily="34" charset="-120"/>
              </a:rPr>
              <a:t>In both cases, the force doing the breaking is ___."</a:t>
            </a:r>
            <a:endParaRPr lang="en-US" sz="1300" dirty="0"/>
          </a:p>
        </p:txBody>
      </p:sp>
      <p:sp>
        <p:nvSpPr>
          <p:cNvPr id="10" name="Shape 8"/>
          <p:cNvSpPr/>
          <p:nvPr/>
        </p:nvSpPr>
        <p:spPr>
          <a:xfrm>
            <a:off x="365760" y="4370832"/>
            <a:ext cx="11430000" cy="914400"/>
          </a:xfrm>
          <a:prstGeom prst="roundRect">
            <a:avLst>
              <a:gd name="adj" fmla="val 8000"/>
            </a:avLst>
          </a:prstGeom>
          <a:solidFill>
            <a:srgbClr val="0A1520"/>
          </a:solidFill>
          <a:ln w="12700">
            <a:solidFill>
              <a:srgbClr val="4CC9F0"/>
            </a:solidFill>
            <a:prstDash val="solid"/>
          </a:ln>
        </p:spPr>
      </p:sp>
      <p:sp>
        <p:nvSpPr>
          <p:cNvPr id="11" name="Text 9"/>
          <p:cNvSpPr/>
          <p:nvPr/>
        </p:nvSpPr>
        <p:spPr>
          <a:xfrm>
            <a:off x="594360" y="4480560"/>
            <a:ext cx="10972800" cy="384048"/>
          </a:xfrm>
          <a:prstGeom prst="rect">
            <a:avLst/>
          </a:prstGeom>
          <a:noFill/>
          <a:ln/>
        </p:spPr>
        <p:txBody>
          <a:bodyPr wrap="square" rtlCol="0" anchor="ctr"/>
          <a:lstStyle/>
          <a:p>
            <a:pPr indent="0" marL="0">
              <a:buNone/>
            </a:pPr>
            <a:r>
              <a:rPr lang="en-US" sz="1300" i="1" dirty="0">
                <a:solidFill>
                  <a:srgbClr val="4CC9F0"/>
                </a:solidFill>
                <a:latin typeface="Calibri" pitchFamily="34" charset="0"/>
                <a:ea typeface="Calibri" pitchFamily="34" charset="-122"/>
                <a:cs typeface="Calibri" pitchFamily="34" charset="-120"/>
              </a:rPr>
              <a:t>🔑  The term for this breaking-down process has a special name — you'll learn it in a moment!</a:t>
            </a:r>
            <a:endParaRPr lang="en-US" sz="130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Weathering &amp; Erosion Words (Set 1)</a:t>
            </a:r>
            <a:endParaRPr lang="en-US" sz="1600" dirty="0"/>
          </a:p>
        </p:txBody>
      </p:sp>
      <p:sp>
        <p:nvSpPr>
          <p:cNvPr id="5" name="Shape 3"/>
          <p:cNvSpPr/>
          <p:nvPr/>
        </p:nvSpPr>
        <p:spPr>
          <a:xfrm>
            <a:off x="365760" y="749808"/>
            <a:ext cx="3657600" cy="1325880"/>
          </a:xfrm>
          <a:prstGeom prst="roundRect">
            <a:avLst>
              <a:gd name="adj" fmla="val 6897"/>
            </a:avLst>
          </a:prstGeom>
          <a:solidFill>
            <a:srgbClr val="1E2F45"/>
          </a:solidFill>
          <a:ln w="25400">
            <a:solidFill>
              <a:srgbClr val="FFB703"/>
            </a:solidFill>
            <a:prstDash val="solid"/>
          </a:ln>
        </p:spPr>
      </p:sp>
      <p:sp>
        <p:nvSpPr>
          <p:cNvPr id="6" name="Shape 4"/>
          <p:cNvSpPr/>
          <p:nvPr/>
        </p:nvSpPr>
        <p:spPr>
          <a:xfrm>
            <a:off x="365760" y="749808"/>
            <a:ext cx="3657600" cy="347472"/>
          </a:xfrm>
          <a:prstGeom prst="roundRect">
            <a:avLst>
              <a:gd name="adj" fmla="val 21053"/>
            </a:avLst>
          </a:prstGeom>
          <a:solidFill>
            <a:srgbClr val="FFB703"/>
          </a:solidFill>
          <a:ln w="12700">
            <a:solidFill>
              <a:srgbClr val="FFB703"/>
            </a:solidFill>
            <a:prstDash val="solid"/>
          </a:ln>
        </p:spPr>
      </p:sp>
      <p:sp>
        <p:nvSpPr>
          <p:cNvPr id="7" name="Text 5"/>
          <p:cNvSpPr/>
          <p:nvPr/>
        </p:nvSpPr>
        <p:spPr>
          <a:xfrm>
            <a:off x="4572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Weathering</a:t>
            </a:r>
            <a:endParaRPr lang="en-US" sz="1200" dirty="0"/>
          </a:p>
        </p:txBody>
      </p:sp>
      <p:sp>
        <p:nvSpPr>
          <p:cNvPr id="8" name="Text 6"/>
          <p:cNvSpPr/>
          <p:nvPr/>
        </p:nvSpPr>
        <p:spPr>
          <a:xfrm>
            <a:off x="4754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breaking down of rocks and other materials on Earth's surface by wind, water, ice, or temperature changes.</a:t>
            </a:r>
            <a:endParaRPr lang="en-US" sz="1050" dirty="0"/>
          </a:p>
        </p:txBody>
      </p:sp>
      <p:sp>
        <p:nvSpPr>
          <p:cNvPr id="9" name="Shape 7"/>
          <p:cNvSpPr/>
          <p:nvPr/>
        </p:nvSpPr>
        <p:spPr>
          <a:xfrm>
            <a:off x="4251960" y="749808"/>
            <a:ext cx="3657600" cy="1325880"/>
          </a:xfrm>
          <a:prstGeom prst="roundRect">
            <a:avLst>
              <a:gd name="adj" fmla="val 6897"/>
            </a:avLst>
          </a:prstGeom>
          <a:solidFill>
            <a:srgbClr val="1E2F45"/>
          </a:solidFill>
          <a:ln w="25400">
            <a:solidFill>
              <a:srgbClr val="F4736A"/>
            </a:solidFill>
            <a:prstDash val="solid"/>
          </a:ln>
        </p:spPr>
      </p:sp>
      <p:sp>
        <p:nvSpPr>
          <p:cNvPr id="10" name="Shape 8"/>
          <p:cNvSpPr/>
          <p:nvPr/>
        </p:nvSpPr>
        <p:spPr>
          <a:xfrm>
            <a:off x="4251960" y="749808"/>
            <a:ext cx="3657600" cy="347472"/>
          </a:xfrm>
          <a:prstGeom prst="roundRect">
            <a:avLst>
              <a:gd name="adj" fmla="val 21053"/>
            </a:avLst>
          </a:prstGeom>
          <a:solidFill>
            <a:srgbClr val="F4736A"/>
          </a:solidFill>
          <a:ln w="12700">
            <a:solidFill>
              <a:srgbClr val="F4736A"/>
            </a:solidFill>
            <a:prstDash val="solid"/>
          </a:ln>
        </p:spPr>
      </p:sp>
      <p:sp>
        <p:nvSpPr>
          <p:cNvPr id="11" name="Text 9"/>
          <p:cNvSpPr/>
          <p:nvPr/>
        </p:nvSpPr>
        <p:spPr>
          <a:xfrm>
            <a:off x="43434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Erosion</a:t>
            </a:r>
            <a:endParaRPr lang="en-US" sz="1200" dirty="0"/>
          </a:p>
        </p:txBody>
      </p:sp>
      <p:sp>
        <p:nvSpPr>
          <p:cNvPr id="12" name="Text 10"/>
          <p:cNvSpPr/>
          <p:nvPr/>
        </p:nvSpPr>
        <p:spPr>
          <a:xfrm>
            <a:off x="43616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movement of weathered rock and soil from one place to another by wind, water, or ice.</a:t>
            </a:r>
            <a:endParaRPr lang="en-US" sz="1050" dirty="0"/>
          </a:p>
        </p:txBody>
      </p:sp>
      <p:sp>
        <p:nvSpPr>
          <p:cNvPr id="13" name="Shape 11"/>
          <p:cNvSpPr/>
          <p:nvPr/>
        </p:nvSpPr>
        <p:spPr>
          <a:xfrm>
            <a:off x="8138160" y="749808"/>
            <a:ext cx="3657600" cy="1325880"/>
          </a:xfrm>
          <a:prstGeom prst="roundRect">
            <a:avLst>
              <a:gd name="adj" fmla="val 6897"/>
            </a:avLst>
          </a:prstGeom>
          <a:solidFill>
            <a:srgbClr val="1E2F45"/>
          </a:solidFill>
          <a:ln w="25400">
            <a:solidFill>
              <a:srgbClr val="4CC9F0"/>
            </a:solidFill>
            <a:prstDash val="solid"/>
          </a:ln>
        </p:spPr>
      </p:sp>
      <p:sp>
        <p:nvSpPr>
          <p:cNvPr id="14" name="Shape 12"/>
          <p:cNvSpPr/>
          <p:nvPr/>
        </p:nvSpPr>
        <p:spPr>
          <a:xfrm>
            <a:off x="8138160" y="749808"/>
            <a:ext cx="3657600" cy="347472"/>
          </a:xfrm>
          <a:prstGeom prst="roundRect">
            <a:avLst>
              <a:gd name="adj" fmla="val 21053"/>
            </a:avLst>
          </a:prstGeom>
          <a:solidFill>
            <a:srgbClr val="4CC9F0"/>
          </a:solidFill>
          <a:ln w="12700">
            <a:solidFill>
              <a:srgbClr val="4CC9F0"/>
            </a:solidFill>
            <a:prstDash val="solid"/>
          </a:ln>
        </p:spPr>
      </p:sp>
      <p:sp>
        <p:nvSpPr>
          <p:cNvPr id="15" name="Text 13"/>
          <p:cNvSpPr/>
          <p:nvPr/>
        </p:nvSpPr>
        <p:spPr>
          <a:xfrm>
            <a:off x="82296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Glacier</a:t>
            </a:r>
            <a:endParaRPr lang="en-US" sz="1200" dirty="0"/>
          </a:p>
        </p:txBody>
      </p:sp>
      <p:sp>
        <p:nvSpPr>
          <p:cNvPr id="16" name="Text 14"/>
          <p:cNvSpPr/>
          <p:nvPr/>
        </p:nvSpPr>
        <p:spPr>
          <a:xfrm>
            <a:off x="82478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slow-moving, massive sheet of ice that grinds and scrapes rock as it moves across the land.</a:t>
            </a:r>
            <a:endParaRPr lang="en-US" sz="1050" dirty="0"/>
          </a:p>
        </p:txBody>
      </p:sp>
      <p:sp>
        <p:nvSpPr>
          <p:cNvPr id="17" name="Shape 15"/>
          <p:cNvSpPr/>
          <p:nvPr/>
        </p:nvSpPr>
        <p:spPr>
          <a:xfrm>
            <a:off x="365760" y="2304288"/>
            <a:ext cx="11430000" cy="1627632"/>
          </a:xfrm>
          <a:prstGeom prst="roundRect">
            <a:avLst>
              <a:gd name="adj" fmla="val 4494"/>
            </a:avLst>
          </a:prstGeom>
          <a:solidFill>
            <a:srgbClr val="1E2F45"/>
          </a:solidFill>
          <a:ln w="12700">
            <a:solidFill>
              <a:srgbClr val="FFB703"/>
            </a:solidFill>
            <a:prstDash val="solid"/>
          </a:ln>
        </p:spPr>
      </p:sp>
      <p:sp>
        <p:nvSpPr>
          <p:cNvPr id="18" name="Text 16"/>
          <p:cNvSpPr/>
          <p:nvPr/>
        </p:nvSpPr>
        <p:spPr>
          <a:xfrm>
            <a:off x="548640" y="2377440"/>
            <a:ext cx="109728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Key Relationship:</a:t>
            </a:r>
            <a:endParaRPr lang="en-US" sz="1200" dirty="0"/>
          </a:p>
        </p:txBody>
      </p:sp>
      <p:sp>
        <p:nvSpPr>
          <p:cNvPr id="19" name="Text 17"/>
          <p:cNvSpPr/>
          <p:nvPr/>
        </p:nvSpPr>
        <p:spPr>
          <a:xfrm>
            <a:off x="548640" y="2761488"/>
            <a:ext cx="10972800" cy="107899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Weathering and erosion are a TWO-STEP TEAM: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Weathering BREAKS rock apart first → Erosion CARRIES those pieces away.</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Think of it like making a smoothie: weathering = the blender breaking fruit into small pieces; erosion = pouring the smoothie into a new container!</a:t>
            </a:r>
            <a:endParaRPr lang="en-US" sz="1200" dirty="0"/>
          </a:p>
        </p:txBody>
      </p:sp>
      <p:sp>
        <p:nvSpPr>
          <p:cNvPr id="20" name="Shape 18"/>
          <p:cNvSpPr/>
          <p:nvPr/>
        </p:nvSpPr>
        <p:spPr>
          <a:xfrm>
            <a:off x="365760" y="4041648"/>
            <a:ext cx="11430000" cy="1691640"/>
          </a:xfrm>
          <a:prstGeom prst="roundRect">
            <a:avLst>
              <a:gd name="adj" fmla="val 4324"/>
            </a:avLst>
          </a:prstGeom>
          <a:solidFill>
            <a:srgbClr val="0A1520"/>
          </a:solidFill>
          <a:ln w="19050">
            <a:solidFill>
              <a:srgbClr val="4CC9F0"/>
            </a:solidFill>
            <a:prstDash val="dash"/>
          </a:ln>
        </p:spPr>
      </p:sp>
      <p:sp>
        <p:nvSpPr>
          <p:cNvPr id="21" name="Text 19"/>
          <p:cNvSpPr/>
          <p:nvPr/>
        </p:nvSpPr>
        <p:spPr>
          <a:xfrm>
            <a:off x="457200" y="4151376"/>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457200" y="4590288"/>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3" name="Text 21"/>
          <p:cNvSpPr/>
          <p:nvPr/>
        </p:nvSpPr>
        <p:spPr>
          <a:xfrm>
            <a:off x="475488" y="4882896"/>
            <a:ext cx="11210544" cy="6400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"glacier ice mass slow moving rock carving erosion valley formation"</a:t>
            </a:r>
            <a:endParaRPr lang="en-US" sz="950" dirty="0"/>
          </a:p>
        </p:txBody>
      </p:sp>
      <p:sp>
        <p:nvSpPr>
          <p:cNvPr id="24" name="Text 22"/>
          <p:cNvSpPr/>
          <p:nvPr/>
        </p:nvSpPr>
        <p:spPr>
          <a:xfrm>
            <a:off x="365760" y="5769864"/>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Glaciers — slow rivers of ice that grind through solid rock</a:t>
            </a:r>
            <a:endParaRPr lang="en-US" sz="9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Weathering &amp; Erosion Words (Set 2)</a:t>
            </a:r>
            <a:endParaRPr lang="en-US" sz="1600" dirty="0"/>
          </a:p>
        </p:txBody>
      </p:sp>
      <p:sp>
        <p:nvSpPr>
          <p:cNvPr id="5" name="Shape 3"/>
          <p:cNvSpPr/>
          <p:nvPr/>
        </p:nvSpPr>
        <p:spPr>
          <a:xfrm>
            <a:off x="365760" y="749808"/>
            <a:ext cx="3657600" cy="1325880"/>
          </a:xfrm>
          <a:prstGeom prst="roundRect">
            <a:avLst>
              <a:gd name="adj" fmla="val 6897"/>
            </a:avLst>
          </a:prstGeom>
          <a:solidFill>
            <a:srgbClr val="1E2F45"/>
          </a:solidFill>
          <a:ln w="25400">
            <a:solidFill>
              <a:srgbClr val="2DC653"/>
            </a:solidFill>
            <a:prstDash val="solid"/>
          </a:ln>
        </p:spPr>
      </p:sp>
      <p:sp>
        <p:nvSpPr>
          <p:cNvPr id="6" name="Shape 4"/>
          <p:cNvSpPr/>
          <p:nvPr/>
        </p:nvSpPr>
        <p:spPr>
          <a:xfrm>
            <a:off x="365760" y="749808"/>
            <a:ext cx="3657600" cy="347472"/>
          </a:xfrm>
          <a:prstGeom prst="roundRect">
            <a:avLst>
              <a:gd name="adj" fmla="val 21053"/>
            </a:avLst>
          </a:prstGeom>
          <a:solidFill>
            <a:srgbClr val="2DC653"/>
          </a:solidFill>
          <a:ln w="12700">
            <a:solidFill>
              <a:srgbClr val="2DC653"/>
            </a:solidFill>
            <a:prstDash val="solid"/>
          </a:ln>
        </p:spPr>
      </p:sp>
      <p:sp>
        <p:nvSpPr>
          <p:cNvPr id="7" name="Text 5"/>
          <p:cNvSpPr/>
          <p:nvPr/>
        </p:nvSpPr>
        <p:spPr>
          <a:xfrm>
            <a:off x="4572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Sediment</a:t>
            </a:r>
            <a:endParaRPr lang="en-US" sz="1200" dirty="0"/>
          </a:p>
        </p:txBody>
      </p:sp>
      <p:sp>
        <p:nvSpPr>
          <p:cNvPr id="8" name="Text 6"/>
          <p:cNvSpPr/>
          <p:nvPr/>
        </p:nvSpPr>
        <p:spPr>
          <a:xfrm>
            <a:off x="4754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Tiny pieces of rock and soil that have been broken off and carried away by natural forces like wind or water.</a:t>
            </a:r>
            <a:endParaRPr lang="en-US" sz="1050" dirty="0"/>
          </a:p>
        </p:txBody>
      </p:sp>
      <p:sp>
        <p:nvSpPr>
          <p:cNvPr id="9" name="Shape 7"/>
          <p:cNvSpPr/>
          <p:nvPr/>
        </p:nvSpPr>
        <p:spPr>
          <a:xfrm>
            <a:off x="4251960" y="749808"/>
            <a:ext cx="3657600" cy="1325880"/>
          </a:xfrm>
          <a:prstGeom prst="roundRect">
            <a:avLst>
              <a:gd name="adj" fmla="val 6897"/>
            </a:avLst>
          </a:prstGeom>
          <a:solidFill>
            <a:srgbClr val="1E2F45"/>
          </a:solidFill>
          <a:ln w="25400">
            <a:solidFill>
              <a:srgbClr val="0096C7"/>
            </a:solidFill>
            <a:prstDash val="solid"/>
          </a:ln>
        </p:spPr>
      </p:sp>
      <p:sp>
        <p:nvSpPr>
          <p:cNvPr id="10" name="Shape 8"/>
          <p:cNvSpPr/>
          <p:nvPr/>
        </p:nvSpPr>
        <p:spPr>
          <a:xfrm>
            <a:off x="4251960" y="749808"/>
            <a:ext cx="3657600" cy="347472"/>
          </a:xfrm>
          <a:prstGeom prst="roundRect">
            <a:avLst>
              <a:gd name="adj" fmla="val 21053"/>
            </a:avLst>
          </a:prstGeom>
          <a:solidFill>
            <a:srgbClr val="0096C7"/>
          </a:solidFill>
          <a:ln w="12700">
            <a:solidFill>
              <a:srgbClr val="0096C7"/>
            </a:solidFill>
            <a:prstDash val="solid"/>
          </a:ln>
        </p:spPr>
      </p:sp>
      <p:sp>
        <p:nvSpPr>
          <p:cNvPr id="11" name="Text 9"/>
          <p:cNvSpPr/>
          <p:nvPr/>
        </p:nvSpPr>
        <p:spPr>
          <a:xfrm>
            <a:off x="43434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Deposition</a:t>
            </a:r>
            <a:endParaRPr lang="en-US" sz="1200" dirty="0"/>
          </a:p>
        </p:txBody>
      </p:sp>
      <p:sp>
        <p:nvSpPr>
          <p:cNvPr id="12" name="Text 10"/>
          <p:cNvSpPr/>
          <p:nvPr/>
        </p:nvSpPr>
        <p:spPr>
          <a:xfrm>
            <a:off x="43616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When sediment slows down and settles in a new place, building up new landforms over time.</a:t>
            </a:r>
            <a:endParaRPr lang="en-US" sz="1050" dirty="0"/>
          </a:p>
        </p:txBody>
      </p:sp>
      <p:sp>
        <p:nvSpPr>
          <p:cNvPr id="13" name="Shape 11"/>
          <p:cNvSpPr/>
          <p:nvPr/>
        </p:nvSpPr>
        <p:spPr>
          <a:xfrm>
            <a:off x="8138160" y="749808"/>
            <a:ext cx="3657600" cy="1325880"/>
          </a:xfrm>
          <a:prstGeom prst="roundRect">
            <a:avLst>
              <a:gd name="adj" fmla="val 6897"/>
            </a:avLst>
          </a:prstGeom>
          <a:solidFill>
            <a:srgbClr val="1E2F45"/>
          </a:solidFill>
          <a:ln w="25400">
            <a:solidFill>
              <a:srgbClr val="E09200"/>
            </a:solidFill>
            <a:prstDash val="solid"/>
          </a:ln>
        </p:spPr>
      </p:sp>
      <p:sp>
        <p:nvSpPr>
          <p:cNvPr id="14" name="Shape 12"/>
          <p:cNvSpPr/>
          <p:nvPr/>
        </p:nvSpPr>
        <p:spPr>
          <a:xfrm>
            <a:off x="8138160" y="749808"/>
            <a:ext cx="3657600" cy="347472"/>
          </a:xfrm>
          <a:prstGeom prst="roundRect">
            <a:avLst>
              <a:gd name="adj" fmla="val 21053"/>
            </a:avLst>
          </a:prstGeom>
          <a:solidFill>
            <a:srgbClr val="E09200"/>
          </a:solidFill>
          <a:ln w="12700">
            <a:solidFill>
              <a:srgbClr val="E09200"/>
            </a:solidFill>
            <a:prstDash val="solid"/>
          </a:ln>
        </p:spPr>
      </p:sp>
      <p:sp>
        <p:nvSpPr>
          <p:cNvPr id="15" name="Text 13"/>
          <p:cNvSpPr/>
          <p:nvPr/>
        </p:nvSpPr>
        <p:spPr>
          <a:xfrm>
            <a:off x="82296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Runoff</a:t>
            </a:r>
            <a:endParaRPr lang="en-US" sz="1200" dirty="0"/>
          </a:p>
        </p:txBody>
      </p:sp>
      <p:sp>
        <p:nvSpPr>
          <p:cNvPr id="16" name="Text 14"/>
          <p:cNvSpPr/>
          <p:nvPr/>
        </p:nvSpPr>
        <p:spPr>
          <a:xfrm>
            <a:off x="82478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Water that flows over the surface of the land after rain, picking up and carrying sediment as it moves.</a:t>
            </a:r>
            <a:endParaRPr lang="en-US" sz="1050" dirty="0"/>
          </a:p>
        </p:txBody>
      </p:sp>
      <p:sp>
        <p:nvSpPr>
          <p:cNvPr id="17" name="Shape 15"/>
          <p:cNvSpPr/>
          <p:nvPr/>
        </p:nvSpPr>
        <p:spPr>
          <a:xfrm>
            <a:off x="365760" y="2304288"/>
            <a:ext cx="11430000" cy="1965960"/>
          </a:xfrm>
          <a:prstGeom prst="roundRect">
            <a:avLst>
              <a:gd name="adj" fmla="val 3721"/>
            </a:avLst>
          </a:prstGeom>
          <a:solidFill>
            <a:srgbClr val="162233"/>
          </a:solidFill>
          <a:ln w="12700">
            <a:solidFill>
              <a:srgbClr val="FFB703"/>
            </a:solidFill>
            <a:prstDash val="solid"/>
          </a:ln>
        </p:spPr>
      </p:sp>
      <p:sp>
        <p:nvSpPr>
          <p:cNvPr id="18" name="Text 16"/>
          <p:cNvSpPr/>
          <p:nvPr/>
        </p:nvSpPr>
        <p:spPr>
          <a:xfrm>
            <a:off x="530352" y="237744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Vocab Connection</a:t>
            </a:r>
            <a:endParaRPr lang="en-US" sz="1300" dirty="0"/>
          </a:p>
        </p:txBody>
      </p:sp>
      <p:sp>
        <p:nvSpPr>
          <p:cNvPr id="19" name="Text 17"/>
          <p:cNvSpPr/>
          <p:nvPr/>
        </p:nvSpPr>
        <p:spPr>
          <a:xfrm>
            <a:off x="530352" y="2743200"/>
            <a:ext cx="11100816" cy="1417320"/>
          </a:xfrm>
          <a:prstGeom prst="rect">
            <a:avLst/>
          </a:prstGeom>
          <a:noFill/>
          <a:ln/>
        </p:spPr>
        <p:txBody>
          <a:bodyPr wrap="square" rtlCol="0" anchor="t"/>
          <a:lstStyle/>
          <a:p>
            <a:pPr algn="l" indent="0" marL="0">
              <a:buNone/>
            </a:pPr>
            <a:r>
              <a:rPr lang="en-US" sz="1250" i="1" dirty="0">
                <a:solidFill>
                  <a:srgbClr val="FFFFFF"/>
                </a:solidFill>
                <a:latin typeface="Calibri" pitchFamily="34" charset="0"/>
                <a:ea typeface="Calibri" pitchFamily="34" charset="-122"/>
                <a:cs typeface="Calibri" pitchFamily="34" charset="-120"/>
              </a:rPr>
              <a:t>Put sediment, deposition, and runoff in the right order of a rock's journey: Which comes first — runoff, sediment being created, or deposition? Explain the order using evidence from the definitions.</a:t>
            </a:r>
            <a:endParaRPr lang="en-US" sz="1250" dirty="0"/>
          </a:p>
        </p:txBody>
      </p:sp>
      <p:sp>
        <p:nvSpPr>
          <p:cNvPr id="20" name="Shape 18"/>
          <p:cNvSpPr/>
          <p:nvPr/>
        </p:nvSpPr>
        <p:spPr>
          <a:xfrm>
            <a:off x="365760" y="4370832"/>
            <a:ext cx="11430000" cy="1719072"/>
          </a:xfrm>
          <a:prstGeom prst="roundRect">
            <a:avLst>
              <a:gd name="adj" fmla="val 4255"/>
            </a:avLst>
          </a:prstGeom>
          <a:solidFill>
            <a:srgbClr val="0A1520"/>
          </a:solidFill>
          <a:ln w="19050">
            <a:solidFill>
              <a:srgbClr val="4CC9F0"/>
            </a:solidFill>
            <a:prstDash val="dash"/>
          </a:ln>
        </p:spPr>
      </p:sp>
      <p:sp>
        <p:nvSpPr>
          <p:cNvPr id="21" name="Text 19"/>
          <p:cNvSpPr/>
          <p:nvPr/>
        </p:nvSpPr>
        <p:spPr>
          <a:xfrm>
            <a:off x="457200" y="4480560"/>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457200" y="4919472"/>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3" name="Text 21"/>
          <p:cNvSpPr/>
          <p:nvPr/>
        </p:nvSpPr>
        <p:spPr>
          <a:xfrm>
            <a:off x="475488" y="5212080"/>
            <a:ext cx="11210544" cy="66751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"river delta deposition sediment deposit aerial view new land formation"</a:t>
            </a:r>
            <a:endParaRPr lang="en-US" sz="950" dirty="0"/>
          </a:p>
        </p:txBody>
      </p:sp>
      <p:sp>
        <p:nvSpPr>
          <p:cNvPr id="24" name="Text 22"/>
          <p:cNvSpPr/>
          <p:nvPr/>
        </p:nvSpPr>
        <p:spPr>
          <a:xfrm>
            <a:off x="365760" y="6126480"/>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River delta — deposition builds new land where rivers meet the sea</a:t>
            </a:r>
            <a:endParaRPr lang="en-US" sz="9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Four Causes of Weathering</a:t>
            </a:r>
            <a:endParaRPr lang="en-US" sz="1600" dirty="0"/>
          </a:p>
        </p:txBody>
      </p:sp>
      <p:sp>
        <p:nvSpPr>
          <p:cNvPr id="5" name="Shape 3"/>
          <p:cNvSpPr/>
          <p:nvPr/>
        </p:nvSpPr>
        <p:spPr>
          <a:xfrm>
            <a:off x="365760" y="749808"/>
            <a:ext cx="5577840" cy="2423160"/>
          </a:xfrm>
          <a:prstGeom prst="roundRect">
            <a:avLst>
              <a:gd name="adj" fmla="val 3019"/>
            </a:avLst>
          </a:prstGeom>
          <a:solidFill>
            <a:srgbClr val="1E2F45"/>
          </a:solidFill>
          <a:ln w="12700">
            <a:solidFill>
              <a:srgbClr val="4CC9F0"/>
            </a:solidFill>
            <a:prstDash val="solid"/>
          </a:ln>
        </p:spPr>
      </p:sp>
      <p:sp>
        <p:nvSpPr>
          <p:cNvPr id="6" name="Text 4"/>
          <p:cNvSpPr/>
          <p:nvPr/>
        </p:nvSpPr>
        <p:spPr>
          <a:xfrm>
            <a:off x="548640" y="841248"/>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 Water Weathering</a:t>
            </a:r>
            <a:endParaRPr lang="en-US" sz="1250" dirty="0"/>
          </a:p>
        </p:txBody>
      </p:sp>
      <p:sp>
        <p:nvSpPr>
          <p:cNvPr id="7" name="Text 5"/>
          <p:cNvSpPr/>
          <p:nvPr/>
        </p:nvSpPr>
        <p:spPr>
          <a:xfrm>
            <a:off x="548640" y="1280160"/>
            <a:ext cx="5212080" cy="178308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Water gets into tiny cracks in rock. When it FREEZES, ice expands — pushing the crack wider. (Freeze-thaw weathering)</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Over thousands of freeze-thaw cycles, the rock splits apart!</a:t>
            </a:r>
            <a:endParaRPr lang="en-US" sz="1150" dirty="0"/>
          </a:p>
        </p:txBody>
      </p:sp>
      <p:sp>
        <p:nvSpPr>
          <p:cNvPr id="8" name="Shape 6"/>
          <p:cNvSpPr/>
          <p:nvPr/>
        </p:nvSpPr>
        <p:spPr>
          <a:xfrm>
            <a:off x="365760" y="3401568"/>
            <a:ext cx="5577840" cy="2423160"/>
          </a:xfrm>
          <a:prstGeom prst="roundRect">
            <a:avLst>
              <a:gd name="adj" fmla="val 3019"/>
            </a:avLst>
          </a:prstGeom>
          <a:solidFill>
            <a:srgbClr val="1E2F45"/>
          </a:solidFill>
          <a:ln w="12700">
            <a:solidFill>
              <a:srgbClr val="FFB703"/>
            </a:solidFill>
            <a:prstDash val="solid"/>
          </a:ln>
        </p:spPr>
      </p:sp>
      <p:sp>
        <p:nvSpPr>
          <p:cNvPr id="9" name="Text 7"/>
          <p:cNvSpPr/>
          <p:nvPr/>
        </p:nvSpPr>
        <p:spPr>
          <a:xfrm>
            <a:off x="548640" y="3493008"/>
            <a:ext cx="5212080" cy="384048"/>
          </a:xfrm>
          <a:prstGeom prst="rect">
            <a:avLst/>
          </a:prstGeom>
          <a:noFill/>
          <a:ln/>
        </p:spPr>
        <p:txBody>
          <a:bodyPr wrap="square" rtlCol="0" anchor="ctr"/>
          <a:lstStyle/>
          <a:p>
            <a:pPr indent="0" marL="0">
              <a:buNone/>
            </a:pPr>
            <a:r>
              <a:rPr lang="en-US" sz="1250" b="1" dirty="0">
                <a:solidFill>
                  <a:srgbClr val="FFB703"/>
                </a:solidFill>
                <a:latin typeface="Calibri" pitchFamily="34" charset="0"/>
                <a:ea typeface="Calibri" pitchFamily="34" charset="-122"/>
                <a:cs typeface="Calibri" pitchFamily="34" charset="-120"/>
              </a:rPr>
              <a:t>💨 Wind Weathering</a:t>
            </a:r>
            <a:endParaRPr lang="en-US" sz="1250" dirty="0"/>
          </a:p>
        </p:txBody>
      </p:sp>
      <p:sp>
        <p:nvSpPr>
          <p:cNvPr id="10" name="Text 8"/>
          <p:cNvSpPr/>
          <p:nvPr/>
        </p:nvSpPr>
        <p:spPr>
          <a:xfrm>
            <a:off x="548640" y="3931920"/>
            <a:ext cx="5212080" cy="178308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Wind blows tiny sand particles against rock surfaces — like microscopic sandpaper blasting away rock grain by grain.</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Creates wild arches, hoodoos, and desert formations!</a:t>
            </a:r>
            <a:endParaRPr lang="en-US" sz="1150" dirty="0"/>
          </a:p>
        </p:txBody>
      </p:sp>
      <p:sp>
        <p:nvSpPr>
          <p:cNvPr id="11" name="Shape 9"/>
          <p:cNvSpPr/>
          <p:nvPr/>
        </p:nvSpPr>
        <p:spPr>
          <a:xfrm>
            <a:off x="6172200" y="749808"/>
            <a:ext cx="5577840" cy="2423160"/>
          </a:xfrm>
          <a:prstGeom prst="roundRect">
            <a:avLst>
              <a:gd name="adj" fmla="val 3019"/>
            </a:avLst>
          </a:prstGeom>
          <a:solidFill>
            <a:srgbClr val="1E2F45"/>
          </a:solidFill>
          <a:ln w="12700">
            <a:solidFill>
              <a:srgbClr val="0096C7"/>
            </a:solidFill>
            <a:prstDash val="solid"/>
          </a:ln>
        </p:spPr>
      </p:sp>
      <p:sp>
        <p:nvSpPr>
          <p:cNvPr id="12" name="Text 10"/>
          <p:cNvSpPr/>
          <p:nvPr/>
        </p:nvSpPr>
        <p:spPr>
          <a:xfrm>
            <a:off x="6355080" y="841248"/>
            <a:ext cx="5212080" cy="384048"/>
          </a:xfrm>
          <a:prstGeom prst="rect">
            <a:avLst/>
          </a:prstGeom>
          <a:noFill/>
          <a:ln/>
        </p:spPr>
        <p:txBody>
          <a:bodyPr wrap="square" rtlCol="0" anchor="ctr"/>
          <a:lstStyle/>
          <a:p>
            <a:pPr indent="0" marL="0">
              <a:buNone/>
            </a:pPr>
            <a:r>
              <a:rPr lang="en-US" sz="1250" b="1" dirty="0">
                <a:solidFill>
                  <a:srgbClr val="0096C7"/>
                </a:solidFill>
                <a:latin typeface="Calibri" pitchFamily="34" charset="0"/>
                <a:ea typeface="Calibri" pitchFamily="34" charset="-122"/>
                <a:cs typeface="Calibri" pitchFamily="34" charset="-120"/>
              </a:rPr>
              <a:t>🧊 Ice / Glaciers</a:t>
            </a:r>
            <a:endParaRPr lang="en-US" sz="1250" dirty="0"/>
          </a:p>
        </p:txBody>
      </p:sp>
      <p:sp>
        <p:nvSpPr>
          <p:cNvPr id="13" name="Text 11"/>
          <p:cNvSpPr/>
          <p:nvPr/>
        </p:nvSpPr>
        <p:spPr>
          <a:xfrm>
            <a:off x="6355080" y="1280160"/>
            <a:ext cx="5212080" cy="178308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Glaciers = slow rivers of ice. As they slide across land, they grind up rock beneath them like GIANT sandpaper.</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Carved Yosemite Valley and Norway's fjords!</a:t>
            </a:r>
            <a:endParaRPr lang="en-US" sz="1150" dirty="0"/>
          </a:p>
        </p:txBody>
      </p:sp>
      <p:sp>
        <p:nvSpPr>
          <p:cNvPr id="14" name="Shape 12"/>
          <p:cNvSpPr/>
          <p:nvPr/>
        </p:nvSpPr>
        <p:spPr>
          <a:xfrm>
            <a:off x="6172200" y="3401568"/>
            <a:ext cx="5577840" cy="2423160"/>
          </a:xfrm>
          <a:prstGeom prst="roundRect">
            <a:avLst>
              <a:gd name="adj" fmla="val 3019"/>
            </a:avLst>
          </a:prstGeom>
          <a:solidFill>
            <a:srgbClr val="1E2F45"/>
          </a:solidFill>
          <a:ln w="12700">
            <a:solidFill>
              <a:srgbClr val="2DC653"/>
            </a:solidFill>
            <a:prstDash val="solid"/>
          </a:ln>
        </p:spPr>
      </p:sp>
      <p:sp>
        <p:nvSpPr>
          <p:cNvPr id="15" name="Text 13"/>
          <p:cNvSpPr/>
          <p:nvPr/>
        </p:nvSpPr>
        <p:spPr>
          <a:xfrm>
            <a:off x="6355080" y="3493008"/>
            <a:ext cx="5212080" cy="384048"/>
          </a:xfrm>
          <a:prstGeom prst="rect">
            <a:avLst/>
          </a:prstGeom>
          <a:noFill/>
          <a:ln/>
        </p:spPr>
        <p:txBody>
          <a:bodyPr wrap="square" rtlCol="0" anchor="ctr"/>
          <a:lstStyle/>
          <a:p>
            <a:pPr indent="0" marL="0">
              <a:buNone/>
            </a:pPr>
            <a:r>
              <a:rPr lang="en-US" sz="1250" b="1" dirty="0">
                <a:solidFill>
                  <a:srgbClr val="2DC653"/>
                </a:solidFill>
                <a:latin typeface="Calibri" pitchFamily="34" charset="0"/>
                <a:ea typeface="Calibri" pitchFamily="34" charset="-122"/>
                <a:cs typeface="Calibri" pitchFamily="34" charset="-120"/>
              </a:rPr>
              <a:t>🌱 Plant Roots</a:t>
            </a:r>
            <a:endParaRPr lang="en-US" sz="1250" dirty="0"/>
          </a:p>
        </p:txBody>
      </p:sp>
      <p:sp>
        <p:nvSpPr>
          <p:cNvPr id="16" name="Text 14"/>
          <p:cNvSpPr/>
          <p:nvPr/>
        </p:nvSpPr>
        <p:spPr>
          <a:xfrm>
            <a:off x="6355080" y="3931920"/>
            <a:ext cx="5212080" cy="178308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Plant roots grow into tiny cracks in rocks. As roots get bigger, they push the crack apart — like a tree root lifting a sidewalk!</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Happens slowly, but over time splits solid rock.</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Following a Rock's Journey: 4 Steps</a:t>
            </a:r>
            <a:endParaRPr lang="en-US" sz="1600" dirty="0"/>
          </a:p>
        </p:txBody>
      </p:sp>
      <p:sp>
        <p:nvSpPr>
          <p:cNvPr id="5" name="Shape 3"/>
          <p:cNvSpPr/>
          <p:nvPr/>
        </p:nvSpPr>
        <p:spPr>
          <a:xfrm>
            <a:off x="365760" y="749808"/>
            <a:ext cx="5577840" cy="2331720"/>
          </a:xfrm>
          <a:prstGeom prst="roundRect">
            <a:avLst>
              <a:gd name="adj" fmla="val 3137"/>
            </a:avLst>
          </a:prstGeom>
          <a:solidFill>
            <a:srgbClr val="1E2F45"/>
          </a:solidFill>
          <a:ln w="12700">
            <a:solidFill>
              <a:srgbClr val="4CC9F0"/>
            </a:solidFill>
            <a:prstDash val="solid"/>
          </a:ln>
        </p:spPr>
      </p:sp>
      <p:sp>
        <p:nvSpPr>
          <p:cNvPr id="6" name="Text 4"/>
          <p:cNvSpPr/>
          <p:nvPr/>
        </p:nvSpPr>
        <p:spPr>
          <a:xfrm>
            <a:off x="548640" y="841248"/>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Step 1: Weathering Begins</a:t>
            </a:r>
            <a:endParaRPr lang="en-US" sz="1200" dirty="0"/>
          </a:p>
        </p:txBody>
      </p:sp>
      <p:sp>
        <p:nvSpPr>
          <p:cNvPr id="7" name="Text 5"/>
          <p:cNvSpPr/>
          <p:nvPr/>
        </p:nvSpPr>
        <p:spPr>
          <a:xfrm>
            <a:off x="548640" y="1271016"/>
            <a:ext cx="5212080" cy="16733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solid rock on a hillside starts to change. Water seeps into a tiny crack and freezes overnight — making the crack wider. Wind grinds the surface down. Over years, small pieces chip off.</a:t>
            </a:r>
            <a:endParaRPr lang="en-US" sz="1150" dirty="0"/>
          </a:p>
        </p:txBody>
      </p:sp>
      <p:sp>
        <p:nvSpPr>
          <p:cNvPr id="8" name="Shape 6"/>
          <p:cNvSpPr/>
          <p:nvPr/>
        </p:nvSpPr>
        <p:spPr>
          <a:xfrm>
            <a:off x="365760" y="3310128"/>
            <a:ext cx="5577840" cy="2331720"/>
          </a:xfrm>
          <a:prstGeom prst="roundRect">
            <a:avLst>
              <a:gd name="adj" fmla="val 3137"/>
            </a:avLst>
          </a:prstGeom>
          <a:solidFill>
            <a:srgbClr val="1E2F45"/>
          </a:solidFill>
          <a:ln w="12700">
            <a:solidFill>
              <a:srgbClr val="4CC9F0"/>
            </a:solidFill>
            <a:prstDash val="solid"/>
          </a:ln>
        </p:spPr>
      </p:sp>
      <p:sp>
        <p:nvSpPr>
          <p:cNvPr id="9" name="Text 7"/>
          <p:cNvSpPr/>
          <p:nvPr/>
        </p:nvSpPr>
        <p:spPr>
          <a:xfrm>
            <a:off x="548640" y="3401568"/>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Step 2: Pieces Break Loose</a:t>
            </a:r>
            <a:endParaRPr lang="en-US" sz="1200" dirty="0"/>
          </a:p>
        </p:txBody>
      </p:sp>
      <p:sp>
        <p:nvSpPr>
          <p:cNvPr id="10" name="Text 8"/>
          <p:cNvSpPr/>
          <p:nvPr/>
        </p:nvSpPr>
        <p:spPr>
          <a:xfrm>
            <a:off x="548640" y="3831336"/>
            <a:ext cx="5212080" cy="16733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 rock chips become loose sediment — small grains of sand, pebbles, or grit. They sit on the soil surface, ready to be moved.</a:t>
            </a:r>
            <a:endParaRPr lang="en-US" sz="1150" dirty="0"/>
          </a:p>
        </p:txBody>
      </p:sp>
      <p:sp>
        <p:nvSpPr>
          <p:cNvPr id="11" name="Shape 9"/>
          <p:cNvSpPr/>
          <p:nvPr/>
        </p:nvSpPr>
        <p:spPr>
          <a:xfrm>
            <a:off x="6172200" y="749808"/>
            <a:ext cx="5577840" cy="2331720"/>
          </a:xfrm>
          <a:prstGeom prst="roundRect">
            <a:avLst>
              <a:gd name="adj" fmla="val 3137"/>
            </a:avLst>
          </a:prstGeom>
          <a:solidFill>
            <a:srgbClr val="1E2F45"/>
          </a:solidFill>
          <a:ln w="12700">
            <a:solidFill>
              <a:srgbClr val="4CC9F0"/>
            </a:solidFill>
            <a:prstDash val="solid"/>
          </a:ln>
        </p:spPr>
      </p:sp>
      <p:sp>
        <p:nvSpPr>
          <p:cNvPr id="12" name="Text 10"/>
          <p:cNvSpPr/>
          <p:nvPr/>
        </p:nvSpPr>
        <p:spPr>
          <a:xfrm>
            <a:off x="6355080" y="841248"/>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Step 3: Erosion Carries Them Away</a:t>
            </a:r>
            <a:endParaRPr lang="en-US" sz="1200" dirty="0"/>
          </a:p>
        </p:txBody>
      </p:sp>
      <p:sp>
        <p:nvSpPr>
          <p:cNvPr id="13" name="Text 11"/>
          <p:cNvSpPr/>
          <p:nvPr/>
        </p:nvSpPr>
        <p:spPr>
          <a:xfrm>
            <a:off x="6355080" y="1271016"/>
            <a:ext cx="5212080" cy="16733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Rain falls and runoff flows downhill, picking up the loose sediment. Faster water carries more — a fast river can carry boulders, but a slow stream only carries sand. This is EROSION in action!</a:t>
            </a:r>
            <a:endParaRPr lang="en-US" sz="1150" dirty="0"/>
          </a:p>
        </p:txBody>
      </p:sp>
      <p:sp>
        <p:nvSpPr>
          <p:cNvPr id="14" name="Shape 12"/>
          <p:cNvSpPr/>
          <p:nvPr/>
        </p:nvSpPr>
        <p:spPr>
          <a:xfrm>
            <a:off x="6172200" y="3310128"/>
            <a:ext cx="5577840" cy="2331720"/>
          </a:xfrm>
          <a:prstGeom prst="roundRect">
            <a:avLst>
              <a:gd name="adj" fmla="val 3137"/>
            </a:avLst>
          </a:prstGeom>
          <a:solidFill>
            <a:srgbClr val="1E2F45"/>
          </a:solidFill>
          <a:ln w="12700">
            <a:solidFill>
              <a:srgbClr val="4CC9F0"/>
            </a:solidFill>
            <a:prstDash val="solid"/>
          </a:ln>
        </p:spPr>
      </p:sp>
      <p:sp>
        <p:nvSpPr>
          <p:cNvPr id="15" name="Text 13"/>
          <p:cNvSpPr/>
          <p:nvPr/>
        </p:nvSpPr>
        <p:spPr>
          <a:xfrm>
            <a:off x="6355080" y="3401568"/>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Step 4: Deposition — A New Home</a:t>
            </a:r>
            <a:endParaRPr lang="en-US" sz="1200" dirty="0"/>
          </a:p>
        </p:txBody>
      </p:sp>
      <p:sp>
        <p:nvSpPr>
          <p:cNvPr id="16" name="Text 14"/>
          <p:cNvSpPr/>
          <p:nvPr/>
        </p:nvSpPr>
        <p:spPr>
          <a:xfrm>
            <a:off x="6355080" y="3831336"/>
            <a:ext cx="5212080" cy="16733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When water slows down (reaching a flat valley or river mouth), it can no longer carry heavy sediment. Grains sink and settle — DEPOSITION! Over time, this builds river deltas, beaches, and fertile floodplains.</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DIAGRAM — Erosion on a Hillside</a:t>
            </a:r>
            <a:endParaRPr lang="en-US" sz="1600" dirty="0"/>
          </a:p>
        </p:txBody>
      </p:sp>
      <p:sp>
        <p:nvSpPr>
          <p:cNvPr id="5" name="Text 3"/>
          <p:cNvSpPr/>
          <p:nvPr/>
        </p:nvSpPr>
        <p:spPr>
          <a:xfrm>
            <a:off x="365760" y="749808"/>
            <a:ext cx="114300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Evidence-Based Prediction FIRST:</a:t>
            </a:r>
            <a:endParaRPr lang="en-US" sz="1200" dirty="0"/>
          </a:p>
        </p:txBody>
      </p:sp>
      <p:sp>
        <p:nvSpPr>
          <p:cNvPr id="6" name="Text 4"/>
          <p:cNvSpPr/>
          <p:nvPr/>
        </p:nvSpPr>
        <p:spPr>
          <a:xfrm>
            <a:off x="365760" y="1133856"/>
            <a:ext cx="11430000" cy="457200"/>
          </a:xfrm>
          <a:prstGeom prst="rect">
            <a:avLst/>
          </a:prstGeom>
          <a:noFill/>
          <a:ln/>
        </p:spPr>
        <p:txBody>
          <a:bodyPr wrap="square" rtlCol="0" anchor="ctr"/>
          <a:lstStyle/>
          <a:p>
            <a:pPr indent="0" marL="0">
              <a:buNone/>
            </a:pPr>
            <a:r>
              <a:rPr lang="en-US" sz="1250" i="1" dirty="0">
                <a:solidFill>
                  <a:srgbClr val="B0C4D8"/>
                </a:solidFill>
                <a:latin typeface="Calibri" pitchFamily="34" charset="0"/>
                <a:ea typeface="Calibri" pitchFamily="34" charset="-122"/>
                <a:cs typeface="Calibri" pitchFamily="34" charset="-120"/>
              </a:rPr>
              <a:t>"I predict the most erosion will happen ___ on the hillside because ___."  Write it — then we'll check!</a:t>
            </a:r>
            <a:endParaRPr lang="en-US" sz="1250" dirty="0"/>
          </a:p>
        </p:txBody>
      </p:sp>
      <p:sp>
        <p:nvSpPr>
          <p:cNvPr id="7" name="Shape 5"/>
          <p:cNvSpPr/>
          <p:nvPr/>
        </p:nvSpPr>
        <p:spPr>
          <a:xfrm>
            <a:off x="365760" y="1719072"/>
            <a:ext cx="7772400" cy="4041648"/>
          </a:xfrm>
          <a:prstGeom prst="roundRect">
            <a:avLst>
              <a:gd name="adj" fmla="val 1810"/>
            </a:avLst>
          </a:prstGeom>
          <a:solidFill>
            <a:srgbClr val="0A1520"/>
          </a:solidFill>
          <a:ln w="19050">
            <a:solidFill>
              <a:srgbClr val="4CC9F0"/>
            </a:solidFill>
            <a:prstDash val="dash"/>
          </a:ln>
        </p:spPr>
      </p:sp>
      <p:sp>
        <p:nvSpPr>
          <p:cNvPr id="8" name="Text 6"/>
          <p:cNvSpPr/>
          <p:nvPr/>
        </p:nvSpPr>
        <p:spPr>
          <a:xfrm>
            <a:off x="457200" y="1828800"/>
            <a:ext cx="7589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267712"/>
            <a:ext cx="75895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560320"/>
            <a:ext cx="7552944" cy="299008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"hillside erosion diagram cross section soil layer plant roots rock layers running water sediment deposit labeled"</a:t>
            </a:r>
            <a:endParaRPr lang="en-US" sz="950" dirty="0"/>
          </a:p>
        </p:txBody>
      </p:sp>
      <p:sp>
        <p:nvSpPr>
          <p:cNvPr id="11" name="Text 9"/>
          <p:cNvSpPr/>
          <p:nvPr/>
        </p:nvSpPr>
        <p:spPr>
          <a:xfrm>
            <a:off x="365760" y="5797296"/>
            <a:ext cx="77724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Erosion on a hillside — from weathered rock at the top to sediment deposit at the bottom</a:t>
            </a:r>
            <a:endParaRPr lang="en-US" sz="900" dirty="0"/>
          </a:p>
        </p:txBody>
      </p:sp>
      <p:sp>
        <p:nvSpPr>
          <p:cNvPr id="12" name="Shape 10"/>
          <p:cNvSpPr/>
          <p:nvPr/>
        </p:nvSpPr>
        <p:spPr>
          <a:xfrm>
            <a:off x="8321040" y="1719072"/>
            <a:ext cx="3474720" cy="4041648"/>
          </a:xfrm>
          <a:prstGeom prst="roundRect">
            <a:avLst>
              <a:gd name="adj" fmla="val 2105"/>
            </a:avLst>
          </a:prstGeom>
          <a:solidFill>
            <a:srgbClr val="1E2F45"/>
          </a:solidFill>
          <a:ln w="12700">
            <a:solidFill>
              <a:srgbClr val="FFB703"/>
            </a:solidFill>
            <a:prstDash val="solid"/>
          </a:ln>
        </p:spPr>
      </p:sp>
      <p:sp>
        <p:nvSpPr>
          <p:cNvPr id="13" name="Text 11"/>
          <p:cNvSpPr/>
          <p:nvPr/>
        </p:nvSpPr>
        <p:spPr>
          <a:xfrm>
            <a:off x="8458200" y="1792224"/>
            <a:ext cx="32004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Diagram Labels</a:t>
            </a:r>
            <a:endParaRPr lang="en-US" sz="1200" dirty="0"/>
          </a:p>
        </p:txBody>
      </p:sp>
      <p:sp>
        <p:nvSpPr>
          <p:cNvPr id="14" name="Text 12"/>
          <p:cNvSpPr/>
          <p:nvPr/>
        </p:nvSpPr>
        <p:spPr>
          <a:xfrm>
            <a:off x="8458200" y="2212848"/>
            <a:ext cx="3200400" cy="5029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1. Soil Layer</a:t>
            </a:r>
            <a:endParaRPr lang="en-US" sz="1100" dirty="0"/>
          </a:p>
        </p:txBody>
      </p:sp>
      <p:sp>
        <p:nvSpPr>
          <p:cNvPr id="15" name="Text 13"/>
          <p:cNvSpPr/>
          <p:nvPr/>
        </p:nvSpPr>
        <p:spPr>
          <a:xfrm>
            <a:off x="8458200" y="2807208"/>
            <a:ext cx="3200400" cy="5029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2. Plant Roots</a:t>
            </a:r>
            <a:endParaRPr lang="en-US" sz="1100" dirty="0"/>
          </a:p>
        </p:txBody>
      </p:sp>
      <p:sp>
        <p:nvSpPr>
          <p:cNvPr id="16" name="Text 14"/>
          <p:cNvSpPr/>
          <p:nvPr/>
        </p:nvSpPr>
        <p:spPr>
          <a:xfrm>
            <a:off x="8458200" y="3401568"/>
            <a:ext cx="3200400" cy="5029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 Rock Layers</a:t>
            </a:r>
            <a:endParaRPr lang="en-US" sz="1100" dirty="0"/>
          </a:p>
        </p:txBody>
      </p:sp>
      <p:sp>
        <p:nvSpPr>
          <p:cNvPr id="17" name="Text 15"/>
          <p:cNvSpPr/>
          <p:nvPr/>
        </p:nvSpPr>
        <p:spPr>
          <a:xfrm>
            <a:off x="8458200" y="3995928"/>
            <a:ext cx="3200400" cy="5029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4. Running Water (Runoff)</a:t>
            </a:r>
            <a:endParaRPr lang="en-US" sz="1100" dirty="0"/>
          </a:p>
        </p:txBody>
      </p:sp>
      <p:sp>
        <p:nvSpPr>
          <p:cNvPr id="18" name="Text 16"/>
          <p:cNvSpPr/>
          <p:nvPr/>
        </p:nvSpPr>
        <p:spPr>
          <a:xfrm>
            <a:off x="8458200" y="4590288"/>
            <a:ext cx="3200400" cy="5029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5. Weathered Rock Pieces</a:t>
            </a:r>
            <a:endParaRPr lang="en-US" sz="1100" dirty="0"/>
          </a:p>
        </p:txBody>
      </p:sp>
      <p:sp>
        <p:nvSpPr>
          <p:cNvPr id="19" name="Text 17"/>
          <p:cNvSpPr/>
          <p:nvPr/>
        </p:nvSpPr>
        <p:spPr>
          <a:xfrm>
            <a:off x="8458200" y="5184648"/>
            <a:ext cx="3200400" cy="5029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6. Sediment Deposit at base</a:t>
            </a:r>
            <a:endParaRPr lang="en-US" sz="11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REASONING — Steep Hills &amp; Plant Roots</a:t>
            </a:r>
            <a:endParaRPr lang="en-US" sz="1600" dirty="0"/>
          </a:p>
        </p:txBody>
      </p:sp>
      <p:sp>
        <p:nvSpPr>
          <p:cNvPr id="5" name="Shape 3"/>
          <p:cNvSpPr/>
          <p:nvPr/>
        </p:nvSpPr>
        <p:spPr>
          <a:xfrm>
            <a:off x="365760" y="749808"/>
            <a:ext cx="11430000" cy="1828800"/>
          </a:xfrm>
          <a:prstGeom prst="roundRect">
            <a:avLst>
              <a:gd name="adj" fmla="val 4000"/>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Reason</a:t>
            </a:r>
            <a:endParaRPr lang="en-US" sz="1300" dirty="0"/>
          </a:p>
        </p:txBody>
      </p:sp>
      <p:sp>
        <p:nvSpPr>
          <p:cNvPr id="7" name="Text 5"/>
          <p:cNvSpPr/>
          <p:nvPr/>
        </p:nvSpPr>
        <p:spPr>
          <a:xfrm>
            <a:off x="530352" y="1188720"/>
            <a:ext cx="11100816" cy="128016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"Why do you think erosion is worse on a steep hill than on flat ground? And why would a hill covered in grass erode LESS than a bare, rocky hill with no plants?"</a:t>
            </a:r>
            <a:endParaRPr lang="en-US" sz="1300" dirty="0"/>
          </a:p>
        </p:txBody>
      </p:sp>
      <p:sp>
        <p:nvSpPr>
          <p:cNvPr id="8" name="Shape 6"/>
          <p:cNvSpPr/>
          <p:nvPr/>
        </p:nvSpPr>
        <p:spPr>
          <a:xfrm>
            <a:off x="365760" y="2743200"/>
            <a:ext cx="11430000" cy="2286000"/>
          </a:xfrm>
          <a:prstGeom prst="roundRect">
            <a:avLst>
              <a:gd name="adj" fmla="val 3200"/>
            </a:avLst>
          </a:prstGeom>
          <a:solidFill>
            <a:srgbClr val="1E2F45"/>
          </a:solidFill>
          <a:ln w="12700">
            <a:solidFill>
              <a:srgbClr val="4CC9F0"/>
            </a:solidFill>
            <a:prstDash val="solid"/>
          </a:ln>
        </p:spPr>
      </p:sp>
      <p:sp>
        <p:nvSpPr>
          <p:cNvPr id="9" name="Text 7"/>
          <p:cNvSpPr/>
          <p:nvPr/>
        </p:nvSpPr>
        <p:spPr>
          <a:xfrm>
            <a:off x="548640" y="281635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Evidence Frame:</a:t>
            </a:r>
            <a:endParaRPr lang="en-US" sz="1200" dirty="0"/>
          </a:p>
        </p:txBody>
      </p:sp>
      <p:sp>
        <p:nvSpPr>
          <p:cNvPr id="10" name="Text 8"/>
          <p:cNvSpPr/>
          <p:nvPr/>
        </p:nvSpPr>
        <p:spPr>
          <a:xfrm>
            <a:off x="548640" y="3200400"/>
            <a:ext cx="10972800" cy="457200"/>
          </a:xfrm>
          <a:prstGeom prst="rect">
            <a:avLst/>
          </a:prstGeom>
          <a:noFill/>
          <a:ln/>
        </p:spPr>
        <p:txBody>
          <a:bodyPr wrap="square" rtlCol="0" anchor="ctr"/>
          <a:lstStyle/>
          <a:p>
            <a:pPr indent="0" marL="0">
              <a:buNone/>
            </a:pPr>
            <a:r>
              <a:rPr lang="en-US" sz="1400" i="1" dirty="0">
                <a:solidFill>
                  <a:srgbClr val="FFB703"/>
                </a:solidFill>
                <a:latin typeface="Calibri" pitchFamily="34" charset="0"/>
                <a:ea typeface="Calibri" pitchFamily="34" charset="-122"/>
                <a:cs typeface="Calibri" pitchFamily="34" charset="-120"/>
              </a:rPr>
              <a:t>"I know ___ because I observed/learned ___. This shows ___."</a:t>
            </a:r>
            <a:endParaRPr lang="en-US" sz="1400" dirty="0"/>
          </a:p>
        </p:txBody>
      </p:sp>
      <p:sp>
        <p:nvSpPr>
          <p:cNvPr id="11" name="Text 9"/>
          <p:cNvSpPr/>
          <p:nvPr/>
        </p:nvSpPr>
        <p:spPr>
          <a:xfrm>
            <a:off x="548640" y="3712464"/>
            <a:ext cx="10972800" cy="1170432"/>
          </a:xfrm>
          <a:prstGeom prst="rect">
            <a:avLst/>
          </a:prstGeom>
          <a:noFill/>
          <a:ln/>
        </p:spPr>
        <p:txBody>
          <a:bodyPr wrap="square" rtlCol="0" anchor="ctr"/>
          <a:lstStyle/>
          <a:p>
            <a:pPr indent="0" marL="0">
              <a:buNone/>
            </a:pPr>
            <a:r>
              <a:rPr lang="en-US" sz="1150" i="1" dirty="0">
                <a:solidFill>
                  <a:srgbClr val="B0C4D8"/>
                </a:solidFill>
                <a:latin typeface="Calibri" pitchFamily="34" charset="0"/>
                <a:ea typeface="Calibri" pitchFamily="34" charset="-122"/>
                <a:cs typeface="Calibri" pitchFamily="34" charset="-120"/>
              </a:rPr>
              <a:t>Example: "I know grass reduces erosion because I learned that plant roots grip and hold soil in place. This shows that without plants, there's nothing to anchor the soil — which is exactly why the Dust Bowl was so devastating when farmland had no plant cover."</a:t>
            </a:r>
            <a:endParaRPr lang="en-US" sz="115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REASONING — Historical Connection</a:t>
            </a:r>
            <a:endParaRPr lang="en-US" sz="1600" dirty="0"/>
          </a:p>
        </p:txBody>
      </p:sp>
      <p:sp>
        <p:nvSpPr>
          <p:cNvPr id="5" name="Shape 3"/>
          <p:cNvSpPr/>
          <p:nvPr/>
        </p:nvSpPr>
        <p:spPr>
          <a:xfrm>
            <a:off x="365760" y="749808"/>
            <a:ext cx="5577840" cy="5102352"/>
          </a:xfrm>
          <a:prstGeom prst="roundRect">
            <a:avLst>
              <a:gd name="adj" fmla="val 1434"/>
            </a:avLst>
          </a:prstGeom>
          <a:solidFill>
            <a:srgbClr val="1E2F45"/>
          </a:solidFill>
          <a:ln w="12700">
            <a:solidFill>
              <a:srgbClr val="F4736A"/>
            </a:solidFill>
            <a:prstDash val="solid"/>
          </a:ln>
        </p:spPr>
      </p:sp>
      <p:sp>
        <p:nvSpPr>
          <p:cNvPr id="6" name="Text 4"/>
          <p:cNvSpPr/>
          <p:nvPr/>
        </p:nvSpPr>
        <p:spPr>
          <a:xfrm>
            <a:off x="548640" y="822960"/>
            <a:ext cx="521208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The Dust Bowl (1930s)</a:t>
            </a:r>
            <a:endParaRPr lang="en-US" sz="1300" dirty="0"/>
          </a:p>
        </p:txBody>
      </p:sp>
      <p:sp>
        <p:nvSpPr>
          <p:cNvPr id="7" name="Text 5"/>
          <p:cNvSpPr/>
          <p:nvPr/>
        </p:nvSpPr>
        <p:spPr>
          <a:xfrm>
            <a:off x="548640" y="1261872"/>
            <a:ext cx="5212080" cy="2670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Massive wind erosion created a disaster. With no plant roots holding the soil in place, wind blew away millions of acres of topsoil across the Great Plains.</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Entire farms were buried in dust. It took DECADES to recover.</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Scientists learned that plants are Earth's most important protection against erosion.</a:t>
            </a:r>
            <a:endParaRPr lang="en-US" sz="1150" dirty="0"/>
          </a:p>
        </p:txBody>
      </p:sp>
      <p:sp>
        <p:nvSpPr>
          <p:cNvPr id="8" name="Shape 6"/>
          <p:cNvSpPr/>
          <p:nvPr/>
        </p:nvSpPr>
        <p:spPr>
          <a:xfrm>
            <a:off x="548640" y="4005072"/>
            <a:ext cx="5212080" cy="1664208"/>
          </a:xfrm>
          <a:prstGeom prst="roundRect">
            <a:avLst>
              <a:gd name="adj" fmla="val 4396"/>
            </a:avLst>
          </a:prstGeom>
          <a:solidFill>
            <a:srgbClr val="0A1520"/>
          </a:solidFill>
          <a:ln w="19050">
            <a:solidFill>
              <a:srgbClr val="4CC9F0"/>
            </a:solidFill>
            <a:prstDash val="dash"/>
          </a:ln>
        </p:spPr>
      </p:sp>
      <p:sp>
        <p:nvSpPr>
          <p:cNvPr id="9" name="Text 7"/>
          <p:cNvSpPr/>
          <p:nvPr/>
        </p:nvSpPr>
        <p:spPr>
          <a:xfrm>
            <a:off x="640080" y="4114800"/>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640080" y="4553712"/>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1" name="Text 9"/>
          <p:cNvSpPr/>
          <p:nvPr/>
        </p:nvSpPr>
        <p:spPr>
          <a:xfrm>
            <a:off x="658368" y="4846320"/>
            <a:ext cx="4992624" cy="61264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"Dust Bowl 1930s farm buried dust erosion Great Plains historical photo"</a:t>
            </a:r>
            <a:endParaRPr lang="en-US" sz="950" dirty="0"/>
          </a:p>
        </p:txBody>
      </p:sp>
      <p:sp>
        <p:nvSpPr>
          <p:cNvPr id="12" name="Text 10"/>
          <p:cNvSpPr/>
          <p:nvPr/>
        </p:nvSpPr>
        <p:spPr>
          <a:xfrm>
            <a:off x="548640" y="5705856"/>
            <a:ext cx="52120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Dust Bowl — when removing plants caused catastrophic erosion</a:t>
            </a:r>
            <a:endParaRPr lang="en-US" sz="900" dirty="0"/>
          </a:p>
        </p:txBody>
      </p:sp>
      <p:sp>
        <p:nvSpPr>
          <p:cNvPr id="13" name="Shape 11"/>
          <p:cNvSpPr/>
          <p:nvPr/>
        </p:nvSpPr>
        <p:spPr>
          <a:xfrm>
            <a:off x="6172200" y="749808"/>
            <a:ext cx="5577840" cy="5102352"/>
          </a:xfrm>
          <a:prstGeom prst="roundRect">
            <a:avLst>
              <a:gd name="adj" fmla="val 1434"/>
            </a:avLst>
          </a:prstGeom>
          <a:solidFill>
            <a:srgbClr val="1E2F45"/>
          </a:solidFill>
          <a:ln w="12700">
            <a:solidFill>
              <a:srgbClr val="4CC9F0"/>
            </a:solidFill>
            <a:prstDash val="solid"/>
          </a:ln>
        </p:spPr>
      </p:sp>
      <p:sp>
        <p:nvSpPr>
          <p:cNvPr id="14" name="Text 12"/>
          <p:cNvSpPr/>
          <p:nvPr/>
        </p:nvSpPr>
        <p:spPr>
          <a:xfrm>
            <a:off x="6355080" y="822960"/>
            <a:ext cx="521208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Early Explorers Used Erosion Knowledge</a:t>
            </a:r>
            <a:endParaRPr lang="en-US" sz="1300" dirty="0"/>
          </a:p>
        </p:txBody>
      </p:sp>
      <p:sp>
        <p:nvSpPr>
          <p:cNvPr id="15" name="Text 13"/>
          <p:cNvSpPr/>
          <p:nvPr/>
        </p:nvSpPr>
        <p:spPr>
          <a:xfrm>
            <a:off x="6355080" y="1261872"/>
            <a:ext cx="5212080" cy="44074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Early explorers and farmers watched how the land changed. They used this knowledge to:</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Find good places to grow crops — where erosion had built up RICH SOIL near rivers (deposition!)</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Find gold, silver, and minerals — erosion exposed valuable materials that were once buried underground</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Miners even learned to copy nature's ways of breaking down rock to extract minerals faster</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ELABORATE — Mind-Blowing + Go Deeper</a:t>
            </a:r>
            <a:endParaRPr lang="en-US" sz="1600" dirty="0"/>
          </a:p>
        </p:txBody>
      </p:sp>
      <p:sp>
        <p:nvSpPr>
          <p:cNvPr id="5" name="Shape 3"/>
          <p:cNvSpPr/>
          <p:nvPr/>
        </p:nvSpPr>
        <p:spPr>
          <a:xfrm>
            <a:off x="365760" y="749808"/>
            <a:ext cx="11430000" cy="1965960"/>
          </a:xfrm>
          <a:prstGeom prst="roundRect">
            <a:avLst>
              <a:gd name="adj" fmla="val 3721"/>
            </a:avLst>
          </a:prstGeom>
          <a:solidFill>
            <a:srgbClr val="1E2F45"/>
          </a:solidFill>
          <a:ln w="12700">
            <a:solidFill>
              <a:srgbClr val="F4736A"/>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Mind-Blowing: It Takes 500 Years to Make ONE Inch of Topsoil!</a:t>
            </a:r>
            <a:endParaRPr lang="en-US" sz="1300" dirty="0"/>
          </a:p>
        </p:txBody>
      </p:sp>
      <p:sp>
        <p:nvSpPr>
          <p:cNvPr id="7" name="Text 5"/>
          <p:cNvSpPr/>
          <p:nvPr/>
        </p:nvSpPr>
        <p:spPr>
          <a:xfrm>
            <a:off x="548640" y="1261872"/>
            <a:ext cx="10972800" cy="1261872"/>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Soil doesn't just appear — it's made through weathering! Over thousands of years, rocks are broken into smaller and smaller pieces by water, wind, ice, and plant roots. The tiniest pieces mix with decayed leaves to form soil.</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The soil in your garden is ANCIENT HISTORY — about 500 years to make just one inch of topsoil. This is why protecting soil from erosion is so critical!</a:t>
            </a:r>
            <a:endParaRPr lang="en-US" sz="1200" dirty="0"/>
          </a:p>
        </p:txBody>
      </p:sp>
      <p:sp>
        <p:nvSpPr>
          <p:cNvPr id="8" name="Shape 6"/>
          <p:cNvSpPr/>
          <p:nvPr/>
        </p:nvSpPr>
        <p:spPr>
          <a:xfrm>
            <a:off x="365760" y="2852928"/>
            <a:ext cx="5577840" cy="2788920"/>
          </a:xfrm>
          <a:prstGeom prst="roundRect">
            <a:avLst>
              <a:gd name="adj" fmla="val 2623"/>
            </a:avLst>
          </a:prstGeom>
          <a:solidFill>
            <a:srgbClr val="1A1A3A"/>
          </a:solidFill>
          <a:ln w="12700">
            <a:solidFill>
              <a:srgbClr val="0096C7"/>
            </a:solidFill>
            <a:prstDash val="solid"/>
          </a:ln>
        </p:spPr>
      </p:sp>
      <p:sp>
        <p:nvSpPr>
          <p:cNvPr id="9" name="Text 7"/>
          <p:cNvSpPr/>
          <p:nvPr/>
        </p:nvSpPr>
        <p:spPr>
          <a:xfrm>
            <a:off x="548640" y="2926080"/>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Types of Erosion: Slow vs. Fast</a:t>
            </a:r>
            <a:endParaRPr lang="en-US" sz="1200" dirty="0"/>
          </a:p>
        </p:txBody>
      </p:sp>
      <p:sp>
        <p:nvSpPr>
          <p:cNvPr id="10" name="Text 8"/>
          <p:cNvSpPr/>
          <p:nvPr/>
        </p:nvSpPr>
        <p:spPr>
          <a:xfrm>
            <a:off x="548640" y="3364992"/>
            <a:ext cx="5212080" cy="20848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SLOW: Colorado River carving the Grand Canyon over 5-6 million years — millimeter by millimeter.</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FAST: Heavy rainstorms, flooding rivers, crumbling cliffs — move huge amounts of sediment in MINUTES.</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Landslide = extreme fast erosion — tons of soil rush downhill at once!</a:t>
            </a:r>
            <a:endParaRPr lang="en-US" sz="1100" dirty="0"/>
          </a:p>
        </p:txBody>
      </p:sp>
      <p:sp>
        <p:nvSpPr>
          <p:cNvPr id="11" name="Shape 9"/>
          <p:cNvSpPr/>
          <p:nvPr/>
        </p:nvSpPr>
        <p:spPr>
          <a:xfrm>
            <a:off x="6172200" y="2852928"/>
            <a:ext cx="5577840" cy="2788920"/>
          </a:xfrm>
          <a:prstGeom prst="roundRect">
            <a:avLst>
              <a:gd name="adj" fmla="val 2623"/>
            </a:avLst>
          </a:prstGeom>
          <a:solidFill>
            <a:srgbClr val="1A1A3A"/>
          </a:solidFill>
          <a:ln w="12700">
            <a:solidFill>
              <a:srgbClr val="2DC653"/>
            </a:solidFill>
            <a:prstDash val="solid"/>
          </a:ln>
        </p:spPr>
      </p:sp>
      <p:sp>
        <p:nvSpPr>
          <p:cNvPr id="12" name="Text 10"/>
          <p:cNvSpPr/>
          <p:nvPr/>
        </p:nvSpPr>
        <p:spPr>
          <a:xfrm>
            <a:off x="6355080" y="2926080"/>
            <a:ext cx="5212080" cy="38404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Protecting Against Erosion Today</a:t>
            </a:r>
            <a:endParaRPr lang="en-US" sz="1200" dirty="0"/>
          </a:p>
        </p:txBody>
      </p:sp>
      <p:sp>
        <p:nvSpPr>
          <p:cNvPr id="13" name="Text 11"/>
          <p:cNvSpPr/>
          <p:nvPr/>
        </p:nvSpPr>
        <p:spPr>
          <a:xfrm>
            <a:off x="6355080" y="3364992"/>
            <a:ext cx="5212080" cy="20848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Scientists today study erosion to help communities protect:</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Coastlines from shrinking</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Farms from losing topsoil</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Rivers from flooding with sediment</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Engineers design barriers and plant trees to slow erosion. Understanding Earth's processes helps us protect our environment!</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SELF-CHECK — Let's See What You Know!</a:t>
            </a:r>
            <a:endParaRPr lang="en-US" sz="1600" dirty="0"/>
          </a:p>
        </p:txBody>
      </p:sp>
      <p:sp>
        <p:nvSpPr>
          <p:cNvPr id="5" name="Shape 3"/>
          <p:cNvSpPr/>
          <p:nvPr/>
        </p:nvSpPr>
        <p:spPr>
          <a:xfrm>
            <a:off x="365760" y="749808"/>
            <a:ext cx="11430000" cy="1783080"/>
          </a:xfrm>
          <a:prstGeom prst="roundRect">
            <a:avLst>
              <a:gd name="adj" fmla="val 4103"/>
            </a:avLst>
          </a:prstGeom>
          <a:solidFill>
            <a:srgbClr val="1E2F45"/>
          </a:solidFill>
          <a:ln w="12700">
            <a:solidFill>
              <a:srgbClr val="243A52"/>
            </a:solidFill>
            <a:prstDash val="solid"/>
          </a:ln>
        </p:spPr>
      </p:sp>
      <p:sp>
        <p:nvSpPr>
          <p:cNvPr id="6" name="Text 4"/>
          <p:cNvSpPr/>
          <p:nvPr/>
        </p:nvSpPr>
        <p:spPr>
          <a:xfrm>
            <a:off x="548640" y="82296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1.  What is the difference between weathering and erosion?</a:t>
            </a:r>
            <a:endParaRPr lang="en-US" sz="1250" dirty="0"/>
          </a:p>
        </p:txBody>
      </p:sp>
      <p:sp>
        <p:nvSpPr>
          <p:cNvPr id="7" name="Text 5"/>
          <p:cNvSpPr/>
          <p:nvPr/>
        </p:nvSpPr>
        <p:spPr>
          <a:xfrm>
            <a:off x="548640" y="120700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They are the same — just different words     B — Weathering breaks rocks down; erosion moves the broken pieces away ✓     C — Erosion happens underground; weathering happens at the surface</a:t>
            </a:r>
            <a:endParaRPr lang="en-US" sz="1100" dirty="0"/>
          </a:p>
        </p:txBody>
      </p:sp>
      <p:sp>
        <p:nvSpPr>
          <p:cNvPr id="8" name="Text 6"/>
          <p:cNvSpPr/>
          <p:nvPr/>
        </p:nvSpPr>
        <p:spPr>
          <a:xfrm>
            <a:off x="548640" y="170992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B is correct! Weathering = BREAK. Erosion = MOVE. They work together as a team!</a:t>
            </a:r>
            <a:endParaRPr lang="en-US" sz="1050" dirty="0"/>
          </a:p>
        </p:txBody>
      </p:sp>
      <p:sp>
        <p:nvSpPr>
          <p:cNvPr id="9" name="Shape 7"/>
          <p:cNvSpPr/>
          <p:nvPr/>
        </p:nvSpPr>
        <p:spPr>
          <a:xfrm>
            <a:off x="365760" y="2670048"/>
            <a:ext cx="11430000" cy="1783080"/>
          </a:xfrm>
          <a:prstGeom prst="roundRect">
            <a:avLst>
              <a:gd name="adj" fmla="val 4103"/>
            </a:avLst>
          </a:prstGeom>
          <a:solidFill>
            <a:srgbClr val="1E2F45"/>
          </a:solidFill>
          <a:ln w="12700">
            <a:solidFill>
              <a:srgbClr val="243A52"/>
            </a:solidFill>
            <a:prstDash val="solid"/>
          </a:ln>
        </p:spPr>
      </p:sp>
      <p:sp>
        <p:nvSpPr>
          <p:cNvPr id="10" name="Text 8"/>
          <p:cNvSpPr/>
          <p:nvPr/>
        </p:nvSpPr>
        <p:spPr>
          <a:xfrm>
            <a:off x="548640" y="274320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2.  Which of the following best helps PREVENT erosion?</a:t>
            </a:r>
            <a:endParaRPr lang="en-US" sz="1250" dirty="0"/>
          </a:p>
        </p:txBody>
      </p:sp>
      <p:sp>
        <p:nvSpPr>
          <p:cNvPr id="11" name="Text 9"/>
          <p:cNvSpPr/>
          <p:nvPr/>
        </p:nvSpPr>
        <p:spPr>
          <a:xfrm>
            <a:off x="548640" y="312724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A steep hillside with no plants     B — Fast-moving water flowing over bare ground     C — Plant roots gripping and holding soil in place ✓</a:t>
            </a:r>
            <a:endParaRPr lang="en-US" sz="1100" dirty="0"/>
          </a:p>
        </p:txBody>
      </p:sp>
      <p:sp>
        <p:nvSpPr>
          <p:cNvPr id="12" name="Text 10"/>
          <p:cNvSpPr/>
          <p:nvPr/>
        </p:nvSpPr>
        <p:spPr>
          <a:xfrm>
            <a:off x="548640" y="363016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C is correct! Plant roots act like anchors for soil. The Dust Bowl happened because there were NO plants to hold the soil!</a:t>
            </a:r>
            <a:endParaRPr lang="en-US" sz="1050" dirty="0"/>
          </a:p>
        </p:txBody>
      </p:sp>
      <p:sp>
        <p:nvSpPr>
          <p:cNvPr id="13" name="Shape 11"/>
          <p:cNvSpPr/>
          <p:nvPr/>
        </p:nvSpPr>
        <p:spPr>
          <a:xfrm>
            <a:off x="365760" y="4590288"/>
            <a:ext cx="11430000" cy="1783080"/>
          </a:xfrm>
          <a:prstGeom prst="roundRect">
            <a:avLst>
              <a:gd name="adj" fmla="val 4103"/>
            </a:avLst>
          </a:prstGeom>
          <a:solidFill>
            <a:srgbClr val="1E2F45"/>
          </a:solidFill>
          <a:ln w="12700">
            <a:solidFill>
              <a:srgbClr val="243A52"/>
            </a:solidFill>
            <a:prstDash val="solid"/>
          </a:ln>
        </p:spPr>
      </p:sp>
      <p:sp>
        <p:nvSpPr>
          <p:cNvPr id="14" name="Text 12"/>
          <p:cNvSpPr/>
          <p:nvPr/>
        </p:nvSpPr>
        <p:spPr>
          <a:xfrm>
            <a:off x="548640" y="466344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3.  What happens when water gets into cracks in a rock and then FREEZES?</a:t>
            </a:r>
            <a:endParaRPr lang="en-US" sz="1250" dirty="0"/>
          </a:p>
        </p:txBody>
      </p:sp>
      <p:sp>
        <p:nvSpPr>
          <p:cNvPr id="15" name="Text 13"/>
          <p:cNvSpPr/>
          <p:nvPr/>
        </p:nvSpPr>
        <p:spPr>
          <a:xfrm>
            <a:off x="548640" y="504748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The ice expands and pushes the crack apart, breaking the rock ✓     B — The rock gets stronger and the crack seals shut     C — The water soaks in and disappears</a:t>
            </a:r>
            <a:endParaRPr lang="en-US" sz="1100" dirty="0"/>
          </a:p>
        </p:txBody>
      </p:sp>
      <p:sp>
        <p:nvSpPr>
          <p:cNvPr id="16" name="Text 14"/>
          <p:cNvSpPr/>
          <p:nvPr/>
        </p:nvSpPr>
        <p:spPr>
          <a:xfrm>
            <a:off x="548640" y="555040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A is correct! Ice takes up MORE space than liquid water. In a tight crack, that expansion acts like a tiny wedge splitting the rock. This is freeze-thaw weathering!</a:t>
            </a:r>
            <a:endParaRPr lang="en-US" sz="10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 Show What You Know</a:t>
            </a:r>
            <a:endParaRPr lang="en-US" sz="1600" dirty="0"/>
          </a:p>
        </p:txBody>
      </p:sp>
      <p:sp>
        <p:nvSpPr>
          <p:cNvPr id="5" name="Shape 3"/>
          <p:cNvSpPr/>
          <p:nvPr/>
        </p:nvSpPr>
        <p:spPr>
          <a:xfrm>
            <a:off x="365760" y="749808"/>
            <a:ext cx="5577840" cy="5074920"/>
          </a:xfrm>
          <a:prstGeom prst="roundRect">
            <a:avLst>
              <a:gd name="adj" fmla="val 1441"/>
            </a:avLst>
          </a:prstGeom>
          <a:solidFill>
            <a:srgbClr val="1E2F45"/>
          </a:solidFill>
          <a:ln w="12700">
            <a:solidFill>
              <a:srgbClr val="4CC9F0"/>
            </a:solidFill>
            <a:prstDash val="solid"/>
          </a:ln>
        </p:spPr>
      </p:sp>
      <p:sp>
        <p:nvSpPr>
          <p:cNvPr id="6" name="Text 4"/>
          <p:cNvSpPr/>
          <p:nvPr/>
        </p:nvSpPr>
        <p:spPr>
          <a:xfrm>
            <a:off x="502920" y="822960"/>
            <a:ext cx="521208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Step 1: Title Your Page</a:t>
            </a:r>
            <a:endParaRPr lang="en-US" sz="1200" dirty="0"/>
          </a:p>
        </p:txBody>
      </p:sp>
      <p:sp>
        <p:nvSpPr>
          <p:cNvPr id="7" name="Text 5"/>
          <p:cNvSpPr/>
          <p:nvPr/>
        </p:nvSpPr>
        <p:spPr>
          <a:xfrm>
            <a:off x="502920" y="1207008"/>
            <a:ext cx="5212080" cy="8046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Write: "Weathering and Erosion" at the top of a new notebook page.
</a:t>
            </a:r>
            <a:endParaRPr lang="en-US" sz="1100" dirty="0"/>
          </a:p>
        </p:txBody>
      </p:sp>
      <p:sp>
        <p:nvSpPr>
          <p:cNvPr id="8" name="Text 6"/>
          <p:cNvSpPr/>
          <p:nvPr/>
        </p:nvSpPr>
        <p:spPr>
          <a:xfrm>
            <a:off x="502920" y="2084832"/>
            <a:ext cx="521208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Part 1 — Vocabulary Match</a:t>
            </a:r>
            <a:endParaRPr lang="en-US" sz="1200" dirty="0"/>
          </a:p>
        </p:txBody>
      </p:sp>
      <p:sp>
        <p:nvSpPr>
          <p:cNvPr id="9" name="Text 7"/>
          <p:cNvSpPr/>
          <p:nvPr/>
        </p:nvSpPr>
        <p:spPr>
          <a:xfrm>
            <a:off x="502920" y="2468880"/>
            <a:ext cx="5212080" cy="324612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Draw a line to match each word with its meaning:</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Weathering →</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Erosion →</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Glacier →</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Soil →</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A. A slow-moving sheet of ice that grinds rocks</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B. The movement of broken rock from one place to another</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C. Dirt made from tiny pieces of rock and organic matter</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D. The breaking of rocks into smaller pieces</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Practiced: Slides 4, 5, 6, 7</a:t>
            </a:r>
            <a:endParaRPr lang="en-US" sz="1050" dirty="0"/>
          </a:p>
        </p:txBody>
      </p:sp>
      <p:sp>
        <p:nvSpPr>
          <p:cNvPr id="10" name="Shape 8"/>
          <p:cNvSpPr/>
          <p:nvPr/>
        </p:nvSpPr>
        <p:spPr>
          <a:xfrm>
            <a:off x="6172200" y="749808"/>
            <a:ext cx="5577840" cy="5074920"/>
          </a:xfrm>
          <a:prstGeom prst="roundRect">
            <a:avLst>
              <a:gd name="adj" fmla="val 1441"/>
            </a:avLst>
          </a:prstGeom>
          <a:solidFill>
            <a:srgbClr val="1E2F45"/>
          </a:solidFill>
          <a:ln w="12700">
            <a:solidFill>
              <a:srgbClr val="2DC653"/>
            </a:solidFill>
            <a:prstDash val="solid"/>
          </a:ln>
        </p:spPr>
      </p:sp>
      <p:sp>
        <p:nvSpPr>
          <p:cNvPr id="11" name="Text 9"/>
          <p:cNvSpPr/>
          <p:nvPr/>
        </p:nvSpPr>
        <p:spPr>
          <a:xfrm>
            <a:off x="6355080" y="822960"/>
            <a:ext cx="52120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Part 2 — Cause and Effect Chart</a:t>
            </a:r>
            <a:endParaRPr lang="en-US" sz="1200" dirty="0"/>
          </a:p>
        </p:txBody>
      </p:sp>
      <p:sp>
        <p:nvSpPr>
          <p:cNvPr id="12" name="Text 10"/>
          <p:cNvSpPr/>
          <p:nvPr/>
        </p:nvSpPr>
        <p:spPr>
          <a:xfrm>
            <a:off x="6355080" y="1207008"/>
            <a:ext cx="5212080" cy="446227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Draw a 2-column chart with Cause → Effect:</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Water freezes in rock crack → ___</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Wind blows sand against rock → ___</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Glacier moves across land → ___</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Plant roots grow in cracks → ___</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Heavy rainfall on bare hillside → ___</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River slows down in flat valley → ___</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Part 3 — Draw the Rock's Journey</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Draw the 4-step journey of a rock from weathering to deposition. Label each step using the correct vocabulary word.</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Practiced: Slides 6, 7, 8, 9</a:t>
            </a:r>
            <a:endParaRPr lang="en-US" sz="105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"The Grand Canyon is over a mile deep — but it's made of solid rock. How could something as simple as water carve through miles of rock over millions of years?"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1 — Vocabulary match (weathering, erosion, glacier, soil)</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2 — Cause and effect chart (6 causes with correct effects)</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3 — Rock's journey diagram with all 4 labeled steps</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Warm-up sketch with compare/contrast notes</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6.01: Types of Rock — Earth's Amazing Materials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If rocks are always changing through weathering and erosion, do they transform into completely different TYPES of rock? Find out next time!</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5.02  ·  Weathering and Erosion: Earth's Slow Sculptors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2026-07-13T19:56:17Z</dcterms:created>
  <dcterms:modified xsi:type="dcterms:W3CDTF">2026-07-13T19:56:17Z</dcterms:modified>
</cp:coreProperties>
</file>