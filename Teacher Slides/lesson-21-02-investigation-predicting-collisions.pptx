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Investigation day. Students test light/heavy marble scenarios and compare to predictions from 21-01.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CER. Reasoning must explain the MECHANISM (why larger/faster = more transfer). Circulate and check reasoning — it should go beyond just restating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In one sentence, explain what you would change about your original prediction based on today's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Investigation: Predicting Collisions</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Test your collision predictions — does evidence match what you expected?</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4-PS3-3 — Ask questions and predict outcomes about energy transfer in collisions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design and run a fair collision test using different marble sizes.</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record and compare before/after data for multiple collision scenarios.</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write a full CER using collision investigation data.</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Large marble   small marble   ruler   tape (for ramp)   paper cup or target block   notebook</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21-02  ·  Investigation: Predicting Collisions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Review Your Predictions from Last Lesson</a:t>
            </a:r>
            <a:endParaRPr lang="en-US" sz="1600" dirty="0"/>
          </a:p>
        </p:txBody>
      </p:sp>
      <p:sp>
        <p:nvSpPr>
          <p:cNvPr id="5" name="Shape 3"/>
          <p:cNvSpPr/>
          <p:nvPr/>
        </p:nvSpPr>
        <p:spPr>
          <a:xfrm>
            <a:off x="365760" y="749808"/>
            <a:ext cx="11430000" cy="960120"/>
          </a:xfrm>
          <a:prstGeom prst="roundRect">
            <a:avLst>
              <a:gd name="adj" fmla="val 7619"/>
            </a:avLst>
          </a:prstGeom>
          <a:solidFill>
            <a:srgbClr val="162233"/>
          </a:solidFill>
          <a:ln w="12700">
            <a:solidFill>
              <a:srgbClr val="4CC9F0"/>
            </a:solidFill>
            <a:prstDash val="solid"/>
          </a:ln>
        </p:spPr>
      </p:sp>
      <p:sp>
        <p:nvSpPr>
          <p:cNvPr id="6" name="Text 4"/>
          <p:cNvSpPr/>
          <p:nvPr/>
        </p:nvSpPr>
        <p:spPr>
          <a:xfrm>
            <a:off x="548640" y="804672"/>
            <a:ext cx="11155680" cy="8229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Flip back to your predictions from lesson 21-01. Today we gather EVIDENCE to check them.</a:t>
            </a:r>
            <a:endParaRPr lang="en-US" sz="1400" dirty="0"/>
          </a:p>
        </p:txBody>
      </p:sp>
      <p:sp>
        <p:nvSpPr>
          <p:cNvPr id="7" name="Shape 5"/>
          <p:cNvSpPr/>
          <p:nvPr/>
        </p:nvSpPr>
        <p:spPr>
          <a:xfrm>
            <a:off x="365760" y="1874520"/>
            <a:ext cx="11430000" cy="3657600"/>
          </a:xfrm>
          <a:prstGeom prst="roundRect">
            <a:avLst>
              <a:gd name="adj" fmla="val 2000"/>
            </a:avLst>
          </a:prstGeom>
          <a:solidFill>
            <a:srgbClr val="1E2F45"/>
          </a:solidFill>
          <a:ln w="12700">
            <a:solidFill>
              <a:srgbClr val="FFB703"/>
            </a:solidFill>
            <a:prstDash val="solid"/>
          </a:ln>
        </p:spPr>
      </p:sp>
      <p:sp>
        <p:nvSpPr>
          <p:cNvPr id="8" name="Text 6"/>
          <p:cNvSpPr/>
          <p:nvPr/>
        </p:nvSpPr>
        <p:spPr>
          <a:xfrm>
            <a:off x="548640" y="1938528"/>
            <a:ext cx="1115568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Quick Partner Share:</a:t>
            </a:r>
            <a:endParaRPr lang="en-US" sz="1300" dirty="0"/>
          </a:p>
        </p:txBody>
      </p:sp>
      <p:sp>
        <p:nvSpPr>
          <p:cNvPr id="9" name="Text 7"/>
          <p:cNvSpPr/>
          <p:nvPr/>
        </p:nvSpPr>
        <p:spPr>
          <a:xfrm>
            <a:off x="548640" y="2331720"/>
            <a:ext cx="11155680" cy="30632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Tell your partner:</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  1. What you predicted for the heavy-hits-light scenario</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  2. What you predicted for the light-hits-heavy scenario</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  3. What EVIDENCE you will look for during the investigation</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Remember: predictions are not guesses — they should be based on what you already know about kinetic energy.</a:t>
            </a:r>
            <a:endParaRPr lang="en-US" sz="1300" dirty="0"/>
          </a:p>
        </p:txBody>
      </p:sp>
      <p:sp>
        <p:nvSpPr>
          <p:cNvPr id="10" name="Shape 8"/>
          <p:cNvSpPr/>
          <p:nvPr/>
        </p:nvSpPr>
        <p:spPr>
          <a:xfrm>
            <a:off x="0" y="6629400"/>
            <a:ext cx="12192000" cy="228600"/>
          </a:xfrm>
          <a:prstGeom prst="rect">
            <a:avLst/>
          </a:prstGeom>
          <a:solidFill>
            <a:srgbClr val="162233"/>
          </a:solidFill>
          <a:ln/>
        </p:spPr>
      </p:sp>
      <p:sp>
        <p:nvSpPr>
          <p:cNvPr id="11" name="Text 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21-02  ·  Investigation: Predicting Collisions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Variables: Fair Test Setup</a:t>
            </a:r>
            <a:endParaRPr lang="en-US" sz="1600" dirty="0"/>
          </a:p>
        </p:txBody>
      </p:sp>
      <p:sp>
        <p:nvSpPr>
          <p:cNvPr id="5" name="Shape 3"/>
          <p:cNvSpPr/>
          <p:nvPr/>
        </p:nvSpPr>
        <p:spPr>
          <a:xfrm>
            <a:off x="365760" y="749808"/>
            <a:ext cx="3749040" cy="4937760"/>
          </a:xfrm>
          <a:prstGeom prst="roundRect">
            <a:avLst>
              <a:gd name="adj" fmla="val 1951"/>
            </a:avLst>
          </a:prstGeom>
          <a:solidFill>
            <a:srgbClr val="1E2F45"/>
          </a:solidFill>
          <a:ln w="12700">
            <a:solidFill>
              <a:srgbClr val="4CC9F0"/>
            </a:solidFill>
            <a:prstDash val="solid"/>
          </a:ln>
        </p:spPr>
      </p:sp>
      <p:sp>
        <p:nvSpPr>
          <p:cNvPr id="6" name="Text 4"/>
          <p:cNvSpPr/>
          <p:nvPr/>
        </p:nvSpPr>
        <p:spPr>
          <a:xfrm>
            <a:off x="457200" y="822960"/>
            <a:ext cx="3566160" cy="73152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INDEPENDENT</a:t>
            </a:r>
            <a:endParaRPr lang="en-US" sz="1300" dirty="0"/>
          </a:p>
          <a:p>
            <a:pPr algn="ctr" indent="0" marL="0">
              <a:buNone/>
            </a:pPr>
            <a:r>
              <a:rPr lang="en-US" sz="1300" b="1" dirty="0">
                <a:solidFill>
                  <a:srgbClr val="4CC9F0"/>
                </a:solidFill>
                <a:latin typeface="Calibri" pitchFamily="34" charset="0"/>
                <a:ea typeface="Calibri" pitchFamily="34" charset="-122"/>
                <a:cs typeface="Calibri" pitchFamily="34" charset="-120"/>
              </a:rPr>
              <a:t>Variable</a:t>
            </a:r>
            <a:endParaRPr lang="en-US" sz="1300" dirty="0"/>
          </a:p>
        </p:txBody>
      </p:sp>
      <p:sp>
        <p:nvSpPr>
          <p:cNvPr id="7" name="Text 5"/>
          <p:cNvSpPr/>
          <p:nvPr/>
        </p:nvSpPr>
        <p:spPr>
          <a:xfrm>
            <a:off x="502920" y="1627632"/>
            <a:ext cx="3566160" cy="38862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Size/mass of rolling marble</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(large vs. small)</a:t>
            </a:r>
            <a:endParaRPr lang="en-US" sz="1300" dirty="0"/>
          </a:p>
        </p:txBody>
      </p:sp>
      <p:sp>
        <p:nvSpPr>
          <p:cNvPr id="8" name="Shape 6"/>
          <p:cNvSpPr/>
          <p:nvPr/>
        </p:nvSpPr>
        <p:spPr>
          <a:xfrm>
            <a:off x="4297680" y="749808"/>
            <a:ext cx="3749040" cy="4937760"/>
          </a:xfrm>
          <a:prstGeom prst="roundRect">
            <a:avLst>
              <a:gd name="adj" fmla="val 1951"/>
            </a:avLst>
          </a:prstGeom>
          <a:solidFill>
            <a:srgbClr val="1E2F45"/>
          </a:solidFill>
          <a:ln w="12700">
            <a:solidFill>
              <a:srgbClr val="FFB703"/>
            </a:solidFill>
            <a:prstDash val="solid"/>
          </a:ln>
        </p:spPr>
      </p:sp>
      <p:sp>
        <p:nvSpPr>
          <p:cNvPr id="9" name="Text 7"/>
          <p:cNvSpPr/>
          <p:nvPr/>
        </p:nvSpPr>
        <p:spPr>
          <a:xfrm>
            <a:off x="4389120" y="822960"/>
            <a:ext cx="3566160" cy="731520"/>
          </a:xfrm>
          <a:prstGeom prst="rect">
            <a:avLst/>
          </a:prstGeom>
          <a:noFill/>
          <a:ln/>
        </p:spPr>
        <p:txBody>
          <a:bodyPr wrap="square"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DEPENDENT</a:t>
            </a:r>
            <a:endParaRPr lang="en-US" sz="1300" dirty="0"/>
          </a:p>
          <a:p>
            <a:pPr algn="ctr" indent="0" marL="0">
              <a:buNone/>
            </a:pPr>
            <a:r>
              <a:rPr lang="en-US" sz="1300" b="1" dirty="0">
                <a:solidFill>
                  <a:srgbClr val="FFB703"/>
                </a:solidFill>
                <a:latin typeface="Calibri" pitchFamily="34" charset="0"/>
                <a:ea typeface="Calibri" pitchFamily="34" charset="-122"/>
                <a:cs typeface="Calibri" pitchFamily="34" charset="-120"/>
              </a:rPr>
              <a:t>Variable</a:t>
            </a:r>
            <a:endParaRPr lang="en-US" sz="1300" dirty="0"/>
          </a:p>
        </p:txBody>
      </p:sp>
      <p:sp>
        <p:nvSpPr>
          <p:cNvPr id="10" name="Text 8"/>
          <p:cNvSpPr/>
          <p:nvPr/>
        </p:nvSpPr>
        <p:spPr>
          <a:xfrm>
            <a:off x="4434840" y="1627632"/>
            <a:ext cx="3566160" cy="38862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Distance target moves</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after collision (cm)</a:t>
            </a:r>
            <a:endParaRPr lang="en-US" sz="1300" dirty="0"/>
          </a:p>
        </p:txBody>
      </p:sp>
      <p:sp>
        <p:nvSpPr>
          <p:cNvPr id="11" name="Shape 9"/>
          <p:cNvSpPr/>
          <p:nvPr/>
        </p:nvSpPr>
        <p:spPr>
          <a:xfrm>
            <a:off x="8229600" y="749808"/>
            <a:ext cx="3749040" cy="4937760"/>
          </a:xfrm>
          <a:prstGeom prst="roundRect">
            <a:avLst>
              <a:gd name="adj" fmla="val 1951"/>
            </a:avLst>
          </a:prstGeom>
          <a:solidFill>
            <a:srgbClr val="1E2F45"/>
          </a:solidFill>
          <a:ln w="12700">
            <a:solidFill>
              <a:srgbClr val="2DC653"/>
            </a:solidFill>
            <a:prstDash val="solid"/>
          </a:ln>
        </p:spPr>
      </p:sp>
      <p:sp>
        <p:nvSpPr>
          <p:cNvPr id="12" name="Text 10"/>
          <p:cNvSpPr/>
          <p:nvPr/>
        </p:nvSpPr>
        <p:spPr>
          <a:xfrm>
            <a:off x="8321040" y="822960"/>
            <a:ext cx="3566160" cy="731520"/>
          </a:xfrm>
          <a:prstGeom prst="rect">
            <a:avLst/>
          </a:prstGeom>
          <a:noFill/>
          <a:ln/>
        </p:spPr>
        <p:txBody>
          <a:bodyPr wrap="square" rtlCol="0" anchor="ctr"/>
          <a:lstStyle/>
          <a:p>
            <a:pPr algn="ctr" indent="0" marL="0">
              <a:buNone/>
            </a:pPr>
            <a:r>
              <a:rPr lang="en-US" sz="1300" b="1" dirty="0">
                <a:solidFill>
                  <a:srgbClr val="2DC653"/>
                </a:solidFill>
                <a:latin typeface="Calibri" pitchFamily="34" charset="0"/>
                <a:ea typeface="Calibri" pitchFamily="34" charset="-122"/>
                <a:cs typeface="Calibri" pitchFamily="34" charset="-120"/>
              </a:rPr>
              <a:t>CONTROLLED</a:t>
            </a:r>
            <a:endParaRPr lang="en-US" sz="1300" dirty="0"/>
          </a:p>
          <a:p>
            <a:pPr algn="ctr" indent="0" marL="0">
              <a:buNone/>
            </a:pPr>
            <a:r>
              <a:rPr lang="en-US" sz="1300" b="1" dirty="0">
                <a:solidFill>
                  <a:srgbClr val="2DC653"/>
                </a:solidFill>
                <a:latin typeface="Calibri" pitchFamily="34" charset="0"/>
                <a:ea typeface="Calibri" pitchFamily="34" charset="-122"/>
                <a:cs typeface="Calibri" pitchFamily="34" charset="-120"/>
              </a:rPr>
              <a:t>Variables</a:t>
            </a:r>
            <a:endParaRPr lang="en-US" sz="1300" dirty="0"/>
          </a:p>
        </p:txBody>
      </p:sp>
      <p:sp>
        <p:nvSpPr>
          <p:cNvPr id="13" name="Text 11"/>
          <p:cNvSpPr/>
          <p:nvPr/>
        </p:nvSpPr>
        <p:spPr>
          <a:xfrm>
            <a:off x="8366760" y="1627632"/>
            <a:ext cx="3566160" cy="38862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Same ramp height</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Same release point</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Same target object</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Same surface</a:t>
            </a:r>
            <a:endParaRPr lang="en-US" sz="1300" dirty="0"/>
          </a:p>
        </p:txBody>
      </p:sp>
      <p:sp>
        <p:nvSpPr>
          <p:cNvPr id="14" name="Shape 12"/>
          <p:cNvSpPr/>
          <p:nvPr/>
        </p:nvSpPr>
        <p:spPr>
          <a:xfrm>
            <a:off x="365760" y="5833872"/>
            <a:ext cx="11430000" cy="658368"/>
          </a:xfrm>
          <a:prstGeom prst="roundRect">
            <a:avLst>
              <a:gd name="adj" fmla="val 11111"/>
            </a:avLst>
          </a:prstGeom>
          <a:solidFill>
            <a:srgbClr val="1E2F45"/>
          </a:solidFill>
          <a:ln w="12700">
            <a:solidFill>
              <a:srgbClr val="F4736A"/>
            </a:solidFill>
            <a:prstDash val="solid"/>
          </a:ln>
        </p:spPr>
      </p:sp>
      <p:sp>
        <p:nvSpPr>
          <p:cNvPr id="15" name="Text 13"/>
          <p:cNvSpPr/>
          <p:nvPr/>
        </p:nvSpPr>
        <p:spPr>
          <a:xfrm>
            <a:off x="548640" y="5888736"/>
            <a:ext cx="11155680" cy="548640"/>
          </a:xfrm>
          <a:prstGeom prst="rect">
            <a:avLst/>
          </a:prstGeom>
          <a:noFill/>
          <a:ln/>
        </p:spPr>
        <p:txBody>
          <a:bodyPr wrap="square" rtlCol="0" anchor="ctr"/>
          <a:lstStyle/>
          <a:p>
            <a:pPr algn="ctr" indent="0" marL="0">
              <a:buNone/>
            </a:pPr>
            <a:r>
              <a:rPr lang="en-US" sz="1200" b="1" dirty="0">
                <a:solidFill>
                  <a:srgbClr val="F4736A"/>
                </a:solidFill>
                <a:latin typeface="Calibri" pitchFamily="34" charset="0"/>
                <a:ea typeface="Calibri" pitchFamily="34" charset="-122"/>
                <a:cs typeface="Calibri" pitchFamily="34" charset="-120"/>
              </a:rPr>
              <a:t>Run 3 TRIALS for each marble size. Average your results to reduce error.</a:t>
            </a:r>
            <a:endParaRPr lang="en-US" sz="12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21-02  ·  Investigation: Predicting Collisions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Data Table: Collision Investigation</a:t>
            </a:r>
            <a:endParaRPr lang="en-US" sz="1600" dirty="0"/>
          </a:p>
        </p:txBody>
      </p:sp>
      <p:sp>
        <p:nvSpPr>
          <p:cNvPr id="5" name="Shape 3"/>
          <p:cNvSpPr/>
          <p:nvPr/>
        </p:nvSpPr>
        <p:spPr>
          <a:xfrm>
            <a:off x="274320" y="749808"/>
            <a:ext cx="2286000" cy="475488"/>
          </a:xfrm>
          <a:prstGeom prst="roundRect">
            <a:avLst>
              <a:gd name="adj" fmla="val 15385"/>
            </a:avLst>
          </a:prstGeom>
          <a:solidFill>
            <a:srgbClr val="0096C7"/>
          </a:solidFill>
          <a:ln w="12700">
            <a:solidFill>
              <a:srgbClr val="4CC9F0"/>
            </a:solidFill>
            <a:prstDash val="solid"/>
          </a:ln>
        </p:spPr>
      </p:sp>
      <p:sp>
        <p:nvSpPr>
          <p:cNvPr id="6" name="Text 4"/>
          <p:cNvSpPr/>
          <p:nvPr/>
        </p:nvSpPr>
        <p:spPr>
          <a:xfrm>
            <a:off x="347472" y="777240"/>
            <a:ext cx="2139696" cy="42062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Marble Size</a:t>
            </a:r>
            <a:endParaRPr lang="en-US" sz="1100" dirty="0"/>
          </a:p>
        </p:txBody>
      </p:sp>
      <p:sp>
        <p:nvSpPr>
          <p:cNvPr id="7" name="Shape 5"/>
          <p:cNvSpPr/>
          <p:nvPr/>
        </p:nvSpPr>
        <p:spPr>
          <a:xfrm>
            <a:off x="2651760" y="749808"/>
            <a:ext cx="2011680" cy="475488"/>
          </a:xfrm>
          <a:prstGeom prst="roundRect">
            <a:avLst>
              <a:gd name="adj" fmla="val 15385"/>
            </a:avLst>
          </a:prstGeom>
          <a:solidFill>
            <a:srgbClr val="0096C7"/>
          </a:solidFill>
          <a:ln w="12700">
            <a:solidFill>
              <a:srgbClr val="4CC9F0"/>
            </a:solidFill>
            <a:prstDash val="solid"/>
          </a:ln>
        </p:spPr>
      </p:sp>
      <p:sp>
        <p:nvSpPr>
          <p:cNvPr id="8" name="Text 6"/>
          <p:cNvSpPr/>
          <p:nvPr/>
        </p:nvSpPr>
        <p:spPr>
          <a:xfrm>
            <a:off x="2724912" y="777240"/>
            <a:ext cx="1865376" cy="42062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Trial 1 (cm)</a:t>
            </a:r>
            <a:endParaRPr lang="en-US" sz="1100" dirty="0"/>
          </a:p>
        </p:txBody>
      </p:sp>
      <p:sp>
        <p:nvSpPr>
          <p:cNvPr id="9" name="Shape 7"/>
          <p:cNvSpPr/>
          <p:nvPr/>
        </p:nvSpPr>
        <p:spPr>
          <a:xfrm>
            <a:off x="4754880" y="749808"/>
            <a:ext cx="2011680" cy="475488"/>
          </a:xfrm>
          <a:prstGeom prst="roundRect">
            <a:avLst>
              <a:gd name="adj" fmla="val 15385"/>
            </a:avLst>
          </a:prstGeom>
          <a:solidFill>
            <a:srgbClr val="0096C7"/>
          </a:solidFill>
          <a:ln w="12700">
            <a:solidFill>
              <a:srgbClr val="4CC9F0"/>
            </a:solidFill>
            <a:prstDash val="solid"/>
          </a:ln>
        </p:spPr>
      </p:sp>
      <p:sp>
        <p:nvSpPr>
          <p:cNvPr id="10" name="Text 8"/>
          <p:cNvSpPr/>
          <p:nvPr/>
        </p:nvSpPr>
        <p:spPr>
          <a:xfrm>
            <a:off x="4828032" y="777240"/>
            <a:ext cx="1865376" cy="42062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Trial 2 (cm)</a:t>
            </a:r>
            <a:endParaRPr lang="en-US" sz="1100" dirty="0"/>
          </a:p>
        </p:txBody>
      </p:sp>
      <p:sp>
        <p:nvSpPr>
          <p:cNvPr id="11" name="Shape 9"/>
          <p:cNvSpPr/>
          <p:nvPr/>
        </p:nvSpPr>
        <p:spPr>
          <a:xfrm>
            <a:off x="6858000" y="749808"/>
            <a:ext cx="2011680" cy="475488"/>
          </a:xfrm>
          <a:prstGeom prst="roundRect">
            <a:avLst>
              <a:gd name="adj" fmla="val 15385"/>
            </a:avLst>
          </a:prstGeom>
          <a:solidFill>
            <a:srgbClr val="0096C7"/>
          </a:solidFill>
          <a:ln w="12700">
            <a:solidFill>
              <a:srgbClr val="4CC9F0"/>
            </a:solidFill>
            <a:prstDash val="solid"/>
          </a:ln>
        </p:spPr>
      </p:sp>
      <p:sp>
        <p:nvSpPr>
          <p:cNvPr id="12" name="Text 10"/>
          <p:cNvSpPr/>
          <p:nvPr/>
        </p:nvSpPr>
        <p:spPr>
          <a:xfrm>
            <a:off x="6931152" y="777240"/>
            <a:ext cx="1865376" cy="42062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Trial 3 (cm)</a:t>
            </a:r>
            <a:endParaRPr lang="en-US" sz="1100" dirty="0"/>
          </a:p>
        </p:txBody>
      </p:sp>
      <p:sp>
        <p:nvSpPr>
          <p:cNvPr id="13" name="Shape 11"/>
          <p:cNvSpPr/>
          <p:nvPr/>
        </p:nvSpPr>
        <p:spPr>
          <a:xfrm>
            <a:off x="8961120" y="749808"/>
            <a:ext cx="2286000" cy="475488"/>
          </a:xfrm>
          <a:prstGeom prst="roundRect">
            <a:avLst>
              <a:gd name="adj" fmla="val 15385"/>
            </a:avLst>
          </a:prstGeom>
          <a:solidFill>
            <a:srgbClr val="0096C7"/>
          </a:solidFill>
          <a:ln w="12700">
            <a:solidFill>
              <a:srgbClr val="4CC9F0"/>
            </a:solidFill>
            <a:prstDash val="solid"/>
          </a:ln>
        </p:spPr>
      </p:sp>
      <p:sp>
        <p:nvSpPr>
          <p:cNvPr id="14" name="Text 12"/>
          <p:cNvSpPr/>
          <p:nvPr/>
        </p:nvSpPr>
        <p:spPr>
          <a:xfrm>
            <a:off x="9034272" y="777240"/>
            <a:ext cx="2139696" cy="42062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AVERAGE (cm)</a:t>
            </a:r>
            <a:endParaRPr lang="en-US" sz="1100" dirty="0"/>
          </a:p>
        </p:txBody>
      </p:sp>
      <p:sp>
        <p:nvSpPr>
          <p:cNvPr id="15" name="Shape 13"/>
          <p:cNvSpPr/>
          <p:nvPr/>
        </p:nvSpPr>
        <p:spPr>
          <a:xfrm>
            <a:off x="274320" y="1298448"/>
            <a:ext cx="2286000" cy="1005840"/>
          </a:xfrm>
          <a:prstGeom prst="roundRect">
            <a:avLst>
              <a:gd name="adj" fmla="val 7273"/>
            </a:avLst>
          </a:prstGeom>
          <a:solidFill>
            <a:srgbClr val="1E2F45"/>
          </a:solidFill>
          <a:ln w="12700">
            <a:solidFill>
              <a:srgbClr val="243A52"/>
            </a:solidFill>
            <a:prstDash val="solid"/>
          </a:ln>
        </p:spPr>
      </p:sp>
      <p:sp>
        <p:nvSpPr>
          <p:cNvPr id="16" name="Text 14"/>
          <p:cNvSpPr/>
          <p:nvPr/>
        </p:nvSpPr>
        <p:spPr>
          <a:xfrm>
            <a:off x="347472" y="1371600"/>
            <a:ext cx="2139696" cy="822960"/>
          </a:xfrm>
          <a:prstGeom prst="rect">
            <a:avLst/>
          </a:prstGeom>
          <a:noFill/>
          <a:ln/>
        </p:spPr>
        <p:txBody>
          <a:bodyPr wrap="square" rtlCol="0" anchor="ctr"/>
          <a:lstStyle/>
          <a:p>
            <a:pPr indent="0" marL="0">
              <a:buNone/>
            </a:pPr>
            <a:r>
              <a:rPr lang="en-US" sz="1100" dirty="0">
                <a:solidFill>
                  <a:srgbClr val="4CC9F0"/>
                </a:solidFill>
                <a:latin typeface="Calibri" pitchFamily="34" charset="0"/>
                <a:ea typeface="Calibri" pitchFamily="34" charset="-122"/>
                <a:cs typeface="Calibri" pitchFamily="34" charset="-120"/>
              </a:rPr>
              <a:t>Small marble</a:t>
            </a:r>
            <a:endParaRPr lang="en-US" sz="1100" dirty="0"/>
          </a:p>
        </p:txBody>
      </p:sp>
      <p:sp>
        <p:nvSpPr>
          <p:cNvPr id="17" name="Shape 15"/>
          <p:cNvSpPr/>
          <p:nvPr/>
        </p:nvSpPr>
        <p:spPr>
          <a:xfrm>
            <a:off x="2651760" y="1298448"/>
            <a:ext cx="2011680" cy="1005840"/>
          </a:xfrm>
          <a:prstGeom prst="roundRect">
            <a:avLst>
              <a:gd name="adj" fmla="val 7273"/>
            </a:avLst>
          </a:prstGeom>
          <a:solidFill>
            <a:srgbClr val="0A1520"/>
          </a:solidFill>
          <a:ln w="12700">
            <a:solidFill>
              <a:srgbClr val="243A52"/>
            </a:solidFill>
            <a:prstDash val="solid"/>
          </a:ln>
        </p:spPr>
      </p:sp>
      <p:sp>
        <p:nvSpPr>
          <p:cNvPr id="18" name="Text 16"/>
          <p:cNvSpPr/>
          <p:nvPr/>
        </p:nvSpPr>
        <p:spPr>
          <a:xfrm>
            <a:off x="2724912" y="1371600"/>
            <a:ext cx="1865376" cy="822960"/>
          </a:xfrm>
          <a:prstGeom prst="rect">
            <a:avLst/>
          </a:prstGeom>
          <a:noFill/>
          <a:ln/>
        </p:spPr>
        <p:txBody>
          <a:bodyPr wrap="square" rtlCol="0" anchor="ctr"/>
          <a:lstStyle/>
          <a:p>
            <a:pPr indent="0" marL="0">
              <a:buNone/>
            </a:pPr>
            <a:endParaRPr lang="en-US" sz="1100" dirty="0"/>
          </a:p>
        </p:txBody>
      </p:sp>
      <p:sp>
        <p:nvSpPr>
          <p:cNvPr id="19" name="Shape 17"/>
          <p:cNvSpPr/>
          <p:nvPr/>
        </p:nvSpPr>
        <p:spPr>
          <a:xfrm>
            <a:off x="4754880" y="1298448"/>
            <a:ext cx="2011680" cy="1005840"/>
          </a:xfrm>
          <a:prstGeom prst="roundRect">
            <a:avLst>
              <a:gd name="adj" fmla="val 7273"/>
            </a:avLst>
          </a:prstGeom>
          <a:solidFill>
            <a:srgbClr val="0A1520"/>
          </a:solidFill>
          <a:ln w="12700">
            <a:solidFill>
              <a:srgbClr val="243A52"/>
            </a:solidFill>
            <a:prstDash val="solid"/>
          </a:ln>
        </p:spPr>
      </p:sp>
      <p:sp>
        <p:nvSpPr>
          <p:cNvPr id="20" name="Text 18"/>
          <p:cNvSpPr/>
          <p:nvPr/>
        </p:nvSpPr>
        <p:spPr>
          <a:xfrm>
            <a:off x="4828032" y="1371600"/>
            <a:ext cx="1865376" cy="822960"/>
          </a:xfrm>
          <a:prstGeom prst="rect">
            <a:avLst/>
          </a:prstGeom>
          <a:noFill/>
          <a:ln/>
        </p:spPr>
        <p:txBody>
          <a:bodyPr wrap="square" rtlCol="0" anchor="ctr"/>
          <a:lstStyle/>
          <a:p>
            <a:pPr indent="0" marL="0">
              <a:buNone/>
            </a:pPr>
            <a:endParaRPr lang="en-US" sz="1100" dirty="0"/>
          </a:p>
        </p:txBody>
      </p:sp>
      <p:sp>
        <p:nvSpPr>
          <p:cNvPr id="21" name="Shape 19"/>
          <p:cNvSpPr/>
          <p:nvPr/>
        </p:nvSpPr>
        <p:spPr>
          <a:xfrm>
            <a:off x="6858000" y="1298448"/>
            <a:ext cx="2011680" cy="1005840"/>
          </a:xfrm>
          <a:prstGeom prst="roundRect">
            <a:avLst>
              <a:gd name="adj" fmla="val 7273"/>
            </a:avLst>
          </a:prstGeom>
          <a:solidFill>
            <a:srgbClr val="0A1520"/>
          </a:solidFill>
          <a:ln w="12700">
            <a:solidFill>
              <a:srgbClr val="243A52"/>
            </a:solidFill>
            <a:prstDash val="solid"/>
          </a:ln>
        </p:spPr>
      </p:sp>
      <p:sp>
        <p:nvSpPr>
          <p:cNvPr id="22" name="Text 20"/>
          <p:cNvSpPr/>
          <p:nvPr/>
        </p:nvSpPr>
        <p:spPr>
          <a:xfrm>
            <a:off x="6931152" y="1371600"/>
            <a:ext cx="1865376" cy="822960"/>
          </a:xfrm>
          <a:prstGeom prst="rect">
            <a:avLst/>
          </a:prstGeom>
          <a:noFill/>
          <a:ln/>
        </p:spPr>
        <p:txBody>
          <a:bodyPr wrap="square" rtlCol="0" anchor="ctr"/>
          <a:lstStyle/>
          <a:p>
            <a:pPr indent="0" marL="0">
              <a:buNone/>
            </a:pPr>
            <a:endParaRPr lang="en-US" sz="1100" dirty="0"/>
          </a:p>
        </p:txBody>
      </p:sp>
      <p:sp>
        <p:nvSpPr>
          <p:cNvPr id="23" name="Shape 21"/>
          <p:cNvSpPr/>
          <p:nvPr/>
        </p:nvSpPr>
        <p:spPr>
          <a:xfrm>
            <a:off x="8961120" y="1298448"/>
            <a:ext cx="2286000" cy="1005840"/>
          </a:xfrm>
          <a:prstGeom prst="roundRect">
            <a:avLst>
              <a:gd name="adj" fmla="val 7273"/>
            </a:avLst>
          </a:prstGeom>
          <a:solidFill>
            <a:srgbClr val="0A1520"/>
          </a:solidFill>
          <a:ln w="12700">
            <a:solidFill>
              <a:srgbClr val="243A52"/>
            </a:solidFill>
            <a:prstDash val="solid"/>
          </a:ln>
        </p:spPr>
      </p:sp>
      <p:sp>
        <p:nvSpPr>
          <p:cNvPr id="24" name="Text 22"/>
          <p:cNvSpPr/>
          <p:nvPr/>
        </p:nvSpPr>
        <p:spPr>
          <a:xfrm>
            <a:off x="9034272" y="1371600"/>
            <a:ext cx="2139696" cy="822960"/>
          </a:xfrm>
          <a:prstGeom prst="rect">
            <a:avLst/>
          </a:prstGeom>
          <a:noFill/>
          <a:ln/>
        </p:spPr>
        <p:txBody>
          <a:bodyPr wrap="square" rtlCol="0" anchor="ctr"/>
          <a:lstStyle/>
          <a:p>
            <a:pPr indent="0" marL="0">
              <a:buNone/>
            </a:pPr>
            <a:endParaRPr lang="en-US" sz="1100" dirty="0"/>
          </a:p>
        </p:txBody>
      </p:sp>
      <p:sp>
        <p:nvSpPr>
          <p:cNvPr id="25" name="Shape 23"/>
          <p:cNvSpPr/>
          <p:nvPr/>
        </p:nvSpPr>
        <p:spPr>
          <a:xfrm>
            <a:off x="274320" y="2395728"/>
            <a:ext cx="2286000" cy="1005840"/>
          </a:xfrm>
          <a:prstGeom prst="roundRect">
            <a:avLst>
              <a:gd name="adj" fmla="val 7273"/>
            </a:avLst>
          </a:prstGeom>
          <a:solidFill>
            <a:srgbClr val="1E2F45"/>
          </a:solidFill>
          <a:ln w="12700">
            <a:solidFill>
              <a:srgbClr val="243A52"/>
            </a:solidFill>
            <a:prstDash val="solid"/>
          </a:ln>
        </p:spPr>
      </p:sp>
      <p:sp>
        <p:nvSpPr>
          <p:cNvPr id="26" name="Text 24"/>
          <p:cNvSpPr/>
          <p:nvPr/>
        </p:nvSpPr>
        <p:spPr>
          <a:xfrm>
            <a:off x="347472" y="2468880"/>
            <a:ext cx="2139696" cy="822960"/>
          </a:xfrm>
          <a:prstGeom prst="rect">
            <a:avLst/>
          </a:prstGeom>
          <a:noFill/>
          <a:ln/>
        </p:spPr>
        <p:txBody>
          <a:bodyPr wrap="square" rtlCol="0" anchor="ctr"/>
          <a:lstStyle/>
          <a:p>
            <a:pPr indent="0" marL="0">
              <a:buNone/>
            </a:pPr>
            <a:r>
              <a:rPr lang="en-US" sz="1100" dirty="0">
                <a:solidFill>
                  <a:srgbClr val="4CC9F0"/>
                </a:solidFill>
                <a:latin typeface="Calibri" pitchFamily="34" charset="0"/>
                <a:ea typeface="Calibri" pitchFamily="34" charset="-122"/>
                <a:cs typeface="Calibri" pitchFamily="34" charset="-120"/>
              </a:rPr>
              <a:t>Large marble</a:t>
            </a:r>
            <a:endParaRPr lang="en-US" sz="1100" dirty="0"/>
          </a:p>
        </p:txBody>
      </p:sp>
      <p:sp>
        <p:nvSpPr>
          <p:cNvPr id="27" name="Shape 25"/>
          <p:cNvSpPr/>
          <p:nvPr/>
        </p:nvSpPr>
        <p:spPr>
          <a:xfrm>
            <a:off x="2651760" y="2395728"/>
            <a:ext cx="2011680" cy="1005840"/>
          </a:xfrm>
          <a:prstGeom prst="roundRect">
            <a:avLst>
              <a:gd name="adj" fmla="val 7273"/>
            </a:avLst>
          </a:prstGeom>
          <a:solidFill>
            <a:srgbClr val="0A1520"/>
          </a:solidFill>
          <a:ln w="12700">
            <a:solidFill>
              <a:srgbClr val="243A52"/>
            </a:solidFill>
            <a:prstDash val="solid"/>
          </a:ln>
        </p:spPr>
      </p:sp>
      <p:sp>
        <p:nvSpPr>
          <p:cNvPr id="28" name="Text 26"/>
          <p:cNvSpPr/>
          <p:nvPr/>
        </p:nvSpPr>
        <p:spPr>
          <a:xfrm>
            <a:off x="2724912" y="2468880"/>
            <a:ext cx="1865376" cy="822960"/>
          </a:xfrm>
          <a:prstGeom prst="rect">
            <a:avLst/>
          </a:prstGeom>
          <a:noFill/>
          <a:ln/>
        </p:spPr>
        <p:txBody>
          <a:bodyPr wrap="square" rtlCol="0" anchor="ctr"/>
          <a:lstStyle/>
          <a:p>
            <a:pPr indent="0" marL="0">
              <a:buNone/>
            </a:pPr>
            <a:endParaRPr lang="en-US" sz="1100" dirty="0"/>
          </a:p>
        </p:txBody>
      </p:sp>
      <p:sp>
        <p:nvSpPr>
          <p:cNvPr id="29" name="Shape 27"/>
          <p:cNvSpPr/>
          <p:nvPr/>
        </p:nvSpPr>
        <p:spPr>
          <a:xfrm>
            <a:off x="4754880" y="2395728"/>
            <a:ext cx="2011680" cy="1005840"/>
          </a:xfrm>
          <a:prstGeom prst="roundRect">
            <a:avLst>
              <a:gd name="adj" fmla="val 7273"/>
            </a:avLst>
          </a:prstGeom>
          <a:solidFill>
            <a:srgbClr val="0A1520"/>
          </a:solidFill>
          <a:ln w="12700">
            <a:solidFill>
              <a:srgbClr val="243A52"/>
            </a:solidFill>
            <a:prstDash val="solid"/>
          </a:ln>
        </p:spPr>
      </p:sp>
      <p:sp>
        <p:nvSpPr>
          <p:cNvPr id="30" name="Text 28"/>
          <p:cNvSpPr/>
          <p:nvPr/>
        </p:nvSpPr>
        <p:spPr>
          <a:xfrm>
            <a:off x="4828032" y="2468880"/>
            <a:ext cx="1865376" cy="822960"/>
          </a:xfrm>
          <a:prstGeom prst="rect">
            <a:avLst/>
          </a:prstGeom>
          <a:noFill/>
          <a:ln/>
        </p:spPr>
        <p:txBody>
          <a:bodyPr wrap="square" rtlCol="0" anchor="ctr"/>
          <a:lstStyle/>
          <a:p>
            <a:pPr indent="0" marL="0">
              <a:buNone/>
            </a:pPr>
            <a:endParaRPr lang="en-US" sz="1100" dirty="0"/>
          </a:p>
        </p:txBody>
      </p:sp>
      <p:sp>
        <p:nvSpPr>
          <p:cNvPr id="31" name="Shape 29"/>
          <p:cNvSpPr/>
          <p:nvPr/>
        </p:nvSpPr>
        <p:spPr>
          <a:xfrm>
            <a:off x="6858000" y="2395728"/>
            <a:ext cx="2011680" cy="1005840"/>
          </a:xfrm>
          <a:prstGeom prst="roundRect">
            <a:avLst>
              <a:gd name="adj" fmla="val 7273"/>
            </a:avLst>
          </a:prstGeom>
          <a:solidFill>
            <a:srgbClr val="0A1520"/>
          </a:solidFill>
          <a:ln w="12700">
            <a:solidFill>
              <a:srgbClr val="243A52"/>
            </a:solidFill>
            <a:prstDash val="solid"/>
          </a:ln>
        </p:spPr>
      </p:sp>
      <p:sp>
        <p:nvSpPr>
          <p:cNvPr id="32" name="Text 30"/>
          <p:cNvSpPr/>
          <p:nvPr/>
        </p:nvSpPr>
        <p:spPr>
          <a:xfrm>
            <a:off x="6931152" y="2468880"/>
            <a:ext cx="1865376" cy="822960"/>
          </a:xfrm>
          <a:prstGeom prst="rect">
            <a:avLst/>
          </a:prstGeom>
          <a:noFill/>
          <a:ln/>
        </p:spPr>
        <p:txBody>
          <a:bodyPr wrap="square" rtlCol="0" anchor="ctr"/>
          <a:lstStyle/>
          <a:p>
            <a:pPr indent="0" marL="0">
              <a:buNone/>
            </a:pPr>
            <a:endParaRPr lang="en-US" sz="1100" dirty="0"/>
          </a:p>
        </p:txBody>
      </p:sp>
      <p:sp>
        <p:nvSpPr>
          <p:cNvPr id="33" name="Shape 31"/>
          <p:cNvSpPr/>
          <p:nvPr/>
        </p:nvSpPr>
        <p:spPr>
          <a:xfrm>
            <a:off x="8961120" y="2395728"/>
            <a:ext cx="2286000" cy="1005840"/>
          </a:xfrm>
          <a:prstGeom prst="roundRect">
            <a:avLst>
              <a:gd name="adj" fmla="val 7273"/>
            </a:avLst>
          </a:prstGeom>
          <a:solidFill>
            <a:srgbClr val="0A1520"/>
          </a:solidFill>
          <a:ln w="12700">
            <a:solidFill>
              <a:srgbClr val="243A52"/>
            </a:solidFill>
            <a:prstDash val="solid"/>
          </a:ln>
        </p:spPr>
      </p:sp>
      <p:sp>
        <p:nvSpPr>
          <p:cNvPr id="34" name="Text 32"/>
          <p:cNvSpPr/>
          <p:nvPr/>
        </p:nvSpPr>
        <p:spPr>
          <a:xfrm>
            <a:off x="9034272" y="2468880"/>
            <a:ext cx="2139696" cy="822960"/>
          </a:xfrm>
          <a:prstGeom prst="rect">
            <a:avLst/>
          </a:prstGeom>
          <a:noFill/>
          <a:ln/>
        </p:spPr>
        <p:txBody>
          <a:bodyPr wrap="square" rtlCol="0" anchor="ctr"/>
          <a:lstStyle/>
          <a:p>
            <a:pPr indent="0" marL="0">
              <a:buNone/>
            </a:pPr>
            <a:endParaRPr lang="en-US" sz="1100" dirty="0"/>
          </a:p>
        </p:txBody>
      </p:sp>
      <p:sp>
        <p:nvSpPr>
          <p:cNvPr id="35" name="Shape 33"/>
          <p:cNvSpPr/>
          <p:nvPr/>
        </p:nvSpPr>
        <p:spPr>
          <a:xfrm>
            <a:off x="274320" y="3493008"/>
            <a:ext cx="2286000" cy="1005840"/>
          </a:xfrm>
          <a:prstGeom prst="roundRect">
            <a:avLst>
              <a:gd name="adj" fmla="val 7273"/>
            </a:avLst>
          </a:prstGeom>
          <a:solidFill>
            <a:srgbClr val="1E2F45"/>
          </a:solidFill>
          <a:ln w="12700">
            <a:solidFill>
              <a:srgbClr val="243A52"/>
            </a:solidFill>
            <a:prstDash val="solid"/>
          </a:ln>
        </p:spPr>
      </p:sp>
      <p:sp>
        <p:nvSpPr>
          <p:cNvPr id="36" name="Text 34"/>
          <p:cNvSpPr/>
          <p:nvPr/>
        </p:nvSpPr>
        <p:spPr>
          <a:xfrm>
            <a:off x="347472" y="3566160"/>
            <a:ext cx="2139696" cy="822960"/>
          </a:xfrm>
          <a:prstGeom prst="rect">
            <a:avLst/>
          </a:prstGeom>
          <a:noFill/>
          <a:ln/>
        </p:spPr>
        <p:txBody>
          <a:bodyPr wrap="square" rtlCol="0" anchor="ctr"/>
          <a:lstStyle/>
          <a:p>
            <a:pPr indent="0" marL="0">
              <a:buNone/>
            </a:pPr>
            <a:r>
              <a:rPr lang="en-US" sz="1100" dirty="0">
                <a:solidFill>
                  <a:srgbClr val="4CC9F0"/>
                </a:solidFill>
                <a:latin typeface="Calibri" pitchFamily="34" charset="0"/>
                <a:ea typeface="Calibri" pitchFamily="34" charset="-122"/>
                <a:cs typeface="Calibri" pitchFamily="34" charset="-120"/>
              </a:rPr>
              <a:t>Small marble (faster)</a:t>
            </a:r>
            <a:endParaRPr lang="en-US" sz="1100" dirty="0"/>
          </a:p>
        </p:txBody>
      </p:sp>
      <p:sp>
        <p:nvSpPr>
          <p:cNvPr id="37" name="Shape 35"/>
          <p:cNvSpPr/>
          <p:nvPr/>
        </p:nvSpPr>
        <p:spPr>
          <a:xfrm>
            <a:off x="2651760" y="3493008"/>
            <a:ext cx="2011680" cy="1005840"/>
          </a:xfrm>
          <a:prstGeom prst="roundRect">
            <a:avLst>
              <a:gd name="adj" fmla="val 7273"/>
            </a:avLst>
          </a:prstGeom>
          <a:solidFill>
            <a:srgbClr val="0A1520"/>
          </a:solidFill>
          <a:ln w="12700">
            <a:solidFill>
              <a:srgbClr val="243A52"/>
            </a:solidFill>
            <a:prstDash val="solid"/>
          </a:ln>
        </p:spPr>
      </p:sp>
      <p:sp>
        <p:nvSpPr>
          <p:cNvPr id="38" name="Text 36"/>
          <p:cNvSpPr/>
          <p:nvPr/>
        </p:nvSpPr>
        <p:spPr>
          <a:xfrm>
            <a:off x="2724912" y="3566160"/>
            <a:ext cx="1865376" cy="822960"/>
          </a:xfrm>
          <a:prstGeom prst="rect">
            <a:avLst/>
          </a:prstGeom>
          <a:noFill/>
          <a:ln/>
        </p:spPr>
        <p:txBody>
          <a:bodyPr wrap="square" rtlCol="0" anchor="ctr"/>
          <a:lstStyle/>
          <a:p>
            <a:pPr indent="0" marL="0">
              <a:buNone/>
            </a:pPr>
            <a:endParaRPr lang="en-US" sz="1100" dirty="0"/>
          </a:p>
        </p:txBody>
      </p:sp>
      <p:sp>
        <p:nvSpPr>
          <p:cNvPr id="39" name="Shape 37"/>
          <p:cNvSpPr/>
          <p:nvPr/>
        </p:nvSpPr>
        <p:spPr>
          <a:xfrm>
            <a:off x="4754880" y="3493008"/>
            <a:ext cx="2011680" cy="1005840"/>
          </a:xfrm>
          <a:prstGeom prst="roundRect">
            <a:avLst>
              <a:gd name="adj" fmla="val 7273"/>
            </a:avLst>
          </a:prstGeom>
          <a:solidFill>
            <a:srgbClr val="0A1520"/>
          </a:solidFill>
          <a:ln w="12700">
            <a:solidFill>
              <a:srgbClr val="243A52"/>
            </a:solidFill>
            <a:prstDash val="solid"/>
          </a:ln>
        </p:spPr>
      </p:sp>
      <p:sp>
        <p:nvSpPr>
          <p:cNvPr id="40" name="Text 38"/>
          <p:cNvSpPr/>
          <p:nvPr/>
        </p:nvSpPr>
        <p:spPr>
          <a:xfrm>
            <a:off x="4828032" y="3566160"/>
            <a:ext cx="1865376" cy="822960"/>
          </a:xfrm>
          <a:prstGeom prst="rect">
            <a:avLst/>
          </a:prstGeom>
          <a:noFill/>
          <a:ln/>
        </p:spPr>
        <p:txBody>
          <a:bodyPr wrap="square" rtlCol="0" anchor="ctr"/>
          <a:lstStyle/>
          <a:p>
            <a:pPr indent="0" marL="0">
              <a:buNone/>
            </a:pPr>
            <a:endParaRPr lang="en-US" sz="1100" dirty="0"/>
          </a:p>
        </p:txBody>
      </p:sp>
      <p:sp>
        <p:nvSpPr>
          <p:cNvPr id="41" name="Shape 39"/>
          <p:cNvSpPr/>
          <p:nvPr/>
        </p:nvSpPr>
        <p:spPr>
          <a:xfrm>
            <a:off x="6858000" y="3493008"/>
            <a:ext cx="2011680" cy="1005840"/>
          </a:xfrm>
          <a:prstGeom prst="roundRect">
            <a:avLst>
              <a:gd name="adj" fmla="val 7273"/>
            </a:avLst>
          </a:prstGeom>
          <a:solidFill>
            <a:srgbClr val="0A1520"/>
          </a:solidFill>
          <a:ln w="12700">
            <a:solidFill>
              <a:srgbClr val="243A52"/>
            </a:solidFill>
            <a:prstDash val="solid"/>
          </a:ln>
        </p:spPr>
      </p:sp>
      <p:sp>
        <p:nvSpPr>
          <p:cNvPr id="42" name="Text 40"/>
          <p:cNvSpPr/>
          <p:nvPr/>
        </p:nvSpPr>
        <p:spPr>
          <a:xfrm>
            <a:off x="6931152" y="3566160"/>
            <a:ext cx="1865376" cy="822960"/>
          </a:xfrm>
          <a:prstGeom prst="rect">
            <a:avLst/>
          </a:prstGeom>
          <a:noFill/>
          <a:ln/>
        </p:spPr>
        <p:txBody>
          <a:bodyPr wrap="square" rtlCol="0" anchor="ctr"/>
          <a:lstStyle/>
          <a:p>
            <a:pPr indent="0" marL="0">
              <a:buNone/>
            </a:pPr>
            <a:endParaRPr lang="en-US" sz="1100" dirty="0"/>
          </a:p>
        </p:txBody>
      </p:sp>
      <p:sp>
        <p:nvSpPr>
          <p:cNvPr id="43" name="Shape 41"/>
          <p:cNvSpPr/>
          <p:nvPr/>
        </p:nvSpPr>
        <p:spPr>
          <a:xfrm>
            <a:off x="8961120" y="3493008"/>
            <a:ext cx="2286000" cy="1005840"/>
          </a:xfrm>
          <a:prstGeom prst="roundRect">
            <a:avLst>
              <a:gd name="adj" fmla="val 7273"/>
            </a:avLst>
          </a:prstGeom>
          <a:solidFill>
            <a:srgbClr val="0A1520"/>
          </a:solidFill>
          <a:ln w="12700">
            <a:solidFill>
              <a:srgbClr val="243A52"/>
            </a:solidFill>
            <a:prstDash val="solid"/>
          </a:ln>
        </p:spPr>
      </p:sp>
      <p:sp>
        <p:nvSpPr>
          <p:cNvPr id="44" name="Text 42"/>
          <p:cNvSpPr/>
          <p:nvPr/>
        </p:nvSpPr>
        <p:spPr>
          <a:xfrm>
            <a:off x="9034272" y="3566160"/>
            <a:ext cx="2139696" cy="822960"/>
          </a:xfrm>
          <a:prstGeom prst="rect">
            <a:avLst/>
          </a:prstGeom>
          <a:noFill/>
          <a:ln/>
        </p:spPr>
        <p:txBody>
          <a:bodyPr wrap="square" rtlCol="0" anchor="ctr"/>
          <a:lstStyle/>
          <a:p>
            <a:pPr indent="0" marL="0">
              <a:buNone/>
            </a:pPr>
            <a:endParaRPr lang="en-US" sz="1100" dirty="0"/>
          </a:p>
        </p:txBody>
      </p:sp>
      <p:sp>
        <p:nvSpPr>
          <p:cNvPr id="45" name="Shape 43"/>
          <p:cNvSpPr/>
          <p:nvPr/>
        </p:nvSpPr>
        <p:spPr>
          <a:xfrm>
            <a:off x="274320" y="4590288"/>
            <a:ext cx="2286000" cy="1005840"/>
          </a:xfrm>
          <a:prstGeom prst="roundRect">
            <a:avLst>
              <a:gd name="adj" fmla="val 7273"/>
            </a:avLst>
          </a:prstGeom>
          <a:solidFill>
            <a:srgbClr val="1E2F45"/>
          </a:solidFill>
          <a:ln w="12700">
            <a:solidFill>
              <a:srgbClr val="243A52"/>
            </a:solidFill>
            <a:prstDash val="solid"/>
          </a:ln>
        </p:spPr>
      </p:sp>
      <p:sp>
        <p:nvSpPr>
          <p:cNvPr id="46" name="Text 44"/>
          <p:cNvSpPr/>
          <p:nvPr/>
        </p:nvSpPr>
        <p:spPr>
          <a:xfrm>
            <a:off x="347472" y="4663440"/>
            <a:ext cx="2139696" cy="822960"/>
          </a:xfrm>
          <a:prstGeom prst="rect">
            <a:avLst/>
          </a:prstGeom>
          <a:noFill/>
          <a:ln/>
        </p:spPr>
        <p:txBody>
          <a:bodyPr wrap="square" rtlCol="0" anchor="ctr"/>
          <a:lstStyle/>
          <a:p>
            <a:pPr indent="0" marL="0">
              <a:buNone/>
            </a:pPr>
            <a:r>
              <a:rPr lang="en-US" sz="1100" dirty="0">
                <a:solidFill>
                  <a:srgbClr val="4CC9F0"/>
                </a:solidFill>
                <a:latin typeface="Calibri" pitchFamily="34" charset="0"/>
                <a:ea typeface="Calibri" pitchFamily="34" charset="-122"/>
                <a:cs typeface="Calibri" pitchFamily="34" charset="-120"/>
              </a:rPr>
              <a:t>Large marble (faster)</a:t>
            </a:r>
            <a:endParaRPr lang="en-US" sz="1100" dirty="0"/>
          </a:p>
        </p:txBody>
      </p:sp>
      <p:sp>
        <p:nvSpPr>
          <p:cNvPr id="47" name="Shape 45"/>
          <p:cNvSpPr/>
          <p:nvPr/>
        </p:nvSpPr>
        <p:spPr>
          <a:xfrm>
            <a:off x="2651760" y="4590288"/>
            <a:ext cx="2011680" cy="1005840"/>
          </a:xfrm>
          <a:prstGeom prst="roundRect">
            <a:avLst>
              <a:gd name="adj" fmla="val 7273"/>
            </a:avLst>
          </a:prstGeom>
          <a:solidFill>
            <a:srgbClr val="0A1520"/>
          </a:solidFill>
          <a:ln w="12700">
            <a:solidFill>
              <a:srgbClr val="243A52"/>
            </a:solidFill>
            <a:prstDash val="solid"/>
          </a:ln>
        </p:spPr>
      </p:sp>
      <p:sp>
        <p:nvSpPr>
          <p:cNvPr id="48" name="Text 46"/>
          <p:cNvSpPr/>
          <p:nvPr/>
        </p:nvSpPr>
        <p:spPr>
          <a:xfrm>
            <a:off x="2724912" y="4663440"/>
            <a:ext cx="1865376" cy="822960"/>
          </a:xfrm>
          <a:prstGeom prst="rect">
            <a:avLst/>
          </a:prstGeom>
          <a:noFill/>
          <a:ln/>
        </p:spPr>
        <p:txBody>
          <a:bodyPr wrap="square" rtlCol="0" anchor="ctr"/>
          <a:lstStyle/>
          <a:p>
            <a:pPr indent="0" marL="0">
              <a:buNone/>
            </a:pPr>
            <a:endParaRPr lang="en-US" sz="1100" dirty="0"/>
          </a:p>
        </p:txBody>
      </p:sp>
      <p:sp>
        <p:nvSpPr>
          <p:cNvPr id="49" name="Shape 47"/>
          <p:cNvSpPr/>
          <p:nvPr/>
        </p:nvSpPr>
        <p:spPr>
          <a:xfrm>
            <a:off x="4754880" y="4590288"/>
            <a:ext cx="2011680" cy="1005840"/>
          </a:xfrm>
          <a:prstGeom prst="roundRect">
            <a:avLst>
              <a:gd name="adj" fmla="val 7273"/>
            </a:avLst>
          </a:prstGeom>
          <a:solidFill>
            <a:srgbClr val="0A1520"/>
          </a:solidFill>
          <a:ln w="12700">
            <a:solidFill>
              <a:srgbClr val="243A52"/>
            </a:solidFill>
            <a:prstDash val="solid"/>
          </a:ln>
        </p:spPr>
      </p:sp>
      <p:sp>
        <p:nvSpPr>
          <p:cNvPr id="50" name="Text 48"/>
          <p:cNvSpPr/>
          <p:nvPr/>
        </p:nvSpPr>
        <p:spPr>
          <a:xfrm>
            <a:off x="4828032" y="4663440"/>
            <a:ext cx="1865376" cy="822960"/>
          </a:xfrm>
          <a:prstGeom prst="rect">
            <a:avLst/>
          </a:prstGeom>
          <a:noFill/>
          <a:ln/>
        </p:spPr>
        <p:txBody>
          <a:bodyPr wrap="square" rtlCol="0" anchor="ctr"/>
          <a:lstStyle/>
          <a:p>
            <a:pPr indent="0" marL="0">
              <a:buNone/>
            </a:pPr>
            <a:endParaRPr lang="en-US" sz="1100" dirty="0"/>
          </a:p>
        </p:txBody>
      </p:sp>
      <p:sp>
        <p:nvSpPr>
          <p:cNvPr id="51" name="Shape 49"/>
          <p:cNvSpPr/>
          <p:nvPr/>
        </p:nvSpPr>
        <p:spPr>
          <a:xfrm>
            <a:off x="6858000" y="4590288"/>
            <a:ext cx="2011680" cy="1005840"/>
          </a:xfrm>
          <a:prstGeom prst="roundRect">
            <a:avLst>
              <a:gd name="adj" fmla="val 7273"/>
            </a:avLst>
          </a:prstGeom>
          <a:solidFill>
            <a:srgbClr val="0A1520"/>
          </a:solidFill>
          <a:ln w="12700">
            <a:solidFill>
              <a:srgbClr val="243A52"/>
            </a:solidFill>
            <a:prstDash val="solid"/>
          </a:ln>
        </p:spPr>
      </p:sp>
      <p:sp>
        <p:nvSpPr>
          <p:cNvPr id="52" name="Text 50"/>
          <p:cNvSpPr/>
          <p:nvPr/>
        </p:nvSpPr>
        <p:spPr>
          <a:xfrm>
            <a:off x="6931152" y="4663440"/>
            <a:ext cx="1865376" cy="822960"/>
          </a:xfrm>
          <a:prstGeom prst="rect">
            <a:avLst/>
          </a:prstGeom>
          <a:noFill/>
          <a:ln/>
        </p:spPr>
        <p:txBody>
          <a:bodyPr wrap="square" rtlCol="0" anchor="ctr"/>
          <a:lstStyle/>
          <a:p>
            <a:pPr indent="0" marL="0">
              <a:buNone/>
            </a:pPr>
            <a:endParaRPr lang="en-US" sz="1100" dirty="0"/>
          </a:p>
        </p:txBody>
      </p:sp>
      <p:sp>
        <p:nvSpPr>
          <p:cNvPr id="53" name="Shape 51"/>
          <p:cNvSpPr/>
          <p:nvPr/>
        </p:nvSpPr>
        <p:spPr>
          <a:xfrm>
            <a:off x="8961120" y="4590288"/>
            <a:ext cx="2286000" cy="1005840"/>
          </a:xfrm>
          <a:prstGeom prst="roundRect">
            <a:avLst>
              <a:gd name="adj" fmla="val 7273"/>
            </a:avLst>
          </a:prstGeom>
          <a:solidFill>
            <a:srgbClr val="0A1520"/>
          </a:solidFill>
          <a:ln w="12700">
            <a:solidFill>
              <a:srgbClr val="243A52"/>
            </a:solidFill>
            <a:prstDash val="solid"/>
          </a:ln>
        </p:spPr>
      </p:sp>
      <p:sp>
        <p:nvSpPr>
          <p:cNvPr id="54" name="Text 52"/>
          <p:cNvSpPr/>
          <p:nvPr/>
        </p:nvSpPr>
        <p:spPr>
          <a:xfrm>
            <a:off x="9034272" y="4663440"/>
            <a:ext cx="2139696" cy="822960"/>
          </a:xfrm>
          <a:prstGeom prst="rect">
            <a:avLst/>
          </a:prstGeom>
          <a:noFill/>
          <a:ln/>
        </p:spPr>
        <p:txBody>
          <a:bodyPr wrap="square" rtlCol="0" anchor="ctr"/>
          <a:lstStyle/>
          <a:p>
            <a:pPr indent="0" marL="0">
              <a:buNone/>
            </a:pPr>
            <a:endParaRPr lang="en-US" sz="1100" dirty="0"/>
          </a:p>
        </p:txBody>
      </p:sp>
      <p:sp>
        <p:nvSpPr>
          <p:cNvPr id="55" name="Text 53"/>
          <p:cNvSpPr/>
          <p:nvPr/>
        </p:nvSpPr>
        <p:spPr>
          <a:xfrm>
            <a:off x="274320" y="5925312"/>
            <a:ext cx="11430000" cy="347472"/>
          </a:xfrm>
          <a:prstGeom prst="rect">
            <a:avLst/>
          </a:prstGeom>
          <a:noFill/>
          <a:ln/>
        </p:spPr>
        <p:txBody>
          <a:bodyPr wrap="square" rtlCol="0" anchor="ctr"/>
          <a:lstStyle/>
          <a:p>
            <a:pPr algn="ctr" indent="0" marL="0">
              <a:buNone/>
            </a:pPr>
            <a:r>
              <a:rPr lang="en-US" sz="1200" b="1" dirty="0">
                <a:solidFill>
                  <a:srgbClr val="FFB703"/>
                </a:solidFill>
                <a:latin typeface="Calibri" pitchFamily="34" charset="0"/>
                <a:ea typeface="Calibri" pitchFamily="34" charset="-122"/>
                <a:cs typeface="Calibri" pitchFamily="34" charset="-120"/>
              </a:rPr>
              <a:t>Copy into notebook. Record all trials DURING the investigation.</a:t>
            </a:r>
            <a:endParaRPr lang="en-US" sz="1200" dirty="0"/>
          </a:p>
        </p:txBody>
      </p:sp>
      <p:sp>
        <p:nvSpPr>
          <p:cNvPr id="56" name="Shape 54"/>
          <p:cNvSpPr/>
          <p:nvPr/>
        </p:nvSpPr>
        <p:spPr>
          <a:xfrm>
            <a:off x="0" y="6629400"/>
            <a:ext cx="12192000" cy="228600"/>
          </a:xfrm>
          <a:prstGeom prst="rect">
            <a:avLst/>
          </a:prstGeom>
          <a:solidFill>
            <a:srgbClr val="162233"/>
          </a:solidFill>
          <a:ln/>
        </p:spPr>
      </p:sp>
      <p:sp>
        <p:nvSpPr>
          <p:cNvPr id="57" name="Text 5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21-02  ·  Investigation: Predicting Collisions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Before and After: Record Each Collision</a:t>
            </a:r>
            <a:endParaRPr lang="en-US" sz="1600" dirty="0"/>
          </a:p>
        </p:txBody>
      </p:sp>
      <p:sp>
        <p:nvSpPr>
          <p:cNvPr id="5" name="Shape 3"/>
          <p:cNvSpPr/>
          <p:nvPr/>
        </p:nvSpPr>
        <p:spPr>
          <a:xfrm>
            <a:off x="365760" y="749808"/>
            <a:ext cx="11430000" cy="685800"/>
          </a:xfrm>
          <a:prstGeom prst="roundRect">
            <a:avLst>
              <a:gd name="adj" fmla="val 10667"/>
            </a:avLst>
          </a:prstGeom>
          <a:solidFill>
            <a:srgbClr val="1E2F45"/>
          </a:solidFill>
          <a:ln w="12700">
            <a:solidFill>
              <a:srgbClr val="4CC9F0"/>
            </a:solidFill>
            <a:prstDash val="solid"/>
          </a:ln>
        </p:spPr>
      </p:sp>
      <p:sp>
        <p:nvSpPr>
          <p:cNvPr id="6" name="Text 4"/>
          <p:cNvSpPr/>
          <p:nvPr/>
        </p:nvSpPr>
        <p:spPr>
          <a:xfrm>
            <a:off x="548640" y="804672"/>
            <a:ext cx="11155680" cy="566928"/>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For each trial, record BEFORE and AFTER. This is your evidence of energy transfer.</a:t>
            </a:r>
            <a:endParaRPr lang="en-US" sz="1300" dirty="0"/>
          </a:p>
        </p:txBody>
      </p:sp>
      <p:sp>
        <p:nvSpPr>
          <p:cNvPr id="7" name="Shape 5"/>
          <p:cNvSpPr/>
          <p:nvPr/>
        </p:nvSpPr>
        <p:spPr>
          <a:xfrm>
            <a:off x="365760" y="1572768"/>
            <a:ext cx="3474720" cy="1078992"/>
          </a:xfrm>
          <a:prstGeom prst="roundRect">
            <a:avLst>
              <a:gd name="adj" fmla="val 6780"/>
            </a:avLst>
          </a:prstGeom>
          <a:solidFill>
            <a:srgbClr val="1E2F45"/>
          </a:solidFill>
          <a:ln w="12700">
            <a:solidFill>
              <a:srgbClr val="0096C7"/>
            </a:solidFill>
            <a:prstDash val="solid"/>
          </a:ln>
        </p:spPr>
      </p:sp>
      <p:sp>
        <p:nvSpPr>
          <p:cNvPr id="8" name="Text 6"/>
          <p:cNvSpPr/>
          <p:nvPr/>
        </p:nvSpPr>
        <p:spPr>
          <a:xfrm>
            <a:off x="457200" y="1645920"/>
            <a:ext cx="3291840" cy="91440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Small marble hits target</a:t>
            </a:r>
            <a:endParaRPr lang="en-US" sz="1100" dirty="0"/>
          </a:p>
        </p:txBody>
      </p:sp>
      <p:sp>
        <p:nvSpPr>
          <p:cNvPr id="9" name="Shape 7"/>
          <p:cNvSpPr/>
          <p:nvPr/>
        </p:nvSpPr>
        <p:spPr>
          <a:xfrm>
            <a:off x="3931920" y="1572768"/>
            <a:ext cx="3566160" cy="1078992"/>
          </a:xfrm>
          <a:prstGeom prst="roundRect">
            <a:avLst>
              <a:gd name="adj" fmla="val 6780"/>
            </a:avLst>
          </a:prstGeom>
          <a:solidFill>
            <a:srgbClr val="0A1520"/>
          </a:solidFill>
          <a:ln w="12700">
            <a:solidFill>
              <a:srgbClr val="243A52"/>
            </a:solidFill>
            <a:prstDash val="solid"/>
          </a:ln>
        </p:spPr>
      </p:sp>
      <p:sp>
        <p:nvSpPr>
          <p:cNvPr id="10" name="Text 8"/>
          <p:cNvSpPr/>
          <p:nvPr/>
        </p:nvSpPr>
        <p:spPr>
          <a:xfrm>
            <a:off x="4023360" y="1645920"/>
            <a:ext cx="3383280" cy="914400"/>
          </a:xfrm>
          <a:prstGeom prst="rect">
            <a:avLst/>
          </a:prstGeom>
          <a:noFill/>
          <a:ln/>
        </p:spPr>
        <p:txBody>
          <a:bodyPr wrap="square" rtlCol="0" anchor="ctr"/>
          <a:lstStyle/>
          <a:p>
            <a:pPr indent="0" marL="0">
              <a:buNone/>
            </a:pPr>
            <a:r>
              <a:rPr lang="en-US" sz="1050" i="1" dirty="0">
                <a:solidFill>
                  <a:srgbClr val="2A3A5A"/>
                </a:solidFill>
                <a:latin typeface="Calibri" pitchFamily="34" charset="0"/>
                <a:ea typeface="Calibri" pitchFamily="34" charset="-122"/>
                <a:cs typeface="Calibri" pitchFamily="34" charset="-120"/>
              </a:rPr>
              <a:t>BEFORE: marble moving at ___</a:t>
            </a:r>
            <a:endParaRPr lang="en-US" sz="1050" dirty="0"/>
          </a:p>
        </p:txBody>
      </p:sp>
      <p:sp>
        <p:nvSpPr>
          <p:cNvPr id="11" name="Shape 9"/>
          <p:cNvSpPr/>
          <p:nvPr/>
        </p:nvSpPr>
        <p:spPr>
          <a:xfrm>
            <a:off x="7589520" y="1572768"/>
            <a:ext cx="4206240" cy="1078992"/>
          </a:xfrm>
          <a:prstGeom prst="roundRect">
            <a:avLst>
              <a:gd name="adj" fmla="val 6780"/>
            </a:avLst>
          </a:prstGeom>
          <a:solidFill>
            <a:srgbClr val="0A1520"/>
          </a:solidFill>
          <a:ln w="12700">
            <a:solidFill>
              <a:srgbClr val="243A52"/>
            </a:solidFill>
            <a:prstDash val="solid"/>
          </a:ln>
        </p:spPr>
      </p:sp>
      <p:sp>
        <p:nvSpPr>
          <p:cNvPr id="12" name="Text 10"/>
          <p:cNvSpPr/>
          <p:nvPr/>
        </p:nvSpPr>
        <p:spPr>
          <a:xfrm>
            <a:off x="7680960" y="1645920"/>
            <a:ext cx="4023360" cy="914400"/>
          </a:xfrm>
          <a:prstGeom prst="rect">
            <a:avLst/>
          </a:prstGeom>
          <a:noFill/>
          <a:ln/>
        </p:spPr>
        <p:txBody>
          <a:bodyPr wrap="square" rtlCol="0" anchor="ctr"/>
          <a:lstStyle/>
          <a:p>
            <a:pPr indent="0" marL="0">
              <a:buNone/>
            </a:pPr>
            <a:r>
              <a:rPr lang="en-US" sz="1050" i="1" dirty="0">
                <a:solidFill>
                  <a:srgbClr val="2A3A5A"/>
                </a:solidFill>
                <a:latin typeface="Calibri" pitchFamily="34" charset="0"/>
                <a:ea typeface="Calibri" pitchFamily="34" charset="-122"/>
                <a:cs typeface="Calibri" pitchFamily="34" charset="-120"/>
              </a:rPr>
              <a:t>AFTER: target moved ___ cm. Marble ___</a:t>
            </a:r>
            <a:endParaRPr lang="en-US" sz="1050" dirty="0"/>
          </a:p>
        </p:txBody>
      </p:sp>
      <p:sp>
        <p:nvSpPr>
          <p:cNvPr id="13" name="Shape 11"/>
          <p:cNvSpPr/>
          <p:nvPr/>
        </p:nvSpPr>
        <p:spPr>
          <a:xfrm>
            <a:off x="365760" y="2761488"/>
            <a:ext cx="3474720" cy="1078992"/>
          </a:xfrm>
          <a:prstGeom prst="roundRect">
            <a:avLst>
              <a:gd name="adj" fmla="val 6780"/>
            </a:avLst>
          </a:prstGeom>
          <a:solidFill>
            <a:srgbClr val="1E2F45"/>
          </a:solidFill>
          <a:ln w="12700">
            <a:solidFill>
              <a:srgbClr val="0096C7"/>
            </a:solidFill>
            <a:prstDash val="solid"/>
          </a:ln>
        </p:spPr>
      </p:sp>
      <p:sp>
        <p:nvSpPr>
          <p:cNvPr id="14" name="Text 12"/>
          <p:cNvSpPr/>
          <p:nvPr/>
        </p:nvSpPr>
        <p:spPr>
          <a:xfrm>
            <a:off x="457200" y="2834640"/>
            <a:ext cx="3291840" cy="91440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Large marble hits target (same speed)</a:t>
            </a:r>
            <a:endParaRPr lang="en-US" sz="1100" dirty="0"/>
          </a:p>
        </p:txBody>
      </p:sp>
      <p:sp>
        <p:nvSpPr>
          <p:cNvPr id="15" name="Shape 13"/>
          <p:cNvSpPr/>
          <p:nvPr/>
        </p:nvSpPr>
        <p:spPr>
          <a:xfrm>
            <a:off x="3931920" y="2761488"/>
            <a:ext cx="3566160" cy="1078992"/>
          </a:xfrm>
          <a:prstGeom prst="roundRect">
            <a:avLst>
              <a:gd name="adj" fmla="val 6780"/>
            </a:avLst>
          </a:prstGeom>
          <a:solidFill>
            <a:srgbClr val="0A1520"/>
          </a:solidFill>
          <a:ln w="12700">
            <a:solidFill>
              <a:srgbClr val="243A52"/>
            </a:solidFill>
            <a:prstDash val="solid"/>
          </a:ln>
        </p:spPr>
      </p:sp>
      <p:sp>
        <p:nvSpPr>
          <p:cNvPr id="16" name="Text 14"/>
          <p:cNvSpPr/>
          <p:nvPr/>
        </p:nvSpPr>
        <p:spPr>
          <a:xfrm>
            <a:off x="4023360" y="2834640"/>
            <a:ext cx="3383280" cy="914400"/>
          </a:xfrm>
          <a:prstGeom prst="rect">
            <a:avLst/>
          </a:prstGeom>
          <a:noFill/>
          <a:ln/>
        </p:spPr>
        <p:txBody>
          <a:bodyPr wrap="square" rtlCol="0" anchor="ctr"/>
          <a:lstStyle/>
          <a:p>
            <a:pPr indent="0" marL="0">
              <a:buNone/>
            </a:pPr>
            <a:r>
              <a:rPr lang="en-US" sz="1050" i="1" dirty="0">
                <a:solidFill>
                  <a:srgbClr val="2A3A5A"/>
                </a:solidFill>
                <a:latin typeface="Calibri" pitchFamily="34" charset="0"/>
                <a:ea typeface="Calibri" pitchFamily="34" charset="-122"/>
                <a:cs typeface="Calibri" pitchFamily="34" charset="-120"/>
              </a:rPr>
              <a:t>BEFORE: marble moving at ___</a:t>
            </a:r>
            <a:endParaRPr lang="en-US" sz="1050" dirty="0"/>
          </a:p>
        </p:txBody>
      </p:sp>
      <p:sp>
        <p:nvSpPr>
          <p:cNvPr id="17" name="Shape 15"/>
          <p:cNvSpPr/>
          <p:nvPr/>
        </p:nvSpPr>
        <p:spPr>
          <a:xfrm>
            <a:off x="7589520" y="2761488"/>
            <a:ext cx="4206240" cy="1078992"/>
          </a:xfrm>
          <a:prstGeom prst="roundRect">
            <a:avLst>
              <a:gd name="adj" fmla="val 6780"/>
            </a:avLst>
          </a:prstGeom>
          <a:solidFill>
            <a:srgbClr val="0A1520"/>
          </a:solidFill>
          <a:ln w="12700">
            <a:solidFill>
              <a:srgbClr val="243A52"/>
            </a:solidFill>
            <a:prstDash val="solid"/>
          </a:ln>
        </p:spPr>
      </p:sp>
      <p:sp>
        <p:nvSpPr>
          <p:cNvPr id="18" name="Text 16"/>
          <p:cNvSpPr/>
          <p:nvPr/>
        </p:nvSpPr>
        <p:spPr>
          <a:xfrm>
            <a:off x="7680960" y="2834640"/>
            <a:ext cx="4023360" cy="914400"/>
          </a:xfrm>
          <a:prstGeom prst="rect">
            <a:avLst/>
          </a:prstGeom>
          <a:noFill/>
          <a:ln/>
        </p:spPr>
        <p:txBody>
          <a:bodyPr wrap="square" rtlCol="0" anchor="ctr"/>
          <a:lstStyle/>
          <a:p>
            <a:pPr indent="0" marL="0">
              <a:buNone/>
            </a:pPr>
            <a:r>
              <a:rPr lang="en-US" sz="1050" i="1" dirty="0">
                <a:solidFill>
                  <a:srgbClr val="2A3A5A"/>
                </a:solidFill>
                <a:latin typeface="Calibri" pitchFamily="34" charset="0"/>
                <a:ea typeface="Calibri" pitchFamily="34" charset="-122"/>
                <a:cs typeface="Calibri" pitchFamily="34" charset="-120"/>
              </a:rPr>
              <a:t>AFTER: target moved ___ cm. Marble ___</a:t>
            </a:r>
            <a:endParaRPr lang="en-US" sz="1050" dirty="0"/>
          </a:p>
        </p:txBody>
      </p:sp>
      <p:sp>
        <p:nvSpPr>
          <p:cNvPr id="19" name="Shape 17"/>
          <p:cNvSpPr/>
          <p:nvPr/>
        </p:nvSpPr>
        <p:spPr>
          <a:xfrm>
            <a:off x="365760" y="3950208"/>
            <a:ext cx="3474720" cy="1078992"/>
          </a:xfrm>
          <a:prstGeom prst="roundRect">
            <a:avLst>
              <a:gd name="adj" fmla="val 6780"/>
            </a:avLst>
          </a:prstGeom>
          <a:solidFill>
            <a:srgbClr val="1E2F45"/>
          </a:solidFill>
          <a:ln w="12700">
            <a:solidFill>
              <a:srgbClr val="0096C7"/>
            </a:solidFill>
            <a:prstDash val="solid"/>
          </a:ln>
        </p:spPr>
      </p:sp>
      <p:sp>
        <p:nvSpPr>
          <p:cNvPr id="20" name="Text 18"/>
          <p:cNvSpPr/>
          <p:nvPr/>
        </p:nvSpPr>
        <p:spPr>
          <a:xfrm>
            <a:off x="457200" y="4023360"/>
            <a:ext cx="3291840" cy="91440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Small marble hits target (faster speed)</a:t>
            </a:r>
            <a:endParaRPr lang="en-US" sz="1100" dirty="0"/>
          </a:p>
        </p:txBody>
      </p:sp>
      <p:sp>
        <p:nvSpPr>
          <p:cNvPr id="21" name="Shape 19"/>
          <p:cNvSpPr/>
          <p:nvPr/>
        </p:nvSpPr>
        <p:spPr>
          <a:xfrm>
            <a:off x="3931920" y="3950208"/>
            <a:ext cx="3566160" cy="1078992"/>
          </a:xfrm>
          <a:prstGeom prst="roundRect">
            <a:avLst>
              <a:gd name="adj" fmla="val 6780"/>
            </a:avLst>
          </a:prstGeom>
          <a:solidFill>
            <a:srgbClr val="0A1520"/>
          </a:solidFill>
          <a:ln w="12700">
            <a:solidFill>
              <a:srgbClr val="243A52"/>
            </a:solidFill>
            <a:prstDash val="solid"/>
          </a:ln>
        </p:spPr>
      </p:sp>
      <p:sp>
        <p:nvSpPr>
          <p:cNvPr id="22" name="Text 20"/>
          <p:cNvSpPr/>
          <p:nvPr/>
        </p:nvSpPr>
        <p:spPr>
          <a:xfrm>
            <a:off x="4023360" y="4023360"/>
            <a:ext cx="3383280" cy="914400"/>
          </a:xfrm>
          <a:prstGeom prst="rect">
            <a:avLst/>
          </a:prstGeom>
          <a:noFill/>
          <a:ln/>
        </p:spPr>
        <p:txBody>
          <a:bodyPr wrap="square" rtlCol="0" anchor="ctr"/>
          <a:lstStyle/>
          <a:p>
            <a:pPr indent="0" marL="0">
              <a:buNone/>
            </a:pPr>
            <a:r>
              <a:rPr lang="en-US" sz="1050" i="1" dirty="0">
                <a:solidFill>
                  <a:srgbClr val="2A3A5A"/>
                </a:solidFill>
                <a:latin typeface="Calibri" pitchFamily="34" charset="0"/>
                <a:ea typeface="Calibri" pitchFamily="34" charset="-122"/>
                <a:cs typeface="Calibri" pitchFamily="34" charset="-120"/>
              </a:rPr>
              <a:t>BEFORE: marble moving at ___</a:t>
            </a:r>
            <a:endParaRPr lang="en-US" sz="1050" dirty="0"/>
          </a:p>
        </p:txBody>
      </p:sp>
      <p:sp>
        <p:nvSpPr>
          <p:cNvPr id="23" name="Shape 21"/>
          <p:cNvSpPr/>
          <p:nvPr/>
        </p:nvSpPr>
        <p:spPr>
          <a:xfrm>
            <a:off x="7589520" y="3950208"/>
            <a:ext cx="4206240" cy="1078992"/>
          </a:xfrm>
          <a:prstGeom prst="roundRect">
            <a:avLst>
              <a:gd name="adj" fmla="val 6780"/>
            </a:avLst>
          </a:prstGeom>
          <a:solidFill>
            <a:srgbClr val="0A1520"/>
          </a:solidFill>
          <a:ln w="12700">
            <a:solidFill>
              <a:srgbClr val="243A52"/>
            </a:solidFill>
            <a:prstDash val="solid"/>
          </a:ln>
        </p:spPr>
      </p:sp>
      <p:sp>
        <p:nvSpPr>
          <p:cNvPr id="24" name="Text 22"/>
          <p:cNvSpPr/>
          <p:nvPr/>
        </p:nvSpPr>
        <p:spPr>
          <a:xfrm>
            <a:off x="7680960" y="4023360"/>
            <a:ext cx="4023360" cy="914400"/>
          </a:xfrm>
          <a:prstGeom prst="rect">
            <a:avLst/>
          </a:prstGeom>
          <a:noFill/>
          <a:ln/>
        </p:spPr>
        <p:txBody>
          <a:bodyPr wrap="square" rtlCol="0" anchor="ctr"/>
          <a:lstStyle/>
          <a:p>
            <a:pPr indent="0" marL="0">
              <a:buNone/>
            </a:pPr>
            <a:r>
              <a:rPr lang="en-US" sz="1050" i="1" dirty="0">
                <a:solidFill>
                  <a:srgbClr val="2A3A5A"/>
                </a:solidFill>
                <a:latin typeface="Calibri" pitchFamily="34" charset="0"/>
                <a:ea typeface="Calibri" pitchFamily="34" charset="-122"/>
                <a:cs typeface="Calibri" pitchFamily="34" charset="-120"/>
              </a:rPr>
              <a:t>AFTER: target moved ___ cm. Marble ___</a:t>
            </a:r>
            <a:endParaRPr lang="en-US" sz="1050" dirty="0"/>
          </a:p>
        </p:txBody>
      </p:sp>
      <p:sp>
        <p:nvSpPr>
          <p:cNvPr id="25" name="Shape 23"/>
          <p:cNvSpPr/>
          <p:nvPr/>
        </p:nvSpPr>
        <p:spPr>
          <a:xfrm>
            <a:off x="365760" y="5138928"/>
            <a:ext cx="3474720" cy="1078992"/>
          </a:xfrm>
          <a:prstGeom prst="roundRect">
            <a:avLst>
              <a:gd name="adj" fmla="val 6780"/>
            </a:avLst>
          </a:prstGeom>
          <a:solidFill>
            <a:srgbClr val="1E2F45"/>
          </a:solidFill>
          <a:ln w="12700">
            <a:solidFill>
              <a:srgbClr val="0096C7"/>
            </a:solidFill>
            <a:prstDash val="solid"/>
          </a:ln>
        </p:spPr>
      </p:sp>
      <p:sp>
        <p:nvSpPr>
          <p:cNvPr id="26" name="Text 24"/>
          <p:cNvSpPr/>
          <p:nvPr/>
        </p:nvSpPr>
        <p:spPr>
          <a:xfrm>
            <a:off x="457200" y="5212080"/>
            <a:ext cx="3291840" cy="91440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Large marble hits target (faster speed)</a:t>
            </a:r>
            <a:endParaRPr lang="en-US" sz="1100" dirty="0"/>
          </a:p>
        </p:txBody>
      </p:sp>
      <p:sp>
        <p:nvSpPr>
          <p:cNvPr id="27" name="Shape 25"/>
          <p:cNvSpPr/>
          <p:nvPr/>
        </p:nvSpPr>
        <p:spPr>
          <a:xfrm>
            <a:off x="3931920" y="5138928"/>
            <a:ext cx="3566160" cy="1078992"/>
          </a:xfrm>
          <a:prstGeom prst="roundRect">
            <a:avLst>
              <a:gd name="adj" fmla="val 6780"/>
            </a:avLst>
          </a:prstGeom>
          <a:solidFill>
            <a:srgbClr val="0A1520"/>
          </a:solidFill>
          <a:ln w="12700">
            <a:solidFill>
              <a:srgbClr val="243A52"/>
            </a:solidFill>
            <a:prstDash val="solid"/>
          </a:ln>
        </p:spPr>
      </p:sp>
      <p:sp>
        <p:nvSpPr>
          <p:cNvPr id="28" name="Text 26"/>
          <p:cNvSpPr/>
          <p:nvPr/>
        </p:nvSpPr>
        <p:spPr>
          <a:xfrm>
            <a:off x="4023360" y="5212080"/>
            <a:ext cx="3383280" cy="914400"/>
          </a:xfrm>
          <a:prstGeom prst="rect">
            <a:avLst/>
          </a:prstGeom>
          <a:noFill/>
          <a:ln/>
        </p:spPr>
        <p:txBody>
          <a:bodyPr wrap="square" rtlCol="0" anchor="ctr"/>
          <a:lstStyle/>
          <a:p>
            <a:pPr indent="0" marL="0">
              <a:buNone/>
            </a:pPr>
            <a:r>
              <a:rPr lang="en-US" sz="1050" i="1" dirty="0">
                <a:solidFill>
                  <a:srgbClr val="2A3A5A"/>
                </a:solidFill>
                <a:latin typeface="Calibri" pitchFamily="34" charset="0"/>
                <a:ea typeface="Calibri" pitchFamily="34" charset="-122"/>
                <a:cs typeface="Calibri" pitchFamily="34" charset="-120"/>
              </a:rPr>
              <a:t>BEFORE: marble moving at ___</a:t>
            </a:r>
            <a:endParaRPr lang="en-US" sz="1050" dirty="0"/>
          </a:p>
        </p:txBody>
      </p:sp>
      <p:sp>
        <p:nvSpPr>
          <p:cNvPr id="29" name="Shape 27"/>
          <p:cNvSpPr/>
          <p:nvPr/>
        </p:nvSpPr>
        <p:spPr>
          <a:xfrm>
            <a:off x="7589520" y="5138928"/>
            <a:ext cx="4206240" cy="1078992"/>
          </a:xfrm>
          <a:prstGeom prst="roundRect">
            <a:avLst>
              <a:gd name="adj" fmla="val 6780"/>
            </a:avLst>
          </a:prstGeom>
          <a:solidFill>
            <a:srgbClr val="0A1520"/>
          </a:solidFill>
          <a:ln w="12700">
            <a:solidFill>
              <a:srgbClr val="243A52"/>
            </a:solidFill>
            <a:prstDash val="solid"/>
          </a:ln>
        </p:spPr>
      </p:sp>
      <p:sp>
        <p:nvSpPr>
          <p:cNvPr id="30" name="Text 28"/>
          <p:cNvSpPr/>
          <p:nvPr/>
        </p:nvSpPr>
        <p:spPr>
          <a:xfrm>
            <a:off x="7680960" y="5212080"/>
            <a:ext cx="4023360" cy="914400"/>
          </a:xfrm>
          <a:prstGeom prst="rect">
            <a:avLst/>
          </a:prstGeom>
          <a:noFill/>
          <a:ln/>
        </p:spPr>
        <p:txBody>
          <a:bodyPr wrap="square" rtlCol="0" anchor="ctr"/>
          <a:lstStyle/>
          <a:p>
            <a:pPr indent="0" marL="0">
              <a:buNone/>
            </a:pPr>
            <a:r>
              <a:rPr lang="en-US" sz="1050" i="1" dirty="0">
                <a:solidFill>
                  <a:srgbClr val="2A3A5A"/>
                </a:solidFill>
                <a:latin typeface="Calibri" pitchFamily="34" charset="0"/>
                <a:ea typeface="Calibri" pitchFamily="34" charset="-122"/>
                <a:cs typeface="Calibri" pitchFamily="34" charset="-120"/>
              </a:rPr>
              <a:t>AFTER: target moved ___ cm. Marble ___</a:t>
            </a:r>
            <a:endParaRPr lang="en-US" sz="1050" dirty="0"/>
          </a:p>
        </p:txBody>
      </p:sp>
      <p:sp>
        <p:nvSpPr>
          <p:cNvPr id="31" name="Shape 29"/>
          <p:cNvSpPr/>
          <p:nvPr/>
        </p:nvSpPr>
        <p:spPr>
          <a:xfrm>
            <a:off x="0" y="6629400"/>
            <a:ext cx="12192000" cy="228600"/>
          </a:xfrm>
          <a:prstGeom prst="rect">
            <a:avLst/>
          </a:prstGeom>
          <a:solidFill>
            <a:srgbClr val="162233"/>
          </a:solidFill>
          <a:ln/>
        </p:spPr>
      </p:sp>
      <p:sp>
        <p:nvSpPr>
          <p:cNvPr id="32" name="Text 3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21-02  ·  Investigation: Predicting Collisions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Analyze Your Data</a:t>
            </a:r>
            <a:endParaRPr lang="en-US" sz="1600" dirty="0"/>
          </a:p>
        </p:txBody>
      </p:sp>
      <p:sp>
        <p:nvSpPr>
          <p:cNvPr id="5" name="Shape 3"/>
          <p:cNvSpPr/>
          <p:nvPr/>
        </p:nvSpPr>
        <p:spPr>
          <a:xfrm>
            <a:off x="365760" y="749808"/>
            <a:ext cx="5029200" cy="5029200"/>
          </a:xfrm>
          <a:prstGeom prst="roundRect">
            <a:avLst>
              <a:gd name="adj" fmla="val 1455"/>
            </a:avLst>
          </a:prstGeom>
          <a:solidFill>
            <a:srgbClr val="0A1520"/>
          </a:solidFill>
          <a:ln w="19050">
            <a:solidFill>
              <a:srgbClr val="4CC9F0"/>
            </a:solidFill>
            <a:prstDash val="dash"/>
          </a:ln>
        </p:spPr>
      </p:sp>
      <p:sp>
        <p:nvSpPr>
          <p:cNvPr id="6" name="Text 4"/>
          <p:cNvSpPr/>
          <p:nvPr/>
        </p:nvSpPr>
        <p:spPr>
          <a:xfrm>
            <a:off x="457200" y="859536"/>
            <a:ext cx="48463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48463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480974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"collision data comparison bar chart small large marble target distance"</a:t>
            </a:r>
            <a:endParaRPr lang="en-US" sz="950" dirty="0"/>
          </a:p>
        </p:txBody>
      </p:sp>
      <p:sp>
        <p:nvSpPr>
          <p:cNvPr id="9" name="Text 7"/>
          <p:cNvSpPr/>
          <p:nvPr/>
        </p:nvSpPr>
        <p:spPr>
          <a:xfrm>
            <a:off x="365760" y="5815584"/>
            <a:ext cx="50292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Sample results: small vs. large marble collision distance</a:t>
            </a:r>
            <a:endParaRPr lang="en-US" sz="900" dirty="0"/>
          </a:p>
        </p:txBody>
      </p:sp>
      <p:sp>
        <p:nvSpPr>
          <p:cNvPr id="10" name="Shape 8"/>
          <p:cNvSpPr/>
          <p:nvPr/>
        </p:nvSpPr>
        <p:spPr>
          <a:xfrm>
            <a:off x="5577840" y="749808"/>
            <a:ext cx="6217920" cy="5029200"/>
          </a:xfrm>
          <a:prstGeom prst="roundRect">
            <a:avLst>
              <a:gd name="adj" fmla="val 1455"/>
            </a:avLst>
          </a:prstGeom>
          <a:solidFill>
            <a:srgbClr val="1E2F45"/>
          </a:solidFill>
          <a:ln w="12700">
            <a:solidFill>
              <a:srgbClr val="4CC9F0"/>
            </a:solidFill>
            <a:prstDash val="solid"/>
          </a:ln>
        </p:spPr>
      </p:sp>
      <p:sp>
        <p:nvSpPr>
          <p:cNvPr id="11" name="Text 9"/>
          <p:cNvSpPr/>
          <p:nvPr/>
        </p:nvSpPr>
        <p:spPr>
          <a:xfrm>
            <a:off x="5760720" y="822960"/>
            <a:ext cx="594360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Analysis Questions:</a:t>
            </a:r>
            <a:endParaRPr lang="en-US" sz="1300" dirty="0"/>
          </a:p>
        </p:txBody>
      </p:sp>
      <p:sp>
        <p:nvSpPr>
          <p:cNvPr id="12" name="Text 10"/>
          <p:cNvSpPr/>
          <p:nvPr/>
        </p:nvSpPr>
        <p:spPr>
          <a:xfrm>
            <a:off x="5760720" y="1261872"/>
            <a:ext cx="5943600" cy="713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 Which marble caused the target to move farther? Small or large?</a:t>
            </a:r>
            <a:endParaRPr lang="en-US" sz="1150" dirty="0"/>
          </a:p>
        </p:txBody>
      </p:sp>
      <p:sp>
        <p:nvSpPr>
          <p:cNvPr id="13" name="Text 11"/>
          <p:cNvSpPr/>
          <p:nvPr/>
        </p:nvSpPr>
        <p:spPr>
          <a:xfrm>
            <a:off x="5760720" y="2066544"/>
            <a:ext cx="5943600" cy="713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2. What happened to the rolling marble after it hit the target?</a:t>
            </a:r>
            <a:endParaRPr lang="en-US" sz="1150" dirty="0"/>
          </a:p>
        </p:txBody>
      </p:sp>
      <p:sp>
        <p:nvSpPr>
          <p:cNvPr id="14" name="Text 12"/>
          <p:cNvSpPr/>
          <p:nvPr/>
        </p:nvSpPr>
        <p:spPr>
          <a:xfrm>
            <a:off x="5760720" y="2871216"/>
            <a:ext cx="5943600" cy="713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3. How did increasing speed change the results?</a:t>
            </a:r>
            <a:endParaRPr lang="en-US" sz="1150" dirty="0"/>
          </a:p>
        </p:txBody>
      </p:sp>
      <p:sp>
        <p:nvSpPr>
          <p:cNvPr id="15" name="Text 13"/>
          <p:cNvSpPr/>
          <p:nvPr/>
        </p:nvSpPr>
        <p:spPr>
          <a:xfrm>
            <a:off x="5760720" y="3675888"/>
            <a:ext cx="5943600" cy="713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4. Does your data match your predictions? Explain.</a:t>
            </a:r>
            <a:endParaRPr lang="en-US" sz="1150" dirty="0"/>
          </a:p>
        </p:txBody>
      </p:sp>
      <p:sp>
        <p:nvSpPr>
          <p:cNvPr id="16" name="Text 14"/>
          <p:cNvSpPr/>
          <p:nvPr/>
        </p:nvSpPr>
        <p:spPr>
          <a:xfrm>
            <a:off x="5760720" y="4480560"/>
            <a:ext cx="5943600" cy="713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5. Write: 'The pattern in the data shows that ___'</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21-02  ·  Investigation: Predicting Collisions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Full CER: Collision Investigation</a:t>
            </a:r>
            <a:endParaRPr lang="en-US" sz="1600" dirty="0"/>
          </a:p>
        </p:txBody>
      </p:sp>
      <p:sp>
        <p:nvSpPr>
          <p:cNvPr id="5" name="Shape 3"/>
          <p:cNvSpPr/>
          <p:nvPr/>
        </p:nvSpPr>
        <p:spPr>
          <a:xfrm>
            <a:off x="365760" y="749808"/>
            <a:ext cx="3566160" cy="5349240"/>
          </a:xfrm>
          <a:prstGeom prst="roundRect">
            <a:avLst>
              <a:gd name="adj" fmla="val 2564"/>
            </a:avLst>
          </a:prstGeom>
          <a:solidFill>
            <a:srgbClr val="0A3D8F"/>
          </a:solidFill>
          <a:ln w="19050">
            <a:solidFill>
              <a:srgbClr val="1A5FBD"/>
            </a:solidFill>
            <a:prstDash val="solid"/>
          </a:ln>
        </p:spPr>
      </p:sp>
      <p:sp>
        <p:nvSpPr>
          <p:cNvPr id="6" name="Shape 4"/>
          <p:cNvSpPr/>
          <p:nvPr/>
        </p:nvSpPr>
        <p:spPr>
          <a:xfrm>
            <a:off x="365760" y="749808"/>
            <a:ext cx="3566160" cy="347472"/>
          </a:xfrm>
          <a:prstGeom prst="rect">
            <a:avLst/>
          </a:prstGeom>
          <a:solidFill>
            <a:srgbClr val="1A5FBD"/>
          </a:solidFill>
          <a:ln w="12700">
            <a:solidFill>
              <a:srgbClr val="1A5FBD"/>
            </a:solidFill>
            <a:prstDash val="solid"/>
          </a:ln>
        </p:spPr>
      </p:sp>
      <p:sp>
        <p:nvSpPr>
          <p:cNvPr id="7" name="Text 5"/>
          <p:cNvSpPr/>
          <p:nvPr/>
        </p:nvSpPr>
        <p:spPr>
          <a:xfrm>
            <a:off x="457200" y="76809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8" name="Text 6"/>
          <p:cNvSpPr/>
          <p:nvPr/>
        </p:nvSpPr>
        <p:spPr>
          <a:xfrm>
            <a:off x="502920" y="1152144"/>
            <a:ext cx="329184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Write:</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"I claim that when a larger/faster marble hits the target, it transfers more energy because ___."</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Does your claim match your original prediction?</a:t>
            </a:r>
            <a:endParaRPr lang="en-US" sz="1150" dirty="0"/>
          </a:p>
        </p:txBody>
      </p:sp>
      <p:sp>
        <p:nvSpPr>
          <p:cNvPr id="9" name="Shape 7"/>
          <p:cNvSpPr/>
          <p:nvPr/>
        </p:nvSpPr>
        <p:spPr>
          <a:xfrm>
            <a:off x="4114800" y="749808"/>
            <a:ext cx="3566160" cy="5349240"/>
          </a:xfrm>
          <a:prstGeom prst="roundRect">
            <a:avLst>
              <a:gd name="adj" fmla="val 2564"/>
            </a:avLst>
          </a:prstGeom>
          <a:solidFill>
            <a:srgbClr val="145C35"/>
          </a:solidFill>
          <a:ln w="19050">
            <a:solidFill>
              <a:srgbClr val="228B50"/>
            </a:solidFill>
            <a:prstDash val="solid"/>
          </a:ln>
        </p:spPr>
      </p:sp>
      <p:sp>
        <p:nvSpPr>
          <p:cNvPr id="10" name="Shape 8"/>
          <p:cNvSpPr/>
          <p:nvPr/>
        </p:nvSpPr>
        <p:spPr>
          <a:xfrm>
            <a:off x="4114800" y="749808"/>
            <a:ext cx="3566160" cy="347472"/>
          </a:xfrm>
          <a:prstGeom prst="rect">
            <a:avLst/>
          </a:prstGeom>
          <a:solidFill>
            <a:srgbClr val="228B50"/>
          </a:solidFill>
          <a:ln w="12700">
            <a:solidFill>
              <a:srgbClr val="228B50"/>
            </a:solidFill>
            <a:prstDash val="solid"/>
          </a:ln>
        </p:spPr>
      </p:sp>
      <p:sp>
        <p:nvSpPr>
          <p:cNvPr id="11" name="Text 9"/>
          <p:cNvSpPr/>
          <p:nvPr/>
        </p:nvSpPr>
        <p:spPr>
          <a:xfrm>
            <a:off x="4206240" y="76809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2" name="Text 10"/>
          <p:cNvSpPr/>
          <p:nvPr/>
        </p:nvSpPr>
        <p:spPr>
          <a:xfrm>
            <a:off x="4251960" y="1152144"/>
            <a:ext cx="329184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Use YOUR data:</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"The large marble caused the target to move ___ cm."</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"The small marble caused it to move ___ cm."</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"The pattern shows ___"</a:t>
            </a:r>
            <a:endParaRPr lang="en-US" sz="1150" dirty="0"/>
          </a:p>
        </p:txBody>
      </p:sp>
      <p:sp>
        <p:nvSpPr>
          <p:cNvPr id="13" name="Shape 11"/>
          <p:cNvSpPr/>
          <p:nvPr/>
        </p:nvSpPr>
        <p:spPr>
          <a:xfrm>
            <a:off x="7863840" y="749808"/>
            <a:ext cx="3749040" cy="5349240"/>
          </a:xfrm>
          <a:prstGeom prst="roundRect">
            <a:avLst>
              <a:gd name="adj" fmla="val 2439"/>
            </a:avLst>
          </a:prstGeom>
          <a:solidFill>
            <a:srgbClr val="7A3200"/>
          </a:solidFill>
          <a:ln w="19050">
            <a:solidFill>
              <a:srgbClr val="B04A00"/>
            </a:solidFill>
            <a:prstDash val="solid"/>
          </a:ln>
        </p:spPr>
      </p:sp>
      <p:sp>
        <p:nvSpPr>
          <p:cNvPr id="14" name="Shape 12"/>
          <p:cNvSpPr/>
          <p:nvPr/>
        </p:nvSpPr>
        <p:spPr>
          <a:xfrm>
            <a:off x="7863840" y="749808"/>
            <a:ext cx="3749040" cy="347472"/>
          </a:xfrm>
          <a:prstGeom prst="rect">
            <a:avLst/>
          </a:prstGeom>
          <a:solidFill>
            <a:srgbClr val="B04A00"/>
          </a:solidFill>
          <a:ln w="12700">
            <a:solidFill>
              <a:srgbClr val="B04A00"/>
            </a:solidFill>
            <a:prstDash val="solid"/>
          </a:ln>
        </p:spPr>
      </p:sp>
      <p:sp>
        <p:nvSpPr>
          <p:cNvPr id="15" name="Text 13"/>
          <p:cNvSpPr/>
          <p:nvPr/>
        </p:nvSpPr>
        <p:spPr>
          <a:xfrm>
            <a:off x="7955280" y="768096"/>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6" name="Text 14"/>
          <p:cNvSpPr/>
          <p:nvPr/>
        </p:nvSpPr>
        <p:spPr>
          <a:xfrm>
            <a:off x="8001000" y="1152144"/>
            <a:ext cx="347472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Explain WHY:</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"This evidence supports my claim because a larger/faster marble has more kinetic energy. On collision, that energy is transferred to the target. More energy = more force = more motion change."</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Connect back to what you learned about speed and energy.</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21-02  ·  Investigation: Predicting Collisions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Scientific Discussion: When Predictions Don't Match</a:t>
            </a:r>
            <a:endParaRPr lang="en-US" sz="1600" dirty="0"/>
          </a:p>
        </p:txBody>
      </p:sp>
      <p:sp>
        <p:nvSpPr>
          <p:cNvPr id="5" name="Shape 3"/>
          <p:cNvSpPr/>
          <p:nvPr/>
        </p:nvSpPr>
        <p:spPr>
          <a:xfrm>
            <a:off x="365760" y="749808"/>
            <a:ext cx="11430000" cy="2011680"/>
          </a:xfrm>
          <a:prstGeom prst="roundRect">
            <a:avLst>
              <a:gd name="adj" fmla="val 3636"/>
            </a:avLst>
          </a:prstGeom>
          <a:solidFill>
            <a:srgbClr val="162233"/>
          </a:solidFill>
          <a:ln w="12700">
            <a:solidFill>
              <a:srgbClr val="FFB703"/>
            </a:solidFill>
            <a:prstDash val="solid"/>
          </a:ln>
        </p:spPr>
      </p:sp>
      <p:sp>
        <p:nvSpPr>
          <p:cNvPr id="6" name="Text 4"/>
          <p:cNvSpPr/>
          <p:nvPr/>
        </p:nvSpPr>
        <p:spPr>
          <a:xfrm>
            <a:off x="530352" y="82296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Discussion Question:</a:t>
            </a:r>
            <a:endParaRPr lang="en-US" sz="1300" dirty="0"/>
          </a:p>
        </p:txBody>
      </p:sp>
      <p:sp>
        <p:nvSpPr>
          <p:cNvPr id="7" name="Text 5"/>
          <p:cNvSpPr/>
          <p:nvPr/>
        </p:nvSpPr>
        <p:spPr>
          <a:xfrm>
            <a:off x="530352" y="1188720"/>
            <a:ext cx="11100816" cy="146304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Some students predicted the small marble would move the target more because it was lighter and faster. But data shows the larger marble moved it farther. What went wrong with that prediction? What does this teach us about scientific thinking?</a:t>
            </a:r>
            <a:endParaRPr lang="en-US" sz="1300" dirty="0"/>
          </a:p>
        </p:txBody>
      </p:sp>
      <p:sp>
        <p:nvSpPr>
          <p:cNvPr id="8" name="Shape 6"/>
          <p:cNvSpPr/>
          <p:nvPr/>
        </p:nvSpPr>
        <p:spPr>
          <a:xfrm>
            <a:off x="365760" y="2907792"/>
            <a:ext cx="11430000" cy="1298448"/>
          </a:xfrm>
          <a:prstGeom prst="roundRect">
            <a:avLst>
              <a:gd name="adj" fmla="val 5634"/>
            </a:avLst>
          </a:prstGeom>
          <a:solidFill>
            <a:srgbClr val="1E2F45"/>
          </a:solidFill>
          <a:ln w="12700">
            <a:solidFill>
              <a:srgbClr val="2DC653"/>
            </a:solidFill>
            <a:prstDash val="solid"/>
          </a:ln>
        </p:spPr>
      </p:sp>
      <p:sp>
        <p:nvSpPr>
          <p:cNvPr id="9" name="Text 7"/>
          <p:cNvSpPr/>
          <p:nvPr/>
        </p:nvSpPr>
        <p:spPr>
          <a:xfrm>
            <a:off x="548640" y="2971800"/>
            <a:ext cx="1115568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Key Idea:</a:t>
            </a:r>
            <a:endParaRPr lang="en-US" sz="1200" dirty="0"/>
          </a:p>
        </p:txBody>
      </p:sp>
      <p:sp>
        <p:nvSpPr>
          <p:cNvPr id="10" name="Text 8"/>
          <p:cNvSpPr/>
          <p:nvPr/>
        </p:nvSpPr>
        <p:spPr>
          <a:xfrm>
            <a:off x="548640" y="3337560"/>
            <a:ext cx="11155680" cy="74980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In science, when evidence DISAGREES with your prediction, that is NOT a failure — it is a DISCOVERY. We revise our thinking based on evidence. This is what scientists do.</a:t>
            </a:r>
            <a:endParaRPr lang="en-US" sz="120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21-02  ·  Investigation: Predicting Collisions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Check for Understanding</a:t>
            </a:r>
            <a:endParaRPr lang="en-US" sz="1600" dirty="0"/>
          </a:p>
        </p:txBody>
      </p:sp>
      <p:sp>
        <p:nvSpPr>
          <p:cNvPr id="5" name="Shape 3"/>
          <p:cNvSpPr/>
          <p:nvPr/>
        </p:nvSpPr>
        <p:spPr>
          <a:xfrm>
            <a:off x="365760" y="749808"/>
            <a:ext cx="11430000" cy="2697480"/>
          </a:xfrm>
          <a:prstGeom prst="roundRect">
            <a:avLst>
              <a:gd name="adj" fmla="val 2712"/>
            </a:avLst>
          </a:prstGeom>
          <a:solidFill>
            <a:srgbClr val="1E2F45"/>
          </a:solidFill>
          <a:ln w="12700">
            <a:solidFill>
              <a:srgbClr val="243A52"/>
            </a:solidFill>
            <a:prstDash val="solid"/>
          </a:ln>
        </p:spPr>
      </p:sp>
      <p:sp>
        <p:nvSpPr>
          <p:cNvPr id="6" name="Text 4"/>
          <p:cNvSpPr/>
          <p:nvPr/>
        </p:nvSpPr>
        <p:spPr>
          <a:xfrm>
            <a:off x="548640" y="822960"/>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 In the marble investigation, a large marble caused the target to move 15 cm while a small marble moved it only 6 cm. What does this tell us?</a:t>
            </a:r>
            <a:endParaRPr lang="en-US" sz="1250" dirty="0"/>
          </a:p>
        </p:txBody>
      </p:sp>
      <p:sp>
        <p:nvSpPr>
          <p:cNvPr id="7" name="Text 5"/>
          <p:cNvSpPr/>
          <p:nvPr/>
        </p:nvSpPr>
        <p:spPr>
          <a:xfrm>
            <a:off x="731520" y="137160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Larger marbles are heavier so they roll slower</a:t>
            </a:r>
            <a:endParaRPr lang="en-US" sz="1150" dirty="0"/>
          </a:p>
        </p:txBody>
      </p:sp>
      <p:sp>
        <p:nvSpPr>
          <p:cNvPr id="8" name="Text 6"/>
          <p:cNvSpPr/>
          <p:nvPr/>
        </p:nvSpPr>
        <p:spPr>
          <a:xfrm>
            <a:off x="6400800" y="1371600"/>
            <a:ext cx="5486400" cy="420624"/>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B. The large marble had more kinetic energy to transfer</a:t>
            </a:r>
            <a:endParaRPr lang="en-US" sz="1150" dirty="0"/>
          </a:p>
        </p:txBody>
      </p:sp>
      <p:sp>
        <p:nvSpPr>
          <p:cNvPr id="9" name="Text 7"/>
          <p:cNvSpPr/>
          <p:nvPr/>
        </p:nvSpPr>
        <p:spPr>
          <a:xfrm>
            <a:off x="731520" y="184708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Small marbles are better at transferring energy</a:t>
            </a:r>
            <a:endParaRPr lang="en-US" sz="1150" dirty="0"/>
          </a:p>
        </p:txBody>
      </p:sp>
      <p:sp>
        <p:nvSpPr>
          <p:cNvPr id="10" name="Text 8"/>
          <p:cNvSpPr/>
          <p:nvPr/>
        </p:nvSpPr>
        <p:spPr>
          <a:xfrm>
            <a:off x="6400800" y="184708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 The target was not in the right position</a:t>
            </a:r>
            <a:endParaRPr lang="en-US" sz="1150" dirty="0"/>
          </a:p>
        </p:txBody>
      </p:sp>
      <p:sp>
        <p:nvSpPr>
          <p:cNvPr id="11" name="Text 9"/>
          <p:cNvSpPr/>
          <p:nvPr/>
        </p:nvSpPr>
        <p:spPr>
          <a:xfrm>
            <a:off x="9601200" y="3017520"/>
            <a:ext cx="2103120" cy="32004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Answer: B</a:t>
            </a:r>
            <a:endParaRPr lang="en-US" sz="1000" dirty="0"/>
          </a:p>
        </p:txBody>
      </p:sp>
      <p:sp>
        <p:nvSpPr>
          <p:cNvPr id="12" name="Shape 10"/>
          <p:cNvSpPr/>
          <p:nvPr/>
        </p:nvSpPr>
        <p:spPr>
          <a:xfrm>
            <a:off x="365760" y="3630168"/>
            <a:ext cx="11430000" cy="2697480"/>
          </a:xfrm>
          <a:prstGeom prst="roundRect">
            <a:avLst>
              <a:gd name="adj" fmla="val 2712"/>
            </a:avLst>
          </a:prstGeom>
          <a:solidFill>
            <a:srgbClr val="1E2F45"/>
          </a:solidFill>
          <a:ln w="12700">
            <a:solidFill>
              <a:srgbClr val="243A52"/>
            </a:solidFill>
            <a:prstDash val="solid"/>
          </a:ln>
        </p:spPr>
      </p:sp>
      <p:sp>
        <p:nvSpPr>
          <p:cNvPr id="13" name="Text 11"/>
          <p:cNvSpPr/>
          <p:nvPr/>
        </p:nvSpPr>
        <p:spPr>
          <a:xfrm>
            <a:off x="548640" y="3703320"/>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2. When your data does NOT match your prediction in science, you should:</a:t>
            </a:r>
            <a:endParaRPr lang="en-US" sz="1250" dirty="0"/>
          </a:p>
        </p:txBody>
      </p:sp>
      <p:sp>
        <p:nvSpPr>
          <p:cNvPr id="14" name="Text 12"/>
          <p:cNvSpPr/>
          <p:nvPr/>
        </p:nvSpPr>
        <p:spPr>
          <a:xfrm>
            <a:off x="731520" y="425196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Ignore the data and stick with your prediction</a:t>
            </a:r>
            <a:endParaRPr lang="en-US" sz="1150" dirty="0"/>
          </a:p>
        </p:txBody>
      </p:sp>
      <p:sp>
        <p:nvSpPr>
          <p:cNvPr id="15" name="Text 13"/>
          <p:cNvSpPr/>
          <p:nvPr/>
        </p:nvSpPr>
        <p:spPr>
          <a:xfrm>
            <a:off x="6400800" y="425196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 Throw away your results</a:t>
            </a:r>
            <a:endParaRPr lang="en-US" sz="1150" dirty="0"/>
          </a:p>
        </p:txBody>
      </p:sp>
      <p:sp>
        <p:nvSpPr>
          <p:cNvPr id="16" name="Text 14"/>
          <p:cNvSpPr/>
          <p:nvPr/>
        </p:nvSpPr>
        <p:spPr>
          <a:xfrm>
            <a:off x="731520" y="4727448"/>
            <a:ext cx="5486400" cy="420624"/>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C. Revise your thinking based on the evidence</a:t>
            </a:r>
            <a:endParaRPr lang="en-US" sz="1150" dirty="0"/>
          </a:p>
        </p:txBody>
      </p:sp>
      <p:sp>
        <p:nvSpPr>
          <p:cNvPr id="17" name="Text 15"/>
          <p:cNvSpPr/>
          <p:nvPr/>
        </p:nvSpPr>
        <p:spPr>
          <a:xfrm>
            <a:off x="6400800" y="472744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 Repeat the test until you get the right answer</a:t>
            </a:r>
            <a:endParaRPr lang="en-US" sz="1150" dirty="0"/>
          </a:p>
        </p:txBody>
      </p:sp>
      <p:sp>
        <p:nvSpPr>
          <p:cNvPr id="18" name="Text 16"/>
          <p:cNvSpPr/>
          <p:nvPr/>
        </p:nvSpPr>
        <p:spPr>
          <a:xfrm>
            <a:off x="9601200" y="5897880"/>
            <a:ext cx="2103120" cy="32004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Answer: C</a:t>
            </a:r>
            <a:endParaRPr lang="en-US" sz="10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21-02  ·  Investigation: Predicting Collisions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"When objects collide, what determines how energy is transferred and motion changes?"</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Investigation prediction (notebook)</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Data table with averages (notebook)</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Before/After observation records (notebook)</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Full CER: Claim + Evidence + Reasoning (notebook)</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23-01: How Does Sound Happen? — Vibrations, waves, and frequency</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21-02  ·  Investigation: Predicting Collisions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2026-07-14T00:36:11Z</dcterms:created>
  <dcterms:modified xsi:type="dcterms:W3CDTF">2026-07-14T00:36:11Z</dcterms:modified>
</cp:coreProperties>
</file>