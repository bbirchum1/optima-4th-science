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DATA ANALYSIS lesson. The core skill: patterns on maps are evidence, not just decoration. Students read the map FIRST, then explain the pattern. 'What does the data show?' is the driving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Have students sketch a quick Florida outline and place stars. Compare predictions as a class. Save them — you'll revisit at the end to see which were right. Key question: 'Why might that pattern exist?' Accept all ideas. The lesson provides evidence-based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predictions. Note them publicly — you'll revisit. The beach example is a great warm-up concept: beaches are concentrated on the COASTS because they only form where land meets ocean. This is the same logic students will apply to phosphate and citrus."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skill today: vocabulary of spatial thinking. Distribution, location, availability are the words scientists use to talk about WHERE things are and WHY. Practice with the beach example before moving to the actual resource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skill frame students will use in the assignment. Practice the frame with the beach example: 'The map shows beaches are found along the coasts. The pattern is evidence that beaches form where land meets ocean.' Then apply to phosphate, citrus, etc. Students who use this frame accurately in their assignment are showing strong evidence-based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ANALYSIS SLIDE. Key facilitation: 'What is the MOST concentrated resource? What's the MOST spread out?' Call on students to point to the map and describe the pattern they see before explaining WHY. Observation first, explanation second. This is the scientific thinking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Ask students: 'What's the pattern? What explains it?' Key concept: the location of a resource is not random — it reflects something about the underlying geology, climate, or geography. This is what makes maps so useful — they make patterns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you looked at a map of U.S. phosphate production and saw almost all of it concentrated in one small area of Florida — what question would a scientist ask? (Why there? What's underground? How long will it last?) That curiosity IS the scientific thinking we're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focus on Step 3 (the pattern) and Step 4 (the evidence statement). Many students will describe a location without describing the pattern, or describe the pattern without explaining why. Push for the full frame: location → pattern →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walk through each panel. Highlight how the evidence cites THE MAP specifically ('the map shows') — that's using a data source as evidence. The reasoning explains the link between map pattern → geology → resource location. This is evidence-based spatial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independent. Key check: is the evidence citing the MAP (not just general knowledge)? 'The map shows' is the phrase we want. Is the reasoning explaining the LINK between limestone location and spring location? That's the scientific connection: aquifer (water) + limestone (rock) + surface exposure = 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is easy but important — reinforce the habit of reading the map key first. Q2 pushes for geological explanation over guessing. Q3 checks the connection between geography and distribution. Ask for volunteers to explain their reasoning, not just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evidence statement frame on Slide 5 — students should use this exact structure in Part B. For the evidence argument, emphasize: the evidence comes FROM THE MAP, not from general knowledge. 'The map shows' is the required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'Write ONE evidence statement about ONE Florida resource location using the frame: The map shows ___ is found in ___. The pattern is evidence that ___.' Collect and check for proper use of the frame before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ANALYSIS SLIDE. Walk through each question. Ask students to answer BEFORE revealing. The Q4 pattern is the deepest insight: both phosphate and springs cluster in the same general area because both depend on Florida's limestone geology. A scientist would see this co-location and ask: 'Is there a connection?' (Yes — both involve the same rock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'Go Deeper' slide addresses scientific literacy. Ask: 'Why would a scientist visit a location to verify what the map shows? (Maps can be wrong! Data has errors. Field verification is part of the scientific process.) Maps are tools — powerful ones — but they're only as good as the data they're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aquifer is invisible — students need to build a mental model of water stored in porous limestone rock below the surface. Connect to the map evidence: spring locations on a map reveal where the aquifer intersects the surface. Ask: if the aquifer is underground, how do scientists know where it is? (Drilling, water pressure readings, spring locations — data gathered over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highlight or star the 2 pieces of evidence they plan to use in their CER. Encourage them to pick evidence that includes a specific location AND an explanation of WHY the resource is there — not just that it is there. The best evidence names both the observation (what the map shows) and the underlying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alignment: this CER requires spatial reasoning — students must connect map patterns to underlying causes. Grade on specificity of evidence (names a location and resource) and quality of reasoning (explains the cause, not just the observation). Weak answers cite one resource without a cause. Strong answers name two resources with two different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Data Task: Local Resources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Why Are Some Florida Resources Found in One Place and Not Another?</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SC.4.E.6.6 — Read a Florida resource map; use patterns as evidence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Read a resource map and describe where resources are found</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a pattern on the map as evidence for an explanation</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Write an evidence statement about why a resource is found in one location</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A Florida Map Game — Guess Before You See the Data</a:t>
            </a:r>
            <a:endParaRPr lang="en-US" sz="1600" dirty="0"/>
          </a:p>
        </p:txBody>
      </p:sp>
      <p:sp>
        <p:nvSpPr>
          <p:cNvPr id="5" name="Shape 3"/>
          <p:cNvSpPr/>
          <p:nvPr/>
        </p:nvSpPr>
        <p:spPr>
          <a:xfrm>
            <a:off x="365760" y="749808"/>
            <a:ext cx="11247120" cy="877824"/>
          </a:xfrm>
          <a:prstGeom prst="roundRect">
            <a:avLst>
              <a:gd name="adj" fmla="val 8333"/>
            </a:avLst>
          </a:prstGeom>
          <a:solidFill>
            <a:srgbClr val="1E2F45"/>
          </a:solidFill>
          <a:ln w="12700">
            <a:solidFill>
              <a:srgbClr val="FFB703"/>
            </a:solidFill>
            <a:prstDash val="solid"/>
          </a:ln>
        </p:spPr>
      </p:sp>
      <p:sp>
        <p:nvSpPr>
          <p:cNvPr id="6" name="Text 4"/>
          <p:cNvSpPr/>
          <p:nvPr/>
        </p:nvSpPr>
        <p:spPr>
          <a:xfrm>
            <a:off x="548640" y="822960"/>
            <a:ext cx="1097280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Imagine a blank Florida outline. WITHOUT looking anything up — place a star where you THINK each resource is most found:</a:t>
            </a:r>
            <a:endParaRPr lang="en-US" sz="1300" dirty="0"/>
          </a:p>
        </p:txBody>
      </p:sp>
      <p:sp>
        <p:nvSpPr>
          <p:cNvPr id="7" name="Shape 5"/>
          <p:cNvSpPr/>
          <p:nvPr/>
        </p:nvSpPr>
        <p:spPr>
          <a:xfrm>
            <a:off x="365760" y="1773936"/>
            <a:ext cx="2633472" cy="1170432"/>
          </a:xfrm>
          <a:prstGeom prst="roundRect">
            <a:avLst>
              <a:gd name="adj" fmla="val 6250"/>
            </a:avLst>
          </a:prstGeom>
          <a:solidFill>
            <a:srgbClr val="1E2F45"/>
          </a:solidFill>
          <a:ln w="12700">
            <a:solidFill>
              <a:srgbClr val="4CC9F0"/>
            </a:solidFill>
            <a:prstDash val="solid"/>
          </a:ln>
        </p:spPr>
      </p:sp>
      <p:sp>
        <p:nvSpPr>
          <p:cNvPr id="8" name="Text 6"/>
          <p:cNvSpPr/>
          <p:nvPr/>
        </p:nvSpPr>
        <p:spPr>
          <a:xfrm>
            <a:off x="502920" y="1847088"/>
            <a:ext cx="2359152" cy="40233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Citrus Farms</a:t>
            </a:r>
            <a:endParaRPr lang="en-US" sz="1200" dirty="0"/>
          </a:p>
        </p:txBody>
      </p:sp>
      <p:sp>
        <p:nvSpPr>
          <p:cNvPr id="9" name="Text 7"/>
          <p:cNvSpPr/>
          <p:nvPr/>
        </p:nvSpPr>
        <p:spPr>
          <a:xfrm>
            <a:off x="502920" y="2286000"/>
            <a:ext cx="2359152" cy="53035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(orange and grapefruit groves)</a:t>
            </a:r>
            <a:endParaRPr lang="en-US" sz="1050" dirty="0"/>
          </a:p>
        </p:txBody>
      </p:sp>
      <p:sp>
        <p:nvSpPr>
          <p:cNvPr id="10" name="Shape 8"/>
          <p:cNvSpPr/>
          <p:nvPr/>
        </p:nvSpPr>
        <p:spPr>
          <a:xfrm>
            <a:off x="3182112" y="1773936"/>
            <a:ext cx="2633472" cy="1170432"/>
          </a:xfrm>
          <a:prstGeom prst="roundRect">
            <a:avLst>
              <a:gd name="adj" fmla="val 6250"/>
            </a:avLst>
          </a:prstGeom>
          <a:solidFill>
            <a:srgbClr val="1E2F45"/>
          </a:solidFill>
          <a:ln w="12700">
            <a:solidFill>
              <a:srgbClr val="4CC9F0"/>
            </a:solidFill>
            <a:prstDash val="solid"/>
          </a:ln>
        </p:spPr>
      </p:sp>
      <p:sp>
        <p:nvSpPr>
          <p:cNvPr id="11" name="Text 9"/>
          <p:cNvSpPr/>
          <p:nvPr/>
        </p:nvSpPr>
        <p:spPr>
          <a:xfrm>
            <a:off x="3319272" y="1847088"/>
            <a:ext cx="2359152" cy="40233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Beaches &amp; Tourism</a:t>
            </a:r>
            <a:endParaRPr lang="en-US" sz="1200" dirty="0"/>
          </a:p>
        </p:txBody>
      </p:sp>
      <p:sp>
        <p:nvSpPr>
          <p:cNvPr id="12" name="Text 10"/>
          <p:cNvSpPr/>
          <p:nvPr/>
        </p:nvSpPr>
        <p:spPr>
          <a:xfrm>
            <a:off x="3319272" y="2286000"/>
            <a:ext cx="2359152" cy="53035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Where in Florida?</a:t>
            </a:r>
            <a:endParaRPr lang="en-US" sz="1050" dirty="0"/>
          </a:p>
        </p:txBody>
      </p:sp>
      <p:sp>
        <p:nvSpPr>
          <p:cNvPr id="13" name="Shape 11"/>
          <p:cNvSpPr/>
          <p:nvPr/>
        </p:nvSpPr>
        <p:spPr>
          <a:xfrm>
            <a:off x="5998464" y="1773936"/>
            <a:ext cx="2633472" cy="1170432"/>
          </a:xfrm>
          <a:prstGeom prst="roundRect">
            <a:avLst>
              <a:gd name="adj" fmla="val 6250"/>
            </a:avLst>
          </a:prstGeom>
          <a:solidFill>
            <a:srgbClr val="1E2F45"/>
          </a:solidFill>
          <a:ln w="12700">
            <a:solidFill>
              <a:srgbClr val="4CC9F0"/>
            </a:solidFill>
            <a:prstDash val="solid"/>
          </a:ln>
        </p:spPr>
      </p:sp>
      <p:sp>
        <p:nvSpPr>
          <p:cNvPr id="14" name="Text 12"/>
          <p:cNvSpPr/>
          <p:nvPr/>
        </p:nvSpPr>
        <p:spPr>
          <a:xfrm>
            <a:off x="6135624" y="1847088"/>
            <a:ext cx="2359152" cy="40233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Phosphate Mines</a:t>
            </a:r>
            <a:endParaRPr lang="en-US" sz="1200" dirty="0"/>
          </a:p>
        </p:txBody>
      </p:sp>
      <p:sp>
        <p:nvSpPr>
          <p:cNvPr id="15" name="Text 13"/>
          <p:cNvSpPr/>
          <p:nvPr/>
        </p:nvSpPr>
        <p:spPr>
          <a:xfrm>
            <a:off x="6135624" y="2286000"/>
            <a:ext cx="2359152" cy="53035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Where in Florida?</a:t>
            </a:r>
            <a:endParaRPr lang="en-US" sz="1050" dirty="0"/>
          </a:p>
        </p:txBody>
      </p:sp>
      <p:sp>
        <p:nvSpPr>
          <p:cNvPr id="16" name="Shape 14"/>
          <p:cNvSpPr/>
          <p:nvPr/>
        </p:nvSpPr>
        <p:spPr>
          <a:xfrm>
            <a:off x="8814816" y="1773936"/>
            <a:ext cx="2633472" cy="1170432"/>
          </a:xfrm>
          <a:prstGeom prst="roundRect">
            <a:avLst>
              <a:gd name="adj" fmla="val 6250"/>
            </a:avLst>
          </a:prstGeom>
          <a:solidFill>
            <a:srgbClr val="1E2F45"/>
          </a:solidFill>
          <a:ln w="12700">
            <a:solidFill>
              <a:srgbClr val="4CC9F0"/>
            </a:solidFill>
            <a:prstDash val="solid"/>
          </a:ln>
        </p:spPr>
      </p:sp>
      <p:sp>
        <p:nvSpPr>
          <p:cNvPr id="17" name="Text 15"/>
          <p:cNvSpPr/>
          <p:nvPr/>
        </p:nvSpPr>
        <p:spPr>
          <a:xfrm>
            <a:off x="8951976" y="1847088"/>
            <a:ext cx="2359152" cy="40233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Fresh-Water Springs</a:t>
            </a:r>
            <a:endParaRPr lang="en-US" sz="1200" dirty="0"/>
          </a:p>
        </p:txBody>
      </p:sp>
      <p:sp>
        <p:nvSpPr>
          <p:cNvPr id="18" name="Text 16"/>
          <p:cNvSpPr/>
          <p:nvPr/>
        </p:nvSpPr>
        <p:spPr>
          <a:xfrm>
            <a:off x="8951976" y="2286000"/>
            <a:ext cx="2359152" cy="53035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Where in Florida?</a:t>
            </a:r>
            <a:endParaRPr lang="en-US" sz="1050" dirty="0"/>
          </a:p>
        </p:txBody>
      </p:sp>
      <p:sp>
        <p:nvSpPr>
          <p:cNvPr id="19" name="Shape 17"/>
          <p:cNvSpPr/>
          <p:nvPr/>
        </p:nvSpPr>
        <p:spPr>
          <a:xfrm>
            <a:off x="365760" y="3054096"/>
            <a:ext cx="11247120" cy="347472"/>
          </a:xfrm>
          <a:prstGeom prst="roundRect">
            <a:avLst>
              <a:gd name="adj" fmla="val 23684"/>
            </a:avLst>
          </a:prstGeom>
          <a:solidFill>
            <a:srgbClr val="E09200"/>
          </a:solidFill>
          <a:ln w="19050">
            <a:solidFill>
              <a:srgbClr val="FFB703"/>
            </a:solidFill>
            <a:prstDash val="solid"/>
          </a:ln>
        </p:spPr>
      </p:sp>
      <p:sp>
        <p:nvSpPr>
          <p:cNvPr id="20" name="Text 18"/>
          <p:cNvSpPr/>
          <p:nvPr/>
        </p:nvSpPr>
        <p:spPr>
          <a:xfrm>
            <a:off x="365760" y="3054096"/>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21" name="Shape 19"/>
          <p:cNvSpPr/>
          <p:nvPr/>
        </p:nvSpPr>
        <p:spPr>
          <a:xfrm>
            <a:off x="365760" y="3456432"/>
            <a:ext cx="11247120" cy="1024128"/>
          </a:xfrm>
          <a:prstGeom prst="roundRect">
            <a:avLst>
              <a:gd name="adj" fmla="val 7143"/>
            </a:avLst>
          </a:prstGeom>
          <a:solidFill>
            <a:srgbClr val="162233"/>
          </a:solidFill>
          <a:ln w="12700">
            <a:solidFill>
              <a:srgbClr val="FFB703"/>
            </a:solidFill>
            <a:prstDash val="solid"/>
          </a:ln>
        </p:spPr>
      </p:sp>
      <p:sp>
        <p:nvSpPr>
          <p:cNvPr id="22" name="Text 20"/>
          <p:cNvSpPr/>
          <p:nvPr/>
        </p:nvSpPr>
        <p:spPr>
          <a:xfrm>
            <a:off x="548640" y="3529584"/>
            <a:ext cx="10972800" cy="80467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"You probably put some stars close to where you live, and others where you've visited. What does it tell us if the SAME resource is concentrated in just one part of Florida? Why might that pattern exist?"</a:t>
            </a:r>
            <a:endParaRPr lang="en-US" sz="1200" dirty="0"/>
          </a:p>
        </p:txBody>
      </p:sp>
      <p:sp>
        <p:nvSpPr>
          <p:cNvPr id="23" name="Shape 21"/>
          <p:cNvSpPr/>
          <p:nvPr/>
        </p:nvSpPr>
        <p:spPr>
          <a:xfrm>
            <a:off x="365760" y="4590288"/>
            <a:ext cx="11247120" cy="914400"/>
          </a:xfrm>
          <a:prstGeom prst="roundRect">
            <a:avLst>
              <a:gd name="adj" fmla="val 8000"/>
            </a:avLst>
          </a:prstGeom>
          <a:solidFill>
            <a:srgbClr val="1E2F45"/>
          </a:solidFill>
          <a:ln w="12700">
            <a:solidFill>
              <a:srgbClr val="2DC653"/>
            </a:solidFill>
            <a:prstDash val="solid"/>
          </a:ln>
        </p:spPr>
      </p:sp>
      <p:sp>
        <p:nvSpPr>
          <p:cNvPr id="24" name="Text 22"/>
          <p:cNvSpPr/>
          <p:nvPr/>
        </p:nvSpPr>
        <p:spPr>
          <a:xfrm>
            <a:off x="548640" y="4663440"/>
            <a:ext cx="10972800" cy="69494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Today: read a REAL Florida resource map. Use the patterns you see as EVIDENCE — not just opinion — to explain why resources are where they are.</a:t>
            </a:r>
            <a:endParaRPr lang="en-US" sz="12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 — Before the Map</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4CC9F0"/>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we look at the real map — write your prediction.</a:t>
            </a:r>
            <a:endParaRPr lang="en-US" sz="1400" dirty="0"/>
          </a:p>
        </p:txBody>
      </p:sp>
      <p:sp>
        <p:nvSpPr>
          <p:cNvPr id="7" name="Shape 5"/>
          <p:cNvSpPr/>
          <p:nvPr/>
        </p:nvSpPr>
        <p:spPr>
          <a:xfrm>
            <a:off x="365760" y="1536192"/>
            <a:ext cx="11247120" cy="1207008"/>
          </a:xfrm>
          <a:prstGeom prst="roundRect">
            <a:avLst>
              <a:gd name="adj" fmla="val 6061"/>
            </a:avLst>
          </a:prstGeom>
          <a:solidFill>
            <a:srgbClr val="1E2F45"/>
          </a:solidFill>
          <a:ln w="12700">
            <a:solidFill>
              <a:srgbClr val="FFB703"/>
            </a:solidFill>
            <a:prstDash val="solid"/>
          </a:ln>
        </p:spPr>
      </p:sp>
      <p:sp>
        <p:nvSpPr>
          <p:cNvPr id="8" name="Text 6"/>
          <p:cNvSpPr/>
          <p:nvPr/>
        </p:nvSpPr>
        <p:spPr>
          <a:xfrm>
            <a:off x="548640" y="1609344"/>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Write in your notebook:</a:t>
            </a:r>
            <a:endParaRPr lang="en-US" sz="1200" dirty="0"/>
          </a:p>
        </p:txBody>
      </p:sp>
      <p:sp>
        <p:nvSpPr>
          <p:cNvPr id="9" name="Text 7"/>
          <p:cNvSpPr/>
          <p:nvPr/>
        </p:nvSpPr>
        <p:spPr>
          <a:xfrm>
            <a:off x="548640" y="1956816"/>
            <a:ext cx="10972800" cy="694944"/>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predict phosphate mines are concentrated in ___ Florida because ___. I predict citrus groves are concentrated in ___ Florida because ___."</a:t>
            </a:r>
            <a:endParaRPr lang="en-US" sz="1300" dirty="0"/>
          </a:p>
        </p:txBody>
      </p:sp>
      <p:sp>
        <p:nvSpPr>
          <p:cNvPr id="10" name="Shape 8"/>
          <p:cNvSpPr/>
          <p:nvPr/>
        </p:nvSpPr>
        <p:spPr>
          <a:xfrm>
            <a:off x="365760" y="2871216"/>
            <a:ext cx="11247120" cy="1353312"/>
          </a:xfrm>
          <a:prstGeom prst="roundRect">
            <a:avLst>
              <a:gd name="adj" fmla="val 5405"/>
            </a:avLst>
          </a:prstGeom>
          <a:solidFill>
            <a:srgbClr val="0A1520"/>
          </a:solidFill>
          <a:ln w="12700">
            <a:solidFill>
              <a:srgbClr val="4CC9F0"/>
            </a:solidFill>
            <a:prstDash val="solid"/>
          </a:ln>
        </p:spPr>
      </p:sp>
      <p:sp>
        <p:nvSpPr>
          <p:cNvPr id="11" name="Text 9"/>
          <p:cNvSpPr/>
          <p:nvPr/>
        </p:nvSpPr>
        <p:spPr>
          <a:xfrm>
            <a:off x="548640" y="2944368"/>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Think like a scientist:</a:t>
            </a:r>
            <a:endParaRPr lang="en-US" sz="1200" dirty="0"/>
          </a:p>
        </p:txBody>
      </p:sp>
      <p:sp>
        <p:nvSpPr>
          <p:cNvPr id="12" name="Text 10"/>
          <p:cNvSpPr/>
          <p:nvPr/>
        </p:nvSpPr>
        <p:spPr>
          <a:xfrm>
            <a:off x="548640" y="3310128"/>
            <a:ext cx="10972800" cy="804672"/>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'If you drew a map of Florida and marked every beach, would the dots be scattered everywhere — or clustered along the coast? What does that PATTERN tell you about why beaches are where they are?'</a:t>
            </a:r>
            <a:endParaRPr lang="en-US" sz="1200" dirty="0"/>
          </a:p>
        </p:txBody>
      </p:sp>
      <p:sp>
        <p:nvSpPr>
          <p:cNvPr id="13" name="Shape 11"/>
          <p:cNvSpPr/>
          <p:nvPr/>
        </p:nvSpPr>
        <p:spPr>
          <a:xfrm>
            <a:off x="365760" y="4370832"/>
            <a:ext cx="5394960" cy="1444752"/>
          </a:xfrm>
          <a:prstGeom prst="roundRect">
            <a:avLst>
              <a:gd name="adj" fmla="val 5063"/>
            </a:avLst>
          </a:prstGeom>
          <a:solidFill>
            <a:srgbClr val="1E2F45"/>
          </a:solidFill>
          <a:ln w="12700">
            <a:solidFill>
              <a:srgbClr val="2DC653"/>
            </a:solidFill>
            <a:prstDash val="solid"/>
          </a:ln>
        </p:spPr>
      </p:sp>
      <p:sp>
        <p:nvSpPr>
          <p:cNvPr id="14" name="Text 12"/>
          <p:cNvSpPr/>
          <p:nvPr/>
        </p:nvSpPr>
        <p:spPr>
          <a:xfrm>
            <a:off x="548640" y="4443984"/>
            <a:ext cx="502920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Concentrated = Clustered</a:t>
            </a:r>
            <a:endParaRPr lang="en-US" sz="1200" dirty="0"/>
          </a:p>
        </p:txBody>
      </p:sp>
      <p:sp>
        <p:nvSpPr>
          <p:cNvPr id="15" name="Text 13"/>
          <p:cNvSpPr/>
          <p:nvPr/>
        </p:nvSpPr>
        <p:spPr>
          <a:xfrm>
            <a:off x="548640" y="4809744"/>
            <a:ext cx="5029200" cy="8046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resource is in one tight area — usually because of geology, climate, or access.</a:t>
            </a:r>
            <a:endParaRPr lang="en-US" sz="1150" dirty="0"/>
          </a:p>
        </p:txBody>
      </p:sp>
      <p:sp>
        <p:nvSpPr>
          <p:cNvPr id="16" name="Shape 14"/>
          <p:cNvSpPr/>
          <p:nvPr/>
        </p:nvSpPr>
        <p:spPr>
          <a:xfrm>
            <a:off x="6035040" y="4370832"/>
            <a:ext cx="5394960" cy="1444752"/>
          </a:xfrm>
          <a:prstGeom prst="roundRect">
            <a:avLst>
              <a:gd name="adj" fmla="val 5063"/>
            </a:avLst>
          </a:prstGeom>
          <a:solidFill>
            <a:srgbClr val="1E2F45"/>
          </a:solidFill>
          <a:ln w="12700">
            <a:solidFill>
              <a:srgbClr val="FFB703"/>
            </a:solidFill>
            <a:prstDash val="solid"/>
          </a:ln>
        </p:spPr>
      </p:sp>
      <p:sp>
        <p:nvSpPr>
          <p:cNvPr id="17" name="Text 15"/>
          <p:cNvSpPr/>
          <p:nvPr/>
        </p:nvSpPr>
        <p:spPr>
          <a:xfrm>
            <a:off x="6217920" y="4443984"/>
            <a:ext cx="502920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Spread Out = Distributed Widely</a:t>
            </a:r>
            <a:endParaRPr lang="en-US" sz="1200" dirty="0"/>
          </a:p>
        </p:txBody>
      </p:sp>
      <p:sp>
        <p:nvSpPr>
          <p:cNvPr id="18" name="Text 16"/>
          <p:cNvSpPr/>
          <p:nvPr/>
        </p:nvSpPr>
        <p:spPr>
          <a:xfrm>
            <a:off x="6217920" y="4809744"/>
            <a:ext cx="5029200" cy="8046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resource is found across the whole state — like sunlight or tourism activity.</a:t>
            </a:r>
            <a:endParaRPr lang="en-US" sz="11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Shape 3"/>
          <p:cNvSpPr/>
          <p:nvPr/>
        </p:nvSpPr>
        <p:spPr>
          <a:xfrm>
            <a:off x="365760" y="804672"/>
            <a:ext cx="35661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35661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Availability</a:t>
            </a:r>
            <a:endParaRPr lang="en-US" sz="1200" dirty="0"/>
          </a:p>
        </p:txBody>
      </p:sp>
      <p:sp>
        <p:nvSpPr>
          <p:cNvPr id="8" name="Text 6"/>
          <p:cNvSpPr/>
          <p:nvPr/>
        </p:nvSpPr>
        <p:spPr>
          <a:xfrm>
            <a:off x="47548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How much of a resource is in a place, and how easy it is to get to. Florida has high availability of citrus, low availability of mountain stone.</a:t>
            </a:r>
            <a:endParaRPr lang="en-US" sz="1050" dirty="0"/>
          </a:p>
        </p:txBody>
      </p:sp>
      <p:sp>
        <p:nvSpPr>
          <p:cNvPr id="9" name="Shape 7"/>
          <p:cNvSpPr/>
          <p:nvPr/>
        </p:nvSpPr>
        <p:spPr>
          <a:xfrm>
            <a:off x="4114800" y="80467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80467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Location</a:t>
            </a:r>
            <a:endParaRPr lang="en-US" sz="1200" dirty="0"/>
          </a:p>
        </p:txBody>
      </p:sp>
      <p:sp>
        <p:nvSpPr>
          <p:cNvPr id="12" name="Text 10"/>
          <p:cNvSpPr/>
          <p:nvPr/>
        </p:nvSpPr>
        <p:spPr>
          <a:xfrm>
            <a:off x="422452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Where something is in the world. The location of a resource often explains why it's used in some places and not others.</a:t>
            </a:r>
            <a:endParaRPr lang="en-US" sz="1050" dirty="0"/>
          </a:p>
        </p:txBody>
      </p:sp>
      <p:sp>
        <p:nvSpPr>
          <p:cNvPr id="13" name="Shape 11"/>
          <p:cNvSpPr/>
          <p:nvPr/>
        </p:nvSpPr>
        <p:spPr>
          <a:xfrm>
            <a:off x="7863840" y="804672"/>
            <a:ext cx="35661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804672"/>
            <a:ext cx="35661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Distribution</a:t>
            </a:r>
            <a:endParaRPr lang="en-US" sz="1200" dirty="0"/>
          </a:p>
        </p:txBody>
      </p:sp>
      <p:sp>
        <p:nvSpPr>
          <p:cNvPr id="16" name="Text 14"/>
          <p:cNvSpPr/>
          <p:nvPr/>
        </p:nvSpPr>
        <p:spPr>
          <a:xfrm>
            <a:off x="797356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way something is spread out across a place. The DISTRIBUTION of citrus groves is mostly central Florida.</a:t>
            </a:r>
            <a:endParaRPr lang="en-US" sz="1050" dirty="0"/>
          </a:p>
        </p:txBody>
      </p:sp>
      <p:sp>
        <p:nvSpPr>
          <p:cNvPr id="17" name="Shape 15"/>
          <p:cNvSpPr/>
          <p:nvPr/>
        </p:nvSpPr>
        <p:spPr>
          <a:xfrm>
            <a:off x="365760" y="2304288"/>
            <a:ext cx="356616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365760" y="2304288"/>
            <a:ext cx="356616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457200" y="2331720"/>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Map Key</a:t>
            </a:r>
            <a:endParaRPr lang="en-US" sz="1200" dirty="0"/>
          </a:p>
        </p:txBody>
      </p:sp>
      <p:sp>
        <p:nvSpPr>
          <p:cNvPr id="20" name="Text 18"/>
          <p:cNvSpPr/>
          <p:nvPr/>
        </p:nvSpPr>
        <p:spPr>
          <a:xfrm>
            <a:off x="475488" y="2706624"/>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little box on a map that explains what each symbol or color means. Always read the map key FIRST.</a:t>
            </a:r>
            <a:endParaRPr lang="en-US" sz="1050" dirty="0"/>
          </a:p>
        </p:txBody>
      </p:sp>
      <p:sp>
        <p:nvSpPr>
          <p:cNvPr id="21" name="Shape 19"/>
          <p:cNvSpPr/>
          <p:nvPr/>
        </p:nvSpPr>
        <p:spPr>
          <a:xfrm>
            <a:off x="4114800" y="2304288"/>
            <a:ext cx="7406640" cy="1325880"/>
          </a:xfrm>
          <a:prstGeom prst="roundRect">
            <a:avLst>
              <a:gd name="adj" fmla="val 5517"/>
            </a:avLst>
          </a:prstGeom>
          <a:solidFill>
            <a:srgbClr val="162233"/>
          </a:solidFill>
          <a:ln w="12700">
            <a:solidFill>
              <a:srgbClr val="4CC9F0"/>
            </a:solidFill>
            <a:prstDash val="solid"/>
          </a:ln>
        </p:spPr>
      </p:sp>
      <p:sp>
        <p:nvSpPr>
          <p:cNvPr id="22" name="Text 20"/>
          <p:cNvSpPr/>
          <p:nvPr/>
        </p:nvSpPr>
        <p:spPr>
          <a:xfrm>
            <a:off x="4297680" y="2377440"/>
            <a:ext cx="704088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Maps Are DATA — Here's How to Read One:</a:t>
            </a:r>
            <a:endParaRPr lang="en-US" sz="1200" dirty="0"/>
          </a:p>
        </p:txBody>
      </p:sp>
      <p:sp>
        <p:nvSpPr>
          <p:cNvPr id="23" name="Text 21"/>
          <p:cNvSpPr/>
          <p:nvPr/>
        </p:nvSpPr>
        <p:spPr>
          <a:xfrm>
            <a:off x="4297680" y="2743200"/>
            <a:ext cx="7040880" cy="7498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1. Read the MAP KEY first (before anything else)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2. Ask: where are things CONCENTRATED vs. SPARSE?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3. Describe the DISTRIBUTION</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4. Ask: what might EXPLAIN this pattern?</a:t>
            </a:r>
            <a:endParaRPr lang="en-US" sz="1150" dirty="0"/>
          </a:p>
        </p:txBody>
      </p:sp>
      <p:sp>
        <p:nvSpPr>
          <p:cNvPr id="24" name="Shape 22"/>
          <p:cNvSpPr/>
          <p:nvPr/>
        </p:nvSpPr>
        <p:spPr>
          <a:xfrm>
            <a:off x="365760" y="3767328"/>
            <a:ext cx="11247120" cy="1280160"/>
          </a:xfrm>
          <a:prstGeom prst="roundRect">
            <a:avLst>
              <a:gd name="adj" fmla="val 5714"/>
            </a:avLst>
          </a:prstGeom>
          <a:solidFill>
            <a:srgbClr val="162233"/>
          </a:solidFill>
          <a:ln w="12700">
            <a:solidFill>
              <a:srgbClr val="FFB703"/>
            </a:solidFill>
            <a:prstDash val="solid"/>
          </a:ln>
        </p:spPr>
      </p:sp>
      <p:sp>
        <p:nvSpPr>
          <p:cNvPr id="25" name="Text 23"/>
          <p:cNvSpPr/>
          <p:nvPr/>
        </p:nvSpPr>
        <p:spPr>
          <a:xfrm>
            <a:off x="530352" y="384048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Map Practice:</a:t>
            </a:r>
            <a:endParaRPr lang="en-US" sz="1300" dirty="0"/>
          </a:p>
        </p:txBody>
      </p:sp>
      <p:sp>
        <p:nvSpPr>
          <p:cNvPr id="26" name="Text 24"/>
          <p:cNvSpPr/>
          <p:nvPr/>
        </p:nvSpPr>
        <p:spPr>
          <a:xfrm>
            <a:off x="530352" y="4206240"/>
            <a:ext cx="1091793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"If I told you that nearly all Florida beaches are on the coasts — what pattern word would you use to describe their distribution? And why ARE they on the coasts? (Use the word LOCATION in your answer.)"</a:t>
            </a:r>
            <a:endParaRPr lang="en-US" sz="12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804672"/>
            <a:ext cx="539496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Information you can point to from observations, maps, or measurements that supports a claim. 'I noticed…' or 'The map shows…' start evidence statements.</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6035040" y="804672"/>
            <a:ext cx="539496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Something that repeats or shows up in a regular way. On a resource map, you might see the pattern that mines cluster together in one region.</a:t>
            </a:r>
            <a:endParaRPr lang="en-US" sz="1050" dirty="0"/>
          </a:p>
        </p:txBody>
      </p:sp>
      <p:sp>
        <p:nvSpPr>
          <p:cNvPr id="13" name="Shape 11"/>
          <p:cNvSpPr/>
          <p:nvPr/>
        </p:nvSpPr>
        <p:spPr>
          <a:xfrm>
            <a:off x="365760" y="2304288"/>
            <a:ext cx="11247120" cy="2359152"/>
          </a:xfrm>
          <a:prstGeom prst="roundRect">
            <a:avLst>
              <a:gd name="adj" fmla="val 3101"/>
            </a:avLst>
          </a:prstGeom>
          <a:solidFill>
            <a:srgbClr val="162233"/>
          </a:solidFill>
          <a:ln w="12700">
            <a:solidFill>
              <a:srgbClr val="2DC653"/>
            </a:solidFill>
            <a:prstDash val="solid"/>
          </a:ln>
        </p:spPr>
      </p:sp>
      <p:sp>
        <p:nvSpPr>
          <p:cNvPr id="14" name="Text 12"/>
          <p:cNvSpPr/>
          <p:nvPr/>
        </p:nvSpPr>
        <p:spPr>
          <a:xfrm>
            <a:off x="548640" y="2377440"/>
            <a:ext cx="1097280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How Scientists Turn Map Patterns into Evidence Statements:</a:t>
            </a:r>
            <a:endParaRPr lang="en-US" sz="1300" dirty="0"/>
          </a:p>
        </p:txBody>
      </p:sp>
      <p:sp>
        <p:nvSpPr>
          <p:cNvPr id="15" name="Text 13"/>
          <p:cNvSpPr/>
          <p:nvPr/>
        </p:nvSpPr>
        <p:spPr>
          <a:xfrm>
            <a:off x="548640" y="2743200"/>
            <a:ext cx="10972800" cy="1792224"/>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map shows phosphate mines are clustered in CENTRAL FLORIDA, not on the coast. The pattern is evidence that phosphate forms in certain types of underground rock found in central Florida."</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"The map shows citrus groves in a band across CENTRAL FLORIDA, away from the coldest northern areas and the wettest southern Everglades. The pattern is evidence that citrus trees need a specific mix of warmth and well-drained soil."</a:t>
            </a:r>
            <a:endParaRPr lang="en-US" sz="1200" dirty="0"/>
          </a:p>
        </p:txBody>
      </p:sp>
      <p:sp>
        <p:nvSpPr>
          <p:cNvPr id="16" name="Shape 14"/>
          <p:cNvSpPr/>
          <p:nvPr/>
        </p:nvSpPr>
        <p:spPr>
          <a:xfrm>
            <a:off x="365760" y="4791456"/>
            <a:ext cx="11247120" cy="713232"/>
          </a:xfrm>
          <a:prstGeom prst="roundRect">
            <a:avLst>
              <a:gd name="adj" fmla="val 10256"/>
            </a:avLst>
          </a:prstGeom>
          <a:solidFill>
            <a:srgbClr val="1E2F45"/>
          </a:solidFill>
          <a:ln w="12700">
            <a:solidFill>
              <a:srgbClr val="FFB703"/>
            </a:solidFill>
            <a:prstDash val="solid"/>
          </a:ln>
        </p:spPr>
      </p:sp>
      <p:sp>
        <p:nvSpPr>
          <p:cNvPr id="17" name="Text 15"/>
          <p:cNvSpPr/>
          <p:nvPr/>
        </p:nvSpPr>
        <p:spPr>
          <a:xfrm>
            <a:off x="548640" y="4864608"/>
            <a:ext cx="10972800" cy="566928"/>
          </a:xfrm>
          <a:prstGeom prst="rect">
            <a:avLst/>
          </a:prstGeom>
          <a:noFill/>
          <a:ln/>
        </p:spPr>
        <p:txBody>
          <a:bodyPr wrap="square" rtlCol="0" anchor="ctr"/>
          <a:lstStyle/>
          <a:p>
            <a:pPr indent="0" marL="0">
              <a:buNone/>
            </a:pPr>
            <a:r>
              <a:rPr lang="en-US" sz="1200" dirty="0">
                <a:solidFill>
                  <a:srgbClr val="FFB703"/>
                </a:solidFill>
                <a:latin typeface="Calibri" pitchFamily="34" charset="0"/>
                <a:ea typeface="Calibri" pitchFamily="34" charset="-122"/>
                <a:cs typeface="Calibri" pitchFamily="34" charset="-120"/>
              </a:rPr>
              <a:t>Evidence Statement Frame: The map shows that [resource] is found in [location]. The pattern is evidence that [geology/climate/access] explains why it is there.</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What Does the Data Show? — Florida Resource Map</a:t>
            </a:r>
            <a:endParaRPr lang="en-US" sz="1600" dirty="0"/>
          </a:p>
        </p:txBody>
      </p:sp>
      <p:sp>
        <p:nvSpPr>
          <p:cNvPr id="5" name="Shape 3"/>
          <p:cNvSpPr/>
          <p:nvPr/>
        </p:nvSpPr>
        <p:spPr>
          <a:xfrm>
            <a:off x="365760" y="749808"/>
            <a:ext cx="7132320" cy="4937760"/>
          </a:xfrm>
          <a:prstGeom prst="roundRect">
            <a:avLst>
              <a:gd name="adj" fmla="val 1481"/>
            </a:avLst>
          </a:prstGeom>
          <a:solidFill>
            <a:srgbClr val="0A1520"/>
          </a:solidFill>
          <a:ln w="19050">
            <a:solidFill>
              <a:srgbClr val="4CC9F0"/>
            </a:solidFill>
            <a:prstDash val="dash"/>
          </a:ln>
        </p:spPr>
      </p:sp>
      <p:sp>
        <p:nvSpPr>
          <p:cNvPr id="6" name="Text 4"/>
          <p:cNvSpPr/>
          <p:nvPr/>
        </p:nvSpPr>
        <p:spPr>
          <a:xfrm>
            <a:off x="457200" y="859536"/>
            <a:ext cx="69494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69494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6912864" cy="38862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resource map phosphate central citrus groves central springs north-central beaches coast wind turbines"</a:t>
            </a:r>
            <a:endParaRPr lang="en-US" sz="950" dirty="0"/>
          </a:p>
        </p:txBody>
      </p:sp>
      <p:sp>
        <p:nvSpPr>
          <p:cNvPr id="9" name="Text 7"/>
          <p:cNvSpPr/>
          <p:nvPr/>
        </p:nvSpPr>
        <p:spPr>
          <a:xfrm>
            <a:off x="365760" y="5724144"/>
            <a:ext cx="71323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resource map — where things are found and where they aren't</a:t>
            </a:r>
            <a:endParaRPr lang="en-US" sz="900" dirty="0"/>
          </a:p>
        </p:txBody>
      </p:sp>
      <p:sp>
        <p:nvSpPr>
          <p:cNvPr id="10" name="Shape 8"/>
          <p:cNvSpPr/>
          <p:nvPr/>
        </p:nvSpPr>
        <p:spPr>
          <a:xfrm>
            <a:off x="7680960" y="749808"/>
            <a:ext cx="4206240" cy="2359152"/>
          </a:xfrm>
          <a:prstGeom prst="roundRect">
            <a:avLst>
              <a:gd name="adj" fmla="val 3101"/>
            </a:avLst>
          </a:prstGeom>
          <a:solidFill>
            <a:srgbClr val="1E2F45"/>
          </a:solidFill>
          <a:ln w="12700">
            <a:solidFill>
              <a:srgbClr val="4CC9F0"/>
            </a:solidFill>
            <a:prstDash val="solid"/>
          </a:ln>
        </p:spPr>
      </p:sp>
      <p:sp>
        <p:nvSpPr>
          <p:cNvPr id="11" name="Text 9"/>
          <p:cNvSpPr/>
          <p:nvPr/>
        </p:nvSpPr>
        <p:spPr>
          <a:xfrm>
            <a:off x="7863840" y="822960"/>
            <a:ext cx="384048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Read the Map Key FIRST</a:t>
            </a:r>
            <a:endParaRPr lang="en-US" sz="1200" dirty="0"/>
          </a:p>
        </p:txBody>
      </p:sp>
      <p:sp>
        <p:nvSpPr>
          <p:cNvPr id="12" name="Text 10"/>
          <p:cNvSpPr/>
          <p:nvPr/>
        </p:nvSpPr>
        <p:spPr>
          <a:xfrm>
            <a:off x="7863840" y="1188720"/>
            <a:ext cx="38404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Phosphate mines → central FL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Citrus groves → central FL band</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Fresh-water springs → north-central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Beaches/tourism → all coasts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Wind potential → coasts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Solar potential → statewide</a:t>
            </a:r>
            <a:endParaRPr lang="en-US" sz="1100" dirty="0"/>
          </a:p>
        </p:txBody>
      </p:sp>
      <p:sp>
        <p:nvSpPr>
          <p:cNvPr id="13" name="Shape 11"/>
          <p:cNvSpPr/>
          <p:nvPr/>
        </p:nvSpPr>
        <p:spPr>
          <a:xfrm>
            <a:off x="7680960" y="3236976"/>
            <a:ext cx="4206240" cy="2450592"/>
          </a:xfrm>
          <a:prstGeom prst="roundRect">
            <a:avLst>
              <a:gd name="adj" fmla="val 2985"/>
            </a:avLst>
          </a:prstGeom>
          <a:solidFill>
            <a:srgbClr val="1E2F45"/>
          </a:solidFill>
          <a:ln w="12700">
            <a:solidFill>
              <a:srgbClr val="FFB703"/>
            </a:solidFill>
            <a:prstDash val="solid"/>
          </a:ln>
        </p:spPr>
      </p:sp>
      <p:sp>
        <p:nvSpPr>
          <p:cNvPr id="14" name="Text 12"/>
          <p:cNvSpPr/>
          <p:nvPr/>
        </p:nvSpPr>
        <p:spPr>
          <a:xfrm>
            <a:off x="7863840" y="3310128"/>
            <a:ext cx="384048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Patterns to Notice:</a:t>
            </a:r>
            <a:endParaRPr lang="en-US" sz="1200" dirty="0"/>
          </a:p>
        </p:txBody>
      </p:sp>
      <p:sp>
        <p:nvSpPr>
          <p:cNvPr id="15" name="Text 13"/>
          <p:cNvSpPr/>
          <p:nvPr/>
        </p:nvSpPr>
        <p:spPr>
          <a:xfrm>
            <a:off x="7863840" y="3675888"/>
            <a:ext cx="3840480" cy="188366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Most CONCENTRATED: phosphate (one tight area in central FL)</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Most SPREAD OUT: solar potential (statewide — Florida is sunny everywhere)</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On the COASTS ONLY: beaches</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Content: Why Are Resources Where They Are?</a:t>
            </a:r>
            <a:endParaRPr lang="en-US" sz="1600" dirty="0"/>
          </a:p>
        </p:txBody>
      </p:sp>
      <p:sp>
        <p:nvSpPr>
          <p:cNvPr id="5" name="Shape 3"/>
          <p:cNvSpPr/>
          <p:nvPr/>
        </p:nvSpPr>
        <p:spPr>
          <a:xfrm>
            <a:off x="365760" y="749808"/>
            <a:ext cx="11247120" cy="1298448"/>
          </a:xfrm>
          <a:prstGeom prst="roundRect">
            <a:avLst>
              <a:gd name="adj" fmla="val 5634"/>
            </a:avLst>
          </a:prstGeom>
          <a:solidFill>
            <a:srgbClr val="1E2F45"/>
          </a:solidFill>
          <a:ln w="12700">
            <a:solidFill>
              <a:srgbClr val="FFB703"/>
            </a:solidFill>
            <a:prstDash val="solid"/>
          </a:ln>
        </p:spPr>
      </p:sp>
      <p:sp>
        <p:nvSpPr>
          <p:cNvPr id="6" name="Text 4"/>
          <p:cNvSpPr/>
          <p:nvPr/>
        </p:nvSpPr>
        <p:spPr>
          <a:xfrm>
            <a:off x="548640" y="822960"/>
            <a:ext cx="347472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Citrus Groves</a:t>
            </a:r>
            <a:endParaRPr lang="en-US" sz="1300" dirty="0"/>
          </a:p>
        </p:txBody>
      </p:sp>
      <p:sp>
        <p:nvSpPr>
          <p:cNvPr id="7" name="Text 5"/>
          <p:cNvSpPr/>
          <p:nvPr/>
        </p:nvSpPr>
        <p:spPr>
          <a:xfrm>
            <a:off x="4206240" y="822960"/>
            <a:ext cx="29260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Central Florida band</a:t>
            </a:r>
            <a:endParaRPr lang="en-US" sz="1200" dirty="0"/>
          </a:p>
        </p:txBody>
      </p:sp>
      <p:sp>
        <p:nvSpPr>
          <p:cNvPr id="8" name="Text 6"/>
          <p:cNvSpPr/>
          <p:nvPr/>
        </p:nvSpPr>
        <p:spPr>
          <a:xfrm>
            <a:off x="548640" y="1225296"/>
            <a:ext cx="10789920" cy="69494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Why: Citrus needs warmth + well-drained soil. Central FL is warm but not as flood-prone as the Everglades, and not as frost-prone as the panhandle.</a:t>
            </a:r>
            <a:endParaRPr lang="en-US" sz="1100" dirty="0"/>
          </a:p>
        </p:txBody>
      </p:sp>
      <p:sp>
        <p:nvSpPr>
          <p:cNvPr id="9" name="Shape 7"/>
          <p:cNvSpPr/>
          <p:nvPr/>
        </p:nvSpPr>
        <p:spPr>
          <a:xfrm>
            <a:off x="365760" y="2157984"/>
            <a:ext cx="11247120" cy="1298448"/>
          </a:xfrm>
          <a:prstGeom prst="roundRect">
            <a:avLst>
              <a:gd name="adj" fmla="val 5634"/>
            </a:avLst>
          </a:prstGeom>
          <a:solidFill>
            <a:srgbClr val="1E2F45"/>
          </a:solidFill>
          <a:ln w="12700">
            <a:solidFill>
              <a:srgbClr val="F4736A"/>
            </a:solidFill>
            <a:prstDash val="solid"/>
          </a:ln>
        </p:spPr>
      </p:sp>
      <p:sp>
        <p:nvSpPr>
          <p:cNvPr id="10" name="Text 8"/>
          <p:cNvSpPr/>
          <p:nvPr/>
        </p:nvSpPr>
        <p:spPr>
          <a:xfrm>
            <a:off x="548640" y="2231136"/>
            <a:ext cx="347472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Phosphate Mines</a:t>
            </a:r>
            <a:endParaRPr lang="en-US" sz="1300" dirty="0"/>
          </a:p>
        </p:txBody>
      </p:sp>
      <p:sp>
        <p:nvSpPr>
          <p:cNvPr id="11" name="Text 9"/>
          <p:cNvSpPr/>
          <p:nvPr/>
        </p:nvSpPr>
        <p:spPr>
          <a:xfrm>
            <a:off x="4206240" y="2231136"/>
            <a:ext cx="29260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Central Florida (concentrated)</a:t>
            </a:r>
            <a:endParaRPr lang="en-US" sz="1200" dirty="0"/>
          </a:p>
        </p:txBody>
      </p:sp>
      <p:sp>
        <p:nvSpPr>
          <p:cNvPr id="12" name="Text 10"/>
          <p:cNvSpPr/>
          <p:nvPr/>
        </p:nvSpPr>
        <p:spPr>
          <a:xfrm>
            <a:off x="548640" y="2633472"/>
            <a:ext cx="10789920" cy="69494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Why: Phosphate formed in ancient seabeds. Central FL has the right underground geology where phosphate-rich rock exists near the surface.</a:t>
            </a:r>
            <a:endParaRPr lang="en-US" sz="1100" dirty="0"/>
          </a:p>
        </p:txBody>
      </p:sp>
      <p:sp>
        <p:nvSpPr>
          <p:cNvPr id="13" name="Shape 11"/>
          <p:cNvSpPr/>
          <p:nvPr/>
        </p:nvSpPr>
        <p:spPr>
          <a:xfrm>
            <a:off x="365760" y="3566160"/>
            <a:ext cx="11247120" cy="1298448"/>
          </a:xfrm>
          <a:prstGeom prst="roundRect">
            <a:avLst>
              <a:gd name="adj" fmla="val 5634"/>
            </a:avLst>
          </a:prstGeom>
          <a:solidFill>
            <a:srgbClr val="1E2F45"/>
          </a:solidFill>
          <a:ln w="12700">
            <a:solidFill>
              <a:srgbClr val="4CC9F0"/>
            </a:solidFill>
            <a:prstDash val="solid"/>
          </a:ln>
        </p:spPr>
      </p:sp>
      <p:sp>
        <p:nvSpPr>
          <p:cNvPr id="14" name="Text 12"/>
          <p:cNvSpPr/>
          <p:nvPr/>
        </p:nvSpPr>
        <p:spPr>
          <a:xfrm>
            <a:off x="548640" y="3639312"/>
            <a:ext cx="347472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Fresh-Water Springs</a:t>
            </a:r>
            <a:endParaRPr lang="en-US" sz="1300" dirty="0"/>
          </a:p>
        </p:txBody>
      </p:sp>
      <p:sp>
        <p:nvSpPr>
          <p:cNvPr id="15" name="Text 13"/>
          <p:cNvSpPr/>
          <p:nvPr/>
        </p:nvSpPr>
        <p:spPr>
          <a:xfrm>
            <a:off x="4206240" y="3639312"/>
            <a:ext cx="29260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North-Central Florida</a:t>
            </a:r>
            <a:endParaRPr lang="en-US" sz="1200" dirty="0"/>
          </a:p>
        </p:txBody>
      </p:sp>
      <p:sp>
        <p:nvSpPr>
          <p:cNvPr id="16" name="Text 14"/>
          <p:cNvSpPr/>
          <p:nvPr/>
        </p:nvSpPr>
        <p:spPr>
          <a:xfrm>
            <a:off x="548640" y="4041648"/>
            <a:ext cx="10789920" cy="69494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Why: Springs occur where the Floridan Aquifer meets the surface — which happens in areas where the limestone layer is close to the top.</a:t>
            </a:r>
            <a:endParaRPr lang="en-US" sz="1100" dirty="0"/>
          </a:p>
        </p:txBody>
      </p:sp>
      <p:sp>
        <p:nvSpPr>
          <p:cNvPr id="17" name="Shape 15"/>
          <p:cNvSpPr/>
          <p:nvPr/>
        </p:nvSpPr>
        <p:spPr>
          <a:xfrm>
            <a:off x="365760" y="4974336"/>
            <a:ext cx="11247120" cy="1298448"/>
          </a:xfrm>
          <a:prstGeom prst="roundRect">
            <a:avLst>
              <a:gd name="adj" fmla="val 5634"/>
            </a:avLst>
          </a:prstGeom>
          <a:solidFill>
            <a:srgbClr val="1E2F45"/>
          </a:solidFill>
          <a:ln w="12700">
            <a:solidFill>
              <a:srgbClr val="2DC653"/>
            </a:solidFill>
            <a:prstDash val="solid"/>
          </a:ln>
        </p:spPr>
      </p:sp>
      <p:sp>
        <p:nvSpPr>
          <p:cNvPr id="18" name="Text 16"/>
          <p:cNvSpPr/>
          <p:nvPr/>
        </p:nvSpPr>
        <p:spPr>
          <a:xfrm>
            <a:off x="548640" y="5047488"/>
            <a:ext cx="347472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Beaches</a:t>
            </a:r>
            <a:endParaRPr lang="en-US" sz="1300" dirty="0"/>
          </a:p>
        </p:txBody>
      </p:sp>
      <p:sp>
        <p:nvSpPr>
          <p:cNvPr id="19" name="Text 17"/>
          <p:cNvSpPr/>
          <p:nvPr/>
        </p:nvSpPr>
        <p:spPr>
          <a:xfrm>
            <a:off x="4206240" y="5047488"/>
            <a:ext cx="29260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All Florida coasts</a:t>
            </a:r>
            <a:endParaRPr lang="en-US" sz="1200" dirty="0"/>
          </a:p>
        </p:txBody>
      </p:sp>
      <p:sp>
        <p:nvSpPr>
          <p:cNvPr id="20" name="Text 18"/>
          <p:cNvSpPr/>
          <p:nvPr/>
        </p:nvSpPr>
        <p:spPr>
          <a:xfrm>
            <a:off x="548640" y="5449824"/>
            <a:ext cx="10789920" cy="69494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Why: Beaches only form where land meets ocean. Florida's coast is long — so beaches appear everywhere around the peninsula.</a:t>
            </a:r>
            <a:endParaRPr lang="en-US" sz="1100" dirty="0"/>
          </a:p>
        </p:txBody>
      </p:sp>
      <p:sp>
        <p:nvSpPr>
          <p:cNvPr id="21" name="Shape 19"/>
          <p:cNvSpPr/>
          <p:nvPr/>
        </p:nvSpPr>
        <p:spPr>
          <a:xfrm>
            <a:off x="365760" y="6437376"/>
            <a:ext cx="11247120" cy="475488"/>
          </a:xfrm>
          <a:prstGeom prst="roundRect">
            <a:avLst>
              <a:gd name="adj" fmla="val 15385"/>
            </a:avLst>
          </a:prstGeom>
          <a:solidFill>
            <a:srgbClr val="162233"/>
          </a:solidFill>
          <a:ln w="12700">
            <a:solidFill>
              <a:srgbClr val="4CC9F0"/>
            </a:solidFill>
            <a:prstDash val="solid"/>
          </a:ln>
        </p:spPr>
      </p:sp>
      <p:sp>
        <p:nvSpPr>
          <p:cNvPr id="22" name="Text 20"/>
          <p:cNvSpPr/>
          <p:nvPr/>
        </p:nvSpPr>
        <p:spPr>
          <a:xfrm>
            <a:off x="548640" y="6510528"/>
            <a:ext cx="10972800" cy="329184"/>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 KEY CONCEPT: A pattern on a resource map is evidence. The WHERE often tells you something about the WHY — geology, climate, or location.</a:t>
            </a:r>
            <a:endParaRPr lang="en-US" sz="11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Mind-Blow: Florida's Aquifer &amp; 75% of U.S. Phosphate</a:t>
            </a:r>
            <a:endParaRPr lang="en-US" sz="1600" dirty="0"/>
          </a:p>
        </p:txBody>
      </p:sp>
      <p:sp>
        <p:nvSpPr>
          <p:cNvPr id="5" name="Shape 3"/>
          <p:cNvSpPr/>
          <p:nvPr/>
        </p:nvSpPr>
        <p:spPr>
          <a:xfrm>
            <a:off x="365760" y="749808"/>
            <a:ext cx="5394960" cy="2542032"/>
          </a:xfrm>
          <a:prstGeom prst="roundRect">
            <a:avLst>
              <a:gd name="adj" fmla="val 2878"/>
            </a:avLst>
          </a:prstGeom>
          <a:solidFill>
            <a:srgbClr val="0A1520"/>
          </a:solidFill>
          <a:ln w="12700">
            <a:solidFill>
              <a:srgbClr val="4CC9F0"/>
            </a:solidFill>
            <a:prstDash val="solid"/>
          </a:ln>
        </p:spPr>
      </p:sp>
      <p:sp>
        <p:nvSpPr>
          <p:cNvPr id="6" name="Text 4"/>
          <p:cNvSpPr/>
          <p:nvPr/>
        </p:nvSpPr>
        <p:spPr>
          <a:xfrm>
            <a:off x="548640" y="822960"/>
            <a:ext cx="5029200" cy="438912"/>
          </a:xfrm>
          <a:prstGeom prst="rect">
            <a:avLst/>
          </a:prstGeom>
          <a:noFill/>
          <a:ln/>
        </p:spPr>
        <p:txBody>
          <a:bodyPr wrap="square" rtlCol="0" anchor="ctr"/>
          <a:lstStyle/>
          <a:p>
            <a:pPr indent="0" marL="0">
              <a:buNone/>
            </a:pPr>
            <a:r>
              <a:rPr lang="en-US" sz="1800" b="1" dirty="0">
                <a:solidFill>
                  <a:srgbClr val="4CC9F0"/>
                </a:solidFill>
                <a:latin typeface="Calibri" pitchFamily="34" charset="0"/>
                <a:ea typeface="Calibri" pitchFamily="34" charset="-122"/>
                <a:cs typeface="Calibri" pitchFamily="34" charset="-120"/>
              </a:rPr>
              <a:t>💧 The Floridan Aquifer</a:t>
            </a:r>
            <a:endParaRPr lang="en-US" sz="1800" dirty="0"/>
          </a:p>
        </p:txBody>
      </p:sp>
      <p:sp>
        <p:nvSpPr>
          <p:cNvPr id="7" name="Text 5"/>
          <p:cNvSpPr/>
          <p:nvPr/>
        </p:nvSpPr>
        <p:spPr>
          <a:xfrm>
            <a:off x="548640" y="1298448"/>
            <a:ext cx="5029200" cy="184708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One of the most productive aquifers in the world — supplies water to ~10 MILLION people across four states.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map of springs almost perfectly matches the map of where limestone meets the surface.</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That's pattern as evidence: the geology explains the location.</a:t>
            </a:r>
            <a:endParaRPr lang="en-US" sz="1100" dirty="0"/>
          </a:p>
        </p:txBody>
      </p:sp>
      <p:sp>
        <p:nvSpPr>
          <p:cNvPr id="8" name="Shape 6"/>
          <p:cNvSpPr/>
          <p:nvPr/>
        </p:nvSpPr>
        <p:spPr>
          <a:xfrm>
            <a:off x="6035040" y="749808"/>
            <a:ext cx="5394960" cy="2542032"/>
          </a:xfrm>
          <a:prstGeom prst="roundRect">
            <a:avLst>
              <a:gd name="adj" fmla="val 2878"/>
            </a:avLst>
          </a:prstGeom>
          <a:solidFill>
            <a:srgbClr val="1A1505"/>
          </a:solidFill>
          <a:ln w="12700">
            <a:solidFill>
              <a:srgbClr val="FFB703"/>
            </a:solidFill>
            <a:prstDash val="solid"/>
          </a:ln>
        </p:spPr>
      </p:sp>
      <p:sp>
        <p:nvSpPr>
          <p:cNvPr id="9" name="Text 7"/>
          <p:cNvSpPr/>
          <p:nvPr/>
        </p:nvSpPr>
        <p:spPr>
          <a:xfrm>
            <a:off x="6217920" y="822960"/>
            <a:ext cx="5029200" cy="438912"/>
          </a:xfrm>
          <a:prstGeom prst="rect">
            <a:avLst/>
          </a:prstGeom>
          <a:noFill/>
          <a:ln/>
        </p:spPr>
        <p:txBody>
          <a:bodyPr wrap="square" rtlCol="0" anchor="ctr"/>
          <a:lstStyle/>
          <a:p>
            <a:pPr indent="0" marL="0">
              <a:buNone/>
            </a:pPr>
            <a:r>
              <a:rPr lang="en-US" sz="1800" b="1" dirty="0">
                <a:solidFill>
                  <a:srgbClr val="FFB703"/>
                </a:solidFill>
                <a:latin typeface="Calibri" pitchFamily="34" charset="0"/>
                <a:ea typeface="Calibri" pitchFamily="34" charset="-122"/>
                <a:cs typeface="Calibri" pitchFamily="34" charset="-120"/>
              </a:rPr>
              <a:t>⛏️ 75% of U.S. Phosphate</a:t>
            </a:r>
            <a:endParaRPr lang="en-US" sz="1800" dirty="0"/>
          </a:p>
        </p:txBody>
      </p:sp>
      <p:sp>
        <p:nvSpPr>
          <p:cNvPr id="10" name="Text 8"/>
          <p:cNvSpPr/>
          <p:nvPr/>
        </p:nvSpPr>
        <p:spPr>
          <a:xfrm>
            <a:off x="6217920" y="1298448"/>
            <a:ext cx="5029200" cy="184708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From a tiny section of central Florida — feeding farms across the ENTIRE country.</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This is why that small area on the map represents an outsized portion of U.S. food production.</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concentration is a geographic fact — the phosphate formed there, so it's mined there.</a:t>
            </a:r>
            <a:endParaRPr lang="en-US" sz="1100" dirty="0"/>
          </a:p>
        </p:txBody>
      </p:sp>
      <p:sp>
        <p:nvSpPr>
          <p:cNvPr id="11" name="Shape 9"/>
          <p:cNvSpPr/>
          <p:nvPr/>
        </p:nvSpPr>
        <p:spPr>
          <a:xfrm>
            <a:off x="365760" y="3419856"/>
            <a:ext cx="11247120" cy="2176272"/>
          </a:xfrm>
          <a:prstGeom prst="roundRect">
            <a:avLst>
              <a:gd name="adj" fmla="val 3361"/>
            </a:avLst>
          </a:prstGeom>
          <a:solidFill>
            <a:srgbClr val="0A1520"/>
          </a:solidFill>
          <a:ln w="19050">
            <a:solidFill>
              <a:srgbClr val="4CC9F0"/>
            </a:solidFill>
            <a:prstDash val="dash"/>
          </a:ln>
        </p:spPr>
      </p:sp>
      <p:sp>
        <p:nvSpPr>
          <p:cNvPr id="12" name="Text 10"/>
          <p:cNvSpPr/>
          <p:nvPr/>
        </p:nvSpPr>
        <p:spPr>
          <a:xfrm>
            <a:off x="457200" y="3529584"/>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457200" y="3968496"/>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475488" y="4261104"/>
            <a:ext cx="11027664" cy="112471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"phosphate mine Florida central aerial view mining operation large scale"</a:t>
            </a:r>
            <a:endParaRPr lang="en-US" sz="950" dirty="0"/>
          </a:p>
        </p:txBody>
      </p:sp>
      <p:sp>
        <p:nvSpPr>
          <p:cNvPr id="15" name="Text 13"/>
          <p:cNvSpPr/>
          <p:nvPr/>
        </p:nvSpPr>
        <p:spPr>
          <a:xfrm>
            <a:off x="365760" y="5632704"/>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Phosphate mining — concentrated in central Florida because of ancient seabed geology</a:t>
            </a:r>
            <a:endParaRPr lang="en-US" sz="9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Map Detective — Patterns as Evidence</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Pick ONE Florida resource. Follow the 4 steps to turn a map pattern into an evidence statement.</a:t>
            </a:r>
            <a:endParaRPr lang="en-US" sz="1200" dirty="0"/>
          </a:p>
        </p:txBody>
      </p:sp>
      <p:sp>
        <p:nvSpPr>
          <p:cNvPr id="6" name="Shape 4"/>
          <p:cNvSpPr/>
          <p:nvPr/>
        </p:nvSpPr>
        <p:spPr>
          <a:xfrm>
            <a:off x="365760" y="1115568"/>
            <a:ext cx="11247120" cy="1188720"/>
          </a:xfrm>
          <a:prstGeom prst="roundRect">
            <a:avLst>
              <a:gd name="adj" fmla="val 6154"/>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Read the map key</a:t>
            </a:r>
            <a:endParaRPr lang="en-US" sz="1300" dirty="0"/>
          </a:p>
        </p:txBody>
      </p:sp>
      <p:sp>
        <p:nvSpPr>
          <p:cNvPr id="10" name="Text 8"/>
          <p:cNvSpPr/>
          <p:nvPr/>
        </p:nvSpPr>
        <p:spPr>
          <a:xfrm>
            <a:off x="2240280" y="1554480"/>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Look at the Florida resource map. Find your resource's symbol in the map key. DON'T skip this step — read it carefully.</a:t>
            </a:r>
            <a:endParaRPr lang="en-US" sz="1150" dirty="0"/>
          </a:p>
        </p:txBody>
      </p:sp>
      <p:sp>
        <p:nvSpPr>
          <p:cNvPr id="11" name="Shape 9"/>
          <p:cNvSpPr/>
          <p:nvPr/>
        </p:nvSpPr>
        <p:spPr>
          <a:xfrm>
            <a:off x="365760" y="2414016"/>
            <a:ext cx="11247120" cy="1188720"/>
          </a:xfrm>
          <a:prstGeom prst="roundRect">
            <a:avLst>
              <a:gd name="adj" fmla="val 6154"/>
            </a:avLst>
          </a:prstGeom>
          <a:solidFill>
            <a:srgbClr val="1E2F45"/>
          </a:solidFill>
          <a:ln w="12700">
            <a:solidFill>
              <a:srgbClr val="2DC653"/>
            </a:solidFill>
            <a:prstDash val="solid"/>
          </a:ln>
        </p:spPr>
      </p:sp>
      <p:sp>
        <p:nvSpPr>
          <p:cNvPr id="12" name="Shape 10"/>
          <p:cNvSpPr/>
          <p:nvPr/>
        </p:nvSpPr>
        <p:spPr>
          <a:xfrm>
            <a:off x="502920" y="2487168"/>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4871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487168"/>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Describe the location</a:t>
            </a:r>
            <a:endParaRPr lang="en-US" sz="1300" dirty="0"/>
          </a:p>
        </p:txBody>
      </p:sp>
      <p:sp>
        <p:nvSpPr>
          <p:cNvPr id="15" name="Text 13"/>
          <p:cNvSpPr/>
          <p:nvPr/>
        </p:nvSpPr>
        <p:spPr>
          <a:xfrm>
            <a:off x="2240280" y="2852928"/>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your notebook, write WHERE the resource is found. Use specific words: central, coast, north, south, panhandle, Keys.</a:t>
            </a:r>
            <a:endParaRPr lang="en-US" sz="1150" dirty="0"/>
          </a:p>
        </p:txBody>
      </p:sp>
      <p:sp>
        <p:nvSpPr>
          <p:cNvPr id="16" name="Shape 14"/>
          <p:cNvSpPr/>
          <p:nvPr/>
        </p:nvSpPr>
        <p:spPr>
          <a:xfrm>
            <a:off x="365760" y="3712464"/>
            <a:ext cx="11247120" cy="1188720"/>
          </a:xfrm>
          <a:prstGeom prst="roundRect">
            <a:avLst>
              <a:gd name="adj" fmla="val 6154"/>
            </a:avLst>
          </a:prstGeom>
          <a:solidFill>
            <a:srgbClr val="1E2F45"/>
          </a:solidFill>
          <a:ln w="12700">
            <a:solidFill>
              <a:srgbClr val="2DC653"/>
            </a:solidFill>
            <a:prstDash val="solid"/>
          </a:ln>
        </p:spPr>
      </p:sp>
      <p:sp>
        <p:nvSpPr>
          <p:cNvPr id="17" name="Shape 15"/>
          <p:cNvSpPr/>
          <p:nvPr/>
        </p:nvSpPr>
        <p:spPr>
          <a:xfrm>
            <a:off x="502920" y="3785616"/>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78561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78561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Spot the pattern</a:t>
            </a:r>
            <a:endParaRPr lang="en-US" sz="1300" dirty="0"/>
          </a:p>
        </p:txBody>
      </p:sp>
      <p:sp>
        <p:nvSpPr>
          <p:cNvPr id="20" name="Text 18"/>
          <p:cNvSpPr/>
          <p:nvPr/>
        </p:nvSpPr>
        <p:spPr>
          <a:xfrm>
            <a:off x="2240280" y="4151376"/>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Is your resource CLUSTERED in one area, SPREAD OUT across the state, or ALONG THE COASTS? Write the pattern in one sentence.</a:t>
            </a:r>
            <a:endParaRPr lang="en-US" sz="1150" dirty="0"/>
          </a:p>
        </p:txBody>
      </p:sp>
      <p:sp>
        <p:nvSpPr>
          <p:cNvPr id="21" name="Shape 19"/>
          <p:cNvSpPr/>
          <p:nvPr/>
        </p:nvSpPr>
        <p:spPr>
          <a:xfrm>
            <a:off x="365760" y="5010912"/>
            <a:ext cx="11247120" cy="1188720"/>
          </a:xfrm>
          <a:prstGeom prst="roundRect">
            <a:avLst>
              <a:gd name="adj" fmla="val 6154"/>
            </a:avLst>
          </a:prstGeom>
          <a:solidFill>
            <a:srgbClr val="1E2F45"/>
          </a:solidFill>
          <a:ln w="12700">
            <a:solidFill>
              <a:srgbClr val="2DC653"/>
            </a:solidFill>
            <a:prstDash val="solid"/>
          </a:ln>
        </p:spPr>
      </p:sp>
      <p:sp>
        <p:nvSpPr>
          <p:cNvPr id="22" name="Shape 20"/>
          <p:cNvSpPr/>
          <p:nvPr/>
        </p:nvSpPr>
        <p:spPr>
          <a:xfrm>
            <a:off x="502920" y="5084064"/>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0840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08406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Write your evidence statement</a:t>
            </a:r>
            <a:endParaRPr lang="en-US" sz="1300" dirty="0"/>
          </a:p>
        </p:txBody>
      </p:sp>
      <p:sp>
        <p:nvSpPr>
          <p:cNvPr id="25" name="Text 23"/>
          <p:cNvSpPr/>
          <p:nvPr/>
        </p:nvSpPr>
        <p:spPr>
          <a:xfrm>
            <a:off x="2240280" y="5449824"/>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map shows [resource] is found in [location]. The pattern is evidence that [climate/geology/access] explains why it's there.'</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are Florida's phosphate mines concentrated in central Florida and not along the coast?</a:t>
            </a:r>
            <a:endParaRPr lang="en-US" sz="1300" dirty="0"/>
          </a:p>
        </p:txBody>
      </p:sp>
      <p:sp>
        <p:nvSpPr>
          <p:cNvPr id="7" name="Shape 5"/>
          <p:cNvSpPr/>
          <p:nvPr/>
        </p:nvSpPr>
        <p:spPr>
          <a:xfrm>
            <a:off x="365760" y="1463040"/>
            <a:ext cx="3566160" cy="374904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Florida's phosphate mines are in central Florida because that's where the ancient seabed geology formed phosphate-rich rock near the surface.</a:t>
            </a:r>
            <a:endParaRPr lang="en-US" sz="1200" dirty="0"/>
          </a:p>
        </p:txBody>
      </p:sp>
      <p:sp>
        <p:nvSpPr>
          <p:cNvPr id="11" name="Shape 9"/>
          <p:cNvSpPr/>
          <p:nvPr/>
        </p:nvSpPr>
        <p:spPr>
          <a:xfrm>
            <a:off x="4114800" y="1463040"/>
            <a:ext cx="3566160" cy="374904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2552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The Florida resource map shows phosphate mine symbols clustered in a concentrated area in central Florida — not on the coast, not in the panhandle. The lesson explains phosphate formed in ancient seabeds in that specific region.</a:t>
            </a:r>
            <a:endParaRPr lang="en-US" sz="1150" dirty="0"/>
          </a:p>
        </p:txBody>
      </p:sp>
      <p:sp>
        <p:nvSpPr>
          <p:cNvPr id="15" name="Shape 13"/>
          <p:cNvSpPr/>
          <p:nvPr/>
        </p:nvSpPr>
        <p:spPr>
          <a:xfrm>
            <a:off x="7863840" y="1463040"/>
            <a:ext cx="3749040" cy="3749040"/>
          </a:xfrm>
          <a:prstGeom prst="roundRect">
            <a:avLst>
              <a:gd name="adj" fmla="val 2439"/>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2552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Resources aren't found everywhere — they're found where the geology, climate, or geography created them. Phosphate formed in a specific type of underground rock that occurs in central Florida. The map pattern reflects the underlying geology. That's why the evidence (the map) supports the claim (the geology explains the location).</a:t>
            </a:r>
            <a:endParaRPr lang="en-US" sz="10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do fresh-water springs in Florida cluster in the north-central part of the state?</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Write your claim — answer where springs are AND why in one sentence.</a:t>
            </a:r>
            <a:endParaRPr lang="en-US" sz="12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Reference the map (where springs appear) AND the lesson explanation (limestone aquifer). Use the phrase 'The map shows…'</a:t>
            </a:r>
            <a:endParaRPr lang="en-US" sz="120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the map pattern reflects the underground geology. Why does limestone location explain spring location?</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Hint: Springs form where the Floridan Aquifer (underground water in limestone) reaches the surface — and the map of springs matches the map of where limestone is near the top.</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Shape 3"/>
          <p:cNvSpPr/>
          <p:nvPr/>
        </p:nvSpPr>
        <p:spPr>
          <a:xfrm>
            <a:off x="365760" y="713232"/>
            <a:ext cx="11247120" cy="1810512"/>
          </a:xfrm>
          <a:prstGeom prst="roundRect">
            <a:avLst>
              <a:gd name="adj" fmla="val 4040"/>
            </a:avLst>
          </a:prstGeom>
          <a:solidFill>
            <a:srgbClr val="1E2F45"/>
          </a:solidFill>
          <a:ln w="12700">
            <a:solidFill>
              <a:srgbClr val="4CC9F0"/>
            </a:solidFill>
            <a:prstDash val="solid"/>
          </a:ln>
        </p:spPr>
      </p:sp>
      <p:sp>
        <p:nvSpPr>
          <p:cNvPr id="6" name="Text 4"/>
          <p:cNvSpPr/>
          <p:nvPr/>
        </p:nvSpPr>
        <p:spPr>
          <a:xfrm>
            <a:off x="548640" y="78638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What do you read FIRST on a new resource map?</a:t>
            </a:r>
            <a:endParaRPr lang="en-US" sz="1200" dirty="0"/>
          </a:p>
        </p:txBody>
      </p:sp>
      <p:sp>
        <p:nvSpPr>
          <p:cNvPr id="7" name="Text 5"/>
          <p:cNvSpPr/>
          <p:nvPr/>
        </p:nvSpPr>
        <p:spPr>
          <a:xfrm>
            <a:off x="731520" y="1170432"/>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A) The map key ✅</a:t>
            </a:r>
            <a:endParaRPr lang="en-US" sz="1100" dirty="0"/>
          </a:p>
        </p:txBody>
      </p:sp>
      <p:sp>
        <p:nvSpPr>
          <p:cNvPr id="8" name="Text 6"/>
          <p:cNvSpPr/>
          <p:nvPr/>
        </p:nvSpPr>
        <p:spPr>
          <a:xfrm>
            <a:off x="731520" y="1472184"/>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The title</a:t>
            </a:r>
            <a:endParaRPr lang="en-US" sz="1100" dirty="0"/>
          </a:p>
        </p:txBody>
      </p:sp>
      <p:sp>
        <p:nvSpPr>
          <p:cNvPr id="9" name="Text 7"/>
          <p:cNvSpPr/>
          <p:nvPr/>
        </p:nvSpPr>
        <p:spPr>
          <a:xfrm>
            <a:off x="731520" y="1773936"/>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The biggest symbol</a:t>
            </a:r>
            <a:endParaRPr lang="en-US" sz="1100" dirty="0"/>
          </a:p>
        </p:txBody>
      </p:sp>
      <p:sp>
        <p:nvSpPr>
          <p:cNvPr id="10" name="Text 8"/>
          <p:cNvSpPr/>
          <p:nvPr/>
        </p:nvSpPr>
        <p:spPr>
          <a:xfrm>
            <a:off x="548640" y="2103120"/>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A — the map key tells you what every symbol means.</a:t>
            </a:r>
            <a:endParaRPr lang="en-US" sz="1000" dirty="0"/>
          </a:p>
        </p:txBody>
      </p:sp>
      <p:sp>
        <p:nvSpPr>
          <p:cNvPr id="11" name="Shape 9"/>
          <p:cNvSpPr/>
          <p:nvPr/>
        </p:nvSpPr>
        <p:spPr>
          <a:xfrm>
            <a:off x="365760" y="2651760"/>
            <a:ext cx="11247120" cy="1810512"/>
          </a:xfrm>
          <a:prstGeom prst="roundRect">
            <a:avLst>
              <a:gd name="adj" fmla="val 4040"/>
            </a:avLst>
          </a:prstGeom>
          <a:solidFill>
            <a:srgbClr val="1E2F45"/>
          </a:solidFill>
          <a:ln w="12700">
            <a:solidFill>
              <a:srgbClr val="4CC9F0"/>
            </a:solidFill>
            <a:prstDash val="solid"/>
          </a:ln>
        </p:spPr>
      </p:sp>
      <p:sp>
        <p:nvSpPr>
          <p:cNvPr id="12" name="Text 10"/>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The map shows phosphate mines in central Florida. Why?</a:t>
            </a:r>
            <a:endParaRPr lang="en-US" sz="1200" dirty="0"/>
          </a:p>
        </p:txBody>
      </p:sp>
      <p:sp>
        <p:nvSpPr>
          <p:cNvPr id="13" name="Text 11"/>
          <p:cNvSpPr/>
          <p:nvPr/>
        </p:nvSpPr>
        <p:spPr>
          <a:xfrm>
            <a:off x="731520" y="310896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Because the weather is best there</a:t>
            </a:r>
            <a:endParaRPr lang="en-US" sz="1100" dirty="0"/>
          </a:p>
        </p:txBody>
      </p:sp>
      <p:sp>
        <p:nvSpPr>
          <p:cNvPr id="14" name="Text 12"/>
          <p:cNvSpPr/>
          <p:nvPr/>
        </p:nvSpPr>
        <p:spPr>
          <a:xfrm>
            <a:off x="731520" y="341071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Because that's closest to the coast</a:t>
            </a:r>
            <a:endParaRPr lang="en-US" sz="1100" dirty="0"/>
          </a:p>
        </p:txBody>
      </p:sp>
      <p:sp>
        <p:nvSpPr>
          <p:cNvPr id="15" name="Text 13"/>
          <p:cNvSpPr/>
          <p:nvPr/>
        </p:nvSpPr>
        <p:spPr>
          <a:xfrm>
            <a:off x="731520" y="3712464"/>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C) Because the geology under central Florida is where phosphate rock formed ✅</a:t>
            </a:r>
            <a:endParaRPr lang="en-US" sz="1100" dirty="0"/>
          </a:p>
        </p:txBody>
      </p:sp>
      <p:sp>
        <p:nvSpPr>
          <p:cNvPr id="16" name="Text 14"/>
          <p:cNvSpPr/>
          <p:nvPr/>
        </p:nvSpPr>
        <p:spPr>
          <a:xfrm>
            <a:off x="548640" y="4041648"/>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C — the pattern reflects underground geology.</a:t>
            </a:r>
            <a:endParaRPr lang="en-US" sz="1000" dirty="0"/>
          </a:p>
        </p:txBody>
      </p:sp>
      <p:sp>
        <p:nvSpPr>
          <p:cNvPr id="17" name="Shape 15"/>
          <p:cNvSpPr/>
          <p:nvPr/>
        </p:nvSpPr>
        <p:spPr>
          <a:xfrm>
            <a:off x="365760" y="4590288"/>
            <a:ext cx="11247120" cy="1810512"/>
          </a:xfrm>
          <a:prstGeom prst="roundRect">
            <a:avLst>
              <a:gd name="adj" fmla="val 4040"/>
            </a:avLst>
          </a:prstGeom>
          <a:solidFill>
            <a:srgbClr val="1E2F45"/>
          </a:solidFill>
          <a:ln w="12700">
            <a:solidFill>
              <a:srgbClr val="4CC9F0"/>
            </a:solidFill>
            <a:prstDash val="solid"/>
          </a:ln>
        </p:spPr>
      </p:sp>
      <p:sp>
        <p:nvSpPr>
          <p:cNvPr id="18" name="Text 16"/>
          <p:cNvSpPr/>
          <p:nvPr/>
        </p:nvSpPr>
        <p:spPr>
          <a:xfrm>
            <a:off x="548640" y="4663440"/>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'The map shows beaches along all Florida coasts.' Best evidence-based answer for why?</a:t>
            </a:r>
            <a:endParaRPr lang="en-US" sz="1200" dirty="0"/>
          </a:p>
        </p:txBody>
      </p:sp>
      <p:sp>
        <p:nvSpPr>
          <p:cNvPr id="19" name="Text 17"/>
          <p:cNvSpPr/>
          <p:nvPr/>
        </p:nvSpPr>
        <p:spPr>
          <a:xfrm>
            <a:off x="731520" y="5047488"/>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Because people built them there</a:t>
            </a:r>
            <a:endParaRPr lang="en-US" sz="1100" dirty="0"/>
          </a:p>
        </p:txBody>
      </p:sp>
      <p:sp>
        <p:nvSpPr>
          <p:cNvPr id="20" name="Text 18"/>
          <p:cNvSpPr/>
          <p:nvPr/>
        </p:nvSpPr>
        <p:spPr>
          <a:xfrm>
            <a:off x="731520" y="5349240"/>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Beaches form where land meets ocean — so they appear wherever Florida has a coast ✅</a:t>
            </a:r>
            <a:endParaRPr lang="en-US" sz="1100" dirty="0"/>
          </a:p>
        </p:txBody>
      </p:sp>
      <p:sp>
        <p:nvSpPr>
          <p:cNvPr id="21" name="Text 19"/>
          <p:cNvSpPr/>
          <p:nvPr/>
        </p:nvSpPr>
        <p:spPr>
          <a:xfrm>
            <a:off x="731520" y="565099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Beaches are inland too — the map is wrong</a:t>
            </a:r>
            <a:endParaRPr lang="en-US" sz="1100" dirty="0"/>
          </a:p>
        </p:txBody>
      </p:sp>
      <p:sp>
        <p:nvSpPr>
          <p:cNvPr id="22" name="Text 20"/>
          <p:cNvSpPr/>
          <p:nvPr/>
        </p:nvSpPr>
        <p:spPr>
          <a:xfrm>
            <a:off x="548640" y="5980176"/>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the pattern matches geography.</a:t>
            </a:r>
            <a:endParaRPr lang="en-US" sz="10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Your evidence statement frame from today is the core skill in Parts B and C.</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Availability, Location, Distribution, Pattern — 4 blanks</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 (Q5-7)</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Two resources with evidence statements ('The map shows…'); compare patterns; explain why location matters</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6-11</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C — Evidence Argument</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a resource not studied in detail. Use the evidence statement frame to explain its location pattern.</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10-11</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Question Response</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'Why are some Florida resources found in one place and not another?' 2-3 sentences using vocab words.</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7-8</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"Why are some Florida resources found in one place and not another?"</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(Availability, Location, Distribution, Pattern)</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Two evidence statements using 'The map shows…' frame</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Evidence argument for a Florida resource location — map-based evidence</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Key Question Response: 2-3 sentences using vocab words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16.01 — Modern Resources &amp; Environmental Choices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When we use a resource, how do we balance what we GAIN against what we LOSE? Benefit, environmental cost, and protection strategy.</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What Does the Data Show? — Reading Patterns in the Map</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4CC9F0"/>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turn map observations into evidence by describing patterns precisely. Let's practice.</a:t>
            </a:r>
            <a:endParaRPr lang="en-US" sz="1300" dirty="0"/>
          </a:p>
        </p:txBody>
      </p:sp>
      <p:sp>
        <p:nvSpPr>
          <p:cNvPr id="7" name="Shape 5"/>
          <p:cNvSpPr/>
          <p:nvPr/>
        </p:nvSpPr>
        <p:spPr>
          <a:xfrm>
            <a:off x="365760" y="1536192"/>
            <a:ext cx="11247120" cy="1097280"/>
          </a:xfrm>
          <a:prstGeom prst="roundRect">
            <a:avLst>
              <a:gd name="adj" fmla="val 6667"/>
            </a:avLst>
          </a:prstGeom>
          <a:solidFill>
            <a:srgbClr val="1E2F45"/>
          </a:solidFill>
          <a:ln w="12700">
            <a:solidFill>
              <a:srgbClr val="FFB703"/>
            </a:solidFill>
            <a:prstDash val="solid"/>
          </a:ln>
        </p:spPr>
      </p:sp>
      <p:sp>
        <p:nvSpPr>
          <p:cNvPr id="8" name="Text 6"/>
          <p:cNvSpPr/>
          <p:nvPr/>
        </p:nvSpPr>
        <p:spPr>
          <a:xfrm>
            <a:off x="548640" y="1609344"/>
            <a:ext cx="1097280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Q: Which resource has the most CONCENTRATED distribution?</a:t>
            </a:r>
            <a:endParaRPr lang="en-US" sz="1200" dirty="0"/>
          </a:p>
        </p:txBody>
      </p:sp>
      <p:sp>
        <p:nvSpPr>
          <p:cNvPr id="9" name="Text 7"/>
          <p:cNvSpPr/>
          <p:nvPr/>
        </p:nvSpPr>
        <p:spPr>
          <a:xfrm>
            <a:off x="548640" y="1975104"/>
            <a:ext cx="1097280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Phosphate mines — tightly clustered in central Florida  |  Evidence: Map shows mine symbols in a small area, not spread across state</a:t>
            </a:r>
            <a:endParaRPr lang="en-US" sz="1100" dirty="0"/>
          </a:p>
        </p:txBody>
      </p:sp>
      <p:sp>
        <p:nvSpPr>
          <p:cNvPr id="10" name="Shape 8"/>
          <p:cNvSpPr/>
          <p:nvPr/>
        </p:nvSpPr>
        <p:spPr>
          <a:xfrm>
            <a:off x="365760" y="2743200"/>
            <a:ext cx="11247120" cy="1097280"/>
          </a:xfrm>
          <a:prstGeom prst="roundRect">
            <a:avLst>
              <a:gd name="adj" fmla="val 6667"/>
            </a:avLst>
          </a:prstGeom>
          <a:solidFill>
            <a:srgbClr val="1E2F45"/>
          </a:solidFill>
          <a:ln w="12700">
            <a:solidFill>
              <a:srgbClr val="2DC653"/>
            </a:solidFill>
            <a:prstDash val="solid"/>
          </a:ln>
        </p:spPr>
      </p:sp>
      <p:sp>
        <p:nvSpPr>
          <p:cNvPr id="11" name="Text 9"/>
          <p:cNvSpPr/>
          <p:nvPr/>
        </p:nvSpPr>
        <p:spPr>
          <a:xfrm>
            <a:off x="548640" y="2816352"/>
            <a:ext cx="1097280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Q: Which resource has the most SPREAD-OUT distribution?</a:t>
            </a:r>
            <a:endParaRPr lang="en-US" sz="1200" dirty="0"/>
          </a:p>
        </p:txBody>
      </p:sp>
      <p:sp>
        <p:nvSpPr>
          <p:cNvPr id="12" name="Text 10"/>
          <p:cNvSpPr/>
          <p:nvPr/>
        </p:nvSpPr>
        <p:spPr>
          <a:xfrm>
            <a:off x="548640" y="3182112"/>
            <a:ext cx="1097280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Solar potential — covers the whole state  |  Evidence: Florida is sunny statewide — geography explains the spread</a:t>
            </a:r>
            <a:endParaRPr lang="en-US" sz="1100" dirty="0"/>
          </a:p>
        </p:txBody>
      </p:sp>
      <p:sp>
        <p:nvSpPr>
          <p:cNvPr id="13" name="Shape 11"/>
          <p:cNvSpPr/>
          <p:nvPr/>
        </p:nvSpPr>
        <p:spPr>
          <a:xfrm>
            <a:off x="365760" y="3950208"/>
            <a:ext cx="11247120" cy="1097280"/>
          </a:xfrm>
          <a:prstGeom prst="roundRect">
            <a:avLst>
              <a:gd name="adj" fmla="val 6667"/>
            </a:avLst>
          </a:prstGeom>
          <a:solidFill>
            <a:srgbClr val="1E2F45"/>
          </a:solidFill>
          <a:ln w="12700">
            <a:solidFill>
              <a:srgbClr val="4CC9F0"/>
            </a:solidFill>
            <a:prstDash val="solid"/>
          </a:ln>
        </p:spPr>
      </p:sp>
      <p:sp>
        <p:nvSpPr>
          <p:cNvPr id="14" name="Text 12"/>
          <p:cNvSpPr/>
          <p:nvPr/>
        </p:nvSpPr>
        <p:spPr>
          <a:xfrm>
            <a:off x="548640" y="4023360"/>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 Which resources are COASTAL ONLY?</a:t>
            </a:r>
            <a:endParaRPr lang="en-US" sz="1200" dirty="0"/>
          </a:p>
        </p:txBody>
      </p:sp>
      <p:sp>
        <p:nvSpPr>
          <p:cNvPr id="15" name="Text 13"/>
          <p:cNvSpPr/>
          <p:nvPr/>
        </p:nvSpPr>
        <p:spPr>
          <a:xfrm>
            <a:off x="548640" y="4389120"/>
            <a:ext cx="1097280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Beaches and tourism — only where land meets ocean  |  Evidence: Geographic fact: beaches require a coastline</a:t>
            </a:r>
            <a:endParaRPr lang="en-US" sz="1100" dirty="0"/>
          </a:p>
        </p:txBody>
      </p:sp>
      <p:sp>
        <p:nvSpPr>
          <p:cNvPr id="16" name="Shape 14"/>
          <p:cNvSpPr/>
          <p:nvPr/>
        </p:nvSpPr>
        <p:spPr>
          <a:xfrm>
            <a:off x="365760" y="5157216"/>
            <a:ext cx="11247120" cy="1097280"/>
          </a:xfrm>
          <a:prstGeom prst="roundRect">
            <a:avLst>
              <a:gd name="adj" fmla="val 6667"/>
            </a:avLst>
          </a:prstGeom>
          <a:solidFill>
            <a:srgbClr val="1E2F45"/>
          </a:solidFill>
          <a:ln w="12700">
            <a:solidFill>
              <a:srgbClr val="F4736A"/>
            </a:solidFill>
            <a:prstDash val="solid"/>
          </a:ln>
        </p:spPr>
      </p:sp>
      <p:sp>
        <p:nvSpPr>
          <p:cNvPr id="17" name="Text 15"/>
          <p:cNvSpPr/>
          <p:nvPr/>
        </p:nvSpPr>
        <p:spPr>
          <a:xfrm>
            <a:off x="548640" y="5230368"/>
            <a:ext cx="10972800" cy="329184"/>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Q: What do phosphate AND springs have in common about their locations?</a:t>
            </a:r>
            <a:endParaRPr lang="en-US" sz="1200" dirty="0"/>
          </a:p>
        </p:txBody>
      </p:sp>
      <p:sp>
        <p:nvSpPr>
          <p:cNvPr id="18" name="Text 16"/>
          <p:cNvSpPr/>
          <p:nvPr/>
        </p:nvSpPr>
        <p:spPr>
          <a:xfrm>
            <a:off x="548640" y="5596128"/>
            <a:ext cx="1097280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Both are in central/north-central Florida because of LIMESTONE geology  |  Evidence: Limestone deposits → phosphate rock formed there; limestone → aquifer → springs</a:t>
            </a:r>
            <a:endParaRPr lang="en-US" sz="11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Go Deeper: How Do Scientists Actually Make Resource Maps?</a:t>
            </a:r>
            <a:endParaRPr lang="en-US" sz="1600" dirty="0"/>
          </a:p>
        </p:txBody>
      </p:sp>
      <p:sp>
        <p:nvSpPr>
          <p:cNvPr id="5" name="Shape 3"/>
          <p:cNvSpPr/>
          <p:nvPr/>
        </p:nvSpPr>
        <p:spPr>
          <a:xfrm>
            <a:off x="365760" y="749808"/>
            <a:ext cx="7132320" cy="4462272"/>
          </a:xfrm>
          <a:prstGeom prst="roundRect">
            <a:avLst>
              <a:gd name="adj" fmla="val 1639"/>
            </a:avLst>
          </a:prstGeom>
          <a:solidFill>
            <a:srgbClr val="0A1020"/>
          </a:solidFill>
          <a:ln w="12700">
            <a:solidFill>
              <a:srgbClr val="FFB703"/>
            </a:solidFill>
            <a:prstDash val="solid"/>
          </a:ln>
        </p:spPr>
      </p:sp>
      <p:sp>
        <p:nvSpPr>
          <p:cNvPr id="6" name="Text 4"/>
          <p:cNvSpPr/>
          <p:nvPr/>
        </p:nvSpPr>
        <p:spPr>
          <a:xfrm>
            <a:off x="548640" y="822960"/>
            <a:ext cx="6766560" cy="384048"/>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 From Raw Data to Finished Map — Step by Step</a:t>
            </a:r>
            <a:endParaRPr lang="en-US" sz="1400" dirty="0"/>
          </a:p>
        </p:txBody>
      </p:sp>
      <p:sp>
        <p:nvSpPr>
          <p:cNvPr id="7" name="Text 5"/>
          <p:cNvSpPr/>
          <p:nvPr/>
        </p:nvSpPr>
        <p:spPr>
          <a:xfrm>
            <a:off x="548640" y="1261872"/>
            <a:ext cx="6766560" cy="548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1. Collect data points: Satellite images, drill core samples, surveys, government records — each data source adds points to the picture</a:t>
            </a:r>
            <a:endParaRPr lang="en-US" sz="1150" dirty="0"/>
          </a:p>
        </p:txBody>
      </p:sp>
      <p:sp>
        <p:nvSpPr>
          <p:cNvPr id="8" name="Text 6"/>
          <p:cNvSpPr/>
          <p:nvPr/>
        </p:nvSpPr>
        <p:spPr>
          <a:xfrm>
            <a:off x="548640" y="1883664"/>
            <a:ext cx="6766560" cy="548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2. Plot every data point: Each data point gets placed on a base map of the state — thousands or millions of points</a:t>
            </a:r>
            <a:endParaRPr lang="en-US" sz="1150" dirty="0"/>
          </a:p>
        </p:txBody>
      </p:sp>
      <p:sp>
        <p:nvSpPr>
          <p:cNvPr id="9" name="Text 7"/>
          <p:cNvSpPr/>
          <p:nvPr/>
        </p:nvSpPr>
        <p:spPr>
          <a:xfrm>
            <a:off x="548640" y="2505456"/>
            <a:ext cx="6766560" cy="548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3. Find the pattern: Computer software helps visualize clustering — where points are dense vs. sparse</a:t>
            </a:r>
            <a:endParaRPr lang="en-US" sz="1150" dirty="0"/>
          </a:p>
        </p:txBody>
      </p:sp>
      <p:sp>
        <p:nvSpPr>
          <p:cNvPr id="10" name="Text 8"/>
          <p:cNvSpPr/>
          <p:nvPr/>
        </p:nvSpPr>
        <p:spPr>
          <a:xfrm>
            <a:off x="548640" y="3127248"/>
            <a:ext cx="6766560" cy="548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4. Verify with field work: Scientists visit clustered areas to confirm the data is accurate — maps can have errors</a:t>
            </a:r>
            <a:endParaRPr lang="en-US" sz="1150" dirty="0"/>
          </a:p>
        </p:txBody>
      </p:sp>
      <p:sp>
        <p:nvSpPr>
          <p:cNvPr id="11" name="Text 9"/>
          <p:cNvSpPr/>
          <p:nvPr/>
        </p:nvSpPr>
        <p:spPr>
          <a:xfrm>
            <a:off x="548640" y="3749040"/>
            <a:ext cx="6766560" cy="5486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5. Publish the map: Scientists add a map key, title, and data source notes so others can use it accurately</a:t>
            </a:r>
            <a:endParaRPr lang="en-US" sz="1150" dirty="0"/>
          </a:p>
        </p:txBody>
      </p:sp>
      <p:sp>
        <p:nvSpPr>
          <p:cNvPr id="12" name="Text 10"/>
          <p:cNvSpPr/>
          <p:nvPr/>
        </p:nvSpPr>
        <p:spPr>
          <a:xfrm>
            <a:off x="548640" y="4389120"/>
            <a:ext cx="6766560" cy="676656"/>
          </a:xfrm>
          <a:prstGeom prst="rect">
            <a:avLst/>
          </a:prstGeom>
          <a:noFill/>
          <a:ln/>
        </p:spPr>
        <p:txBody>
          <a:bodyPr wrap="square" rtlCol="0" anchor="ctr"/>
          <a:lstStyle/>
          <a:p>
            <a:pPr indent="0" marL="0">
              <a:buNone/>
            </a:pPr>
            <a:r>
              <a:rPr lang="en-US" sz="1100" i="1" dirty="0">
                <a:solidFill>
                  <a:srgbClr val="FFB703"/>
                </a:solidFill>
                <a:latin typeface="Calibri" pitchFamily="34" charset="0"/>
                <a:ea typeface="Calibri" pitchFamily="34" charset="-122"/>
                <a:cs typeface="Calibri" pitchFamily="34" charset="-120"/>
              </a:rPr>
              <a:t>A finished map represents THOUSANDS or MILLIONS of pieces of evidence — packed into one picture.</a:t>
            </a:r>
            <a:endParaRPr lang="en-US" sz="1100" dirty="0"/>
          </a:p>
          <a:p>
            <a:pPr indent="0" marL="0">
              <a:buNone/>
            </a:pPr>
            <a:endParaRPr lang="en-US" sz="1100" dirty="0"/>
          </a:p>
          <a:p>
            <a:pPr indent="0" marL="0">
              <a:buNone/>
            </a:pPr>
            <a:r>
              <a:rPr lang="en-US" sz="1100" i="1" dirty="0">
                <a:solidFill>
                  <a:srgbClr val="FFB703"/>
                </a:solidFill>
                <a:latin typeface="Calibri" pitchFamily="34" charset="0"/>
                <a:ea typeface="Calibri" pitchFamily="34" charset="-122"/>
                <a:cs typeface="Calibri" pitchFamily="34" charset="-120"/>
              </a:rPr>
              <a:t>That's why maps are such powerful scientific tools: they make patterns visible that you couldn't see in raw data.</a:t>
            </a:r>
            <a:endParaRPr lang="en-US" sz="1100" dirty="0"/>
          </a:p>
        </p:txBody>
      </p:sp>
      <p:sp>
        <p:nvSpPr>
          <p:cNvPr id="13" name="Shape 11"/>
          <p:cNvSpPr/>
          <p:nvPr/>
        </p:nvSpPr>
        <p:spPr>
          <a:xfrm>
            <a:off x="7863840" y="749808"/>
            <a:ext cx="3749040" cy="4462272"/>
          </a:xfrm>
          <a:prstGeom prst="roundRect">
            <a:avLst>
              <a:gd name="adj" fmla="val 1951"/>
            </a:avLst>
          </a:prstGeom>
          <a:solidFill>
            <a:srgbClr val="1E2F45"/>
          </a:solidFill>
          <a:ln w="12700">
            <a:solidFill>
              <a:srgbClr val="4CC9F0"/>
            </a:solidFill>
            <a:prstDash val="solid"/>
          </a:ln>
        </p:spPr>
      </p:sp>
      <p:sp>
        <p:nvSpPr>
          <p:cNvPr id="14" name="Text 12"/>
          <p:cNvSpPr/>
          <p:nvPr/>
        </p:nvSpPr>
        <p:spPr>
          <a:xfrm>
            <a:off x="8046720" y="822960"/>
            <a:ext cx="338328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Map Projections:</a:t>
            </a:r>
            <a:endParaRPr lang="en-US" sz="1200" dirty="0"/>
          </a:p>
        </p:txBody>
      </p:sp>
      <p:sp>
        <p:nvSpPr>
          <p:cNvPr id="15" name="Text 13"/>
          <p:cNvSpPr/>
          <p:nvPr/>
        </p:nvSpPr>
        <p:spPr>
          <a:xfrm>
            <a:off x="8046720" y="1188720"/>
            <a:ext cx="3383280" cy="389534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Earth is a ball, but maps are flat. Every flat map STRETCHES some parts.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When comparing two maps, make sure they use the same projection — otherwise distances and sizes can look different than they really are.</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This is why scientists always note which projection they used — and why comparing maps requires care.</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Map Detective: Independent Practice</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2DC653"/>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the evidence statement frame. Pick a resource NOT already modeled by the teacher.</a:t>
            </a:r>
            <a:endParaRPr lang="en-US" sz="1300" dirty="0"/>
          </a:p>
        </p:txBody>
      </p:sp>
      <p:sp>
        <p:nvSpPr>
          <p:cNvPr id="7" name="Shape 5"/>
          <p:cNvSpPr/>
          <p:nvPr/>
        </p:nvSpPr>
        <p:spPr>
          <a:xfrm>
            <a:off x="365760" y="1536192"/>
            <a:ext cx="5394960" cy="2633472"/>
          </a:xfrm>
          <a:prstGeom prst="roundRect">
            <a:avLst>
              <a:gd name="adj" fmla="val 2778"/>
            </a:avLst>
          </a:prstGeom>
          <a:solidFill>
            <a:srgbClr val="1E2F45"/>
          </a:solidFill>
          <a:ln w="12700">
            <a:solidFill>
              <a:srgbClr val="FFB703"/>
            </a:solidFill>
            <a:prstDash val="solid"/>
          </a:ln>
        </p:spPr>
      </p:sp>
      <p:sp>
        <p:nvSpPr>
          <p:cNvPr id="8" name="Text 6"/>
          <p:cNvSpPr/>
          <p:nvPr/>
        </p:nvSpPr>
        <p:spPr>
          <a:xfrm>
            <a:off x="548640" y="1609344"/>
            <a:ext cx="50292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Evidence Statement Frame:</a:t>
            </a:r>
            <a:endParaRPr lang="en-US" sz="1200" dirty="0"/>
          </a:p>
        </p:txBody>
      </p:sp>
      <p:sp>
        <p:nvSpPr>
          <p:cNvPr id="9" name="Shape 7"/>
          <p:cNvSpPr/>
          <p:nvPr/>
        </p:nvSpPr>
        <p:spPr>
          <a:xfrm>
            <a:off x="0" y="6629400"/>
            <a:ext cx="12192000" cy="228600"/>
          </a:xfrm>
          <a:prstGeom prst="rect">
            <a:avLst/>
          </a:prstGeom>
          <a:solidFill>
            <a:srgbClr val="162233"/>
          </a:solidFill>
          <a:ln/>
        </p:spPr>
      </p:sp>
      <p:sp>
        <p:nvSpPr>
          <p:cNvPr id="10" name="Text 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The Floridan Aquifer: Florida's Hidden Resource</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of the largest freshwater aquifers in the world sits beneath Florida's feet.</a:t>
            </a:r>
            <a:endParaRPr lang="en-US" sz="1300" dirty="0"/>
          </a:p>
        </p:txBody>
      </p:sp>
      <p:sp>
        <p:nvSpPr>
          <p:cNvPr id="7" name="Shape 5"/>
          <p:cNvSpPr/>
          <p:nvPr/>
        </p:nvSpPr>
        <p:spPr>
          <a:xfrm>
            <a:off x="365760" y="1463040"/>
            <a:ext cx="5120640" cy="2926080"/>
          </a:xfrm>
          <a:prstGeom prst="roundRect">
            <a:avLst>
              <a:gd name="adj" fmla="val 2500"/>
            </a:avLst>
          </a:prstGeom>
          <a:solidFill>
            <a:srgbClr val="0A1520"/>
          </a:solidFill>
          <a:ln w="19050">
            <a:solidFill>
              <a:srgbClr val="4CC9F0"/>
            </a:solidFill>
            <a:prstDash val="dash"/>
          </a:ln>
        </p:spPr>
      </p:sp>
      <p:sp>
        <p:nvSpPr>
          <p:cNvPr id="8" name="Text 6"/>
          <p:cNvSpPr/>
          <p:nvPr/>
        </p:nvSpPr>
        <p:spPr>
          <a:xfrm>
            <a:off x="457200" y="1572768"/>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011680"/>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304288"/>
            <a:ext cx="4901184" cy="18745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"Cross-section diagram: Floridan Aquifer layers, recharge zones, springs"</a:t>
            </a:r>
            <a:endParaRPr lang="en-US" sz="950" dirty="0"/>
          </a:p>
        </p:txBody>
      </p:sp>
      <p:sp>
        <p:nvSpPr>
          <p:cNvPr id="11" name="Shape 9"/>
          <p:cNvSpPr/>
          <p:nvPr/>
        </p:nvSpPr>
        <p:spPr>
          <a:xfrm>
            <a:off x="5669280" y="1463040"/>
            <a:ext cx="5577840" cy="1316736"/>
          </a:xfrm>
          <a:prstGeom prst="roundRect">
            <a:avLst>
              <a:gd name="adj" fmla="val 5556"/>
            </a:avLst>
          </a:prstGeom>
          <a:solidFill>
            <a:srgbClr val="1E2F45"/>
          </a:solidFill>
          <a:ln w="12700">
            <a:solidFill>
              <a:srgbClr val="4CC9F0"/>
            </a:solidFill>
            <a:prstDash val="solid"/>
          </a:ln>
        </p:spPr>
      </p:sp>
      <p:sp>
        <p:nvSpPr>
          <p:cNvPr id="12" name="Text 10"/>
          <p:cNvSpPr/>
          <p:nvPr/>
        </p:nvSpPr>
        <p:spPr>
          <a:xfrm>
            <a:off x="5852160" y="1536192"/>
            <a:ext cx="52120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Key Facts:</a:t>
            </a:r>
            <a:endParaRPr lang="en-US" sz="1200" dirty="0"/>
          </a:p>
        </p:txBody>
      </p:sp>
      <p:sp>
        <p:nvSpPr>
          <p:cNvPr id="13" name="Text 11"/>
          <p:cNvSpPr/>
          <p:nvPr/>
        </p:nvSpPr>
        <p:spPr>
          <a:xfrm>
            <a:off x="5852160" y="1938528"/>
            <a:ext cx="5212080" cy="16459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Covers 100,000 sq miles underground</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Supplies water to 10+ million Floridians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Feeds 700+ natural springs statewide</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Recharged slowly by rain filtering through limestone</a:t>
            </a:r>
            <a:endParaRPr lang="en-US" sz="1100" dirty="0"/>
          </a:p>
        </p:txBody>
      </p:sp>
      <p:sp>
        <p:nvSpPr>
          <p:cNvPr id="14" name="Shape 12"/>
          <p:cNvSpPr/>
          <p:nvPr/>
        </p:nvSpPr>
        <p:spPr>
          <a:xfrm>
            <a:off x="5669280" y="2926080"/>
            <a:ext cx="5577840" cy="1463040"/>
          </a:xfrm>
          <a:prstGeom prst="roundRect">
            <a:avLst>
              <a:gd name="adj" fmla="val 5000"/>
            </a:avLst>
          </a:prstGeom>
          <a:solidFill>
            <a:srgbClr val="1E2F45"/>
          </a:solidFill>
          <a:ln w="12700">
            <a:solidFill>
              <a:srgbClr val="FFB703"/>
            </a:solidFill>
            <a:prstDash val="solid"/>
          </a:ln>
        </p:spPr>
      </p:sp>
      <p:sp>
        <p:nvSpPr>
          <p:cNvPr id="15" name="Text 13"/>
          <p:cNvSpPr/>
          <p:nvPr/>
        </p:nvSpPr>
        <p:spPr>
          <a:xfrm>
            <a:off x="5852160" y="2999232"/>
            <a:ext cx="521208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Threat: Saltwater Intrusion</a:t>
            </a:r>
            <a:endParaRPr lang="en-US" sz="1200" dirty="0"/>
          </a:p>
        </p:txBody>
      </p:sp>
      <p:sp>
        <p:nvSpPr>
          <p:cNvPr id="16" name="Text 14"/>
          <p:cNvSpPr/>
          <p:nvPr/>
        </p:nvSpPr>
        <p:spPr>
          <a:xfrm>
            <a:off x="5852160" y="3401568"/>
            <a:ext cx="521208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Pumping too fast lowers pressure — saltwater from the ocean pushes in. Once contaminated, the freshwater cannot be easily recovered.</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Pre-CER: Evidence Bank — Choose Your Best 2</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Strong CER evidence is specific, map-based, and explains a pattern. Pick 2 pieces below.</a:t>
            </a:r>
            <a:endParaRPr lang="en-US" sz="1300" dirty="0"/>
          </a:p>
        </p:txBody>
      </p:sp>
      <p:sp>
        <p:nvSpPr>
          <p:cNvPr id="7" name="Shape 5"/>
          <p:cNvSpPr/>
          <p:nvPr/>
        </p:nvSpPr>
        <p:spPr>
          <a:xfrm>
            <a:off x="365760" y="1463040"/>
            <a:ext cx="11247120" cy="640080"/>
          </a:xfrm>
          <a:prstGeom prst="roundRect">
            <a:avLst>
              <a:gd name="adj" fmla="val 11429"/>
            </a:avLst>
          </a:prstGeom>
          <a:solidFill>
            <a:srgbClr val="1E2F45"/>
          </a:solidFill>
          <a:ln w="12700">
            <a:solidFill>
              <a:srgbClr val="FFB703"/>
            </a:solidFill>
            <a:prstDash val="solid"/>
          </a:ln>
        </p:spPr>
      </p:sp>
      <p:sp>
        <p:nvSpPr>
          <p:cNvPr id="8" name="Text 6"/>
          <p:cNvSpPr/>
          <p:nvPr/>
        </p:nvSpPr>
        <p:spPr>
          <a:xfrm>
            <a:off x="548640" y="1536192"/>
            <a:ext cx="10972800" cy="5120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phosphate map shows heavy concentration in central Florida — matches limestone geology formed in an ancient sea bed.</a:t>
            </a:r>
            <a:endParaRPr lang="en-US" sz="1150" dirty="0"/>
          </a:p>
        </p:txBody>
      </p:sp>
      <p:sp>
        <p:nvSpPr>
          <p:cNvPr id="9" name="Shape 7"/>
          <p:cNvSpPr/>
          <p:nvPr/>
        </p:nvSpPr>
        <p:spPr>
          <a:xfrm>
            <a:off x="365760" y="2176272"/>
            <a:ext cx="11247120" cy="640080"/>
          </a:xfrm>
          <a:prstGeom prst="roundRect">
            <a:avLst>
              <a:gd name="adj" fmla="val 11429"/>
            </a:avLst>
          </a:prstGeom>
          <a:solidFill>
            <a:srgbClr val="1E2F45"/>
          </a:solidFill>
          <a:ln w="12700">
            <a:solidFill>
              <a:srgbClr val="FFB703"/>
            </a:solidFill>
            <a:prstDash val="solid"/>
          </a:ln>
        </p:spPr>
      </p:sp>
      <p:sp>
        <p:nvSpPr>
          <p:cNvPr id="10" name="Text 8"/>
          <p:cNvSpPr/>
          <p:nvPr/>
        </p:nvSpPr>
        <p:spPr>
          <a:xfrm>
            <a:off x="548640" y="2249424"/>
            <a:ext cx="10972800" cy="5120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aquifer recharge map shows highest recharge in the center of the state where limestone is near the surface.</a:t>
            </a:r>
            <a:endParaRPr lang="en-US" sz="1150" dirty="0"/>
          </a:p>
        </p:txBody>
      </p:sp>
      <p:sp>
        <p:nvSpPr>
          <p:cNvPr id="11" name="Shape 9"/>
          <p:cNvSpPr/>
          <p:nvPr/>
        </p:nvSpPr>
        <p:spPr>
          <a:xfrm>
            <a:off x="365760" y="2889504"/>
            <a:ext cx="11247120" cy="640080"/>
          </a:xfrm>
          <a:prstGeom prst="roundRect">
            <a:avLst>
              <a:gd name="adj" fmla="val 11429"/>
            </a:avLst>
          </a:prstGeom>
          <a:solidFill>
            <a:srgbClr val="1E2F45"/>
          </a:solidFill>
          <a:ln w="12700">
            <a:solidFill>
              <a:srgbClr val="FFB703"/>
            </a:solidFill>
            <a:prstDash val="solid"/>
          </a:ln>
        </p:spPr>
      </p:sp>
      <p:sp>
        <p:nvSpPr>
          <p:cNvPr id="12" name="Text 10"/>
          <p:cNvSpPr/>
          <p:nvPr/>
        </p:nvSpPr>
        <p:spPr>
          <a:xfrm>
            <a:off x="548640" y="2962656"/>
            <a:ext cx="10972800" cy="5120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has 700+ springs — all fed by the Floridan Aquifer emerging at the surface, confirmed by hydrogeology maps.</a:t>
            </a:r>
            <a:endParaRPr lang="en-US" sz="1150" dirty="0"/>
          </a:p>
        </p:txBody>
      </p:sp>
      <p:sp>
        <p:nvSpPr>
          <p:cNvPr id="13" name="Shape 11"/>
          <p:cNvSpPr/>
          <p:nvPr/>
        </p:nvSpPr>
        <p:spPr>
          <a:xfrm>
            <a:off x="365760" y="3602736"/>
            <a:ext cx="11247120" cy="640080"/>
          </a:xfrm>
          <a:prstGeom prst="roundRect">
            <a:avLst>
              <a:gd name="adj" fmla="val 11429"/>
            </a:avLst>
          </a:prstGeom>
          <a:solidFill>
            <a:srgbClr val="1E2F45"/>
          </a:solidFill>
          <a:ln w="12700">
            <a:solidFill>
              <a:srgbClr val="FFB703"/>
            </a:solidFill>
            <a:prstDash val="solid"/>
          </a:ln>
        </p:spPr>
      </p:sp>
      <p:sp>
        <p:nvSpPr>
          <p:cNvPr id="14" name="Text 12"/>
          <p:cNvSpPr/>
          <p:nvPr/>
        </p:nvSpPr>
        <p:spPr>
          <a:xfrm>
            <a:off x="548640" y="3675888"/>
            <a:ext cx="10972800" cy="5120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Citrus farms cluster in central and south Florida where the frost line map shows the fewest freeze days per year.</a:t>
            </a:r>
            <a:endParaRPr lang="en-US" sz="1150" dirty="0"/>
          </a:p>
        </p:txBody>
      </p:sp>
      <p:sp>
        <p:nvSpPr>
          <p:cNvPr id="15" name="Shape 13"/>
          <p:cNvSpPr/>
          <p:nvPr/>
        </p:nvSpPr>
        <p:spPr>
          <a:xfrm>
            <a:off x="365760" y="4315968"/>
            <a:ext cx="11247120" cy="640080"/>
          </a:xfrm>
          <a:prstGeom prst="roundRect">
            <a:avLst>
              <a:gd name="adj" fmla="val 11429"/>
            </a:avLst>
          </a:prstGeom>
          <a:solidFill>
            <a:srgbClr val="1E2F45"/>
          </a:solidFill>
          <a:ln w="12700">
            <a:solidFill>
              <a:srgbClr val="FFB703"/>
            </a:solidFill>
            <a:prstDash val="solid"/>
          </a:ln>
        </p:spPr>
      </p:sp>
      <p:sp>
        <p:nvSpPr>
          <p:cNvPr id="16" name="Text 14"/>
          <p:cNvSpPr/>
          <p:nvPr/>
        </p:nvSpPr>
        <p:spPr>
          <a:xfrm>
            <a:off x="548640" y="4389120"/>
            <a:ext cx="10972800" cy="5120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 aquifer supplies over 90% of Florida's drinking water — its location determines where cities can grow.</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Assignment: Map Evidence CER</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map evidence to write a full CER explaining why a Florida resource exists where it does.</a:t>
            </a:r>
            <a:endParaRPr lang="en-US" sz="1300" dirty="0"/>
          </a:p>
        </p:txBody>
      </p:sp>
      <p:sp>
        <p:nvSpPr>
          <p:cNvPr id="7" name="Shape 5"/>
          <p:cNvSpPr/>
          <p:nvPr/>
        </p:nvSpPr>
        <p:spPr>
          <a:xfrm>
            <a:off x="365760" y="1463040"/>
            <a:ext cx="11247120" cy="1316736"/>
          </a:xfrm>
          <a:prstGeom prst="roundRect">
            <a:avLst>
              <a:gd name="adj" fmla="val 5556"/>
            </a:avLst>
          </a:prstGeom>
          <a:solidFill>
            <a:srgbClr val="1E2F45"/>
          </a:solidFill>
          <a:ln w="12700">
            <a:solidFill>
              <a:srgbClr val="4CC9F0"/>
            </a:solidFill>
            <a:prstDash val="solid"/>
          </a:ln>
        </p:spPr>
      </p:sp>
      <p:sp>
        <p:nvSpPr>
          <p:cNvPr id="8" name="Text 6"/>
          <p:cNvSpPr/>
          <p:nvPr/>
        </p:nvSpPr>
        <p:spPr>
          <a:xfrm>
            <a:off x="548640" y="1536192"/>
            <a:ext cx="10972800" cy="1170432"/>
          </a:xfrm>
          <a:prstGeom prst="rect">
            <a:avLst/>
          </a:prstGeom>
          <a:noFill/>
          <a:ln/>
        </p:spPr>
        <p:txBody>
          <a:bodyPr wrap="square" rtlCol="0" anchor="ctr"/>
          <a:lstStyle/>
          <a:p>
            <a:pPr indent="0" marL="0">
              <a:buNone/>
            </a:pPr>
            <a:r>
              <a:rPr lang="en-US" sz="1200" dirty="0">
                <a:solidFill>
                  <a:srgbClr val="4CC9F0"/>
                </a:solidFill>
                <a:latin typeface="Calibri" pitchFamily="34" charset="0"/>
                <a:ea typeface="Calibri" pitchFamily="34" charset="-122"/>
                <a:cs typeface="Calibri" pitchFamily="34" charset="-120"/>
              </a:rPr>
              <a:t>PROMPT: A classmate says resources are just randomly distributed across Florida. Use at least two pieces of map evidence to explain why resources are found where they are — not randomly.</a:t>
            </a:r>
            <a:endParaRPr lang="en-US" sz="1200" dirty="0"/>
          </a:p>
        </p:txBody>
      </p:sp>
      <p:sp>
        <p:nvSpPr>
          <p:cNvPr id="9" name="Shape 7"/>
          <p:cNvSpPr/>
          <p:nvPr/>
        </p:nvSpPr>
        <p:spPr>
          <a:xfrm>
            <a:off x="365760" y="2926080"/>
            <a:ext cx="3566160" cy="2377440"/>
          </a:xfrm>
          <a:prstGeom prst="roundRect">
            <a:avLst>
              <a:gd name="adj" fmla="val 3846"/>
            </a:avLst>
          </a:prstGeom>
          <a:solidFill>
            <a:srgbClr val="0A3D8F"/>
          </a:solidFill>
          <a:ln w="19050">
            <a:solidFill>
              <a:srgbClr val="1A5FBD"/>
            </a:solidFill>
            <a:prstDash val="solid"/>
          </a:ln>
        </p:spPr>
      </p:sp>
      <p:sp>
        <p:nvSpPr>
          <p:cNvPr id="10" name="Shape 8"/>
          <p:cNvSpPr/>
          <p:nvPr/>
        </p:nvSpPr>
        <p:spPr>
          <a:xfrm>
            <a:off x="365760" y="2926080"/>
            <a:ext cx="3566160" cy="347472"/>
          </a:xfrm>
          <a:prstGeom prst="rect">
            <a:avLst/>
          </a:prstGeom>
          <a:solidFill>
            <a:srgbClr val="1A5FBD"/>
          </a:solidFill>
          <a:ln w="12700">
            <a:solidFill>
              <a:srgbClr val="1A5FBD"/>
            </a:solidFill>
            <a:prstDash val="solid"/>
          </a:ln>
        </p:spPr>
      </p:sp>
      <p:sp>
        <p:nvSpPr>
          <p:cNvPr id="11" name="Text 9"/>
          <p:cNvSpPr/>
          <p:nvPr/>
        </p:nvSpPr>
        <p:spPr>
          <a:xfrm>
            <a:off x="45720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2" name="Text 10"/>
          <p:cNvSpPr/>
          <p:nvPr/>
        </p:nvSpPr>
        <p:spPr>
          <a:xfrm>
            <a:off x="50292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State that resource locations are NOT random — they follow patterns explained by geology, climate, or water.</a:t>
            </a:r>
            <a:endParaRPr lang="en-US" sz="1050" dirty="0"/>
          </a:p>
        </p:txBody>
      </p:sp>
      <p:sp>
        <p:nvSpPr>
          <p:cNvPr id="13" name="Shape 11"/>
          <p:cNvSpPr/>
          <p:nvPr/>
        </p:nvSpPr>
        <p:spPr>
          <a:xfrm>
            <a:off x="4114800" y="2926080"/>
            <a:ext cx="3566160" cy="2377440"/>
          </a:xfrm>
          <a:prstGeom prst="roundRect">
            <a:avLst>
              <a:gd name="adj" fmla="val 3846"/>
            </a:avLst>
          </a:prstGeom>
          <a:solidFill>
            <a:srgbClr val="145C35"/>
          </a:solidFill>
          <a:ln w="19050">
            <a:solidFill>
              <a:srgbClr val="228B50"/>
            </a:solidFill>
            <a:prstDash val="solid"/>
          </a:ln>
        </p:spPr>
      </p:sp>
      <p:sp>
        <p:nvSpPr>
          <p:cNvPr id="14" name="Shape 12"/>
          <p:cNvSpPr/>
          <p:nvPr/>
        </p:nvSpPr>
        <p:spPr>
          <a:xfrm>
            <a:off x="4114800" y="2926080"/>
            <a:ext cx="3566160" cy="347472"/>
          </a:xfrm>
          <a:prstGeom prst="rect">
            <a:avLst/>
          </a:prstGeom>
          <a:solidFill>
            <a:srgbClr val="228B50"/>
          </a:solidFill>
          <a:ln w="12700">
            <a:solidFill>
              <a:srgbClr val="228B50"/>
            </a:solidFill>
            <a:prstDash val="solid"/>
          </a:ln>
        </p:spPr>
      </p:sp>
      <p:sp>
        <p:nvSpPr>
          <p:cNvPr id="15" name="Text 13"/>
          <p:cNvSpPr/>
          <p:nvPr/>
        </p:nvSpPr>
        <p:spPr>
          <a:xfrm>
            <a:off x="420624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6" name="Text 14"/>
          <p:cNvSpPr/>
          <p:nvPr/>
        </p:nvSpPr>
        <p:spPr>
          <a:xfrm>
            <a:off x="425196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Cite 2 specific map observations: name the resource, its location, and what the map shows about WHY it is there.</a:t>
            </a:r>
            <a:endParaRPr lang="en-US" sz="1050" dirty="0"/>
          </a:p>
        </p:txBody>
      </p:sp>
      <p:sp>
        <p:nvSpPr>
          <p:cNvPr id="17" name="Shape 15"/>
          <p:cNvSpPr/>
          <p:nvPr/>
        </p:nvSpPr>
        <p:spPr>
          <a:xfrm>
            <a:off x="7863840" y="2926080"/>
            <a:ext cx="3566160" cy="2377440"/>
          </a:xfrm>
          <a:prstGeom prst="roundRect">
            <a:avLst>
              <a:gd name="adj" fmla="val 3846"/>
            </a:avLst>
          </a:prstGeom>
          <a:solidFill>
            <a:srgbClr val="7A3200"/>
          </a:solidFill>
          <a:ln w="19050">
            <a:solidFill>
              <a:srgbClr val="B04A00"/>
            </a:solidFill>
            <a:prstDash val="solid"/>
          </a:ln>
        </p:spPr>
      </p:sp>
      <p:sp>
        <p:nvSpPr>
          <p:cNvPr id="18" name="Shape 16"/>
          <p:cNvSpPr/>
          <p:nvPr/>
        </p:nvSpPr>
        <p:spPr>
          <a:xfrm>
            <a:off x="7863840" y="2926080"/>
            <a:ext cx="3566160" cy="347472"/>
          </a:xfrm>
          <a:prstGeom prst="rect">
            <a:avLst/>
          </a:prstGeom>
          <a:solidFill>
            <a:srgbClr val="B04A00"/>
          </a:solidFill>
          <a:ln w="12700">
            <a:solidFill>
              <a:srgbClr val="B04A00"/>
            </a:solidFill>
            <a:prstDash val="solid"/>
          </a:ln>
        </p:spPr>
      </p:sp>
      <p:sp>
        <p:nvSpPr>
          <p:cNvPr id="19" name="Text 17"/>
          <p:cNvSpPr/>
          <p:nvPr/>
        </p:nvSpPr>
        <p:spPr>
          <a:xfrm>
            <a:off x="795528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20" name="Text 18"/>
          <p:cNvSpPr/>
          <p:nvPr/>
        </p:nvSpPr>
        <p:spPr>
          <a:xfrm>
            <a:off x="800100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Explain how geology, climate, or water access creates the pattern — connect evidence to the claim.</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15.02  ·  Data Task: Local Resources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2026-07-13T20:40:20Z</dcterms:created>
  <dcterms:modified xsi:type="dcterms:W3CDTF">2026-07-13T20:40:20Z</dcterms:modified>
</cp:coreProperties>
</file>