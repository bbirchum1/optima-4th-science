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explore rotation, revolution, and seasons. CER was introduced in Lesson 1.01 and reinforced in 1.02. Use evidence frames today: 'I know ___ because ___. This shows ___.' No formal CER labels required unless you choose to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 minutes to draw. Ask 2-3 students to share. Don't correct yet. Ask: 'What makes you say that?' / 'Can you say more about that second movement?' / 'Does anyone picture Earth moving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predictions on board. Return to these at the end. Ask: 'What made you predict that?' / 'Has anyone ever thought about why day and night happen?' / 'Does anyone have a different prediction about seasons?' Don't confirm or deny — that's the lesson's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basketball analogy is key. Have students actually stand up and try: spin in place (rotate), then walk in a circle around their desk (revolve). This kinesthetic experience locks in the vocabulary. Ask: 'Which one do you do in 24 hours?' / 'Which one takes a whole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hemisphere prediction is key — it will be explained on the tilt slide. Write predictions on board. Ask: 'Does anyone know why Australia has opposite seasons?' / 'What does hemisphere have to do with it?' /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'Can you think of something in your daily life controlled by rotation? By revolution?' After sharing: 'The diagram shows that Earth is always moving because... I know this because...' Ask: 'What would change about your day if Earth suddenly stopped spinning?' / 'Does anyone have different evidence about what rotation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predictions on the 'no tilt' question BEFORE explaining. Write them on board. Then explain: without tilt, no seasons anywhere. Ask: 'What would change about plants, animals, farming, human life?' / 'How does your prediction compare to what we learned?' /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Ask: 'Why is the Northern Hemisphere tilted TOWARD the Sun in summer?' / 'What does the diagram show about where Earth is in winter?' / 'The diagram shows that Earth is always moving because... which is evidence that...' Ask: 'Does anyone see anything in the diagram that surprises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clears the HUGE misconception that seasons = distance from Sun. Ask: 'Who thought seasons were about Earth getting closer and farther from the Sun?' (Many will!) 'What evidence from the diagram shows that can't be right?' Scientific argumentation: 'What would change your mind?' / 'Does anyone have different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Scientific argumentation: 'What evidence supports that?' / 'Does anyone have different evidence?' / 'What would change your mind?' For the navigator question: connect to the concept that Sun's position in sky = clue about location. Students don't need full navigation understanding — just the connection between Earth's tilt/position and observing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react to the Venus fact. Ask: 'What does that tell you about how different other planets are from Earth?' / 'How would YOUR life be different if you lived on Venus?' / 'What surprises you most about these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graded — for discussion. Before revealing answers: thumbs up/down. For wrong answers: 'What made you choose that?' For Q2 (seasons): 'Earth is actually CLOSER to the Sun in January (winter in NH). So how do we know distance isn't the answer?' / 'What evidence rules out distance as the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requirements. Every part was practiced: Diagrams = Slides 6 + 8, Short answers = Slides 7 + 9, CER = Slide 10. Remind students to look back at their warm-up sketch and note what changed in their thinking (Reflection). Submit photo, typed, or video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predictions written on the board. Ask: 'How did your thinking change?' Celebrate accurate predictions. Ask 2-3 students to share their revised thinking using the evidence frame: 'I know ___ because ___. This shows 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Meet Our Earth: A Planet Always in Motion</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Q1 · Unit 2 · Earth &amp; Space Science</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NGSS 4-ESS2 — Earth's Systems</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explain the difference between Earth's rotation and revolution, and what each one causes.</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describe how Earth's tilted axis creates the four seasons as it revolves around the Sun.</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use rotate, revolve, axis, orbit, and hemisphere correctly to describe Earth's movements.</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Science notebook   Colored pencils   Ruler (optional)</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 A Planet Always in Motion</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ENGAGE — Earth Is Always Moving!</a:t>
            </a:r>
            <a:endParaRPr lang="en-US" sz="1600" dirty="0"/>
          </a:p>
        </p:txBody>
      </p:sp>
      <p:sp>
        <p:nvSpPr>
          <p:cNvPr id="5" name="Shape 3"/>
          <p:cNvSpPr/>
          <p:nvPr/>
        </p:nvSpPr>
        <p:spPr>
          <a:xfrm>
            <a:off x="365760" y="685800"/>
            <a:ext cx="11430000" cy="347472"/>
          </a:xfrm>
          <a:prstGeom prst="roundRect">
            <a:avLst>
              <a:gd name="adj" fmla="val 23684"/>
            </a:avLst>
          </a:prstGeom>
          <a:solidFill>
            <a:srgbClr val="E09200"/>
          </a:solidFill>
          <a:ln w="19050">
            <a:solidFill>
              <a:srgbClr val="FFB703"/>
            </a:solidFill>
            <a:prstDash val="solid"/>
          </a:ln>
        </p:spPr>
      </p:sp>
      <p:sp>
        <p:nvSpPr>
          <p:cNvPr id="6" name="Text 4"/>
          <p:cNvSpPr/>
          <p:nvPr/>
        </p:nvSpPr>
        <p:spPr>
          <a:xfrm>
            <a:off x="365760" y="685800"/>
            <a:ext cx="1143000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Notice &amp; Wonder</a:t>
            </a:r>
            <a:endParaRPr lang="en-US" sz="1200" dirty="0"/>
          </a:p>
        </p:txBody>
      </p:sp>
      <p:sp>
        <p:nvSpPr>
          <p:cNvPr id="7" name="Shape 5"/>
          <p:cNvSpPr/>
          <p:nvPr/>
        </p:nvSpPr>
        <p:spPr>
          <a:xfrm>
            <a:off x="365760" y="1143000"/>
            <a:ext cx="5303520" cy="3474720"/>
          </a:xfrm>
          <a:prstGeom prst="roundRect">
            <a:avLst>
              <a:gd name="adj" fmla="val 2105"/>
            </a:avLst>
          </a:prstGeom>
          <a:solidFill>
            <a:srgbClr val="0A1520"/>
          </a:solidFill>
          <a:ln w="19050">
            <a:solidFill>
              <a:srgbClr val="4CC9F0"/>
            </a:solidFill>
            <a:prstDash val="dash"/>
          </a:ln>
        </p:spPr>
      </p:sp>
      <p:sp>
        <p:nvSpPr>
          <p:cNvPr id="8" name="Text 6"/>
          <p:cNvSpPr/>
          <p:nvPr/>
        </p:nvSpPr>
        <p:spPr>
          <a:xfrm>
            <a:off x="457200" y="1252728"/>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1691640"/>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1984248"/>
            <a:ext cx="5084064" cy="24231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"NASA Earth from space blue marble photograph Apollo 17"</a:t>
            </a:r>
            <a:endParaRPr lang="en-US" sz="950" dirty="0"/>
          </a:p>
        </p:txBody>
      </p:sp>
      <p:sp>
        <p:nvSpPr>
          <p:cNvPr id="11" name="Text 9"/>
          <p:cNvSpPr/>
          <p:nvPr/>
        </p:nvSpPr>
        <p:spPr>
          <a:xfrm>
            <a:off x="365760" y="4654296"/>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Earth seen from space — a planet that never stops moving</a:t>
            </a:r>
            <a:endParaRPr lang="en-US" sz="900" dirty="0"/>
          </a:p>
        </p:txBody>
      </p:sp>
      <p:sp>
        <p:nvSpPr>
          <p:cNvPr id="12" name="Shape 10"/>
          <p:cNvSpPr/>
          <p:nvPr/>
        </p:nvSpPr>
        <p:spPr>
          <a:xfrm>
            <a:off x="5943600" y="1143000"/>
            <a:ext cx="5943600" cy="3474720"/>
          </a:xfrm>
          <a:prstGeom prst="roundRect">
            <a:avLst>
              <a:gd name="adj" fmla="val 2105"/>
            </a:avLst>
          </a:prstGeom>
          <a:solidFill>
            <a:srgbClr val="1E2F45"/>
          </a:solidFill>
          <a:ln w="12700">
            <a:solidFill>
              <a:srgbClr val="FFB703"/>
            </a:solidFill>
            <a:prstDash val="solid"/>
          </a:ln>
        </p:spPr>
      </p:sp>
      <p:sp>
        <p:nvSpPr>
          <p:cNvPr id="13" name="Text 11"/>
          <p:cNvSpPr/>
          <p:nvPr/>
        </p:nvSpPr>
        <p:spPr>
          <a:xfrm>
            <a:off x="6126480" y="1234440"/>
            <a:ext cx="557784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Think About This...</a:t>
            </a:r>
            <a:endParaRPr lang="en-US" sz="1300" dirty="0"/>
          </a:p>
        </p:txBody>
      </p:sp>
      <p:sp>
        <p:nvSpPr>
          <p:cNvPr id="14" name="Text 12"/>
          <p:cNvSpPr/>
          <p:nvPr/>
        </p:nvSpPr>
        <p:spPr>
          <a:xfrm>
            <a:off x="6126480" y="1609344"/>
            <a:ext cx="5577840" cy="182880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"Right now, you feel completely still — but scientists say Earth is racing through space at 67,000 miles per hour. How can that be? And how does Earth's invisible movement control everything from day and night to the changing seasons?"</a:t>
            </a:r>
            <a:endParaRPr lang="en-US" sz="1200" dirty="0"/>
          </a:p>
        </p:txBody>
      </p:sp>
      <p:sp>
        <p:nvSpPr>
          <p:cNvPr id="15" name="Text 13"/>
          <p:cNvSpPr/>
          <p:nvPr/>
        </p:nvSpPr>
        <p:spPr>
          <a:xfrm>
            <a:off x="6126480" y="3383280"/>
            <a:ext cx="5577840" cy="111556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In your science notebook: Draw a quick sketch of Earth moving through space. Show at least TWO different ways Earth might be moving!</a:t>
            </a:r>
            <a:endParaRPr lang="en-US" sz="11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ENGAGE — Your Prediction</a:t>
            </a:r>
            <a:endParaRPr lang="en-US" sz="1600" dirty="0"/>
          </a:p>
        </p:txBody>
      </p:sp>
      <p:sp>
        <p:nvSpPr>
          <p:cNvPr id="5" name="Shape 3"/>
          <p:cNvSpPr/>
          <p:nvPr/>
        </p:nvSpPr>
        <p:spPr>
          <a:xfrm>
            <a:off x="365760" y="713232"/>
            <a:ext cx="11430000" cy="1371600"/>
          </a:xfrm>
          <a:prstGeom prst="roundRect">
            <a:avLst>
              <a:gd name="adj" fmla="val 5333"/>
            </a:avLst>
          </a:prstGeom>
          <a:solidFill>
            <a:srgbClr val="1E2F45"/>
          </a:solidFill>
          <a:ln w="12700">
            <a:solidFill>
              <a:srgbClr val="FFB703"/>
            </a:solidFill>
            <a:prstDash val="solid"/>
          </a:ln>
        </p:spPr>
      </p:sp>
      <p:sp>
        <p:nvSpPr>
          <p:cNvPr id="6" name="Text 4"/>
          <p:cNvSpPr/>
          <p:nvPr/>
        </p:nvSpPr>
        <p:spPr>
          <a:xfrm>
            <a:off x="548640" y="777240"/>
            <a:ext cx="10972800" cy="320040"/>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Essential Question:</a:t>
            </a:r>
            <a:endParaRPr lang="en-US" sz="1100" dirty="0"/>
          </a:p>
        </p:txBody>
      </p:sp>
      <p:sp>
        <p:nvSpPr>
          <p:cNvPr id="7" name="Text 5"/>
          <p:cNvSpPr/>
          <p:nvPr/>
        </p:nvSpPr>
        <p:spPr>
          <a:xfrm>
            <a:off x="548640" y="1115568"/>
            <a:ext cx="10972800" cy="82296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"Right now, you feel completely still — but scientists say Earth is racing through space at 67,000 mph. How does Earth's invisible movement control day and night AND the seasons?"</a:t>
            </a:r>
            <a:endParaRPr lang="en-US" sz="1200" dirty="0"/>
          </a:p>
        </p:txBody>
      </p:sp>
      <p:sp>
        <p:nvSpPr>
          <p:cNvPr id="8" name="Shape 6"/>
          <p:cNvSpPr/>
          <p:nvPr/>
        </p:nvSpPr>
        <p:spPr>
          <a:xfrm>
            <a:off x="365760" y="2212848"/>
            <a:ext cx="7132320" cy="3291840"/>
          </a:xfrm>
          <a:prstGeom prst="roundRect">
            <a:avLst>
              <a:gd name="adj" fmla="val 2222"/>
            </a:avLst>
          </a:prstGeom>
          <a:solidFill>
            <a:srgbClr val="132040"/>
          </a:solidFill>
          <a:ln w="12700">
            <a:solidFill>
              <a:srgbClr val="4CC9F0"/>
            </a:solidFill>
            <a:prstDash val="solid"/>
          </a:ln>
        </p:spPr>
      </p:sp>
      <p:sp>
        <p:nvSpPr>
          <p:cNvPr id="9" name="Text 7"/>
          <p:cNvSpPr/>
          <p:nvPr/>
        </p:nvSpPr>
        <p:spPr>
          <a:xfrm>
            <a:off x="548640" y="2304288"/>
            <a:ext cx="676656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Make an Evidence-Based Prediction</a:t>
            </a:r>
            <a:endParaRPr lang="en-US" sz="1300" dirty="0"/>
          </a:p>
        </p:txBody>
      </p:sp>
      <p:sp>
        <p:nvSpPr>
          <p:cNvPr id="10" name="Text 8"/>
          <p:cNvSpPr/>
          <p:nvPr/>
        </p:nvSpPr>
        <p:spPr>
          <a:xfrm>
            <a:off x="548640" y="2679192"/>
            <a:ext cx="6766560" cy="269748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Write in your notebook:</a:t>
            </a:r>
            <a:endParaRPr lang="en-US" sz="1250" dirty="0"/>
          </a:p>
          <a:p>
            <a:pPr indent="0" marL="0">
              <a:buNone/>
            </a:pPr>
            <a:endParaRPr lang="en-US" sz="1250" dirty="0"/>
          </a:p>
          <a:p>
            <a:pPr indent="0" marL="0">
              <a:buNone/>
            </a:pPr>
            <a:r>
              <a:rPr lang="en-US" sz="1250" i="1" dirty="0">
                <a:solidFill>
                  <a:srgbClr val="FFFFFF"/>
                </a:solidFill>
                <a:latin typeface="Calibri" pitchFamily="34" charset="0"/>
                <a:ea typeface="Calibri" pitchFamily="34" charset="-122"/>
                <a:cs typeface="Calibri" pitchFamily="34" charset="-120"/>
              </a:rPr>
              <a:t>"I predict that day and night are caused by ___ because ___.</a:t>
            </a:r>
            <a:endParaRPr lang="en-US" sz="1250" dirty="0"/>
          </a:p>
          <a:p>
            <a:pPr indent="0" marL="0">
              <a:buNone/>
            </a:pPr>
            <a:endParaRPr lang="en-US" sz="1250" dirty="0"/>
          </a:p>
          <a:p>
            <a:pPr indent="0" marL="0">
              <a:buNone/>
            </a:pPr>
            <a:r>
              <a:rPr lang="en-US" sz="1250" i="1" dirty="0">
                <a:solidFill>
                  <a:srgbClr val="FFFFFF"/>
                </a:solidFill>
                <a:latin typeface="Calibri" pitchFamily="34" charset="0"/>
                <a:ea typeface="Calibri" pitchFamily="34" charset="-122"/>
                <a:cs typeface="Calibri" pitchFamily="34" charset="-120"/>
              </a:rPr>
              <a:t>I predict that seasons are caused by ___ because ___."</a:t>
            </a:r>
            <a:endParaRPr lang="en-US" sz="1250" dirty="0"/>
          </a:p>
        </p:txBody>
      </p:sp>
      <p:sp>
        <p:nvSpPr>
          <p:cNvPr id="11" name="Shape 9"/>
          <p:cNvSpPr/>
          <p:nvPr/>
        </p:nvSpPr>
        <p:spPr>
          <a:xfrm>
            <a:off x="7680960" y="2212848"/>
            <a:ext cx="4206240" cy="3291840"/>
          </a:xfrm>
          <a:prstGeom prst="roundRect">
            <a:avLst>
              <a:gd name="adj" fmla="val 2222"/>
            </a:avLst>
          </a:prstGeom>
          <a:solidFill>
            <a:srgbClr val="1E2F45"/>
          </a:solidFill>
          <a:ln w="12700">
            <a:solidFill>
              <a:srgbClr val="2DC653"/>
            </a:solidFill>
            <a:prstDash val="solid"/>
          </a:ln>
        </p:spPr>
      </p:sp>
      <p:sp>
        <p:nvSpPr>
          <p:cNvPr id="12" name="Text 10"/>
          <p:cNvSpPr/>
          <p:nvPr/>
        </p:nvSpPr>
        <p:spPr>
          <a:xfrm>
            <a:off x="7863840" y="2304288"/>
            <a:ext cx="3840480" cy="347472"/>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Mind-Blowing Fact!</a:t>
            </a:r>
            <a:endParaRPr lang="en-US" sz="1100" dirty="0"/>
          </a:p>
        </p:txBody>
      </p:sp>
      <p:sp>
        <p:nvSpPr>
          <p:cNvPr id="13" name="Text 11"/>
          <p:cNvSpPr/>
          <p:nvPr/>
        </p:nvSpPr>
        <p:spPr>
          <a:xfrm>
            <a:off x="7863840" y="2670048"/>
            <a:ext cx="3840480" cy="2743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Right now — without moving a single muscle — you are traveling through space at about 67,000 miles per hour as Earth orbits the Sun. That's about 100 times faster than any commercial airplane. You just can't feel it!</a:t>
            </a:r>
            <a:endParaRPr lang="en-US" sz="11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VOCABULARY — Earth's Movements: Set 1</a:t>
            </a:r>
            <a:endParaRPr lang="en-US" sz="1600" dirty="0"/>
          </a:p>
        </p:txBody>
      </p:sp>
      <p:sp>
        <p:nvSpPr>
          <p:cNvPr id="5" name="Shape 3"/>
          <p:cNvSpPr/>
          <p:nvPr/>
        </p:nvSpPr>
        <p:spPr>
          <a:xfrm>
            <a:off x="365760" y="713232"/>
            <a:ext cx="35661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713232"/>
            <a:ext cx="35661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74066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Rotate</a:t>
            </a:r>
            <a:endParaRPr lang="en-US" sz="1200" dirty="0"/>
          </a:p>
        </p:txBody>
      </p:sp>
      <p:sp>
        <p:nvSpPr>
          <p:cNvPr id="8" name="Text 6"/>
          <p:cNvSpPr/>
          <p:nvPr/>
        </p:nvSpPr>
        <p:spPr>
          <a:xfrm>
            <a:off x="475488" y="111556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To spin around a center point or axis. Earth rotates once every 24 hours, giving us day and night!</a:t>
            </a:r>
            <a:endParaRPr lang="en-US" sz="1050" dirty="0"/>
          </a:p>
        </p:txBody>
      </p:sp>
      <p:sp>
        <p:nvSpPr>
          <p:cNvPr id="9" name="Shape 7"/>
          <p:cNvSpPr/>
          <p:nvPr/>
        </p:nvSpPr>
        <p:spPr>
          <a:xfrm>
            <a:off x="4114800" y="713232"/>
            <a:ext cx="3566160" cy="1325880"/>
          </a:xfrm>
          <a:prstGeom prst="roundRect">
            <a:avLst>
              <a:gd name="adj" fmla="val 6897"/>
            </a:avLst>
          </a:prstGeom>
          <a:solidFill>
            <a:srgbClr val="1E2F45"/>
          </a:solidFill>
          <a:ln w="25400">
            <a:solidFill>
              <a:srgbClr val="2DC653"/>
            </a:solidFill>
            <a:prstDash val="solid"/>
          </a:ln>
        </p:spPr>
      </p:sp>
      <p:sp>
        <p:nvSpPr>
          <p:cNvPr id="10" name="Shape 8"/>
          <p:cNvSpPr/>
          <p:nvPr/>
        </p:nvSpPr>
        <p:spPr>
          <a:xfrm>
            <a:off x="4114800" y="713232"/>
            <a:ext cx="3566160" cy="347472"/>
          </a:xfrm>
          <a:prstGeom prst="roundRect">
            <a:avLst>
              <a:gd name="adj" fmla="val 21053"/>
            </a:avLst>
          </a:prstGeom>
          <a:solidFill>
            <a:srgbClr val="2DC653"/>
          </a:solidFill>
          <a:ln w="12700">
            <a:solidFill>
              <a:srgbClr val="2DC653"/>
            </a:solidFill>
            <a:prstDash val="solid"/>
          </a:ln>
        </p:spPr>
      </p:sp>
      <p:sp>
        <p:nvSpPr>
          <p:cNvPr id="11" name="Text 9"/>
          <p:cNvSpPr/>
          <p:nvPr/>
        </p:nvSpPr>
        <p:spPr>
          <a:xfrm>
            <a:off x="4206240" y="74066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Revolve</a:t>
            </a:r>
            <a:endParaRPr lang="en-US" sz="1200" dirty="0"/>
          </a:p>
        </p:txBody>
      </p:sp>
      <p:sp>
        <p:nvSpPr>
          <p:cNvPr id="12" name="Text 10"/>
          <p:cNvSpPr/>
          <p:nvPr/>
        </p:nvSpPr>
        <p:spPr>
          <a:xfrm>
            <a:off x="4224528" y="111556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To move in a circular path around another object. Earth revolves around the Sun once every 365 days — that's one year!</a:t>
            </a:r>
            <a:endParaRPr lang="en-US" sz="1050" dirty="0"/>
          </a:p>
        </p:txBody>
      </p:sp>
      <p:sp>
        <p:nvSpPr>
          <p:cNvPr id="13" name="Shape 11"/>
          <p:cNvSpPr/>
          <p:nvPr/>
        </p:nvSpPr>
        <p:spPr>
          <a:xfrm>
            <a:off x="7863840" y="713232"/>
            <a:ext cx="3977640" cy="1325880"/>
          </a:xfrm>
          <a:prstGeom prst="roundRect">
            <a:avLst>
              <a:gd name="adj" fmla="val 6897"/>
            </a:avLst>
          </a:prstGeom>
          <a:solidFill>
            <a:srgbClr val="1E2F45"/>
          </a:solidFill>
          <a:ln w="25400">
            <a:solidFill>
              <a:srgbClr val="FFB703"/>
            </a:solidFill>
            <a:prstDash val="solid"/>
          </a:ln>
        </p:spPr>
      </p:sp>
      <p:sp>
        <p:nvSpPr>
          <p:cNvPr id="14" name="Shape 12"/>
          <p:cNvSpPr/>
          <p:nvPr/>
        </p:nvSpPr>
        <p:spPr>
          <a:xfrm>
            <a:off x="7863840" y="713232"/>
            <a:ext cx="3977640" cy="347472"/>
          </a:xfrm>
          <a:prstGeom prst="roundRect">
            <a:avLst>
              <a:gd name="adj" fmla="val 21053"/>
            </a:avLst>
          </a:prstGeom>
          <a:solidFill>
            <a:srgbClr val="FFB703"/>
          </a:solidFill>
          <a:ln w="12700">
            <a:solidFill>
              <a:srgbClr val="FFB703"/>
            </a:solidFill>
            <a:prstDash val="solid"/>
          </a:ln>
        </p:spPr>
      </p:sp>
      <p:sp>
        <p:nvSpPr>
          <p:cNvPr id="15" name="Text 13"/>
          <p:cNvSpPr/>
          <p:nvPr/>
        </p:nvSpPr>
        <p:spPr>
          <a:xfrm>
            <a:off x="7955280" y="740664"/>
            <a:ext cx="37947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Axis</a:t>
            </a:r>
            <a:endParaRPr lang="en-US" sz="1200" dirty="0"/>
          </a:p>
        </p:txBody>
      </p:sp>
      <p:sp>
        <p:nvSpPr>
          <p:cNvPr id="16" name="Text 14"/>
          <p:cNvSpPr/>
          <p:nvPr/>
        </p:nvSpPr>
        <p:spPr>
          <a:xfrm>
            <a:off x="7973568" y="1115568"/>
            <a:ext cx="37581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An imaginary line that goes through the center of Earth from the North Pole to the South Pole. Earth spins on this invisible line!</a:t>
            </a:r>
            <a:endParaRPr lang="en-US" sz="1050" dirty="0"/>
          </a:p>
        </p:txBody>
      </p:sp>
      <p:sp>
        <p:nvSpPr>
          <p:cNvPr id="17" name="Shape 15"/>
          <p:cNvSpPr/>
          <p:nvPr/>
        </p:nvSpPr>
        <p:spPr>
          <a:xfrm>
            <a:off x="365760" y="2304288"/>
            <a:ext cx="11430000" cy="2468880"/>
          </a:xfrm>
          <a:prstGeom prst="roundRect">
            <a:avLst>
              <a:gd name="adj" fmla="val 2963"/>
            </a:avLst>
          </a:prstGeom>
          <a:solidFill>
            <a:srgbClr val="162233"/>
          </a:solidFill>
          <a:ln w="12700">
            <a:solidFill>
              <a:srgbClr val="4CC9F0"/>
            </a:solidFill>
            <a:prstDash val="solid"/>
          </a:ln>
        </p:spPr>
      </p:sp>
      <p:sp>
        <p:nvSpPr>
          <p:cNvPr id="18" name="Text 16"/>
          <p:cNvSpPr/>
          <p:nvPr/>
        </p:nvSpPr>
        <p:spPr>
          <a:xfrm>
            <a:off x="530352" y="2377440"/>
            <a:ext cx="11100816"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Connect These Words</a:t>
            </a:r>
            <a:endParaRPr lang="en-US" sz="1300" dirty="0"/>
          </a:p>
        </p:txBody>
      </p:sp>
      <p:sp>
        <p:nvSpPr>
          <p:cNvPr id="19" name="Text 17"/>
          <p:cNvSpPr/>
          <p:nvPr/>
        </p:nvSpPr>
        <p:spPr>
          <a:xfrm>
            <a:off x="530352" y="2743200"/>
            <a:ext cx="11100816" cy="192024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A basketball spinning on your finger is ROTATING. That same basketball moving around your head in a circle is REVOLVING.</a:t>
            </a:r>
            <a:endParaRPr lang="en-US" sz="1200" dirty="0"/>
          </a:p>
          <a:p>
            <a:pPr algn="l" indent="0" marL="0">
              <a:buNone/>
            </a:pPr>
            <a:endParaRPr lang="en-US" sz="1200" dirty="0"/>
          </a:p>
          <a:p>
            <a:pPr algn="l" indent="0" marL="0">
              <a:buNone/>
            </a:pPr>
            <a:r>
              <a:rPr lang="en-US" sz="1200" i="1" dirty="0">
                <a:solidFill>
                  <a:srgbClr val="FFFFFF"/>
                </a:solidFill>
                <a:latin typeface="Calibri" pitchFamily="34" charset="0"/>
                <a:ea typeface="Calibri" pitchFamily="34" charset="-122"/>
                <a:cs typeface="Calibri" pitchFamily="34" charset="-120"/>
              </a:rPr>
              <a:t>Turn to a partner: Can you act out the difference between rotate and revolve? Which movement do you think causes day and night? Which causes the year?</a:t>
            </a:r>
            <a:endParaRPr lang="en-US" sz="12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VOCABULARY — Earth's Movements: Set 2</a:t>
            </a:r>
            <a:endParaRPr lang="en-US" sz="1600" dirty="0"/>
          </a:p>
        </p:txBody>
      </p:sp>
      <p:sp>
        <p:nvSpPr>
          <p:cNvPr id="5" name="Shape 3"/>
          <p:cNvSpPr/>
          <p:nvPr/>
        </p:nvSpPr>
        <p:spPr>
          <a:xfrm>
            <a:off x="365760" y="713232"/>
            <a:ext cx="3566160" cy="1325880"/>
          </a:xfrm>
          <a:prstGeom prst="roundRect">
            <a:avLst>
              <a:gd name="adj" fmla="val 6897"/>
            </a:avLst>
          </a:prstGeom>
          <a:solidFill>
            <a:srgbClr val="1E2F45"/>
          </a:solidFill>
          <a:ln w="25400">
            <a:solidFill>
              <a:srgbClr val="F4736A"/>
            </a:solidFill>
            <a:prstDash val="solid"/>
          </a:ln>
        </p:spPr>
      </p:sp>
      <p:sp>
        <p:nvSpPr>
          <p:cNvPr id="6" name="Shape 4"/>
          <p:cNvSpPr/>
          <p:nvPr/>
        </p:nvSpPr>
        <p:spPr>
          <a:xfrm>
            <a:off x="365760" y="713232"/>
            <a:ext cx="3566160" cy="347472"/>
          </a:xfrm>
          <a:prstGeom prst="roundRect">
            <a:avLst>
              <a:gd name="adj" fmla="val 21053"/>
            </a:avLst>
          </a:prstGeom>
          <a:solidFill>
            <a:srgbClr val="F4736A"/>
          </a:solidFill>
          <a:ln w="12700">
            <a:solidFill>
              <a:srgbClr val="F4736A"/>
            </a:solidFill>
            <a:prstDash val="solid"/>
          </a:ln>
        </p:spPr>
      </p:sp>
      <p:sp>
        <p:nvSpPr>
          <p:cNvPr id="7" name="Text 5"/>
          <p:cNvSpPr/>
          <p:nvPr/>
        </p:nvSpPr>
        <p:spPr>
          <a:xfrm>
            <a:off x="457200" y="74066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Orbit</a:t>
            </a:r>
            <a:endParaRPr lang="en-US" sz="1200" dirty="0"/>
          </a:p>
        </p:txBody>
      </p:sp>
      <p:sp>
        <p:nvSpPr>
          <p:cNvPr id="8" name="Text 6"/>
          <p:cNvSpPr/>
          <p:nvPr/>
        </p:nvSpPr>
        <p:spPr>
          <a:xfrm>
            <a:off x="475488" y="111556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The path one object in space takes as it moves around another object — like the oval path Earth travels around the Sun.</a:t>
            </a:r>
            <a:endParaRPr lang="en-US" sz="1050" dirty="0"/>
          </a:p>
        </p:txBody>
      </p:sp>
      <p:sp>
        <p:nvSpPr>
          <p:cNvPr id="9" name="Shape 7"/>
          <p:cNvSpPr/>
          <p:nvPr/>
        </p:nvSpPr>
        <p:spPr>
          <a:xfrm>
            <a:off x="4114800" y="713232"/>
            <a:ext cx="3566160" cy="1325880"/>
          </a:xfrm>
          <a:prstGeom prst="roundRect">
            <a:avLst>
              <a:gd name="adj" fmla="val 6897"/>
            </a:avLst>
          </a:prstGeom>
          <a:solidFill>
            <a:srgbClr val="1E2F45"/>
          </a:solidFill>
          <a:ln w="25400">
            <a:solidFill>
              <a:srgbClr val="4CC9F0"/>
            </a:solidFill>
            <a:prstDash val="solid"/>
          </a:ln>
        </p:spPr>
      </p:sp>
      <p:sp>
        <p:nvSpPr>
          <p:cNvPr id="10" name="Shape 8"/>
          <p:cNvSpPr/>
          <p:nvPr/>
        </p:nvSpPr>
        <p:spPr>
          <a:xfrm>
            <a:off x="4114800" y="713232"/>
            <a:ext cx="3566160" cy="347472"/>
          </a:xfrm>
          <a:prstGeom prst="roundRect">
            <a:avLst>
              <a:gd name="adj" fmla="val 21053"/>
            </a:avLst>
          </a:prstGeom>
          <a:solidFill>
            <a:srgbClr val="4CC9F0"/>
          </a:solidFill>
          <a:ln w="12700">
            <a:solidFill>
              <a:srgbClr val="4CC9F0"/>
            </a:solidFill>
            <a:prstDash val="solid"/>
          </a:ln>
        </p:spPr>
      </p:sp>
      <p:sp>
        <p:nvSpPr>
          <p:cNvPr id="11" name="Text 9"/>
          <p:cNvSpPr/>
          <p:nvPr/>
        </p:nvSpPr>
        <p:spPr>
          <a:xfrm>
            <a:off x="4206240" y="74066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Hemisphere</a:t>
            </a:r>
            <a:endParaRPr lang="en-US" sz="1200" dirty="0"/>
          </a:p>
        </p:txBody>
      </p:sp>
      <p:sp>
        <p:nvSpPr>
          <p:cNvPr id="12" name="Text 10"/>
          <p:cNvSpPr/>
          <p:nvPr/>
        </p:nvSpPr>
        <p:spPr>
          <a:xfrm>
            <a:off x="4224528" y="111556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One half of a sphere. Earth is divided into the Northern and Southern Hemispheres — the top half and the bottom half!</a:t>
            </a:r>
            <a:endParaRPr lang="en-US" sz="1050" dirty="0"/>
          </a:p>
        </p:txBody>
      </p:sp>
      <p:sp>
        <p:nvSpPr>
          <p:cNvPr id="13" name="Shape 11"/>
          <p:cNvSpPr/>
          <p:nvPr/>
        </p:nvSpPr>
        <p:spPr>
          <a:xfrm>
            <a:off x="7863840" y="713232"/>
            <a:ext cx="3977640" cy="1325880"/>
          </a:xfrm>
          <a:prstGeom prst="roundRect">
            <a:avLst>
              <a:gd name="adj" fmla="val 6897"/>
            </a:avLst>
          </a:prstGeom>
          <a:solidFill>
            <a:srgbClr val="1E2F45"/>
          </a:solidFill>
          <a:ln w="25400">
            <a:solidFill>
              <a:srgbClr val="2DC653"/>
            </a:solidFill>
            <a:prstDash val="solid"/>
          </a:ln>
        </p:spPr>
      </p:sp>
      <p:sp>
        <p:nvSpPr>
          <p:cNvPr id="14" name="Shape 12"/>
          <p:cNvSpPr/>
          <p:nvPr/>
        </p:nvSpPr>
        <p:spPr>
          <a:xfrm>
            <a:off x="7863840" y="713232"/>
            <a:ext cx="3977640" cy="347472"/>
          </a:xfrm>
          <a:prstGeom prst="roundRect">
            <a:avLst>
              <a:gd name="adj" fmla="val 21053"/>
            </a:avLst>
          </a:prstGeom>
          <a:solidFill>
            <a:srgbClr val="2DC653"/>
          </a:solidFill>
          <a:ln w="12700">
            <a:solidFill>
              <a:srgbClr val="2DC653"/>
            </a:solidFill>
            <a:prstDash val="solid"/>
          </a:ln>
        </p:spPr>
      </p:sp>
      <p:sp>
        <p:nvSpPr>
          <p:cNvPr id="15" name="Text 13"/>
          <p:cNvSpPr/>
          <p:nvPr/>
        </p:nvSpPr>
        <p:spPr>
          <a:xfrm>
            <a:off x="7955280" y="740664"/>
            <a:ext cx="37947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Navigate</a:t>
            </a:r>
            <a:endParaRPr lang="en-US" sz="1200" dirty="0"/>
          </a:p>
        </p:txBody>
      </p:sp>
      <p:sp>
        <p:nvSpPr>
          <p:cNvPr id="16" name="Text 14"/>
          <p:cNvSpPr/>
          <p:nvPr/>
        </p:nvSpPr>
        <p:spPr>
          <a:xfrm>
            <a:off x="7973568" y="1115568"/>
            <a:ext cx="37581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To find the way to a place, often using tools like maps, the stars, or knowledge of Earth's movements.</a:t>
            </a:r>
            <a:endParaRPr lang="en-US" sz="1050" dirty="0"/>
          </a:p>
        </p:txBody>
      </p:sp>
      <p:sp>
        <p:nvSpPr>
          <p:cNvPr id="17" name="Shape 15"/>
          <p:cNvSpPr/>
          <p:nvPr/>
        </p:nvSpPr>
        <p:spPr>
          <a:xfrm>
            <a:off x="365760" y="2304288"/>
            <a:ext cx="11430000" cy="2468880"/>
          </a:xfrm>
          <a:prstGeom prst="roundRect">
            <a:avLst>
              <a:gd name="adj" fmla="val 2963"/>
            </a:avLst>
          </a:prstGeom>
          <a:solidFill>
            <a:srgbClr val="162233"/>
          </a:solidFill>
          <a:ln w="12700">
            <a:solidFill>
              <a:srgbClr val="FFB703"/>
            </a:solidFill>
            <a:prstDash val="solid"/>
          </a:ln>
        </p:spPr>
      </p:sp>
      <p:sp>
        <p:nvSpPr>
          <p:cNvPr id="18" name="Text 16"/>
          <p:cNvSpPr/>
          <p:nvPr/>
        </p:nvSpPr>
        <p:spPr>
          <a:xfrm>
            <a:off x="530352" y="237744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Think About Hemispheres</a:t>
            </a:r>
            <a:endParaRPr lang="en-US" sz="1300" dirty="0"/>
          </a:p>
        </p:txBody>
      </p:sp>
      <p:sp>
        <p:nvSpPr>
          <p:cNvPr id="19" name="Text 17"/>
          <p:cNvSpPr/>
          <p:nvPr/>
        </p:nvSpPr>
        <p:spPr>
          <a:xfrm>
            <a:off x="530352" y="2743200"/>
            <a:ext cx="11100816" cy="192024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The Northern and Southern Hemispheres have OPPOSITE seasons! When it's summer in the USA, it's winter in Australia.</a:t>
            </a:r>
            <a:endParaRPr lang="en-US" sz="1200" dirty="0"/>
          </a:p>
          <a:p>
            <a:pPr algn="l" indent="0" marL="0">
              <a:buNone/>
            </a:pPr>
            <a:endParaRPr lang="en-US" sz="1200" dirty="0"/>
          </a:p>
          <a:p>
            <a:pPr algn="l" indent="0" marL="0">
              <a:buNone/>
            </a:pPr>
            <a:r>
              <a:rPr lang="en-US" sz="1200" i="1" dirty="0">
                <a:solidFill>
                  <a:srgbClr val="FFFFFF"/>
                </a:solidFill>
                <a:latin typeface="Calibri" pitchFamily="34" charset="0"/>
                <a:ea typeface="Calibri" pitchFamily="34" charset="-122"/>
                <a:cs typeface="Calibri" pitchFamily="34" charset="-120"/>
              </a:rPr>
              <a:t>Before we learn why: "I predict this happens because ___. My evidence from what I already know is ___."</a:t>
            </a:r>
            <a:endParaRPr lang="en-US" sz="12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EXPLORE — Earth's Two Movements</a:t>
            </a:r>
            <a:endParaRPr lang="en-US" sz="1600" dirty="0"/>
          </a:p>
        </p:txBody>
      </p:sp>
      <p:sp>
        <p:nvSpPr>
          <p:cNvPr id="5" name="Shape 3"/>
          <p:cNvSpPr/>
          <p:nvPr/>
        </p:nvSpPr>
        <p:spPr>
          <a:xfrm>
            <a:off x="365760" y="713232"/>
            <a:ext cx="5394960" cy="5029200"/>
          </a:xfrm>
          <a:prstGeom prst="roundRect">
            <a:avLst>
              <a:gd name="adj" fmla="val 1455"/>
            </a:avLst>
          </a:prstGeom>
          <a:solidFill>
            <a:srgbClr val="1E2F45"/>
          </a:solidFill>
          <a:ln w="12700">
            <a:solidFill>
              <a:srgbClr val="4CC9F0"/>
            </a:solidFill>
            <a:prstDash val="solid"/>
          </a:ln>
        </p:spPr>
      </p:sp>
      <p:sp>
        <p:nvSpPr>
          <p:cNvPr id="6" name="Text 4"/>
          <p:cNvSpPr/>
          <p:nvPr/>
        </p:nvSpPr>
        <p:spPr>
          <a:xfrm>
            <a:off x="548640" y="804672"/>
            <a:ext cx="5029200" cy="384048"/>
          </a:xfrm>
          <a:prstGeom prst="rect">
            <a:avLst/>
          </a:prstGeom>
          <a:noFill/>
          <a:ln/>
        </p:spPr>
        <p:txBody>
          <a:bodyPr wrap="square" rtlCol="0" anchor="ctr"/>
          <a:lstStyle/>
          <a:p>
            <a:pPr indent="0" marL="0">
              <a:buNone/>
            </a:pPr>
            <a:r>
              <a:rPr lang="en-US" sz="1400" b="1" dirty="0">
                <a:solidFill>
                  <a:srgbClr val="4CC9F0"/>
                </a:solidFill>
                <a:latin typeface="Calibri" pitchFamily="34" charset="0"/>
                <a:ea typeface="Calibri" pitchFamily="34" charset="-122"/>
                <a:cs typeface="Calibri" pitchFamily="34" charset="-120"/>
              </a:rPr>
              <a:t>ROTATION — Spin</a:t>
            </a:r>
            <a:endParaRPr lang="en-US" sz="1400" dirty="0"/>
          </a:p>
        </p:txBody>
      </p:sp>
      <p:sp>
        <p:nvSpPr>
          <p:cNvPr id="7" name="Text 5"/>
          <p:cNvSpPr/>
          <p:nvPr/>
        </p:nvSpPr>
        <p:spPr>
          <a:xfrm>
            <a:off x="548640" y="1207008"/>
            <a:ext cx="5029200" cy="24688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Earth spins on its axis like a top.</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One full spin = 24 hours = 1 DAY</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Causes: day and night</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The side facing the Sun = daytime</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The side away from the Sun = nighttime</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The Sun appears to 'rise' in the east every morning because Earth spins eastward!</a:t>
            </a:r>
            <a:endParaRPr lang="en-US" sz="1150" dirty="0"/>
          </a:p>
        </p:txBody>
      </p:sp>
      <p:sp>
        <p:nvSpPr>
          <p:cNvPr id="8" name="Shape 6"/>
          <p:cNvSpPr/>
          <p:nvPr/>
        </p:nvSpPr>
        <p:spPr>
          <a:xfrm>
            <a:off x="548640" y="3749040"/>
            <a:ext cx="5029200" cy="1508760"/>
          </a:xfrm>
          <a:prstGeom prst="roundRect">
            <a:avLst>
              <a:gd name="adj" fmla="val 4848"/>
            </a:avLst>
          </a:prstGeom>
          <a:solidFill>
            <a:srgbClr val="0A1520"/>
          </a:solidFill>
          <a:ln w="19050">
            <a:solidFill>
              <a:srgbClr val="4CC9F0"/>
            </a:solidFill>
            <a:prstDash val="dash"/>
          </a:ln>
        </p:spPr>
      </p:sp>
      <p:sp>
        <p:nvSpPr>
          <p:cNvPr id="9" name="Text 7"/>
          <p:cNvSpPr/>
          <p:nvPr/>
        </p:nvSpPr>
        <p:spPr>
          <a:xfrm>
            <a:off x="640080" y="3858768"/>
            <a:ext cx="48463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640080" y="4297680"/>
            <a:ext cx="48463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1" name="Text 9"/>
          <p:cNvSpPr/>
          <p:nvPr/>
        </p:nvSpPr>
        <p:spPr>
          <a:xfrm>
            <a:off x="658368" y="4590288"/>
            <a:ext cx="4809744" cy="4572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"Earth rotation axis day night diagram labeled poles"</a:t>
            </a:r>
            <a:endParaRPr lang="en-US" sz="950" dirty="0"/>
          </a:p>
        </p:txBody>
      </p:sp>
      <p:sp>
        <p:nvSpPr>
          <p:cNvPr id="12" name="Text 10"/>
          <p:cNvSpPr/>
          <p:nvPr/>
        </p:nvSpPr>
        <p:spPr>
          <a:xfrm>
            <a:off x="548640" y="5294376"/>
            <a:ext cx="50292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Earth rotating on its tilted axis — creating day and night</a:t>
            </a:r>
            <a:endParaRPr lang="en-US" sz="900" dirty="0"/>
          </a:p>
        </p:txBody>
      </p:sp>
      <p:sp>
        <p:nvSpPr>
          <p:cNvPr id="13" name="Shape 11"/>
          <p:cNvSpPr/>
          <p:nvPr/>
        </p:nvSpPr>
        <p:spPr>
          <a:xfrm>
            <a:off x="6035040" y="713232"/>
            <a:ext cx="5806440" cy="5029200"/>
          </a:xfrm>
          <a:prstGeom prst="roundRect">
            <a:avLst>
              <a:gd name="adj" fmla="val 1455"/>
            </a:avLst>
          </a:prstGeom>
          <a:solidFill>
            <a:srgbClr val="1E2F45"/>
          </a:solidFill>
          <a:ln w="12700">
            <a:solidFill>
              <a:srgbClr val="2DC653"/>
            </a:solidFill>
            <a:prstDash val="solid"/>
          </a:ln>
        </p:spPr>
      </p:sp>
      <p:sp>
        <p:nvSpPr>
          <p:cNvPr id="14" name="Text 12"/>
          <p:cNvSpPr/>
          <p:nvPr/>
        </p:nvSpPr>
        <p:spPr>
          <a:xfrm>
            <a:off x="6217920" y="804672"/>
            <a:ext cx="5440680" cy="384048"/>
          </a:xfrm>
          <a:prstGeom prst="rect">
            <a:avLst/>
          </a:prstGeom>
          <a:noFill/>
          <a:ln/>
        </p:spPr>
        <p:txBody>
          <a:bodyPr wrap="square" rtlCol="0" anchor="ctr"/>
          <a:lstStyle/>
          <a:p>
            <a:pPr indent="0" marL="0">
              <a:buNone/>
            </a:pPr>
            <a:r>
              <a:rPr lang="en-US" sz="1400" b="1" dirty="0">
                <a:solidFill>
                  <a:srgbClr val="2DC653"/>
                </a:solidFill>
                <a:latin typeface="Calibri" pitchFamily="34" charset="0"/>
                <a:ea typeface="Calibri" pitchFamily="34" charset="-122"/>
                <a:cs typeface="Calibri" pitchFamily="34" charset="-120"/>
              </a:rPr>
              <a:t>REVOLUTION — Orbit</a:t>
            </a:r>
            <a:endParaRPr lang="en-US" sz="1400" dirty="0"/>
          </a:p>
        </p:txBody>
      </p:sp>
      <p:sp>
        <p:nvSpPr>
          <p:cNvPr id="15" name="Text 13"/>
          <p:cNvSpPr/>
          <p:nvPr/>
        </p:nvSpPr>
        <p:spPr>
          <a:xfrm>
            <a:off x="6217920" y="1207008"/>
            <a:ext cx="5440680" cy="246888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Earth travels around the Sun in an oval orbit.</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One full trip = 365 days = 1 YEAR</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Causes: our calendar year</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Combined with tilt = seasons!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Earth travels at ~67,000 mph</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Earth does BOTH at the same time — like a basketball spinning on your finger while it moves around the room!</a:t>
            </a:r>
            <a:endParaRPr lang="en-US" sz="1150" dirty="0"/>
          </a:p>
        </p:txBody>
      </p:sp>
      <p:sp>
        <p:nvSpPr>
          <p:cNvPr id="16" name="Shape 14"/>
          <p:cNvSpPr/>
          <p:nvPr/>
        </p:nvSpPr>
        <p:spPr>
          <a:xfrm>
            <a:off x="6217920" y="3749040"/>
            <a:ext cx="5440680" cy="1508760"/>
          </a:xfrm>
          <a:prstGeom prst="roundRect">
            <a:avLst>
              <a:gd name="adj" fmla="val 4848"/>
            </a:avLst>
          </a:prstGeom>
          <a:solidFill>
            <a:srgbClr val="0A1520"/>
          </a:solidFill>
          <a:ln w="19050">
            <a:solidFill>
              <a:srgbClr val="4CC9F0"/>
            </a:solidFill>
            <a:prstDash val="dash"/>
          </a:ln>
        </p:spPr>
      </p:sp>
      <p:sp>
        <p:nvSpPr>
          <p:cNvPr id="17" name="Text 15"/>
          <p:cNvSpPr/>
          <p:nvPr/>
        </p:nvSpPr>
        <p:spPr>
          <a:xfrm>
            <a:off x="6309360" y="3858768"/>
            <a:ext cx="52578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6309360" y="4297680"/>
            <a:ext cx="525780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9" name="Text 17"/>
          <p:cNvSpPr/>
          <p:nvPr/>
        </p:nvSpPr>
        <p:spPr>
          <a:xfrm>
            <a:off x="6327648" y="4590288"/>
            <a:ext cx="5221224" cy="45720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"Earth orbit around Sun elliptical path diagram labeled revolution"</a:t>
            </a:r>
            <a:endParaRPr lang="en-US" sz="950" dirty="0"/>
          </a:p>
        </p:txBody>
      </p:sp>
      <p:sp>
        <p:nvSpPr>
          <p:cNvPr id="20" name="Text 18"/>
          <p:cNvSpPr/>
          <p:nvPr/>
        </p:nvSpPr>
        <p:spPr>
          <a:xfrm>
            <a:off x="6217920" y="5294376"/>
            <a:ext cx="544068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Earth's orbit around the Sun — one complete trip = one year</a:t>
            </a:r>
            <a:endParaRPr lang="en-US" sz="9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INTERACTIVE — Earth's Three Key Movements Work Together</a:t>
            </a:r>
            <a:endParaRPr lang="en-US" sz="1600" dirty="0"/>
          </a:p>
        </p:txBody>
      </p:sp>
      <p:sp>
        <p:nvSpPr>
          <p:cNvPr id="5" name="Shape 3"/>
          <p:cNvSpPr/>
          <p:nvPr/>
        </p:nvSpPr>
        <p:spPr>
          <a:xfrm>
            <a:off x="365760" y="713232"/>
            <a:ext cx="3657600" cy="3840480"/>
          </a:xfrm>
          <a:prstGeom prst="roundRect">
            <a:avLst>
              <a:gd name="adj" fmla="val 2000"/>
            </a:avLst>
          </a:prstGeom>
          <a:solidFill>
            <a:srgbClr val="1E2F45"/>
          </a:solidFill>
          <a:ln w="25400">
            <a:solidFill>
              <a:srgbClr val="4CC9F0"/>
            </a:solidFill>
            <a:prstDash val="solid"/>
          </a:ln>
        </p:spPr>
      </p:sp>
      <p:sp>
        <p:nvSpPr>
          <p:cNvPr id="6" name="Text 4"/>
          <p:cNvSpPr/>
          <p:nvPr/>
        </p:nvSpPr>
        <p:spPr>
          <a:xfrm>
            <a:off x="457200" y="804672"/>
            <a:ext cx="3474720" cy="411480"/>
          </a:xfrm>
          <a:prstGeom prst="rect">
            <a:avLst/>
          </a:prstGeom>
          <a:noFill/>
          <a:ln/>
        </p:spPr>
        <p:txBody>
          <a:bodyPr wrap="square" rtlCol="0" anchor="ctr"/>
          <a:lstStyle/>
          <a:p>
            <a:pPr algn="ctr" indent="0" marL="0">
              <a:buNone/>
            </a:pPr>
            <a:r>
              <a:rPr lang="en-US" sz="1500" b="1" dirty="0">
                <a:solidFill>
                  <a:srgbClr val="4CC9F0"/>
                </a:solidFill>
                <a:latin typeface="Calibri" pitchFamily="34" charset="0"/>
                <a:ea typeface="Calibri" pitchFamily="34" charset="-122"/>
                <a:cs typeface="Calibri" pitchFamily="34" charset="-120"/>
              </a:rPr>
              <a:t>ROTATION</a:t>
            </a:r>
            <a:endParaRPr lang="en-US" sz="1500" dirty="0"/>
          </a:p>
        </p:txBody>
      </p:sp>
      <p:sp>
        <p:nvSpPr>
          <p:cNvPr id="7" name="Text 5"/>
          <p:cNvSpPr/>
          <p:nvPr/>
        </p:nvSpPr>
        <p:spPr>
          <a:xfrm>
            <a:off x="457200" y="1234440"/>
            <a:ext cx="34747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24 hours = 1 Day</a:t>
            </a:r>
            <a:endParaRPr lang="en-US" sz="1200" dirty="0"/>
          </a:p>
        </p:txBody>
      </p:sp>
      <p:sp>
        <p:nvSpPr>
          <p:cNvPr id="8" name="Text 6"/>
          <p:cNvSpPr/>
          <p:nvPr/>
        </p:nvSpPr>
        <p:spPr>
          <a:xfrm>
            <a:off x="457200" y="1691640"/>
            <a:ext cx="3474720" cy="2743200"/>
          </a:xfrm>
          <a:prstGeom prst="rect">
            <a:avLst/>
          </a:prstGeom>
          <a:noFill/>
          <a:ln/>
        </p:spPr>
        <p:txBody>
          <a:bodyPr wrap="square" rtlCol="0" anchor="t"/>
          <a:lstStyle/>
          <a:p>
            <a:pPr indent="0" marL="0">
              <a:buNone/>
            </a:pPr>
            <a:r>
              <a:rPr lang="en-US" sz="1150" dirty="0">
                <a:solidFill>
                  <a:srgbClr val="B0C4D8"/>
                </a:solidFill>
                <a:latin typeface="Calibri" pitchFamily="34" charset="0"/>
                <a:ea typeface="Calibri" pitchFamily="34" charset="-122"/>
                <a:cs typeface="Calibri" pitchFamily="34" charset="-120"/>
              </a:rPr>
              <a:t>Earth spins on its axis. One full spin = 24 hours. This gives us day and night!</a:t>
            </a:r>
            <a:endParaRPr lang="en-US" sz="1150" dirty="0"/>
          </a:p>
        </p:txBody>
      </p:sp>
      <p:sp>
        <p:nvSpPr>
          <p:cNvPr id="9" name="Shape 7"/>
          <p:cNvSpPr/>
          <p:nvPr/>
        </p:nvSpPr>
        <p:spPr>
          <a:xfrm>
            <a:off x="4297680" y="713232"/>
            <a:ext cx="3657600" cy="3840480"/>
          </a:xfrm>
          <a:prstGeom prst="roundRect">
            <a:avLst>
              <a:gd name="adj" fmla="val 2000"/>
            </a:avLst>
          </a:prstGeom>
          <a:solidFill>
            <a:srgbClr val="1E2F45"/>
          </a:solidFill>
          <a:ln w="25400">
            <a:solidFill>
              <a:srgbClr val="2DC653"/>
            </a:solidFill>
            <a:prstDash val="solid"/>
          </a:ln>
        </p:spPr>
      </p:sp>
      <p:sp>
        <p:nvSpPr>
          <p:cNvPr id="10" name="Text 8"/>
          <p:cNvSpPr/>
          <p:nvPr/>
        </p:nvSpPr>
        <p:spPr>
          <a:xfrm>
            <a:off x="4389120" y="804672"/>
            <a:ext cx="3474720" cy="411480"/>
          </a:xfrm>
          <a:prstGeom prst="rect">
            <a:avLst/>
          </a:prstGeom>
          <a:noFill/>
          <a:ln/>
        </p:spPr>
        <p:txBody>
          <a:bodyPr wrap="square" rtlCol="0" anchor="ctr"/>
          <a:lstStyle/>
          <a:p>
            <a:pPr algn="ctr" indent="0" marL="0">
              <a:buNone/>
            </a:pPr>
            <a:r>
              <a:rPr lang="en-US" sz="1500" b="1" dirty="0">
                <a:solidFill>
                  <a:srgbClr val="2DC653"/>
                </a:solidFill>
                <a:latin typeface="Calibri" pitchFamily="34" charset="0"/>
                <a:ea typeface="Calibri" pitchFamily="34" charset="-122"/>
                <a:cs typeface="Calibri" pitchFamily="34" charset="-120"/>
              </a:rPr>
              <a:t>REVOLUTION</a:t>
            </a:r>
            <a:endParaRPr lang="en-US" sz="1500" dirty="0"/>
          </a:p>
        </p:txBody>
      </p:sp>
      <p:sp>
        <p:nvSpPr>
          <p:cNvPr id="11" name="Text 9"/>
          <p:cNvSpPr/>
          <p:nvPr/>
        </p:nvSpPr>
        <p:spPr>
          <a:xfrm>
            <a:off x="4389120" y="1234440"/>
            <a:ext cx="34747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365 days = 1 Year</a:t>
            </a:r>
            <a:endParaRPr lang="en-US" sz="1200" dirty="0"/>
          </a:p>
        </p:txBody>
      </p:sp>
      <p:sp>
        <p:nvSpPr>
          <p:cNvPr id="12" name="Text 10"/>
          <p:cNvSpPr/>
          <p:nvPr/>
        </p:nvSpPr>
        <p:spPr>
          <a:xfrm>
            <a:off x="4389120" y="1691640"/>
            <a:ext cx="3474720" cy="2743200"/>
          </a:xfrm>
          <a:prstGeom prst="rect">
            <a:avLst/>
          </a:prstGeom>
          <a:noFill/>
          <a:ln/>
        </p:spPr>
        <p:txBody>
          <a:bodyPr wrap="square" rtlCol="0" anchor="t"/>
          <a:lstStyle/>
          <a:p>
            <a:pPr indent="0" marL="0">
              <a:buNone/>
            </a:pPr>
            <a:r>
              <a:rPr lang="en-US" sz="1150" dirty="0">
                <a:solidFill>
                  <a:srgbClr val="B0C4D8"/>
                </a:solidFill>
                <a:latin typeface="Calibri" pitchFamily="34" charset="0"/>
                <a:ea typeface="Calibri" pitchFamily="34" charset="-122"/>
                <a:cs typeface="Calibri" pitchFamily="34" charset="-120"/>
              </a:rPr>
              <a:t>Earth travels around the Sun in an oval orbit. One full trip = 365 days (one year)!</a:t>
            </a:r>
            <a:endParaRPr lang="en-US" sz="1150" dirty="0"/>
          </a:p>
        </p:txBody>
      </p:sp>
      <p:sp>
        <p:nvSpPr>
          <p:cNvPr id="13" name="Shape 11"/>
          <p:cNvSpPr/>
          <p:nvPr/>
        </p:nvSpPr>
        <p:spPr>
          <a:xfrm>
            <a:off x="8229600" y="713232"/>
            <a:ext cx="3657600" cy="3840480"/>
          </a:xfrm>
          <a:prstGeom prst="roundRect">
            <a:avLst>
              <a:gd name="adj" fmla="val 2000"/>
            </a:avLst>
          </a:prstGeom>
          <a:solidFill>
            <a:srgbClr val="1E2F45"/>
          </a:solidFill>
          <a:ln w="25400">
            <a:solidFill>
              <a:srgbClr val="FFB703"/>
            </a:solidFill>
            <a:prstDash val="solid"/>
          </a:ln>
        </p:spPr>
      </p:sp>
      <p:sp>
        <p:nvSpPr>
          <p:cNvPr id="14" name="Text 12"/>
          <p:cNvSpPr/>
          <p:nvPr/>
        </p:nvSpPr>
        <p:spPr>
          <a:xfrm>
            <a:off x="8321040" y="804672"/>
            <a:ext cx="3474720" cy="411480"/>
          </a:xfrm>
          <a:prstGeom prst="rect">
            <a:avLst/>
          </a:prstGeom>
          <a:noFill/>
          <a:ln/>
        </p:spPr>
        <p:txBody>
          <a:bodyPr wrap="square" rtlCol="0" anchor="ctr"/>
          <a:lstStyle/>
          <a:p>
            <a:pPr algn="ctr" indent="0" marL="0">
              <a:buNone/>
            </a:pPr>
            <a:r>
              <a:rPr lang="en-US" sz="1500" b="1" dirty="0">
                <a:solidFill>
                  <a:srgbClr val="FFB703"/>
                </a:solidFill>
                <a:latin typeface="Calibri" pitchFamily="34" charset="0"/>
                <a:ea typeface="Calibri" pitchFamily="34" charset="-122"/>
                <a:cs typeface="Calibri" pitchFamily="34" charset="-120"/>
              </a:rPr>
              <a:t>THE TILT</a:t>
            </a:r>
            <a:endParaRPr lang="en-US" sz="1500" dirty="0"/>
          </a:p>
        </p:txBody>
      </p:sp>
      <p:sp>
        <p:nvSpPr>
          <p:cNvPr id="15" name="Text 13"/>
          <p:cNvSpPr/>
          <p:nvPr/>
        </p:nvSpPr>
        <p:spPr>
          <a:xfrm>
            <a:off x="8321040" y="1234440"/>
            <a:ext cx="347472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23.5 degrees</a:t>
            </a:r>
            <a:endParaRPr lang="en-US" sz="1200" dirty="0"/>
          </a:p>
        </p:txBody>
      </p:sp>
      <p:sp>
        <p:nvSpPr>
          <p:cNvPr id="16" name="Text 14"/>
          <p:cNvSpPr/>
          <p:nvPr/>
        </p:nvSpPr>
        <p:spPr>
          <a:xfrm>
            <a:off x="8321040" y="1691640"/>
            <a:ext cx="3474720" cy="2743200"/>
          </a:xfrm>
          <a:prstGeom prst="rect">
            <a:avLst/>
          </a:prstGeom>
          <a:noFill/>
          <a:ln/>
        </p:spPr>
        <p:txBody>
          <a:bodyPr wrap="square" rtlCol="0" anchor="t"/>
          <a:lstStyle/>
          <a:p>
            <a:pPr indent="0" marL="0">
              <a:buNone/>
            </a:pPr>
            <a:r>
              <a:rPr lang="en-US" sz="1150" dirty="0">
                <a:solidFill>
                  <a:srgbClr val="B0C4D8"/>
                </a:solidFill>
                <a:latin typeface="Calibri" pitchFamily="34" charset="0"/>
                <a:ea typeface="Calibri" pitchFamily="34" charset="-122"/>
                <a:cs typeface="Calibri" pitchFamily="34" charset="-120"/>
              </a:rPr>
              <a:t>Earth's axis is tilted 23.5 degrees and ALWAYS tilts the same direction. This tilt + revolution = four seasons!</a:t>
            </a:r>
            <a:endParaRPr lang="en-US" sz="1150" dirty="0"/>
          </a:p>
        </p:txBody>
      </p:sp>
      <p:sp>
        <p:nvSpPr>
          <p:cNvPr id="17" name="Shape 15"/>
          <p:cNvSpPr/>
          <p:nvPr/>
        </p:nvSpPr>
        <p:spPr>
          <a:xfrm>
            <a:off x="365760" y="4663440"/>
            <a:ext cx="11430000" cy="1463040"/>
          </a:xfrm>
          <a:prstGeom prst="roundRect">
            <a:avLst>
              <a:gd name="adj" fmla="val 5000"/>
            </a:avLst>
          </a:prstGeom>
          <a:solidFill>
            <a:srgbClr val="132040"/>
          </a:solidFill>
          <a:ln w="12700">
            <a:solidFill>
              <a:srgbClr val="FFB703"/>
            </a:solidFill>
            <a:prstDash val="solid"/>
          </a:ln>
        </p:spPr>
      </p:sp>
      <p:sp>
        <p:nvSpPr>
          <p:cNvPr id="18" name="Text 16"/>
          <p:cNvSpPr/>
          <p:nvPr/>
        </p:nvSpPr>
        <p:spPr>
          <a:xfrm>
            <a:off x="548640" y="4736592"/>
            <a:ext cx="109728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Predict Before the Reveal:</a:t>
            </a:r>
            <a:endParaRPr lang="en-US" sz="1200" dirty="0"/>
          </a:p>
        </p:txBody>
      </p:sp>
      <p:sp>
        <p:nvSpPr>
          <p:cNvPr id="19" name="Text 17"/>
          <p:cNvSpPr/>
          <p:nvPr/>
        </p:nvSpPr>
        <p:spPr>
          <a:xfrm>
            <a:off x="548640" y="5102352"/>
            <a:ext cx="10972800" cy="896112"/>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"What do you think would happen to seasons if Earth's axis were perfectly straight up and down — NO tilt at all? Write: 'I predict ___ because ___.'"</a:t>
            </a:r>
            <a:endParaRPr lang="en-US" sz="12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DIAGRAM — Earth's Orbit &amp; the Four Seasons</a:t>
            </a:r>
            <a:endParaRPr lang="en-US" sz="1600" dirty="0"/>
          </a:p>
        </p:txBody>
      </p:sp>
      <p:sp>
        <p:nvSpPr>
          <p:cNvPr id="5" name="Shape 3"/>
          <p:cNvSpPr/>
          <p:nvPr/>
        </p:nvSpPr>
        <p:spPr>
          <a:xfrm>
            <a:off x="365760" y="713232"/>
            <a:ext cx="6858000" cy="5029200"/>
          </a:xfrm>
          <a:prstGeom prst="roundRect">
            <a:avLst>
              <a:gd name="adj" fmla="val 1455"/>
            </a:avLst>
          </a:prstGeom>
          <a:solidFill>
            <a:srgbClr val="0A1520"/>
          </a:solidFill>
          <a:ln w="19050">
            <a:solidFill>
              <a:srgbClr val="4CC9F0"/>
            </a:solidFill>
            <a:prstDash val="dash"/>
          </a:ln>
        </p:spPr>
      </p:sp>
      <p:sp>
        <p:nvSpPr>
          <p:cNvPr id="6" name="Text 4"/>
          <p:cNvSpPr/>
          <p:nvPr/>
        </p:nvSpPr>
        <p:spPr>
          <a:xfrm>
            <a:off x="457200" y="822960"/>
            <a:ext cx="66751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61872"/>
            <a:ext cx="66751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54480"/>
            <a:ext cx="663854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"Earth orbit seasons diagram four seasons tilt axis summer winter spring fall"</a:t>
            </a:r>
            <a:endParaRPr lang="en-US" sz="950" dirty="0"/>
          </a:p>
        </p:txBody>
      </p:sp>
      <p:sp>
        <p:nvSpPr>
          <p:cNvPr id="9" name="Text 7"/>
          <p:cNvSpPr/>
          <p:nvPr/>
        </p:nvSpPr>
        <p:spPr>
          <a:xfrm>
            <a:off x="365760" y="5779008"/>
            <a:ext cx="68580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Earth's tilted axis stays pointed the same direction all year — creating seasons</a:t>
            </a:r>
            <a:endParaRPr lang="en-US" sz="900" dirty="0"/>
          </a:p>
        </p:txBody>
      </p:sp>
      <p:sp>
        <p:nvSpPr>
          <p:cNvPr id="10" name="Shape 8"/>
          <p:cNvSpPr/>
          <p:nvPr/>
        </p:nvSpPr>
        <p:spPr>
          <a:xfrm>
            <a:off x="7406640" y="713232"/>
            <a:ext cx="4754880" cy="5029200"/>
          </a:xfrm>
          <a:prstGeom prst="roundRect">
            <a:avLst>
              <a:gd name="adj" fmla="val 1538"/>
            </a:avLst>
          </a:prstGeom>
          <a:solidFill>
            <a:srgbClr val="1E2F45"/>
          </a:solidFill>
          <a:ln w="12700">
            <a:solidFill>
              <a:srgbClr val="2DC653"/>
            </a:solidFill>
            <a:prstDash val="solid"/>
          </a:ln>
        </p:spPr>
      </p:sp>
      <p:sp>
        <p:nvSpPr>
          <p:cNvPr id="11" name="Text 9"/>
          <p:cNvSpPr/>
          <p:nvPr/>
        </p:nvSpPr>
        <p:spPr>
          <a:xfrm>
            <a:off x="7589520" y="804672"/>
            <a:ext cx="438912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How to Read the Diagram</a:t>
            </a:r>
            <a:endParaRPr lang="en-US" sz="1200" dirty="0"/>
          </a:p>
        </p:txBody>
      </p:sp>
      <p:sp>
        <p:nvSpPr>
          <p:cNvPr id="12" name="Text 10"/>
          <p:cNvSpPr/>
          <p:nvPr/>
        </p:nvSpPr>
        <p:spPr>
          <a:xfrm>
            <a:off x="7589520" y="1188720"/>
            <a:ext cx="4389120" cy="43891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SUMMER — Northern Hemisphere tilts TOWARD the Sun. More direct sunlight = more heat.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FALL — Transitioning. Neither hemisphere tilts directly toward Sun.</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WINTER — Northern Hemisphere tilts AWAY from Sun. Less direct sunlight = less heat.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SPRING — Transitioning again. Balance of light.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KEY: Earth's axis ALWAYS tilts the same direction in space!</a:t>
            </a:r>
            <a:endParaRPr lang="en-US" sz="110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EXPLORE — Opposite Hemispheres: Why Australia Has Winter in July</a:t>
            </a:r>
            <a:endParaRPr lang="en-US" sz="1600" dirty="0"/>
          </a:p>
        </p:txBody>
      </p:sp>
      <p:sp>
        <p:nvSpPr>
          <p:cNvPr id="5" name="Shape 3"/>
          <p:cNvSpPr/>
          <p:nvPr/>
        </p:nvSpPr>
        <p:spPr>
          <a:xfrm>
            <a:off x="365760" y="713232"/>
            <a:ext cx="5394960" cy="5029200"/>
          </a:xfrm>
          <a:prstGeom prst="roundRect">
            <a:avLst>
              <a:gd name="adj" fmla="val 1455"/>
            </a:avLst>
          </a:prstGeom>
          <a:solidFill>
            <a:srgbClr val="1E2F45"/>
          </a:solidFill>
          <a:ln w="12700">
            <a:solidFill>
              <a:srgbClr val="4CC9F0"/>
            </a:solidFill>
            <a:prstDash val="solid"/>
          </a:ln>
        </p:spPr>
      </p:sp>
      <p:sp>
        <p:nvSpPr>
          <p:cNvPr id="6" name="Text 4"/>
          <p:cNvSpPr/>
          <p:nvPr/>
        </p:nvSpPr>
        <p:spPr>
          <a:xfrm>
            <a:off x="548640" y="804672"/>
            <a:ext cx="502920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Northern Hemisphere — SUMMER in June</a:t>
            </a:r>
            <a:endParaRPr lang="en-US" sz="1200" dirty="0"/>
          </a:p>
        </p:txBody>
      </p:sp>
      <p:sp>
        <p:nvSpPr>
          <p:cNvPr id="7" name="Text 5"/>
          <p:cNvSpPr/>
          <p:nvPr/>
        </p:nvSpPr>
        <p:spPr>
          <a:xfrm>
            <a:off x="548640" y="1207008"/>
            <a:ext cx="5029200" cy="43891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When the Northern Hemisphere tilts toward the Sun: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USA, Canada, Europe = SUMMER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More direct sunlight hits the top half of Earth</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Days are longer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It's warm or hot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At the SAME time, the Southern Hemisphere is tilted AWAY — so Brazil and Australia are having WINTER!</a:t>
            </a:r>
            <a:endParaRPr lang="en-US" sz="1100" dirty="0"/>
          </a:p>
        </p:txBody>
      </p:sp>
      <p:sp>
        <p:nvSpPr>
          <p:cNvPr id="8" name="Shape 6"/>
          <p:cNvSpPr/>
          <p:nvPr/>
        </p:nvSpPr>
        <p:spPr>
          <a:xfrm>
            <a:off x="6035040" y="713232"/>
            <a:ext cx="5806440" cy="5029200"/>
          </a:xfrm>
          <a:prstGeom prst="roundRect">
            <a:avLst>
              <a:gd name="adj" fmla="val 1455"/>
            </a:avLst>
          </a:prstGeom>
          <a:solidFill>
            <a:srgbClr val="1E2F45"/>
          </a:solidFill>
          <a:ln w="12700">
            <a:solidFill>
              <a:srgbClr val="FFB703"/>
            </a:solidFill>
            <a:prstDash val="solid"/>
          </a:ln>
        </p:spPr>
      </p:sp>
      <p:sp>
        <p:nvSpPr>
          <p:cNvPr id="9" name="Text 7"/>
          <p:cNvSpPr/>
          <p:nvPr/>
        </p:nvSpPr>
        <p:spPr>
          <a:xfrm>
            <a:off x="6217920" y="804672"/>
            <a:ext cx="5440680" cy="384048"/>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Why Not Distance?</a:t>
            </a:r>
            <a:endParaRPr lang="en-US" sz="1200" dirty="0"/>
          </a:p>
        </p:txBody>
      </p:sp>
      <p:sp>
        <p:nvSpPr>
          <p:cNvPr id="10" name="Text 8"/>
          <p:cNvSpPr/>
          <p:nvPr/>
        </p:nvSpPr>
        <p:spPr>
          <a:xfrm>
            <a:off x="6217920" y="1207008"/>
            <a:ext cx="5440680" cy="43891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Common misconception: 'Summer is hot because Earth is closer to the Sun.'</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 truth? Earth is actually slightly CLOSER to the Sun in January (Northern Hemisphere winter)!</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So distance is NOT the answer. The real answer is the TILT — how directly the Sun's rays hit each hemisphere.</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Direct sunlight = more energy per square meter = WARMTH.</a:t>
            </a:r>
            <a:endParaRPr lang="en-US" sz="110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EVIDENCE-BASED REASONING — Think Like a Scientist</a:t>
            </a:r>
            <a:endParaRPr lang="en-US" sz="1600" dirty="0"/>
          </a:p>
        </p:txBody>
      </p:sp>
      <p:sp>
        <p:nvSpPr>
          <p:cNvPr id="5" name="Shape 3"/>
          <p:cNvSpPr/>
          <p:nvPr/>
        </p:nvSpPr>
        <p:spPr>
          <a:xfrm>
            <a:off x="365760" y="713232"/>
            <a:ext cx="11430000" cy="1188720"/>
          </a:xfrm>
          <a:prstGeom prst="roundRect">
            <a:avLst>
              <a:gd name="adj" fmla="val 6154"/>
            </a:avLst>
          </a:prstGeom>
          <a:solidFill>
            <a:srgbClr val="1E2F45"/>
          </a:solidFill>
          <a:ln w="12700">
            <a:solidFill>
              <a:srgbClr val="FFB703"/>
            </a:solidFill>
            <a:prstDash val="solid"/>
          </a:ln>
        </p:spPr>
      </p:sp>
      <p:sp>
        <p:nvSpPr>
          <p:cNvPr id="6" name="Text 4"/>
          <p:cNvSpPr/>
          <p:nvPr/>
        </p:nvSpPr>
        <p:spPr>
          <a:xfrm>
            <a:off x="548640" y="777240"/>
            <a:ext cx="3657600" cy="320040"/>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Evidence Frame:</a:t>
            </a:r>
            <a:endParaRPr lang="en-US" sz="1100" dirty="0"/>
          </a:p>
        </p:txBody>
      </p:sp>
      <p:sp>
        <p:nvSpPr>
          <p:cNvPr id="7" name="Text 5"/>
          <p:cNvSpPr/>
          <p:nvPr/>
        </p:nvSpPr>
        <p:spPr>
          <a:xfrm>
            <a:off x="548640" y="1005840"/>
            <a:ext cx="10972800" cy="804672"/>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"I know ___ because I observed/learned ___. This shows ___."</a:t>
            </a:r>
            <a:endParaRPr lang="en-US" sz="1200" dirty="0"/>
          </a:p>
        </p:txBody>
      </p:sp>
      <p:sp>
        <p:nvSpPr>
          <p:cNvPr id="8" name="Shape 6"/>
          <p:cNvSpPr/>
          <p:nvPr/>
        </p:nvSpPr>
        <p:spPr>
          <a:xfrm>
            <a:off x="365760" y="2029968"/>
            <a:ext cx="5486400" cy="2834640"/>
          </a:xfrm>
          <a:prstGeom prst="roundRect">
            <a:avLst>
              <a:gd name="adj" fmla="val 2581"/>
            </a:avLst>
          </a:prstGeom>
          <a:solidFill>
            <a:srgbClr val="162233"/>
          </a:solidFill>
          <a:ln w="12700">
            <a:solidFill>
              <a:srgbClr val="4CC9F0"/>
            </a:solidFill>
            <a:prstDash val="solid"/>
          </a:ln>
        </p:spPr>
      </p:sp>
      <p:sp>
        <p:nvSpPr>
          <p:cNvPr id="9" name="Text 7"/>
          <p:cNvSpPr/>
          <p:nvPr/>
        </p:nvSpPr>
        <p:spPr>
          <a:xfrm>
            <a:off x="530352" y="2103120"/>
            <a:ext cx="5157216"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Earth Science Question</a:t>
            </a:r>
            <a:endParaRPr lang="en-US" sz="1300" dirty="0"/>
          </a:p>
        </p:txBody>
      </p:sp>
      <p:sp>
        <p:nvSpPr>
          <p:cNvPr id="10" name="Text 8"/>
          <p:cNvSpPr/>
          <p:nvPr/>
        </p:nvSpPr>
        <p:spPr>
          <a:xfrm>
            <a:off x="530352" y="2468880"/>
            <a:ext cx="5157216" cy="2286000"/>
          </a:xfrm>
          <a:prstGeom prst="rect">
            <a:avLst/>
          </a:prstGeom>
          <a:noFill/>
          <a:ln/>
        </p:spPr>
        <p:txBody>
          <a:bodyPr wrap="square" rtlCol="0" anchor="t"/>
          <a:lstStyle/>
          <a:p>
            <a:pPr algn="l" indent="0" marL="0">
              <a:buNone/>
            </a:pPr>
            <a:r>
              <a:rPr lang="en-US" sz="1150" i="1" dirty="0">
                <a:solidFill>
                  <a:srgbClr val="FFFFFF"/>
                </a:solidFill>
                <a:latin typeface="Calibri" pitchFamily="34" charset="0"/>
                <a:ea typeface="Calibri" pitchFamily="34" charset="-122"/>
                <a:cs typeface="Calibri" pitchFamily="34" charset="-120"/>
              </a:rPr>
              <a:t>"A sailor 500 years ago had no GPS. She noticed the Sun was very low in the sky at noon. What does that tell her about where on Earth she is — and how is that like using a ruler?"</a:t>
            </a:r>
            <a:endParaRPr lang="en-US" sz="1150" dirty="0"/>
          </a:p>
          <a:p>
            <a:pPr algn="l" indent="0" marL="0">
              <a:buNone/>
            </a:pPr>
            <a:endParaRPr lang="en-US" sz="1150" dirty="0"/>
          </a:p>
          <a:p>
            <a:pPr algn="l" indent="0" marL="0">
              <a:buNone/>
            </a:pPr>
            <a:r>
              <a:rPr lang="en-US" sz="1150" i="1" dirty="0">
                <a:solidFill>
                  <a:srgbClr val="FFFFFF"/>
                </a:solidFill>
                <a:latin typeface="Calibri" pitchFamily="34" charset="0"/>
                <a:ea typeface="Calibri" pitchFamily="34" charset="-122"/>
                <a:cs typeface="Calibri" pitchFamily="34" charset="-120"/>
              </a:rPr>
              <a:t>I know ___ because I observed ___ in the diagram. This shows ___.</a:t>
            </a:r>
            <a:endParaRPr lang="en-US" sz="1150" dirty="0"/>
          </a:p>
        </p:txBody>
      </p:sp>
      <p:sp>
        <p:nvSpPr>
          <p:cNvPr id="11" name="Shape 9"/>
          <p:cNvSpPr/>
          <p:nvPr/>
        </p:nvSpPr>
        <p:spPr>
          <a:xfrm>
            <a:off x="6035040" y="2029968"/>
            <a:ext cx="5760720" cy="2834640"/>
          </a:xfrm>
          <a:prstGeom prst="roundRect">
            <a:avLst>
              <a:gd name="adj" fmla="val 2581"/>
            </a:avLst>
          </a:prstGeom>
          <a:solidFill>
            <a:srgbClr val="162233"/>
          </a:solidFill>
          <a:ln w="12700">
            <a:solidFill>
              <a:srgbClr val="2DC653"/>
            </a:solidFill>
            <a:prstDash val="solid"/>
          </a:ln>
        </p:spPr>
      </p:sp>
      <p:sp>
        <p:nvSpPr>
          <p:cNvPr id="12" name="Text 10"/>
          <p:cNvSpPr/>
          <p:nvPr/>
        </p:nvSpPr>
        <p:spPr>
          <a:xfrm>
            <a:off x="6199632" y="2103120"/>
            <a:ext cx="5431536"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Connect to Seasons</a:t>
            </a:r>
            <a:endParaRPr lang="en-US" sz="1300" dirty="0"/>
          </a:p>
        </p:txBody>
      </p:sp>
      <p:sp>
        <p:nvSpPr>
          <p:cNvPr id="13" name="Text 11"/>
          <p:cNvSpPr/>
          <p:nvPr/>
        </p:nvSpPr>
        <p:spPr>
          <a:xfrm>
            <a:off x="6199632" y="2468880"/>
            <a:ext cx="5431536" cy="2286000"/>
          </a:xfrm>
          <a:prstGeom prst="rect">
            <a:avLst/>
          </a:prstGeom>
          <a:noFill/>
          <a:ln/>
        </p:spPr>
        <p:txBody>
          <a:bodyPr wrap="square" rtlCol="0" anchor="t"/>
          <a:lstStyle/>
          <a:p>
            <a:pPr algn="l" indent="0" marL="0">
              <a:buNone/>
            </a:pPr>
            <a:r>
              <a:rPr lang="en-US" sz="1150" i="1" dirty="0">
                <a:solidFill>
                  <a:srgbClr val="FFFFFF"/>
                </a:solidFill>
                <a:latin typeface="Calibri" pitchFamily="34" charset="0"/>
                <a:ea typeface="Calibri" pitchFamily="34" charset="-122"/>
                <a:cs typeface="Calibri" pitchFamily="34" charset="-120"/>
              </a:rPr>
              <a:t>"If the Northern Hemisphere is tilted toward the Sun, it's summer there. At that same moment, what season is it in Australia (Southern Hemisphere)? How does the tilt diagram explain this?"</a:t>
            </a:r>
            <a:endParaRPr lang="en-US" sz="1150" dirty="0"/>
          </a:p>
          <a:p>
            <a:pPr algn="l" indent="0" marL="0">
              <a:buNone/>
            </a:pPr>
            <a:endParaRPr lang="en-US" sz="1150" dirty="0"/>
          </a:p>
          <a:p>
            <a:pPr algn="l" indent="0" marL="0">
              <a:buNone/>
            </a:pPr>
            <a:r>
              <a:rPr lang="en-US" sz="1150" i="1" dirty="0">
                <a:solidFill>
                  <a:srgbClr val="FFFFFF"/>
                </a:solidFill>
                <a:latin typeface="Calibri" pitchFamily="34" charset="0"/>
                <a:ea typeface="Calibri" pitchFamily="34" charset="-122"/>
                <a:cs typeface="Calibri" pitchFamily="34" charset="-120"/>
              </a:rPr>
              <a:t>I know ___ because the diagram shows ___. This shows ___.</a:t>
            </a:r>
            <a:endParaRPr lang="en-US" sz="115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ELABORATE — Mind-Blowing Facts About Earth's Motion</a:t>
            </a:r>
            <a:endParaRPr lang="en-US" sz="1600" dirty="0"/>
          </a:p>
        </p:txBody>
      </p:sp>
      <p:sp>
        <p:nvSpPr>
          <p:cNvPr id="5" name="Shape 3"/>
          <p:cNvSpPr/>
          <p:nvPr/>
        </p:nvSpPr>
        <p:spPr>
          <a:xfrm>
            <a:off x="365760" y="713232"/>
            <a:ext cx="5394960" cy="3200400"/>
          </a:xfrm>
          <a:prstGeom prst="roundRect">
            <a:avLst>
              <a:gd name="adj" fmla="val 2286"/>
            </a:avLst>
          </a:prstGeom>
          <a:solidFill>
            <a:srgbClr val="1E2F45"/>
          </a:solidFill>
          <a:ln w="12700">
            <a:solidFill>
              <a:srgbClr val="4CC9F0"/>
            </a:solidFill>
            <a:prstDash val="solid"/>
          </a:ln>
        </p:spPr>
      </p:sp>
      <p:sp>
        <p:nvSpPr>
          <p:cNvPr id="6" name="Text 4"/>
          <p:cNvSpPr/>
          <p:nvPr/>
        </p:nvSpPr>
        <p:spPr>
          <a:xfrm>
            <a:off x="548640" y="804672"/>
            <a:ext cx="5029200" cy="384048"/>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Mind-Blow #1: Leap Years!</a:t>
            </a:r>
            <a:endParaRPr lang="en-US" sz="1300" dirty="0"/>
          </a:p>
        </p:txBody>
      </p:sp>
      <p:sp>
        <p:nvSpPr>
          <p:cNvPr id="7" name="Text 5"/>
          <p:cNvSpPr/>
          <p:nvPr/>
        </p:nvSpPr>
        <p:spPr>
          <a:xfrm>
            <a:off x="548640" y="1207008"/>
            <a:ext cx="5029200" cy="265176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Earth actually takes 365 days, 5 hours, 48 minutes, and 46 seconds to orbit the Sun — almost a quarter of a day extra!</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If we ignored those extra hours, our calendar would slowly drift. After a few hundred years, summer would arrive in January!</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Solution: Leap Year! Add 1 day (Feb 29) every 4 years. Those four quarter-days add up to one full extra day.</a:t>
            </a:r>
            <a:endParaRPr lang="en-US" sz="1100" dirty="0"/>
          </a:p>
        </p:txBody>
      </p:sp>
      <p:sp>
        <p:nvSpPr>
          <p:cNvPr id="8" name="Shape 6"/>
          <p:cNvSpPr/>
          <p:nvPr/>
        </p:nvSpPr>
        <p:spPr>
          <a:xfrm>
            <a:off x="6035040" y="713232"/>
            <a:ext cx="5806440" cy="3200400"/>
          </a:xfrm>
          <a:prstGeom prst="roundRect">
            <a:avLst>
              <a:gd name="adj" fmla="val 2286"/>
            </a:avLst>
          </a:prstGeom>
          <a:solidFill>
            <a:srgbClr val="1E2F45"/>
          </a:solidFill>
          <a:ln w="12700">
            <a:solidFill>
              <a:srgbClr val="FFB703"/>
            </a:solidFill>
            <a:prstDash val="solid"/>
          </a:ln>
        </p:spPr>
      </p:sp>
      <p:sp>
        <p:nvSpPr>
          <p:cNvPr id="9" name="Text 7"/>
          <p:cNvSpPr/>
          <p:nvPr/>
        </p:nvSpPr>
        <p:spPr>
          <a:xfrm>
            <a:off x="6217920" y="804672"/>
            <a:ext cx="5440680" cy="384048"/>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Mind-Blow #2: One Day on Venus!</a:t>
            </a:r>
            <a:endParaRPr lang="en-US" sz="1300" dirty="0"/>
          </a:p>
        </p:txBody>
      </p:sp>
      <p:sp>
        <p:nvSpPr>
          <p:cNvPr id="10" name="Text 8"/>
          <p:cNvSpPr/>
          <p:nvPr/>
        </p:nvSpPr>
        <p:spPr>
          <a:xfrm>
            <a:off x="6217920" y="1207008"/>
            <a:ext cx="5440680" cy="265176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On Venus, one day is LONGER than one year! Venus spins so slowly it takes 243 Earth-days to rotate once — but only 225 Earth-days to complete its orbit around the Sun.</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On Venus, a year passes before the day ends!</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Think: Venus rotates SLOWER than it revolves. On Earth it's the opposite.</a:t>
            </a:r>
            <a:endParaRPr lang="en-US" sz="1100" dirty="0"/>
          </a:p>
        </p:txBody>
      </p:sp>
      <p:sp>
        <p:nvSpPr>
          <p:cNvPr id="11" name="Shape 9"/>
          <p:cNvSpPr/>
          <p:nvPr/>
        </p:nvSpPr>
        <p:spPr>
          <a:xfrm>
            <a:off x="365760" y="4023360"/>
            <a:ext cx="5394960" cy="2240280"/>
          </a:xfrm>
          <a:prstGeom prst="roundRect">
            <a:avLst>
              <a:gd name="adj" fmla="val 3265"/>
            </a:avLst>
          </a:prstGeom>
          <a:solidFill>
            <a:srgbClr val="0A1520"/>
          </a:solidFill>
          <a:ln w="19050">
            <a:solidFill>
              <a:srgbClr val="4CC9F0"/>
            </a:solidFill>
            <a:prstDash val="dash"/>
          </a:ln>
        </p:spPr>
      </p:sp>
      <p:sp>
        <p:nvSpPr>
          <p:cNvPr id="12" name="Text 10"/>
          <p:cNvSpPr/>
          <p:nvPr/>
        </p:nvSpPr>
        <p:spPr>
          <a:xfrm>
            <a:off x="457200" y="4133088"/>
            <a:ext cx="5212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457200" y="4572000"/>
            <a:ext cx="521208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4" name="Text 12"/>
          <p:cNvSpPr/>
          <p:nvPr/>
        </p:nvSpPr>
        <p:spPr>
          <a:xfrm>
            <a:off x="475488" y="4864608"/>
            <a:ext cx="5175504" cy="118872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"Venus planet surface NASA spacecraft photograph"</a:t>
            </a:r>
            <a:endParaRPr lang="en-US" sz="950" dirty="0"/>
          </a:p>
        </p:txBody>
      </p:sp>
      <p:sp>
        <p:nvSpPr>
          <p:cNvPr id="15" name="Text 13"/>
          <p:cNvSpPr/>
          <p:nvPr/>
        </p:nvSpPr>
        <p:spPr>
          <a:xfrm>
            <a:off x="365760" y="6300216"/>
            <a:ext cx="539496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Venus: the planet where a year is shorter than a day!</a:t>
            </a:r>
            <a:endParaRPr lang="en-US" sz="900" dirty="0"/>
          </a:p>
        </p:txBody>
      </p:sp>
      <p:sp>
        <p:nvSpPr>
          <p:cNvPr id="16" name="Shape 14"/>
          <p:cNvSpPr/>
          <p:nvPr/>
        </p:nvSpPr>
        <p:spPr>
          <a:xfrm>
            <a:off x="6035040" y="4023360"/>
            <a:ext cx="5806440" cy="2240280"/>
          </a:xfrm>
          <a:prstGeom prst="roundRect">
            <a:avLst>
              <a:gd name="adj" fmla="val 3265"/>
            </a:avLst>
          </a:prstGeom>
          <a:solidFill>
            <a:srgbClr val="0A1520"/>
          </a:solidFill>
          <a:ln w="19050">
            <a:solidFill>
              <a:srgbClr val="4CC9F0"/>
            </a:solidFill>
            <a:prstDash val="dash"/>
          </a:ln>
        </p:spPr>
      </p:sp>
      <p:sp>
        <p:nvSpPr>
          <p:cNvPr id="17" name="Text 15"/>
          <p:cNvSpPr/>
          <p:nvPr/>
        </p:nvSpPr>
        <p:spPr>
          <a:xfrm>
            <a:off x="6126480" y="4133088"/>
            <a:ext cx="56235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6126480" y="4572000"/>
            <a:ext cx="562356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9" name="Text 17"/>
          <p:cNvSpPr/>
          <p:nvPr/>
        </p:nvSpPr>
        <p:spPr>
          <a:xfrm>
            <a:off x="6144768" y="4864608"/>
            <a:ext cx="5586984" cy="118872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"Sun Earth Moon size comparison scale diagram"</a:t>
            </a:r>
            <a:endParaRPr lang="en-US" sz="950" dirty="0"/>
          </a:p>
        </p:txBody>
      </p:sp>
      <p:sp>
        <p:nvSpPr>
          <p:cNvPr id="20" name="Text 18"/>
          <p:cNvSpPr/>
          <p:nvPr/>
        </p:nvSpPr>
        <p:spPr>
          <a:xfrm>
            <a:off x="6035040" y="6300216"/>
            <a:ext cx="580644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Scale: 1.3 million Earths could fit inside the Sun!</a:t>
            </a:r>
            <a:endParaRPr lang="en-US" sz="9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SELF-CHECK — Let's See What Sticks!</a:t>
            </a:r>
            <a:endParaRPr lang="en-US" sz="1600" dirty="0"/>
          </a:p>
        </p:txBody>
      </p:sp>
      <p:sp>
        <p:nvSpPr>
          <p:cNvPr id="5" name="Shape 3"/>
          <p:cNvSpPr/>
          <p:nvPr/>
        </p:nvSpPr>
        <p:spPr>
          <a:xfrm>
            <a:off x="365760" y="713232"/>
            <a:ext cx="11430000" cy="1783080"/>
          </a:xfrm>
          <a:prstGeom prst="roundRect">
            <a:avLst>
              <a:gd name="adj" fmla="val 4103"/>
            </a:avLst>
          </a:prstGeom>
          <a:solidFill>
            <a:srgbClr val="1E2F45"/>
          </a:solidFill>
          <a:ln w="12700">
            <a:solidFill>
              <a:srgbClr val="2DC653"/>
            </a:solidFill>
            <a:prstDash val="solid"/>
          </a:ln>
        </p:spPr>
      </p:sp>
      <p:sp>
        <p:nvSpPr>
          <p:cNvPr id="6" name="Text 4"/>
          <p:cNvSpPr/>
          <p:nvPr/>
        </p:nvSpPr>
        <p:spPr>
          <a:xfrm>
            <a:off x="548640" y="786384"/>
            <a:ext cx="1106424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 What does Earth's rotation cause?</a:t>
            </a:r>
            <a:endParaRPr lang="en-US" sz="1200" dirty="0"/>
          </a:p>
        </p:txBody>
      </p:sp>
      <p:sp>
        <p:nvSpPr>
          <p:cNvPr id="7" name="Text 5"/>
          <p:cNvSpPr/>
          <p:nvPr/>
        </p:nvSpPr>
        <p:spPr>
          <a:xfrm>
            <a:off x="731520" y="1188720"/>
            <a:ext cx="10881360" cy="320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The four seasons</a:t>
            </a:r>
            <a:endParaRPr lang="en-US" sz="1100" dirty="0"/>
          </a:p>
        </p:txBody>
      </p:sp>
      <p:sp>
        <p:nvSpPr>
          <p:cNvPr id="8" name="Text 6"/>
          <p:cNvSpPr/>
          <p:nvPr/>
        </p:nvSpPr>
        <p:spPr>
          <a:xfrm>
            <a:off x="731520" y="1536192"/>
            <a:ext cx="10881360" cy="320040"/>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B. Day and night</a:t>
            </a:r>
            <a:endParaRPr lang="en-US" sz="1100" dirty="0"/>
          </a:p>
        </p:txBody>
      </p:sp>
      <p:sp>
        <p:nvSpPr>
          <p:cNvPr id="9" name="Text 7"/>
          <p:cNvSpPr/>
          <p:nvPr/>
        </p:nvSpPr>
        <p:spPr>
          <a:xfrm>
            <a:off x="731520" y="1883664"/>
            <a:ext cx="10881360" cy="320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Earth's orbit around the Sun</a:t>
            </a:r>
            <a:endParaRPr lang="en-US" sz="1100" dirty="0"/>
          </a:p>
        </p:txBody>
      </p:sp>
      <p:sp>
        <p:nvSpPr>
          <p:cNvPr id="10" name="Shape 8"/>
          <p:cNvSpPr/>
          <p:nvPr/>
        </p:nvSpPr>
        <p:spPr>
          <a:xfrm>
            <a:off x="365760" y="2633472"/>
            <a:ext cx="11430000" cy="1783080"/>
          </a:xfrm>
          <a:prstGeom prst="roundRect">
            <a:avLst>
              <a:gd name="adj" fmla="val 4103"/>
            </a:avLst>
          </a:prstGeom>
          <a:solidFill>
            <a:srgbClr val="1E2F45"/>
          </a:solidFill>
          <a:ln w="12700">
            <a:solidFill>
              <a:srgbClr val="2DC653"/>
            </a:solidFill>
            <a:prstDash val="solid"/>
          </a:ln>
        </p:spPr>
      </p:sp>
      <p:sp>
        <p:nvSpPr>
          <p:cNvPr id="11" name="Text 9"/>
          <p:cNvSpPr/>
          <p:nvPr/>
        </p:nvSpPr>
        <p:spPr>
          <a:xfrm>
            <a:off x="548640" y="2706624"/>
            <a:ext cx="1106424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 What is the real cause of Earth's seasons?</a:t>
            </a:r>
            <a:endParaRPr lang="en-US" sz="1200" dirty="0"/>
          </a:p>
        </p:txBody>
      </p:sp>
      <p:sp>
        <p:nvSpPr>
          <p:cNvPr id="12" name="Text 10"/>
          <p:cNvSpPr/>
          <p:nvPr/>
        </p:nvSpPr>
        <p:spPr>
          <a:xfrm>
            <a:off x="731520" y="3108960"/>
            <a:ext cx="10881360" cy="320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A. Earth getting closer to the Sun in summer and farther in winter</a:t>
            </a:r>
            <a:endParaRPr lang="en-US" sz="1100" dirty="0"/>
          </a:p>
        </p:txBody>
      </p:sp>
      <p:sp>
        <p:nvSpPr>
          <p:cNvPr id="13" name="Text 11"/>
          <p:cNvSpPr/>
          <p:nvPr/>
        </p:nvSpPr>
        <p:spPr>
          <a:xfrm>
            <a:off x="731520" y="3456432"/>
            <a:ext cx="10881360" cy="320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B. The Moon blocking the Sun's heat</a:t>
            </a:r>
            <a:endParaRPr lang="en-US" sz="1100" dirty="0"/>
          </a:p>
        </p:txBody>
      </p:sp>
      <p:sp>
        <p:nvSpPr>
          <p:cNvPr id="14" name="Text 12"/>
          <p:cNvSpPr/>
          <p:nvPr/>
        </p:nvSpPr>
        <p:spPr>
          <a:xfrm>
            <a:off x="731520" y="3803904"/>
            <a:ext cx="10881360" cy="320040"/>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C. Earth's tilted axis as it revolves around the Sun</a:t>
            </a:r>
            <a:endParaRPr lang="en-US" sz="1100" dirty="0"/>
          </a:p>
        </p:txBody>
      </p:sp>
      <p:sp>
        <p:nvSpPr>
          <p:cNvPr id="15" name="Shape 13"/>
          <p:cNvSpPr/>
          <p:nvPr/>
        </p:nvSpPr>
        <p:spPr>
          <a:xfrm>
            <a:off x="365760" y="4553712"/>
            <a:ext cx="11430000" cy="1783080"/>
          </a:xfrm>
          <a:prstGeom prst="roundRect">
            <a:avLst>
              <a:gd name="adj" fmla="val 4103"/>
            </a:avLst>
          </a:prstGeom>
          <a:solidFill>
            <a:srgbClr val="1E2F45"/>
          </a:solidFill>
          <a:ln w="12700">
            <a:solidFill>
              <a:srgbClr val="2DC653"/>
            </a:solidFill>
            <a:prstDash val="solid"/>
          </a:ln>
        </p:spPr>
      </p:sp>
      <p:sp>
        <p:nvSpPr>
          <p:cNvPr id="16" name="Text 14"/>
          <p:cNvSpPr/>
          <p:nvPr/>
        </p:nvSpPr>
        <p:spPr>
          <a:xfrm>
            <a:off x="548640" y="4626864"/>
            <a:ext cx="11064240"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3. What is the difference between Earth's rotation and revolution?</a:t>
            </a:r>
            <a:endParaRPr lang="en-US" sz="1200" dirty="0"/>
          </a:p>
        </p:txBody>
      </p:sp>
      <p:sp>
        <p:nvSpPr>
          <p:cNvPr id="17" name="Text 15"/>
          <p:cNvSpPr/>
          <p:nvPr/>
        </p:nvSpPr>
        <p:spPr>
          <a:xfrm>
            <a:off x="731520" y="5029200"/>
            <a:ext cx="10881360" cy="320040"/>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A. Rotation = spinning on its axis (1 day); revolution = orbiting the Sun (1 year)</a:t>
            </a:r>
            <a:endParaRPr lang="en-US" sz="1100" dirty="0"/>
          </a:p>
        </p:txBody>
      </p:sp>
      <p:sp>
        <p:nvSpPr>
          <p:cNvPr id="18" name="Text 16"/>
          <p:cNvSpPr/>
          <p:nvPr/>
        </p:nvSpPr>
        <p:spPr>
          <a:xfrm>
            <a:off x="731520" y="5376672"/>
            <a:ext cx="10881360" cy="320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B. Rotation = orbiting the Sun; revolution = spinning on its axis</a:t>
            </a:r>
            <a:endParaRPr lang="en-US" sz="1100" dirty="0"/>
          </a:p>
        </p:txBody>
      </p:sp>
      <p:sp>
        <p:nvSpPr>
          <p:cNvPr id="19" name="Text 17"/>
          <p:cNvSpPr/>
          <p:nvPr/>
        </p:nvSpPr>
        <p:spPr>
          <a:xfrm>
            <a:off x="731520" y="5724144"/>
            <a:ext cx="10881360" cy="32004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C. They are the same thing — just different words for Earth spinning</a:t>
            </a:r>
            <a:endParaRPr lang="en-US" sz="11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ASSIGNMENT — Show What You Know</a:t>
            </a:r>
            <a:endParaRPr lang="en-US" sz="1600" dirty="0"/>
          </a:p>
        </p:txBody>
      </p:sp>
      <p:sp>
        <p:nvSpPr>
          <p:cNvPr id="5" name="Shape 3"/>
          <p:cNvSpPr/>
          <p:nvPr/>
        </p:nvSpPr>
        <p:spPr>
          <a:xfrm>
            <a:off x="365760" y="713232"/>
            <a:ext cx="5394960" cy="5394960"/>
          </a:xfrm>
          <a:prstGeom prst="roundRect">
            <a:avLst>
              <a:gd name="adj" fmla="val 1356"/>
            </a:avLst>
          </a:prstGeom>
          <a:solidFill>
            <a:srgbClr val="1E2F45"/>
          </a:solidFill>
          <a:ln w="12700">
            <a:solidFill>
              <a:srgbClr val="FFB703"/>
            </a:solidFill>
            <a:prstDash val="solid"/>
          </a:ln>
        </p:spPr>
      </p:sp>
      <p:sp>
        <p:nvSpPr>
          <p:cNvPr id="6" name="Text 4"/>
          <p:cNvSpPr/>
          <p:nvPr/>
        </p:nvSpPr>
        <p:spPr>
          <a:xfrm>
            <a:off x="548640" y="804672"/>
            <a:ext cx="5029200" cy="384048"/>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Notebook Work — Parts A, B &amp; C</a:t>
            </a:r>
            <a:endParaRPr lang="en-US" sz="1200" dirty="0"/>
          </a:p>
        </p:txBody>
      </p:sp>
      <p:sp>
        <p:nvSpPr>
          <p:cNvPr id="7" name="Text 5"/>
          <p:cNvSpPr/>
          <p:nvPr/>
        </p:nvSpPr>
        <p:spPr>
          <a:xfrm>
            <a:off x="548640" y="1207008"/>
            <a:ext cx="5029200" cy="486460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Part A — Rotation Diagram:</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Draw Earth. Add axis line (label North/South Pole). Draw curved arrows showing spin. Write: '1 rotation = 24 hours (1 day)'</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Part B — Revolution Diagram:</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Draw Sun in center. Draw big oval orbit. Place Earth at 4 spots: Spring, Summer, Fall, Winter. Add direction arrows. Show axis tilt. Write: '1 revolution = 1 year (365 days)'</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Part C — Short Answer (3 questions using vocab words):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1. Difference between rotation and revolution?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2. Why does Earth have four seasons? (use axis, tilt, revolve)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3. How did early explorers navigate using Earth's movements?</a:t>
            </a:r>
            <a:endParaRPr lang="en-US" sz="1100" dirty="0"/>
          </a:p>
        </p:txBody>
      </p:sp>
      <p:sp>
        <p:nvSpPr>
          <p:cNvPr id="8" name="Shape 6"/>
          <p:cNvSpPr/>
          <p:nvPr/>
        </p:nvSpPr>
        <p:spPr>
          <a:xfrm>
            <a:off x="5943600" y="713232"/>
            <a:ext cx="5943600" cy="5394960"/>
          </a:xfrm>
          <a:prstGeom prst="roundRect">
            <a:avLst>
              <a:gd name="adj" fmla="val 1356"/>
            </a:avLst>
          </a:prstGeom>
          <a:solidFill>
            <a:srgbClr val="1E2F45"/>
          </a:solidFill>
          <a:ln w="12700">
            <a:solidFill>
              <a:srgbClr val="4CC9F0"/>
            </a:solidFill>
            <a:prstDash val="solid"/>
          </a:ln>
        </p:spPr>
      </p:sp>
      <p:sp>
        <p:nvSpPr>
          <p:cNvPr id="9" name="Text 7"/>
          <p:cNvSpPr/>
          <p:nvPr/>
        </p:nvSpPr>
        <p:spPr>
          <a:xfrm>
            <a:off x="6126480" y="804672"/>
            <a:ext cx="557784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CER Response (Written)</a:t>
            </a:r>
            <a:endParaRPr lang="en-US" sz="1200" dirty="0"/>
          </a:p>
        </p:txBody>
      </p:sp>
      <p:sp>
        <p:nvSpPr>
          <p:cNvPr id="10" name="Text 8"/>
          <p:cNvSpPr/>
          <p:nvPr/>
        </p:nvSpPr>
        <p:spPr>
          <a:xfrm>
            <a:off x="6126480" y="1207008"/>
            <a:ext cx="5577840" cy="486460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Question: Why do we have day and night?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CLAIM — 'We have day and night because Earth...'</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EVIDENCE — 'In the rotation diagram, I can see that...'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REASONING — 'This makes sense because when the side of Earth facing the sun...'</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Vocab check: Use at least one of: rotation, revolution, orbit, axis</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Practiced on: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Part A diagram = Slide 6 rotation | Part B diagram = Slide 8 orbit | CER = Slide 10 | Short answers = Slides 7, 9</a:t>
            </a:r>
            <a:endParaRPr lang="en-US" sz="110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"Right now, you feel completely still — but scientists say Earth is racing through space at 67,000 miles per hour. How does Earth's invisible movement control everything from day and night to the changing seasons?"</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A — Rotation Diagram: Earth with labeled axis, curved arrows, '1 rotation = 24 hours'</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B — Revolution Diagram: Sun, orbit, 4 seasons, axis tilt, '1 revolution = 1 year'</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Part C — 3 short-answer questions in complete sentences using vocab words</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CER Response: Claim about day/night, rotation diagram as evidence, reasoning</a:t>
            </a:r>
            <a:endParaRPr lang="en-US" sz="1100" dirty="0"/>
          </a:p>
        </p:txBody>
      </p:sp>
      <p:sp>
        <p:nvSpPr>
          <p:cNvPr id="14" name="Text 12"/>
          <p:cNvSpPr/>
          <p:nvPr/>
        </p:nvSpPr>
        <p:spPr>
          <a:xfrm>
            <a:off x="548640" y="4133088"/>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Reflection: Compare warm-up sketch to final diagrams — what changed?</a:t>
            </a:r>
            <a:endParaRPr lang="en-US" sz="1100" dirty="0"/>
          </a:p>
        </p:txBody>
      </p:sp>
      <p:sp>
        <p:nvSpPr>
          <p:cNvPr id="15" name="Shape 13"/>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6" name="Text 14"/>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7" name="Text 15"/>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2.02 — Observing the Sky: Nature's Compass</a:t>
            </a: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How did early explorers use the Sun's patterns to navigate across entire oceans with no GPS?</a:t>
            </a:r>
            <a:endParaRPr lang="en-US" sz="1200" dirty="0"/>
          </a:p>
        </p:txBody>
      </p:sp>
      <p:sp>
        <p:nvSpPr>
          <p:cNvPr id="18" name="Shape 16"/>
          <p:cNvSpPr/>
          <p:nvPr/>
        </p:nvSpPr>
        <p:spPr>
          <a:xfrm>
            <a:off x="0" y="5047488"/>
            <a:ext cx="12192000" cy="45720"/>
          </a:xfrm>
          <a:prstGeom prst="rect">
            <a:avLst/>
          </a:prstGeom>
          <a:solidFill>
            <a:srgbClr val="4CC9F0"/>
          </a:solidFill>
          <a:ln/>
        </p:spPr>
      </p:sp>
      <p:sp>
        <p:nvSpPr>
          <p:cNvPr id="19" name="Text 17"/>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2.01  ·  Meet Our Earth</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2026-07-13T19:47:34Z</dcterms:created>
  <dcterms:modified xsi:type="dcterms:W3CDTF">2026-07-13T19:47:34Z</dcterms:modified>
</cp:coreProperties>
</file>