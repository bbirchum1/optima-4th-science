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Marble warm-up. Build prediction skills for investigation in 21-02. CER Stage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a marble available to demonstrate. Let students test predictions immediately. The first marble stops (transfers all energy) when hitting a same-size marble.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5 minutes. Then share out. Do NOT confirm or deny yet — the investigation in 21-02 will provide evidence to check predictions.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Exit: Complete this sentence: 'When a fast heavy marble hits a slow light marble, I predict ___ because ___.'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85800"/>
            <a:ext cx="8503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When Objects Collide?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548640" y="2084832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two objects collide, what determines how much motion changes?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487168"/>
            <a:ext cx="4937760" cy="475488"/>
          </a:xfrm>
          <a:prstGeom prst="roundRect">
            <a:avLst>
              <a:gd name="adj" fmla="val 15385"/>
            </a:avLst>
          </a:prstGeom>
          <a:solidFill>
            <a:srgbClr val="1E2F45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487168"/>
            <a:ext cx="4754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4-PS3-3 — Ask questions and predict outcomes of energy transfer in collisions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9235440" y="411480"/>
            <a:ext cx="2651760" cy="2651760"/>
          </a:xfrm>
          <a:prstGeom prst="ellipse">
            <a:avLst/>
          </a:prstGeom>
          <a:solidFill>
            <a:srgbClr val="162233"/>
          </a:solidFill>
          <a:ln w="25400">
            <a:solidFill>
              <a:srgbClr val="4CC9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0" y="100584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0" dirty="0">
                <a:solidFill>
                  <a:srgbClr val="000000"/>
                </a:solidFill>
              </a:rPr>
              <a:t>🔬</a:t>
            </a:r>
            <a:endParaRPr lang="en-US" sz="6800" dirty="0"/>
          </a:p>
        </p:txBody>
      </p:sp>
      <p:sp>
        <p:nvSpPr>
          <p:cNvPr id="9" name="Shape 7"/>
          <p:cNvSpPr/>
          <p:nvPr/>
        </p:nvSpPr>
        <p:spPr>
          <a:xfrm>
            <a:off x="548640" y="3127248"/>
            <a:ext cx="7406640" cy="1645920"/>
          </a:xfrm>
          <a:prstGeom prst="roundRect">
            <a:avLst>
              <a:gd name="adj" fmla="val 4444"/>
            </a:avLst>
          </a:prstGeom>
          <a:solidFill>
            <a:srgbClr val="1E2F45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182112"/>
            <a:ext cx="7132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Learning Goals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3529584"/>
            <a:ext cx="7040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 can predict what will happen when objects of different sizes and speeds collide.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3867912"/>
            <a:ext cx="7040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 can explain how energy is transferred when objects collide.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4206240"/>
            <a:ext cx="7040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 can write a claim + evidence about a collision outcome using before/after observations.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4956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need: Science notebook   pencil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16" name="Text 14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21-01  ·  What Happens When Objects Collide?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Phenomenon: The Marble Collision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5303520" cy="5029200"/>
          </a:xfrm>
          <a:prstGeom prst="roundRect">
            <a:avLst>
              <a:gd name="adj" fmla="val 1455"/>
            </a:avLst>
          </a:prstGeom>
          <a:solidFill>
            <a:srgbClr val="0A1520"/>
          </a:solidFill>
          <a:ln w="19050">
            <a:solidFill>
              <a:srgbClr val="4CC9F0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8229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261872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5488" y="1554480"/>
            <a:ext cx="5084064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Suggested search: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"marble collision billiard balls cue ball strike transfer motion physics"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65760" y="5779008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marble strikes a stationary marble — energy transfer on collision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852160" y="713232"/>
            <a:ext cx="5943600" cy="5029200"/>
          </a:xfrm>
          <a:prstGeom prst="roundRect">
            <a:avLst>
              <a:gd name="adj" fmla="val 1455"/>
            </a:avLst>
          </a:prstGeom>
          <a:solidFill>
            <a:srgbClr val="1E2F45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0" y="777240"/>
            <a:ext cx="5669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About It: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035040" y="1170432"/>
            <a:ext cx="5669280" cy="4434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rolling marble hits a stationary marble.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your notebook: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1. What do you predict will happen?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2. Will the first marble stop? Keep moving? Bounce back?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3. What happens to the second marble?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 prediction: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predict the first marble will ___ because ___"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14" name="Text 12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21-01  ·  What Happens When Objects Collide?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Question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11247120" cy="1371600"/>
          </a:xfrm>
          <a:prstGeom prst="roundRect">
            <a:avLst>
              <a:gd name="adj" fmla="val 5333"/>
            </a:avLst>
          </a:prstGeom>
          <a:solidFill>
            <a:srgbClr val="162233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804672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objects collide, what determines how energy is transferred and motion changes?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2331720"/>
            <a:ext cx="11247120" cy="1143000"/>
          </a:xfrm>
          <a:prstGeom prst="roundRect">
            <a:avLst>
              <a:gd name="adj" fmla="val 6400"/>
            </a:avLst>
          </a:prstGeom>
          <a:solidFill>
            <a:srgbClr val="1E2F45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48716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Prediction: "I think energy transfer in a collision depends on ___ because ___"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10" name="Text 8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21-01  ·  What Happens When Objects Collide?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Vocabulary: Collisions and Energy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3657600" cy="1325880"/>
          </a:xfrm>
          <a:prstGeom prst="roundRect">
            <a:avLst>
              <a:gd name="adj" fmla="val 6897"/>
            </a:avLst>
          </a:prstGeom>
          <a:solidFill>
            <a:srgbClr val="1E2F45"/>
          </a:solidFill>
          <a:ln w="25400">
            <a:solidFill>
              <a:srgbClr val="4CC9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749808"/>
            <a:ext cx="3657600" cy="347472"/>
          </a:xfrm>
          <a:prstGeom prst="roundRect">
            <a:avLst>
              <a:gd name="adj" fmla="val 21053"/>
            </a:avLst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77724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4048" y="1152144"/>
            <a:ext cx="343814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move energy from one object to another. Collisions transfer kinetic energy.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069080" y="749808"/>
            <a:ext cx="3657600" cy="1325880"/>
          </a:xfrm>
          <a:prstGeom prst="roundRect">
            <a:avLst>
              <a:gd name="adj" fmla="val 6897"/>
            </a:avLst>
          </a:prstGeom>
          <a:solidFill>
            <a:srgbClr val="1E2F45"/>
          </a:solidFill>
          <a:ln w="25400">
            <a:solidFill>
              <a:srgbClr val="F4736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069080" y="749808"/>
            <a:ext cx="3657600" cy="347472"/>
          </a:xfrm>
          <a:prstGeom prst="roundRect">
            <a:avLst>
              <a:gd name="adj" fmla="val 21053"/>
            </a:avLst>
          </a:prstGeom>
          <a:solidFill>
            <a:srgbClr val="F4736A"/>
          </a:solidFill>
          <a:ln w="12700">
            <a:solidFill>
              <a:srgbClr val="F473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60520" y="77724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collision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78808" y="1152144"/>
            <a:ext cx="343814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two or more objects hit each other, transferring energy between them.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863840" y="749808"/>
            <a:ext cx="3657600" cy="1325880"/>
          </a:xfrm>
          <a:prstGeom prst="roundRect">
            <a:avLst>
              <a:gd name="adj" fmla="val 6897"/>
            </a:avLst>
          </a:prstGeom>
          <a:solidFill>
            <a:srgbClr val="1E2F45"/>
          </a:solidFill>
          <a:ln w="25400">
            <a:solidFill>
              <a:srgbClr val="FFB70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63840" y="749808"/>
            <a:ext cx="3657600" cy="347472"/>
          </a:xfrm>
          <a:prstGeom prst="roundRect">
            <a:avLst>
              <a:gd name="adj" fmla="val 21053"/>
            </a:avLst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55280" y="77724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change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973568" y="1152144"/>
            <a:ext cx="343814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change in speed or direction caused by a force — like a collision.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2304288"/>
            <a:ext cx="3657600" cy="1325880"/>
          </a:xfrm>
          <a:prstGeom prst="roundRect">
            <a:avLst>
              <a:gd name="adj" fmla="val 6897"/>
            </a:avLst>
          </a:prstGeom>
          <a:solidFill>
            <a:srgbClr val="1E2F45"/>
          </a:solidFill>
          <a:ln w="25400">
            <a:solidFill>
              <a:srgbClr val="2DC65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304288"/>
            <a:ext cx="3657600" cy="347472"/>
          </a:xfrm>
          <a:prstGeom prst="roundRect">
            <a:avLst>
              <a:gd name="adj" fmla="val 21053"/>
            </a:avLst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33172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84048" y="2706624"/>
            <a:ext cx="343814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statement about what you think will happen, supported by reasoning.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069080" y="2304288"/>
            <a:ext cx="3657600" cy="1325880"/>
          </a:xfrm>
          <a:prstGeom prst="roundRect">
            <a:avLst>
              <a:gd name="adj" fmla="val 6897"/>
            </a:avLst>
          </a:prstGeom>
          <a:solidFill>
            <a:srgbClr val="1E2F45"/>
          </a:solidFill>
          <a:ln w="25400">
            <a:solidFill>
              <a:srgbClr val="0096C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069080" y="2304288"/>
            <a:ext cx="3657600" cy="347472"/>
          </a:xfrm>
          <a:prstGeom prst="roundRect">
            <a:avLst>
              <a:gd name="adj" fmla="val 21053"/>
            </a:avLst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60520" y="233172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before/after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178808" y="2706624"/>
            <a:ext cx="343814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what an object was doing before and after a collision to find evidence of energy transfer.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863840" y="2304288"/>
            <a:ext cx="3657600" cy="1325880"/>
          </a:xfrm>
          <a:prstGeom prst="roundRect">
            <a:avLst>
              <a:gd name="adj" fmla="val 6897"/>
            </a:avLst>
          </a:prstGeom>
          <a:solidFill>
            <a:srgbClr val="1E2F45"/>
          </a:solidFill>
          <a:ln w="25400">
            <a:solidFill>
              <a:srgbClr val="F4736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63840" y="2304288"/>
            <a:ext cx="3657600" cy="347472"/>
          </a:xfrm>
          <a:prstGeom prst="roundRect">
            <a:avLst>
              <a:gd name="adj" fmla="val 21053"/>
            </a:avLst>
          </a:prstGeom>
          <a:solidFill>
            <a:srgbClr val="F4736A"/>
          </a:solidFill>
          <a:ln w="12700">
            <a:solidFill>
              <a:srgbClr val="F4736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55280" y="233172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973568" y="2706624"/>
            <a:ext cx="343814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object that HAS energy before the collision and transfers it on impact.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0" name="Text 28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21-01  ·  What Happens When Objects Collide?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Transfer in Collisions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11430000" cy="1115568"/>
          </a:xfrm>
          <a:prstGeom prst="roundRect">
            <a:avLst>
              <a:gd name="adj" fmla="val 6557"/>
            </a:avLst>
          </a:prstGeom>
          <a:solidFill>
            <a:srgbClr val="162233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04672"/>
            <a:ext cx="1115568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objects collide, kinetic energy moves from the MOVING object to the STATIONARY one. The result depends on mass and speed.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029968"/>
            <a:ext cx="5486400" cy="2011680"/>
          </a:xfrm>
          <a:prstGeom prst="roundRect">
            <a:avLst>
              <a:gd name="adj" fmla="val 3636"/>
            </a:avLst>
          </a:prstGeom>
          <a:solidFill>
            <a:srgbClr val="1E2F45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121408"/>
            <a:ext cx="5212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⚪➡⚪  Same size, same speed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651760"/>
            <a:ext cx="521208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marble STOPS. Second marble moves at same speed. All energy transfers.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26480" y="2029968"/>
            <a:ext cx="5486400" cy="2011680"/>
          </a:xfrm>
          <a:prstGeom prst="roundRect">
            <a:avLst>
              <a:gd name="adj" fmla="val 3636"/>
            </a:avLst>
          </a:prstGeom>
          <a:solidFill>
            <a:srgbClr val="1E2F45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63640" y="2121408"/>
            <a:ext cx="5212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🔵➡⚪  Fast hits slow (same size)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63640" y="2651760"/>
            <a:ext cx="521208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marble slows. Second marble moves faster. Energy spreads between both.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4224528"/>
            <a:ext cx="5486400" cy="2011680"/>
          </a:xfrm>
          <a:prstGeom prst="roundRect">
            <a:avLst>
              <a:gd name="adj" fmla="val 3636"/>
            </a:avLst>
          </a:prstGeom>
          <a:solidFill>
            <a:srgbClr val="1E2F45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4315968"/>
            <a:ext cx="5212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⚪➡🔵  Small hits large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4846320"/>
            <a:ext cx="521208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marble bounces back. Large marble barely moves. Little energy transferred.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26480" y="4224528"/>
            <a:ext cx="5486400" cy="2011680"/>
          </a:xfrm>
          <a:prstGeom prst="roundRect">
            <a:avLst>
              <a:gd name="adj" fmla="val 3636"/>
            </a:avLst>
          </a:prstGeom>
          <a:solidFill>
            <a:srgbClr val="1E2F45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3640" y="4315968"/>
            <a:ext cx="5212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🔵➡⚪  Large hits small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63640" y="4846320"/>
            <a:ext cx="521208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marble keeps most motion. Small marble flies far. Large mass + speed = lots of energy.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20" name="Text 18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21-01  ·  What Happens When Objects Collide?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Tool: Before and After Observations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11430000" cy="804672"/>
          </a:xfrm>
          <a:prstGeom prst="roundRect">
            <a:avLst>
              <a:gd name="adj" fmla="val 9091"/>
            </a:avLst>
          </a:prstGeom>
          <a:solidFill>
            <a:srgbClr val="1E2F45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04672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Scientists observe BEFORE and AFTER a collision to find evidence of energy transfer.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719072"/>
            <a:ext cx="5394960" cy="4434840"/>
          </a:xfrm>
          <a:prstGeom prst="roundRect">
            <a:avLst>
              <a:gd name="adj" fmla="val 1649"/>
            </a:avLst>
          </a:prstGeom>
          <a:solidFill>
            <a:srgbClr val="1E2F45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792224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Collision: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212848"/>
            <a:ext cx="5029200" cy="3794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A: rolling at speed X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B: stationary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energy = kinetic energy of A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predict will happen?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0" y="1719072"/>
            <a:ext cx="5852160" cy="4434840"/>
          </a:xfrm>
          <a:prstGeom prst="roundRect">
            <a:avLst>
              <a:gd name="adj" fmla="val 1649"/>
            </a:avLst>
          </a:prstGeom>
          <a:solidFill>
            <a:srgbClr val="1E2F45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0" y="1792224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Collision: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126480" y="2212848"/>
            <a:ext cx="5486400" cy="3794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A: now moving slower (or stopped)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B: now moving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energy = same! It just moved.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of transfer: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"Object B is now moving, which means energy from Object A was transferred to Object B on collision."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14" name="Text 12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21-01  ·  What Happens When Objects Collide?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Practice: What Will Happen?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11430000" cy="804672"/>
          </a:xfrm>
          <a:prstGeom prst="roundRect">
            <a:avLst>
              <a:gd name="adj" fmla="val 9091"/>
            </a:avLst>
          </a:prstGeom>
          <a:solidFill>
            <a:srgbClr val="1E2F45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04672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your notebook: write an evidence-based prediction for each scenario. Use: "I predict ___ because ___"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719072"/>
            <a:ext cx="11430000" cy="1444752"/>
          </a:xfrm>
          <a:prstGeom prst="roundRect">
            <a:avLst>
              <a:gd name="adj" fmla="val 5063"/>
            </a:avLst>
          </a:prstGeom>
          <a:solidFill>
            <a:srgbClr val="0A1520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810512"/>
            <a:ext cx="457200" cy="457200"/>
          </a:xfrm>
          <a:prstGeom prst="ellipse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8105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17830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 bowling ball rolls slowly and hits a small ping pong ball at rest.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005840" y="233172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A3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predict ___ because ___"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" y="3291840"/>
            <a:ext cx="11430000" cy="1444752"/>
          </a:xfrm>
          <a:prstGeom prst="roundRect">
            <a:avLst>
              <a:gd name="adj" fmla="val 5063"/>
            </a:avLst>
          </a:prstGeom>
          <a:solidFill>
            <a:srgbClr val="0A1520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383280"/>
            <a:ext cx="457200" cy="457200"/>
          </a:xfrm>
          <a:prstGeom prst="ellipse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335584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fast-moving small marble hits a larger marble at rest.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005840" y="3904488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A3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predict ___ because ___"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65760" y="4864608"/>
            <a:ext cx="11430000" cy="1444752"/>
          </a:xfrm>
          <a:prstGeom prst="roundRect">
            <a:avLst>
              <a:gd name="adj" fmla="val 5063"/>
            </a:avLst>
          </a:prstGeom>
          <a:solidFill>
            <a:srgbClr val="0A1520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4956048"/>
            <a:ext cx="457200" cy="457200"/>
          </a:xfrm>
          <a:prstGeom prst="ellipse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9560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05840" y="4928616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identical marbles traveling toward each other at the same speed collide head-on.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005840" y="5477256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A3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predict ___ because ___"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23" name="Text 21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21-01  ·  What Happens When Objects Collide?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Discussion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11430000" cy="2011680"/>
          </a:xfrm>
          <a:prstGeom prst="roundRect">
            <a:avLst>
              <a:gd name="adj" fmla="val 3636"/>
            </a:avLst>
          </a:prstGeom>
          <a:solidFill>
            <a:srgbClr val="16223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822960"/>
            <a:ext cx="111008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Question: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30352" y="1188720"/>
            <a:ext cx="11100816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car crash between a large truck and a small car traveling at the same speed, which vehicle experiences a greater change in motion? Why? What does this tell us about mass, speed, and energy transfer in collisions?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907792"/>
            <a:ext cx="11430000" cy="1298448"/>
          </a:xfrm>
          <a:prstGeom prst="roundRect">
            <a:avLst>
              <a:gd name="adj" fmla="val 5634"/>
            </a:avLst>
          </a:prstGeom>
          <a:solidFill>
            <a:srgbClr val="1E2F45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971800"/>
            <a:ext cx="11155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Argumentation Starters: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337560"/>
            <a:ext cx="11155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small car experiences a greater change in motion because ___."  "Evidence from our collision scenarios shows ___."  "I disagree with ___ because ___."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12" name="Text 10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21-01  ·  What Happens When Objects Collide?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 Stage 2: Claim + Evidence — Collision Outcome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5394960" cy="5349240"/>
          </a:xfrm>
          <a:prstGeom prst="roundRect">
            <a:avLst>
              <a:gd name="adj" fmla="val 1709"/>
            </a:avLst>
          </a:prstGeom>
          <a:solidFill>
            <a:srgbClr val="0A3D8F"/>
          </a:solidFill>
          <a:ln w="19050">
            <a:solidFill>
              <a:srgbClr val="1A5FB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749808"/>
            <a:ext cx="5394960" cy="347472"/>
          </a:xfrm>
          <a:prstGeom prst="rect">
            <a:avLst/>
          </a:prstGeom>
          <a:solidFill>
            <a:srgbClr val="1A5FBD"/>
          </a:solidFill>
          <a:ln w="12700">
            <a:solidFill>
              <a:srgbClr val="1A5FB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768096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CLAIM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152144"/>
            <a:ext cx="5120640" cy="4855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Scenario A, B, or C. Write: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claim that when ___ hits ___, the ___ will ___ because ___."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claim must predict a specific outcome.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943600" y="749808"/>
            <a:ext cx="5852160" cy="5349240"/>
          </a:xfrm>
          <a:prstGeom prst="roundRect">
            <a:avLst>
              <a:gd name="adj" fmla="val 1709"/>
            </a:avLst>
          </a:prstGeom>
          <a:solidFill>
            <a:srgbClr val="145C35"/>
          </a:solidFill>
          <a:ln w="19050">
            <a:solidFill>
              <a:srgbClr val="228B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0" y="749808"/>
            <a:ext cx="5852160" cy="347472"/>
          </a:xfrm>
          <a:prstGeom prst="rect">
            <a:avLst/>
          </a:prstGeom>
          <a:solidFill>
            <a:srgbClr val="228B50"/>
          </a:solidFill>
          <a:ln w="12700">
            <a:solidFill>
              <a:srgbClr val="228B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0" y="768096"/>
            <a:ext cx="5669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EVIDENCE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80760" y="1152144"/>
            <a:ext cx="5577840" cy="4855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2 pieces of evidence: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From the collision patterns chart: "When a large object hits a small one, ___"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From the kinetic energy relationship: "More mass/speed means more ___ energy..."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must come from today's lesson content.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14" name="Text 12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21-01  ·  What Happens When Objects Collide?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for Understanding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11430000" cy="2697480"/>
          </a:xfrm>
          <a:prstGeom prst="roundRect">
            <a:avLst>
              <a:gd name="adj" fmla="val 2712"/>
            </a:avLst>
          </a:prstGeom>
          <a:solidFill>
            <a:srgbClr val="1E2F45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2296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 moving marble hits a stationary marble of the same size and mass. What most likely happens?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Both marbles keep moving at the same speed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400800" y="1371600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The first marble stops and the second marble moves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31520" y="1847088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Both marbles stop completely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400800" y="1847088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The first marble bounces backward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601200" y="30175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B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3630168"/>
            <a:ext cx="11430000" cy="2697480"/>
          </a:xfrm>
          <a:prstGeom prst="roundRect">
            <a:avLst>
              <a:gd name="adj" fmla="val 2712"/>
            </a:avLst>
          </a:prstGeom>
          <a:solidFill>
            <a:srgbClr val="1E2F45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70332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Which observation is EVIDENCE that energy was transferred in a collision?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31520" y="4251960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The first marble is red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400800" y="4251960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The surface is smooth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31520" y="4727448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The second marble started moving after impact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400800" y="4727448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The marbles are the same size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601200" y="58978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C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20" name="Text 18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21-01  ·  What Happens When Objects Collide?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🌟  Reflect + Closing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11247120" cy="1417320"/>
          </a:xfrm>
          <a:prstGeom prst="roundRect">
            <a:avLst>
              <a:gd name="adj" fmla="val 5161"/>
            </a:avLst>
          </a:prstGeom>
          <a:solidFill>
            <a:srgbClr val="1E2F45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04672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Essential Question Response — Write in your science notebook: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170432"/>
            <a:ext cx="1097280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"When objects collide, what determines how energy is transferred and motion changes?"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2–3 sentences using vocab words from today.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304288"/>
            <a:ext cx="7315200" cy="2560320"/>
          </a:xfrm>
          <a:prstGeom prst="roundRect">
            <a:avLst>
              <a:gd name="adj" fmla="val 2857"/>
            </a:avLst>
          </a:prstGeom>
          <a:solidFill>
            <a:srgbClr val="1E2F45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359152"/>
            <a:ext cx="7040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What to Turn In: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743200"/>
            <a:ext cx="7040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Marble collision prediction (notebook)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090672"/>
            <a:ext cx="7040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3 scenario predictions with reasoning (notebook)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438144"/>
            <a:ext cx="7040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CER Stage 2: Claim + Evidence for a collision outcome (notebook)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863840" y="2304288"/>
            <a:ext cx="3931920" cy="2560320"/>
          </a:xfrm>
          <a:prstGeom prst="roundRect">
            <a:avLst>
              <a:gd name="adj" fmla="val 2857"/>
            </a:avLst>
          </a:prstGeom>
          <a:solidFill>
            <a:srgbClr val="1A1A3A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01000" y="235915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🔜  Coming Next: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001000" y="274320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21-02: Investigation — Predicting Collisions (test your predictions!)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0" y="5047488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5120640"/>
            <a:ext cx="11247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work today, scientists! See you next time.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19" name="Text 17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21-01  ·  What Happens When Objects Collide?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2026-07-14T00:36:10Z</dcterms:created>
  <dcterms:modified xsi:type="dcterms:W3CDTF">2026-07-14T00:36:10Z</dcterms:modified>
</cp:coreProperties>
</file>