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Week 11 — new unit! Shifting from ecosystems to organism-level structure &amp; function. Q2 CER habits carry forward. Students now argue from structural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sketch and predict. Goal: notice that SHAPE tells you something about FUNCTION.
Share 2-3 predictions. Key question: 'What is it about the FLAT shape that helps sweep for food?'
Connect to Q2 structure-function theme: every structure has a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predictions from structure alone. This is exactly what scientists do!
Answers: Eagle — hunts animals, dives, needs grip. Spoonbill — sweeps shallow water for tiny fish/shrimp. Parrot — cracks seeds, climbs trees.
After sharing: 'What specific part of the structure gave you the clue? How does SHAPE tell you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connection: Structure = the part. Function = the job. Shape determines function!
Ask: 'Your teeth have different shapes — front vs. back teeth. Do they have different functions? What evidence do you have?'
Follow up: 'Does anyone have different evidence about what the function of _____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example: 'What is the SHAPE of this structure? How does the shape relate to its function?'
Key concept: Function doesn't happen by accident — the shape IS the function.
Investigation design: 'How could we test whether an eagle really needs those specific talon shapes? What would be our fair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'Only animals have internal structures.' Plants have them too! Water tubes in stems, nutrients in roots.
Ask: 'If a turtle's shell (external) protects from predators, and its lungs (internal) let it breathe — can we say both are needed for survival?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study the diagram. Ask: 'Point to one external structure on the plant. Point to one internal structure on the animal. How do you know which is which?'
Variables: 'If the tortoise's front legs were shaped differently — like a swimming flipper — what would change about its survival? What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mile away! And that's the same structure — an eye — that you're using right now. Why does the eagle's eye work so differently?' (Different internal structure within the eye — more cone cells, larger eye relative to head size)
Connect: 'The tortoise's shovel-shaped legs connect back to our ecosystem lessons — one STRUCTURE supports 350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Steps 2-4. Look for: specific structure named, evidence describing the shape (not just 'because it helps'), reasoning connecting structure to swamp survival.
Think Like a Scientist: 'What's your independent variable? What evidence did you use? Is this a fair test?'
After sharing: 'Does anyone have DIFFERENT evidence about how the high-positioned eyes help the alligator?'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draw BEFORE you reveal. After revealing, ask: 'What did you get right? What structure did you forget? Revise in a different color.'
Revise Your Model: 'Add any labels you missed in a different color. Circle any structure where the shape gives you a clue about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Claim: 'I disagree because the flat beak's shape directly affects the spoonbill's survival.'
Evidence: The flat shape sweeps more water in each stroke, and the nerve endings in the flat beak can feel small fish and shrimp that the bird can't see.
Reasoning: This shows that structure shape IS function. A pointy beak could spear fish but couldn't sweep-sense tiny prey in murky water. The shape makes the function possible.
This is the core of 4-LS1-1: structure enables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independent, then partner share.
After sharing: 'After the first answer, ask: Does anyone have different evidence about plant structures? What evidence would change your mind?'
Look for: students naming specific plant structures (not just 'leaves') AND their functions (catch sunlight for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years! Imagine the root structure that survives that long — what function does it serve?' (Anchoring, water absorption, nutrient uptake — all via the same structure).
Connect to investigation design: 'How do scientists study internal structures WITHOUT harming the organism? What tools do they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 leaves catch sunlight for photosynthesis. Q2: A — shell is external (visible on outside). Q3: B — shape enables function.
After Q3: 'What EVIDENCE from today's lesson connects the beak's SHAPE to its FUNCTION?' (Key structure-function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The labeled sketch from Step 10 is exactly what Part C asks for — use it!
CER from Slide 11 (or 12) is already written — just copy it.
Submit via Canvas: typed, photo of notebook, or video of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'Point to one external structure on your body and tell me its function in one sentence.' Students share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in notebooks first (2 minutes), then reveal answers together.
Answers: 1-B, 2-F, 3-D, 4-C, 5-E, 6-A
For each: ask 'What is it about the SHAPE of that structure that helps it do that job?'
Key insight: Shape IS function. The shape of a structure tells you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structure. For each: 'What does the SHAPE tell you? How does the shape enable the function?'
Key Q: 'If we changed the shape of ONE of these structures, would it still do the same job? What evidence supports your answer?'
After sharing: 'Does anyone have different evidence about how that structure helps the organism?'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hits the Go Deeper from the HTML lesson.
Key Q: 'All five birds have the same STRUCTURE (a beak). What changes? (The shape) What stays the same? (It's still for eating) What's the dependent variable? (The food each bird can eat)'
Evidence-based prediction: 'A scientist finds a new bird with a very long curved beak. What does it probably eat?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investigation design: 'How do scientists study internal structures without harming the organism?'
Key insight: we can only INFER functions of internal structures from these images + from how the animal behaves — we don't cut things open to find out.
Ask: 'Which tool would you use to check a manatee's lungs? Which would you use to check its bones?'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Inside Out: Plant and Animal Structures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Q3 · Week 11 · Life Science · Structure &amp; Function</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4-LS1-1 / SC.4.L.16.1 — Match plant and animal structures to the jobs they do for survival</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Tell the difference between an internal and external structure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Match plant and animal structures to the jobs they do (functions)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evidence to argue why one specific structure helps an organism survive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 Observation mindset — zoom IN today!</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Wonder About a Beak  (5 min)</a:t>
            </a:r>
            <a:endParaRPr lang="en-US" sz="1600" dirty="0"/>
          </a:p>
        </p:txBody>
      </p:sp>
      <p:sp>
        <p:nvSpPr>
          <p:cNvPr id="5" name="Shape 3"/>
          <p:cNvSpPr/>
          <p:nvPr/>
        </p:nvSpPr>
        <p:spPr>
          <a:xfrm>
            <a:off x="365760" y="713232"/>
            <a:ext cx="11521440" cy="1481328"/>
          </a:xfrm>
          <a:prstGeom prst="roundRect">
            <a:avLst>
              <a:gd name="adj" fmla="val 4938"/>
            </a:avLst>
          </a:prstGeom>
          <a:solidFill>
            <a:srgbClr val="1E2F45"/>
          </a:solidFill>
          <a:ln w="12700">
            <a:solidFill>
              <a:srgbClr val="FFB703"/>
            </a:solidFill>
            <a:prstDash val="solid"/>
          </a:ln>
        </p:spPr>
      </p:sp>
      <p:sp>
        <p:nvSpPr>
          <p:cNvPr id="6" name="Text 4"/>
          <p:cNvSpPr/>
          <p:nvPr/>
        </p:nvSpPr>
        <p:spPr>
          <a:xfrm>
            <a:off x="548640" y="768096"/>
            <a:ext cx="11155680" cy="438912"/>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So far you've studied whole Florida ecosystems. Today you'll zoom WAY in — to the parts of one plant or animal.</a:t>
            </a:r>
            <a:endParaRPr lang="en-US" sz="1350" dirty="0"/>
          </a:p>
        </p:txBody>
      </p:sp>
      <p:sp>
        <p:nvSpPr>
          <p:cNvPr id="7" name="Text 5"/>
          <p:cNvSpPr/>
          <p:nvPr/>
        </p:nvSpPr>
        <p:spPr>
          <a:xfrm>
            <a:off x="548640" y="1243584"/>
            <a:ext cx="11155680" cy="74980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In your notebook, sketch the beak of a roseate spoonbill — the long pink Florida bird with a flat, spoon-shaped beak. Don't worry about being accurate. Just notice the shape.</a:t>
            </a:r>
            <a:endParaRPr lang="en-US" sz="1250" dirty="0"/>
          </a:p>
        </p:txBody>
      </p:sp>
      <p:sp>
        <p:nvSpPr>
          <p:cNvPr id="8" name="Shape 6"/>
          <p:cNvSpPr/>
          <p:nvPr/>
        </p:nvSpPr>
        <p:spPr>
          <a:xfrm>
            <a:off x="365760" y="2331720"/>
            <a:ext cx="11521440" cy="347472"/>
          </a:xfrm>
          <a:prstGeom prst="roundRect">
            <a:avLst>
              <a:gd name="adj" fmla="val 23684"/>
            </a:avLst>
          </a:prstGeom>
          <a:solidFill>
            <a:srgbClr val="E09200"/>
          </a:solidFill>
          <a:ln w="19050">
            <a:solidFill>
              <a:srgbClr val="FFB703"/>
            </a:solidFill>
            <a:prstDash val="solid"/>
          </a:ln>
        </p:spPr>
      </p:sp>
      <p:sp>
        <p:nvSpPr>
          <p:cNvPr id="9" name="Text 7"/>
          <p:cNvSpPr/>
          <p:nvPr/>
        </p:nvSpPr>
        <p:spPr>
          <a:xfrm>
            <a:off x="365760" y="2331720"/>
            <a:ext cx="11521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0" name="Text 8"/>
          <p:cNvSpPr/>
          <p:nvPr/>
        </p:nvSpPr>
        <p:spPr>
          <a:xfrm>
            <a:off x="502920" y="2724912"/>
            <a:ext cx="11292840" cy="621792"/>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spoonbill sweeps that flat beak back and forth in shallow water. Why would a FLAT beak be more useful for that job than a sharp, POINTY one? Write your best guess."</a:t>
            </a:r>
            <a:endParaRPr lang="en-US" sz="1300" dirty="0"/>
          </a:p>
        </p:txBody>
      </p:sp>
      <p:sp>
        <p:nvSpPr>
          <p:cNvPr id="11" name="Shape 9"/>
          <p:cNvSpPr/>
          <p:nvPr/>
        </p:nvSpPr>
        <p:spPr>
          <a:xfrm>
            <a:off x="365760" y="3493008"/>
            <a:ext cx="11521440" cy="1261872"/>
          </a:xfrm>
          <a:prstGeom prst="roundRect">
            <a:avLst>
              <a:gd name="adj" fmla="val 5797"/>
            </a:avLst>
          </a:prstGeom>
          <a:solidFill>
            <a:srgbClr val="1A1A10"/>
          </a:solidFill>
          <a:ln w="12700">
            <a:solidFill>
              <a:srgbClr val="FFB703"/>
            </a:solidFill>
            <a:prstDash val="solid"/>
          </a:ln>
        </p:spPr>
      </p:sp>
      <p:sp>
        <p:nvSpPr>
          <p:cNvPr id="12" name="Text 10"/>
          <p:cNvSpPr/>
          <p:nvPr/>
        </p:nvSpPr>
        <p:spPr>
          <a:xfrm>
            <a:off x="548640" y="3584448"/>
            <a:ext cx="11155680" cy="65836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 body part on every living thing has a JOB. Today you'll learn to match parts to jobs — and use evidence to explain WHY a body part helps a plant or animal survive.</a:t>
            </a:r>
            <a:endParaRPr lang="en-US" sz="1250" dirty="0"/>
          </a:p>
        </p:txBody>
      </p:sp>
      <p:sp>
        <p:nvSpPr>
          <p:cNvPr id="13" name="Text 11"/>
          <p:cNvSpPr/>
          <p:nvPr/>
        </p:nvSpPr>
        <p:spPr>
          <a:xfrm>
            <a:off x="548640" y="4279392"/>
            <a:ext cx="11155680" cy="347472"/>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This is your evidence-based prediction: 'I predict the flat beak helps because ___.'</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 Reading Structures</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4CC9F0"/>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scientist finds an unfamiliar Florida bird. Without watching it eat or move, what can the scientist predict from its structures alone?</a:t>
            </a:r>
            <a:endParaRPr lang="en-US" sz="1300" dirty="0"/>
          </a:p>
        </p:txBody>
      </p:sp>
      <p:sp>
        <p:nvSpPr>
          <p:cNvPr id="7" name="Shape 5"/>
          <p:cNvSpPr/>
          <p:nvPr/>
        </p:nvSpPr>
        <p:spPr>
          <a:xfrm>
            <a:off x="365760" y="1664208"/>
            <a:ext cx="3566160" cy="4736592"/>
          </a:xfrm>
          <a:prstGeom prst="roundRect">
            <a:avLst>
              <a:gd name="adj" fmla="val 2051"/>
            </a:avLst>
          </a:prstGeom>
          <a:solidFill>
            <a:srgbClr val="1E2F45"/>
          </a:solidFill>
          <a:ln w="12700">
            <a:solidFill>
              <a:srgbClr val="F4736A"/>
            </a:solidFill>
            <a:prstDash val="solid"/>
          </a:ln>
        </p:spPr>
      </p:sp>
      <p:sp>
        <p:nvSpPr>
          <p:cNvPr id="8" name="Text 6"/>
          <p:cNvSpPr/>
          <p:nvPr/>
        </p:nvSpPr>
        <p:spPr>
          <a:xfrm>
            <a:off x="365760" y="1810512"/>
            <a:ext cx="3566160" cy="658368"/>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9" name="Text 7"/>
          <p:cNvSpPr/>
          <p:nvPr/>
        </p:nvSpPr>
        <p:spPr>
          <a:xfrm>
            <a:off x="502920" y="2542032"/>
            <a:ext cx="3291840" cy="310896"/>
          </a:xfrm>
          <a:prstGeom prst="rect">
            <a:avLst/>
          </a:prstGeom>
          <a:noFill/>
          <a:ln/>
        </p:spPr>
        <p:txBody>
          <a:bodyPr wrap="square" rtlCol="0" anchor="ctr"/>
          <a:lstStyle/>
          <a:p>
            <a:pPr indent="0" marL="0">
              <a:buNone/>
            </a:pPr>
            <a:r>
              <a:rPr lang="en-US" sz="1100" b="1" dirty="0">
                <a:solidFill>
                  <a:srgbClr val="F4736A"/>
                </a:solidFill>
                <a:latin typeface="Calibri" pitchFamily="34" charset="0"/>
                <a:ea typeface="Calibri" pitchFamily="34" charset="-122"/>
                <a:cs typeface="Calibri" pitchFamily="34" charset="-120"/>
              </a:rPr>
              <a:t>Structures observed:</a:t>
            </a:r>
            <a:endParaRPr lang="en-US" sz="1100" dirty="0"/>
          </a:p>
        </p:txBody>
      </p:sp>
      <p:sp>
        <p:nvSpPr>
          <p:cNvPr id="10" name="Text 8"/>
          <p:cNvSpPr/>
          <p:nvPr/>
        </p:nvSpPr>
        <p:spPr>
          <a:xfrm>
            <a:off x="502920" y="2889504"/>
            <a:ext cx="3291840" cy="13898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Sharp, hooked beak</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Talons (sharp claws)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Wide wingspan</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Excellent vision</a:t>
            </a:r>
            <a:endParaRPr lang="en-US" sz="1200" dirty="0"/>
          </a:p>
        </p:txBody>
      </p:sp>
      <p:sp>
        <p:nvSpPr>
          <p:cNvPr id="11" name="Text 9"/>
          <p:cNvSpPr/>
          <p:nvPr/>
        </p:nvSpPr>
        <p:spPr>
          <a:xfrm>
            <a:off x="502920" y="4315968"/>
            <a:ext cx="3291840" cy="1024128"/>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My prediction:</a:t>
            </a:r>
            <a:endParaRPr lang="en-US" sz="1150" dirty="0"/>
          </a:p>
          <a:p>
            <a:pPr indent="0" marL="0">
              <a:buNone/>
            </a:pPr>
            <a:r>
              <a:rPr lang="en-US" sz="1150" i="1" dirty="0">
                <a:solidFill>
                  <a:srgbClr val="FFFFFF"/>
                </a:solidFill>
                <a:latin typeface="Calibri" pitchFamily="34" charset="0"/>
                <a:ea typeface="Calibri" pitchFamily="34" charset="-122"/>
                <a:cs typeface="Calibri" pitchFamily="34" charset="-120"/>
              </a:rPr>
              <a:t>__________________</a:t>
            </a:r>
            <a:endParaRPr lang="en-US" sz="1150" dirty="0"/>
          </a:p>
        </p:txBody>
      </p:sp>
      <p:sp>
        <p:nvSpPr>
          <p:cNvPr id="12" name="Shape 10"/>
          <p:cNvSpPr/>
          <p:nvPr/>
        </p:nvSpPr>
        <p:spPr>
          <a:xfrm>
            <a:off x="4251960" y="1664208"/>
            <a:ext cx="3566160" cy="4736592"/>
          </a:xfrm>
          <a:prstGeom prst="roundRect">
            <a:avLst>
              <a:gd name="adj" fmla="val 2051"/>
            </a:avLst>
          </a:prstGeom>
          <a:solidFill>
            <a:srgbClr val="1E2F45"/>
          </a:solidFill>
          <a:ln w="12700">
            <a:solidFill>
              <a:srgbClr val="FFB703"/>
            </a:solidFill>
            <a:prstDash val="solid"/>
          </a:ln>
        </p:spPr>
      </p:sp>
      <p:sp>
        <p:nvSpPr>
          <p:cNvPr id="13" name="Text 11"/>
          <p:cNvSpPr/>
          <p:nvPr/>
        </p:nvSpPr>
        <p:spPr>
          <a:xfrm>
            <a:off x="4251960" y="1810512"/>
            <a:ext cx="3566160" cy="658368"/>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4" name="Text 12"/>
          <p:cNvSpPr/>
          <p:nvPr/>
        </p:nvSpPr>
        <p:spPr>
          <a:xfrm>
            <a:off x="4389120" y="2542032"/>
            <a:ext cx="3291840" cy="310896"/>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Structures observed:</a:t>
            </a:r>
            <a:endParaRPr lang="en-US" sz="1100" dirty="0"/>
          </a:p>
        </p:txBody>
      </p:sp>
      <p:sp>
        <p:nvSpPr>
          <p:cNvPr id="15" name="Text 13"/>
          <p:cNvSpPr/>
          <p:nvPr/>
        </p:nvSpPr>
        <p:spPr>
          <a:xfrm>
            <a:off x="4389120" y="2889504"/>
            <a:ext cx="3291840" cy="13898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Long thin legs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Flat, wide beak</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Pink feathers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Long neck</a:t>
            </a:r>
            <a:endParaRPr lang="en-US" sz="1200" dirty="0"/>
          </a:p>
        </p:txBody>
      </p:sp>
      <p:sp>
        <p:nvSpPr>
          <p:cNvPr id="16" name="Text 14"/>
          <p:cNvSpPr/>
          <p:nvPr/>
        </p:nvSpPr>
        <p:spPr>
          <a:xfrm>
            <a:off x="4389120" y="4315968"/>
            <a:ext cx="3291840" cy="1024128"/>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My prediction:</a:t>
            </a:r>
            <a:endParaRPr lang="en-US" sz="1150" dirty="0"/>
          </a:p>
          <a:p>
            <a:pPr indent="0" marL="0">
              <a:buNone/>
            </a:pPr>
            <a:r>
              <a:rPr lang="en-US" sz="1150" i="1" dirty="0">
                <a:solidFill>
                  <a:srgbClr val="FFFFFF"/>
                </a:solidFill>
                <a:latin typeface="Calibri" pitchFamily="34" charset="0"/>
                <a:ea typeface="Calibri" pitchFamily="34" charset="-122"/>
                <a:cs typeface="Calibri" pitchFamily="34" charset="-120"/>
              </a:rPr>
              <a:t>__________________</a:t>
            </a:r>
            <a:endParaRPr lang="en-US" sz="1150" dirty="0"/>
          </a:p>
        </p:txBody>
      </p:sp>
      <p:sp>
        <p:nvSpPr>
          <p:cNvPr id="17" name="Shape 15"/>
          <p:cNvSpPr/>
          <p:nvPr/>
        </p:nvSpPr>
        <p:spPr>
          <a:xfrm>
            <a:off x="8138160" y="1664208"/>
            <a:ext cx="3566160" cy="4736592"/>
          </a:xfrm>
          <a:prstGeom prst="roundRect">
            <a:avLst>
              <a:gd name="adj" fmla="val 2051"/>
            </a:avLst>
          </a:prstGeom>
          <a:solidFill>
            <a:srgbClr val="1E2F45"/>
          </a:solidFill>
          <a:ln w="12700">
            <a:solidFill>
              <a:srgbClr val="2DC653"/>
            </a:solidFill>
            <a:prstDash val="solid"/>
          </a:ln>
        </p:spPr>
      </p:sp>
      <p:sp>
        <p:nvSpPr>
          <p:cNvPr id="18" name="Text 16"/>
          <p:cNvSpPr/>
          <p:nvPr/>
        </p:nvSpPr>
        <p:spPr>
          <a:xfrm>
            <a:off x="8138160" y="1810512"/>
            <a:ext cx="3566160" cy="658368"/>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9" name="Text 17"/>
          <p:cNvSpPr/>
          <p:nvPr/>
        </p:nvSpPr>
        <p:spPr>
          <a:xfrm>
            <a:off x="8275320" y="2542032"/>
            <a:ext cx="3291840" cy="310896"/>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Structures observed:</a:t>
            </a:r>
            <a:endParaRPr lang="en-US" sz="1100" dirty="0"/>
          </a:p>
        </p:txBody>
      </p:sp>
      <p:sp>
        <p:nvSpPr>
          <p:cNvPr id="20" name="Text 18"/>
          <p:cNvSpPr/>
          <p:nvPr/>
        </p:nvSpPr>
        <p:spPr>
          <a:xfrm>
            <a:off x="8275320" y="2889504"/>
            <a:ext cx="3291840" cy="13898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Short, thick curved beak</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Zygodactyl feet (2 toes forward, 2 back)</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Bright colors</a:t>
            </a:r>
            <a:endParaRPr lang="en-US" sz="1200" dirty="0"/>
          </a:p>
        </p:txBody>
      </p:sp>
      <p:sp>
        <p:nvSpPr>
          <p:cNvPr id="21" name="Text 19"/>
          <p:cNvSpPr/>
          <p:nvPr/>
        </p:nvSpPr>
        <p:spPr>
          <a:xfrm>
            <a:off x="8275320" y="4315968"/>
            <a:ext cx="3291840" cy="1024128"/>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My prediction:</a:t>
            </a:r>
            <a:endParaRPr lang="en-US" sz="1150" dirty="0"/>
          </a:p>
          <a:p>
            <a:pPr indent="0" marL="0">
              <a:buNone/>
            </a:pPr>
            <a:r>
              <a:rPr lang="en-US" sz="1150" i="1" dirty="0">
                <a:solidFill>
                  <a:srgbClr val="FFFFFF"/>
                </a:solidFill>
                <a:latin typeface="Calibri" pitchFamily="34" charset="0"/>
                <a:ea typeface="Calibri" pitchFamily="34" charset="-122"/>
                <a:cs typeface="Calibri" pitchFamily="34" charset="-120"/>
              </a:rPr>
              <a:t>__________________</a:t>
            </a:r>
            <a:endParaRPr lang="en-US" sz="11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6 Words for Today</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These words help us talk precisely about body parts and what they do.</a:t>
            </a:r>
            <a:endParaRPr lang="en-US" sz="1150" dirty="0"/>
          </a:p>
        </p:txBody>
      </p:sp>
      <p:sp>
        <p:nvSpPr>
          <p:cNvPr id="6" name="Shape 4"/>
          <p:cNvSpPr/>
          <p:nvPr/>
        </p:nvSpPr>
        <p:spPr>
          <a:xfrm>
            <a:off x="365760" y="987552"/>
            <a:ext cx="3657600" cy="1325880"/>
          </a:xfrm>
          <a:prstGeom prst="roundRect">
            <a:avLst>
              <a:gd name="adj" fmla="val 6897"/>
            </a:avLst>
          </a:prstGeom>
          <a:solidFill>
            <a:srgbClr val="1E2F45"/>
          </a:solidFill>
          <a:ln w="25400">
            <a:solidFill>
              <a:srgbClr val="4CC9F0"/>
            </a:solidFill>
            <a:prstDash val="solid"/>
          </a:ln>
        </p:spPr>
      </p:sp>
      <p:sp>
        <p:nvSpPr>
          <p:cNvPr id="7" name="Shape 5"/>
          <p:cNvSpPr/>
          <p:nvPr/>
        </p:nvSpPr>
        <p:spPr>
          <a:xfrm>
            <a:off x="365760" y="987552"/>
            <a:ext cx="3657600" cy="347472"/>
          </a:xfrm>
          <a:prstGeom prst="roundRect">
            <a:avLst>
              <a:gd name="adj" fmla="val 21053"/>
            </a:avLst>
          </a:prstGeom>
          <a:solidFill>
            <a:srgbClr val="4CC9F0"/>
          </a:solidFill>
          <a:ln w="12700">
            <a:solidFill>
              <a:srgbClr val="4CC9F0"/>
            </a:solidFill>
            <a:prstDash val="solid"/>
          </a:ln>
        </p:spPr>
      </p:sp>
      <p:sp>
        <p:nvSpPr>
          <p:cNvPr id="8" name="Text 6"/>
          <p:cNvSpPr/>
          <p:nvPr/>
        </p:nvSpPr>
        <p:spPr>
          <a:xfrm>
            <a:off x="45720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Structure</a:t>
            </a:r>
            <a:endParaRPr lang="en-US" sz="1200" dirty="0"/>
          </a:p>
        </p:txBody>
      </p:sp>
      <p:sp>
        <p:nvSpPr>
          <p:cNvPr id="9" name="Text 7"/>
          <p:cNvSpPr/>
          <p:nvPr/>
        </p:nvSpPr>
        <p:spPr>
          <a:xfrm>
            <a:off x="47548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body part of a plant or animal. Roots, leaves, beaks, eyes, and shells are all structures.</a:t>
            </a:r>
            <a:endParaRPr lang="en-US" sz="1050" dirty="0"/>
          </a:p>
        </p:txBody>
      </p:sp>
      <p:sp>
        <p:nvSpPr>
          <p:cNvPr id="10" name="Shape 8"/>
          <p:cNvSpPr/>
          <p:nvPr/>
        </p:nvSpPr>
        <p:spPr>
          <a:xfrm>
            <a:off x="4206240" y="987552"/>
            <a:ext cx="3657600" cy="1325880"/>
          </a:xfrm>
          <a:prstGeom prst="roundRect">
            <a:avLst>
              <a:gd name="adj" fmla="val 6897"/>
            </a:avLst>
          </a:prstGeom>
          <a:solidFill>
            <a:srgbClr val="1E2F45"/>
          </a:solidFill>
          <a:ln w="25400">
            <a:solidFill>
              <a:srgbClr val="FFB703"/>
            </a:solidFill>
            <a:prstDash val="solid"/>
          </a:ln>
        </p:spPr>
      </p:sp>
      <p:sp>
        <p:nvSpPr>
          <p:cNvPr id="11" name="Shape 9"/>
          <p:cNvSpPr/>
          <p:nvPr/>
        </p:nvSpPr>
        <p:spPr>
          <a:xfrm>
            <a:off x="4206240" y="987552"/>
            <a:ext cx="3657600" cy="347472"/>
          </a:xfrm>
          <a:prstGeom prst="roundRect">
            <a:avLst>
              <a:gd name="adj" fmla="val 21053"/>
            </a:avLst>
          </a:prstGeom>
          <a:solidFill>
            <a:srgbClr val="FFB703"/>
          </a:solidFill>
          <a:ln w="12700">
            <a:solidFill>
              <a:srgbClr val="FFB703"/>
            </a:solidFill>
            <a:prstDash val="solid"/>
          </a:ln>
        </p:spPr>
      </p:sp>
      <p:sp>
        <p:nvSpPr>
          <p:cNvPr id="12" name="Text 10"/>
          <p:cNvSpPr/>
          <p:nvPr/>
        </p:nvSpPr>
        <p:spPr>
          <a:xfrm>
            <a:off x="429768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p>
        </p:txBody>
      </p:sp>
      <p:sp>
        <p:nvSpPr>
          <p:cNvPr id="13" name="Text 11"/>
          <p:cNvSpPr/>
          <p:nvPr/>
        </p:nvSpPr>
        <p:spPr>
          <a:xfrm>
            <a:off x="431596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job that a structure does. Leaves function by catching sunlight to make food.</a:t>
            </a:r>
            <a:endParaRPr lang="en-US" sz="1050" dirty="0"/>
          </a:p>
        </p:txBody>
      </p:sp>
      <p:sp>
        <p:nvSpPr>
          <p:cNvPr id="14" name="Shape 12"/>
          <p:cNvSpPr/>
          <p:nvPr/>
        </p:nvSpPr>
        <p:spPr>
          <a:xfrm>
            <a:off x="8046720" y="987552"/>
            <a:ext cx="3657600" cy="1325880"/>
          </a:xfrm>
          <a:prstGeom prst="roundRect">
            <a:avLst>
              <a:gd name="adj" fmla="val 6897"/>
            </a:avLst>
          </a:prstGeom>
          <a:solidFill>
            <a:srgbClr val="1E2F45"/>
          </a:solidFill>
          <a:ln w="25400">
            <a:solidFill>
              <a:srgbClr val="2DC653"/>
            </a:solidFill>
            <a:prstDash val="solid"/>
          </a:ln>
        </p:spPr>
      </p:sp>
      <p:sp>
        <p:nvSpPr>
          <p:cNvPr id="15" name="Shape 13"/>
          <p:cNvSpPr/>
          <p:nvPr/>
        </p:nvSpPr>
        <p:spPr>
          <a:xfrm>
            <a:off x="8046720" y="987552"/>
            <a:ext cx="3657600" cy="347472"/>
          </a:xfrm>
          <a:prstGeom prst="roundRect">
            <a:avLst>
              <a:gd name="adj" fmla="val 21053"/>
            </a:avLst>
          </a:prstGeom>
          <a:solidFill>
            <a:srgbClr val="2DC653"/>
          </a:solidFill>
          <a:ln w="12700">
            <a:solidFill>
              <a:srgbClr val="2DC653"/>
            </a:solidFill>
            <a:prstDash val="solid"/>
          </a:ln>
        </p:spPr>
      </p:sp>
      <p:sp>
        <p:nvSpPr>
          <p:cNvPr id="16" name="Text 14"/>
          <p:cNvSpPr/>
          <p:nvPr/>
        </p:nvSpPr>
        <p:spPr>
          <a:xfrm>
            <a:off x="813816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Organism</a:t>
            </a:r>
            <a:endParaRPr lang="en-US" sz="1200" dirty="0"/>
          </a:p>
        </p:txBody>
      </p:sp>
      <p:sp>
        <p:nvSpPr>
          <p:cNvPr id="17" name="Text 15"/>
          <p:cNvSpPr/>
          <p:nvPr/>
        </p:nvSpPr>
        <p:spPr>
          <a:xfrm>
            <a:off x="815644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Any single living thing — a plant, an animal, a fungus. One tree is one organism.</a:t>
            </a:r>
            <a:endParaRPr lang="en-US" sz="1050" dirty="0"/>
          </a:p>
        </p:txBody>
      </p:sp>
      <p:sp>
        <p:nvSpPr>
          <p:cNvPr id="18" name="Shape 16"/>
          <p:cNvSpPr/>
          <p:nvPr/>
        </p:nvSpPr>
        <p:spPr>
          <a:xfrm>
            <a:off x="365760" y="2487168"/>
            <a:ext cx="3657600" cy="1325880"/>
          </a:xfrm>
          <a:prstGeom prst="roundRect">
            <a:avLst>
              <a:gd name="adj" fmla="val 6897"/>
            </a:avLst>
          </a:prstGeom>
          <a:solidFill>
            <a:srgbClr val="1E2F45"/>
          </a:solidFill>
          <a:ln w="25400">
            <a:solidFill>
              <a:srgbClr val="F4736A"/>
            </a:solidFill>
            <a:prstDash val="solid"/>
          </a:ln>
        </p:spPr>
      </p:sp>
      <p:sp>
        <p:nvSpPr>
          <p:cNvPr id="19" name="Shape 17"/>
          <p:cNvSpPr/>
          <p:nvPr/>
        </p:nvSpPr>
        <p:spPr>
          <a:xfrm>
            <a:off x="365760" y="2487168"/>
            <a:ext cx="3657600" cy="347472"/>
          </a:xfrm>
          <a:prstGeom prst="roundRect">
            <a:avLst>
              <a:gd name="adj" fmla="val 21053"/>
            </a:avLst>
          </a:prstGeom>
          <a:solidFill>
            <a:srgbClr val="F4736A"/>
          </a:solidFill>
          <a:ln w="12700">
            <a:solidFill>
              <a:srgbClr val="F4736A"/>
            </a:solidFill>
            <a:prstDash val="solid"/>
          </a:ln>
        </p:spPr>
      </p:sp>
      <p:sp>
        <p:nvSpPr>
          <p:cNvPr id="20" name="Text 18"/>
          <p:cNvSpPr/>
          <p:nvPr/>
        </p:nvSpPr>
        <p:spPr>
          <a:xfrm>
            <a:off x="45720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Survival</a:t>
            </a:r>
            <a:endParaRPr lang="en-US" sz="1200" dirty="0"/>
          </a:p>
        </p:txBody>
      </p:sp>
      <p:sp>
        <p:nvSpPr>
          <p:cNvPr id="21" name="Text 19"/>
          <p:cNvSpPr/>
          <p:nvPr/>
        </p:nvSpPr>
        <p:spPr>
          <a:xfrm>
            <a:off x="47548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Staying alive. Structures help an organism survive by helping it find food, water, shelter, or safety from danger.</a:t>
            </a:r>
            <a:endParaRPr lang="en-US" sz="1050" dirty="0"/>
          </a:p>
        </p:txBody>
      </p:sp>
      <p:sp>
        <p:nvSpPr>
          <p:cNvPr id="22" name="Shape 20"/>
          <p:cNvSpPr/>
          <p:nvPr/>
        </p:nvSpPr>
        <p:spPr>
          <a:xfrm>
            <a:off x="4206240" y="2487168"/>
            <a:ext cx="3657600" cy="1325880"/>
          </a:xfrm>
          <a:prstGeom prst="roundRect">
            <a:avLst>
              <a:gd name="adj" fmla="val 6897"/>
            </a:avLst>
          </a:prstGeom>
          <a:solidFill>
            <a:srgbClr val="1E2F45"/>
          </a:solidFill>
          <a:ln w="25400">
            <a:solidFill>
              <a:srgbClr val="8B6FC0"/>
            </a:solidFill>
            <a:prstDash val="solid"/>
          </a:ln>
        </p:spPr>
      </p:sp>
      <p:sp>
        <p:nvSpPr>
          <p:cNvPr id="23" name="Shape 21"/>
          <p:cNvSpPr/>
          <p:nvPr/>
        </p:nvSpPr>
        <p:spPr>
          <a:xfrm>
            <a:off x="4206240" y="2487168"/>
            <a:ext cx="3657600" cy="347472"/>
          </a:xfrm>
          <a:prstGeom prst="roundRect">
            <a:avLst>
              <a:gd name="adj" fmla="val 21053"/>
            </a:avLst>
          </a:prstGeom>
          <a:solidFill>
            <a:srgbClr val="8B6FC0"/>
          </a:solidFill>
          <a:ln w="12700">
            <a:solidFill>
              <a:srgbClr val="8B6FC0"/>
            </a:solidFill>
            <a:prstDash val="solid"/>
          </a:ln>
        </p:spPr>
      </p:sp>
      <p:sp>
        <p:nvSpPr>
          <p:cNvPr id="24" name="Text 22"/>
          <p:cNvSpPr/>
          <p:nvPr/>
        </p:nvSpPr>
        <p:spPr>
          <a:xfrm>
            <a:off x="429768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Internal</a:t>
            </a:r>
            <a:endParaRPr lang="en-US" sz="1200" dirty="0"/>
          </a:p>
        </p:txBody>
      </p:sp>
      <p:sp>
        <p:nvSpPr>
          <p:cNvPr id="25" name="Text 23"/>
          <p:cNvSpPr/>
          <p:nvPr/>
        </p:nvSpPr>
        <p:spPr>
          <a:xfrm>
            <a:off x="431596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Inside the body. A heart, a stomach, and the inside of a stem are all internal structures.</a:t>
            </a:r>
            <a:endParaRPr lang="en-US" sz="1050" dirty="0"/>
          </a:p>
        </p:txBody>
      </p:sp>
      <p:sp>
        <p:nvSpPr>
          <p:cNvPr id="26" name="Shape 24"/>
          <p:cNvSpPr/>
          <p:nvPr/>
        </p:nvSpPr>
        <p:spPr>
          <a:xfrm>
            <a:off x="8046720" y="2487168"/>
            <a:ext cx="3657600" cy="1325880"/>
          </a:xfrm>
          <a:prstGeom prst="roundRect">
            <a:avLst>
              <a:gd name="adj" fmla="val 6897"/>
            </a:avLst>
          </a:prstGeom>
          <a:solidFill>
            <a:srgbClr val="1E2F45"/>
          </a:solidFill>
          <a:ln w="25400">
            <a:solidFill>
              <a:srgbClr val="B05A00"/>
            </a:solidFill>
            <a:prstDash val="solid"/>
          </a:ln>
        </p:spPr>
      </p:sp>
      <p:sp>
        <p:nvSpPr>
          <p:cNvPr id="27" name="Shape 25"/>
          <p:cNvSpPr/>
          <p:nvPr/>
        </p:nvSpPr>
        <p:spPr>
          <a:xfrm>
            <a:off x="8046720" y="2487168"/>
            <a:ext cx="3657600" cy="347472"/>
          </a:xfrm>
          <a:prstGeom prst="roundRect">
            <a:avLst>
              <a:gd name="adj" fmla="val 21053"/>
            </a:avLst>
          </a:prstGeom>
          <a:solidFill>
            <a:srgbClr val="B05A00"/>
          </a:solidFill>
          <a:ln w="12700">
            <a:solidFill>
              <a:srgbClr val="B05A00"/>
            </a:solidFill>
            <a:prstDash val="solid"/>
          </a:ln>
        </p:spPr>
      </p:sp>
      <p:sp>
        <p:nvSpPr>
          <p:cNvPr id="28" name="Text 26"/>
          <p:cNvSpPr/>
          <p:nvPr/>
        </p:nvSpPr>
        <p:spPr>
          <a:xfrm>
            <a:off x="813816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External</a:t>
            </a:r>
            <a:endParaRPr lang="en-US" sz="1200" dirty="0"/>
          </a:p>
        </p:txBody>
      </p:sp>
      <p:sp>
        <p:nvSpPr>
          <p:cNvPr id="29" name="Text 27"/>
          <p:cNvSpPr/>
          <p:nvPr/>
        </p:nvSpPr>
        <p:spPr>
          <a:xfrm>
            <a:off x="815644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Outside the body, on the surface. Skin, fur, feathers, shells, leaves, and bark are all external structures.</a:t>
            </a:r>
            <a:endParaRPr lang="en-US" sz="1050" dirty="0"/>
          </a:p>
        </p:txBody>
      </p:sp>
      <p:sp>
        <p:nvSpPr>
          <p:cNvPr id="30" name="Shape 28"/>
          <p:cNvSpPr/>
          <p:nvPr/>
        </p:nvSpPr>
        <p:spPr>
          <a:xfrm>
            <a:off x="365760" y="3950208"/>
            <a:ext cx="11521440" cy="777240"/>
          </a:xfrm>
          <a:prstGeom prst="roundRect">
            <a:avLst>
              <a:gd name="adj" fmla="val 9412"/>
            </a:avLst>
          </a:prstGeom>
          <a:solidFill>
            <a:srgbClr val="162233"/>
          </a:solidFill>
          <a:ln w="12700">
            <a:solidFill>
              <a:srgbClr val="FFB703"/>
            </a:solidFill>
            <a:prstDash val="solid"/>
          </a:ln>
        </p:spPr>
      </p:sp>
      <p:sp>
        <p:nvSpPr>
          <p:cNvPr id="31" name="Text 29"/>
          <p:cNvSpPr/>
          <p:nvPr/>
        </p:nvSpPr>
        <p:spPr>
          <a:xfrm>
            <a:off x="530352" y="4023360"/>
            <a:ext cx="111922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Quick Discussion</a:t>
            </a:r>
            <a:endParaRPr lang="en-US" sz="1300" dirty="0"/>
          </a:p>
        </p:txBody>
      </p:sp>
      <p:sp>
        <p:nvSpPr>
          <p:cNvPr id="32" name="Text 30"/>
          <p:cNvSpPr/>
          <p:nvPr/>
        </p:nvSpPr>
        <p:spPr>
          <a:xfrm>
            <a:off x="530352" y="4389120"/>
            <a:ext cx="11192256" cy="22860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Pick one body part you used TODAY — your teeth, your hands, your eyes. What is its FUNCTION? If that part were a different shape, would it still do the same job?</a:t>
            </a:r>
            <a:endParaRPr lang="en-US" sz="1350" dirty="0"/>
          </a:p>
        </p:txBody>
      </p:sp>
      <p:sp>
        <p:nvSpPr>
          <p:cNvPr id="33" name="Shape 31"/>
          <p:cNvSpPr/>
          <p:nvPr/>
        </p:nvSpPr>
        <p:spPr>
          <a:xfrm>
            <a:off x="0" y="6629400"/>
            <a:ext cx="12192000" cy="228600"/>
          </a:xfrm>
          <a:prstGeom prst="rect">
            <a:avLst/>
          </a:prstGeom>
          <a:solidFill>
            <a:srgbClr val="162233"/>
          </a:solidFill>
          <a:ln/>
        </p:spPr>
      </p:sp>
      <p:sp>
        <p:nvSpPr>
          <p:cNvPr id="34" name="Text 3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1: Structure Meets Function</a:t>
            </a:r>
            <a:endParaRPr lang="en-US" sz="1600" dirty="0"/>
          </a:p>
        </p:txBody>
      </p:sp>
      <p:sp>
        <p:nvSpPr>
          <p:cNvPr id="5" name="Shape 3"/>
          <p:cNvSpPr/>
          <p:nvPr/>
        </p:nvSpPr>
        <p:spPr>
          <a:xfrm>
            <a:off x="365760" y="713232"/>
            <a:ext cx="11521440" cy="1024128"/>
          </a:xfrm>
          <a:prstGeom prst="roundRect">
            <a:avLst>
              <a:gd name="adj" fmla="val 7143"/>
            </a:avLst>
          </a:prstGeom>
          <a:solidFill>
            <a:srgbClr val="1E2F45"/>
          </a:solidFill>
          <a:ln w="12700">
            <a:solidFill>
              <a:srgbClr val="4CC9F0"/>
            </a:solidFill>
            <a:prstDash val="solid"/>
          </a:ln>
        </p:spPr>
      </p:sp>
      <p:sp>
        <p:nvSpPr>
          <p:cNvPr id="6" name="Text 4"/>
          <p:cNvSpPr/>
          <p:nvPr/>
        </p:nvSpPr>
        <p:spPr>
          <a:xfrm>
            <a:off x="548640" y="768096"/>
            <a:ext cx="11155680" cy="8046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Every part of a plant or animal is a kind of TOOL. Structure = the part. Function = the job that part does. Structure is the thing. Function is what the thing does.</a:t>
            </a:r>
            <a:endParaRPr lang="en-US" sz="1300" dirty="0"/>
          </a:p>
        </p:txBody>
      </p:sp>
      <p:sp>
        <p:nvSpPr>
          <p:cNvPr id="7" name="Shape 5"/>
          <p:cNvSpPr/>
          <p:nvPr/>
        </p:nvSpPr>
        <p:spPr>
          <a:xfrm>
            <a:off x="365760" y="1874520"/>
            <a:ext cx="5532120" cy="1188720"/>
          </a:xfrm>
          <a:prstGeom prst="roundRect">
            <a:avLst>
              <a:gd name="adj" fmla="val 6154"/>
            </a:avLst>
          </a:prstGeom>
          <a:solidFill>
            <a:srgbClr val="1E2F45"/>
          </a:solidFill>
          <a:ln w="12700">
            <a:solidFill>
              <a:srgbClr val="2DC653"/>
            </a:solidFill>
            <a:prstDash val="solid"/>
          </a:ln>
        </p:spPr>
      </p:sp>
      <p:sp>
        <p:nvSpPr>
          <p:cNvPr id="8" name="Text 6"/>
          <p:cNvSpPr/>
          <p:nvPr/>
        </p:nvSpPr>
        <p:spPr>
          <a:xfrm>
            <a:off x="502920" y="2039112"/>
            <a:ext cx="2286000" cy="71323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Leaf</a:t>
            </a:r>
            <a:endParaRPr lang="en-US" sz="1300" dirty="0"/>
          </a:p>
        </p:txBody>
      </p:sp>
      <p:sp>
        <p:nvSpPr>
          <p:cNvPr id="9" name="Text 7"/>
          <p:cNvSpPr/>
          <p:nvPr/>
        </p:nvSpPr>
        <p:spPr>
          <a:xfrm>
            <a:off x="2880360" y="2039112"/>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Catch sunlight to make food via photosynthesis</a:t>
            </a:r>
            <a:endParaRPr lang="en-US" sz="1150" dirty="0"/>
          </a:p>
        </p:txBody>
      </p:sp>
      <p:sp>
        <p:nvSpPr>
          <p:cNvPr id="10" name="Shape 8"/>
          <p:cNvSpPr/>
          <p:nvPr/>
        </p:nvSpPr>
        <p:spPr>
          <a:xfrm>
            <a:off x="6126480" y="1874520"/>
            <a:ext cx="5532120" cy="1188720"/>
          </a:xfrm>
          <a:prstGeom prst="roundRect">
            <a:avLst>
              <a:gd name="adj" fmla="val 6154"/>
            </a:avLst>
          </a:prstGeom>
          <a:solidFill>
            <a:srgbClr val="1E2F45"/>
          </a:solidFill>
          <a:ln w="12700">
            <a:solidFill>
              <a:srgbClr val="F4736A"/>
            </a:solidFill>
            <a:prstDash val="solid"/>
          </a:ln>
        </p:spPr>
      </p:sp>
      <p:sp>
        <p:nvSpPr>
          <p:cNvPr id="11" name="Text 9"/>
          <p:cNvSpPr/>
          <p:nvPr/>
        </p:nvSpPr>
        <p:spPr>
          <a:xfrm>
            <a:off x="6263640" y="2039112"/>
            <a:ext cx="2286000" cy="71323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Sharp Talons</a:t>
            </a:r>
            <a:endParaRPr lang="en-US" sz="1300" dirty="0"/>
          </a:p>
        </p:txBody>
      </p:sp>
      <p:sp>
        <p:nvSpPr>
          <p:cNvPr id="12" name="Text 10"/>
          <p:cNvSpPr/>
          <p:nvPr/>
        </p:nvSpPr>
        <p:spPr>
          <a:xfrm>
            <a:off x="8641080" y="2039112"/>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Grab and hold prey while hunting</a:t>
            </a:r>
            <a:endParaRPr lang="en-US" sz="1150" dirty="0"/>
          </a:p>
        </p:txBody>
      </p:sp>
      <p:sp>
        <p:nvSpPr>
          <p:cNvPr id="13" name="Shape 11"/>
          <p:cNvSpPr/>
          <p:nvPr/>
        </p:nvSpPr>
        <p:spPr>
          <a:xfrm>
            <a:off x="365760" y="3264408"/>
            <a:ext cx="5532120" cy="1188720"/>
          </a:xfrm>
          <a:prstGeom prst="roundRect">
            <a:avLst>
              <a:gd name="adj" fmla="val 6154"/>
            </a:avLst>
          </a:prstGeom>
          <a:solidFill>
            <a:srgbClr val="1E2F45"/>
          </a:solidFill>
          <a:ln w="12700">
            <a:solidFill>
              <a:srgbClr val="FFB703"/>
            </a:solidFill>
            <a:prstDash val="solid"/>
          </a:ln>
        </p:spPr>
      </p:sp>
      <p:sp>
        <p:nvSpPr>
          <p:cNvPr id="14" name="Text 12"/>
          <p:cNvSpPr/>
          <p:nvPr/>
        </p:nvSpPr>
        <p:spPr>
          <a:xfrm>
            <a:off x="502920" y="3429000"/>
            <a:ext cx="2286000" cy="71323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Root</a:t>
            </a:r>
            <a:endParaRPr lang="en-US" sz="1300" dirty="0"/>
          </a:p>
        </p:txBody>
      </p:sp>
      <p:sp>
        <p:nvSpPr>
          <p:cNvPr id="15" name="Text 13"/>
          <p:cNvSpPr/>
          <p:nvPr/>
        </p:nvSpPr>
        <p:spPr>
          <a:xfrm>
            <a:off x="2880360" y="3429000"/>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Anchor the plant and pull water + nutrients from soil</a:t>
            </a:r>
            <a:endParaRPr lang="en-US" sz="1150" dirty="0"/>
          </a:p>
        </p:txBody>
      </p:sp>
      <p:sp>
        <p:nvSpPr>
          <p:cNvPr id="16" name="Shape 14"/>
          <p:cNvSpPr/>
          <p:nvPr/>
        </p:nvSpPr>
        <p:spPr>
          <a:xfrm>
            <a:off x="6126480" y="3264408"/>
            <a:ext cx="5532120" cy="1188720"/>
          </a:xfrm>
          <a:prstGeom prst="roundRect">
            <a:avLst>
              <a:gd name="adj" fmla="val 6154"/>
            </a:avLst>
          </a:prstGeom>
          <a:solidFill>
            <a:srgbClr val="1E2F45"/>
          </a:solidFill>
          <a:ln w="12700">
            <a:solidFill>
              <a:srgbClr val="4CC9F0"/>
            </a:solidFill>
            <a:prstDash val="solid"/>
          </a:ln>
        </p:spPr>
      </p:sp>
      <p:sp>
        <p:nvSpPr>
          <p:cNvPr id="17" name="Text 15"/>
          <p:cNvSpPr/>
          <p:nvPr/>
        </p:nvSpPr>
        <p:spPr>
          <a:xfrm>
            <a:off x="6263640" y="3429000"/>
            <a:ext cx="2286000" cy="71323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Eagle Eye</a:t>
            </a:r>
            <a:endParaRPr lang="en-US" sz="1300" dirty="0"/>
          </a:p>
        </p:txBody>
      </p:sp>
      <p:sp>
        <p:nvSpPr>
          <p:cNvPr id="18" name="Text 16"/>
          <p:cNvSpPr/>
          <p:nvPr/>
        </p:nvSpPr>
        <p:spPr>
          <a:xfrm>
            <a:off x="8641080" y="3429000"/>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Spot prey from over a mile away</a:t>
            </a:r>
            <a:endParaRPr lang="en-US" sz="1150" dirty="0"/>
          </a:p>
        </p:txBody>
      </p:sp>
      <p:sp>
        <p:nvSpPr>
          <p:cNvPr id="19" name="Shape 17"/>
          <p:cNvSpPr/>
          <p:nvPr/>
        </p:nvSpPr>
        <p:spPr>
          <a:xfrm>
            <a:off x="365760" y="4654296"/>
            <a:ext cx="5532120" cy="1188720"/>
          </a:xfrm>
          <a:prstGeom prst="roundRect">
            <a:avLst>
              <a:gd name="adj" fmla="val 6154"/>
            </a:avLst>
          </a:prstGeom>
          <a:solidFill>
            <a:srgbClr val="1E2F45"/>
          </a:solidFill>
          <a:ln w="12700">
            <a:solidFill>
              <a:srgbClr val="8B6FC0"/>
            </a:solidFill>
            <a:prstDash val="solid"/>
          </a:ln>
        </p:spPr>
      </p:sp>
      <p:sp>
        <p:nvSpPr>
          <p:cNvPr id="20" name="Text 18"/>
          <p:cNvSpPr/>
          <p:nvPr/>
        </p:nvSpPr>
        <p:spPr>
          <a:xfrm>
            <a:off x="502920" y="4818888"/>
            <a:ext cx="2286000" cy="713232"/>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 Shell</a:t>
            </a:r>
            <a:endParaRPr lang="en-US" sz="1300" dirty="0"/>
          </a:p>
        </p:txBody>
      </p:sp>
      <p:sp>
        <p:nvSpPr>
          <p:cNvPr id="21" name="Text 19"/>
          <p:cNvSpPr/>
          <p:nvPr/>
        </p:nvSpPr>
        <p:spPr>
          <a:xfrm>
            <a:off x="2880360" y="4818888"/>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Protect soft body from predators</a:t>
            </a:r>
            <a:endParaRPr lang="en-US" sz="1150" dirty="0"/>
          </a:p>
        </p:txBody>
      </p:sp>
      <p:sp>
        <p:nvSpPr>
          <p:cNvPr id="22" name="Shape 20"/>
          <p:cNvSpPr/>
          <p:nvPr/>
        </p:nvSpPr>
        <p:spPr>
          <a:xfrm>
            <a:off x="6126480" y="4654296"/>
            <a:ext cx="5532120" cy="1188720"/>
          </a:xfrm>
          <a:prstGeom prst="roundRect">
            <a:avLst>
              <a:gd name="adj" fmla="val 6154"/>
            </a:avLst>
          </a:prstGeom>
          <a:solidFill>
            <a:srgbClr val="1E2F45"/>
          </a:solidFill>
          <a:ln w="12700">
            <a:solidFill>
              <a:srgbClr val="B05A00"/>
            </a:solidFill>
            <a:prstDash val="solid"/>
          </a:ln>
        </p:spPr>
      </p:sp>
      <p:sp>
        <p:nvSpPr>
          <p:cNvPr id="23" name="Text 21"/>
          <p:cNvSpPr/>
          <p:nvPr/>
        </p:nvSpPr>
        <p:spPr>
          <a:xfrm>
            <a:off x="6263640" y="4818888"/>
            <a:ext cx="2286000" cy="713232"/>
          </a:xfrm>
          <a:prstGeom prst="rect">
            <a:avLst/>
          </a:prstGeom>
          <a:noFill/>
          <a:ln/>
        </p:spPr>
        <p:txBody>
          <a:bodyPr wrap="square" rtlCol="0" anchor="ctr"/>
          <a:lstStyle/>
          <a:p>
            <a:pPr indent="0" marL="0">
              <a:buNone/>
            </a:pPr>
            <a:r>
              <a:rPr lang="en-US" sz="1300" b="1" dirty="0">
                <a:solidFill>
                  <a:srgbClr val="B05A00"/>
                </a:solidFill>
                <a:latin typeface="Calibri" pitchFamily="34" charset="0"/>
                <a:ea typeface="Calibri" pitchFamily="34" charset="-122"/>
                <a:cs typeface="Calibri" pitchFamily="34" charset="-120"/>
              </a:rPr>
              <a:t>🍂 Bark</a:t>
            </a:r>
            <a:endParaRPr lang="en-US" sz="1300" dirty="0"/>
          </a:p>
        </p:txBody>
      </p:sp>
      <p:sp>
        <p:nvSpPr>
          <p:cNvPr id="24" name="Text 22"/>
          <p:cNvSpPr/>
          <p:nvPr/>
        </p:nvSpPr>
        <p:spPr>
          <a:xfrm>
            <a:off x="8641080" y="4818888"/>
            <a:ext cx="2880360" cy="804672"/>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 Function: Protect the tree from insects, disease, and drying out</a:t>
            </a:r>
            <a:endParaRPr lang="en-US" sz="115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2: Inside and Outside — Two Kinds of Structures</a:t>
            </a:r>
            <a:endParaRPr lang="en-US" sz="1600" dirty="0"/>
          </a:p>
        </p:txBody>
      </p:sp>
      <p:sp>
        <p:nvSpPr>
          <p:cNvPr id="5" name="Shape 3"/>
          <p:cNvSpPr/>
          <p:nvPr/>
        </p:nvSpPr>
        <p:spPr>
          <a:xfrm>
            <a:off x="365760" y="713232"/>
            <a:ext cx="5394960" cy="5074920"/>
          </a:xfrm>
          <a:prstGeom prst="roundRect">
            <a:avLst>
              <a:gd name="adj" fmla="val 1441"/>
            </a:avLst>
          </a:prstGeom>
          <a:solidFill>
            <a:srgbClr val="1E2F45"/>
          </a:solidFill>
          <a:ln w="12700">
            <a:solidFill>
              <a:srgbClr val="4CC9F0"/>
            </a:solidFill>
            <a:prstDash val="solid"/>
          </a:ln>
        </p:spPr>
      </p:sp>
      <p:sp>
        <p:nvSpPr>
          <p:cNvPr id="6" name="Text 4"/>
          <p:cNvSpPr/>
          <p:nvPr/>
        </p:nvSpPr>
        <p:spPr>
          <a:xfrm>
            <a:off x="548640" y="804672"/>
            <a:ext cx="5120640" cy="347472"/>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 EXTERNAL Structures</a:t>
            </a:r>
            <a:endParaRPr lang="en-US" sz="1400" dirty="0"/>
          </a:p>
        </p:txBody>
      </p:sp>
      <p:sp>
        <p:nvSpPr>
          <p:cNvPr id="7" name="Text 5"/>
          <p:cNvSpPr/>
          <p:nvPr/>
        </p:nvSpPr>
        <p:spPr>
          <a:xfrm>
            <a:off x="548640" y="1188720"/>
            <a:ext cx="512064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Outside the body — you can see them without cutting anything open.</a:t>
            </a:r>
            <a:endParaRPr lang="en-US" sz="1200" dirty="0"/>
          </a:p>
        </p:txBody>
      </p:sp>
      <p:sp>
        <p:nvSpPr>
          <p:cNvPr id="8" name="Text 6"/>
          <p:cNvSpPr/>
          <p:nvPr/>
        </p:nvSpPr>
        <p:spPr>
          <a:xfrm>
            <a:off x="548640" y="1737360"/>
            <a:ext cx="5120640" cy="29260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Plant examples:</a:t>
            </a:r>
            <a:endParaRPr lang="en-US" sz="1200" dirty="0"/>
          </a:p>
        </p:txBody>
      </p:sp>
      <p:sp>
        <p:nvSpPr>
          <p:cNvPr id="9" name="Text 7"/>
          <p:cNvSpPr/>
          <p:nvPr/>
        </p:nvSpPr>
        <p:spPr>
          <a:xfrm>
            <a:off x="685800" y="2066544"/>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Leaves — catch sunlight</a:t>
            </a:r>
            <a:endParaRPr lang="en-US" sz="1200" dirty="0"/>
          </a:p>
        </p:txBody>
      </p:sp>
      <p:sp>
        <p:nvSpPr>
          <p:cNvPr id="10" name="Text 8"/>
          <p:cNvSpPr/>
          <p:nvPr/>
        </p:nvSpPr>
        <p:spPr>
          <a:xfrm>
            <a:off x="685800" y="2468880"/>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Flowers — attract pollinators</a:t>
            </a:r>
            <a:endParaRPr lang="en-US" sz="1200" dirty="0"/>
          </a:p>
        </p:txBody>
      </p:sp>
      <p:sp>
        <p:nvSpPr>
          <p:cNvPr id="11" name="Text 9"/>
          <p:cNvSpPr/>
          <p:nvPr/>
        </p:nvSpPr>
        <p:spPr>
          <a:xfrm>
            <a:off x="685800" y="2871216"/>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Thorns — protect from herbivores</a:t>
            </a:r>
            <a:endParaRPr lang="en-US" sz="1200" dirty="0"/>
          </a:p>
        </p:txBody>
      </p:sp>
      <p:sp>
        <p:nvSpPr>
          <p:cNvPr id="12" name="Text 10"/>
          <p:cNvSpPr/>
          <p:nvPr/>
        </p:nvSpPr>
        <p:spPr>
          <a:xfrm>
            <a:off x="685800" y="3273552"/>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Fruit — spread seeds</a:t>
            </a:r>
            <a:endParaRPr lang="en-US" sz="1200" dirty="0"/>
          </a:p>
        </p:txBody>
      </p:sp>
      <p:sp>
        <p:nvSpPr>
          <p:cNvPr id="13" name="Text 11"/>
          <p:cNvSpPr/>
          <p:nvPr/>
        </p:nvSpPr>
        <p:spPr>
          <a:xfrm>
            <a:off x="548640" y="3730752"/>
            <a:ext cx="5120640" cy="29260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Animal examples:</a:t>
            </a:r>
            <a:endParaRPr lang="en-US" sz="1200" dirty="0"/>
          </a:p>
        </p:txBody>
      </p:sp>
      <p:sp>
        <p:nvSpPr>
          <p:cNvPr id="14" name="Text 12"/>
          <p:cNvSpPr/>
          <p:nvPr/>
        </p:nvSpPr>
        <p:spPr>
          <a:xfrm>
            <a:off x="685800" y="4059936"/>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Beaks — catch or crack food</a:t>
            </a:r>
            <a:endParaRPr lang="en-US" sz="1200" dirty="0"/>
          </a:p>
        </p:txBody>
      </p:sp>
      <p:sp>
        <p:nvSpPr>
          <p:cNvPr id="15" name="Text 13"/>
          <p:cNvSpPr/>
          <p:nvPr/>
        </p:nvSpPr>
        <p:spPr>
          <a:xfrm>
            <a:off x="685800" y="4462272"/>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Shell — protection</a:t>
            </a:r>
            <a:endParaRPr lang="en-US" sz="1200" dirty="0"/>
          </a:p>
        </p:txBody>
      </p:sp>
      <p:sp>
        <p:nvSpPr>
          <p:cNvPr id="16" name="Text 14"/>
          <p:cNvSpPr/>
          <p:nvPr/>
        </p:nvSpPr>
        <p:spPr>
          <a:xfrm>
            <a:off x="685800" y="4864608"/>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Scales — prevent drying out</a:t>
            </a:r>
            <a:endParaRPr lang="en-US" sz="1200" dirty="0"/>
          </a:p>
        </p:txBody>
      </p:sp>
      <p:sp>
        <p:nvSpPr>
          <p:cNvPr id="17" name="Text 15"/>
          <p:cNvSpPr/>
          <p:nvPr/>
        </p:nvSpPr>
        <p:spPr>
          <a:xfrm>
            <a:off x="685800" y="5266944"/>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Eyes — detect light/motion</a:t>
            </a:r>
            <a:endParaRPr lang="en-US" sz="1200" dirty="0"/>
          </a:p>
        </p:txBody>
      </p:sp>
      <p:sp>
        <p:nvSpPr>
          <p:cNvPr id="18" name="Shape 16"/>
          <p:cNvSpPr/>
          <p:nvPr/>
        </p:nvSpPr>
        <p:spPr>
          <a:xfrm>
            <a:off x="6035040" y="713232"/>
            <a:ext cx="5394960" cy="5074920"/>
          </a:xfrm>
          <a:prstGeom prst="roundRect">
            <a:avLst>
              <a:gd name="adj" fmla="val 1441"/>
            </a:avLst>
          </a:prstGeom>
          <a:solidFill>
            <a:srgbClr val="1E2F45"/>
          </a:solidFill>
          <a:ln w="12700">
            <a:solidFill>
              <a:srgbClr val="8B6FC0"/>
            </a:solidFill>
            <a:prstDash val="solid"/>
          </a:ln>
        </p:spPr>
      </p:sp>
      <p:sp>
        <p:nvSpPr>
          <p:cNvPr id="19" name="Text 17"/>
          <p:cNvSpPr/>
          <p:nvPr/>
        </p:nvSpPr>
        <p:spPr>
          <a:xfrm>
            <a:off x="6217920" y="804672"/>
            <a:ext cx="5120640" cy="347472"/>
          </a:xfrm>
          <a:prstGeom prst="rect">
            <a:avLst/>
          </a:prstGeom>
          <a:noFill/>
          <a:ln/>
        </p:spPr>
        <p:txBody>
          <a:bodyPr wrap="square" rtlCol="0" anchor="ctr"/>
          <a:lstStyle/>
          <a:p>
            <a:pPr indent="0" marL="0">
              <a:buNone/>
            </a:pPr>
            <a:r>
              <a:rPr lang="en-US" sz="1400" b="1" dirty="0">
                <a:solidFill>
                  <a:srgbClr val="C4B0F0"/>
                </a:solidFill>
                <a:latin typeface="Calibri" pitchFamily="34" charset="0"/>
                <a:ea typeface="Calibri" pitchFamily="34" charset="-122"/>
                <a:cs typeface="Calibri" pitchFamily="34" charset="-120"/>
              </a:rPr>
              <a:t>🔬 INTERNAL Structures</a:t>
            </a:r>
            <a:endParaRPr lang="en-US" sz="1400" dirty="0"/>
          </a:p>
        </p:txBody>
      </p:sp>
      <p:sp>
        <p:nvSpPr>
          <p:cNvPr id="20" name="Text 18"/>
          <p:cNvSpPr/>
          <p:nvPr/>
        </p:nvSpPr>
        <p:spPr>
          <a:xfrm>
            <a:off x="6217920" y="1188720"/>
            <a:ext cx="512064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Inside the body — you need X-rays, CT scans, or a microscope to see them.</a:t>
            </a:r>
            <a:endParaRPr lang="en-US" sz="1200" dirty="0"/>
          </a:p>
        </p:txBody>
      </p:sp>
      <p:sp>
        <p:nvSpPr>
          <p:cNvPr id="21" name="Text 19"/>
          <p:cNvSpPr/>
          <p:nvPr/>
        </p:nvSpPr>
        <p:spPr>
          <a:xfrm>
            <a:off x="6217920" y="1737360"/>
            <a:ext cx="5120640" cy="29260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Plant examples:</a:t>
            </a:r>
            <a:endParaRPr lang="en-US" sz="1200" dirty="0"/>
          </a:p>
        </p:txBody>
      </p:sp>
      <p:sp>
        <p:nvSpPr>
          <p:cNvPr id="22" name="Text 20"/>
          <p:cNvSpPr/>
          <p:nvPr/>
        </p:nvSpPr>
        <p:spPr>
          <a:xfrm>
            <a:off x="6355080" y="2066544"/>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Stem interior — water tubes (xylem)</a:t>
            </a:r>
            <a:endParaRPr lang="en-US" sz="1200" dirty="0"/>
          </a:p>
        </p:txBody>
      </p:sp>
      <p:sp>
        <p:nvSpPr>
          <p:cNvPr id="23" name="Text 21"/>
          <p:cNvSpPr/>
          <p:nvPr/>
        </p:nvSpPr>
        <p:spPr>
          <a:xfrm>
            <a:off x="6355080" y="2468880"/>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Seed interior — next generation plant</a:t>
            </a:r>
            <a:endParaRPr lang="en-US" sz="1200" dirty="0"/>
          </a:p>
        </p:txBody>
      </p:sp>
      <p:sp>
        <p:nvSpPr>
          <p:cNvPr id="24" name="Text 22"/>
          <p:cNvSpPr/>
          <p:nvPr/>
        </p:nvSpPr>
        <p:spPr>
          <a:xfrm>
            <a:off x="6355080" y="2871216"/>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Root interior — nutrient transport</a:t>
            </a:r>
            <a:endParaRPr lang="en-US" sz="1200" dirty="0"/>
          </a:p>
        </p:txBody>
      </p:sp>
      <p:sp>
        <p:nvSpPr>
          <p:cNvPr id="25" name="Text 23"/>
          <p:cNvSpPr/>
          <p:nvPr/>
        </p:nvSpPr>
        <p:spPr>
          <a:xfrm>
            <a:off x="6355080" y="3273552"/>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Pollen structure — carries DNA</a:t>
            </a:r>
            <a:endParaRPr lang="en-US" sz="1200" dirty="0"/>
          </a:p>
        </p:txBody>
      </p:sp>
      <p:sp>
        <p:nvSpPr>
          <p:cNvPr id="26" name="Text 24"/>
          <p:cNvSpPr/>
          <p:nvPr/>
        </p:nvSpPr>
        <p:spPr>
          <a:xfrm>
            <a:off x="6217920" y="3730752"/>
            <a:ext cx="5120640" cy="29260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Animal examples:</a:t>
            </a:r>
            <a:endParaRPr lang="en-US" sz="1200" dirty="0"/>
          </a:p>
        </p:txBody>
      </p:sp>
      <p:sp>
        <p:nvSpPr>
          <p:cNvPr id="27" name="Text 25"/>
          <p:cNvSpPr/>
          <p:nvPr/>
        </p:nvSpPr>
        <p:spPr>
          <a:xfrm>
            <a:off x="6355080" y="4059936"/>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Heart — pump blood throughout body</a:t>
            </a:r>
            <a:endParaRPr lang="en-US" sz="1200" dirty="0"/>
          </a:p>
        </p:txBody>
      </p:sp>
      <p:sp>
        <p:nvSpPr>
          <p:cNvPr id="28" name="Text 26"/>
          <p:cNvSpPr/>
          <p:nvPr/>
        </p:nvSpPr>
        <p:spPr>
          <a:xfrm>
            <a:off x="6355080" y="4462272"/>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Lungs — exchange oxygen and CO₂</a:t>
            </a:r>
            <a:endParaRPr lang="en-US" sz="1200" dirty="0"/>
          </a:p>
        </p:txBody>
      </p:sp>
      <p:sp>
        <p:nvSpPr>
          <p:cNvPr id="29" name="Text 27"/>
          <p:cNvSpPr/>
          <p:nvPr/>
        </p:nvSpPr>
        <p:spPr>
          <a:xfrm>
            <a:off x="6355080" y="4864608"/>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Bones — support body and protect organs</a:t>
            </a:r>
            <a:endParaRPr lang="en-US" sz="1200" dirty="0"/>
          </a:p>
        </p:txBody>
      </p:sp>
      <p:sp>
        <p:nvSpPr>
          <p:cNvPr id="30" name="Text 28"/>
          <p:cNvSpPr/>
          <p:nvPr/>
        </p:nvSpPr>
        <p:spPr>
          <a:xfrm>
            <a:off x="6355080" y="5266944"/>
            <a:ext cx="493776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Brain — coordinate all functions</a:t>
            </a:r>
            <a:endParaRPr lang="en-US" sz="120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Structures Side by Side: Saw Palmetto + Gopher Tortoise</a:t>
            </a:r>
            <a:endParaRPr lang="en-US" sz="1600" dirty="0"/>
          </a:p>
        </p:txBody>
      </p:sp>
      <p:sp>
        <p:nvSpPr>
          <p:cNvPr id="5" name="Shape 3"/>
          <p:cNvSpPr/>
          <p:nvPr/>
        </p:nvSpPr>
        <p:spPr>
          <a:xfrm>
            <a:off x="365760" y="713232"/>
            <a:ext cx="11521440" cy="4828032"/>
          </a:xfrm>
          <a:prstGeom prst="roundRect">
            <a:avLst>
              <a:gd name="adj" fmla="val 1515"/>
            </a:avLst>
          </a:prstGeom>
          <a:solidFill>
            <a:srgbClr val="0A1520"/>
          </a:solidFill>
          <a:ln w="19050">
            <a:solidFill>
              <a:srgbClr val="4CC9F0"/>
            </a:solidFill>
            <a:prstDash val="dash"/>
          </a:ln>
        </p:spPr>
      </p:sp>
      <p:sp>
        <p:nvSpPr>
          <p:cNvPr id="6" name="Text 4"/>
          <p:cNvSpPr/>
          <p:nvPr/>
        </p:nvSpPr>
        <p:spPr>
          <a:xfrm>
            <a:off x="457200" y="822960"/>
            <a:ext cx="113385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113385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11301984" cy="37764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saw palmetto plant labeled leaves stem roots and gopher tortoise labeled shell front legs beak eyes side by side diagram"</a:t>
            </a:r>
            <a:endParaRPr lang="en-US" sz="950" dirty="0"/>
          </a:p>
        </p:txBody>
      </p:sp>
      <p:sp>
        <p:nvSpPr>
          <p:cNvPr id="9" name="Text 7"/>
          <p:cNvSpPr/>
          <p:nvPr/>
        </p:nvSpPr>
        <p:spPr>
          <a:xfrm>
            <a:off x="365760" y="5577840"/>
            <a:ext cx="115214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Left: Saw palmetto (producer). Right: Gopher tortoise (consumer). Each label shows structure → function.</a:t>
            </a:r>
            <a:endParaRPr lang="en-US" sz="900" dirty="0"/>
          </a:p>
        </p:txBody>
      </p:sp>
      <p:sp>
        <p:nvSpPr>
          <p:cNvPr id="10" name="Shape 8"/>
          <p:cNvSpPr/>
          <p:nvPr/>
        </p:nvSpPr>
        <p:spPr>
          <a:xfrm>
            <a:off x="365760" y="5650992"/>
            <a:ext cx="11521440" cy="804672"/>
          </a:xfrm>
          <a:prstGeom prst="roundRect">
            <a:avLst>
              <a:gd name="adj" fmla="val 9091"/>
            </a:avLst>
          </a:prstGeom>
          <a:solidFill>
            <a:srgbClr val="1A2318"/>
          </a:solidFill>
          <a:ln w="12700">
            <a:solidFill>
              <a:srgbClr val="2DC653"/>
            </a:solidFill>
            <a:prstDash val="solid"/>
          </a:ln>
        </p:spPr>
      </p:sp>
      <p:sp>
        <p:nvSpPr>
          <p:cNvPr id="11" name="Text 9"/>
          <p:cNvSpPr/>
          <p:nvPr/>
        </p:nvSpPr>
        <p:spPr>
          <a:xfrm>
            <a:off x="548640" y="5742432"/>
            <a:ext cx="11155680" cy="62179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Key Concept: Different organisms, different parts — same idea. Each labeled part is a STRUCTURE and each label tells you its FUNCTION.</a:t>
            </a:r>
            <a:endParaRPr lang="en-US" sz="13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456432"/>
          </a:xfrm>
          <a:prstGeom prst="roundRect">
            <a:avLst>
              <a:gd name="adj" fmla="val 2116"/>
            </a:avLst>
          </a:prstGeom>
          <a:solidFill>
            <a:srgbClr val="0A1520"/>
          </a:solidFill>
          <a:ln w="12700">
            <a:solidFill>
              <a:srgbClr val="FFB703"/>
            </a:solidFill>
            <a:prstDash val="solid"/>
          </a:ln>
        </p:spPr>
      </p:sp>
      <p:sp>
        <p:nvSpPr>
          <p:cNvPr id="3" name="Text 1"/>
          <p:cNvSpPr/>
          <p:nvPr/>
        </p:nvSpPr>
        <p:spPr>
          <a:xfrm>
            <a:off x="365760" y="566928"/>
            <a:ext cx="11521440" cy="749808"/>
          </a:xfrm>
          <a:prstGeom prst="rect">
            <a:avLst/>
          </a:prstGeom>
          <a:noFill/>
          <a:ln/>
        </p:spPr>
        <p:txBody>
          <a:bodyPr wrap="square" rtlCol="0" anchor="ctr"/>
          <a:lstStyle/>
          <a:p>
            <a:pPr algn="ctr" indent="0" marL="0">
              <a:buNone/>
            </a:pPr>
            <a:r>
              <a:rPr lang="en-US" sz="4600" dirty="0">
                <a:solidFill>
                  <a:srgbClr val="000000"/>
                </a:solidFill>
              </a:rPr>
              <a:t>🤯</a:t>
            </a:r>
            <a:endParaRPr lang="en-US" sz="4600" dirty="0"/>
          </a:p>
        </p:txBody>
      </p:sp>
      <p:sp>
        <p:nvSpPr>
          <p:cNvPr id="4" name="Text 2"/>
          <p:cNvSpPr/>
          <p:nvPr/>
        </p:nvSpPr>
        <p:spPr>
          <a:xfrm>
            <a:off x="365760" y="1389888"/>
            <a:ext cx="11521440" cy="347472"/>
          </a:xfrm>
          <a:prstGeom prst="rect">
            <a:avLst/>
          </a:prstGeom>
          <a:noFill/>
          <a:ln/>
        </p:spPr>
        <p:txBody>
          <a:bodyPr wrap="square" rtlCol="0" anchor="ctr"/>
          <a:lstStyle/>
          <a:p>
            <a:pPr algn="ctr" indent="0" marL="0">
              <a:buNone/>
            </a:pPr>
            <a:r>
              <a:rPr lang="en-US" sz="1600" b="1" dirty="0">
                <a:solidFill>
                  <a:srgbClr val="FFB703"/>
                </a:solidFill>
                <a:latin typeface="Calibri" pitchFamily="34" charset="0"/>
                <a:ea typeface="Calibri" pitchFamily="34" charset="-122"/>
                <a:cs typeface="Calibri" pitchFamily="34" charset="-120"/>
              </a:rPr>
              <a:t>Mind-Blowing Fact #1</a:t>
            </a:r>
            <a:endParaRPr lang="en-US" sz="1600" dirty="0"/>
          </a:p>
        </p:txBody>
      </p:sp>
      <p:sp>
        <p:nvSpPr>
          <p:cNvPr id="5" name="Text 3"/>
          <p:cNvSpPr/>
          <p:nvPr/>
        </p:nvSpPr>
        <p:spPr>
          <a:xfrm>
            <a:off x="914400" y="1828800"/>
            <a:ext cx="10241280" cy="384048"/>
          </a:xfrm>
          <a:prstGeom prst="rect">
            <a:avLst/>
          </a:prstGeom>
          <a:noFill/>
          <a:ln/>
        </p:spPr>
        <p:txBody>
          <a:bodyPr wrap="square"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 bald eagle's eye can spot a rabbit from</a:t>
            </a:r>
            <a:endParaRPr lang="en-US" sz="1700" dirty="0"/>
          </a:p>
        </p:txBody>
      </p:sp>
      <p:sp>
        <p:nvSpPr>
          <p:cNvPr id="6" name="Text 4"/>
          <p:cNvSpPr/>
          <p:nvPr/>
        </p:nvSpPr>
        <p:spPr>
          <a:xfrm>
            <a:off x="914400" y="2267712"/>
            <a:ext cx="10241280" cy="621792"/>
          </a:xfrm>
          <a:prstGeom prst="rect">
            <a:avLst/>
          </a:prstGeom>
          <a:noFill/>
          <a:ln/>
        </p:spPr>
        <p:txBody>
          <a:bodyPr wrap="square" rtlCol="0" anchor="ctr"/>
          <a:lstStyle/>
          <a:p>
            <a:pPr algn="ctr" indent="0" marL="0">
              <a:buNone/>
            </a:pPr>
            <a:r>
              <a:rPr lang="en-US" sz="4200" b="1" dirty="0">
                <a:solidFill>
                  <a:srgbClr val="FFB703"/>
                </a:solidFill>
                <a:latin typeface="Calibri" pitchFamily="34" charset="0"/>
                <a:ea typeface="Calibri" pitchFamily="34" charset="-122"/>
                <a:cs typeface="Calibri" pitchFamily="34" charset="-120"/>
              </a:rPr>
              <a:t>OVER A MILE AWAY</a:t>
            </a:r>
            <a:endParaRPr lang="en-US" sz="4200" dirty="0"/>
          </a:p>
        </p:txBody>
      </p:sp>
      <p:sp>
        <p:nvSpPr>
          <p:cNvPr id="7" name="Text 5"/>
          <p:cNvSpPr/>
          <p:nvPr/>
        </p:nvSpPr>
        <p:spPr>
          <a:xfrm>
            <a:off x="914400" y="2944368"/>
            <a:ext cx="10241280" cy="384048"/>
          </a:xfrm>
          <a:prstGeom prst="rect">
            <a:avLst/>
          </a:prstGeom>
          <a:noFill/>
          <a:ln/>
        </p:spPr>
        <p:txBody>
          <a:bodyPr wrap="square" rtlCol="0" anchor="ctr"/>
          <a:lstStyle/>
          <a:p>
            <a:pPr algn="ctr" indent="0" marL="0">
              <a:buNone/>
            </a:pPr>
            <a:r>
              <a:rPr lang="en-US" sz="1400" dirty="0">
                <a:solidFill>
                  <a:srgbClr val="B0C4D8"/>
                </a:solidFill>
                <a:latin typeface="Calibri" pitchFamily="34" charset="0"/>
                <a:ea typeface="Calibri" pitchFamily="34" charset="-122"/>
                <a:cs typeface="Calibri" pitchFamily="34" charset="-120"/>
              </a:rPr>
              <a:t>4 to 8 times stronger than your eyes. Same structure — totally different function!</a:t>
            </a:r>
            <a:endParaRPr lang="en-US" sz="1400" dirty="0"/>
          </a:p>
        </p:txBody>
      </p:sp>
      <p:sp>
        <p:nvSpPr>
          <p:cNvPr id="8" name="Shape 6"/>
          <p:cNvSpPr/>
          <p:nvPr/>
        </p:nvSpPr>
        <p:spPr>
          <a:xfrm>
            <a:off x="365760" y="4005072"/>
            <a:ext cx="11521440" cy="2331720"/>
          </a:xfrm>
          <a:prstGeom prst="roundRect">
            <a:avLst>
              <a:gd name="adj" fmla="val 3137"/>
            </a:avLst>
          </a:prstGeom>
          <a:solidFill>
            <a:srgbClr val="1E2F45"/>
          </a:solidFill>
          <a:ln w="12700">
            <a:solidFill>
              <a:srgbClr val="F4736A"/>
            </a:solidFill>
            <a:prstDash val="solid"/>
          </a:ln>
        </p:spPr>
      </p:sp>
      <p:sp>
        <p:nvSpPr>
          <p:cNvPr id="9" name="Text 7"/>
          <p:cNvSpPr/>
          <p:nvPr/>
        </p:nvSpPr>
        <p:spPr>
          <a:xfrm>
            <a:off x="548640" y="4096512"/>
            <a:ext cx="1115568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Florida Connection: One Tortoise's Legs = An Ecosystem:</a:t>
            </a:r>
            <a:endParaRPr lang="en-US" sz="1300" dirty="0"/>
          </a:p>
        </p:txBody>
      </p:sp>
      <p:sp>
        <p:nvSpPr>
          <p:cNvPr id="10" name="Text 8"/>
          <p:cNvSpPr/>
          <p:nvPr/>
        </p:nvSpPr>
        <p:spPr>
          <a:xfrm>
            <a:off x="548640" y="4480560"/>
            <a:ext cx="11155680" cy="166420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The Florida gopher tortoise digs burrows up to 40 feet long using its strong, shovel-shaped front legs. More than 350 Florida species — owls, snakes, mice, lizards — use those burrows for shelter. One tortoise's STRUCTURE ends up being a habitat that helps a whole ECOSYSTEM.</a:t>
            </a:r>
            <a:endParaRPr lang="en-US" sz="12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Alligator Structure CER (8 min)</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We'll investigate the AMERICAN ALLIGATOR and make an evidence-based argument about one of its structures.</a:t>
            </a:r>
            <a:endParaRPr lang="en-US" sz="1150" dirty="0"/>
          </a:p>
        </p:txBody>
      </p:sp>
      <p:sp>
        <p:nvSpPr>
          <p:cNvPr id="6" name="Shape 4"/>
          <p:cNvSpPr/>
          <p:nvPr/>
        </p:nvSpPr>
        <p:spPr>
          <a:xfrm>
            <a:off x="365760" y="1005840"/>
            <a:ext cx="5029200" cy="4956048"/>
          </a:xfrm>
          <a:prstGeom prst="roundRect">
            <a:avLst>
              <a:gd name="adj" fmla="val 1476"/>
            </a:avLst>
          </a:prstGeom>
          <a:solidFill>
            <a:srgbClr val="0A1520"/>
          </a:solidFill>
          <a:ln w="19050">
            <a:solidFill>
              <a:srgbClr val="4CC9F0"/>
            </a:solidFill>
            <a:prstDash val="dash"/>
          </a:ln>
        </p:spPr>
      </p:sp>
      <p:sp>
        <p:nvSpPr>
          <p:cNvPr id="7" name="Text 5"/>
          <p:cNvSpPr/>
          <p:nvPr/>
        </p:nvSpPr>
        <p:spPr>
          <a:xfrm>
            <a:off x="457200" y="1115568"/>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457200" y="1554480"/>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9" name="Text 7"/>
          <p:cNvSpPr/>
          <p:nvPr/>
        </p:nvSpPr>
        <p:spPr>
          <a:xfrm>
            <a:off x="475488" y="1847088"/>
            <a:ext cx="4809744" cy="390448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"American alligator close up Florida snout teeth eyes nostrils high on head external structures labeled"</a:t>
            </a:r>
            <a:endParaRPr lang="en-US" sz="950" dirty="0"/>
          </a:p>
        </p:txBody>
      </p:sp>
      <p:sp>
        <p:nvSpPr>
          <p:cNvPr id="10" name="Text 8"/>
          <p:cNvSpPr/>
          <p:nvPr/>
        </p:nvSpPr>
        <p:spPr>
          <a:xfrm>
            <a:off x="365760" y="5998464"/>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Observe the alligator's external structures before making your claim</a:t>
            </a:r>
            <a:endParaRPr lang="en-US" sz="900" dirty="0"/>
          </a:p>
        </p:txBody>
      </p:sp>
      <p:sp>
        <p:nvSpPr>
          <p:cNvPr id="11" name="Shape 9"/>
          <p:cNvSpPr/>
          <p:nvPr/>
        </p:nvSpPr>
        <p:spPr>
          <a:xfrm>
            <a:off x="5577840" y="1005840"/>
            <a:ext cx="6675120" cy="1261872"/>
          </a:xfrm>
          <a:prstGeom prst="roundRect">
            <a:avLst>
              <a:gd name="adj" fmla="val 5797"/>
            </a:avLst>
          </a:prstGeom>
          <a:solidFill>
            <a:srgbClr val="1E2F45"/>
          </a:solidFill>
          <a:ln w="12700">
            <a:solidFill>
              <a:srgbClr val="2DC653"/>
            </a:solidFill>
            <a:prstDash val="solid"/>
          </a:ln>
        </p:spPr>
      </p:sp>
      <p:sp>
        <p:nvSpPr>
          <p:cNvPr id="12" name="Shape 10"/>
          <p:cNvSpPr/>
          <p:nvPr/>
        </p:nvSpPr>
        <p:spPr>
          <a:xfrm>
            <a:off x="5687568" y="1097280"/>
            <a:ext cx="1554480" cy="256032"/>
          </a:xfrm>
          <a:prstGeom prst="roundRect">
            <a:avLst>
              <a:gd name="adj" fmla="val 50000"/>
            </a:avLst>
          </a:prstGeom>
          <a:solidFill>
            <a:srgbClr val="2DC653"/>
          </a:solidFill>
          <a:ln w="12700">
            <a:solidFill>
              <a:srgbClr val="2DC653"/>
            </a:solidFill>
            <a:prstDash val="solid"/>
          </a:ln>
        </p:spPr>
      </p:sp>
      <p:sp>
        <p:nvSpPr>
          <p:cNvPr id="13" name="Text 11"/>
          <p:cNvSpPr/>
          <p:nvPr/>
        </p:nvSpPr>
        <p:spPr>
          <a:xfrm>
            <a:off x="5687568" y="109728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2"/>
          <p:cNvSpPr/>
          <p:nvPr/>
        </p:nvSpPr>
        <p:spPr>
          <a:xfrm>
            <a:off x="7406640" y="1097280"/>
            <a:ext cx="470916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Observe the Structures</a:t>
            </a:r>
            <a:endParaRPr lang="en-US" sz="1200" dirty="0"/>
          </a:p>
        </p:txBody>
      </p:sp>
      <p:sp>
        <p:nvSpPr>
          <p:cNvPr id="15" name="Text 13"/>
          <p:cNvSpPr/>
          <p:nvPr/>
        </p:nvSpPr>
        <p:spPr>
          <a:xfrm>
            <a:off x="5687568" y="1508760"/>
            <a:ext cx="6492240" cy="6217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Sketch the alligator's head. Notice: long wide snout, large teeth, eyes and nostrils POSITIONED HIGH on head. These are external structures.</a:t>
            </a:r>
            <a:endParaRPr lang="en-US" sz="1100" dirty="0"/>
          </a:p>
        </p:txBody>
      </p:sp>
      <p:sp>
        <p:nvSpPr>
          <p:cNvPr id="16" name="Shape 14"/>
          <p:cNvSpPr/>
          <p:nvPr/>
        </p:nvSpPr>
        <p:spPr>
          <a:xfrm>
            <a:off x="5577840" y="2487168"/>
            <a:ext cx="6675120" cy="1261872"/>
          </a:xfrm>
          <a:prstGeom prst="roundRect">
            <a:avLst>
              <a:gd name="adj" fmla="val 5797"/>
            </a:avLst>
          </a:prstGeom>
          <a:solidFill>
            <a:srgbClr val="1E2F45"/>
          </a:solidFill>
          <a:ln w="12700">
            <a:solidFill>
              <a:srgbClr val="FFB703"/>
            </a:solidFill>
            <a:prstDash val="solid"/>
          </a:ln>
        </p:spPr>
      </p:sp>
      <p:sp>
        <p:nvSpPr>
          <p:cNvPr id="17" name="Shape 15"/>
          <p:cNvSpPr/>
          <p:nvPr/>
        </p:nvSpPr>
        <p:spPr>
          <a:xfrm>
            <a:off x="5687568" y="2578608"/>
            <a:ext cx="1554480" cy="256032"/>
          </a:xfrm>
          <a:prstGeom prst="roundRect">
            <a:avLst>
              <a:gd name="adj" fmla="val 50000"/>
            </a:avLst>
          </a:prstGeom>
          <a:solidFill>
            <a:srgbClr val="FFB703"/>
          </a:solidFill>
          <a:ln w="12700">
            <a:solidFill>
              <a:srgbClr val="FFB703"/>
            </a:solidFill>
            <a:prstDash val="solid"/>
          </a:ln>
        </p:spPr>
      </p:sp>
      <p:sp>
        <p:nvSpPr>
          <p:cNvPr id="18" name="Text 16"/>
          <p:cNvSpPr/>
          <p:nvPr/>
        </p:nvSpPr>
        <p:spPr>
          <a:xfrm>
            <a:off x="5687568" y="257860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7406640" y="2578608"/>
            <a:ext cx="470916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Make a Claim</a:t>
            </a:r>
            <a:endParaRPr lang="en-US" sz="1200" dirty="0"/>
          </a:p>
        </p:txBody>
      </p:sp>
      <p:sp>
        <p:nvSpPr>
          <p:cNvPr id="20" name="Text 18"/>
          <p:cNvSpPr/>
          <p:nvPr/>
        </p:nvSpPr>
        <p:spPr>
          <a:xfrm>
            <a:off x="5687568" y="2990088"/>
            <a:ext cx="6492240" cy="6217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Pick ONE structure. Write: 'The alligator's _______ helps it survive by _______.' Use a vocab word.</a:t>
            </a:r>
            <a:endParaRPr lang="en-US" sz="1100" dirty="0"/>
          </a:p>
        </p:txBody>
      </p:sp>
      <p:sp>
        <p:nvSpPr>
          <p:cNvPr id="21" name="Shape 19"/>
          <p:cNvSpPr/>
          <p:nvPr/>
        </p:nvSpPr>
        <p:spPr>
          <a:xfrm>
            <a:off x="5577840" y="3968496"/>
            <a:ext cx="6675120" cy="1261872"/>
          </a:xfrm>
          <a:prstGeom prst="roundRect">
            <a:avLst>
              <a:gd name="adj" fmla="val 5797"/>
            </a:avLst>
          </a:prstGeom>
          <a:solidFill>
            <a:srgbClr val="1E2F45"/>
          </a:solidFill>
          <a:ln w="12700">
            <a:solidFill>
              <a:srgbClr val="F4736A"/>
            </a:solidFill>
            <a:prstDash val="solid"/>
          </a:ln>
        </p:spPr>
      </p:sp>
      <p:sp>
        <p:nvSpPr>
          <p:cNvPr id="22" name="Shape 20"/>
          <p:cNvSpPr/>
          <p:nvPr/>
        </p:nvSpPr>
        <p:spPr>
          <a:xfrm>
            <a:off x="5687568" y="4059936"/>
            <a:ext cx="1554480" cy="256032"/>
          </a:xfrm>
          <a:prstGeom prst="roundRect">
            <a:avLst>
              <a:gd name="adj" fmla="val 50000"/>
            </a:avLst>
          </a:prstGeom>
          <a:solidFill>
            <a:srgbClr val="F4736A"/>
          </a:solidFill>
          <a:ln w="12700">
            <a:solidFill>
              <a:srgbClr val="F4736A"/>
            </a:solidFill>
            <a:prstDash val="solid"/>
          </a:ln>
        </p:spPr>
      </p:sp>
      <p:sp>
        <p:nvSpPr>
          <p:cNvPr id="23" name="Text 21"/>
          <p:cNvSpPr/>
          <p:nvPr/>
        </p:nvSpPr>
        <p:spPr>
          <a:xfrm>
            <a:off x="5687568" y="405993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4" name="Text 22"/>
          <p:cNvSpPr/>
          <p:nvPr/>
        </p:nvSpPr>
        <p:spPr>
          <a:xfrm>
            <a:off x="7406640" y="4059936"/>
            <a:ext cx="470916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Add Your Evidence</a:t>
            </a:r>
            <a:endParaRPr lang="en-US" sz="1200" dirty="0"/>
          </a:p>
        </p:txBody>
      </p:sp>
      <p:sp>
        <p:nvSpPr>
          <p:cNvPr id="25" name="Text 23"/>
          <p:cNvSpPr/>
          <p:nvPr/>
        </p:nvSpPr>
        <p:spPr>
          <a:xfrm>
            <a:off x="5687568" y="4471416"/>
            <a:ext cx="6492240" cy="6217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Add: 'The evidence is…' Describe what you SEE — shape, position, or size. Don't guess. Describe.</a:t>
            </a:r>
            <a:endParaRPr lang="en-US" sz="1100" dirty="0"/>
          </a:p>
        </p:txBody>
      </p:sp>
      <p:sp>
        <p:nvSpPr>
          <p:cNvPr id="26" name="Shape 24"/>
          <p:cNvSpPr/>
          <p:nvPr/>
        </p:nvSpPr>
        <p:spPr>
          <a:xfrm>
            <a:off x="5577840" y="5449824"/>
            <a:ext cx="6675120" cy="1261872"/>
          </a:xfrm>
          <a:prstGeom prst="roundRect">
            <a:avLst>
              <a:gd name="adj" fmla="val 5797"/>
            </a:avLst>
          </a:prstGeom>
          <a:solidFill>
            <a:srgbClr val="1E2F45"/>
          </a:solidFill>
          <a:ln w="12700">
            <a:solidFill>
              <a:srgbClr val="8B6FC0"/>
            </a:solidFill>
            <a:prstDash val="solid"/>
          </a:ln>
        </p:spPr>
      </p:sp>
      <p:sp>
        <p:nvSpPr>
          <p:cNvPr id="27" name="Shape 25"/>
          <p:cNvSpPr/>
          <p:nvPr/>
        </p:nvSpPr>
        <p:spPr>
          <a:xfrm>
            <a:off x="5687568" y="5541264"/>
            <a:ext cx="1554480" cy="256032"/>
          </a:xfrm>
          <a:prstGeom prst="roundRect">
            <a:avLst>
              <a:gd name="adj" fmla="val 50000"/>
            </a:avLst>
          </a:prstGeom>
          <a:solidFill>
            <a:srgbClr val="8B6FC0"/>
          </a:solidFill>
          <a:ln w="12700">
            <a:solidFill>
              <a:srgbClr val="8B6FC0"/>
            </a:solidFill>
            <a:prstDash val="solid"/>
          </a:ln>
        </p:spPr>
      </p:sp>
      <p:sp>
        <p:nvSpPr>
          <p:cNvPr id="28" name="Text 26"/>
          <p:cNvSpPr/>
          <p:nvPr/>
        </p:nvSpPr>
        <p:spPr>
          <a:xfrm>
            <a:off x="5687568" y="55412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7"/>
          <p:cNvSpPr/>
          <p:nvPr/>
        </p:nvSpPr>
        <p:spPr>
          <a:xfrm>
            <a:off x="7406640" y="5541264"/>
            <a:ext cx="4709160" cy="347472"/>
          </a:xfrm>
          <a:prstGeom prst="rect">
            <a:avLst/>
          </a:prstGeom>
          <a:noFill/>
          <a:ln/>
        </p:spPr>
        <p:txBody>
          <a:bodyPr wrap="square"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Reason It Out</a:t>
            </a:r>
            <a:endParaRPr lang="en-US" sz="1200" dirty="0"/>
          </a:p>
        </p:txBody>
      </p:sp>
      <p:sp>
        <p:nvSpPr>
          <p:cNvPr id="30" name="Text 28"/>
          <p:cNvSpPr/>
          <p:nvPr/>
        </p:nvSpPr>
        <p:spPr>
          <a:xfrm>
            <a:off x="5687568" y="5952744"/>
            <a:ext cx="6492240" cy="6217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Finish: 'This means…' — explain how that structure helps in a Florida swamp. (Hunting? Breathing? Hiding? Protection?)</a:t>
            </a:r>
            <a:endParaRPr lang="en-US" sz="110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Model: Structure Diagram — Draw BEFORE You See</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Q2 Habit: Draw your model FIRST — label structures and functions — then update it after seeing the real diagram.</a:t>
            </a:r>
            <a:endParaRPr lang="en-US" sz="1300" dirty="0"/>
          </a:p>
        </p:txBody>
      </p:sp>
      <p:sp>
        <p:nvSpPr>
          <p:cNvPr id="7" name="Shape 5"/>
          <p:cNvSpPr/>
          <p:nvPr/>
        </p:nvSpPr>
        <p:spPr>
          <a:xfrm>
            <a:off x="365760" y="1508760"/>
            <a:ext cx="5394960" cy="4754880"/>
          </a:xfrm>
          <a:prstGeom prst="roundRect">
            <a:avLst>
              <a:gd name="adj" fmla="val 1538"/>
            </a:avLst>
          </a:prstGeom>
          <a:solidFill>
            <a:srgbClr val="1E2F45"/>
          </a:solidFill>
          <a:ln w="12700">
            <a:solidFill>
              <a:srgbClr val="FFB703"/>
            </a:solidFill>
            <a:prstDash val="solid"/>
          </a:ln>
        </p:spPr>
      </p:sp>
      <p:sp>
        <p:nvSpPr>
          <p:cNvPr id="8" name="Text 6"/>
          <p:cNvSpPr/>
          <p:nvPr/>
        </p:nvSpPr>
        <p:spPr>
          <a:xfrm>
            <a:off x="548640" y="1627632"/>
            <a:ext cx="5212080" cy="310896"/>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Draw in your notebook:</a:t>
            </a:r>
            <a:endParaRPr lang="en-US" sz="1300" dirty="0"/>
          </a:p>
        </p:txBody>
      </p:sp>
      <p:sp>
        <p:nvSpPr>
          <p:cNvPr id="9" name="Text 7"/>
          <p:cNvSpPr/>
          <p:nvPr/>
        </p:nvSpPr>
        <p:spPr>
          <a:xfrm>
            <a:off x="548640" y="1975104"/>
            <a:ext cx="5212080" cy="2267712"/>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Pick ONE Florida organism (plant OR animal).</a:t>
            </a:r>
            <a:endParaRPr lang="en-US" sz="1250" dirty="0"/>
          </a:p>
          <a:p>
            <a:pPr indent="0" marL="0">
              <a:buNone/>
            </a:pP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Label at least 3 structures:</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What is the structure? (name)</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Is it internal or external?</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What is its function (job)?</a:t>
            </a:r>
            <a:endParaRPr lang="en-US" sz="1250" dirty="0"/>
          </a:p>
        </p:txBody>
      </p:sp>
      <p:sp>
        <p:nvSpPr>
          <p:cNvPr id="10" name="Text 8"/>
          <p:cNvSpPr/>
          <p:nvPr/>
        </p:nvSpPr>
        <p:spPr>
          <a:xfrm>
            <a:off x="548640" y="4279392"/>
            <a:ext cx="5212080" cy="914400"/>
          </a:xfrm>
          <a:prstGeom prst="rect">
            <a:avLst/>
          </a:prstGeom>
          <a:noFill/>
          <a:ln/>
        </p:spPr>
        <p:txBody>
          <a:bodyPr wrap="square" rtlCol="0" anchor="ctr"/>
          <a:lstStyle/>
          <a:p>
            <a:pPr indent="0" marL="0">
              <a:buNone/>
            </a:pPr>
            <a:r>
              <a:rPr lang="en-US" sz="1200" dirty="0">
                <a:solidFill>
                  <a:srgbClr val="4CC9F0"/>
                </a:solidFill>
                <a:latin typeface="Calibri" pitchFamily="34" charset="0"/>
                <a:ea typeface="Calibri" pitchFamily="34" charset="-122"/>
                <a:cs typeface="Calibri" pitchFamily="34" charset="-120"/>
              </a:rPr>
              <a:t>Options:</a:t>
            </a:r>
            <a:endParaRPr lang="en-US" sz="1200" dirty="0"/>
          </a:p>
          <a:p>
            <a:pPr indent="0" marL="0">
              <a:buNone/>
            </a:pPr>
            <a:r>
              <a:rPr lang="en-US" sz="1200" dirty="0">
                <a:solidFill>
                  <a:srgbClr val="4CC9F0"/>
                </a:solidFill>
                <a:latin typeface="Calibri" pitchFamily="34" charset="0"/>
                <a:ea typeface="Calibri" pitchFamily="34" charset="-122"/>
                <a:cs typeface="Calibri" pitchFamily="34" charset="-120"/>
              </a:rPr>
              <a:t>🌿 Saw palmetto</a:t>
            </a:r>
            <a:endParaRPr lang="en-US" sz="1200" dirty="0"/>
          </a:p>
          <a:p>
            <a:pPr indent="0" marL="0">
              <a:buNone/>
            </a:pPr>
            <a:r>
              <a:rPr lang="en-US" sz="1200" dirty="0">
                <a:solidFill>
                  <a:srgbClr val="4CC9F0"/>
                </a:solidFill>
                <a:latin typeface="Calibri" pitchFamily="34" charset="0"/>
                <a:ea typeface="Calibri" pitchFamily="34" charset="-122"/>
                <a:cs typeface="Calibri" pitchFamily="34" charset="-120"/>
              </a:rPr>
              <a:t>🐊 Alligator</a:t>
            </a:r>
            <a:endParaRPr lang="en-US" sz="1200" dirty="0"/>
          </a:p>
          <a:p>
            <a:pPr indent="0" marL="0">
              <a:buNone/>
            </a:pPr>
            <a:r>
              <a:rPr lang="en-US" sz="1200" dirty="0">
                <a:solidFill>
                  <a:srgbClr val="4CC9F0"/>
                </a:solidFill>
                <a:latin typeface="Calibri" pitchFamily="34" charset="0"/>
                <a:ea typeface="Calibri" pitchFamily="34" charset="-122"/>
                <a:cs typeface="Calibri" pitchFamily="34" charset="-120"/>
              </a:rPr>
              <a:t>🦩 Roseate spoonbill</a:t>
            </a:r>
            <a:endParaRPr lang="en-US" sz="1200" dirty="0"/>
          </a:p>
          <a:p>
            <a:pPr indent="0" marL="0">
              <a:buNone/>
            </a:pPr>
            <a:r>
              <a:rPr lang="en-US" sz="1200" dirty="0">
                <a:solidFill>
                  <a:srgbClr val="4CC9F0"/>
                </a:solidFill>
                <a:latin typeface="Calibri" pitchFamily="34" charset="0"/>
                <a:ea typeface="Calibri" pitchFamily="34" charset="-122"/>
                <a:cs typeface="Calibri" pitchFamily="34" charset="-120"/>
              </a:rPr>
              <a:t>🐢 Gopher tortoise</a:t>
            </a:r>
            <a:endParaRPr lang="en-US" sz="1200" dirty="0"/>
          </a:p>
        </p:txBody>
      </p:sp>
      <p:sp>
        <p:nvSpPr>
          <p:cNvPr id="11" name="Shape 9"/>
          <p:cNvSpPr/>
          <p:nvPr/>
        </p:nvSpPr>
        <p:spPr>
          <a:xfrm>
            <a:off x="5943600" y="1508760"/>
            <a:ext cx="5943600" cy="4754880"/>
          </a:xfrm>
          <a:prstGeom prst="roundRect">
            <a:avLst>
              <a:gd name="adj" fmla="val 1538"/>
            </a:avLst>
          </a:prstGeom>
          <a:solidFill>
            <a:srgbClr val="0A1520"/>
          </a:solidFill>
          <a:ln w="19050">
            <a:solidFill>
              <a:srgbClr val="4CC9F0"/>
            </a:solidFill>
            <a:prstDash val="dash"/>
          </a:ln>
        </p:spPr>
      </p:sp>
      <p:sp>
        <p:nvSpPr>
          <p:cNvPr id="12" name="Text 10"/>
          <p:cNvSpPr/>
          <p:nvPr/>
        </p:nvSpPr>
        <p:spPr>
          <a:xfrm>
            <a:off x="6035040" y="1618488"/>
            <a:ext cx="57607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035040" y="2057400"/>
            <a:ext cx="57607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053328" y="2350008"/>
            <a:ext cx="5724144" cy="37033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plant animal structures labeled diagram internal external beak talon root leaf shell function"</a:t>
            </a:r>
            <a:endParaRPr lang="en-US" sz="950" dirty="0"/>
          </a:p>
        </p:txBody>
      </p:sp>
      <p:sp>
        <p:nvSpPr>
          <p:cNvPr id="15" name="Text 13"/>
          <p:cNvSpPr/>
          <p:nvPr/>
        </p:nvSpPr>
        <p:spPr>
          <a:xfrm>
            <a:off x="5943600" y="6300216"/>
            <a:ext cx="59436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Reveal AFTER students draw their own labeled model</a:t>
            </a:r>
            <a:endParaRPr lang="en-US" sz="9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Argue From Structure Evidence</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1A5FBD"/>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Question: A roseate spoonbill has a wide, flat beak. A classmate says 'It's just the shape it was born with — the shape doesn't matter for survival.' Do you agree?</a:t>
            </a:r>
            <a:endParaRPr lang="en-US" sz="1300" dirty="0"/>
          </a:p>
        </p:txBody>
      </p:sp>
      <p:sp>
        <p:nvSpPr>
          <p:cNvPr id="7" name="Shape 5"/>
          <p:cNvSpPr/>
          <p:nvPr/>
        </p:nvSpPr>
        <p:spPr>
          <a:xfrm>
            <a:off x="365760" y="1664208"/>
            <a:ext cx="3611880" cy="3886200"/>
          </a:xfrm>
          <a:prstGeom prst="roundRect">
            <a:avLst>
              <a:gd name="adj" fmla="val 2532"/>
            </a:avLst>
          </a:prstGeom>
          <a:solidFill>
            <a:srgbClr val="0A3D8F"/>
          </a:solidFill>
          <a:ln w="19050">
            <a:solidFill>
              <a:srgbClr val="1A5FBD"/>
            </a:solidFill>
            <a:prstDash val="solid"/>
          </a:ln>
        </p:spPr>
      </p:sp>
      <p:sp>
        <p:nvSpPr>
          <p:cNvPr id="8" name="Shape 6"/>
          <p:cNvSpPr/>
          <p:nvPr/>
        </p:nvSpPr>
        <p:spPr>
          <a:xfrm>
            <a:off x="365760" y="1664208"/>
            <a:ext cx="3611880" cy="347472"/>
          </a:xfrm>
          <a:prstGeom prst="rect">
            <a:avLst/>
          </a:prstGeom>
          <a:solidFill>
            <a:srgbClr val="1A5FBD"/>
          </a:solidFill>
          <a:ln w="12700">
            <a:solidFill>
              <a:srgbClr val="1A5FBD"/>
            </a:solidFill>
            <a:prstDash val="solid"/>
          </a:ln>
        </p:spPr>
      </p:sp>
      <p:sp>
        <p:nvSpPr>
          <p:cNvPr id="9" name="Text 7"/>
          <p:cNvSpPr/>
          <p:nvPr/>
        </p:nvSpPr>
        <p:spPr>
          <a:xfrm>
            <a:off x="45720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337560" cy="33924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Sentence starter:</a:t>
            </a: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"I disagree because the flat beak's shape directly affects the spoonbill's survival by _______."</a:t>
            </a:r>
            <a:endParaRPr lang="en-US" sz="1200" dirty="0"/>
          </a:p>
        </p:txBody>
      </p:sp>
      <p:sp>
        <p:nvSpPr>
          <p:cNvPr id="11" name="Shape 9"/>
          <p:cNvSpPr/>
          <p:nvPr/>
        </p:nvSpPr>
        <p:spPr>
          <a:xfrm>
            <a:off x="4114800" y="1664208"/>
            <a:ext cx="3611880" cy="3886200"/>
          </a:xfrm>
          <a:prstGeom prst="roundRect">
            <a:avLst>
              <a:gd name="adj" fmla="val 2532"/>
            </a:avLst>
          </a:prstGeom>
          <a:solidFill>
            <a:srgbClr val="145C35"/>
          </a:solidFill>
          <a:ln w="19050">
            <a:solidFill>
              <a:srgbClr val="228B50"/>
            </a:solidFill>
            <a:prstDash val="solid"/>
          </a:ln>
        </p:spPr>
      </p:sp>
      <p:sp>
        <p:nvSpPr>
          <p:cNvPr id="12" name="Shape 10"/>
          <p:cNvSpPr/>
          <p:nvPr/>
        </p:nvSpPr>
        <p:spPr>
          <a:xfrm>
            <a:off x="4114800" y="1664208"/>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2066544"/>
            <a:ext cx="3337560" cy="33924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Choose 2 structure facts: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Flat shape = wider sweep through water</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Flat shape = feels small prey (fish, shrimp) it can't see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Pointy beak = spears fish = different function</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Shape IS the function</a:t>
            </a:r>
            <a:endParaRPr lang="en-US" sz="1100" dirty="0"/>
          </a:p>
        </p:txBody>
      </p:sp>
      <p:sp>
        <p:nvSpPr>
          <p:cNvPr id="15" name="Shape 13"/>
          <p:cNvSpPr/>
          <p:nvPr/>
        </p:nvSpPr>
        <p:spPr>
          <a:xfrm>
            <a:off x="7863840" y="1664208"/>
            <a:ext cx="4206240" cy="3886200"/>
          </a:xfrm>
          <a:prstGeom prst="roundRect">
            <a:avLst>
              <a:gd name="adj" fmla="val 2353"/>
            </a:avLst>
          </a:prstGeom>
          <a:solidFill>
            <a:srgbClr val="7A3200"/>
          </a:solidFill>
          <a:ln w="19050">
            <a:solidFill>
              <a:srgbClr val="B04A00"/>
            </a:solidFill>
            <a:prstDash val="solid"/>
          </a:ln>
        </p:spPr>
      </p:sp>
      <p:sp>
        <p:nvSpPr>
          <p:cNvPr id="16" name="Shape 14"/>
          <p:cNvSpPr/>
          <p:nvPr/>
        </p:nvSpPr>
        <p:spPr>
          <a:xfrm>
            <a:off x="7863840" y="1664208"/>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682496"/>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2066544"/>
            <a:ext cx="3931920" cy="33924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Connect the dots:</a:t>
            </a:r>
            <a:endParaRPr lang="en-US" sz="1100" dirty="0"/>
          </a:p>
          <a:p>
            <a:pPr algn="l" indent="0" marL="0">
              <a:buNone/>
            </a:pPr>
            <a:r>
              <a:rPr lang="en-US" sz="1100" i="1" dirty="0">
                <a:solidFill>
                  <a:srgbClr val="FFFFFF"/>
                </a:solidFill>
                <a:latin typeface="Calibri" pitchFamily="34" charset="0"/>
                <a:ea typeface="Calibri" pitchFamily="34" charset="-122"/>
                <a:cs typeface="Calibri" pitchFamily="34" charset="-120"/>
              </a:rPr>
              <a:t>"This shows that shape matters for survival because the flat beak _______, which means the bird can _______ in ways a pointy-beaked bird could not."</a:t>
            </a:r>
            <a:endParaRPr lang="en-US" sz="1100" dirty="0"/>
          </a:p>
        </p:txBody>
      </p:sp>
      <p:sp>
        <p:nvSpPr>
          <p:cNvPr id="19" name="Shape 17"/>
          <p:cNvSpPr/>
          <p:nvPr/>
        </p:nvSpPr>
        <p:spPr>
          <a:xfrm>
            <a:off x="365760" y="5687568"/>
            <a:ext cx="11521440" cy="804672"/>
          </a:xfrm>
          <a:prstGeom prst="roundRect">
            <a:avLst>
              <a:gd name="adj" fmla="val 9091"/>
            </a:avLst>
          </a:prstGeom>
          <a:solidFill>
            <a:srgbClr val="1A1A0A"/>
          </a:solidFill>
          <a:ln w="12700">
            <a:solidFill>
              <a:srgbClr val="FFB703"/>
            </a:solidFill>
            <a:prstDash val="solid"/>
          </a:ln>
        </p:spPr>
      </p:sp>
      <p:sp>
        <p:nvSpPr>
          <p:cNvPr id="20" name="Text 18"/>
          <p:cNvSpPr/>
          <p:nvPr/>
        </p:nvSpPr>
        <p:spPr>
          <a:xfrm>
            <a:off x="548640" y="5779008"/>
            <a:ext cx="11155680" cy="621792"/>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 Teacher models first — then students write. Then: 'Does anyone have DIFFERENT evidence about whether beak shape matters?'</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Your Turn</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 question: A classmate says 'Plants don't really have structures — they're just leaves and stems. Only animals have body parts that matter.' Do you agree or disagree?</a:t>
            </a:r>
            <a:endParaRPr lang="en-US" sz="1200" dirty="0"/>
          </a:p>
        </p:txBody>
      </p:sp>
      <p:sp>
        <p:nvSpPr>
          <p:cNvPr id="7" name="Shape 5"/>
          <p:cNvSpPr/>
          <p:nvPr/>
        </p:nvSpPr>
        <p:spPr>
          <a:xfrm>
            <a:off x="365760" y="1508760"/>
            <a:ext cx="3611880" cy="3337560"/>
          </a:xfrm>
          <a:prstGeom prst="roundRect">
            <a:avLst>
              <a:gd name="adj" fmla="val 2740"/>
            </a:avLst>
          </a:prstGeom>
          <a:solidFill>
            <a:srgbClr val="0A3D8F"/>
          </a:solidFill>
          <a:ln w="19050">
            <a:solidFill>
              <a:srgbClr val="1A5FBD"/>
            </a:solidFill>
            <a:prstDash val="solid"/>
          </a:ln>
        </p:spPr>
      </p:sp>
      <p:sp>
        <p:nvSpPr>
          <p:cNvPr id="8" name="Shape 6"/>
          <p:cNvSpPr/>
          <p:nvPr/>
        </p:nvSpPr>
        <p:spPr>
          <a:xfrm>
            <a:off x="365760" y="1508760"/>
            <a:ext cx="3611880" cy="347472"/>
          </a:xfrm>
          <a:prstGeom prst="rect">
            <a:avLst/>
          </a:prstGeom>
          <a:solidFill>
            <a:srgbClr val="1A5FBD"/>
          </a:solidFill>
          <a:ln w="12700">
            <a:solidFill>
              <a:srgbClr val="1A5FBD"/>
            </a:solidFill>
            <a:prstDash val="solid"/>
          </a:ln>
        </p:spPr>
      </p:sp>
      <p:sp>
        <p:nvSpPr>
          <p:cNvPr id="9" name="Text 7"/>
          <p:cNvSpPr/>
          <p:nvPr/>
        </p:nvSpPr>
        <p:spPr>
          <a:xfrm>
            <a:off x="45720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911096"/>
            <a:ext cx="333756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 disagree because plants DO have structures with important functions, like _______ and _______ .</a:t>
            </a:r>
            <a:endParaRPr lang="en-US" sz="1200" dirty="0"/>
          </a:p>
        </p:txBody>
      </p:sp>
      <p:sp>
        <p:nvSpPr>
          <p:cNvPr id="11" name="Shape 9"/>
          <p:cNvSpPr/>
          <p:nvPr/>
        </p:nvSpPr>
        <p:spPr>
          <a:xfrm>
            <a:off x="4114800" y="1508760"/>
            <a:ext cx="3611880" cy="3337560"/>
          </a:xfrm>
          <a:prstGeom prst="roundRect">
            <a:avLst>
              <a:gd name="adj" fmla="val 2740"/>
            </a:avLst>
          </a:prstGeom>
          <a:solidFill>
            <a:srgbClr val="145C35"/>
          </a:solidFill>
          <a:ln w="19050">
            <a:solidFill>
              <a:srgbClr val="228B50"/>
            </a:solidFill>
            <a:prstDash val="solid"/>
          </a:ln>
        </p:spPr>
      </p:sp>
      <p:sp>
        <p:nvSpPr>
          <p:cNvPr id="12" name="Shape 10"/>
          <p:cNvSpPr/>
          <p:nvPr/>
        </p:nvSpPr>
        <p:spPr>
          <a:xfrm>
            <a:off x="4114800" y="1508760"/>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911096"/>
            <a:ext cx="3337560" cy="284378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Find 2 plant structure facts: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1. _______________</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2. _______________</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(Hint: leaves, roots, thorns, flowers, bark)</a:t>
            </a:r>
            <a:endParaRPr lang="en-US" sz="1100" dirty="0"/>
          </a:p>
        </p:txBody>
      </p:sp>
      <p:sp>
        <p:nvSpPr>
          <p:cNvPr id="15" name="Shape 13"/>
          <p:cNvSpPr/>
          <p:nvPr/>
        </p:nvSpPr>
        <p:spPr>
          <a:xfrm>
            <a:off x="7863840" y="1508760"/>
            <a:ext cx="4206240" cy="3337560"/>
          </a:xfrm>
          <a:prstGeom prst="roundRect">
            <a:avLst>
              <a:gd name="adj" fmla="val 2740"/>
            </a:avLst>
          </a:prstGeom>
          <a:solidFill>
            <a:srgbClr val="7A3200"/>
          </a:solidFill>
          <a:ln w="19050">
            <a:solidFill>
              <a:srgbClr val="B04A00"/>
            </a:solidFill>
            <a:prstDash val="solid"/>
          </a:ln>
        </p:spPr>
      </p:sp>
      <p:sp>
        <p:nvSpPr>
          <p:cNvPr id="16" name="Shape 14"/>
          <p:cNvSpPr/>
          <p:nvPr/>
        </p:nvSpPr>
        <p:spPr>
          <a:xfrm>
            <a:off x="7863840" y="1508760"/>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527048"/>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911096"/>
            <a:ext cx="393192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"This shows that plant structures matter for survival because without _______, the plant couldn't _______ and would _______."</a:t>
            </a:r>
            <a:endParaRPr lang="en-US" sz="1200" dirty="0"/>
          </a:p>
        </p:txBody>
      </p:sp>
      <p:sp>
        <p:nvSpPr>
          <p:cNvPr id="19" name="Shape 17"/>
          <p:cNvSpPr/>
          <p:nvPr/>
        </p:nvSpPr>
        <p:spPr>
          <a:xfrm>
            <a:off x="365760" y="4983480"/>
            <a:ext cx="11521440" cy="1115568"/>
          </a:xfrm>
          <a:prstGeom prst="roundRect">
            <a:avLst>
              <a:gd name="adj" fmla="val 6557"/>
            </a:avLst>
          </a:prstGeom>
          <a:solidFill>
            <a:srgbClr val="1E2F45"/>
          </a:solidFill>
          <a:ln w="12700">
            <a:solidFill>
              <a:srgbClr val="243A52"/>
            </a:solidFill>
            <a:prstDash val="solid"/>
          </a:ln>
        </p:spPr>
      </p:sp>
      <p:sp>
        <p:nvSpPr>
          <p:cNvPr id="20" name="Text 18"/>
          <p:cNvSpPr/>
          <p:nvPr/>
        </p:nvSpPr>
        <p:spPr>
          <a:xfrm>
            <a:off x="548640" y="5047488"/>
            <a:ext cx="1115568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Sentence starters if stuck:</a:t>
            </a:r>
            <a:endParaRPr lang="en-US" sz="1200" dirty="0"/>
          </a:p>
        </p:txBody>
      </p:sp>
      <p:sp>
        <p:nvSpPr>
          <p:cNvPr id="21" name="Text 19"/>
          <p:cNvSpPr/>
          <p:nvPr/>
        </p:nvSpPr>
        <p:spPr>
          <a:xfrm>
            <a:off x="548640" y="5394960"/>
            <a:ext cx="11155680" cy="5669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Claim: "I disagree because plants have leaves that _____ and roots that _____."   Evidence: "Today I learned that a leaf's function is to _____ and a root's function is to _____."</a:t>
            </a:r>
            <a:endParaRPr lang="en-US" sz="11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063240"/>
          </a:xfrm>
          <a:prstGeom prst="roundRect">
            <a:avLst>
              <a:gd name="adj" fmla="val 2388"/>
            </a:avLst>
          </a:prstGeom>
          <a:solidFill>
            <a:srgbClr val="0A1520"/>
          </a:solidFill>
          <a:ln w="12700">
            <a:solidFill>
              <a:srgbClr val="2DC653"/>
            </a:solidFill>
            <a:prstDash val="solid"/>
          </a:ln>
        </p:spPr>
      </p:sp>
      <p:sp>
        <p:nvSpPr>
          <p:cNvPr id="3" name="Text 1"/>
          <p:cNvSpPr/>
          <p:nvPr/>
        </p:nvSpPr>
        <p:spPr>
          <a:xfrm>
            <a:off x="365760" y="566928"/>
            <a:ext cx="11521440" cy="658368"/>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4" name="Text 2"/>
          <p:cNvSpPr/>
          <p:nvPr/>
        </p:nvSpPr>
        <p:spPr>
          <a:xfrm>
            <a:off x="365760" y="1298448"/>
            <a:ext cx="11521440" cy="347472"/>
          </a:xfrm>
          <a:prstGeom prst="rect">
            <a:avLst/>
          </a:prstGeom>
          <a:noFill/>
          <a:ln/>
        </p:spPr>
        <p:txBody>
          <a:bodyPr wrap="square" rtlCol="0" anchor="ctr"/>
          <a:lstStyle/>
          <a:p>
            <a:pPr algn="ctr" indent="0" marL="0">
              <a:buNone/>
            </a:pPr>
            <a:r>
              <a:rPr lang="en-US" sz="1500" b="1" dirty="0">
                <a:solidFill>
                  <a:srgbClr val="2DC653"/>
                </a:solidFill>
                <a:latin typeface="Calibri" pitchFamily="34" charset="0"/>
                <a:ea typeface="Calibri" pitchFamily="34" charset="-122"/>
                <a:cs typeface="Calibri" pitchFamily="34" charset="-120"/>
              </a:rPr>
              <a:t>Mind-Blowing Fact #2 — Saw Palmetto Survival</a:t>
            </a:r>
            <a:endParaRPr lang="en-US" sz="1500" dirty="0"/>
          </a:p>
        </p:txBody>
      </p:sp>
      <p:sp>
        <p:nvSpPr>
          <p:cNvPr id="5" name="Text 3"/>
          <p:cNvSpPr/>
          <p:nvPr/>
        </p:nvSpPr>
        <p:spPr>
          <a:xfrm>
            <a:off x="914400" y="1755648"/>
            <a:ext cx="10241280" cy="384048"/>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Saw palmetto leaves can live for MORE THAN 7 YEARS.</a:t>
            </a:r>
            <a:endParaRPr lang="en-US" sz="1600" dirty="0"/>
          </a:p>
        </p:txBody>
      </p:sp>
      <p:sp>
        <p:nvSpPr>
          <p:cNvPr id="6" name="Text 4"/>
          <p:cNvSpPr/>
          <p:nvPr/>
        </p:nvSpPr>
        <p:spPr>
          <a:xfrm>
            <a:off x="914400" y="2176272"/>
            <a:ext cx="10241280" cy="566928"/>
          </a:xfrm>
          <a:prstGeom prst="rect">
            <a:avLst/>
          </a:prstGeom>
          <a:noFill/>
          <a:ln/>
        </p:spPr>
        <p:txBody>
          <a:bodyPr wrap="square" rtlCol="0" anchor="ctr"/>
          <a:lstStyle/>
          <a:p>
            <a:pPr algn="ctr" indent="0" marL="0">
              <a:buNone/>
            </a:pPr>
            <a:r>
              <a:rPr lang="en-US" sz="3200" b="1" dirty="0">
                <a:solidFill>
                  <a:srgbClr val="2DC653"/>
                </a:solidFill>
                <a:latin typeface="Calibri" pitchFamily="34" charset="0"/>
                <a:ea typeface="Calibri" pitchFamily="34" charset="-122"/>
                <a:cs typeface="Calibri" pitchFamily="34" charset="-120"/>
              </a:rPr>
              <a:t>And the plant itself can live 500 TO 700 YEARS</a:t>
            </a:r>
            <a:endParaRPr lang="en-US" sz="3200" dirty="0"/>
          </a:p>
        </p:txBody>
      </p:sp>
      <p:sp>
        <p:nvSpPr>
          <p:cNvPr id="7" name="Text 5"/>
          <p:cNvSpPr/>
          <p:nvPr/>
        </p:nvSpPr>
        <p:spPr>
          <a:xfrm>
            <a:off x="914400" y="2788920"/>
            <a:ext cx="10241280" cy="384048"/>
          </a:xfrm>
          <a:prstGeom prst="rect">
            <a:avLst/>
          </a:prstGeom>
          <a:noFill/>
          <a:ln/>
        </p:spPr>
        <p:txBody>
          <a:bodyPr wrap="square" rtlCol="0" anchor="ctr"/>
          <a:lstStyle/>
          <a:p>
            <a:pPr algn="ctr" indent="0" marL="0">
              <a:buNone/>
            </a:pPr>
            <a:r>
              <a:rPr lang="en-US" sz="1400" dirty="0">
                <a:solidFill>
                  <a:srgbClr val="B0C4D8"/>
                </a:solidFill>
                <a:latin typeface="Calibri" pitchFamily="34" charset="0"/>
                <a:ea typeface="Calibri" pitchFamily="34" charset="-122"/>
                <a:cs typeface="Calibri" pitchFamily="34" charset="-120"/>
              </a:rPr>
              <a:t>using the same root structure the entire time.</a:t>
            </a:r>
            <a:endParaRPr lang="en-US" sz="1400" dirty="0"/>
          </a:p>
        </p:txBody>
      </p:sp>
      <p:sp>
        <p:nvSpPr>
          <p:cNvPr id="8" name="Shape 6"/>
          <p:cNvSpPr/>
          <p:nvPr/>
        </p:nvSpPr>
        <p:spPr>
          <a:xfrm>
            <a:off x="365760" y="3611880"/>
            <a:ext cx="11521440" cy="2633472"/>
          </a:xfrm>
          <a:prstGeom prst="roundRect">
            <a:avLst>
              <a:gd name="adj" fmla="val 2778"/>
            </a:avLst>
          </a:prstGeom>
          <a:solidFill>
            <a:srgbClr val="1E2F45"/>
          </a:solidFill>
          <a:ln w="12700">
            <a:solidFill>
              <a:srgbClr val="4CC9F0"/>
            </a:solidFill>
            <a:prstDash val="solid"/>
          </a:ln>
        </p:spPr>
      </p:sp>
      <p:sp>
        <p:nvSpPr>
          <p:cNvPr id="9" name="Text 7"/>
          <p:cNvSpPr/>
          <p:nvPr/>
        </p:nvSpPr>
        <p:spPr>
          <a:xfrm>
            <a:off x="548640" y="3703320"/>
            <a:ext cx="1115568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Go Deeper: How Do Scientists Find Internal Structures?</a:t>
            </a:r>
            <a:endParaRPr lang="en-US" sz="1300" dirty="0"/>
          </a:p>
        </p:txBody>
      </p:sp>
      <p:sp>
        <p:nvSpPr>
          <p:cNvPr id="10" name="Text 8"/>
          <p:cNvSpPr/>
          <p:nvPr/>
        </p:nvSpPr>
        <p:spPr>
          <a:xfrm>
            <a:off x="548640" y="4096512"/>
            <a:ext cx="11155680" cy="202996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You can't cut open a living animal to check its internal structures. So scientists use:</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X-rays → see bones and dense structures</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CT scans → detailed 3D images of internal organs</a:t>
            </a: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 Ultrasound → safe way to check a manatee's lungs or a sea turtle's shell from the inside</a:t>
            </a:r>
            <a:endParaRPr lang="en-US" sz="1250" dirty="0"/>
          </a:p>
          <a:p>
            <a:pPr indent="0" marL="0">
              <a:buNone/>
            </a:pP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That's how we know what internal structures do — without harming the animal.</a:t>
            </a:r>
            <a:endParaRPr lang="en-US" sz="12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 — Not Graded!</a:t>
            </a:r>
            <a:endParaRPr lang="en-US" sz="1600" dirty="0"/>
          </a:p>
        </p:txBody>
      </p:sp>
      <p:sp>
        <p:nvSpPr>
          <p:cNvPr id="5" name="Shape 3"/>
          <p:cNvSpPr/>
          <p:nvPr/>
        </p:nvSpPr>
        <p:spPr>
          <a:xfrm>
            <a:off x="365760" y="658368"/>
            <a:ext cx="11521440" cy="1664208"/>
          </a:xfrm>
          <a:prstGeom prst="roundRect">
            <a:avLst>
              <a:gd name="adj" fmla="val 4396"/>
            </a:avLst>
          </a:prstGeom>
          <a:solidFill>
            <a:srgbClr val="1E2F45"/>
          </a:solidFill>
          <a:ln w="12700">
            <a:solidFill>
              <a:srgbClr val="243A52"/>
            </a:solidFill>
            <a:prstDash val="solid"/>
          </a:ln>
        </p:spPr>
      </p:sp>
      <p:sp>
        <p:nvSpPr>
          <p:cNvPr id="6" name="Text 4"/>
          <p:cNvSpPr/>
          <p:nvPr/>
        </p:nvSpPr>
        <p:spPr>
          <a:xfrm>
            <a:off x="548640" y="713232"/>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Q1: A leaf is a structure. What is its main FUNCTION?</a:t>
            </a:r>
            <a:endParaRPr lang="en-US" sz="1200" dirty="0"/>
          </a:p>
        </p:txBody>
      </p:sp>
      <p:sp>
        <p:nvSpPr>
          <p:cNvPr id="7" name="Text 5"/>
          <p:cNvSpPr/>
          <p:nvPr/>
        </p:nvSpPr>
        <p:spPr>
          <a:xfrm>
            <a:off x="68580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To hold water for the plant</a:t>
            </a:r>
            <a:endParaRPr lang="en-US" sz="1150" dirty="0"/>
          </a:p>
        </p:txBody>
      </p:sp>
      <p:sp>
        <p:nvSpPr>
          <p:cNvPr id="8" name="Text 6"/>
          <p:cNvSpPr/>
          <p:nvPr/>
        </p:nvSpPr>
        <p:spPr>
          <a:xfrm>
            <a:off x="4526280" y="1234440"/>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B  To catch sunlight so the plant can make food 🌿</a:t>
            </a:r>
            <a:endParaRPr lang="en-US" sz="1150" dirty="0"/>
          </a:p>
        </p:txBody>
      </p:sp>
      <p:sp>
        <p:nvSpPr>
          <p:cNvPr id="9" name="Text 7"/>
          <p:cNvSpPr/>
          <p:nvPr/>
        </p:nvSpPr>
        <p:spPr>
          <a:xfrm>
            <a:off x="836676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To anchor the plant in the soil</a:t>
            </a:r>
            <a:endParaRPr lang="en-US" sz="1150" dirty="0"/>
          </a:p>
        </p:txBody>
      </p:sp>
      <p:sp>
        <p:nvSpPr>
          <p:cNvPr id="10" name="Shape 8"/>
          <p:cNvSpPr/>
          <p:nvPr/>
        </p:nvSpPr>
        <p:spPr>
          <a:xfrm>
            <a:off x="365760" y="2560320"/>
            <a:ext cx="11521440" cy="1664208"/>
          </a:xfrm>
          <a:prstGeom prst="roundRect">
            <a:avLst>
              <a:gd name="adj" fmla="val 4396"/>
            </a:avLst>
          </a:prstGeom>
          <a:solidFill>
            <a:srgbClr val="1E2F45"/>
          </a:solidFill>
          <a:ln w="12700">
            <a:solidFill>
              <a:srgbClr val="243A52"/>
            </a:solidFill>
            <a:prstDash val="solid"/>
          </a:ln>
        </p:spPr>
      </p:sp>
      <p:sp>
        <p:nvSpPr>
          <p:cNvPr id="11" name="Text 9"/>
          <p:cNvSpPr/>
          <p:nvPr/>
        </p:nvSpPr>
        <p:spPr>
          <a:xfrm>
            <a:off x="548640" y="2615184"/>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Q2: A gopher tortoise's hard shell is an example of which kind of structure?</a:t>
            </a:r>
            <a:endParaRPr lang="en-US" sz="1200" dirty="0"/>
          </a:p>
        </p:txBody>
      </p:sp>
      <p:sp>
        <p:nvSpPr>
          <p:cNvPr id="12" name="Text 10"/>
          <p:cNvSpPr/>
          <p:nvPr/>
        </p:nvSpPr>
        <p:spPr>
          <a:xfrm>
            <a:off x="685800" y="3136392"/>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A  External 🐢</a:t>
            </a:r>
            <a:endParaRPr lang="en-US" sz="1150" dirty="0"/>
          </a:p>
        </p:txBody>
      </p:sp>
      <p:sp>
        <p:nvSpPr>
          <p:cNvPr id="13" name="Text 11"/>
          <p:cNvSpPr/>
          <p:nvPr/>
        </p:nvSpPr>
        <p:spPr>
          <a:xfrm>
            <a:off x="452628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Internal</a:t>
            </a:r>
            <a:endParaRPr lang="en-US" sz="1150" dirty="0"/>
          </a:p>
        </p:txBody>
      </p:sp>
      <p:sp>
        <p:nvSpPr>
          <p:cNvPr id="14" name="Text 12"/>
          <p:cNvSpPr/>
          <p:nvPr/>
        </p:nvSpPr>
        <p:spPr>
          <a:xfrm>
            <a:off x="836676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Invasive</a:t>
            </a:r>
            <a:endParaRPr lang="en-US" sz="1150" dirty="0"/>
          </a:p>
        </p:txBody>
      </p:sp>
      <p:sp>
        <p:nvSpPr>
          <p:cNvPr id="15" name="Shape 13"/>
          <p:cNvSpPr/>
          <p:nvPr/>
        </p:nvSpPr>
        <p:spPr>
          <a:xfrm>
            <a:off x="365760" y="4462272"/>
            <a:ext cx="11521440" cy="1664208"/>
          </a:xfrm>
          <a:prstGeom prst="roundRect">
            <a:avLst>
              <a:gd name="adj" fmla="val 4396"/>
            </a:avLst>
          </a:prstGeom>
          <a:solidFill>
            <a:srgbClr val="1E2F45"/>
          </a:solidFill>
          <a:ln w="12700">
            <a:solidFill>
              <a:srgbClr val="243A52"/>
            </a:solidFill>
            <a:prstDash val="solid"/>
          </a:ln>
        </p:spPr>
      </p:sp>
      <p:sp>
        <p:nvSpPr>
          <p:cNvPr id="16" name="Text 14"/>
          <p:cNvSpPr/>
          <p:nvPr/>
        </p:nvSpPr>
        <p:spPr>
          <a:xfrm>
            <a:off x="548640" y="4517136"/>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Q3: A roseate spoonbill's beak is wide and flat. What's the BEST evidence-based argument for why?</a:t>
            </a:r>
            <a:endParaRPr lang="en-US" sz="1200" dirty="0"/>
          </a:p>
        </p:txBody>
      </p:sp>
      <p:sp>
        <p:nvSpPr>
          <p:cNvPr id="17" name="Text 15"/>
          <p:cNvSpPr/>
          <p:nvPr/>
        </p:nvSpPr>
        <p:spPr>
          <a:xfrm>
            <a:off x="68580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Because the bird thought it would look pretty</a:t>
            </a:r>
            <a:endParaRPr lang="en-US" sz="1150" dirty="0"/>
          </a:p>
        </p:txBody>
      </p:sp>
      <p:sp>
        <p:nvSpPr>
          <p:cNvPr id="18" name="Text 16"/>
          <p:cNvSpPr/>
          <p:nvPr/>
        </p:nvSpPr>
        <p:spPr>
          <a:xfrm>
            <a:off x="4526280" y="5038344"/>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B  The flat shape helps it sweep through shallow water and feel small prey 🦩</a:t>
            </a:r>
            <a:endParaRPr lang="en-US" sz="1150" dirty="0"/>
          </a:p>
        </p:txBody>
      </p:sp>
      <p:sp>
        <p:nvSpPr>
          <p:cNvPr id="19" name="Text 17"/>
          <p:cNvSpPr/>
          <p:nvPr/>
        </p:nvSpPr>
        <p:spPr>
          <a:xfrm>
            <a:off x="836676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It is an invasive species in Florida</a:t>
            </a:r>
            <a:endParaRPr lang="en-US" sz="115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Assignment: Show What You Know (12 min)</a:t>
            </a:r>
            <a:endParaRPr lang="en-US" sz="1600" dirty="0"/>
          </a:p>
        </p:txBody>
      </p:sp>
      <p:sp>
        <p:nvSpPr>
          <p:cNvPr id="5" name="Shape 3"/>
          <p:cNvSpPr/>
          <p:nvPr/>
        </p:nvSpPr>
        <p:spPr>
          <a:xfrm>
            <a:off x="365760" y="713232"/>
            <a:ext cx="3611880" cy="5166360"/>
          </a:xfrm>
          <a:prstGeom prst="roundRect">
            <a:avLst>
              <a:gd name="adj" fmla="val 2025"/>
            </a:avLst>
          </a:prstGeom>
          <a:solidFill>
            <a:srgbClr val="1E2F45"/>
          </a:solidFill>
          <a:ln w="12700">
            <a:solidFill>
              <a:srgbClr val="F4736A"/>
            </a:solidFill>
            <a:prstDash val="solid"/>
          </a:ln>
        </p:spPr>
      </p:sp>
      <p:sp>
        <p:nvSpPr>
          <p:cNvPr id="6" name="Text 4"/>
          <p:cNvSpPr/>
          <p:nvPr/>
        </p:nvSpPr>
        <p:spPr>
          <a:xfrm>
            <a:off x="548640" y="804672"/>
            <a:ext cx="329184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Part A — Match the Word</a:t>
            </a:r>
            <a:endParaRPr lang="en-US" sz="1200" dirty="0"/>
          </a:p>
        </p:txBody>
      </p:sp>
      <p:sp>
        <p:nvSpPr>
          <p:cNvPr id="7" name="Text 5"/>
          <p:cNvSpPr/>
          <p:nvPr/>
        </p:nvSpPr>
        <p:spPr>
          <a:xfrm>
            <a:off x="54864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4 blanks:</a:t>
            </a:r>
            <a:endParaRPr lang="en-US" sz="1100" dirty="0"/>
          </a:p>
        </p:txBody>
      </p:sp>
      <p:sp>
        <p:nvSpPr>
          <p:cNvPr id="8" name="Text 6"/>
          <p:cNvSpPr/>
          <p:nvPr/>
        </p:nvSpPr>
        <p:spPr>
          <a:xfrm>
            <a:off x="548640" y="1645920"/>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Structure</a:t>
            </a:r>
            <a:endParaRPr lang="en-US" sz="1100" dirty="0"/>
          </a:p>
        </p:txBody>
      </p:sp>
      <p:sp>
        <p:nvSpPr>
          <p:cNvPr id="9" name="Text 7"/>
          <p:cNvSpPr/>
          <p:nvPr/>
        </p:nvSpPr>
        <p:spPr>
          <a:xfrm>
            <a:off x="548640" y="2084832"/>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Function</a:t>
            </a:r>
            <a:endParaRPr lang="en-US" sz="1100" dirty="0"/>
          </a:p>
        </p:txBody>
      </p:sp>
      <p:sp>
        <p:nvSpPr>
          <p:cNvPr id="10" name="Text 8"/>
          <p:cNvSpPr/>
          <p:nvPr/>
        </p:nvSpPr>
        <p:spPr>
          <a:xfrm>
            <a:off x="548640" y="2523744"/>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External</a:t>
            </a:r>
            <a:endParaRPr lang="en-US" sz="1100" dirty="0"/>
          </a:p>
        </p:txBody>
      </p:sp>
      <p:sp>
        <p:nvSpPr>
          <p:cNvPr id="11" name="Text 9"/>
          <p:cNvSpPr/>
          <p:nvPr/>
        </p:nvSpPr>
        <p:spPr>
          <a:xfrm>
            <a:off x="548640" y="2962656"/>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Internal</a:t>
            </a:r>
            <a:endParaRPr lang="en-US" sz="1100" dirty="0"/>
          </a:p>
        </p:txBody>
      </p:sp>
      <p:sp>
        <p:nvSpPr>
          <p:cNvPr id="12" name="Text 10"/>
          <p:cNvSpPr/>
          <p:nvPr/>
        </p:nvSpPr>
        <p:spPr>
          <a:xfrm>
            <a:off x="548640" y="3401568"/>
            <a:ext cx="3291840" cy="365760"/>
          </a:xfrm>
          <a:prstGeom prst="rect">
            <a:avLst/>
          </a:prstGeom>
          <a:noFill/>
          <a:ln/>
        </p:spPr>
        <p:txBody>
          <a:bodyPr wrap="square" rtlCol="0" anchor="ctr"/>
          <a:lstStyle/>
          <a:p>
            <a:pPr indent="0" marL="0">
              <a:buNone/>
            </a:pPr>
            <a:endParaRPr lang="en-US" sz="1100" dirty="0"/>
          </a:p>
        </p:txBody>
      </p:sp>
      <p:sp>
        <p:nvSpPr>
          <p:cNvPr id="13" name="Text 11"/>
          <p:cNvSpPr/>
          <p:nvPr/>
        </p:nvSpPr>
        <p:spPr>
          <a:xfrm>
            <a:off x="548640" y="3840480"/>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4–6</a:t>
            </a:r>
            <a:endParaRPr lang="en-US" sz="1100" dirty="0"/>
          </a:p>
        </p:txBody>
      </p:sp>
      <p:sp>
        <p:nvSpPr>
          <p:cNvPr id="14" name="Shape 12"/>
          <p:cNvSpPr/>
          <p:nvPr/>
        </p:nvSpPr>
        <p:spPr>
          <a:xfrm>
            <a:off x="4114800" y="713232"/>
            <a:ext cx="3611880" cy="5166360"/>
          </a:xfrm>
          <a:prstGeom prst="roundRect">
            <a:avLst>
              <a:gd name="adj" fmla="val 2025"/>
            </a:avLst>
          </a:prstGeom>
          <a:solidFill>
            <a:srgbClr val="1E2F45"/>
          </a:solidFill>
          <a:ln w="12700">
            <a:solidFill>
              <a:srgbClr val="FFB703"/>
            </a:solidFill>
            <a:prstDash val="solid"/>
          </a:ln>
        </p:spPr>
      </p:sp>
      <p:sp>
        <p:nvSpPr>
          <p:cNvPr id="15" name="Text 13"/>
          <p:cNvSpPr/>
          <p:nvPr/>
        </p:nvSpPr>
        <p:spPr>
          <a:xfrm>
            <a:off x="4297680" y="804672"/>
            <a:ext cx="329184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6" name="Text 14"/>
          <p:cNvSpPr/>
          <p:nvPr/>
        </p:nvSpPr>
        <p:spPr>
          <a:xfrm>
            <a:off x="429768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complete-sentence Qs:</a:t>
            </a:r>
            <a:endParaRPr lang="en-US" sz="1100" dirty="0"/>
          </a:p>
        </p:txBody>
      </p:sp>
      <p:sp>
        <p:nvSpPr>
          <p:cNvPr id="17" name="Text 15"/>
          <p:cNvSpPr/>
          <p:nvPr/>
        </p:nvSpPr>
        <p:spPr>
          <a:xfrm>
            <a:off x="4297680" y="161848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 Pick a structure from the diagram — name it and describe its function</a:t>
            </a:r>
            <a:endParaRPr lang="en-US" sz="1100" dirty="0"/>
          </a:p>
        </p:txBody>
      </p:sp>
      <p:sp>
        <p:nvSpPr>
          <p:cNvPr id="18" name="Text 16"/>
          <p:cNvSpPr/>
          <p:nvPr/>
        </p:nvSpPr>
        <p:spPr>
          <a:xfrm>
            <a:off x="4297680" y="202996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 Internal vs. external — difference + 1 FL example of each</a:t>
            </a:r>
            <a:endParaRPr lang="en-US" sz="1100" dirty="0"/>
          </a:p>
        </p:txBody>
      </p:sp>
      <p:sp>
        <p:nvSpPr>
          <p:cNvPr id="19" name="Text 17"/>
          <p:cNvSpPr/>
          <p:nvPr/>
        </p:nvSpPr>
        <p:spPr>
          <a:xfrm>
            <a:off x="4297680" y="244144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Why do two FL birds have different beaks? Use 'structure' and 'function'</a:t>
            </a:r>
            <a:endParaRPr lang="en-US" sz="1100" dirty="0"/>
          </a:p>
        </p:txBody>
      </p:sp>
      <p:sp>
        <p:nvSpPr>
          <p:cNvPr id="20" name="Text 18"/>
          <p:cNvSpPr/>
          <p:nvPr/>
        </p:nvSpPr>
        <p:spPr>
          <a:xfrm>
            <a:off x="4297680" y="2852928"/>
            <a:ext cx="3291840" cy="365760"/>
          </a:xfrm>
          <a:prstGeom prst="rect">
            <a:avLst/>
          </a:prstGeom>
          <a:noFill/>
          <a:ln/>
        </p:spPr>
        <p:txBody>
          <a:bodyPr wrap="square" rtlCol="0" anchor="ctr"/>
          <a:lstStyle/>
          <a:p>
            <a:pPr indent="0" marL="0">
              <a:buNone/>
            </a:pPr>
            <a:endParaRPr lang="en-US" sz="1100" dirty="0"/>
          </a:p>
        </p:txBody>
      </p:sp>
      <p:sp>
        <p:nvSpPr>
          <p:cNvPr id="21" name="Text 19"/>
          <p:cNvSpPr/>
          <p:nvPr/>
        </p:nvSpPr>
        <p:spPr>
          <a:xfrm>
            <a:off x="4297680" y="3264408"/>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5–12</a:t>
            </a:r>
            <a:endParaRPr lang="en-US" sz="1100" dirty="0"/>
          </a:p>
        </p:txBody>
      </p:sp>
      <p:sp>
        <p:nvSpPr>
          <p:cNvPr id="22" name="Shape 20"/>
          <p:cNvSpPr/>
          <p:nvPr/>
        </p:nvSpPr>
        <p:spPr>
          <a:xfrm>
            <a:off x="7863840" y="713232"/>
            <a:ext cx="4389120" cy="5166360"/>
          </a:xfrm>
          <a:prstGeom prst="roundRect">
            <a:avLst>
              <a:gd name="adj" fmla="val 1667"/>
            </a:avLst>
          </a:prstGeom>
          <a:solidFill>
            <a:srgbClr val="1E2F45"/>
          </a:solidFill>
          <a:ln w="12700">
            <a:solidFill>
              <a:srgbClr val="2DC653"/>
            </a:solidFill>
            <a:prstDash val="solid"/>
          </a:ln>
        </p:spPr>
      </p:sp>
      <p:sp>
        <p:nvSpPr>
          <p:cNvPr id="23" name="Text 21"/>
          <p:cNvSpPr/>
          <p:nvPr/>
        </p:nvSpPr>
        <p:spPr>
          <a:xfrm>
            <a:off x="8046720" y="804672"/>
            <a:ext cx="41148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Labeled Sketch + CER</a:t>
            </a:r>
            <a:endParaRPr lang="en-US" sz="1200" dirty="0"/>
          </a:p>
        </p:txBody>
      </p:sp>
      <p:sp>
        <p:nvSpPr>
          <p:cNvPr id="24" name="Text 22"/>
          <p:cNvSpPr/>
          <p:nvPr/>
        </p:nvSpPr>
        <p:spPr>
          <a:xfrm>
            <a:off x="8046720" y="1207008"/>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Sketch 1 FL organism:</a:t>
            </a:r>
            <a:endParaRPr lang="en-US" sz="1100" dirty="0"/>
          </a:p>
        </p:txBody>
      </p:sp>
      <p:sp>
        <p:nvSpPr>
          <p:cNvPr id="25" name="Text 23"/>
          <p:cNvSpPr/>
          <p:nvPr/>
        </p:nvSpPr>
        <p:spPr>
          <a:xfrm>
            <a:off x="8046720" y="1591056"/>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3+ structures labeled</a:t>
            </a:r>
            <a:endParaRPr lang="en-US" sz="1100" dirty="0"/>
          </a:p>
        </p:txBody>
      </p:sp>
      <p:sp>
        <p:nvSpPr>
          <p:cNvPr id="26" name="Text 24"/>
          <p:cNvSpPr/>
          <p:nvPr/>
        </p:nvSpPr>
        <p:spPr>
          <a:xfrm>
            <a:off x="8046720" y="1975104"/>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Each label: name + internal/external + function</a:t>
            </a:r>
            <a:endParaRPr lang="en-US" sz="1100" dirty="0"/>
          </a:p>
        </p:txBody>
      </p:sp>
      <p:sp>
        <p:nvSpPr>
          <p:cNvPr id="27" name="Text 25"/>
          <p:cNvSpPr/>
          <p:nvPr/>
        </p:nvSpPr>
        <p:spPr>
          <a:xfrm>
            <a:off x="8046720" y="2359152"/>
            <a:ext cx="4114800" cy="329184"/>
          </a:xfrm>
          <a:prstGeom prst="rect">
            <a:avLst/>
          </a:prstGeom>
          <a:noFill/>
          <a:ln/>
        </p:spPr>
        <p:txBody>
          <a:bodyPr wrap="square" rtlCol="0" anchor="ctr"/>
          <a:lstStyle/>
          <a:p>
            <a:pPr indent="0" marL="0">
              <a:buNone/>
            </a:pPr>
            <a:endParaRPr lang="en-US" sz="1100" dirty="0"/>
          </a:p>
        </p:txBody>
      </p:sp>
      <p:sp>
        <p:nvSpPr>
          <p:cNvPr id="28" name="Text 26"/>
          <p:cNvSpPr/>
          <p:nvPr/>
        </p:nvSpPr>
        <p:spPr>
          <a:xfrm>
            <a:off x="8046720" y="2743200"/>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PLUS full CER:</a:t>
            </a:r>
            <a:endParaRPr lang="en-US" sz="1100" dirty="0"/>
          </a:p>
        </p:txBody>
      </p:sp>
      <p:sp>
        <p:nvSpPr>
          <p:cNvPr id="29" name="Text 27"/>
          <p:cNvSpPr/>
          <p:nvPr/>
        </p:nvSpPr>
        <p:spPr>
          <a:xfrm>
            <a:off x="8046720" y="3127248"/>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Argue why 1 structure helps survival. Evidence: shape description.</a:t>
            </a:r>
            <a:endParaRPr lang="en-US" sz="1100" dirty="0"/>
          </a:p>
        </p:txBody>
      </p:sp>
      <p:sp>
        <p:nvSpPr>
          <p:cNvPr id="30" name="Text 28"/>
          <p:cNvSpPr/>
          <p:nvPr/>
        </p:nvSpPr>
        <p:spPr>
          <a:xfrm>
            <a:off x="8046720" y="3511296"/>
            <a:ext cx="4114800" cy="329184"/>
          </a:xfrm>
          <a:prstGeom prst="rect">
            <a:avLst/>
          </a:prstGeom>
          <a:noFill/>
          <a:ln/>
        </p:spPr>
        <p:txBody>
          <a:bodyPr wrap="square" rtlCol="0" anchor="ctr"/>
          <a:lstStyle/>
          <a:p>
            <a:pPr indent="0" marL="0">
              <a:buNone/>
            </a:pPr>
            <a:endParaRPr lang="en-US" sz="1100" dirty="0"/>
          </a:p>
        </p:txBody>
      </p:sp>
      <p:sp>
        <p:nvSpPr>
          <p:cNvPr id="31" name="Text 29"/>
          <p:cNvSpPr/>
          <p:nvPr/>
        </p:nvSpPr>
        <p:spPr>
          <a:xfrm>
            <a:off x="8046720" y="3895344"/>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Pre-taught: Slides 9–12</a:t>
            </a:r>
            <a:endParaRPr lang="en-US" sz="110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do the parts of a plant or animal help it survive?"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4 vocabulary words matched correctly (structure, function, external, internal)</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3 short-answer questions using structure/function vocab with specific FL examples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Labeled sketch of 1 FL organism — 3+ structures, each with function and internal/external label</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Claim + Evidence (shape description) + Reasoning about how 1 structure aids survival</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11.02:</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More Structures — Comparing Plants &amp; Animals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We'll look at how similar functions can be done by different structures in different organisms. Preview: roots vs. feet, leaves vs. lungs.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Structure → Function: Can You Match Them?</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reading on: try to MATCH each structure to its function. Write the letter in your notebook.</a:t>
            </a:r>
            <a:endParaRPr lang="en-US" sz="1300" dirty="0"/>
          </a:p>
        </p:txBody>
      </p:sp>
      <p:sp>
        <p:nvSpPr>
          <p:cNvPr id="7" name="Shape 5"/>
          <p:cNvSpPr/>
          <p:nvPr/>
        </p:nvSpPr>
        <p:spPr>
          <a:xfrm>
            <a:off x="365760" y="1508760"/>
            <a:ext cx="5394960" cy="658368"/>
          </a:xfrm>
          <a:prstGeom prst="roundRect">
            <a:avLst>
              <a:gd name="adj" fmla="val 11111"/>
            </a:avLst>
          </a:prstGeom>
          <a:solidFill>
            <a:srgbClr val="1E2F45"/>
          </a:solidFill>
          <a:ln w="12700">
            <a:solidFill>
              <a:srgbClr val="2DC653"/>
            </a:solidFill>
            <a:prstDash val="solid"/>
          </a:ln>
        </p:spPr>
      </p:sp>
      <p:sp>
        <p:nvSpPr>
          <p:cNvPr id="8" name="Text 6"/>
          <p:cNvSpPr/>
          <p:nvPr/>
        </p:nvSpPr>
        <p:spPr>
          <a:xfrm>
            <a:off x="548640" y="1572768"/>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 Leaf (wide and flat)</a:t>
            </a:r>
            <a:endParaRPr lang="en-US" sz="1200" dirty="0"/>
          </a:p>
        </p:txBody>
      </p:sp>
      <p:sp>
        <p:nvSpPr>
          <p:cNvPr id="9" name="Shape 7"/>
          <p:cNvSpPr/>
          <p:nvPr/>
        </p:nvSpPr>
        <p:spPr>
          <a:xfrm>
            <a:off x="365760" y="2313432"/>
            <a:ext cx="5394960" cy="658368"/>
          </a:xfrm>
          <a:prstGeom prst="roundRect">
            <a:avLst>
              <a:gd name="adj" fmla="val 11111"/>
            </a:avLst>
          </a:prstGeom>
          <a:solidFill>
            <a:srgbClr val="1E2F45"/>
          </a:solidFill>
          <a:ln w="12700">
            <a:solidFill>
              <a:srgbClr val="F4736A"/>
            </a:solidFill>
            <a:prstDash val="solid"/>
          </a:ln>
        </p:spPr>
      </p:sp>
      <p:sp>
        <p:nvSpPr>
          <p:cNvPr id="10" name="Text 8"/>
          <p:cNvSpPr/>
          <p:nvPr/>
        </p:nvSpPr>
        <p:spPr>
          <a:xfrm>
            <a:off x="548640" y="2377440"/>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 Thorns (sharp, hard)</a:t>
            </a:r>
            <a:endParaRPr lang="en-US" sz="1200" dirty="0"/>
          </a:p>
        </p:txBody>
      </p:sp>
      <p:sp>
        <p:nvSpPr>
          <p:cNvPr id="11" name="Shape 9"/>
          <p:cNvSpPr/>
          <p:nvPr/>
        </p:nvSpPr>
        <p:spPr>
          <a:xfrm>
            <a:off x="365760" y="3118104"/>
            <a:ext cx="5394960" cy="658368"/>
          </a:xfrm>
          <a:prstGeom prst="roundRect">
            <a:avLst>
              <a:gd name="adj" fmla="val 11111"/>
            </a:avLst>
          </a:prstGeom>
          <a:solidFill>
            <a:srgbClr val="1E2F45"/>
          </a:solidFill>
          <a:ln w="12700">
            <a:solidFill>
              <a:srgbClr val="FFB703"/>
            </a:solidFill>
            <a:prstDash val="solid"/>
          </a:ln>
        </p:spPr>
      </p:sp>
      <p:sp>
        <p:nvSpPr>
          <p:cNvPr id="12" name="Text 10"/>
          <p:cNvSpPr/>
          <p:nvPr/>
        </p:nvSpPr>
        <p:spPr>
          <a:xfrm>
            <a:off x="548640" y="3182112"/>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 Talons (curved, sharp)</a:t>
            </a:r>
            <a:endParaRPr lang="en-US" sz="1200" dirty="0"/>
          </a:p>
        </p:txBody>
      </p:sp>
      <p:sp>
        <p:nvSpPr>
          <p:cNvPr id="13" name="Shape 11"/>
          <p:cNvSpPr/>
          <p:nvPr/>
        </p:nvSpPr>
        <p:spPr>
          <a:xfrm>
            <a:off x="365760" y="3922776"/>
            <a:ext cx="5394960" cy="658368"/>
          </a:xfrm>
          <a:prstGeom prst="roundRect">
            <a:avLst>
              <a:gd name="adj" fmla="val 11111"/>
            </a:avLst>
          </a:prstGeom>
          <a:solidFill>
            <a:srgbClr val="1E2F45"/>
          </a:solidFill>
          <a:ln w="12700">
            <a:solidFill>
              <a:srgbClr val="8B6FC0"/>
            </a:solidFill>
            <a:prstDash val="solid"/>
          </a:ln>
        </p:spPr>
      </p:sp>
      <p:sp>
        <p:nvSpPr>
          <p:cNvPr id="14" name="Text 12"/>
          <p:cNvSpPr/>
          <p:nvPr/>
        </p:nvSpPr>
        <p:spPr>
          <a:xfrm>
            <a:off x="548640" y="3986784"/>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 Dome Shell (hard, rounded)</a:t>
            </a:r>
            <a:endParaRPr lang="en-US" sz="1200" dirty="0"/>
          </a:p>
        </p:txBody>
      </p:sp>
      <p:sp>
        <p:nvSpPr>
          <p:cNvPr id="15" name="Shape 13"/>
          <p:cNvSpPr/>
          <p:nvPr/>
        </p:nvSpPr>
        <p:spPr>
          <a:xfrm>
            <a:off x="365760" y="4727448"/>
            <a:ext cx="5394960" cy="658368"/>
          </a:xfrm>
          <a:prstGeom prst="roundRect">
            <a:avLst>
              <a:gd name="adj" fmla="val 11111"/>
            </a:avLst>
          </a:prstGeom>
          <a:solidFill>
            <a:srgbClr val="1E2F45"/>
          </a:solidFill>
          <a:ln w="12700">
            <a:solidFill>
              <a:srgbClr val="0096C7"/>
            </a:solidFill>
            <a:prstDash val="solid"/>
          </a:ln>
        </p:spPr>
      </p:sp>
      <p:sp>
        <p:nvSpPr>
          <p:cNvPr id="16" name="Text 14"/>
          <p:cNvSpPr/>
          <p:nvPr/>
        </p:nvSpPr>
        <p:spPr>
          <a:xfrm>
            <a:off x="548640" y="4791456"/>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 Deep Root System</a:t>
            </a:r>
            <a:endParaRPr lang="en-US" sz="1200" dirty="0"/>
          </a:p>
        </p:txBody>
      </p:sp>
      <p:sp>
        <p:nvSpPr>
          <p:cNvPr id="17" name="Shape 15"/>
          <p:cNvSpPr/>
          <p:nvPr/>
        </p:nvSpPr>
        <p:spPr>
          <a:xfrm>
            <a:off x="365760" y="5532120"/>
            <a:ext cx="5394960" cy="658368"/>
          </a:xfrm>
          <a:prstGeom prst="roundRect">
            <a:avLst>
              <a:gd name="adj" fmla="val 11111"/>
            </a:avLst>
          </a:prstGeom>
          <a:solidFill>
            <a:srgbClr val="1E2F45"/>
          </a:solidFill>
          <a:ln w="12700">
            <a:solidFill>
              <a:srgbClr val="4CC9F0"/>
            </a:solidFill>
            <a:prstDash val="solid"/>
          </a:ln>
        </p:spPr>
      </p:sp>
      <p:sp>
        <p:nvSpPr>
          <p:cNvPr id="18" name="Text 16"/>
          <p:cNvSpPr/>
          <p:nvPr/>
        </p:nvSpPr>
        <p:spPr>
          <a:xfrm>
            <a:off x="548640" y="5596128"/>
            <a:ext cx="512064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  👁️ Forward-facing Eyes</a:t>
            </a:r>
            <a:endParaRPr lang="en-US" sz="1200" dirty="0"/>
          </a:p>
        </p:txBody>
      </p:sp>
      <p:sp>
        <p:nvSpPr>
          <p:cNvPr id="19" name="Shape 17"/>
          <p:cNvSpPr/>
          <p:nvPr/>
        </p:nvSpPr>
        <p:spPr>
          <a:xfrm>
            <a:off x="6126480" y="1508760"/>
            <a:ext cx="5760720" cy="658368"/>
          </a:xfrm>
          <a:prstGeom prst="roundRect">
            <a:avLst>
              <a:gd name="adj" fmla="val 11111"/>
            </a:avLst>
          </a:prstGeom>
          <a:solidFill>
            <a:srgbClr val="1E2F45"/>
          </a:solidFill>
          <a:ln w="12700">
            <a:solidFill>
              <a:srgbClr val="4CC9F0"/>
            </a:solidFill>
            <a:prstDash val="solid"/>
          </a:ln>
        </p:spPr>
      </p:sp>
      <p:sp>
        <p:nvSpPr>
          <p:cNvPr id="20" name="Text 18"/>
          <p:cNvSpPr/>
          <p:nvPr/>
        </p:nvSpPr>
        <p:spPr>
          <a:xfrm>
            <a:off x="6309360" y="1572768"/>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Judge distance to prey (3D vision for hunting)</a:t>
            </a:r>
            <a:endParaRPr lang="en-US" sz="1150" dirty="0"/>
          </a:p>
        </p:txBody>
      </p:sp>
      <p:sp>
        <p:nvSpPr>
          <p:cNvPr id="21" name="Shape 19"/>
          <p:cNvSpPr/>
          <p:nvPr/>
        </p:nvSpPr>
        <p:spPr>
          <a:xfrm>
            <a:off x="6126480" y="2313432"/>
            <a:ext cx="5760720" cy="658368"/>
          </a:xfrm>
          <a:prstGeom prst="roundRect">
            <a:avLst>
              <a:gd name="adj" fmla="val 11111"/>
            </a:avLst>
          </a:prstGeom>
          <a:solidFill>
            <a:srgbClr val="1E2F45"/>
          </a:solidFill>
          <a:ln w="12700">
            <a:solidFill>
              <a:srgbClr val="2DC653"/>
            </a:solidFill>
            <a:prstDash val="solid"/>
          </a:ln>
        </p:spPr>
      </p:sp>
      <p:sp>
        <p:nvSpPr>
          <p:cNvPr id="22" name="Text 20"/>
          <p:cNvSpPr/>
          <p:nvPr/>
        </p:nvSpPr>
        <p:spPr>
          <a:xfrm>
            <a:off x="6309360" y="2377440"/>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Catch sunlight for photosynthesis</a:t>
            </a:r>
            <a:endParaRPr lang="en-US" sz="1150" dirty="0"/>
          </a:p>
        </p:txBody>
      </p:sp>
      <p:sp>
        <p:nvSpPr>
          <p:cNvPr id="23" name="Shape 21"/>
          <p:cNvSpPr/>
          <p:nvPr/>
        </p:nvSpPr>
        <p:spPr>
          <a:xfrm>
            <a:off x="6126480" y="3118104"/>
            <a:ext cx="5760720" cy="658368"/>
          </a:xfrm>
          <a:prstGeom prst="roundRect">
            <a:avLst>
              <a:gd name="adj" fmla="val 11111"/>
            </a:avLst>
          </a:prstGeom>
          <a:solidFill>
            <a:srgbClr val="1E2F45"/>
          </a:solidFill>
          <a:ln w="12700">
            <a:solidFill>
              <a:srgbClr val="8B6FC0"/>
            </a:solidFill>
            <a:prstDash val="solid"/>
          </a:ln>
        </p:spPr>
      </p:sp>
      <p:sp>
        <p:nvSpPr>
          <p:cNvPr id="24" name="Text 22"/>
          <p:cNvSpPr/>
          <p:nvPr/>
        </p:nvSpPr>
        <p:spPr>
          <a:xfrm>
            <a:off x="6309360" y="3182112"/>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Protect from predators by making it hard to swallow</a:t>
            </a:r>
            <a:endParaRPr lang="en-US" sz="1150" dirty="0"/>
          </a:p>
        </p:txBody>
      </p:sp>
      <p:sp>
        <p:nvSpPr>
          <p:cNvPr id="25" name="Shape 23"/>
          <p:cNvSpPr/>
          <p:nvPr/>
        </p:nvSpPr>
        <p:spPr>
          <a:xfrm>
            <a:off x="6126480" y="3922776"/>
            <a:ext cx="5760720" cy="658368"/>
          </a:xfrm>
          <a:prstGeom prst="roundRect">
            <a:avLst>
              <a:gd name="adj" fmla="val 11111"/>
            </a:avLst>
          </a:prstGeom>
          <a:solidFill>
            <a:srgbClr val="1E2F45"/>
          </a:solidFill>
          <a:ln w="12700">
            <a:solidFill>
              <a:srgbClr val="FFB703"/>
            </a:solidFill>
            <a:prstDash val="solid"/>
          </a:ln>
        </p:spPr>
      </p:sp>
      <p:sp>
        <p:nvSpPr>
          <p:cNvPr id="26" name="Text 24"/>
          <p:cNvSpPr/>
          <p:nvPr/>
        </p:nvSpPr>
        <p:spPr>
          <a:xfrm>
            <a:off x="6309360" y="3986784"/>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Grab and hold prey — like a grappling hook</a:t>
            </a:r>
            <a:endParaRPr lang="en-US" sz="1150" dirty="0"/>
          </a:p>
        </p:txBody>
      </p:sp>
      <p:sp>
        <p:nvSpPr>
          <p:cNvPr id="27" name="Shape 25"/>
          <p:cNvSpPr/>
          <p:nvPr/>
        </p:nvSpPr>
        <p:spPr>
          <a:xfrm>
            <a:off x="6126480" y="4727448"/>
            <a:ext cx="5760720" cy="658368"/>
          </a:xfrm>
          <a:prstGeom prst="roundRect">
            <a:avLst>
              <a:gd name="adj" fmla="val 11111"/>
            </a:avLst>
          </a:prstGeom>
          <a:solidFill>
            <a:srgbClr val="1E2F45"/>
          </a:solidFill>
          <a:ln w="12700">
            <a:solidFill>
              <a:srgbClr val="0096C7"/>
            </a:solidFill>
            <a:prstDash val="solid"/>
          </a:ln>
        </p:spPr>
      </p:sp>
      <p:sp>
        <p:nvSpPr>
          <p:cNvPr id="28" name="Text 26"/>
          <p:cNvSpPr/>
          <p:nvPr/>
        </p:nvSpPr>
        <p:spPr>
          <a:xfrm>
            <a:off x="6309360" y="4791456"/>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  Pull water and nutrients from deep in dry soil</a:t>
            </a:r>
            <a:endParaRPr lang="en-US" sz="1150" dirty="0"/>
          </a:p>
        </p:txBody>
      </p:sp>
      <p:sp>
        <p:nvSpPr>
          <p:cNvPr id="29" name="Shape 27"/>
          <p:cNvSpPr/>
          <p:nvPr/>
        </p:nvSpPr>
        <p:spPr>
          <a:xfrm>
            <a:off x="6126480" y="5532120"/>
            <a:ext cx="5760720" cy="658368"/>
          </a:xfrm>
          <a:prstGeom prst="roundRect">
            <a:avLst>
              <a:gd name="adj" fmla="val 11111"/>
            </a:avLst>
          </a:prstGeom>
          <a:solidFill>
            <a:srgbClr val="1E2F45"/>
          </a:solidFill>
          <a:ln w="12700">
            <a:solidFill>
              <a:srgbClr val="F4736A"/>
            </a:solidFill>
            <a:prstDash val="solid"/>
          </a:ln>
        </p:spPr>
      </p:sp>
      <p:sp>
        <p:nvSpPr>
          <p:cNvPr id="30" name="Text 28"/>
          <p:cNvSpPr/>
          <p:nvPr/>
        </p:nvSpPr>
        <p:spPr>
          <a:xfrm>
            <a:off x="6309360" y="5596128"/>
            <a:ext cx="5486400" cy="4754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  Discourage animals from eating the plant</a:t>
            </a:r>
            <a:endParaRPr lang="en-US" sz="115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Four Florida Structures: Tap to Investigate</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FFB703"/>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For each structure below: (1) Name the structure, (2) Is it internal or external? (3) What is its function? Use evidence from the SHAPE.</a:t>
            </a:r>
            <a:endParaRPr lang="en-US" sz="1250" dirty="0"/>
          </a:p>
        </p:txBody>
      </p:sp>
      <p:sp>
        <p:nvSpPr>
          <p:cNvPr id="7" name="Shape 5"/>
          <p:cNvSpPr/>
          <p:nvPr/>
        </p:nvSpPr>
        <p:spPr>
          <a:xfrm>
            <a:off x="365760" y="1508760"/>
            <a:ext cx="5532120" cy="2359152"/>
          </a:xfrm>
          <a:prstGeom prst="roundRect">
            <a:avLst>
              <a:gd name="adj" fmla="val 3101"/>
            </a:avLst>
          </a:prstGeom>
          <a:solidFill>
            <a:srgbClr val="1E2F45"/>
          </a:solidFill>
          <a:ln w="12700">
            <a:solidFill>
              <a:srgbClr val="F4736A"/>
            </a:solidFill>
            <a:prstDash val="solid"/>
          </a:ln>
        </p:spPr>
      </p:sp>
      <p:sp>
        <p:nvSpPr>
          <p:cNvPr id="8" name="Text 6"/>
          <p:cNvSpPr/>
          <p:nvPr/>
        </p:nvSpPr>
        <p:spPr>
          <a:xfrm>
            <a:off x="502920" y="1618488"/>
            <a:ext cx="530352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Roseate Spoonbill Beak</a:t>
            </a:r>
            <a:endParaRPr lang="en-US" sz="1300" dirty="0"/>
          </a:p>
        </p:txBody>
      </p:sp>
      <p:sp>
        <p:nvSpPr>
          <p:cNvPr id="9" name="Shape 7"/>
          <p:cNvSpPr/>
          <p:nvPr/>
        </p:nvSpPr>
        <p:spPr>
          <a:xfrm>
            <a:off x="502920" y="2039112"/>
            <a:ext cx="1554480" cy="256032"/>
          </a:xfrm>
          <a:prstGeom prst="roundRect">
            <a:avLst>
              <a:gd name="adj" fmla="val 50000"/>
            </a:avLst>
          </a:prstGeom>
          <a:solidFill>
            <a:srgbClr val="F4736A"/>
          </a:solidFill>
          <a:ln w="12700">
            <a:solidFill>
              <a:srgbClr val="F4736A"/>
            </a:solidFill>
            <a:prstDash val="solid"/>
          </a:ln>
        </p:spPr>
      </p:sp>
      <p:sp>
        <p:nvSpPr>
          <p:cNvPr id="10" name="Text 8"/>
          <p:cNvSpPr/>
          <p:nvPr/>
        </p:nvSpPr>
        <p:spPr>
          <a:xfrm>
            <a:off x="502920" y="203911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External</a:t>
            </a:r>
            <a:endParaRPr lang="en-US" sz="900" dirty="0"/>
          </a:p>
        </p:txBody>
      </p:sp>
      <p:sp>
        <p:nvSpPr>
          <p:cNvPr id="11" name="Text 9"/>
          <p:cNvSpPr/>
          <p:nvPr/>
        </p:nvSpPr>
        <p:spPr>
          <a:xfrm>
            <a:off x="502920" y="2404872"/>
            <a:ext cx="5303520" cy="12984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Wide flat shape sweeps shallow water; nerve endings feel tiny fish and shrimp the bird can't see</a:t>
            </a:r>
            <a:endParaRPr lang="en-US" sz="1100" dirty="0"/>
          </a:p>
        </p:txBody>
      </p:sp>
      <p:sp>
        <p:nvSpPr>
          <p:cNvPr id="12" name="Shape 10"/>
          <p:cNvSpPr/>
          <p:nvPr/>
        </p:nvSpPr>
        <p:spPr>
          <a:xfrm>
            <a:off x="365760" y="4142232"/>
            <a:ext cx="5532120" cy="2359152"/>
          </a:xfrm>
          <a:prstGeom prst="roundRect">
            <a:avLst>
              <a:gd name="adj" fmla="val 3101"/>
            </a:avLst>
          </a:prstGeom>
          <a:solidFill>
            <a:srgbClr val="1E2F45"/>
          </a:solidFill>
          <a:ln w="12700">
            <a:solidFill>
              <a:srgbClr val="8B6FC0"/>
            </a:solidFill>
            <a:prstDash val="solid"/>
          </a:ln>
        </p:spPr>
      </p:sp>
      <p:sp>
        <p:nvSpPr>
          <p:cNvPr id="13" name="Text 11"/>
          <p:cNvSpPr/>
          <p:nvPr/>
        </p:nvSpPr>
        <p:spPr>
          <a:xfrm>
            <a:off x="502920" y="4251960"/>
            <a:ext cx="5303520" cy="347472"/>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 Gopher Tortoise Shell</a:t>
            </a:r>
            <a:endParaRPr lang="en-US" sz="1300" dirty="0"/>
          </a:p>
        </p:txBody>
      </p:sp>
      <p:sp>
        <p:nvSpPr>
          <p:cNvPr id="14" name="Shape 12"/>
          <p:cNvSpPr/>
          <p:nvPr/>
        </p:nvSpPr>
        <p:spPr>
          <a:xfrm>
            <a:off x="502920" y="4672584"/>
            <a:ext cx="1554480" cy="256032"/>
          </a:xfrm>
          <a:prstGeom prst="roundRect">
            <a:avLst>
              <a:gd name="adj" fmla="val 50000"/>
            </a:avLst>
          </a:prstGeom>
          <a:solidFill>
            <a:srgbClr val="8B6FC0"/>
          </a:solidFill>
          <a:ln w="12700">
            <a:solidFill>
              <a:srgbClr val="8B6FC0"/>
            </a:solidFill>
            <a:prstDash val="solid"/>
          </a:ln>
        </p:spPr>
      </p:sp>
      <p:sp>
        <p:nvSpPr>
          <p:cNvPr id="15" name="Text 13"/>
          <p:cNvSpPr/>
          <p:nvPr/>
        </p:nvSpPr>
        <p:spPr>
          <a:xfrm>
            <a:off x="502920" y="467258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External</a:t>
            </a:r>
            <a:endParaRPr lang="en-US" sz="900" dirty="0"/>
          </a:p>
        </p:txBody>
      </p:sp>
      <p:sp>
        <p:nvSpPr>
          <p:cNvPr id="16" name="Text 14"/>
          <p:cNvSpPr/>
          <p:nvPr/>
        </p:nvSpPr>
        <p:spPr>
          <a:xfrm>
            <a:off x="502920" y="5038344"/>
            <a:ext cx="5303520" cy="12984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Dome shape deflects predator bites and claws; hard keratin surface is very difficult to crack</a:t>
            </a:r>
            <a:endParaRPr lang="en-US" sz="1100" dirty="0"/>
          </a:p>
        </p:txBody>
      </p:sp>
      <p:sp>
        <p:nvSpPr>
          <p:cNvPr id="17" name="Shape 15"/>
          <p:cNvSpPr/>
          <p:nvPr/>
        </p:nvSpPr>
        <p:spPr>
          <a:xfrm>
            <a:off x="6126480" y="1508760"/>
            <a:ext cx="5532120" cy="2359152"/>
          </a:xfrm>
          <a:prstGeom prst="roundRect">
            <a:avLst>
              <a:gd name="adj" fmla="val 3101"/>
            </a:avLst>
          </a:prstGeom>
          <a:solidFill>
            <a:srgbClr val="1E2F45"/>
          </a:solidFill>
          <a:ln w="12700">
            <a:solidFill>
              <a:srgbClr val="2DC653"/>
            </a:solidFill>
            <a:prstDash val="solid"/>
          </a:ln>
        </p:spPr>
      </p:sp>
      <p:sp>
        <p:nvSpPr>
          <p:cNvPr id="18" name="Text 16"/>
          <p:cNvSpPr/>
          <p:nvPr/>
        </p:nvSpPr>
        <p:spPr>
          <a:xfrm>
            <a:off x="6263640" y="1618488"/>
            <a:ext cx="530352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Saw Palmetto Leaf</a:t>
            </a:r>
            <a:endParaRPr lang="en-US" sz="1300" dirty="0"/>
          </a:p>
        </p:txBody>
      </p:sp>
      <p:sp>
        <p:nvSpPr>
          <p:cNvPr id="19" name="Shape 17"/>
          <p:cNvSpPr/>
          <p:nvPr/>
        </p:nvSpPr>
        <p:spPr>
          <a:xfrm>
            <a:off x="6263640" y="2039112"/>
            <a:ext cx="1554480" cy="256032"/>
          </a:xfrm>
          <a:prstGeom prst="roundRect">
            <a:avLst>
              <a:gd name="adj" fmla="val 50000"/>
            </a:avLst>
          </a:prstGeom>
          <a:solidFill>
            <a:srgbClr val="2DC653"/>
          </a:solidFill>
          <a:ln w="12700">
            <a:solidFill>
              <a:srgbClr val="2DC653"/>
            </a:solidFill>
            <a:prstDash val="solid"/>
          </a:ln>
        </p:spPr>
      </p:sp>
      <p:sp>
        <p:nvSpPr>
          <p:cNvPr id="20" name="Text 18"/>
          <p:cNvSpPr/>
          <p:nvPr/>
        </p:nvSpPr>
        <p:spPr>
          <a:xfrm>
            <a:off x="6263640" y="203911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External</a:t>
            </a:r>
            <a:endParaRPr lang="en-US" sz="900" dirty="0"/>
          </a:p>
        </p:txBody>
      </p:sp>
      <p:sp>
        <p:nvSpPr>
          <p:cNvPr id="21" name="Text 19"/>
          <p:cNvSpPr/>
          <p:nvPr/>
        </p:nvSpPr>
        <p:spPr>
          <a:xfrm>
            <a:off x="6263640" y="2404872"/>
            <a:ext cx="5303520" cy="12984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Wide fan shape maximizes surface area to catch sunlight; waxy coating prevents water loss</a:t>
            </a:r>
            <a:endParaRPr lang="en-US" sz="1100" dirty="0"/>
          </a:p>
        </p:txBody>
      </p:sp>
      <p:sp>
        <p:nvSpPr>
          <p:cNvPr id="22" name="Shape 20"/>
          <p:cNvSpPr/>
          <p:nvPr/>
        </p:nvSpPr>
        <p:spPr>
          <a:xfrm>
            <a:off x="6126480" y="4142232"/>
            <a:ext cx="5532120" cy="2359152"/>
          </a:xfrm>
          <a:prstGeom prst="roundRect">
            <a:avLst>
              <a:gd name="adj" fmla="val 3101"/>
            </a:avLst>
          </a:prstGeom>
          <a:solidFill>
            <a:srgbClr val="1E2F45"/>
          </a:solidFill>
          <a:ln w="12700">
            <a:solidFill>
              <a:srgbClr val="4CC9F0"/>
            </a:solidFill>
            <a:prstDash val="solid"/>
          </a:ln>
        </p:spPr>
      </p:sp>
      <p:sp>
        <p:nvSpPr>
          <p:cNvPr id="23" name="Text 21"/>
          <p:cNvSpPr/>
          <p:nvPr/>
        </p:nvSpPr>
        <p:spPr>
          <a:xfrm>
            <a:off x="6263640" y="4251960"/>
            <a:ext cx="530352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Bald Eagle Eye</a:t>
            </a:r>
            <a:endParaRPr lang="en-US" sz="1300" dirty="0"/>
          </a:p>
        </p:txBody>
      </p:sp>
      <p:sp>
        <p:nvSpPr>
          <p:cNvPr id="24" name="Shape 22"/>
          <p:cNvSpPr/>
          <p:nvPr/>
        </p:nvSpPr>
        <p:spPr>
          <a:xfrm>
            <a:off x="6263640" y="4672584"/>
            <a:ext cx="1554480" cy="256032"/>
          </a:xfrm>
          <a:prstGeom prst="roundRect">
            <a:avLst>
              <a:gd name="adj" fmla="val 50000"/>
            </a:avLst>
          </a:prstGeom>
          <a:solidFill>
            <a:srgbClr val="4CC9F0"/>
          </a:solidFill>
          <a:ln w="12700">
            <a:solidFill>
              <a:srgbClr val="4CC9F0"/>
            </a:solidFill>
            <a:prstDash val="solid"/>
          </a:ln>
        </p:spPr>
      </p:sp>
      <p:sp>
        <p:nvSpPr>
          <p:cNvPr id="25" name="Text 23"/>
          <p:cNvSpPr/>
          <p:nvPr/>
        </p:nvSpPr>
        <p:spPr>
          <a:xfrm>
            <a:off x="6263640" y="467258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External (but complex internally)</a:t>
            </a:r>
            <a:endParaRPr lang="en-US" sz="900" dirty="0"/>
          </a:p>
        </p:txBody>
      </p:sp>
      <p:sp>
        <p:nvSpPr>
          <p:cNvPr id="26" name="Text 24"/>
          <p:cNvSpPr/>
          <p:nvPr/>
        </p:nvSpPr>
        <p:spPr>
          <a:xfrm>
            <a:off x="6263640" y="5038344"/>
            <a:ext cx="5303520" cy="12984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Forward-facing position gives 3D depth perception for judging distances when diving on prey from high altitude</a:t>
            </a:r>
            <a:endParaRPr lang="en-US" sz="11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Go Deeper: Why Do Similar Animals Have Different Beaks?</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FFB703"/>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Florida is home to many kinds of birds — and you can usually guess what they eat just by looking at their beaks. Same structure, different shape, different function.</a:t>
            </a:r>
            <a:endParaRPr lang="en-US" sz="1250" dirty="0"/>
          </a:p>
        </p:txBody>
      </p:sp>
      <p:sp>
        <p:nvSpPr>
          <p:cNvPr id="7" name="Shape 5"/>
          <p:cNvSpPr/>
          <p:nvPr/>
        </p:nvSpPr>
        <p:spPr>
          <a:xfrm>
            <a:off x="365760" y="1508760"/>
            <a:ext cx="3566160" cy="2148840"/>
          </a:xfrm>
          <a:prstGeom prst="roundRect">
            <a:avLst>
              <a:gd name="adj" fmla="val 3404"/>
            </a:avLst>
          </a:prstGeom>
          <a:solidFill>
            <a:srgbClr val="1E2F45"/>
          </a:solidFill>
          <a:ln w="12700">
            <a:solidFill>
              <a:srgbClr val="F4736A"/>
            </a:solidFill>
            <a:prstDash val="solid"/>
          </a:ln>
        </p:spPr>
      </p:sp>
      <p:sp>
        <p:nvSpPr>
          <p:cNvPr id="8" name="Text 6"/>
          <p:cNvSpPr/>
          <p:nvPr/>
        </p:nvSpPr>
        <p:spPr>
          <a:xfrm>
            <a:off x="502920" y="1618488"/>
            <a:ext cx="329184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Cardinal</a:t>
            </a:r>
            <a:endParaRPr lang="en-US" sz="1200" dirty="0"/>
          </a:p>
        </p:txBody>
      </p:sp>
      <p:sp>
        <p:nvSpPr>
          <p:cNvPr id="9" name="Text 7"/>
          <p:cNvSpPr/>
          <p:nvPr/>
        </p:nvSpPr>
        <p:spPr>
          <a:xfrm>
            <a:off x="502920" y="2011680"/>
            <a:ext cx="3291840" cy="384048"/>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Beak: Short, thick, cone-shaped</a:t>
            </a:r>
            <a:endParaRPr lang="en-US" sz="1100" dirty="0"/>
          </a:p>
        </p:txBody>
      </p:sp>
      <p:sp>
        <p:nvSpPr>
          <p:cNvPr id="10" name="Text 8"/>
          <p:cNvSpPr/>
          <p:nvPr/>
        </p:nvSpPr>
        <p:spPr>
          <a:xfrm>
            <a:off x="502920" y="2423160"/>
            <a:ext cx="3291840" cy="10789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Crack open hard seeds — like pliers</a:t>
            </a:r>
            <a:endParaRPr lang="en-US" sz="1100" dirty="0"/>
          </a:p>
        </p:txBody>
      </p:sp>
      <p:sp>
        <p:nvSpPr>
          <p:cNvPr id="11" name="Shape 9"/>
          <p:cNvSpPr/>
          <p:nvPr/>
        </p:nvSpPr>
        <p:spPr>
          <a:xfrm>
            <a:off x="4251960" y="1508760"/>
            <a:ext cx="3566160" cy="2148840"/>
          </a:xfrm>
          <a:prstGeom prst="roundRect">
            <a:avLst>
              <a:gd name="adj" fmla="val 3404"/>
            </a:avLst>
          </a:prstGeom>
          <a:solidFill>
            <a:srgbClr val="1E2F45"/>
          </a:solidFill>
          <a:ln w="12700">
            <a:solidFill>
              <a:srgbClr val="4CC9F0"/>
            </a:solidFill>
            <a:prstDash val="solid"/>
          </a:ln>
        </p:spPr>
      </p:sp>
      <p:sp>
        <p:nvSpPr>
          <p:cNvPr id="12" name="Text 10"/>
          <p:cNvSpPr/>
          <p:nvPr/>
        </p:nvSpPr>
        <p:spPr>
          <a:xfrm>
            <a:off x="4389120" y="1618488"/>
            <a:ext cx="329184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Hummingbird</a:t>
            </a:r>
            <a:endParaRPr lang="en-US" sz="1200" dirty="0"/>
          </a:p>
        </p:txBody>
      </p:sp>
      <p:sp>
        <p:nvSpPr>
          <p:cNvPr id="13" name="Text 11"/>
          <p:cNvSpPr/>
          <p:nvPr/>
        </p:nvSpPr>
        <p:spPr>
          <a:xfrm>
            <a:off x="4389120" y="2011680"/>
            <a:ext cx="3291840" cy="384048"/>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Beak: Long, thin, straight</a:t>
            </a:r>
            <a:endParaRPr lang="en-US" sz="1100" dirty="0"/>
          </a:p>
        </p:txBody>
      </p:sp>
      <p:sp>
        <p:nvSpPr>
          <p:cNvPr id="14" name="Text 12"/>
          <p:cNvSpPr/>
          <p:nvPr/>
        </p:nvSpPr>
        <p:spPr>
          <a:xfrm>
            <a:off x="4389120" y="2423160"/>
            <a:ext cx="3291840" cy="10789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Sip nectar deep inside narrow flowers</a:t>
            </a:r>
            <a:endParaRPr lang="en-US" sz="1100" dirty="0"/>
          </a:p>
        </p:txBody>
      </p:sp>
      <p:sp>
        <p:nvSpPr>
          <p:cNvPr id="15" name="Shape 13"/>
          <p:cNvSpPr/>
          <p:nvPr/>
        </p:nvSpPr>
        <p:spPr>
          <a:xfrm>
            <a:off x="8138160" y="1508760"/>
            <a:ext cx="3566160" cy="2148840"/>
          </a:xfrm>
          <a:prstGeom prst="roundRect">
            <a:avLst>
              <a:gd name="adj" fmla="val 3404"/>
            </a:avLst>
          </a:prstGeom>
          <a:solidFill>
            <a:srgbClr val="1E2F45"/>
          </a:solidFill>
          <a:ln w="12700">
            <a:solidFill>
              <a:srgbClr val="FFB703"/>
            </a:solidFill>
            <a:prstDash val="solid"/>
          </a:ln>
        </p:spPr>
      </p:sp>
      <p:sp>
        <p:nvSpPr>
          <p:cNvPr id="16" name="Text 14"/>
          <p:cNvSpPr/>
          <p:nvPr/>
        </p:nvSpPr>
        <p:spPr>
          <a:xfrm>
            <a:off x="8275320" y="1618488"/>
            <a:ext cx="329184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Bald Eagle</a:t>
            </a:r>
            <a:endParaRPr lang="en-US" sz="1200" dirty="0"/>
          </a:p>
        </p:txBody>
      </p:sp>
      <p:sp>
        <p:nvSpPr>
          <p:cNvPr id="17" name="Text 15"/>
          <p:cNvSpPr/>
          <p:nvPr/>
        </p:nvSpPr>
        <p:spPr>
          <a:xfrm>
            <a:off x="8275320" y="2011680"/>
            <a:ext cx="3291840" cy="384048"/>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Beak: Hooked, sharp-tipped</a:t>
            </a:r>
            <a:endParaRPr lang="en-US" sz="1100" dirty="0"/>
          </a:p>
        </p:txBody>
      </p:sp>
      <p:sp>
        <p:nvSpPr>
          <p:cNvPr id="18" name="Text 16"/>
          <p:cNvSpPr/>
          <p:nvPr/>
        </p:nvSpPr>
        <p:spPr>
          <a:xfrm>
            <a:off x="8275320" y="2423160"/>
            <a:ext cx="3291840" cy="10789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Tear fish and meat into pieces small enough to swallow</a:t>
            </a:r>
            <a:endParaRPr lang="en-US" sz="1100" dirty="0"/>
          </a:p>
        </p:txBody>
      </p:sp>
      <p:sp>
        <p:nvSpPr>
          <p:cNvPr id="19" name="Shape 17"/>
          <p:cNvSpPr/>
          <p:nvPr/>
        </p:nvSpPr>
        <p:spPr>
          <a:xfrm>
            <a:off x="2286000" y="3913632"/>
            <a:ext cx="3566160" cy="2148840"/>
          </a:xfrm>
          <a:prstGeom prst="roundRect">
            <a:avLst>
              <a:gd name="adj" fmla="val 3404"/>
            </a:avLst>
          </a:prstGeom>
          <a:solidFill>
            <a:srgbClr val="1E2F45"/>
          </a:solidFill>
          <a:ln w="12700">
            <a:solidFill>
              <a:srgbClr val="2DC653"/>
            </a:solidFill>
            <a:prstDash val="solid"/>
          </a:ln>
        </p:spPr>
      </p:sp>
      <p:sp>
        <p:nvSpPr>
          <p:cNvPr id="20" name="Text 18"/>
          <p:cNvSpPr/>
          <p:nvPr/>
        </p:nvSpPr>
        <p:spPr>
          <a:xfrm>
            <a:off x="2423160" y="4023360"/>
            <a:ext cx="329184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Roseate Spoonbill</a:t>
            </a:r>
            <a:endParaRPr lang="en-US" sz="1200" dirty="0"/>
          </a:p>
        </p:txBody>
      </p:sp>
      <p:sp>
        <p:nvSpPr>
          <p:cNvPr id="21" name="Text 19"/>
          <p:cNvSpPr/>
          <p:nvPr/>
        </p:nvSpPr>
        <p:spPr>
          <a:xfrm>
            <a:off x="2423160" y="4416552"/>
            <a:ext cx="3291840" cy="384048"/>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Beak: Flat, wide, spatula-shaped</a:t>
            </a:r>
            <a:endParaRPr lang="en-US" sz="1100" dirty="0"/>
          </a:p>
        </p:txBody>
      </p:sp>
      <p:sp>
        <p:nvSpPr>
          <p:cNvPr id="22" name="Text 20"/>
          <p:cNvSpPr/>
          <p:nvPr/>
        </p:nvSpPr>
        <p:spPr>
          <a:xfrm>
            <a:off x="2423160" y="4828032"/>
            <a:ext cx="3291840" cy="10789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Sweep shallow water + feel tiny prey by touch</a:t>
            </a:r>
            <a:endParaRPr lang="en-US" sz="1100" dirty="0"/>
          </a:p>
        </p:txBody>
      </p:sp>
      <p:sp>
        <p:nvSpPr>
          <p:cNvPr id="23" name="Shape 21"/>
          <p:cNvSpPr/>
          <p:nvPr/>
        </p:nvSpPr>
        <p:spPr>
          <a:xfrm>
            <a:off x="6172200" y="3913632"/>
            <a:ext cx="3566160" cy="2148840"/>
          </a:xfrm>
          <a:prstGeom prst="roundRect">
            <a:avLst>
              <a:gd name="adj" fmla="val 3404"/>
            </a:avLst>
          </a:prstGeom>
          <a:solidFill>
            <a:srgbClr val="1E2F45"/>
          </a:solidFill>
          <a:ln w="12700">
            <a:solidFill>
              <a:srgbClr val="8B6FC0"/>
            </a:solidFill>
            <a:prstDash val="solid"/>
          </a:ln>
        </p:spPr>
      </p:sp>
      <p:sp>
        <p:nvSpPr>
          <p:cNvPr id="24" name="Text 22"/>
          <p:cNvSpPr/>
          <p:nvPr/>
        </p:nvSpPr>
        <p:spPr>
          <a:xfrm>
            <a:off x="6309360" y="4023360"/>
            <a:ext cx="3291840" cy="347472"/>
          </a:xfrm>
          <a:prstGeom prst="rect">
            <a:avLst/>
          </a:prstGeom>
          <a:noFill/>
          <a:ln/>
        </p:spPr>
        <p:txBody>
          <a:bodyPr wrap="square"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 Anhinga</a:t>
            </a:r>
            <a:endParaRPr lang="en-US" sz="1200" dirty="0"/>
          </a:p>
        </p:txBody>
      </p:sp>
      <p:sp>
        <p:nvSpPr>
          <p:cNvPr id="25" name="Text 23"/>
          <p:cNvSpPr/>
          <p:nvPr/>
        </p:nvSpPr>
        <p:spPr>
          <a:xfrm>
            <a:off x="6309360" y="4416552"/>
            <a:ext cx="3291840" cy="384048"/>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Beak: Long, pointed, sharp</a:t>
            </a:r>
            <a:endParaRPr lang="en-US" sz="1100" dirty="0"/>
          </a:p>
        </p:txBody>
      </p:sp>
      <p:sp>
        <p:nvSpPr>
          <p:cNvPr id="26" name="Text 24"/>
          <p:cNvSpPr/>
          <p:nvPr/>
        </p:nvSpPr>
        <p:spPr>
          <a:xfrm>
            <a:off x="6309360" y="4828032"/>
            <a:ext cx="3291840" cy="107899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Function: Spear fish underwater like a spear-gun</a:t>
            </a:r>
            <a:endParaRPr lang="en-US" sz="11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8B6FC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8B6FC0"/>
                </a:solidFill>
                <a:latin typeface="Calibri" pitchFamily="34" charset="0"/>
                <a:ea typeface="Calibri" pitchFamily="34" charset="-122"/>
                <a:cs typeface="Calibri" pitchFamily="34" charset="-120"/>
              </a:rPr>
              <a:t>🔬  How Scientists See INTERNAL Structures</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8B6FC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 can't cut open a living animal to check its internal structures. Scientists use technology to look inside WITHOUT causing harm.</a:t>
            </a:r>
            <a:endParaRPr lang="en-US" sz="1300" dirty="0"/>
          </a:p>
        </p:txBody>
      </p:sp>
      <p:sp>
        <p:nvSpPr>
          <p:cNvPr id="7" name="Shape 5"/>
          <p:cNvSpPr/>
          <p:nvPr/>
        </p:nvSpPr>
        <p:spPr>
          <a:xfrm>
            <a:off x="365760" y="1508760"/>
            <a:ext cx="5303520" cy="3913632"/>
          </a:xfrm>
          <a:prstGeom prst="roundRect">
            <a:avLst>
              <a:gd name="adj" fmla="val 1869"/>
            </a:avLst>
          </a:prstGeom>
          <a:solidFill>
            <a:srgbClr val="0A1520"/>
          </a:solidFill>
          <a:ln w="19050">
            <a:solidFill>
              <a:srgbClr val="4CC9F0"/>
            </a:solidFill>
            <a:prstDash val="dash"/>
          </a:ln>
        </p:spPr>
      </p:sp>
      <p:sp>
        <p:nvSpPr>
          <p:cNvPr id="8" name="Text 6"/>
          <p:cNvSpPr/>
          <p:nvPr/>
        </p:nvSpPr>
        <p:spPr>
          <a:xfrm>
            <a:off x="457200" y="161848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05740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350008"/>
            <a:ext cx="5084064" cy="28620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"manatee veterinarian X-ray ultrasound internal organs marine mammal hospital"</a:t>
            </a:r>
            <a:endParaRPr lang="en-US" sz="950" dirty="0"/>
          </a:p>
        </p:txBody>
      </p:sp>
      <p:sp>
        <p:nvSpPr>
          <p:cNvPr id="11" name="Text 9"/>
          <p:cNvSpPr/>
          <p:nvPr/>
        </p:nvSpPr>
        <p:spPr>
          <a:xfrm>
            <a:off x="365760" y="5458968"/>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Manatee health check — internal structures examined without surgery</a:t>
            </a:r>
            <a:endParaRPr lang="en-US" sz="900" dirty="0"/>
          </a:p>
        </p:txBody>
      </p:sp>
      <p:sp>
        <p:nvSpPr>
          <p:cNvPr id="12" name="Shape 10"/>
          <p:cNvSpPr/>
          <p:nvPr/>
        </p:nvSpPr>
        <p:spPr>
          <a:xfrm>
            <a:off x="5852160" y="1508760"/>
            <a:ext cx="6035040" cy="1325880"/>
          </a:xfrm>
          <a:prstGeom prst="roundRect">
            <a:avLst>
              <a:gd name="adj" fmla="val 5517"/>
            </a:avLst>
          </a:prstGeom>
          <a:solidFill>
            <a:srgbClr val="1E2F45"/>
          </a:solidFill>
          <a:ln w="12700">
            <a:solidFill>
              <a:srgbClr val="4CC9F0"/>
            </a:solidFill>
            <a:prstDash val="solid"/>
          </a:ln>
        </p:spPr>
      </p:sp>
      <p:sp>
        <p:nvSpPr>
          <p:cNvPr id="13" name="Text 11"/>
          <p:cNvSpPr/>
          <p:nvPr/>
        </p:nvSpPr>
        <p:spPr>
          <a:xfrm>
            <a:off x="6035040" y="1600200"/>
            <a:ext cx="5669280" cy="310896"/>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X-Ray</a:t>
            </a:r>
            <a:endParaRPr lang="en-US" sz="1300" dirty="0"/>
          </a:p>
        </p:txBody>
      </p:sp>
      <p:sp>
        <p:nvSpPr>
          <p:cNvPr id="14" name="Text 12"/>
          <p:cNvSpPr/>
          <p:nvPr/>
        </p:nvSpPr>
        <p:spPr>
          <a:xfrm>
            <a:off x="6035040" y="1938528"/>
            <a:ext cx="5669280" cy="8046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See bones and dense internal structures. Shows if a bone is broken. → Check if a sea turtle's shell internal structure is fractured after a boat strike.</a:t>
            </a:r>
            <a:endParaRPr lang="en-US" sz="1100" dirty="0"/>
          </a:p>
        </p:txBody>
      </p:sp>
      <p:sp>
        <p:nvSpPr>
          <p:cNvPr id="15" name="Shape 13"/>
          <p:cNvSpPr/>
          <p:nvPr/>
        </p:nvSpPr>
        <p:spPr>
          <a:xfrm>
            <a:off x="5852160" y="3081528"/>
            <a:ext cx="6035040" cy="1325880"/>
          </a:xfrm>
          <a:prstGeom prst="roundRect">
            <a:avLst>
              <a:gd name="adj" fmla="val 5517"/>
            </a:avLst>
          </a:prstGeom>
          <a:solidFill>
            <a:srgbClr val="1E2F45"/>
          </a:solidFill>
          <a:ln w="12700">
            <a:solidFill>
              <a:srgbClr val="FFB703"/>
            </a:solidFill>
            <a:prstDash val="solid"/>
          </a:ln>
        </p:spPr>
      </p:sp>
      <p:sp>
        <p:nvSpPr>
          <p:cNvPr id="16" name="Text 14"/>
          <p:cNvSpPr/>
          <p:nvPr/>
        </p:nvSpPr>
        <p:spPr>
          <a:xfrm>
            <a:off x="6035040" y="3172968"/>
            <a:ext cx="5669280" cy="310896"/>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CT Scan</a:t>
            </a:r>
            <a:endParaRPr lang="en-US" sz="1300" dirty="0"/>
          </a:p>
        </p:txBody>
      </p:sp>
      <p:sp>
        <p:nvSpPr>
          <p:cNvPr id="17" name="Text 15"/>
          <p:cNvSpPr/>
          <p:nvPr/>
        </p:nvSpPr>
        <p:spPr>
          <a:xfrm>
            <a:off x="6035040" y="3511296"/>
            <a:ext cx="5669280" cy="8046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Detailed 3D images of internal organs and tissues. Like taking a slice-by-slice photo. → See a manatee's lungs and ribs in 3D to check for injuries.</a:t>
            </a:r>
            <a:endParaRPr lang="en-US" sz="1100" dirty="0"/>
          </a:p>
        </p:txBody>
      </p:sp>
      <p:sp>
        <p:nvSpPr>
          <p:cNvPr id="18" name="Shape 16"/>
          <p:cNvSpPr/>
          <p:nvPr/>
        </p:nvSpPr>
        <p:spPr>
          <a:xfrm>
            <a:off x="5852160" y="4654296"/>
            <a:ext cx="6035040" cy="1325880"/>
          </a:xfrm>
          <a:prstGeom prst="roundRect">
            <a:avLst>
              <a:gd name="adj" fmla="val 5517"/>
            </a:avLst>
          </a:prstGeom>
          <a:solidFill>
            <a:srgbClr val="1E2F45"/>
          </a:solidFill>
          <a:ln w="12700">
            <a:solidFill>
              <a:srgbClr val="2DC653"/>
            </a:solidFill>
            <a:prstDash val="solid"/>
          </a:ln>
        </p:spPr>
      </p:sp>
      <p:sp>
        <p:nvSpPr>
          <p:cNvPr id="19" name="Text 17"/>
          <p:cNvSpPr/>
          <p:nvPr/>
        </p:nvSpPr>
        <p:spPr>
          <a:xfrm>
            <a:off x="6035040" y="4745736"/>
            <a:ext cx="5669280" cy="310896"/>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Ultrasound</a:t>
            </a:r>
            <a:endParaRPr lang="en-US" sz="1300" dirty="0"/>
          </a:p>
        </p:txBody>
      </p:sp>
      <p:sp>
        <p:nvSpPr>
          <p:cNvPr id="20" name="Text 18"/>
          <p:cNvSpPr/>
          <p:nvPr/>
        </p:nvSpPr>
        <p:spPr>
          <a:xfrm>
            <a:off x="6035040" y="5084064"/>
            <a:ext cx="5669280" cy="8046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Safe sound waves bounce off internal structures. Shows movement in real time. → Check if a manatee is pregnant or if its internal organs are healthy.</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11.01  ·  Inside Out: Plant and Animal Structures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2026-07-13T20:35:20Z</dcterms:created>
  <dcterms:modified xsi:type="dcterms:W3CDTF">2026-07-13T20:35:20Z</dcterms:modified>
</cp:coreProperties>
</file>