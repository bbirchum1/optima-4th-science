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explorers! Today we step back 500 years and see the world through the eyes of the first cartographers. Ask: Have you ever used a map — on your phone, at a park, on paper? What did it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 warm-up. Share sketches — don't evaluate yet. Ask: 'What three things did you put on your map and why?' We'll compare these sketches to a real explorer map by the end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3-4 predictions. Facilitation:
• 'What made you prioritize that?'
• 'Does anyone have a different prediction?'
• 'What would change your mind?'
Expect: water, food/farming, shelter/timber. These map to the Natural Resources vocab coming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Flora / Fauna — easy mnemonic: Flora sounds like 'flower' (plants), Fauna sounds like 'fawn' (baby deer = animal). After partner talk: call on 2-3 students. Target: Biodiversity = the huge variety; Flora = tropical plants; Fauna = jaguars, macaws, piranhas,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Cartography — from Greek 'chartis' (map) + 'graphein' (write). Ask students: 'Based on the mind-blowing fact, why do you think cartography was so important that a map sold for $10 million?' Connect to prediction: explorers needed natural resources — maps helped them find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part. Key question: 'What specific part of the map shows why a legend is necessary? What would happen without it?' Target: without the legend, you wouldn't know if a symbol means 'mountain,' 'forest,' or 'settlement.' Ask students to identify each part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presenting all three: 'Imagine an explorer finds a physical map AND a resource map of the same area. What could they learn from EACH one that the other doesn't show? Why would they need both?' Have students write the answer using evidence from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walking through the steps, ask: 'Two different explorers mapped the same coastline but their maps look slightly different. What are three reasons their maps might NOT be exactly the same?' Have students write their reasoning using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make predictions before pointing out each part. Ask: 'What evidence tells you THAT is the legend and not something else?' This practices close-reading of visual evidence. Then ask: 'Why did explorers from different countries agree to use the same map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moves:
• 'What evidence from the lesson supports that?'
• 'Does anyone have different evidence or a different reason?'
• 'What would change your mind about which map was more important?'
Target: physical = navigate safely; resource = find supplies; both needed for full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stayed the same between then and now?' Target: the GOAL (understanding where resources and biodiversity are) stayed the same. Only the TOOLS changed. Facilitation: 'What evidence supports that scientists today are still doing what explorers did 500 years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curiosity: 'If you could map ONE unknown place on Earth today with a satellite, where would you choose and what would you look for?' This connects 16th-century cartography goals to modern Earth science.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graded. Students show fingers 1, 2, or 3. For wrong answers: 'What in the lesson made you think that?' After Q3 — connect back to prediction from slide 3: 'Did the lesson confirm your prediction about what explorers needed to find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part. Part C is the creative culmination — emphasize that EVERY part of their map must have a purpose, just like real cartographers. Remind students to compare their warm-up sketch from slide 2 to their finished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warm-up sketches. Ask: 'How is your explorer map different from your first sketch? What new parts did you add?' Close: 'Next time, we travel millions of years into Earth's past through the clues locked inside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Create a Map of the "New World"</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Cartography · Biodiversity · Natural Resources · Ecosystems</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NGSS 4-ESS2-2 — Patterns of Earth's Features</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explain how maps helped early explorers record and communicate about natural resources and ecosystems.</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identify and describe key map parts: title, compass rose, legend, symbols, and scale.</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describe biodiversity and explain why explorers documented flora and fauna in the New World.</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 Science notebook   ✏️ Colored pencils   📏 Ruler</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4.02  ·  Create a Map of the "New World"</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ENGAGE — Explorer Warm-Up</a:t>
            </a:r>
            <a:endParaRPr lang="en-US" sz="1600" dirty="0"/>
          </a:p>
        </p:txBody>
      </p:sp>
      <p:sp>
        <p:nvSpPr>
          <p:cNvPr id="5" name="Shape 3"/>
          <p:cNvSpPr/>
          <p:nvPr/>
        </p:nvSpPr>
        <p:spPr>
          <a:xfrm>
            <a:off x="365760" y="749808"/>
            <a:ext cx="5669280" cy="4114800"/>
          </a:xfrm>
          <a:prstGeom prst="roundRect">
            <a:avLst>
              <a:gd name="adj" fmla="val 1778"/>
            </a:avLst>
          </a:prstGeom>
          <a:solidFill>
            <a:srgbClr val="0A1520"/>
          </a:solidFill>
          <a:ln w="19050">
            <a:solidFill>
              <a:srgbClr val="4CC9F0"/>
            </a:solidFill>
            <a:prstDash val="dash"/>
          </a:ln>
        </p:spPr>
      </p:sp>
      <p:sp>
        <p:nvSpPr>
          <p:cNvPr id="6" name="Text 4"/>
          <p:cNvSpPr/>
          <p:nvPr/>
        </p:nvSpPr>
        <p:spPr>
          <a:xfrm>
            <a:off x="457200" y="859536"/>
            <a:ext cx="54864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54864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5449824" cy="30632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"1500s historical explorer map New World Americas age of exploration hand drawn"</a:t>
            </a:r>
            <a:endParaRPr lang="en-US" sz="950" dirty="0"/>
          </a:p>
        </p:txBody>
      </p:sp>
      <p:sp>
        <p:nvSpPr>
          <p:cNvPr id="9" name="Text 7"/>
          <p:cNvSpPr/>
          <p:nvPr/>
        </p:nvSpPr>
        <p:spPr>
          <a:xfrm>
            <a:off x="365760" y="4901184"/>
            <a:ext cx="56692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Early explorers mapped unknown continents with hand-drawn maps and courage</a:t>
            </a:r>
            <a:endParaRPr lang="en-US" sz="900" dirty="0"/>
          </a:p>
        </p:txBody>
      </p:sp>
      <p:sp>
        <p:nvSpPr>
          <p:cNvPr id="10" name="Shape 8"/>
          <p:cNvSpPr/>
          <p:nvPr/>
        </p:nvSpPr>
        <p:spPr>
          <a:xfrm>
            <a:off x="6217920" y="749808"/>
            <a:ext cx="5577840" cy="347472"/>
          </a:xfrm>
          <a:prstGeom prst="roundRect">
            <a:avLst>
              <a:gd name="adj" fmla="val 23684"/>
            </a:avLst>
          </a:prstGeom>
          <a:solidFill>
            <a:srgbClr val="E09200"/>
          </a:solidFill>
          <a:ln w="19050">
            <a:solidFill>
              <a:srgbClr val="FFB703"/>
            </a:solidFill>
            <a:prstDash val="solid"/>
          </a:ln>
        </p:spPr>
      </p:sp>
      <p:sp>
        <p:nvSpPr>
          <p:cNvPr id="11" name="Text 9"/>
          <p:cNvSpPr/>
          <p:nvPr/>
        </p:nvSpPr>
        <p:spPr>
          <a:xfrm>
            <a:off x="6217920" y="749808"/>
            <a:ext cx="557784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12" name="Shape 10"/>
          <p:cNvSpPr/>
          <p:nvPr/>
        </p:nvSpPr>
        <p:spPr>
          <a:xfrm>
            <a:off x="6217920" y="1188720"/>
            <a:ext cx="5577840" cy="1828800"/>
          </a:xfrm>
          <a:prstGeom prst="roundRect">
            <a:avLst>
              <a:gd name="adj" fmla="val 4000"/>
            </a:avLst>
          </a:prstGeom>
          <a:solidFill>
            <a:srgbClr val="1E2F45"/>
          </a:solidFill>
          <a:ln w="12700">
            <a:solidFill>
              <a:srgbClr val="FFB703"/>
            </a:solidFill>
            <a:prstDash val="solid"/>
          </a:ln>
        </p:spPr>
      </p:sp>
      <p:sp>
        <p:nvSpPr>
          <p:cNvPr id="13" name="Text 11"/>
          <p:cNvSpPr/>
          <p:nvPr/>
        </p:nvSpPr>
        <p:spPr>
          <a:xfrm>
            <a:off x="6400800" y="1261872"/>
            <a:ext cx="5212080" cy="1554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 your science notebook, draw a quick sketch of what you think a map looks like. Try to include at least THREE things you would put on a map.</a:t>
            </a:r>
            <a:endParaRPr lang="en-US" sz="1200" dirty="0"/>
          </a:p>
        </p:txBody>
      </p:sp>
      <p:sp>
        <p:nvSpPr>
          <p:cNvPr id="14" name="Shape 12"/>
          <p:cNvSpPr/>
          <p:nvPr/>
        </p:nvSpPr>
        <p:spPr>
          <a:xfrm>
            <a:off x="6217920" y="3127248"/>
            <a:ext cx="5577840" cy="1783080"/>
          </a:xfrm>
          <a:prstGeom prst="roundRect">
            <a:avLst>
              <a:gd name="adj" fmla="val 4103"/>
            </a:avLst>
          </a:prstGeom>
          <a:solidFill>
            <a:srgbClr val="162233"/>
          </a:solidFill>
          <a:ln w="12700">
            <a:solidFill>
              <a:srgbClr val="4CC9F0"/>
            </a:solidFill>
            <a:prstDash val="solid"/>
          </a:ln>
        </p:spPr>
      </p:sp>
      <p:sp>
        <p:nvSpPr>
          <p:cNvPr id="15" name="Text 13"/>
          <p:cNvSpPr/>
          <p:nvPr/>
        </p:nvSpPr>
        <p:spPr>
          <a:xfrm>
            <a:off x="6400800" y="3200400"/>
            <a:ext cx="5212080" cy="347472"/>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  Think:</a:t>
            </a:r>
            <a:endParaRPr lang="en-US" sz="1100" dirty="0"/>
          </a:p>
        </p:txBody>
      </p:sp>
      <p:sp>
        <p:nvSpPr>
          <p:cNvPr id="16" name="Text 14"/>
          <p:cNvSpPr/>
          <p:nvPr/>
        </p:nvSpPr>
        <p:spPr>
          <a:xfrm>
            <a:off x="6400800" y="3584448"/>
            <a:ext cx="5212080" cy="1170432"/>
          </a:xfrm>
          <a:prstGeom prst="rect">
            <a:avLst/>
          </a:prstGeom>
          <a:noFill/>
          <a:ln/>
        </p:spPr>
        <p:txBody>
          <a:bodyPr wrap="square" rtlCol="0" anchor="ctr"/>
          <a:lstStyle/>
          <a:p>
            <a:pPr indent="0" marL="0">
              <a:buNone/>
            </a:pPr>
            <a:r>
              <a:rPr lang="en-US" sz="1150" i="1" dirty="0">
                <a:solidFill>
                  <a:srgbClr val="B0C4D8"/>
                </a:solidFill>
                <a:latin typeface="Calibri" pitchFamily="34" charset="0"/>
                <a:ea typeface="Calibri" pitchFamily="34" charset="-122"/>
                <a:cs typeface="Calibri" pitchFamily="34" charset="-120"/>
              </a:rPr>
              <a:t>500 years ago, explorers crossed the Atlantic with ONLY hand-drawn maps and their courage. No GPS. No satellites. Just observation and skill.</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4.02  ·  Create a Map of the New World</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ENGAGE — Explorer Prediction</a:t>
            </a:r>
            <a:endParaRPr lang="en-US" sz="1600" dirty="0"/>
          </a:p>
        </p:txBody>
      </p:sp>
      <p:sp>
        <p:nvSpPr>
          <p:cNvPr id="5" name="Shape 3"/>
          <p:cNvSpPr/>
          <p:nvPr/>
        </p:nvSpPr>
        <p:spPr>
          <a:xfrm>
            <a:off x="365760" y="749808"/>
            <a:ext cx="11430000" cy="1188720"/>
          </a:xfrm>
          <a:prstGeom prst="roundRect">
            <a:avLst>
              <a:gd name="adj" fmla="val 6154"/>
            </a:avLst>
          </a:prstGeom>
          <a:solidFill>
            <a:srgbClr val="1E2F45"/>
          </a:solidFill>
          <a:ln w="12700">
            <a:solidFill>
              <a:srgbClr val="FFB703"/>
            </a:solidFill>
            <a:prstDash val="solid"/>
          </a:ln>
        </p:spPr>
      </p:sp>
      <p:sp>
        <p:nvSpPr>
          <p:cNvPr id="6" name="Text 4"/>
          <p:cNvSpPr/>
          <p:nvPr/>
        </p:nvSpPr>
        <p:spPr>
          <a:xfrm>
            <a:off x="548640" y="804672"/>
            <a:ext cx="10972800" cy="1024128"/>
          </a:xfrm>
          <a:prstGeom prst="rect">
            <a:avLst/>
          </a:prstGeom>
          <a:noFill/>
          <a:ln/>
        </p:spPr>
        <p:txBody>
          <a:bodyPr wrap="square"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"Imagine you are an explorer who just landed on an unknown shore. You can't call anyone or look anything up. What three things would you want to find out first — and how could a map help you?"</a:t>
            </a:r>
            <a:endParaRPr lang="en-US" sz="1350" dirty="0"/>
          </a:p>
        </p:txBody>
      </p:sp>
      <p:sp>
        <p:nvSpPr>
          <p:cNvPr id="7" name="Shape 5"/>
          <p:cNvSpPr/>
          <p:nvPr/>
        </p:nvSpPr>
        <p:spPr>
          <a:xfrm>
            <a:off x="365760" y="2084832"/>
            <a:ext cx="11430000" cy="1965960"/>
          </a:xfrm>
          <a:prstGeom prst="roundRect">
            <a:avLst>
              <a:gd name="adj" fmla="val 3721"/>
            </a:avLst>
          </a:prstGeom>
          <a:solidFill>
            <a:srgbClr val="162233"/>
          </a:solidFill>
          <a:ln w="12700">
            <a:solidFill>
              <a:srgbClr val="FFB703"/>
            </a:solidFill>
            <a:prstDash val="solid"/>
          </a:ln>
        </p:spPr>
      </p:sp>
      <p:sp>
        <p:nvSpPr>
          <p:cNvPr id="8" name="Text 6"/>
          <p:cNvSpPr/>
          <p:nvPr/>
        </p:nvSpPr>
        <p:spPr>
          <a:xfrm>
            <a:off x="530352" y="2157984"/>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Evidence-Based Prediction</a:t>
            </a:r>
            <a:endParaRPr lang="en-US" sz="1300" dirty="0"/>
          </a:p>
        </p:txBody>
      </p:sp>
      <p:sp>
        <p:nvSpPr>
          <p:cNvPr id="9" name="Text 7"/>
          <p:cNvSpPr/>
          <p:nvPr/>
        </p:nvSpPr>
        <p:spPr>
          <a:xfrm>
            <a:off x="530352" y="2523744"/>
            <a:ext cx="11100816" cy="141732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Write in your notebook: "I predict I would need to find ___ first because ___.</a:t>
            </a:r>
            <a:endParaRPr lang="en-US" sz="1300" dirty="0"/>
          </a:p>
          <a:p>
            <a:pPr algn="l" indent="0" marL="0">
              <a:buNone/>
            </a:pPr>
            <a:r>
              <a:rPr lang="en-US" sz="1300" i="1" dirty="0">
                <a:solidFill>
                  <a:srgbClr val="FFFFFF"/>
                </a:solidFill>
                <a:latin typeface="Calibri" pitchFamily="34" charset="0"/>
                <a:ea typeface="Calibri" pitchFamily="34" charset="-122"/>
                <a:cs typeface="Calibri" pitchFamily="34" charset="-120"/>
              </a:rPr>
              <a:t>A map could help by ___."</a:t>
            </a:r>
            <a:endParaRPr lang="en-US" sz="1300" dirty="0"/>
          </a:p>
        </p:txBody>
      </p:sp>
      <p:sp>
        <p:nvSpPr>
          <p:cNvPr id="10" name="Shape 8"/>
          <p:cNvSpPr/>
          <p:nvPr/>
        </p:nvSpPr>
        <p:spPr>
          <a:xfrm>
            <a:off x="365760" y="4187952"/>
            <a:ext cx="11430000" cy="987552"/>
          </a:xfrm>
          <a:prstGeom prst="roundRect">
            <a:avLst>
              <a:gd name="adj" fmla="val 7407"/>
            </a:avLst>
          </a:prstGeom>
          <a:solidFill>
            <a:srgbClr val="0A1520"/>
          </a:solidFill>
          <a:ln w="12700">
            <a:solidFill>
              <a:srgbClr val="4CC9F0"/>
            </a:solidFill>
            <a:prstDash val="solid"/>
          </a:ln>
        </p:spPr>
      </p:sp>
      <p:sp>
        <p:nvSpPr>
          <p:cNvPr id="11" name="Text 9"/>
          <p:cNvSpPr/>
          <p:nvPr/>
        </p:nvSpPr>
        <p:spPr>
          <a:xfrm>
            <a:off x="594360" y="4315968"/>
            <a:ext cx="10972800" cy="384048"/>
          </a:xfrm>
          <a:prstGeom prst="rect">
            <a:avLst/>
          </a:prstGeom>
          <a:noFill/>
          <a:ln/>
        </p:spPr>
        <p:txBody>
          <a:bodyPr wrap="square" rtlCol="0" anchor="ctr"/>
          <a:lstStyle/>
          <a:p>
            <a:pPr indent="0" marL="0">
              <a:buNone/>
            </a:pPr>
            <a:r>
              <a:rPr lang="en-US" sz="1300" i="1" dirty="0">
                <a:solidFill>
                  <a:srgbClr val="4CC9F0"/>
                </a:solidFill>
                <a:latin typeface="Calibri" pitchFamily="34" charset="0"/>
                <a:ea typeface="Calibri" pitchFamily="34" charset="-122"/>
                <a:cs typeface="Calibri" pitchFamily="34" charset="-120"/>
              </a:rPr>
              <a:t>🔑  Keep your prediction! We'll see if today's lesson changes your thinking.</a:t>
            </a:r>
            <a:endParaRPr lang="en-US" sz="1300" dirty="0"/>
          </a:p>
        </p:txBody>
      </p:sp>
      <p:sp>
        <p:nvSpPr>
          <p:cNvPr id="12" name="Shape 10"/>
          <p:cNvSpPr/>
          <p:nvPr/>
        </p:nvSpPr>
        <p:spPr>
          <a:xfrm>
            <a:off x="0" y="6629400"/>
            <a:ext cx="12192000" cy="228600"/>
          </a:xfrm>
          <a:prstGeom prst="rect">
            <a:avLst/>
          </a:prstGeom>
          <a:solidFill>
            <a:srgbClr val="162233"/>
          </a:solidFill>
          <a:ln/>
        </p:spPr>
      </p:sp>
      <p:sp>
        <p:nvSpPr>
          <p:cNvPr id="13" name="Text 1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4.02  ·  Create a Map of the New World</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Explorer Science Words (Set 1)</a:t>
            </a:r>
            <a:endParaRPr lang="en-US" sz="1600" dirty="0"/>
          </a:p>
        </p:txBody>
      </p:sp>
      <p:sp>
        <p:nvSpPr>
          <p:cNvPr id="5" name="Shape 3"/>
          <p:cNvSpPr/>
          <p:nvPr/>
        </p:nvSpPr>
        <p:spPr>
          <a:xfrm>
            <a:off x="365760" y="749808"/>
            <a:ext cx="3657600" cy="1325880"/>
          </a:xfrm>
          <a:prstGeom prst="roundRect">
            <a:avLst>
              <a:gd name="adj" fmla="val 6897"/>
            </a:avLst>
          </a:prstGeom>
          <a:solidFill>
            <a:srgbClr val="1E2F45"/>
          </a:solidFill>
          <a:ln w="25400">
            <a:solidFill>
              <a:srgbClr val="2DC653"/>
            </a:solidFill>
            <a:prstDash val="solid"/>
          </a:ln>
        </p:spPr>
      </p:sp>
      <p:sp>
        <p:nvSpPr>
          <p:cNvPr id="6" name="Shape 4"/>
          <p:cNvSpPr/>
          <p:nvPr/>
        </p:nvSpPr>
        <p:spPr>
          <a:xfrm>
            <a:off x="365760" y="749808"/>
            <a:ext cx="3657600" cy="347472"/>
          </a:xfrm>
          <a:prstGeom prst="roundRect">
            <a:avLst>
              <a:gd name="adj" fmla="val 21053"/>
            </a:avLst>
          </a:prstGeom>
          <a:solidFill>
            <a:srgbClr val="2DC653"/>
          </a:solidFill>
          <a:ln w="12700">
            <a:solidFill>
              <a:srgbClr val="2DC653"/>
            </a:solidFill>
            <a:prstDash val="solid"/>
          </a:ln>
        </p:spPr>
      </p:sp>
      <p:sp>
        <p:nvSpPr>
          <p:cNvPr id="7" name="Text 5"/>
          <p:cNvSpPr/>
          <p:nvPr/>
        </p:nvSpPr>
        <p:spPr>
          <a:xfrm>
            <a:off x="4572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Flora</a:t>
            </a:r>
            <a:endParaRPr lang="en-US" sz="1200" dirty="0"/>
          </a:p>
        </p:txBody>
      </p:sp>
      <p:sp>
        <p:nvSpPr>
          <p:cNvPr id="8" name="Text 6"/>
          <p:cNvSpPr/>
          <p:nvPr/>
        </p:nvSpPr>
        <p:spPr>
          <a:xfrm>
            <a:off x="4754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plants that naturally grow in a specific area or environment.</a:t>
            </a:r>
            <a:endParaRPr lang="en-US" sz="1050" dirty="0"/>
          </a:p>
        </p:txBody>
      </p:sp>
      <p:sp>
        <p:nvSpPr>
          <p:cNvPr id="9" name="Shape 7"/>
          <p:cNvSpPr/>
          <p:nvPr/>
        </p:nvSpPr>
        <p:spPr>
          <a:xfrm>
            <a:off x="4251960" y="749808"/>
            <a:ext cx="3657600" cy="1325880"/>
          </a:xfrm>
          <a:prstGeom prst="roundRect">
            <a:avLst>
              <a:gd name="adj" fmla="val 6897"/>
            </a:avLst>
          </a:prstGeom>
          <a:solidFill>
            <a:srgbClr val="1E2F45"/>
          </a:solidFill>
          <a:ln w="25400">
            <a:solidFill>
              <a:srgbClr val="0096C7"/>
            </a:solidFill>
            <a:prstDash val="solid"/>
          </a:ln>
        </p:spPr>
      </p:sp>
      <p:sp>
        <p:nvSpPr>
          <p:cNvPr id="10" name="Shape 8"/>
          <p:cNvSpPr/>
          <p:nvPr/>
        </p:nvSpPr>
        <p:spPr>
          <a:xfrm>
            <a:off x="4251960" y="749808"/>
            <a:ext cx="3657600" cy="347472"/>
          </a:xfrm>
          <a:prstGeom prst="roundRect">
            <a:avLst>
              <a:gd name="adj" fmla="val 21053"/>
            </a:avLst>
          </a:prstGeom>
          <a:solidFill>
            <a:srgbClr val="0096C7"/>
          </a:solidFill>
          <a:ln w="12700">
            <a:solidFill>
              <a:srgbClr val="0096C7"/>
            </a:solidFill>
            <a:prstDash val="solid"/>
          </a:ln>
        </p:spPr>
      </p:sp>
      <p:sp>
        <p:nvSpPr>
          <p:cNvPr id="11" name="Text 9"/>
          <p:cNvSpPr/>
          <p:nvPr/>
        </p:nvSpPr>
        <p:spPr>
          <a:xfrm>
            <a:off x="43434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Fauna</a:t>
            </a:r>
            <a:endParaRPr lang="en-US" sz="1200" dirty="0"/>
          </a:p>
        </p:txBody>
      </p:sp>
      <p:sp>
        <p:nvSpPr>
          <p:cNvPr id="12" name="Text 10"/>
          <p:cNvSpPr/>
          <p:nvPr/>
        </p:nvSpPr>
        <p:spPr>
          <a:xfrm>
            <a:off x="43616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animals that naturally live in a specific area or environment.</a:t>
            </a:r>
            <a:endParaRPr lang="en-US" sz="1050" dirty="0"/>
          </a:p>
        </p:txBody>
      </p:sp>
      <p:sp>
        <p:nvSpPr>
          <p:cNvPr id="13" name="Shape 11"/>
          <p:cNvSpPr/>
          <p:nvPr/>
        </p:nvSpPr>
        <p:spPr>
          <a:xfrm>
            <a:off x="8138160" y="749808"/>
            <a:ext cx="3657600" cy="1325880"/>
          </a:xfrm>
          <a:prstGeom prst="roundRect">
            <a:avLst>
              <a:gd name="adj" fmla="val 6897"/>
            </a:avLst>
          </a:prstGeom>
          <a:solidFill>
            <a:srgbClr val="1E2F45"/>
          </a:solidFill>
          <a:ln w="25400">
            <a:solidFill>
              <a:srgbClr val="F4736A"/>
            </a:solidFill>
            <a:prstDash val="solid"/>
          </a:ln>
        </p:spPr>
      </p:sp>
      <p:sp>
        <p:nvSpPr>
          <p:cNvPr id="14" name="Shape 12"/>
          <p:cNvSpPr/>
          <p:nvPr/>
        </p:nvSpPr>
        <p:spPr>
          <a:xfrm>
            <a:off x="8138160" y="749808"/>
            <a:ext cx="3657600" cy="347472"/>
          </a:xfrm>
          <a:prstGeom prst="roundRect">
            <a:avLst>
              <a:gd name="adj" fmla="val 21053"/>
            </a:avLst>
          </a:prstGeom>
          <a:solidFill>
            <a:srgbClr val="F4736A"/>
          </a:solidFill>
          <a:ln w="12700">
            <a:solidFill>
              <a:srgbClr val="F4736A"/>
            </a:solidFill>
            <a:prstDash val="solid"/>
          </a:ln>
        </p:spPr>
      </p:sp>
      <p:sp>
        <p:nvSpPr>
          <p:cNvPr id="15" name="Text 13"/>
          <p:cNvSpPr/>
          <p:nvPr/>
        </p:nvSpPr>
        <p:spPr>
          <a:xfrm>
            <a:off x="82296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Biodiversity</a:t>
            </a:r>
            <a:endParaRPr lang="en-US" sz="1200" dirty="0"/>
          </a:p>
        </p:txBody>
      </p:sp>
      <p:sp>
        <p:nvSpPr>
          <p:cNvPr id="16" name="Text 14"/>
          <p:cNvSpPr/>
          <p:nvPr/>
        </p:nvSpPr>
        <p:spPr>
          <a:xfrm>
            <a:off x="82478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variety of different kinds of living things — plants, animals, and more — found in a particular place.</a:t>
            </a:r>
            <a:endParaRPr lang="en-US" sz="1050" dirty="0"/>
          </a:p>
        </p:txBody>
      </p:sp>
      <p:sp>
        <p:nvSpPr>
          <p:cNvPr id="17" name="Shape 15"/>
          <p:cNvSpPr/>
          <p:nvPr/>
        </p:nvSpPr>
        <p:spPr>
          <a:xfrm>
            <a:off x="365760" y="2304288"/>
            <a:ext cx="11430000" cy="1901952"/>
          </a:xfrm>
          <a:prstGeom prst="roundRect">
            <a:avLst>
              <a:gd name="adj" fmla="val 3846"/>
            </a:avLst>
          </a:prstGeom>
          <a:solidFill>
            <a:srgbClr val="162233"/>
          </a:solidFill>
          <a:ln w="12700">
            <a:solidFill>
              <a:srgbClr val="FFB703"/>
            </a:solidFill>
            <a:prstDash val="solid"/>
          </a:ln>
        </p:spPr>
      </p:sp>
      <p:sp>
        <p:nvSpPr>
          <p:cNvPr id="18" name="Text 16"/>
          <p:cNvSpPr/>
          <p:nvPr/>
        </p:nvSpPr>
        <p:spPr>
          <a:xfrm>
            <a:off x="530352" y="237744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Vocab Connection</a:t>
            </a:r>
            <a:endParaRPr lang="en-US" sz="1300" dirty="0"/>
          </a:p>
        </p:txBody>
      </p:sp>
      <p:sp>
        <p:nvSpPr>
          <p:cNvPr id="19" name="Text 17"/>
          <p:cNvSpPr/>
          <p:nvPr/>
        </p:nvSpPr>
        <p:spPr>
          <a:xfrm>
            <a:off x="530352" y="2743200"/>
            <a:ext cx="11100816" cy="1353312"/>
          </a:xfrm>
          <a:prstGeom prst="rect">
            <a:avLst/>
          </a:prstGeom>
          <a:noFill/>
          <a:ln/>
        </p:spPr>
        <p:txBody>
          <a:bodyPr wrap="square" rtlCol="0" anchor="t"/>
          <a:lstStyle/>
          <a:p>
            <a:pPr algn="l" indent="0" marL="0">
              <a:buNone/>
            </a:pPr>
            <a:r>
              <a:rPr lang="en-US" sz="1250" i="1" dirty="0">
                <a:solidFill>
                  <a:srgbClr val="FFFFFF"/>
                </a:solidFill>
                <a:latin typeface="Calibri" pitchFamily="34" charset="0"/>
                <a:ea typeface="Calibri" pitchFamily="34" charset="-122"/>
                <a:cs typeface="Calibri" pitchFamily="34" charset="-120"/>
              </a:rPr>
              <a:t>Quick partner discuss: A tropical rainforest has thousands of plant species and animal species. What vocab word describes that? And what specific TYPES of things would the flora and fauna include?</a:t>
            </a:r>
            <a:endParaRPr lang="en-US" sz="1250" dirty="0"/>
          </a:p>
        </p:txBody>
      </p:sp>
      <p:sp>
        <p:nvSpPr>
          <p:cNvPr id="20" name="Shape 18"/>
          <p:cNvSpPr/>
          <p:nvPr/>
        </p:nvSpPr>
        <p:spPr>
          <a:xfrm>
            <a:off x="365760" y="4315968"/>
            <a:ext cx="11430000" cy="1737360"/>
          </a:xfrm>
          <a:prstGeom prst="roundRect">
            <a:avLst>
              <a:gd name="adj" fmla="val 4211"/>
            </a:avLst>
          </a:prstGeom>
          <a:solidFill>
            <a:srgbClr val="0A1520"/>
          </a:solidFill>
          <a:ln w="19050">
            <a:solidFill>
              <a:srgbClr val="4CC9F0"/>
            </a:solidFill>
            <a:prstDash val="dash"/>
          </a:ln>
        </p:spPr>
      </p:sp>
      <p:sp>
        <p:nvSpPr>
          <p:cNvPr id="21" name="Text 19"/>
          <p:cNvSpPr/>
          <p:nvPr/>
        </p:nvSpPr>
        <p:spPr>
          <a:xfrm>
            <a:off x="457200" y="4425696"/>
            <a:ext cx="112471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457200" y="4864608"/>
            <a:ext cx="112471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23" name="Text 21"/>
          <p:cNvSpPr/>
          <p:nvPr/>
        </p:nvSpPr>
        <p:spPr>
          <a:xfrm>
            <a:off x="475488" y="5157216"/>
            <a:ext cx="11210544" cy="6858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"Amazon rainforest biodiversity diverse plants animals tropical ecosystem"</a:t>
            </a:r>
            <a:endParaRPr lang="en-US" sz="950" dirty="0"/>
          </a:p>
        </p:txBody>
      </p:sp>
      <p:sp>
        <p:nvSpPr>
          <p:cNvPr id="24" name="Text 22"/>
          <p:cNvSpPr/>
          <p:nvPr/>
        </p:nvSpPr>
        <p:spPr>
          <a:xfrm>
            <a:off x="365760" y="6089904"/>
            <a:ext cx="114300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The Amazon has more tree species in one square mile than all of Europe combined!</a:t>
            </a:r>
            <a:endParaRPr lang="en-US" sz="900" dirty="0"/>
          </a:p>
        </p:txBody>
      </p:sp>
      <p:sp>
        <p:nvSpPr>
          <p:cNvPr id="25" name="Shape 23"/>
          <p:cNvSpPr/>
          <p:nvPr/>
        </p:nvSpPr>
        <p:spPr>
          <a:xfrm>
            <a:off x="0" y="6629400"/>
            <a:ext cx="12192000" cy="228600"/>
          </a:xfrm>
          <a:prstGeom prst="rect">
            <a:avLst/>
          </a:prstGeom>
          <a:solidFill>
            <a:srgbClr val="162233"/>
          </a:solidFill>
          <a:ln/>
        </p:spPr>
      </p:sp>
      <p:sp>
        <p:nvSpPr>
          <p:cNvPr id="26" name="Text 2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4.02  ·  Create a Map of the New World</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Explorer Science Words (Set 2)</a:t>
            </a:r>
            <a:endParaRPr lang="en-US" sz="1600" dirty="0"/>
          </a:p>
        </p:txBody>
      </p:sp>
      <p:sp>
        <p:nvSpPr>
          <p:cNvPr id="5" name="Shape 3"/>
          <p:cNvSpPr/>
          <p:nvPr/>
        </p:nvSpPr>
        <p:spPr>
          <a:xfrm>
            <a:off x="365760" y="749808"/>
            <a:ext cx="3657600" cy="1325880"/>
          </a:xfrm>
          <a:prstGeom prst="roundRect">
            <a:avLst>
              <a:gd name="adj" fmla="val 6897"/>
            </a:avLst>
          </a:prstGeom>
          <a:solidFill>
            <a:srgbClr val="1E2F45"/>
          </a:solidFill>
          <a:ln w="25400">
            <a:solidFill>
              <a:srgbClr val="FFB703"/>
            </a:solidFill>
            <a:prstDash val="solid"/>
          </a:ln>
        </p:spPr>
      </p:sp>
      <p:sp>
        <p:nvSpPr>
          <p:cNvPr id="6" name="Shape 4"/>
          <p:cNvSpPr/>
          <p:nvPr/>
        </p:nvSpPr>
        <p:spPr>
          <a:xfrm>
            <a:off x="365760" y="749808"/>
            <a:ext cx="3657600" cy="347472"/>
          </a:xfrm>
          <a:prstGeom prst="roundRect">
            <a:avLst>
              <a:gd name="adj" fmla="val 21053"/>
            </a:avLst>
          </a:prstGeom>
          <a:solidFill>
            <a:srgbClr val="FFB703"/>
          </a:solidFill>
          <a:ln w="12700">
            <a:solidFill>
              <a:srgbClr val="FFB703"/>
            </a:solidFill>
            <a:prstDash val="solid"/>
          </a:ln>
        </p:spPr>
      </p:sp>
      <p:sp>
        <p:nvSpPr>
          <p:cNvPr id="7" name="Text 5"/>
          <p:cNvSpPr/>
          <p:nvPr/>
        </p:nvSpPr>
        <p:spPr>
          <a:xfrm>
            <a:off x="4572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Natural Resources</a:t>
            </a:r>
            <a:endParaRPr lang="en-US" sz="1200" dirty="0"/>
          </a:p>
        </p:txBody>
      </p:sp>
      <p:sp>
        <p:nvSpPr>
          <p:cNvPr id="8" name="Text 6"/>
          <p:cNvSpPr/>
          <p:nvPr/>
        </p:nvSpPr>
        <p:spPr>
          <a:xfrm>
            <a:off x="4754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Useful materials found in nature, such as fresh water, timber, fertile soil, and minerals.</a:t>
            </a:r>
            <a:endParaRPr lang="en-US" sz="1050" dirty="0"/>
          </a:p>
        </p:txBody>
      </p:sp>
      <p:sp>
        <p:nvSpPr>
          <p:cNvPr id="9" name="Shape 7"/>
          <p:cNvSpPr/>
          <p:nvPr/>
        </p:nvSpPr>
        <p:spPr>
          <a:xfrm>
            <a:off x="4251960" y="749808"/>
            <a:ext cx="3657600" cy="1325880"/>
          </a:xfrm>
          <a:prstGeom prst="roundRect">
            <a:avLst>
              <a:gd name="adj" fmla="val 6897"/>
            </a:avLst>
          </a:prstGeom>
          <a:solidFill>
            <a:srgbClr val="1E2F45"/>
          </a:solidFill>
          <a:ln w="25400">
            <a:solidFill>
              <a:srgbClr val="2DC653"/>
            </a:solidFill>
            <a:prstDash val="solid"/>
          </a:ln>
        </p:spPr>
      </p:sp>
      <p:sp>
        <p:nvSpPr>
          <p:cNvPr id="10" name="Shape 8"/>
          <p:cNvSpPr/>
          <p:nvPr/>
        </p:nvSpPr>
        <p:spPr>
          <a:xfrm>
            <a:off x="4251960" y="749808"/>
            <a:ext cx="3657600" cy="347472"/>
          </a:xfrm>
          <a:prstGeom prst="roundRect">
            <a:avLst>
              <a:gd name="adj" fmla="val 21053"/>
            </a:avLst>
          </a:prstGeom>
          <a:solidFill>
            <a:srgbClr val="2DC653"/>
          </a:solidFill>
          <a:ln w="12700">
            <a:solidFill>
              <a:srgbClr val="2DC653"/>
            </a:solidFill>
            <a:prstDash val="solid"/>
          </a:ln>
        </p:spPr>
      </p:sp>
      <p:sp>
        <p:nvSpPr>
          <p:cNvPr id="11" name="Text 9"/>
          <p:cNvSpPr/>
          <p:nvPr/>
        </p:nvSpPr>
        <p:spPr>
          <a:xfrm>
            <a:off x="43434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Ecosystem</a:t>
            </a:r>
            <a:endParaRPr lang="en-US" sz="1200" dirty="0"/>
          </a:p>
        </p:txBody>
      </p:sp>
      <p:sp>
        <p:nvSpPr>
          <p:cNvPr id="12" name="Text 10"/>
          <p:cNvSpPr/>
          <p:nvPr/>
        </p:nvSpPr>
        <p:spPr>
          <a:xfrm>
            <a:off x="43616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community of living things — plants, animals, and tiny organisms — that interact with each other and with their environment.</a:t>
            </a:r>
            <a:endParaRPr lang="en-US" sz="1050" dirty="0"/>
          </a:p>
        </p:txBody>
      </p:sp>
      <p:sp>
        <p:nvSpPr>
          <p:cNvPr id="13" name="Shape 11"/>
          <p:cNvSpPr/>
          <p:nvPr/>
        </p:nvSpPr>
        <p:spPr>
          <a:xfrm>
            <a:off x="8138160" y="749808"/>
            <a:ext cx="3657600" cy="1325880"/>
          </a:xfrm>
          <a:prstGeom prst="roundRect">
            <a:avLst>
              <a:gd name="adj" fmla="val 6897"/>
            </a:avLst>
          </a:prstGeom>
          <a:solidFill>
            <a:srgbClr val="1E2F45"/>
          </a:solidFill>
          <a:ln w="25400">
            <a:solidFill>
              <a:srgbClr val="4CC9F0"/>
            </a:solidFill>
            <a:prstDash val="solid"/>
          </a:ln>
        </p:spPr>
      </p:sp>
      <p:sp>
        <p:nvSpPr>
          <p:cNvPr id="14" name="Shape 12"/>
          <p:cNvSpPr/>
          <p:nvPr/>
        </p:nvSpPr>
        <p:spPr>
          <a:xfrm>
            <a:off x="8138160" y="749808"/>
            <a:ext cx="3657600" cy="347472"/>
          </a:xfrm>
          <a:prstGeom prst="roundRect">
            <a:avLst>
              <a:gd name="adj" fmla="val 21053"/>
            </a:avLst>
          </a:prstGeom>
          <a:solidFill>
            <a:srgbClr val="4CC9F0"/>
          </a:solidFill>
          <a:ln w="12700">
            <a:solidFill>
              <a:srgbClr val="4CC9F0"/>
            </a:solidFill>
            <a:prstDash val="solid"/>
          </a:ln>
        </p:spPr>
      </p:sp>
      <p:sp>
        <p:nvSpPr>
          <p:cNvPr id="15" name="Text 13"/>
          <p:cNvSpPr/>
          <p:nvPr/>
        </p:nvSpPr>
        <p:spPr>
          <a:xfrm>
            <a:off x="822960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Cartography</a:t>
            </a:r>
            <a:endParaRPr lang="en-US" sz="1200" dirty="0"/>
          </a:p>
        </p:txBody>
      </p:sp>
      <p:sp>
        <p:nvSpPr>
          <p:cNvPr id="16" name="Text 14"/>
          <p:cNvSpPr/>
          <p:nvPr/>
        </p:nvSpPr>
        <p:spPr>
          <a:xfrm>
            <a:off x="824788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science and art of making maps. A person who makes maps is called a cartographer.</a:t>
            </a:r>
            <a:endParaRPr lang="en-US" sz="1050" dirty="0"/>
          </a:p>
        </p:txBody>
      </p:sp>
      <p:sp>
        <p:nvSpPr>
          <p:cNvPr id="17" name="Shape 15"/>
          <p:cNvSpPr/>
          <p:nvPr/>
        </p:nvSpPr>
        <p:spPr>
          <a:xfrm>
            <a:off x="365760" y="2304288"/>
            <a:ext cx="11430000" cy="3246120"/>
          </a:xfrm>
          <a:prstGeom prst="roundRect">
            <a:avLst>
              <a:gd name="adj" fmla="val 2254"/>
            </a:avLst>
          </a:prstGeom>
          <a:solidFill>
            <a:srgbClr val="162233"/>
          </a:solidFill>
          <a:ln w="12700">
            <a:solidFill>
              <a:srgbClr val="FFB703"/>
            </a:solidFill>
            <a:prstDash val="solid"/>
          </a:ln>
        </p:spPr>
      </p:sp>
      <p:sp>
        <p:nvSpPr>
          <p:cNvPr id="18" name="Text 16"/>
          <p:cNvSpPr/>
          <p:nvPr/>
        </p:nvSpPr>
        <p:spPr>
          <a:xfrm>
            <a:off x="548640" y="2377440"/>
            <a:ext cx="1097280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Mind-Blowing Fact:</a:t>
            </a:r>
            <a:endParaRPr lang="en-US" sz="1200" dirty="0"/>
          </a:p>
        </p:txBody>
      </p:sp>
      <p:sp>
        <p:nvSpPr>
          <p:cNvPr id="19" name="Text 17"/>
          <p:cNvSpPr/>
          <p:nvPr/>
        </p:nvSpPr>
        <p:spPr>
          <a:xfrm>
            <a:off x="548640" y="2743200"/>
            <a:ext cx="10972800" cy="896112"/>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The oldest known map of the world was carved into a clay tablet nearly 2,600 years ago in ancient Babylon (modern-day Iraq)! The entire known world fit on a tablet you could hold in your hands.</a:t>
            </a:r>
            <a:endParaRPr lang="en-US" sz="1200" dirty="0"/>
          </a:p>
        </p:txBody>
      </p:sp>
      <p:sp>
        <p:nvSpPr>
          <p:cNvPr id="20" name="Text 18"/>
          <p:cNvSpPr/>
          <p:nvPr/>
        </p:nvSpPr>
        <p:spPr>
          <a:xfrm>
            <a:off x="548640" y="3703320"/>
            <a:ext cx="10972800" cy="804672"/>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In 1507, cartographer Martin Waldseemüller made the first map to use the name "America" — named after Amerigo Vespucci. The U.S. Library of Congress bought it in 2003 for $10 MILLION. It's called America's 'birth certificate.'</a:t>
            </a:r>
            <a:endParaRPr lang="en-US" sz="12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4.02  ·  Create a Map of the New World</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EXPLORE — Parts of an Explorer's Map</a:t>
            </a:r>
            <a:endParaRPr lang="en-US" sz="1600" dirty="0"/>
          </a:p>
        </p:txBody>
      </p:sp>
      <p:sp>
        <p:nvSpPr>
          <p:cNvPr id="5" name="Shape 3"/>
          <p:cNvSpPr/>
          <p:nvPr/>
        </p:nvSpPr>
        <p:spPr>
          <a:xfrm>
            <a:off x="365760" y="749808"/>
            <a:ext cx="6858000" cy="5029200"/>
          </a:xfrm>
          <a:prstGeom prst="roundRect">
            <a:avLst>
              <a:gd name="adj" fmla="val 1455"/>
            </a:avLst>
          </a:prstGeom>
          <a:solidFill>
            <a:srgbClr val="0A1520"/>
          </a:solidFill>
          <a:ln w="19050">
            <a:solidFill>
              <a:srgbClr val="4CC9F0"/>
            </a:solidFill>
            <a:prstDash val="dash"/>
          </a:ln>
        </p:spPr>
      </p:sp>
      <p:sp>
        <p:nvSpPr>
          <p:cNvPr id="6" name="Text 4"/>
          <p:cNvSpPr/>
          <p:nvPr/>
        </p:nvSpPr>
        <p:spPr>
          <a:xfrm>
            <a:off x="457200" y="859536"/>
            <a:ext cx="66751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66751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6638544" cy="39776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"historical exploration map 1500s New World compass rose legend scale bar title cartography labeled"</a:t>
            </a:r>
            <a:endParaRPr lang="en-US" sz="950" dirty="0"/>
          </a:p>
        </p:txBody>
      </p:sp>
      <p:sp>
        <p:nvSpPr>
          <p:cNvPr id="9" name="Text 7"/>
          <p:cNvSpPr/>
          <p:nvPr/>
        </p:nvSpPr>
        <p:spPr>
          <a:xfrm>
            <a:off x="365760" y="5815584"/>
            <a:ext cx="68580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Every part of a map has a specific purpose — like a recipe with no missing ingredients</a:t>
            </a:r>
            <a:endParaRPr lang="en-US" sz="900" dirty="0"/>
          </a:p>
        </p:txBody>
      </p:sp>
      <p:sp>
        <p:nvSpPr>
          <p:cNvPr id="10" name="Shape 8"/>
          <p:cNvSpPr/>
          <p:nvPr/>
        </p:nvSpPr>
        <p:spPr>
          <a:xfrm>
            <a:off x="7406640" y="749808"/>
            <a:ext cx="4572000" cy="1097280"/>
          </a:xfrm>
          <a:prstGeom prst="roundRect">
            <a:avLst>
              <a:gd name="adj" fmla="val 6667"/>
            </a:avLst>
          </a:prstGeom>
          <a:solidFill>
            <a:srgbClr val="1E2F45"/>
          </a:solidFill>
          <a:ln w="12700">
            <a:solidFill>
              <a:srgbClr val="4CC9F0"/>
            </a:solidFill>
            <a:prstDash val="solid"/>
          </a:ln>
        </p:spPr>
      </p:sp>
      <p:sp>
        <p:nvSpPr>
          <p:cNvPr id="11" name="Text 9"/>
          <p:cNvSpPr/>
          <p:nvPr/>
        </p:nvSpPr>
        <p:spPr>
          <a:xfrm>
            <a:off x="7571232" y="822960"/>
            <a:ext cx="425196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Title</a:t>
            </a:r>
            <a:endParaRPr lang="en-US" sz="1200" dirty="0"/>
          </a:p>
        </p:txBody>
      </p:sp>
      <p:sp>
        <p:nvSpPr>
          <p:cNvPr id="12" name="Text 10"/>
          <p:cNvSpPr/>
          <p:nvPr/>
        </p:nvSpPr>
        <p:spPr>
          <a:xfrm>
            <a:off x="7571232" y="1188720"/>
            <a:ext cx="4251960" cy="47548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Tells you WHAT the map shows</a:t>
            </a:r>
            <a:endParaRPr lang="en-US" sz="1150" dirty="0"/>
          </a:p>
        </p:txBody>
      </p:sp>
      <p:sp>
        <p:nvSpPr>
          <p:cNvPr id="13" name="Shape 11"/>
          <p:cNvSpPr/>
          <p:nvPr/>
        </p:nvSpPr>
        <p:spPr>
          <a:xfrm>
            <a:off x="7406640" y="2011680"/>
            <a:ext cx="4572000" cy="1097280"/>
          </a:xfrm>
          <a:prstGeom prst="roundRect">
            <a:avLst>
              <a:gd name="adj" fmla="val 6667"/>
            </a:avLst>
          </a:prstGeom>
          <a:solidFill>
            <a:srgbClr val="1E2F45"/>
          </a:solidFill>
          <a:ln w="12700">
            <a:solidFill>
              <a:srgbClr val="2DC653"/>
            </a:solidFill>
            <a:prstDash val="solid"/>
          </a:ln>
        </p:spPr>
      </p:sp>
      <p:sp>
        <p:nvSpPr>
          <p:cNvPr id="14" name="Text 12"/>
          <p:cNvSpPr/>
          <p:nvPr/>
        </p:nvSpPr>
        <p:spPr>
          <a:xfrm>
            <a:off x="7571232" y="2084832"/>
            <a:ext cx="425196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Compass Rose</a:t>
            </a:r>
            <a:endParaRPr lang="en-US" sz="1200" dirty="0"/>
          </a:p>
        </p:txBody>
      </p:sp>
      <p:sp>
        <p:nvSpPr>
          <p:cNvPr id="15" name="Text 13"/>
          <p:cNvSpPr/>
          <p:nvPr/>
        </p:nvSpPr>
        <p:spPr>
          <a:xfrm>
            <a:off x="7571232" y="2450592"/>
            <a:ext cx="4251960" cy="47548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Shows N, S, E, W directions</a:t>
            </a:r>
            <a:endParaRPr lang="en-US" sz="1150" dirty="0"/>
          </a:p>
        </p:txBody>
      </p:sp>
      <p:sp>
        <p:nvSpPr>
          <p:cNvPr id="16" name="Shape 14"/>
          <p:cNvSpPr/>
          <p:nvPr/>
        </p:nvSpPr>
        <p:spPr>
          <a:xfrm>
            <a:off x="7406640" y="3273552"/>
            <a:ext cx="4572000" cy="1097280"/>
          </a:xfrm>
          <a:prstGeom prst="roundRect">
            <a:avLst>
              <a:gd name="adj" fmla="val 6667"/>
            </a:avLst>
          </a:prstGeom>
          <a:solidFill>
            <a:srgbClr val="1E2F45"/>
          </a:solidFill>
          <a:ln w="12700">
            <a:solidFill>
              <a:srgbClr val="FFB703"/>
            </a:solidFill>
            <a:prstDash val="solid"/>
          </a:ln>
        </p:spPr>
      </p:sp>
      <p:sp>
        <p:nvSpPr>
          <p:cNvPr id="17" name="Text 15"/>
          <p:cNvSpPr/>
          <p:nvPr/>
        </p:nvSpPr>
        <p:spPr>
          <a:xfrm>
            <a:off x="7571232" y="3346704"/>
            <a:ext cx="425196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Legend / Key</a:t>
            </a:r>
            <a:endParaRPr lang="en-US" sz="1200" dirty="0"/>
          </a:p>
        </p:txBody>
      </p:sp>
      <p:sp>
        <p:nvSpPr>
          <p:cNvPr id="18" name="Text 16"/>
          <p:cNvSpPr/>
          <p:nvPr/>
        </p:nvSpPr>
        <p:spPr>
          <a:xfrm>
            <a:off x="7571232" y="3712464"/>
            <a:ext cx="4251960" cy="47548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Explains what symbols and colors mean</a:t>
            </a:r>
            <a:endParaRPr lang="en-US" sz="1150" dirty="0"/>
          </a:p>
        </p:txBody>
      </p:sp>
      <p:sp>
        <p:nvSpPr>
          <p:cNvPr id="19" name="Shape 17"/>
          <p:cNvSpPr/>
          <p:nvPr/>
        </p:nvSpPr>
        <p:spPr>
          <a:xfrm>
            <a:off x="7406640" y="4535424"/>
            <a:ext cx="4572000" cy="1097280"/>
          </a:xfrm>
          <a:prstGeom prst="roundRect">
            <a:avLst>
              <a:gd name="adj" fmla="val 6667"/>
            </a:avLst>
          </a:prstGeom>
          <a:solidFill>
            <a:srgbClr val="1E2F45"/>
          </a:solidFill>
          <a:ln w="12700">
            <a:solidFill>
              <a:srgbClr val="F4736A"/>
            </a:solidFill>
            <a:prstDash val="solid"/>
          </a:ln>
        </p:spPr>
      </p:sp>
      <p:sp>
        <p:nvSpPr>
          <p:cNvPr id="20" name="Text 18"/>
          <p:cNvSpPr/>
          <p:nvPr/>
        </p:nvSpPr>
        <p:spPr>
          <a:xfrm>
            <a:off x="7571232" y="4608576"/>
            <a:ext cx="4251960" cy="347472"/>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  Scale Bar</a:t>
            </a:r>
            <a:endParaRPr lang="en-US" sz="1200" dirty="0"/>
          </a:p>
        </p:txBody>
      </p:sp>
      <p:sp>
        <p:nvSpPr>
          <p:cNvPr id="21" name="Text 19"/>
          <p:cNvSpPr/>
          <p:nvPr/>
        </p:nvSpPr>
        <p:spPr>
          <a:xfrm>
            <a:off x="7571232" y="4974336"/>
            <a:ext cx="4251960" cy="47548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Shows how distance on map = real distance</a:t>
            </a:r>
            <a:endParaRPr lang="en-US" sz="1150" dirty="0"/>
          </a:p>
        </p:txBody>
      </p:sp>
      <p:sp>
        <p:nvSpPr>
          <p:cNvPr id="22" name="Shape 20"/>
          <p:cNvSpPr/>
          <p:nvPr/>
        </p:nvSpPr>
        <p:spPr>
          <a:xfrm>
            <a:off x="0" y="6629400"/>
            <a:ext cx="12192000" cy="228600"/>
          </a:xfrm>
          <a:prstGeom prst="rect">
            <a:avLst/>
          </a:prstGeom>
          <a:solidFill>
            <a:srgbClr val="162233"/>
          </a:solidFill>
          <a:ln/>
        </p:spPr>
      </p:sp>
      <p:sp>
        <p:nvSpPr>
          <p:cNvPr id="23" name="Text 2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4.02  ·  Create a Map of the New World</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EXPLORE — Three Types of Explorer Maps</a:t>
            </a:r>
            <a:endParaRPr lang="en-US" sz="1600" dirty="0"/>
          </a:p>
        </p:txBody>
      </p:sp>
      <p:sp>
        <p:nvSpPr>
          <p:cNvPr id="5" name="Shape 3"/>
          <p:cNvSpPr/>
          <p:nvPr/>
        </p:nvSpPr>
        <p:spPr>
          <a:xfrm>
            <a:off x="365760" y="749808"/>
            <a:ext cx="3657600" cy="3657600"/>
          </a:xfrm>
          <a:prstGeom prst="roundRect">
            <a:avLst>
              <a:gd name="adj" fmla="val 2000"/>
            </a:avLst>
          </a:prstGeom>
          <a:solidFill>
            <a:srgbClr val="1E2F45"/>
          </a:solidFill>
          <a:ln w="12700">
            <a:solidFill>
              <a:srgbClr val="4CC9F0"/>
            </a:solidFill>
            <a:prstDash val="solid"/>
          </a:ln>
        </p:spPr>
      </p:sp>
      <p:sp>
        <p:nvSpPr>
          <p:cNvPr id="6" name="Shape 4"/>
          <p:cNvSpPr/>
          <p:nvPr/>
        </p:nvSpPr>
        <p:spPr>
          <a:xfrm>
            <a:off x="411480" y="804672"/>
            <a:ext cx="1554480" cy="256032"/>
          </a:xfrm>
          <a:prstGeom prst="roundRect">
            <a:avLst>
              <a:gd name="adj" fmla="val 50000"/>
            </a:avLst>
          </a:prstGeom>
          <a:solidFill>
            <a:srgbClr val="0096C7"/>
          </a:solidFill>
          <a:ln w="12700">
            <a:solidFill>
              <a:srgbClr val="0096C7"/>
            </a:solidFill>
            <a:prstDash val="solid"/>
          </a:ln>
        </p:spPr>
      </p:sp>
      <p:sp>
        <p:nvSpPr>
          <p:cNvPr id="7" name="Text 5"/>
          <p:cNvSpPr/>
          <p:nvPr/>
        </p:nvSpPr>
        <p:spPr>
          <a:xfrm>
            <a:off x="411480" y="8046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Physical Map</a:t>
            </a:r>
            <a:endParaRPr lang="en-US" sz="900" dirty="0"/>
          </a:p>
        </p:txBody>
      </p:sp>
      <p:sp>
        <p:nvSpPr>
          <p:cNvPr id="8" name="Text 6"/>
          <p:cNvSpPr/>
          <p:nvPr/>
        </p:nvSpPr>
        <p:spPr>
          <a:xfrm>
            <a:off x="502920" y="1115568"/>
            <a:ext cx="3383280" cy="22860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Shows natural landforms — mountains, rivers, valleys, coastlines.</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Helped explorers navigate safely and find paths inland.</a:t>
            </a:r>
            <a:endParaRPr lang="en-US" sz="1100" dirty="0"/>
          </a:p>
        </p:txBody>
      </p:sp>
      <p:sp>
        <p:nvSpPr>
          <p:cNvPr id="9" name="Shape 7"/>
          <p:cNvSpPr/>
          <p:nvPr/>
        </p:nvSpPr>
        <p:spPr>
          <a:xfrm>
            <a:off x="502920" y="2788920"/>
            <a:ext cx="3383280" cy="1417320"/>
          </a:xfrm>
          <a:prstGeom prst="roundRect">
            <a:avLst>
              <a:gd name="adj" fmla="val 5161"/>
            </a:avLst>
          </a:prstGeom>
          <a:solidFill>
            <a:srgbClr val="0A1520"/>
          </a:solidFill>
          <a:ln w="19050">
            <a:solidFill>
              <a:srgbClr val="4CC9F0"/>
            </a:solidFill>
            <a:prstDash val="dash"/>
          </a:ln>
        </p:spPr>
      </p:sp>
      <p:sp>
        <p:nvSpPr>
          <p:cNvPr id="10" name="Text 8"/>
          <p:cNvSpPr/>
          <p:nvPr/>
        </p:nvSpPr>
        <p:spPr>
          <a:xfrm>
            <a:off x="594360" y="2898648"/>
            <a:ext cx="32004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594360" y="3337560"/>
            <a:ext cx="32004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2" name="Text 10"/>
          <p:cNvSpPr/>
          <p:nvPr/>
        </p:nvSpPr>
        <p:spPr>
          <a:xfrm>
            <a:off x="612648" y="3630168"/>
            <a:ext cx="3163824" cy="3657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"physical map landforms mountains rivers coastline topographic"</a:t>
            </a:r>
            <a:endParaRPr lang="en-US" sz="950" dirty="0"/>
          </a:p>
        </p:txBody>
      </p:sp>
      <p:sp>
        <p:nvSpPr>
          <p:cNvPr id="13" name="Text 11"/>
          <p:cNvSpPr/>
          <p:nvPr/>
        </p:nvSpPr>
        <p:spPr>
          <a:xfrm>
            <a:off x="502920" y="4242816"/>
            <a:ext cx="33832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Physical map</a:t>
            </a:r>
            <a:endParaRPr lang="en-US" sz="900" dirty="0"/>
          </a:p>
        </p:txBody>
      </p:sp>
      <p:sp>
        <p:nvSpPr>
          <p:cNvPr id="14" name="Shape 12"/>
          <p:cNvSpPr/>
          <p:nvPr/>
        </p:nvSpPr>
        <p:spPr>
          <a:xfrm>
            <a:off x="4251960" y="749808"/>
            <a:ext cx="3657600" cy="3657600"/>
          </a:xfrm>
          <a:prstGeom prst="roundRect">
            <a:avLst>
              <a:gd name="adj" fmla="val 2000"/>
            </a:avLst>
          </a:prstGeom>
          <a:solidFill>
            <a:srgbClr val="1E2F45"/>
          </a:solidFill>
          <a:ln w="12700">
            <a:solidFill>
              <a:srgbClr val="FFB703"/>
            </a:solidFill>
            <a:prstDash val="solid"/>
          </a:ln>
        </p:spPr>
      </p:sp>
      <p:sp>
        <p:nvSpPr>
          <p:cNvPr id="15" name="Shape 13"/>
          <p:cNvSpPr/>
          <p:nvPr/>
        </p:nvSpPr>
        <p:spPr>
          <a:xfrm>
            <a:off x="4297680" y="804672"/>
            <a:ext cx="1554480" cy="256032"/>
          </a:xfrm>
          <a:prstGeom prst="roundRect">
            <a:avLst>
              <a:gd name="adj" fmla="val 50000"/>
            </a:avLst>
          </a:prstGeom>
          <a:solidFill>
            <a:srgbClr val="E09200"/>
          </a:solidFill>
          <a:ln w="12700">
            <a:solidFill>
              <a:srgbClr val="E09200"/>
            </a:solidFill>
            <a:prstDash val="solid"/>
          </a:ln>
        </p:spPr>
      </p:sp>
      <p:sp>
        <p:nvSpPr>
          <p:cNvPr id="16" name="Text 14"/>
          <p:cNvSpPr/>
          <p:nvPr/>
        </p:nvSpPr>
        <p:spPr>
          <a:xfrm>
            <a:off x="4297680" y="8046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Resource Map</a:t>
            </a:r>
            <a:endParaRPr lang="en-US" sz="900" dirty="0"/>
          </a:p>
        </p:txBody>
      </p:sp>
      <p:sp>
        <p:nvSpPr>
          <p:cNvPr id="17" name="Text 15"/>
          <p:cNvSpPr/>
          <p:nvPr/>
        </p:nvSpPr>
        <p:spPr>
          <a:xfrm>
            <a:off x="4389120" y="1115568"/>
            <a:ext cx="3383280" cy="22860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Shows where natural resources like timber, fresh water, and minerals were located.</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Critical for planning settlements — literally worth more than gold!</a:t>
            </a:r>
            <a:endParaRPr lang="en-US" sz="1100" dirty="0"/>
          </a:p>
        </p:txBody>
      </p:sp>
      <p:sp>
        <p:nvSpPr>
          <p:cNvPr id="18" name="Shape 16"/>
          <p:cNvSpPr/>
          <p:nvPr/>
        </p:nvSpPr>
        <p:spPr>
          <a:xfrm>
            <a:off x="4389120" y="2788920"/>
            <a:ext cx="3383280" cy="1417320"/>
          </a:xfrm>
          <a:prstGeom prst="roundRect">
            <a:avLst>
              <a:gd name="adj" fmla="val 5161"/>
            </a:avLst>
          </a:prstGeom>
          <a:solidFill>
            <a:srgbClr val="0A1520"/>
          </a:solidFill>
          <a:ln w="19050">
            <a:solidFill>
              <a:srgbClr val="4CC9F0"/>
            </a:solidFill>
            <a:prstDash val="dash"/>
          </a:ln>
        </p:spPr>
      </p:sp>
      <p:sp>
        <p:nvSpPr>
          <p:cNvPr id="19" name="Text 17"/>
          <p:cNvSpPr/>
          <p:nvPr/>
        </p:nvSpPr>
        <p:spPr>
          <a:xfrm>
            <a:off x="4480560" y="2898648"/>
            <a:ext cx="32004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0" name="Text 18"/>
          <p:cNvSpPr/>
          <p:nvPr/>
        </p:nvSpPr>
        <p:spPr>
          <a:xfrm>
            <a:off x="4480560" y="3337560"/>
            <a:ext cx="32004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21" name="Text 19"/>
          <p:cNvSpPr/>
          <p:nvPr/>
        </p:nvSpPr>
        <p:spPr>
          <a:xfrm>
            <a:off x="4498848" y="3630168"/>
            <a:ext cx="3163824" cy="3657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"resource map natural resources timber water minerals symbols legend"</a:t>
            </a:r>
            <a:endParaRPr lang="en-US" sz="950" dirty="0"/>
          </a:p>
        </p:txBody>
      </p:sp>
      <p:sp>
        <p:nvSpPr>
          <p:cNvPr id="22" name="Text 20"/>
          <p:cNvSpPr/>
          <p:nvPr/>
        </p:nvSpPr>
        <p:spPr>
          <a:xfrm>
            <a:off x="4389120" y="4242816"/>
            <a:ext cx="33832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Resource map</a:t>
            </a:r>
            <a:endParaRPr lang="en-US" sz="900" dirty="0"/>
          </a:p>
        </p:txBody>
      </p:sp>
      <p:sp>
        <p:nvSpPr>
          <p:cNvPr id="23" name="Shape 21"/>
          <p:cNvSpPr/>
          <p:nvPr/>
        </p:nvSpPr>
        <p:spPr>
          <a:xfrm>
            <a:off x="8138160" y="749808"/>
            <a:ext cx="3657600" cy="3657600"/>
          </a:xfrm>
          <a:prstGeom prst="roundRect">
            <a:avLst>
              <a:gd name="adj" fmla="val 2000"/>
            </a:avLst>
          </a:prstGeom>
          <a:solidFill>
            <a:srgbClr val="1E2F45"/>
          </a:solidFill>
          <a:ln w="12700">
            <a:solidFill>
              <a:srgbClr val="2DC653"/>
            </a:solidFill>
            <a:prstDash val="solid"/>
          </a:ln>
        </p:spPr>
      </p:sp>
      <p:sp>
        <p:nvSpPr>
          <p:cNvPr id="24" name="Shape 22"/>
          <p:cNvSpPr/>
          <p:nvPr/>
        </p:nvSpPr>
        <p:spPr>
          <a:xfrm>
            <a:off x="8202168" y="804672"/>
            <a:ext cx="1554480" cy="256032"/>
          </a:xfrm>
          <a:prstGeom prst="roundRect">
            <a:avLst>
              <a:gd name="adj" fmla="val 50000"/>
            </a:avLst>
          </a:prstGeom>
          <a:solidFill>
            <a:srgbClr val="1A8C3A"/>
          </a:solidFill>
          <a:ln w="12700">
            <a:solidFill>
              <a:srgbClr val="1A8C3A"/>
            </a:solidFill>
            <a:prstDash val="solid"/>
          </a:ln>
        </p:spPr>
      </p:sp>
      <p:sp>
        <p:nvSpPr>
          <p:cNvPr id="25" name="Text 23"/>
          <p:cNvSpPr/>
          <p:nvPr/>
        </p:nvSpPr>
        <p:spPr>
          <a:xfrm>
            <a:off x="8202168" y="8046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Ecosystem Map</a:t>
            </a:r>
            <a:endParaRPr lang="en-US" sz="900" dirty="0"/>
          </a:p>
        </p:txBody>
      </p:sp>
      <p:sp>
        <p:nvSpPr>
          <p:cNvPr id="26" name="Text 24"/>
          <p:cNvSpPr/>
          <p:nvPr/>
        </p:nvSpPr>
        <p:spPr>
          <a:xfrm>
            <a:off x="8275320" y="1115568"/>
            <a:ext cx="3383280" cy="22860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Shows different habitats and biomes — forests, grasslands, wetlands, ocean.</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Helped scientists understand biodiversity of the Americas.</a:t>
            </a:r>
            <a:endParaRPr lang="en-US" sz="1100" dirty="0"/>
          </a:p>
        </p:txBody>
      </p:sp>
      <p:sp>
        <p:nvSpPr>
          <p:cNvPr id="27" name="Shape 25"/>
          <p:cNvSpPr/>
          <p:nvPr/>
        </p:nvSpPr>
        <p:spPr>
          <a:xfrm>
            <a:off x="8275320" y="2788920"/>
            <a:ext cx="3383280" cy="1417320"/>
          </a:xfrm>
          <a:prstGeom prst="roundRect">
            <a:avLst>
              <a:gd name="adj" fmla="val 5161"/>
            </a:avLst>
          </a:prstGeom>
          <a:solidFill>
            <a:srgbClr val="0A1520"/>
          </a:solidFill>
          <a:ln w="19050">
            <a:solidFill>
              <a:srgbClr val="4CC9F0"/>
            </a:solidFill>
            <a:prstDash val="dash"/>
          </a:ln>
        </p:spPr>
      </p:sp>
      <p:sp>
        <p:nvSpPr>
          <p:cNvPr id="28" name="Text 26"/>
          <p:cNvSpPr/>
          <p:nvPr/>
        </p:nvSpPr>
        <p:spPr>
          <a:xfrm>
            <a:off x="8366760" y="2898648"/>
            <a:ext cx="32004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9" name="Text 27"/>
          <p:cNvSpPr/>
          <p:nvPr/>
        </p:nvSpPr>
        <p:spPr>
          <a:xfrm>
            <a:off x="8366760" y="3337560"/>
            <a:ext cx="32004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30" name="Text 28"/>
          <p:cNvSpPr/>
          <p:nvPr/>
        </p:nvSpPr>
        <p:spPr>
          <a:xfrm>
            <a:off x="8385048" y="3630168"/>
            <a:ext cx="3163824" cy="3657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"ecosystem map biomes forest grassland wetland ocean habitat zones"</a:t>
            </a:r>
            <a:endParaRPr lang="en-US" sz="950" dirty="0"/>
          </a:p>
        </p:txBody>
      </p:sp>
      <p:sp>
        <p:nvSpPr>
          <p:cNvPr id="31" name="Text 29"/>
          <p:cNvSpPr/>
          <p:nvPr/>
        </p:nvSpPr>
        <p:spPr>
          <a:xfrm>
            <a:off x="8275320" y="4242816"/>
            <a:ext cx="33832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Ecosystem map</a:t>
            </a:r>
            <a:endParaRPr lang="en-US" sz="900" dirty="0"/>
          </a:p>
        </p:txBody>
      </p:sp>
      <p:sp>
        <p:nvSpPr>
          <p:cNvPr id="32" name="Shape 30"/>
          <p:cNvSpPr/>
          <p:nvPr/>
        </p:nvSpPr>
        <p:spPr>
          <a:xfrm>
            <a:off x="0" y="6629400"/>
            <a:ext cx="12192000" cy="228600"/>
          </a:xfrm>
          <a:prstGeom prst="rect">
            <a:avLst/>
          </a:prstGeom>
          <a:solidFill>
            <a:srgbClr val="162233"/>
          </a:solidFill>
          <a:ln/>
        </p:spPr>
      </p:sp>
      <p:sp>
        <p:nvSpPr>
          <p:cNvPr id="33" name="Text 3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4.02  ·  Create a Map of the New World</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EXPLORE — How Explorers Made Maps: 4 Steps</a:t>
            </a:r>
            <a:endParaRPr lang="en-US" sz="1600" dirty="0"/>
          </a:p>
        </p:txBody>
      </p:sp>
      <p:sp>
        <p:nvSpPr>
          <p:cNvPr id="5" name="Shape 3"/>
          <p:cNvSpPr/>
          <p:nvPr/>
        </p:nvSpPr>
        <p:spPr>
          <a:xfrm>
            <a:off x="365760" y="749808"/>
            <a:ext cx="5577840" cy="2331720"/>
          </a:xfrm>
          <a:prstGeom prst="roundRect">
            <a:avLst>
              <a:gd name="adj" fmla="val 3137"/>
            </a:avLst>
          </a:prstGeom>
          <a:solidFill>
            <a:srgbClr val="1E2F45"/>
          </a:solidFill>
          <a:ln w="12700">
            <a:solidFill>
              <a:srgbClr val="4CC9F0"/>
            </a:solidFill>
            <a:prstDash val="solid"/>
          </a:ln>
        </p:spPr>
      </p:sp>
      <p:sp>
        <p:nvSpPr>
          <p:cNvPr id="6" name="Text 4"/>
          <p:cNvSpPr/>
          <p:nvPr/>
        </p:nvSpPr>
        <p:spPr>
          <a:xfrm>
            <a:off x="548640" y="841248"/>
            <a:ext cx="521208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Step 1: Observe the Coastline</a:t>
            </a:r>
            <a:endParaRPr lang="en-US" sz="1200" dirty="0"/>
          </a:p>
        </p:txBody>
      </p:sp>
      <p:sp>
        <p:nvSpPr>
          <p:cNvPr id="7" name="Text 5"/>
          <p:cNvSpPr/>
          <p:nvPr/>
        </p:nvSpPr>
        <p:spPr>
          <a:xfrm>
            <a:off x="548640" y="1271016"/>
            <a:ext cx="5212080" cy="166420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Ships approached from the sea. Explorers sketched bays, peninsulas, and river mouths — the safest places to anchor. This rough coastal outline became the starting frame for the entire map.</a:t>
            </a:r>
            <a:endParaRPr lang="en-US" sz="1150" dirty="0"/>
          </a:p>
        </p:txBody>
      </p:sp>
      <p:sp>
        <p:nvSpPr>
          <p:cNvPr id="8" name="Shape 6"/>
          <p:cNvSpPr/>
          <p:nvPr/>
        </p:nvSpPr>
        <p:spPr>
          <a:xfrm>
            <a:off x="365760" y="3310128"/>
            <a:ext cx="5577840" cy="2331720"/>
          </a:xfrm>
          <a:prstGeom prst="roundRect">
            <a:avLst>
              <a:gd name="adj" fmla="val 3137"/>
            </a:avLst>
          </a:prstGeom>
          <a:solidFill>
            <a:srgbClr val="1E2F45"/>
          </a:solidFill>
          <a:ln w="12700">
            <a:solidFill>
              <a:srgbClr val="4CC9F0"/>
            </a:solidFill>
            <a:prstDash val="solid"/>
          </a:ln>
        </p:spPr>
      </p:sp>
      <p:sp>
        <p:nvSpPr>
          <p:cNvPr id="9" name="Text 7"/>
          <p:cNvSpPr/>
          <p:nvPr/>
        </p:nvSpPr>
        <p:spPr>
          <a:xfrm>
            <a:off x="548640" y="3401568"/>
            <a:ext cx="521208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Step 2: Record with Symbols</a:t>
            </a:r>
            <a:endParaRPr lang="en-US" sz="1200" dirty="0"/>
          </a:p>
        </p:txBody>
      </p:sp>
      <p:sp>
        <p:nvSpPr>
          <p:cNvPr id="10" name="Text 8"/>
          <p:cNvSpPr/>
          <p:nvPr/>
        </p:nvSpPr>
        <p:spPr>
          <a:xfrm>
            <a:off x="548640" y="3831336"/>
            <a:ext cx="5212080" cy="166420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Explorers used agreed-upon symbols for mountains, rivers, forests, and settlements. Any cartographer back in Europe could read the map — like writing in a shared scientific language.</a:t>
            </a:r>
            <a:endParaRPr lang="en-US" sz="1150" dirty="0"/>
          </a:p>
        </p:txBody>
      </p:sp>
      <p:sp>
        <p:nvSpPr>
          <p:cNvPr id="11" name="Shape 9"/>
          <p:cNvSpPr/>
          <p:nvPr/>
        </p:nvSpPr>
        <p:spPr>
          <a:xfrm>
            <a:off x="6172200" y="749808"/>
            <a:ext cx="5577840" cy="2331720"/>
          </a:xfrm>
          <a:prstGeom prst="roundRect">
            <a:avLst>
              <a:gd name="adj" fmla="val 3137"/>
            </a:avLst>
          </a:prstGeom>
          <a:solidFill>
            <a:srgbClr val="1E2F45"/>
          </a:solidFill>
          <a:ln w="12700">
            <a:solidFill>
              <a:srgbClr val="4CC9F0"/>
            </a:solidFill>
            <a:prstDash val="solid"/>
          </a:ln>
        </p:spPr>
      </p:sp>
      <p:sp>
        <p:nvSpPr>
          <p:cNvPr id="12" name="Text 10"/>
          <p:cNvSpPr/>
          <p:nvPr/>
        </p:nvSpPr>
        <p:spPr>
          <a:xfrm>
            <a:off x="6355080" y="841248"/>
            <a:ext cx="521208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Step 3: Identify Natural Resources</a:t>
            </a:r>
            <a:endParaRPr lang="en-US" sz="1200" dirty="0"/>
          </a:p>
        </p:txBody>
      </p:sp>
      <p:sp>
        <p:nvSpPr>
          <p:cNvPr id="13" name="Text 11"/>
          <p:cNvSpPr/>
          <p:nvPr/>
        </p:nvSpPr>
        <p:spPr>
          <a:xfrm>
            <a:off x="6355080" y="1271016"/>
            <a:ext cx="5212080" cy="166420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Explorers carefully noted fresh water, fertile soil, large forests, and mineral deposits — because a map rich in natural resources was literally worth more than gold!</a:t>
            </a:r>
            <a:endParaRPr lang="en-US" sz="1150" dirty="0"/>
          </a:p>
        </p:txBody>
      </p:sp>
      <p:sp>
        <p:nvSpPr>
          <p:cNvPr id="14" name="Shape 12"/>
          <p:cNvSpPr/>
          <p:nvPr/>
        </p:nvSpPr>
        <p:spPr>
          <a:xfrm>
            <a:off x="6172200" y="3310128"/>
            <a:ext cx="5577840" cy="2331720"/>
          </a:xfrm>
          <a:prstGeom prst="roundRect">
            <a:avLst>
              <a:gd name="adj" fmla="val 3137"/>
            </a:avLst>
          </a:prstGeom>
          <a:solidFill>
            <a:srgbClr val="1E2F45"/>
          </a:solidFill>
          <a:ln w="12700">
            <a:solidFill>
              <a:srgbClr val="4CC9F0"/>
            </a:solidFill>
            <a:prstDash val="solid"/>
          </a:ln>
        </p:spPr>
      </p:sp>
      <p:sp>
        <p:nvSpPr>
          <p:cNvPr id="15" name="Text 13"/>
          <p:cNvSpPr/>
          <p:nvPr/>
        </p:nvSpPr>
        <p:spPr>
          <a:xfrm>
            <a:off x="6355080" y="3401568"/>
            <a:ext cx="521208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Step 4: Document Flora &amp; Fauna</a:t>
            </a:r>
            <a:endParaRPr lang="en-US" sz="1200" dirty="0"/>
          </a:p>
        </p:txBody>
      </p:sp>
      <p:sp>
        <p:nvSpPr>
          <p:cNvPr id="16" name="Text 14"/>
          <p:cNvSpPr/>
          <p:nvPr/>
        </p:nvSpPr>
        <p:spPr>
          <a:xfrm>
            <a:off x="6355080" y="3831336"/>
            <a:ext cx="5212080" cy="166420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Explorers drew and described the plants and animals they found. This revealed the incredible biodiversity of the Americas to scientists in Europe who had never imagined these ecosystems.</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4.02  ·  Create a Map of the New World</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DIAGRAM — Analyze an Explorer Map</a:t>
            </a:r>
            <a:endParaRPr lang="en-US" sz="1600" dirty="0"/>
          </a:p>
        </p:txBody>
      </p:sp>
      <p:sp>
        <p:nvSpPr>
          <p:cNvPr id="5" name="Shape 3"/>
          <p:cNvSpPr/>
          <p:nvPr/>
        </p:nvSpPr>
        <p:spPr>
          <a:xfrm>
            <a:off x="365760" y="749808"/>
            <a:ext cx="7772400" cy="5029200"/>
          </a:xfrm>
          <a:prstGeom prst="roundRect">
            <a:avLst>
              <a:gd name="adj" fmla="val 1455"/>
            </a:avLst>
          </a:prstGeom>
          <a:solidFill>
            <a:srgbClr val="0A1520"/>
          </a:solidFill>
          <a:ln w="19050">
            <a:solidFill>
              <a:srgbClr val="4CC9F0"/>
            </a:solidFill>
            <a:prstDash val="dash"/>
          </a:ln>
        </p:spPr>
      </p:sp>
      <p:sp>
        <p:nvSpPr>
          <p:cNvPr id="6" name="Text 4"/>
          <p:cNvSpPr/>
          <p:nvPr/>
        </p:nvSpPr>
        <p:spPr>
          <a:xfrm>
            <a:off x="457200" y="859536"/>
            <a:ext cx="75895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75895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7552944" cy="39776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"1507 Waldsemuller world map historical cartography New World Americas labeled parts"</a:t>
            </a:r>
            <a:endParaRPr lang="en-US" sz="950" dirty="0"/>
          </a:p>
        </p:txBody>
      </p:sp>
      <p:sp>
        <p:nvSpPr>
          <p:cNvPr id="9" name="Text 7"/>
          <p:cNvSpPr/>
          <p:nvPr/>
        </p:nvSpPr>
        <p:spPr>
          <a:xfrm>
            <a:off x="365760" y="5815584"/>
            <a:ext cx="77724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One of the earliest maps to show the Americas — can you find the map parts?</a:t>
            </a:r>
            <a:endParaRPr lang="en-US" sz="900" dirty="0"/>
          </a:p>
        </p:txBody>
      </p:sp>
      <p:sp>
        <p:nvSpPr>
          <p:cNvPr id="10" name="Shape 8"/>
          <p:cNvSpPr/>
          <p:nvPr/>
        </p:nvSpPr>
        <p:spPr>
          <a:xfrm>
            <a:off x="8321040" y="749808"/>
            <a:ext cx="3474720" cy="5029200"/>
          </a:xfrm>
          <a:prstGeom prst="roundRect">
            <a:avLst>
              <a:gd name="adj" fmla="val 2105"/>
            </a:avLst>
          </a:prstGeom>
          <a:solidFill>
            <a:srgbClr val="1E2F45"/>
          </a:solidFill>
          <a:ln w="12700">
            <a:solidFill>
              <a:srgbClr val="FFB703"/>
            </a:solidFill>
            <a:prstDash val="solid"/>
          </a:ln>
        </p:spPr>
      </p:sp>
      <p:sp>
        <p:nvSpPr>
          <p:cNvPr id="11" name="Text 9"/>
          <p:cNvSpPr/>
          <p:nvPr/>
        </p:nvSpPr>
        <p:spPr>
          <a:xfrm>
            <a:off x="8458200" y="822960"/>
            <a:ext cx="320040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Predict First!</a:t>
            </a:r>
            <a:endParaRPr lang="en-US" sz="1200" dirty="0"/>
          </a:p>
        </p:txBody>
      </p:sp>
      <p:sp>
        <p:nvSpPr>
          <p:cNvPr id="12" name="Text 10"/>
          <p:cNvSpPr/>
          <p:nvPr/>
        </p:nvSpPr>
        <p:spPr>
          <a:xfrm>
            <a:off x="8458200" y="1207008"/>
            <a:ext cx="3200400" cy="896112"/>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Before I reveal each part, write:</a:t>
            </a:r>
            <a:endParaRPr lang="en-US" sz="1100" dirty="0"/>
          </a:p>
          <a:p>
            <a:pPr indent="0" marL="0">
              <a:buNone/>
            </a:pPr>
            <a:r>
              <a:rPr lang="en-US" sz="1100" i="1" dirty="0">
                <a:solidFill>
                  <a:srgbClr val="B0C4D8"/>
                </a:solidFill>
                <a:latin typeface="Calibri" pitchFamily="34" charset="0"/>
                <a:ea typeface="Calibri" pitchFamily="34" charset="-122"/>
                <a:cs typeface="Calibri" pitchFamily="34" charset="-120"/>
              </a:rPr>
              <a:t>"I predict the compass rose is located ___ because ___."</a:t>
            </a:r>
            <a:endParaRPr lang="en-US" sz="1100" dirty="0"/>
          </a:p>
        </p:txBody>
      </p:sp>
      <p:sp>
        <p:nvSpPr>
          <p:cNvPr id="13" name="Text 11"/>
          <p:cNvSpPr/>
          <p:nvPr/>
        </p:nvSpPr>
        <p:spPr>
          <a:xfrm>
            <a:off x="8458200" y="2240280"/>
            <a:ext cx="3200400" cy="320040"/>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Then Find:</a:t>
            </a:r>
            <a:endParaRPr lang="en-US" sz="1200" dirty="0"/>
          </a:p>
        </p:txBody>
      </p:sp>
      <p:sp>
        <p:nvSpPr>
          <p:cNvPr id="14" name="Text 12"/>
          <p:cNvSpPr/>
          <p:nvPr/>
        </p:nvSpPr>
        <p:spPr>
          <a:xfrm>
            <a:off x="8458200" y="2633472"/>
            <a:ext cx="320040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Title</a:t>
            </a:r>
            <a:endParaRPr lang="en-US" sz="1100" dirty="0"/>
          </a:p>
        </p:txBody>
      </p:sp>
      <p:sp>
        <p:nvSpPr>
          <p:cNvPr id="15" name="Text 13"/>
          <p:cNvSpPr/>
          <p:nvPr/>
        </p:nvSpPr>
        <p:spPr>
          <a:xfrm>
            <a:off x="8458200" y="3072384"/>
            <a:ext cx="320040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Compass Rose</a:t>
            </a:r>
            <a:endParaRPr lang="en-US" sz="1100" dirty="0"/>
          </a:p>
        </p:txBody>
      </p:sp>
      <p:sp>
        <p:nvSpPr>
          <p:cNvPr id="16" name="Text 14"/>
          <p:cNvSpPr/>
          <p:nvPr/>
        </p:nvSpPr>
        <p:spPr>
          <a:xfrm>
            <a:off x="8458200" y="3511296"/>
            <a:ext cx="320040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Legend/Key</a:t>
            </a:r>
            <a:endParaRPr lang="en-US" sz="1100" dirty="0"/>
          </a:p>
        </p:txBody>
      </p:sp>
      <p:sp>
        <p:nvSpPr>
          <p:cNvPr id="17" name="Text 15"/>
          <p:cNvSpPr/>
          <p:nvPr/>
        </p:nvSpPr>
        <p:spPr>
          <a:xfrm>
            <a:off x="8458200" y="3950208"/>
            <a:ext cx="320040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Scale Bar</a:t>
            </a:r>
            <a:endParaRPr lang="en-US" sz="1100" dirty="0"/>
          </a:p>
        </p:txBody>
      </p:sp>
      <p:sp>
        <p:nvSpPr>
          <p:cNvPr id="18" name="Text 16"/>
          <p:cNvSpPr/>
          <p:nvPr/>
        </p:nvSpPr>
        <p:spPr>
          <a:xfrm>
            <a:off x="8458200" y="4389120"/>
            <a:ext cx="320040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Symbols for forests/mountains</a:t>
            </a:r>
            <a:endParaRPr lang="en-US" sz="1100" dirty="0"/>
          </a:p>
        </p:txBody>
      </p:sp>
      <p:sp>
        <p:nvSpPr>
          <p:cNvPr id="19" name="Text 17"/>
          <p:cNvSpPr/>
          <p:nvPr/>
        </p:nvSpPr>
        <p:spPr>
          <a:xfrm>
            <a:off x="8458200" y="4828032"/>
            <a:ext cx="320040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Labels for rivers/coasts</a:t>
            </a:r>
            <a:endParaRPr lang="en-US" sz="11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4.02  ·  Create a Map of the New World</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EVIDENCE-BASED REASONING — Maps &amp; Decisions</a:t>
            </a:r>
            <a:endParaRPr lang="en-US" sz="1600" dirty="0"/>
          </a:p>
        </p:txBody>
      </p:sp>
      <p:sp>
        <p:nvSpPr>
          <p:cNvPr id="5" name="Shape 3"/>
          <p:cNvSpPr/>
          <p:nvPr/>
        </p:nvSpPr>
        <p:spPr>
          <a:xfrm>
            <a:off x="365760" y="749808"/>
            <a:ext cx="11430000" cy="1755648"/>
          </a:xfrm>
          <a:prstGeom prst="roundRect">
            <a:avLst>
              <a:gd name="adj" fmla="val 4167"/>
            </a:avLst>
          </a:prstGeom>
          <a:solidFill>
            <a:srgbClr val="162233"/>
          </a:solidFill>
          <a:ln w="12700">
            <a:solidFill>
              <a:srgbClr val="FFB703"/>
            </a:solidFill>
            <a:prstDash val="solid"/>
          </a:ln>
        </p:spPr>
      </p:sp>
      <p:sp>
        <p:nvSpPr>
          <p:cNvPr id="6" name="Text 4"/>
          <p:cNvSpPr/>
          <p:nvPr/>
        </p:nvSpPr>
        <p:spPr>
          <a:xfrm>
            <a:off x="530352" y="82296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Stop &amp; Reason</a:t>
            </a:r>
            <a:endParaRPr lang="en-US" sz="1300" dirty="0"/>
          </a:p>
        </p:txBody>
      </p:sp>
      <p:sp>
        <p:nvSpPr>
          <p:cNvPr id="7" name="Text 5"/>
          <p:cNvSpPr/>
          <p:nvPr/>
        </p:nvSpPr>
        <p:spPr>
          <a:xfrm>
            <a:off x="530352" y="1188720"/>
            <a:ext cx="11100816" cy="1207008"/>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"An explorer finds a physical map AND a resource map of the same region. What could they learn from each one that the other doesn't show? Why would they need both?"</a:t>
            </a:r>
            <a:endParaRPr lang="en-US" sz="1300" dirty="0"/>
          </a:p>
        </p:txBody>
      </p:sp>
      <p:sp>
        <p:nvSpPr>
          <p:cNvPr id="8" name="Shape 6"/>
          <p:cNvSpPr/>
          <p:nvPr/>
        </p:nvSpPr>
        <p:spPr>
          <a:xfrm>
            <a:off x="365760" y="2651760"/>
            <a:ext cx="11430000" cy="2176272"/>
          </a:xfrm>
          <a:prstGeom prst="roundRect">
            <a:avLst>
              <a:gd name="adj" fmla="val 3361"/>
            </a:avLst>
          </a:prstGeom>
          <a:solidFill>
            <a:srgbClr val="1E2F45"/>
          </a:solidFill>
          <a:ln w="12700">
            <a:solidFill>
              <a:srgbClr val="4CC9F0"/>
            </a:solidFill>
            <a:prstDash val="solid"/>
          </a:ln>
        </p:spPr>
      </p:sp>
      <p:sp>
        <p:nvSpPr>
          <p:cNvPr id="9" name="Text 7"/>
          <p:cNvSpPr/>
          <p:nvPr/>
        </p:nvSpPr>
        <p:spPr>
          <a:xfrm>
            <a:off x="548640" y="272491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Evidence Frame:</a:t>
            </a:r>
            <a:endParaRPr lang="en-US" sz="1200" dirty="0"/>
          </a:p>
        </p:txBody>
      </p:sp>
      <p:sp>
        <p:nvSpPr>
          <p:cNvPr id="10" name="Text 8"/>
          <p:cNvSpPr/>
          <p:nvPr/>
        </p:nvSpPr>
        <p:spPr>
          <a:xfrm>
            <a:off x="548640" y="3108960"/>
            <a:ext cx="10972800" cy="457200"/>
          </a:xfrm>
          <a:prstGeom prst="rect">
            <a:avLst/>
          </a:prstGeom>
          <a:noFill/>
          <a:ln/>
        </p:spPr>
        <p:txBody>
          <a:bodyPr wrap="square" rtlCol="0" anchor="ctr"/>
          <a:lstStyle/>
          <a:p>
            <a:pPr indent="0" marL="0">
              <a:buNone/>
            </a:pPr>
            <a:r>
              <a:rPr lang="en-US" sz="1400" i="1" dirty="0">
                <a:solidFill>
                  <a:srgbClr val="FFB703"/>
                </a:solidFill>
                <a:latin typeface="Calibri" pitchFamily="34" charset="0"/>
                <a:ea typeface="Calibri" pitchFamily="34" charset="-122"/>
                <a:cs typeface="Calibri" pitchFamily="34" charset="-120"/>
              </a:rPr>
              <a:t>"I know ___ because I observed/learned ___. This shows ___."</a:t>
            </a:r>
            <a:endParaRPr lang="en-US" sz="1400" dirty="0"/>
          </a:p>
        </p:txBody>
      </p:sp>
      <p:sp>
        <p:nvSpPr>
          <p:cNvPr id="11" name="Text 9"/>
          <p:cNvSpPr/>
          <p:nvPr/>
        </p:nvSpPr>
        <p:spPr>
          <a:xfrm>
            <a:off x="548640" y="3621024"/>
            <a:ext cx="10972800" cy="1078992"/>
          </a:xfrm>
          <a:prstGeom prst="rect">
            <a:avLst/>
          </a:prstGeom>
          <a:noFill/>
          <a:ln/>
        </p:spPr>
        <p:txBody>
          <a:bodyPr wrap="square" rtlCol="0" anchor="ctr"/>
          <a:lstStyle/>
          <a:p>
            <a:pPr indent="0" marL="0">
              <a:buNone/>
            </a:pPr>
            <a:r>
              <a:rPr lang="en-US" sz="1150" i="1" dirty="0">
                <a:solidFill>
                  <a:srgbClr val="B0C4D8"/>
                </a:solidFill>
                <a:latin typeface="Calibri" pitchFamily="34" charset="0"/>
                <a:ea typeface="Calibri" pitchFamily="34" charset="-122"/>
                <a:cs typeface="Calibri" pitchFamily="34" charset="-120"/>
              </a:rPr>
              <a:t>Example: "I know a physical map shows mountains and rivers because I learned it shows natural landforms. This shows an explorer would use it to navigate safely — but would also need a resource map to find fresh water and timber for a settlement."</a:t>
            </a:r>
            <a:endParaRPr lang="en-US" sz="1150" dirty="0"/>
          </a:p>
        </p:txBody>
      </p:sp>
      <p:sp>
        <p:nvSpPr>
          <p:cNvPr id="12" name="Shape 10"/>
          <p:cNvSpPr/>
          <p:nvPr/>
        </p:nvSpPr>
        <p:spPr>
          <a:xfrm>
            <a:off x="0" y="6629400"/>
            <a:ext cx="12192000" cy="228600"/>
          </a:xfrm>
          <a:prstGeom prst="rect">
            <a:avLst/>
          </a:prstGeom>
          <a:solidFill>
            <a:srgbClr val="162233"/>
          </a:solidFill>
          <a:ln/>
        </p:spPr>
      </p:sp>
      <p:sp>
        <p:nvSpPr>
          <p:cNvPr id="13" name="Text 1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4.02  ·  Create a Map of the New World</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EVIDENCE-BASED REASONING — Science Today</a:t>
            </a:r>
            <a:endParaRPr lang="en-US" sz="1600" dirty="0"/>
          </a:p>
        </p:txBody>
      </p:sp>
      <p:sp>
        <p:nvSpPr>
          <p:cNvPr id="5" name="Shape 3"/>
          <p:cNvSpPr/>
          <p:nvPr/>
        </p:nvSpPr>
        <p:spPr>
          <a:xfrm>
            <a:off x="365760" y="749808"/>
            <a:ext cx="5577840" cy="5029200"/>
          </a:xfrm>
          <a:prstGeom prst="roundRect">
            <a:avLst>
              <a:gd name="adj" fmla="val 1455"/>
            </a:avLst>
          </a:prstGeom>
          <a:solidFill>
            <a:srgbClr val="1E2F45"/>
          </a:solidFill>
          <a:ln w="12700">
            <a:solidFill>
              <a:srgbClr val="4CC9F0"/>
            </a:solidFill>
            <a:prstDash val="solid"/>
          </a:ln>
        </p:spPr>
      </p:sp>
      <p:sp>
        <p:nvSpPr>
          <p:cNvPr id="6" name="Text 4"/>
          <p:cNvSpPr/>
          <p:nvPr/>
        </p:nvSpPr>
        <p:spPr>
          <a:xfrm>
            <a:off x="548640" y="822960"/>
            <a:ext cx="521208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Then: 16th Century Cartographers</a:t>
            </a:r>
            <a:endParaRPr lang="en-US" sz="1200" dirty="0"/>
          </a:p>
        </p:txBody>
      </p:sp>
      <p:sp>
        <p:nvSpPr>
          <p:cNvPr id="7" name="Text 5"/>
          <p:cNvSpPr/>
          <p:nvPr/>
        </p:nvSpPr>
        <p:spPr>
          <a:xfrm>
            <a:off x="548640" y="1234440"/>
            <a:ext cx="5212080" cy="320040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Hand-drew coastlines from ships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Used symbols agreed upon across countries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Documented flora and fauna by drawing</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Maps took months/years to complete</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Errors spread because no way to verify quickly</a:t>
            </a:r>
            <a:endParaRPr lang="en-US" sz="1150" dirty="0"/>
          </a:p>
        </p:txBody>
      </p:sp>
      <p:sp>
        <p:nvSpPr>
          <p:cNvPr id="8" name="Shape 6"/>
          <p:cNvSpPr/>
          <p:nvPr/>
        </p:nvSpPr>
        <p:spPr>
          <a:xfrm>
            <a:off x="548640" y="4498848"/>
            <a:ext cx="5212080" cy="1078992"/>
          </a:xfrm>
          <a:prstGeom prst="roundRect">
            <a:avLst>
              <a:gd name="adj" fmla="val 6780"/>
            </a:avLst>
          </a:prstGeom>
          <a:solidFill>
            <a:srgbClr val="0A1520"/>
          </a:solidFill>
          <a:ln w="19050">
            <a:solidFill>
              <a:srgbClr val="4CC9F0"/>
            </a:solidFill>
            <a:prstDash val="dash"/>
          </a:ln>
        </p:spPr>
      </p:sp>
      <p:sp>
        <p:nvSpPr>
          <p:cNvPr id="9" name="Text 7"/>
          <p:cNvSpPr/>
          <p:nvPr/>
        </p:nvSpPr>
        <p:spPr>
          <a:xfrm>
            <a:off x="640080" y="4608576"/>
            <a:ext cx="5029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640080" y="5047488"/>
            <a:ext cx="50292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1" name="Text 9"/>
          <p:cNvSpPr/>
          <p:nvPr/>
        </p:nvSpPr>
        <p:spPr>
          <a:xfrm>
            <a:off x="658368" y="5340096"/>
            <a:ext cx="4992624" cy="2743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"historical cartographer drawing map 16th century"</a:t>
            </a:r>
            <a:endParaRPr lang="en-US" sz="950" dirty="0"/>
          </a:p>
        </p:txBody>
      </p:sp>
      <p:sp>
        <p:nvSpPr>
          <p:cNvPr id="12" name="Shape 10"/>
          <p:cNvSpPr/>
          <p:nvPr/>
        </p:nvSpPr>
        <p:spPr>
          <a:xfrm>
            <a:off x="6172200" y="749808"/>
            <a:ext cx="5577840" cy="5029200"/>
          </a:xfrm>
          <a:prstGeom prst="roundRect">
            <a:avLst>
              <a:gd name="adj" fmla="val 1455"/>
            </a:avLst>
          </a:prstGeom>
          <a:solidFill>
            <a:srgbClr val="1E2F45"/>
          </a:solidFill>
          <a:ln w="12700">
            <a:solidFill>
              <a:srgbClr val="2DC653"/>
            </a:solidFill>
            <a:prstDash val="solid"/>
          </a:ln>
        </p:spPr>
      </p:sp>
      <p:sp>
        <p:nvSpPr>
          <p:cNvPr id="13" name="Text 11"/>
          <p:cNvSpPr/>
          <p:nvPr/>
        </p:nvSpPr>
        <p:spPr>
          <a:xfrm>
            <a:off x="6355080" y="822960"/>
            <a:ext cx="52120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Now: Satellite Cartography</a:t>
            </a:r>
            <a:endParaRPr lang="en-US" sz="1200" dirty="0"/>
          </a:p>
        </p:txBody>
      </p:sp>
      <p:sp>
        <p:nvSpPr>
          <p:cNvPr id="14" name="Text 12"/>
          <p:cNvSpPr/>
          <p:nvPr/>
        </p:nvSpPr>
        <p:spPr>
          <a:xfrm>
            <a:off x="6355080" y="1234440"/>
            <a:ext cx="5212080" cy="320040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Satellites take photos from hundreds of miles up</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Scientists track Amazon deforestation in real time</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Count trees, track animal migrations from space</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Same goal: understand where resources and life are!</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Can measure ocean temperature from orbit</a:t>
            </a:r>
            <a:endParaRPr lang="en-US" sz="1150" dirty="0"/>
          </a:p>
        </p:txBody>
      </p:sp>
      <p:sp>
        <p:nvSpPr>
          <p:cNvPr id="15" name="Shape 13"/>
          <p:cNvSpPr/>
          <p:nvPr/>
        </p:nvSpPr>
        <p:spPr>
          <a:xfrm>
            <a:off x="6355080" y="4498848"/>
            <a:ext cx="5212080" cy="1078992"/>
          </a:xfrm>
          <a:prstGeom prst="roundRect">
            <a:avLst>
              <a:gd name="adj" fmla="val 6780"/>
            </a:avLst>
          </a:prstGeom>
          <a:solidFill>
            <a:srgbClr val="0A1520"/>
          </a:solidFill>
          <a:ln w="19050">
            <a:solidFill>
              <a:srgbClr val="4CC9F0"/>
            </a:solidFill>
            <a:prstDash val="dash"/>
          </a:ln>
        </p:spPr>
      </p:sp>
      <p:sp>
        <p:nvSpPr>
          <p:cNvPr id="16" name="Text 14"/>
          <p:cNvSpPr/>
          <p:nvPr/>
        </p:nvSpPr>
        <p:spPr>
          <a:xfrm>
            <a:off x="6446520" y="4608576"/>
            <a:ext cx="5029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6446520" y="5047488"/>
            <a:ext cx="50292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8" name="Text 16"/>
          <p:cNvSpPr/>
          <p:nvPr/>
        </p:nvSpPr>
        <p:spPr>
          <a:xfrm>
            <a:off x="6464808" y="5340096"/>
            <a:ext cx="4992624" cy="2743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"satellite image Earth NASA ecosystem mapping from space"</a:t>
            </a:r>
            <a:endParaRPr lang="en-US" sz="95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4.02  ·  Create a Map of the New World</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4736A"/>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4736A"/>
                </a:solidFill>
                <a:latin typeface="Calibri" pitchFamily="34" charset="0"/>
                <a:ea typeface="Calibri" pitchFamily="34" charset="-122"/>
                <a:cs typeface="Calibri" pitchFamily="34" charset="-120"/>
              </a:rPr>
              <a:t>🤯  ELABORATE — Mind-Blowing + Go Deeper</a:t>
            </a:r>
            <a:endParaRPr lang="en-US" sz="1600" dirty="0"/>
          </a:p>
        </p:txBody>
      </p:sp>
      <p:sp>
        <p:nvSpPr>
          <p:cNvPr id="5" name="Shape 3"/>
          <p:cNvSpPr/>
          <p:nvPr/>
        </p:nvSpPr>
        <p:spPr>
          <a:xfrm>
            <a:off x="365760" y="749808"/>
            <a:ext cx="11430000" cy="1965960"/>
          </a:xfrm>
          <a:prstGeom prst="roundRect">
            <a:avLst>
              <a:gd name="adj" fmla="val 3721"/>
            </a:avLst>
          </a:prstGeom>
          <a:solidFill>
            <a:srgbClr val="1E2F45"/>
          </a:solidFill>
          <a:ln w="12700">
            <a:solidFill>
              <a:srgbClr val="F4736A"/>
            </a:solidFill>
            <a:prstDash val="solid"/>
          </a:ln>
        </p:spPr>
      </p:sp>
      <p:sp>
        <p:nvSpPr>
          <p:cNvPr id="6" name="Text 4"/>
          <p:cNvSpPr/>
          <p:nvPr/>
        </p:nvSpPr>
        <p:spPr>
          <a:xfrm>
            <a:off x="548640" y="822960"/>
            <a:ext cx="10972800" cy="384048"/>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Mind-Blowing: The Mercator Projection</a:t>
            </a:r>
            <a:endParaRPr lang="en-US" sz="1300" dirty="0"/>
          </a:p>
        </p:txBody>
      </p:sp>
      <p:sp>
        <p:nvSpPr>
          <p:cNvPr id="7" name="Text 5"/>
          <p:cNvSpPr/>
          <p:nvPr/>
        </p:nvSpPr>
        <p:spPr>
          <a:xfrm>
            <a:off x="548640" y="1261872"/>
            <a:ext cx="10972800" cy="1261872"/>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In 1569, Gerardus Mercator invented a new way to draw curved Earth onto flat paper. His method made compass directions into straight lines — so useful for sailors that it's STILL used in Google Maps today! For thousands of years before that, maps left huge blank areas labeled 'Terra Incognita' — Unknown Land.</a:t>
            </a:r>
            <a:endParaRPr lang="en-US" sz="1200" dirty="0"/>
          </a:p>
        </p:txBody>
      </p:sp>
      <p:sp>
        <p:nvSpPr>
          <p:cNvPr id="8" name="Shape 6"/>
          <p:cNvSpPr/>
          <p:nvPr/>
        </p:nvSpPr>
        <p:spPr>
          <a:xfrm>
            <a:off x="365760" y="2880360"/>
            <a:ext cx="11430000" cy="2697480"/>
          </a:xfrm>
          <a:prstGeom prst="roundRect">
            <a:avLst>
              <a:gd name="adj" fmla="val 2712"/>
            </a:avLst>
          </a:prstGeom>
          <a:solidFill>
            <a:srgbClr val="1A1A3A"/>
          </a:solidFill>
          <a:ln w="12700">
            <a:solidFill>
              <a:srgbClr val="0096C7"/>
            </a:solidFill>
            <a:prstDash val="solid"/>
          </a:ln>
        </p:spPr>
      </p:sp>
      <p:sp>
        <p:nvSpPr>
          <p:cNvPr id="9" name="Text 7"/>
          <p:cNvSpPr/>
          <p:nvPr/>
        </p:nvSpPr>
        <p:spPr>
          <a:xfrm>
            <a:off x="548640" y="2953512"/>
            <a:ext cx="10972800"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Go Deeper — Amazon Biodiversity</a:t>
            </a:r>
            <a:endParaRPr lang="en-US" sz="1300" dirty="0"/>
          </a:p>
        </p:txBody>
      </p:sp>
      <p:sp>
        <p:nvSpPr>
          <p:cNvPr id="10" name="Text 8"/>
          <p:cNvSpPr/>
          <p:nvPr/>
        </p:nvSpPr>
        <p:spPr>
          <a:xfrm>
            <a:off x="548640" y="3401568"/>
            <a:ext cx="10972800" cy="201168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When Spanish explorers first reached the Amazon Rainforest, they had stumbled into one of the most biodiverse places on Earth. Scientists today have found more species of trees in a single square mile of the Amazon than exist in all of Europe combined!</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Early explorer maps showed only the edges — the true biodiversity took centuries more to understand. Today, satellite maps track how fast the Amazon is shrinking due to deforestation — and scientists can count trees from orbit!</a:t>
            </a:r>
            <a:endParaRPr lang="en-US" sz="115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4.02  ·  Create a Map of the New World</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SELF-CHECK — Let's See What You Know!</a:t>
            </a:r>
            <a:endParaRPr lang="en-US" sz="1600" dirty="0"/>
          </a:p>
        </p:txBody>
      </p:sp>
      <p:sp>
        <p:nvSpPr>
          <p:cNvPr id="5" name="Shape 3"/>
          <p:cNvSpPr/>
          <p:nvPr/>
        </p:nvSpPr>
        <p:spPr>
          <a:xfrm>
            <a:off x="365760" y="749808"/>
            <a:ext cx="11430000" cy="1783080"/>
          </a:xfrm>
          <a:prstGeom prst="roundRect">
            <a:avLst>
              <a:gd name="adj" fmla="val 4103"/>
            </a:avLst>
          </a:prstGeom>
          <a:solidFill>
            <a:srgbClr val="1E2F45"/>
          </a:solidFill>
          <a:ln w="12700">
            <a:solidFill>
              <a:srgbClr val="243A52"/>
            </a:solidFill>
            <a:prstDash val="solid"/>
          </a:ln>
        </p:spPr>
      </p:sp>
      <p:sp>
        <p:nvSpPr>
          <p:cNvPr id="6" name="Text 4"/>
          <p:cNvSpPr/>
          <p:nvPr/>
        </p:nvSpPr>
        <p:spPr>
          <a:xfrm>
            <a:off x="548640" y="822960"/>
            <a:ext cx="10972800" cy="347472"/>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1.  What is the word for the variety of different kinds of living things found in a particular place?</a:t>
            </a:r>
            <a:endParaRPr lang="en-US" sz="1250" dirty="0"/>
          </a:p>
        </p:txBody>
      </p:sp>
      <p:sp>
        <p:nvSpPr>
          <p:cNvPr id="7" name="Text 5"/>
          <p:cNvSpPr/>
          <p:nvPr/>
        </p:nvSpPr>
        <p:spPr>
          <a:xfrm>
            <a:off x="548640" y="1207008"/>
            <a:ext cx="10972800" cy="4389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 Natural Resources     B — Biodiversity ✓     C — Cartography</a:t>
            </a:r>
            <a:endParaRPr lang="en-US" sz="1100" dirty="0"/>
          </a:p>
        </p:txBody>
      </p:sp>
      <p:sp>
        <p:nvSpPr>
          <p:cNvPr id="8" name="Text 6"/>
          <p:cNvSpPr/>
          <p:nvPr/>
        </p:nvSpPr>
        <p:spPr>
          <a:xfrm>
            <a:off x="548640" y="1709928"/>
            <a:ext cx="10972800" cy="658368"/>
          </a:xfrm>
          <a:prstGeom prst="rect">
            <a:avLst/>
          </a:prstGeom>
          <a:noFill/>
          <a:ln/>
        </p:spPr>
        <p:txBody>
          <a:bodyPr wrap="square" rtlCol="0" anchor="ctr"/>
          <a:lstStyle/>
          <a:p>
            <a:pPr indent="0" marL="0">
              <a:buNone/>
            </a:pPr>
            <a:r>
              <a:rPr lang="en-US" sz="1050" i="1" dirty="0">
                <a:solidFill>
                  <a:srgbClr val="2DC653"/>
                </a:solidFill>
                <a:latin typeface="Calibri" pitchFamily="34" charset="0"/>
                <a:ea typeface="Calibri" pitchFamily="34" charset="-122"/>
                <a:cs typeface="Calibri" pitchFamily="34" charset="-120"/>
              </a:rPr>
              <a:t>💡 B is correct! Biodiversity = 'bio' (life) + 'diversity' (variety). The Amazon is one of the most biodiverse places on Earth!</a:t>
            </a:r>
            <a:endParaRPr lang="en-US" sz="1050" dirty="0"/>
          </a:p>
        </p:txBody>
      </p:sp>
      <p:sp>
        <p:nvSpPr>
          <p:cNvPr id="9" name="Shape 7"/>
          <p:cNvSpPr/>
          <p:nvPr/>
        </p:nvSpPr>
        <p:spPr>
          <a:xfrm>
            <a:off x="365760" y="2670048"/>
            <a:ext cx="11430000" cy="1783080"/>
          </a:xfrm>
          <a:prstGeom prst="roundRect">
            <a:avLst>
              <a:gd name="adj" fmla="val 4103"/>
            </a:avLst>
          </a:prstGeom>
          <a:solidFill>
            <a:srgbClr val="1E2F45"/>
          </a:solidFill>
          <a:ln w="12700">
            <a:solidFill>
              <a:srgbClr val="243A52"/>
            </a:solidFill>
            <a:prstDash val="solid"/>
          </a:ln>
        </p:spPr>
      </p:sp>
      <p:sp>
        <p:nvSpPr>
          <p:cNvPr id="10" name="Text 8"/>
          <p:cNvSpPr/>
          <p:nvPr/>
        </p:nvSpPr>
        <p:spPr>
          <a:xfrm>
            <a:off x="548640" y="2743200"/>
            <a:ext cx="10972800" cy="347472"/>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2.  Which part of a map tells you what each symbol and color means?</a:t>
            </a:r>
            <a:endParaRPr lang="en-US" sz="1250" dirty="0"/>
          </a:p>
        </p:txBody>
      </p:sp>
      <p:sp>
        <p:nvSpPr>
          <p:cNvPr id="11" name="Text 9"/>
          <p:cNvSpPr/>
          <p:nvPr/>
        </p:nvSpPr>
        <p:spPr>
          <a:xfrm>
            <a:off x="548640" y="3127248"/>
            <a:ext cx="10972800" cy="4389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 The Compass Rose     B — The Map Title     C — The Map Key / Legend ✓</a:t>
            </a:r>
            <a:endParaRPr lang="en-US" sz="1100" dirty="0"/>
          </a:p>
        </p:txBody>
      </p:sp>
      <p:sp>
        <p:nvSpPr>
          <p:cNvPr id="12" name="Text 10"/>
          <p:cNvSpPr/>
          <p:nvPr/>
        </p:nvSpPr>
        <p:spPr>
          <a:xfrm>
            <a:off x="548640" y="3630168"/>
            <a:ext cx="10972800" cy="658368"/>
          </a:xfrm>
          <a:prstGeom prst="rect">
            <a:avLst/>
          </a:prstGeom>
          <a:noFill/>
          <a:ln/>
        </p:spPr>
        <p:txBody>
          <a:bodyPr wrap="square" rtlCol="0" anchor="ctr"/>
          <a:lstStyle/>
          <a:p>
            <a:pPr indent="0" marL="0">
              <a:buNone/>
            </a:pPr>
            <a:r>
              <a:rPr lang="en-US" sz="1050" i="1" dirty="0">
                <a:solidFill>
                  <a:srgbClr val="2DC653"/>
                </a:solidFill>
                <a:latin typeface="Calibri" pitchFamily="34" charset="0"/>
                <a:ea typeface="Calibri" pitchFamily="34" charset="-122"/>
                <a:cs typeface="Calibri" pitchFamily="34" charset="-120"/>
              </a:rPr>
              <a:t>💡 C is correct! The legend is like a secret codebook — it unlocks the meaning of every symbol on the map.</a:t>
            </a:r>
            <a:endParaRPr lang="en-US" sz="1050" dirty="0"/>
          </a:p>
        </p:txBody>
      </p:sp>
      <p:sp>
        <p:nvSpPr>
          <p:cNvPr id="13" name="Shape 11"/>
          <p:cNvSpPr/>
          <p:nvPr/>
        </p:nvSpPr>
        <p:spPr>
          <a:xfrm>
            <a:off x="365760" y="4590288"/>
            <a:ext cx="11430000" cy="1783080"/>
          </a:xfrm>
          <a:prstGeom prst="roundRect">
            <a:avLst>
              <a:gd name="adj" fmla="val 4103"/>
            </a:avLst>
          </a:prstGeom>
          <a:solidFill>
            <a:srgbClr val="1E2F45"/>
          </a:solidFill>
          <a:ln w="12700">
            <a:solidFill>
              <a:srgbClr val="243A52"/>
            </a:solidFill>
            <a:prstDash val="solid"/>
          </a:ln>
        </p:spPr>
      </p:sp>
      <p:sp>
        <p:nvSpPr>
          <p:cNvPr id="14" name="Text 12"/>
          <p:cNvSpPr/>
          <p:nvPr/>
        </p:nvSpPr>
        <p:spPr>
          <a:xfrm>
            <a:off x="548640" y="4663440"/>
            <a:ext cx="10972800" cy="347472"/>
          </a:xfrm>
          <a:prstGeom prst="rect">
            <a:avLst/>
          </a:prstGeom>
          <a:noFill/>
          <a:ln/>
        </p:spPr>
        <p:txBody>
          <a:bodyPr wrap="square" rtlCol="0" anchor="ctr"/>
          <a:lstStyle/>
          <a:p>
            <a:pPr indent="0" marL="0">
              <a:buNone/>
            </a:pPr>
            <a:r>
              <a:rPr lang="en-US" sz="1250" b="1" dirty="0">
                <a:solidFill>
                  <a:srgbClr val="4CC9F0"/>
                </a:solidFill>
                <a:latin typeface="Calibri" pitchFamily="34" charset="0"/>
                <a:ea typeface="Calibri" pitchFamily="34" charset="-122"/>
                <a:cs typeface="Calibri" pitchFamily="34" charset="-120"/>
              </a:rPr>
              <a:t>3.  How did maps help early explorers decide where to build settlements?</a:t>
            </a:r>
            <a:endParaRPr lang="en-US" sz="1250" dirty="0"/>
          </a:p>
        </p:txBody>
      </p:sp>
      <p:sp>
        <p:nvSpPr>
          <p:cNvPr id="15" name="Text 13"/>
          <p:cNvSpPr/>
          <p:nvPr/>
        </p:nvSpPr>
        <p:spPr>
          <a:xfrm>
            <a:off x="548640" y="5047488"/>
            <a:ext cx="10972800" cy="4389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 Maps showed regions rich in natural resources like fresh water, forests, and fertile soil ✓     B — Maps predicted weather for each season     C — Maps counted how many animals lived in each area</a:t>
            </a:r>
            <a:endParaRPr lang="en-US" sz="1100" dirty="0"/>
          </a:p>
        </p:txBody>
      </p:sp>
      <p:sp>
        <p:nvSpPr>
          <p:cNvPr id="16" name="Text 14"/>
          <p:cNvSpPr/>
          <p:nvPr/>
        </p:nvSpPr>
        <p:spPr>
          <a:xfrm>
            <a:off x="548640" y="5550408"/>
            <a:ext cx="10972800" cy="658368"/>
          </a:xfrm>
          <a:prstGeom prst="rect">
            <a:avLst/>
          </a:prstGeom>
          <a:noFill/>
          <a:ln/>
        </p:spPr>
        <p:txBody>
          <a:bodyPr wrap="square" rtlCol="0" anchor="ctr"/>
          <a:lstStyle/>
          <a:p>
            <a:pPr indent="0" marL="0">
              <a:buNone/>
            </a:pPr>
            <a:r>
              <a:rPr lang="en-US" sz="1050" i="1" dirty="0">
                <a:solidFill>
                  <a:srgbClr val="2DC653"/>
                </a:solidFill>
                <a:latin typeface="Calibri" pitchFamily="34" charset="0"/>
                <a:ea typeface="Calibri" pitchFamily="34" charset="-122"/>
                <a:cs typeface="Calibri" pitchFamily="34" charset="-120"/>
              </a:rPr>
              <a:t>💡 A is correct! Maps helped explorers find water, timber, and farmland — everything needed to survive and build a new community.</a:t>
            </a:r>
            <a:endParaRPr lang="en-US" sz="10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4.02  ·  Create a Map of the New World</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ASSIGNMENT — Create Your Own Explorer Map!</a:t>
            </a:r>
            <a:endParaRPr lang="en-US" sz="1600" dirty="0"/>
          </a:p>
        </p:txBody>
      </p:sp>
      <p:sp>
        <p:nvSpPr>
          <p:cNvPr id="5" name="Shape 3"/>
          <p:cNvSpPr/>
          <p:nvPr/>
        </p:nvSpPr>
        <p:spPr>
          <a:xfrm>
            <a:off x="365760" y="749808"/>
            <a:ext cx="3840480" cy="5074920"/>
          </a:xfrm>
          <a:prstGeom prst="roundRect">
            <a:avLst>
              <a:gd name="adj" fmla="val 1905"/>
            </a:avLst>
          </a:prstGeom>
          <a:solidFill>
            <a:srgbClr val="1E2F45"/>
          </a:solidFill>
          <a:ln w="12700">
            <a:solidFill>
              <a:srgbClr val="4CC9F0"/>
            </a:solidFill>
            <a:prstDash val="solid"/>
          </a:ln>
        </p:spPr>
      </p:sp>
      <p:sp>
        <p:nvSpPr>
          <p:cNvPr id="6" name="Text 4"/>
          <p:cNvSpPr/>
          <p:nvPr/>
        </p:nvSpPr>
        <p:spPr>
          <a:xfrm>
            <a:off x="502920" y="822960"/>
            <a:ext cx="3657600" cy="347472"/>
          </a:xfrm>
          <a:prstGeom prst="rect">
            <a:avLst/>
          </a:prstGeom>
          <a:noFill/>
          <a:ln/>
        </p:spPr>
        <p:txBody>
          <a:bodyPr wrap="square" rtlCol="0" anchor="ctr"/>
          <a:lstStyle/>
          <a:p>
            <a:pPr indent="0" marL="0">
              <a:buNone/>
            </a:pPr>
            <a:r>
              <a:rPr lang="en-US" sz="1150" b="1" dirty="0">
                <a:solidFill>
                  <a:srgbClr val="4CC9F0"/>
                </a:solidFill>
                <a:latin typeface="Calibri" pitchFamily="34" charset="0"/>
                <a:ea typeface="Calibri" pitchFamily="34" charset="-122"/>
                <a:cs typeface="Calibri" pitchFamily="34" charset="-120"/>
              </a:rPr>
              <a:t>Part A — Label Map Parts</a:t>
            </a:r>
            <a:endParaRPr lang="en-US" sz="1150" dirty="0"/>
          </a:p>
        </p:txBody>
      </p:sp>
      <p:sp>
        <p:nvSpPr>
          <p:cNvPr id="7" name="Text 5"/>
          <p:cNvSpPr/>
          <p:nvPr/>
        </p:nvSpPr>
        <p:spPr>
          <a:xfrm>
            <a:off x="502920" y="1207008"/>
            <a:ext cx="3657600" cy="4462272"/>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Word bank: compass rose · map key (legend) · biodiversity · flora</a:t>
            </a:r>
            <a:endParaRPr lang="en-US" sz="1050" dirty="0"/>
          </a:p>
          <a:p>
            <a:pPr indent="0" marL="0">
              <a:buNone/>
            </a:pP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1. Part that shows N/S/E/W: ___</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2. Part that explains symbols/colors: ___</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3. Variety of living things in a place: ___</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4. All the plants in a specific area: ___</a:t>
            </a:r>
            <a:endParaRPr lang="en-US" sz="1050" dirty="0"/>
          </a:p>
          <a:p>
            <a:pPr indent="0" marL="0">
              <a:buNone/>
            </a:pP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Practiced: Slides 6, 9</a:t>
            </a:r>
            <a:endParaRPr lang="en-US" sz="1050" dirty="0"/>
          </a:p>
        </p:txBody>
      </p:sp>
      <p:sp>
        <p:nvSpPr>
          <p:cNvPr id="8" name="Shape 6"/>
          <p:cNvSpPr/>
          <p:nvPr/>
        </p:nvSpPr>
        <p:spPr>
          <a:xfrm>
            <a:off x="4407408" y="749808"/>
            <a:ext cx="3840480" cy="5074920"/>
          </a:xfrm>
          <a:prstGeom prst="roundRect">
            <a:avLst>
              <a:gd name="adj" fmla="val 1905"/>
            </a:avLst>
          </a:prstGeom>
          <a:solidFill>
            <a:srgbClr val="1E2F45"/>
          </a:solidFill>
          <a:ln w="12700">
            <a:solidFill>
              <a:srgbClr val="2DC653"/>
            </a:solidFill>
            <a:prstDash val="solid"/>
          </a:ln>
        </p:spPr>
      </p:sp>
      <p:sp>
        <p:nvSpPr>
          <p:cNvPr id="9" name="Text 7"/>
          <p:cNvSpPr/>
          <p:nvPr/>
        </p:nvSpPr>
        <p:spPr>
          <a:xfrm>
            <a:off x="4553712" y="822960"/>
            <a:ext cx="3657600" cy="347472"/>
          </a:xfrm>
          <a:prstGeom prst="rect">
            <a:avLst/>
          </a:prstGeom>
          <a:noFill/>
          <a:ln/>
        </p:spPr>
        <p:txBody>
          <a:bodyPr wrap="square" rtlCol="0" anchor="ctr"/>
          <a:lstStyle/>
          <a:p>
            <a:pPr indent="0" marL="0">
              <a:buNone/>
            </a:pPr>
            <a:r>
              <a:rPr lang="en-US" sz="1150" b="1" dirty="0">
                <a:solidFill>
                  <a:srgbClr val="2DC653"/>
                </a:solidFill>
                <a:latin typeface="Calibri" pitchFamily="34" charset="0"/>
                <a:ea typeface="Calibri" pitchFamily="34" charset="-122"/>
                <a:cs typeface="Calibri" pitchFamily="34" charset="-120"/>
              </a:rPr>
              <a:t>Part B — Short Answer</a:t>
            </a:r>
            <a:endParaRPr lang="en-US" sz="1150" dirty="0"/>
          </a:p>
        </p:txBody>
      </p:sp>
      <p:sp>
        <p:nvSpPr>
          <p:cNvPr id="10" name="Text 8"/>
          <p:cNvSpPr/>
          <p:nvPr/>
        </p:nvSpPr>
        <p:spPr>
          <a:xfrm>
            <a:off x="4553712" y="1207008"/>
            <a:ext cx="3657600" cy="4462272"/>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Complete sentences with vocab words!</a:t>
            </a:r>
            <a:endParaRPr lang="en-US" sz="1050" dirty="0"/>
          </a:p>
          <a:p>
            <a:pPr indent="0" marL="0">
              <a:buNone/>
            </a:pP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1. What is the difference between flora and fauna? Give one example of each an explorer might find.</a:t>
            </a:r>
            <a:endParaRPr lang="en-US" sz="1050" dirty="0"/>
          </a:p>
          <a:p>
            <a:pPr indent="0" marL="0">
              <a:buNone/>
            </a:pP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2. How did maps help early explorers decide where to build settlements? Use natural resources and ecosystem.</a:t>
            </a:r>
            <a:endParaRPr lang="en-US" sz="1050" dirty="0"/>
          </a:p>
          <a:p>
            <a:pPr indent="0" marL="0">
              <a:buNone/>
            </a:pP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Practiced: Slides 4, 5, 7, 10</a:t>
            </a:r>
            <a:endParaRPr lang="en-US" sz="1050" dirty="0"/>
          </a:p>
        </p:txBody>
      </p:sp>
      <p:sp>
        <p:nvSpPr>
          <p:cNvPr id="11" name="Shape 9"/>
          <p:cNvSpPr/>
          <p:nvPr/>
        </p:nvSpPr>
        <p:spPr>
          <a:xfrm>
            <a:off x="8430768" y="749808"/>
            <a:ext cx="3429000" cy="5074920"/>
          </a:xfrm>
          <a:prstGeom prst="roundRect">
            <a:avLst>
              <a:gd name="adj" fmla="val 2133"/>
            </a:avLst>
          </a:prstGeom>
          <a:solidFill>
            <a:srgbClr val="1E2F45"/>
          </a:solidFill>
          <a:ln w="12700">
            <a:solidFill>
              <a:srgbClr val="FFB703"/>
            </a:solidFill>
            <a:prstDash val="solid"/>
          </a:ln>
        </p:spPr>
      </p:sp>
      <p:sp>
        <p:nvSpPr>
          <p:cNvPr id="12" name="Text 10"/>
          <p:cNvSpPr/>
          <p:nvPr/>
        </p:nvSpPr>
        <p:spPr>
          <a:xfrm>
            <a:off x="8577072" y="822960"/>
            <a:ext cx="3246120" cy="347472"/>
          </a:xfrm>
          <a:prstGeom prst="rect">
            <a:avLst/>
          </a:prstGeom>
          <a:noFill/>
          <a:ln/>
        </p:spPr>
        <p:txBody>
          <a:bodyPr wrap="square" rtlCol="0" anchor="ctr"/>
          <a:lstStyle/>
          <a:p>
            <a:pPr indent="0" marL="0">
              <a:buNone/>
            </a:pPr>
            <a:r>
              <a:rPr lang="en-US" sz="1150" b="1" dirty="0">
                <a:solidFill>
                  <a:srgbClr val="FFB703"/>
                </a:solidFill>
                <a:latin typeface="Calibri" pitchFamily="34" charset="0"/>
                <a:ea typeface="Calibri" pitchFamily="34" charset="-122"/>
                <a:cs typeface="Calibri" pitchFamily="34" charset="-120"/>
              </a:rPr>
              <a:t>Part C — Create Your Map!</a:t>
            </a:r>
            <a:endParaRPr lang="en-US" sz="1150" dirty="0"/>
          </a:p>
        </p:txBody>
      </p:sp>
      <p:sp>
        <p:nvSpPr>
          <p:cNvPr id="13" name="Text 11"/>
          <p:cNvSpPr/>
          <p:nvPr/>
        </p:nvSpPr>
        <p:spPr>
          <a:xfrm>
            <a:off x="8577072" y="1207008"/>
            <a:ext cx="3246120" cy="4462272"/>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Draw a map of an imaginary NEW WORLD region that includes:</a:t>
            </a:r>
            <a:endParaRPr lang="en-US" sz="1050" dirty="0"/>
          </a:p>
          <a:p>
            <a:pPr indent="0" marL="0">
              <a:buNone/>
            </a:pP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Title</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Compass rose</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Legend with symbols</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At least 3 natural resources</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2 different ecosystems (e.g., forest + river)</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Labels for flora and fauna</a:t>
            </a:r>
            <a:endParaRPr lang="en-US" sz="1050" dirty="0"/>
          </a:p>
          <a:p>
            <a:pPr indent="0" marL="0">
              <a:buNone/>
            </a:pP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Practiced: Slides 6, 7, 8, 9</a:t>
            </a:r>
            <a:endParaRPr lang="en-US" sz="105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4.02  ·  Create a Map of the New World</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did map-making help early explorers understand the location and abundance of natural resources and ecosystems?"</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 Map parts labeled (word bank completed)</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 Short answer questions (complete sentences, vocab used)</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 Original explorer map with all required elements</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Warm-up sketch with notes on how it changed</a:t>
            </a:r>
            <a:endParaRPr lang="en-US" sz="1100" dirty="0"/>
          </a:p>
        </p:txBody>
      </p:sp>
      <p:sp>
        <p:nvSpPr>
          <p:cNvPr id="14" name="Shape 12"/>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5" name="Text 13"/>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6" name="Text 14"/>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5.01: Landscapes Over Time</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How can rock layers and fossils tell us the history of a landscape? We'll discover what clues are hidden in canyon walls!</a:t>
            </a:r>
            <a:endParaRPr lang="en-US" sz="1200" dirty="0"/>
          </a:p>
        </p:txBody>
      </p:sp>
      <p:sp>
        <p:nvSpPr>
          <p:cNvPr id="17" name="Shape 15"/>
          <p:cNvSpPr/>
          <p:nvPr/>
        </p:nvSpPr>
        <p:spPr>
          <a:xfrm>
            <a:off x="0" y="5047488"/>
            <a:ext cx="12192000" cy="45720"/>
          </a:xfrm>
          <a:prstGeom prst="rect">
            <a:avLst/>
          </a:prstGeom>
          <a:solidFill>
            <a:srgbClr val="4CC9F0"/>
          </a:solidFill>
          <a:ln/>
        </p:spPr>
      </p:sp>
      <p:sp>
        <p:nvSpPr>
          <p:cNvPr id="18" name="Text 16"/>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4.02  ·  Create a Map of the New World</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2026-07-13T19:58:22Z</dcterms:created>
  <dcterms:modified xsi:type="dcterms:W3CDTF">2026-07-13T19:58:22Z</dcterms:modified>
</cp:coreProperties>
</file>