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This is Week 9, Q2. Students have been building CER habits since Week 1. Today we go deep on energy transfer. Full CER practice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draw and trace backward. Goal: surface the idea that energy ultimately traces to the Sun. Accept all guesses here — no wrong answers yet.
After 3 minutes: 'Who got back to the Sun? Who got to a farm? Who is stuck?' Chart a few arrows on your whiteboard.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their prediction using the sentence starter. This is the evidence-based prediction routine from Q2 norms.
After sharing 2-3 out loud: 'We'll find out if you're right as we trace the energy path together.'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 minutes to read cards silently, then discuss.
Key distinction to reinforce: Producers MAKE energy. Consumers BORROW it.
Ask: 'Which card surprised you most?'
After discussion: 'Does anyone have different evidence for what makes something a producer?'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'Which role do YOU fit into? What is your evidence? Hint: do you make your own food or eat other living things?'
Expected: Consumer — we eat other living things for energy.
Ask: 'Does anyone have different evidence?' Follow up: 'Could a human ever be a producer?'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2-3 students for predictions. The goal is to surface the 'chain' idea before seeing the diagram.
After answers: 'What evidence would change your mind about where the energy started?'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showing: 'What's the ONLY input from outside the plant that is energy? (Sunlight)' Roots and air bring materials, but only sunlight brings the energy.
Investigation design thinking: 'How could we test whether a plant NEEDS sunlight to survive? What would change? What would stay the same?'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trace the arrow path with fingers. Key Q: 'What does each arrow represent?' (Energy transfer when something gets eaten)
After discussion: 'Does anyone have DIFFERENT evidence?' 'What evidence would change your mind?'
Variables: 'What is the same at every step? What changes?' (Energy amount decreases ~90% at each step)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language: Independent variable = position in food chain. Dependent variable = energy available. Controlled = starting amount.
Key question: 'How many trials would we need to be sure this is true?' (Scientists measure many food chains)
After first answer: 'Does anyone have different evidence about what happens to the missing energy?'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while students draw. Look for: arrows going in correct direction (from food TO eater), correct labels.
Think Like a Scientist: 'Use your finger to trace: The energy started in the ___, then went into the ___, then ___, then ___, then ___.' Say it out loud.
After sharing: 'What would happen if we removed one link?' (Preview for 9.02)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IMPORTANT: Students draw their model BEFORE you reveal the diagram on the right.
Reveal and have students compare: 'What did you get right? What needs to be revised?'
This is the 'Revisable Models' Q2 habit — make the update explicit: 'Add any corrections in a different color.'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number land! Ask: 'Nine feet tall from just air and water? What's the ONE thing that makes that possible?' (Sunlight / energy)
Connect to photosynthesis: the plant is literally building its own body from air molecules using light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MODEL FIRST: Walk through all 3 panels aloud. Then students write independently.
Claim: 'Yes, the hawk's energy does trace back to the Sun because it ate an animal that ate an animal that ate a plant.'
Evidence: The food chain links Sun → sawgrass → grasshopper → frog → hawk.
Reasoning: Each time something is eaten, energy transfers. So even though the hawk never touched a plant, it's using energy that originally came from photosynthesis.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independently for 4 minutes, then share with a partner.
After sharing: 'After the first answer, ask: Does anyone have DIFFERENT evidence? What evidence would change your mind?'
Look for: students citing photosynthesis and sunlight as the energy source, not just soil nutrients.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context — same concept. Ask: 'Is the energy path in the ocean the same or different from the Everglades?' (Same concept, different organisms)
Go Deeper: 'What might happen to ocean animals if phytoplankton disappeared?' (Connects to next lessons on ecosystem balance)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each answer before revealing — cold call 1-2 students per question.
Q1 Answer: A — The Sun. Q2 Answer: B — eats other living things. Q3 Answer: C — Producer.
Ask after Q3: 'What EVIDENCE tells you sawgrass is the producer and not the grasshopper?'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 quickly. Students submit via Canvas: typed, photo of notebook, or video explanation.
Remind: 'You practiced ALL of this today — trust your notebook sketches and your CER from Slide 14.'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question: 'Name one living thing from your lunch today. Trace its energy back to the Sun in one sentence.' Send students off!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'Which role do YOU fit into? What is your evidence?' (Consumer)'After the first answer: Does anyone have different evidence? Could a human ever be a producer?'
Key Q: 'What happens if the decomposer role disappeared? What would pile up?'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decomposers aren't at the END of the chain — they're the connection back to the beginning.
Ask: 'What would happen if all decomposers disappeared? What would pile up?'  (Dead material, nutrients locked away, plants couldn't grow)
Investigation: 'How could we TEST the importance of decomposers? What would change if we removed them?'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Pathways: From Sun to Life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Week 9 · Ecosystems &amp; Energy · Life Science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SC.4.L.17.3 — Trace how energy flows through a Florida food chain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Trace how energy from the Sun moves into plants and then into animals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why animals — including humans — cannot make their own food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 a simple model of a Florida food chain that shows the path of energy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📓 Science notebook   ✏️ Colored pencils   🔆 Sunny window (or memory!)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Warm-Up: Where Does Lunch Come From?  (5 min)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science notebook, draw what you ate for breakfast or lunch.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11155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food item. Draw an arrow back to where it came from before your plate. Keep adding arrows backward as far as you can.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1152144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0428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06624"/>
            <a:ext cx="11292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"Follow your arrows back as far as you can. Where does the trail end? What do you think is the very first place the energy in your food came from?"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93008"/>
            <a:ext cx="11521440" cy="1005840"/>
          </a:xfrm>
          <a:prstGeom prst="roundRect">
            <a:avLst>
              <a:gd name="adj" fmla="val 7273"/>
            </a:avLst>
          </a:prstGeom>
          <a:solidFill>
            <a:srgbClr val="1A2E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4787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There are no wrong sketches here — even a one-arrow drawing is a start.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1363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onto your guess — we'll come back to it after the lesson.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Before We Dive In: Make a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170432"/>
          </a:xfrm>
          <a:prstGeom prst="roundRect">
            <a:avLst>
              <a:gd name="adj" fmla="val 625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Prediction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red-shouldered hawk is sitting in a cypress tree in the Everglades. It has NEVER eaten a plant in its life. Yet scientists say it is running on energy that started in the Sun.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11521440" cy="1261872"/>
          </a:xfrm>
          <a:prstGeom prst="roundRect">
            <a:avLst>
              <a:gd name="adj" fmla="val 5797"/>
            </a:avLst>
          </a:prstGeom>
          <a:solidFill>
            <a:srgbClr val="1A233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4825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notebook: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the hawk's energy came from the Sun because _______________________"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34930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224528"/>
            <a:ext cx="517550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 shouldered hawk Florida cypress tree Everglades wildlife perched"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598017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 animal: the red-shouldered hawk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3383280"/>
            <a:ext cx="59436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520440"/>
            <a:ext cx="5669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 to think about: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Sun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Producer (plant)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🦗 Consumer (animal)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Food chain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Vocabulary: Words You'll Use Today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each card. We'll use ALL these words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33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408176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do work or cause change. Sunlight, motion, and heat are all kinds of energy.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00584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00584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033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5968" y="1408176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thing — usually a plant — that makes its own food using sunlight.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00584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00584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033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56448" y="1408176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thing that gets energy by eating producers or other consumers.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48716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288950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plants use to turn sunlight, water, and air into food. 'Putting together with light.'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248716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8B6F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248716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chain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15968" y="288950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path that shows how energy moves from one living thing to the next when something gets eaten.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248716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5B8C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248716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56448" y="288950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thing — like a fungus or bacteria — that breaks down dead plants and animals and returns nutrients to the soil.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11521440" cy="777240"/>
          </a:xfrm>
          <a:prstGeom prst="roundRect">
            <a:avLst>
              <a:gd name="adj" fmla="val 9412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023360"/>
            <a:ext cx="11192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Discussion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" y="4389120"/>
            <a:ext cx="111922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Producer and Consumer. What's the KEY difference between how they get energy? Share with a partner.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Vocabulary in 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691640"/>
          </a:xfrm>
          <a:prstGeom prst="roundRect">
            <a:avLst>
              <a:gd name="adj" fmla="val 432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fit in?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three roles in every ecosystem: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PRODUCER — Makes its own food from sunlight (plants, algae)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3611880" cy="2560320"/>
          </a:xfrm>
          <a:prstGeom prst="roundRect">
            <a:avLst>
              <a:gd name="adj" fmla="val 2857"/>
            </a:avLst>
          </a:prstGeom>
          <a:solidFill>
            <a:srgbClr val="1A23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food from sunlight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Sawgrass in the Everglades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2523744"/>
            <a:ext cx="3611880" cy="2560320"/>
          </a:xfrm>
          <a:prstGeom prst="roundRect">
            <a:avLst>
              <a:gd name="adj" fmla="val 2857"/>
            </a:avLst>
          </a:prstGeom>
          <a:solidFill>
            <a:srgbClr val="2A1810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6517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3520440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energy by eating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Grasshopper, frog, hawk — and YOU!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523744"/>
            <a:ext cx="3611880" cy="2560320"/>
          </a:xfrm>
          <a:prstGeom prst="roundRect">
            <a:avLst>
              <a:gd name="adj" fmla="val 2857"/>
            </a:avLst>
          </a:prstGeom>
          <a:solidFill>
            <a:srgbClr val="1A1A2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6517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3520440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dead things, returns nutrients to soil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Fungi, bacteria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Part 1: The Sun Is the Starting Point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508760"/>
          </a:xfrm>
          <a:prstGeom prst="roundRect">
            <a:avLst>
              <a:gd name="adj" fmla="val 484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animal on Earth eats food. Food gives energy to move, grow, and stay warm.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here's the surprise: animals CANNOT make their own food. Not a hawk, not a shark, not you.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40864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957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The Energy Trail: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3035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Sun  →  🌿 Plant (Producer)  →  🦗 Grasshopper  →  🐸 Frog  →  🦅 Hawk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2340864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22181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39572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Concept: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577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 a food chain always starts with the Sun. Plants capture it. Animals BORROW it by eating.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11521440" cy="1024128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959352"/>
            <a:ext cx="11192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Stop &amp; Think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4325112"/>
            <a:ext cx="11192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animals can't make their own food, how do you think a hawk in Florida ends up with energy from the Sun? Take a guess before we see the diagram.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Part 2: Plants Are the Middle Step — Photosynthesis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"photosynthesis diagram plant sunlight water carbon dioxide glucose arrows labeled"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39502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use sunlight + water + CO₂ to make sugar (food)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13232"/>
            <a:ext cx="6035040" cy="3200400"/>
          </a:xfrm>
          <a:prstGeom prst="roundRect">
            <a:avLst>
              <a:gd name="adj" fmla="val 2286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80467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Plants Make Food: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207008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Absorb sunlight through leaves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709928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Pull water up from roots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212848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Take in CO₂ (carbon dioxide) from air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715768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Use light energy to combine them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218688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🍬 Make SUGAR — the plant's food!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11521440" cy="1024128"/>
          </a:xfrm>
          <a:prstGeom prst="roundRect">
            <a:avLst>
              <a:gd name="adj" fmla="val 7143"/>
            </a:avLst>
          </a:prstGeom>
          <a:solidFill>
            <a:srgbClr val="1A23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9651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Photosynthesis = 'Putting Together With Light'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6227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plants make their own food, scientists call them PRODUCERS — the ONLY living things that can grab energy directly from the Sun.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The Florida Wetland Food Chain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36576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1130198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"Florida wetland food chain diagram Sun sawgrass grasshopper tree frog hawk energy arrows labeled Everglades"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407408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flows: Sun → Sawgrass (Producer) → Grasshopper → Tree Frog → Hawk (Consumers)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44805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72000"/>
            <a:ext cx="5212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path with your finger: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☀️ → Sawgrass 🌿 → Grasshopper 🦗 → Tree Frog 🐸 → Hawk 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448056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4553712"/>
            <a:ext cx="5614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Stop &amp; Reason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08192" y="4919472"/>
            <a:ext cx="56144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hawk doesn't eat plants. So how can we still say its energy came from the Sun? Use: Sun · producer · consumer.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Investigation Design: The 10% Energy Rule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024128"/>
          </a:xfrm>
          <a:prstGeom prst="roundRect">
            <a:avLst>
              <a:gd name="adj" fmla="val 7143"/>
            </a:avLst>
          </a:prstGeom>
          <a:solidFill>
            <a:srgbClr val="22181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Amazing Energy Fact: Only about 1 out of every 10 units of energy moves from one step to the next!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5486400" cy="3337560"/>
          </a:xfrm>
          <a:prstGeom prst="roundRect">
            <a:avLst>
              <a:gd name="adj" fmla="val 219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3852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other 90%?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animal uses it to MOVE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7977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animal uses it to BREATHE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5526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animal uses it to STAY WARM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73075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becomes HEAT that escapes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food chains usually only have 4–5 links!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847088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38528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 Scientist 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3042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1,000 units of energy start in the sawgrass: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706624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Sawgrass gets:  1,000 units ☀️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182112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 gets:  ~100 units 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65760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Frog gets:  ~10 units 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413308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 gets:  ~1 unit 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45720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fair test of how much energy the hawk truly has? What's changing? What's staying the same?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Explore: Trace the Florida Food Chain (8 min)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each step in your notebook! By Step 4, you'll have your own model.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557784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33856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33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Sun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bright sun top-left. Write above: 'All the energy starts here.' Every arrow traces back to this.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675888"/>
            <a:ext cx="557784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785616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856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11480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Producer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498848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from Sun → tall sawgrass blade. Label: PRODUCER. This is the ONLY step where energy is 'captured' from sunlight — photosynthesis.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024128"/>
            <a:ext cx="557784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133856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33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First Consumer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847088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from sawgrass → grasshopper. Label: CONSUMER. When the grasshopper eats the plant, energy moves. It BORROWED it — didn't make 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3675888"/>
            <a:ext cx="557784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3785616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7856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411480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Chain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4498848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tree frog and hawk. Draw arrows. Label both CONSUMER. Every arrow = energy moving from prey into predator.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Model Building: Draw Before You See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024128"/>
          </a:xfrm>
          <a:prstGeom prst="roundRect">
            <a:avLst>
              <a:gd name="adj" fmla="val 714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Before we look at the diagram together — draw YOUR model first.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5394960" cy="3337560"/>
          </a:xfrm>
          <a:prstGeom prst="roundRect">
            <a:avLst>
              <a:gd name="adj" fmla="val 2192"/>
            </a:avLst>
          </a:prstGeom>
          <a:solidFill>
            <a:srgbClr val="0D182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385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in your notebook: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The Sun (energy source)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One producer — with label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🦗 Two consumers — with labels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67328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Energy arrows between each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4281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The word PHOTOSYNTHESIS near the producer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847088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035040" y="19568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239572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2688336"/>
            <a:ext cx="57241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"Florida wetland food chain labeled diagram Sun sawgrass grasshopper frog hawk energy arrows teacher model"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0" y="522122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model — reveal AFTER students draw their own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5321808"/>
            <a:ext cx="11521440" cy="841248"/>
          </a:xfrm>
          <a:prstGeom prst="roundRect">
            <a:avLst>
              <a:gd name="adj" fmla="val 8696"/>
            </a:avLst>
          </a:prstGeom>
          <a:solidFill>
            <a:srgbClr val="1A2A1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413248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Q2 Habit: Draw FIRST, then compare with evidence. What did you get right? What will you REVISE?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1521440" cy="6053328"/>
          </a:xfrm>
          <a:prstGeom prst="roundRect">
            <a:avLst>
              <a:gd name="adj" fmla="val 1208"/>
            </a:avLst>
          </a:prstGeom>
          <a:solidFill>
            <a:srgbClr val="0A152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94360"/>
            <a:ext cx="11521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🤯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65760" y="1627632"/>
            <a:ext cx="11521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21284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blade of sawgrass in the Everglades can grow more than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10058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FEET TALL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SUNLIGHT, WATER, and AIR — no soil food required.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187952"/>
            <a:ext cx="10058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Connection: The Everglades is one of the largest sunlight-powered food systems in North America. The sawgrass there feeds insects, snails, and birds — which feed alligators, herons, and panthers. Every animal borrows energy that started 93 million miles away.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CER Practice: Build Your Scientific Argument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A red-shouldered hawk NEVER eats plants. Does its energy still trace back to the Sun?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611880" cy="3886200"/>
          </a:xfrm>
          <a:prstGeom prst="roundRect">
            <a:avLst>
              <a:gd name="adj" fmla="val 2532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361188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3375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"Yes / No, the hawk's energy _______ from the Sun because _______."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664208"/>
            <a:ext cx="3611880" cy="3886200"/>
          </a:xfrm>
          <a:prstGeom prst="roundRect">
            <a:avLst>
              <a:gd name="adj" fmla="val 2532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664208"/>
            <a:ext cx="361188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2066544"/>
            <a:ext cx="33375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facts: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Hawk eats frogs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Frogs eat grasshoppers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Grasshoppers eat sawgrass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Sawgrass uses photosynthesis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facts support your claim?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1664208"/>
            <a:ext cx="4206240" cy="3886200"/>
          </a:xfrm>
          <a:prstGeom prst="roundRect">
            <a:avLst>
              <a:gd name="adj" fmla="val 2353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664208"/>
            <a:ext cx="420624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6824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2066544"/>
            <a:ext cx="393192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evidence to your claim: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shows that energy _______ because each time something gets eaten, the energy _______."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687568"/>
            <a:ext cx="11521440" cy="804672"/>
          </a:xfrm>
          <a:prstGeom prst="roundRect">
            <a:avLst>
              <a:gd name="adj" fmla="val 9091"/>
            </a:avLst>
          </a:prstGeom>
          <a:solidFill>
            <a:srgbClr val="1A1A0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779008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Teacher models first — then students write their own in notebooks.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CER Practice: Your Turn — Write Yours 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question: Some people say 'Plants don't really need sunlight — they get their food from the soil.' Do you agree or disagree?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611880" cy="3337560"/>
          </a:xfrm>
          <a:prstGeom prst="roundRect">
            <a:avLst>
              <a:gd name="adj" fmla="val 2740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361188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270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11096"/>
            <a:ext cx="3337560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disagree because _______."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508760"/>
            <a:ext cx="3611880" cy="3337560"/>
          </a:xfrm>
          <a:prstGeom prst="roundRect">
            <a:avLst>
              <a:gd name="adj" fmla="val 2740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508760"/>
            <a:ext cx="361188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5270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1911096"/>
            <a:ext cx="3337560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2 facts from today's lesson: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_______________________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1508760"/>
            <a:ext cx="4206240" cy="3337560"/>
          </a:xfrm>
          <a:prstGeom prst="roundRect">
            <a:avLst>
              <a:gd name="adj" fmla="val 2740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508760"/>
            <a:ext cx="420624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5270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1911096"/>
            <a:ext cx="3931920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dots: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shows that plants need sunlight because _______."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983480"/>
            <a:ext cx="11521440" cy="1115568"/>
          </a:xfrm>
          <a:prstGeom prst="roundRect">
            <a:avLst>
              <a:gd name="adj" fmla="val 655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47488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 if you're stuck: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39496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"I disagree because plants use photosynthesis, which requires _____."   Evidence: "The lesson showed that plants take in _____ and use _____ to make their food."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Go Deeper: What About the Ocean?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417320"/>
          </a:xfrm>
          <a:prstGeom prst="roundRect">
            <a:avLst>
              <a:gd name="adj" fmla="val 5161"/>
            </a:avLst>
          </a:prstGeom>
          <a:solidFill>
            <a:srgbClr val="0A183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Mind-Blowing Fact #2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11155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ocean, the producers aren't big plants — they're PHYTOPLANKTON: tiny floating living things too small to see with your eyes.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108960"/>
            <a:ext cx="508406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"phytoplankton microscope ocean producers tiny floating plants photosynthesis"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55046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 — the invisible producers that feed the entire ocean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267712"/>
            <a:ext cx="6035040" cy="3200400"/>
          </a:xfrm>
          <a:prstGeom prst="roundRect">
            <a:avLst>
              <a:gd name="adj" fmla="val 2286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359152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scale: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761488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Phytoplankton → tiny shrimp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236976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Tiny shrimp → small fish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3712464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Small fish → larger fish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4187952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Larger fish → humpback whale 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466344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energy traced to: ☀️ Sun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 Self-Check — Not Graded, Just for You!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11521440" cy="1664208"/>
          </a:xfrm>
          <a:prstGeom prst="roundRect">
            <a:avLst>
              <a:gd name="adj" fmla="val 4396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1323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Where does almost all the energy in a Florida food chain begin?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The Sun ☀️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2628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The soil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36676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The water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11521440" cy="1664208"/>
          </a:xfrm>
          <a:prstGeom prst="roundRect">
            <a:avLst>
              <a:gd name="adj" fmla="val 4396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15184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A green sea turtle eats sea grass. Why is the sea turtle a CONSUMER?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36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It lives in the water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26280" y="3136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It gets energy by EATING another living thing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66760" y="3136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It makes its own food from sunlight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462272"/>
            <a:ext cx="11521440" cy="1664208"/>
          </a:xfrm>
          <a:prstGeom prst="roundRect">
            <a:avLst>
              <a:gd name="adj" fmla="val 4396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17136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Sun → sawgrass → grasshopper → frog. The sawgrass is the…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0383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Consumer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26280" y="50383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Decomposer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66760" y="50383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Producer 🌿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Assignment: Show What You Know (12 min)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Label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4 blanks: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81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Sun (energy source)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16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 chain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27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393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 is provided!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87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Pre-taught on: Slides 4–5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713232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7680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Answer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11704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questions, complete sentences: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1581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can't a hawk make food?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19933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if all sawgrass died?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2404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are producers AND consumers both important?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2816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3227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vocab words in answers!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4187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Pre-taught on: Slides 6–11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713232"/>
            <a:ext cx="4389120" cy="5166360"/>
          </a:xfrm>
          <a:prstGeom prst="roundRect">
            <a:avLst>
              <a:gd name="adj" fmla="val 166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7680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Draw + CER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NEW food chain: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15819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 + 1 producer + 2 consumers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19933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Labeled energy arrows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2404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any FL ecosystem!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28163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3227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Claim-Evidence-Reasoning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36393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'plants need soil' claim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1879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Pre-taught on: Slides 10–14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the energy from the Sun end up inside a gopher tortoise, a hawk, or you?"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A: 4 blanks labeled using the word bank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B: 3 short-answer questions in complete sentences with vocab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C: NEW food chain — Sun + producer + 2 consumers + energy arrows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CER: Claim + Evidence + Reasoning about plants and sunlight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9.02: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Producers and Consumers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link in the food chain goes MISSING?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predators, prey, food webs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Three Roles in Every Ecosystem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Florida ecosystem — wetland, pine forest, beach, or backyard — has organisms filling these three roles: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examples: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Sawgrass, sea grass, oak trees, algae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30752"/>
            <a:ext cx="32918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its own food from sunlight via photosynthesis. The ONLY role that captures new energy from the Sun.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50876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66420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🦗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89120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0" y="2907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examples: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2004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Grasshoppers, frogs, hawks, manatees, YOU!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730752"/>
            <a:ext cx="32918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energy by eating producers or other consumers. Cannot make food — must borrow energy from something else.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50876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1E2F45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66420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🍄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75320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75320" y="2907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examples: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32004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Fungi, bacteria, some worms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3730752"/>
            <a:ext cx="32918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dead plants and animals. Returns nutrients to soil so new plants can grow. Connects the END back to the BEGINNING.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  Decomposers: The Circle Closers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"fungi mushrooms decomposing log Florida forest nutrient cycling dead leaves breaking down"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247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Decomposers break down dead matter → nutrients return to soil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13232"/>
            <a:ext cx="60350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82296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C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Decomposers Do: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122529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 Break down dead plants and animals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66420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Return nutrients to the soil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Allow new plants to grow (producers!)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54203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Connect the END of the chain back to the START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3182112"/>
            <a:ext cx="6035040" cy="2606040"/>
          </a:xfrm>
          <a:prstGeom prst="roundRect">
            <a:avLst>
              <a:gd name="adj" fmla="val 2807"/>
            </a:avLst>
          </a:prstGeom>
          <a:solidFill>
            <a:srgbClr val="1A1A1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310128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Becomes a Circle: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657600"/>
            <a:ext cx="5669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Sun → 🌿 Sawgrass → 🦗 Grasshopper → 🐸 Frog → 🦅 Hawk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                                                      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New growth ← 🍄 Fungi + bacteria break down hawk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doesn't really END — it LOOPS.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9.01  ·  Energy Pathways: From Sun to Life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2026-07-13T20:27:14Z</dcterms:created>
  <dcterms:modified xsi:type="dcterms:W3CDTF">2026-07-13T20:27:14Z</dcterms:modified>
</cp:coreProperties>
</file>