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3.01. CER: the HTML notes this is 'the last time with hints' — assist students through the evidence frame but note that next lesson the scaffold is removed. Use: 'I know ___ because ___. This shows 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 to draw. Ask 2-3 to share. Write student ideas on board. Do NOT correct yet. Ask: 'What made you draw it that way?' / 'Has anyone ever noticed the moon was different on two different nights?' / 'Does anyone picture it differently?'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predictions on board. Return at end. Ask: 'Does the moon make its own light or reflect light?' (Prediction — don't answer yet.) / 'What might cause a shape that changes?' / 'Does anyone have a different prediction?'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month/moon connection is key cultural context. Ask: 'Can you think of other calendars that use the moon?' (Islamic, Chinese) / 'Why would people have found the moon useful for tracking time before calendars?' / 'About 12.4 cycles fit in a year — that's why we have 12 months!'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Waxing/waning memory trick from the lesson: if the lit side looks like a D, it's waxing (growing). If it looks like a backwards D (C shape), it's waning. Practice: 'Show me with your hands what a waxing crescent looks like.' Ask: 'Does anyone have a different memory trick for remembering these?'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Have two students demonstrate. One stands still (Earth), one walks in a circle always facing Earth (Moon). Ask: 'What does the 'Earth' student see?' (Always the same face!) Ask: 'Is this comparison accurate in every way? How is it different from the real moon?' Scientific thinking: 'Why is it helpful AND what are its limits?'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PREDICTIONS on number of phases before revealing. Then reveal diagram. Ask: 'What do you notice about how the lit side shifts from right to left?' / 'How many days does it take to go from New Moon back to New Moon?' / 'The lunar cycle table shows that over 29 days, the moon goes through 8 phases including ___. This is evidence that 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the mechanism, not just the pattern. Ask: 'So the moon's shape doesn't actually change — what DOES change?' (How much of the lit side we can see.) Ask: 'The moon phase diagram shows that as the moon orbits Earth, the amount of its sunlit side that we can see ___. This is evidence that ___.' / 'Does anyone see it differently?'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PREDICTION first. The common misconception: 'dark side = always dark.' Truth: far side gets just as much sunlight! Ask: 'Does this match your prediction?' / 'Why is the far side called the "far side" and not the "dark side"?' / 'What surprised you about this fact?' Scientific argumentation: 'What evidence tells us it isn't always dark?'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argumentation: 'What evidence supports that?' / 'Does anyone have different evidence?' / 'What would change your mind?' For Q1: connect to world history — Islamic calendar, Chinese New Year, Native American moon names, farming. For Q2: the walking analogy is accurate for showing synchronous rotation, but differs in scale, speed, and the fact that the Moon is in space, not on a flat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notes that this is the LAST TIME with hints on CER. Next lesson the scaffold is removed. Practice together as a class. After completing: 'How confident are you with CER now compared to Lesson 1.01?' Ask: 'What's the hardest part — claim, evidence, or reasoning?' Reassure: 'By now you've practiced CER four times. You're scientists!'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students' own cultural backgrounds. Ask: 'Does anyone celebrate a holiday that follows the lunar calendar?' / 'How would you know when to plant crops if you lived 3,000 years ago without a calendar?' / 'What surprises you most about how the moon affected human history?'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graded. For Q1: revisit the walking-around-friend activity. 'You were spinning — just slowly!' For Q2: Waxing = growing. Memory trick: waxing a car = adding more shine = growing! For Q3: 'Why does knowing 29.5 days matter for understanding the word month?'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requirements. Part A = Slide 7 phase table, Part B Qs 5-8 = Slides 8,9,10, Part C = Slide 7 diagram, CER = Slide 11. Remind students this is the LAST CER with hints — next lesson they get blank lines only. Submit photo, typed, or video to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board predictions. Celebrate accurate ones! Remind students: 'Starting next lesson, CER has no sentence starters. You are ready!' Ask: 'Compare your warm-up sketch to what you now know — what's the biggest thing that changed in your thinking?'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Moon!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3 · Earth &amp; Space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NGSS ESS1.A — Earth's Place in the Universe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the moon moves — rotating and revolving — and why we always see the same side.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and describe all eight phases of the moon in order.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people used the lunar cycle to track time before modern calendars.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Colored pencils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The Changing Moon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84248"/>
            <a:ext cx="508406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"moon phases collage eight phases waxing waning crescent full quarter night sky"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2943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looks different every night — but follows the same pattern every 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09344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moon doesn't make its own light, why does it look so bright in the night sky — and why does its shape seem to change every single night?"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notebook, draw what you THINK the moon looks like over the course of a month. Does it always look the same, or does it change?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931920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Have you ever noticed the moon looking different shapes on different nights? What questions does that raise in your mind?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Your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moon doesn't make its own light, why does it look so bright in the night sky — and why does its shape seem to change every single night?"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7132320" cy="3291840"/>
          </a:xfrm>
          <a:prstGeom prst="roundRect">
            <a:avLst>
              <a:gd name="adj" fmla="val 2222"/>
            </a:avLst>
          </a:prstGeom>
          <a:solidFill>
            <a:srgbClr val="13204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Evidence-Based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67665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the moon looks bright because ___.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predict the moon appears to change shape because ___."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212848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2670048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is slowly moving away from Earth — about 3.8 centimeters farther every year! That's about the speed your fingernails grow. In a billion years, total solar eclipses won't be possible anymore!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Moon Words: Set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lit part of the moon that we can see from Earth. The phase changes every night!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Cycle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repeating pattern of all 8 moon phases from New Moon back to New Moon — takes about 29.5 days.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travel in a curved path around another object. The moon revolves around Earth once every 29.5 days!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These Words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word MONTH comes directly from the word MOON — a month is one lunar cycle!"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If the moon's cycle is 29.5 days, how many moon cycles fit in one year? Write your prediction. Why does this matter for a calendar?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Moon Words: Set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spin on an axis, like a top. The moon rotates once for every trip it makes around Earth.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lit part of the moon appears to GROW larger each night — heading toward a Full Moon!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lit part of the moon appears to SHRINK each night — heading back toward a New Moon.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Waxing or Waning?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"Wax" means to grow. "Wane" means to shrink.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If tonight you see a half-moon and tomorrow night the lit side is BIGGER — is it waxing or waning? Write: "I predict it is ___ because ___."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Three Amazing Things the Moon Does at Once!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ROTATES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on its own axis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makes one full spin every 27 days! This is why we always see the same side — it rotates at EXACTLY the right speed to match its orbit.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713232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8046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REVOLVES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Earth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0" y="16002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travels around Earth once every 29.5 days. That's almost exactly one month — which is why our months are ~30 days long!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713232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8046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Travel TOGETHER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+ Earth orbit Sun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16002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and the Moon move as a team around the Sun. While the Moon orbits Earth, both are also orbiting the Sun!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15968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13204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8912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This! (The Walking-Around-a-Friend Activity)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10972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 to stand still (they're Earth). Walk in a slow circle around them — but ALWAYS keep your face pointed toward them. Notice that you had to TURN your body as you walked? That's exactly how the moon moves — rotating while it revolves!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The 8 Phases of the Moon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the reveal: How many phases do you think the moon has? Write your prediction!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48256"/>
            <a:ext cx="663854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"moon phases diagram 8 phases labeled new crescent quarter gibbous full waxing waning orbit Earth"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61356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moon phases shown in orbital position around Earth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06640" y="1207008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2984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Phases in 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1664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 Moon — Dark — not visible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128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Waxing Crescent — Thin sliver on right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0" y="27614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First Quarter — Half lit on right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89520" y="33101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Waxing Gibbous — More than half, right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38587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Full Moon — Completely lit!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44074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Waning Gibbous — More than half, left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49560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Third Quarter — Half lit on left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0" y="55046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Waning Crescent — Thin sliver on left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WHY Do Phases Happen? The Science Behind the Shapes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9496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Reflects Sunlight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5029200" cy="486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Sun is the Light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doesn't glow on its own — it REFLECTS sunlight, like a mirror. At any moment, exactly HALF of the moon's surface is lit by the Sun, and the other half is in darkness.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Moon Orbits Earth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moon revolves around Earth, we see different amounts of its lit half from our point of view.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When we see MORE lit area each night, the moon is WAXING.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see LESS, it's WANING.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One Orbit = One Lunar Cycle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takes 29.5 days to travel all the way around Earth. During that trip we see all 8 phases in order.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13232"/>
            <a:ext cx="5806440" cy="5394960"/>
          </a:xfrm>
          <a:prstGeom prst="roundRect">
            <a:avLst>
              <a:gd name="adj" fmla="val 135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26480" y="82296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1261872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44768" y="1554480"/>
            <a:ext cx="5586984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"moon orbit Earth sunlight phases diagram why phases happen reflected light"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6144768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moon's position relative to Earth and Sun creates different phases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The Far Side of the Moon!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the Reveal: Do you think the far side of the moon is always dark? Write: 'I predict ___ because ___.'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Rotation — Why We Always See the Same Side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rotates at exactly the same speed it revolves around Earth. Scientists call this SYNCHRONOUS ROTATION.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 always see the same side of the moon from Earth!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photo of the far side was taken in 1959 by a Soviet spacecraft. The first humans to see the far side with their own eyes were the Apollo 8 astronauts in 1968.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fact: The far side looks different — it has fewer dark flat areas (called 'maria' or 'seas') than the near side!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61872"/>
            <a:ext cx="5806440" cy="4114800"/>
          </a:xfrm>
          <a:prstGeom prst="roundRect">
            <a:avLst>
              <a:gd name="adj" fmla="val 17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26480" y="1810512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44768" y="2103120"/>
            <a:ext cx="558698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"far side of the moon photograph NASA Apollo 8 lunar far side surface"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5413248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 side of the Moon — finally seen by humans in 1968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 — Moon Phases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188720"/>
          </a:xfrm>
          <a:prstGeom prst="roundRect">
            <a:avLst>
              <a:gd name="adj" fmla="val 6154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972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___ because I observed/learned ___. This shows ___."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03120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Time Tracking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515721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you think people long ago used the moon to tell time or find their way at night? Imagine the sky without electric lights — how valuable would a predictable, reliable pattern be to farmers, sailors, or travelers?"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___ because ___. This shows ___.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029968"/>
            <a:ext cx="5760720" cy="2834640"/>
          </a:xfrm>
          <a:prstGeom prst="roundRect">
            <a:avLst>
              <a:gd name="adj" fmla="val 2581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103120"/>
            <a:ext cx="5431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Walking Activity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2468880"/>
            <a:ext cx="54315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compared the moon's movement to walking in a circle around a friend. Why is that comparison helpful? How is it different from the real moon? What would change your mind about whether this analogy works?"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___ because ___. This shows ___.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PRACTICE — Last Time with Sentence Starters!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640080"/>
          </a:xfrm>
          <a:prstGeom prst="roundRect">
            <a:avLst>
              <a:gd name="adj" fmla="val 11429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next lesson, the CER frame will just have blank lines — no hints. You've got this! Practice now.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the moon appear to change shape over the month?"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moon appears to change shape because..."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does the shape actually change?)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44475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444752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63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184708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table shows that over ~29 days, the moon goes through ___ phases, including..."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phase table from Slide 7.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444752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444752"/>
            <a:ext cx="39776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46304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1847088"/>
            <a:ext cx="3703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as the moon orbits Earth, the amount of its sunlit side that we can see..."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lunar cycle, phases, orbit, reflect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— Mind-Blowing Moon Facts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Mind-Blow: The Harvest Moon!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50292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moon in autumn is called the Harvest Moon — for several nights in a row it rises so early and so brightly that farmers could work in their fields AFTER SUNSET!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thousands of years this single moon phase told farmers exactly when to bring in their crops. Without it, much of the harvest might have been lost to frost!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13232"/>
            <a:ext cx="5806440" cy="2926080"/>
          </a:xfrm>
          <a:prstGeom prst="roundRect">
            <a:avLst>
              <a:gd name="adj" fmla="val 25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0467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Calendars Around the World!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207008"/>
            <a:ext cx="544068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calendar — months begin when a thin waxing crescent is spotted. Ramadan falls on different dates each year on our solar calendar for this reason.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calendar — lunar system. Chinese New Year falls on a different date each year!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American nations named each Full Moon: Flower Moon (May), Harvest Moon (Sept), Beaver Moon (Nov).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38587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590288"/>
            <a:ext cx="112105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"lunar calendar Islamic crescent moon Chinese New Year Native American moon names"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625449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was the world's first calendar — shared by all of humanity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— Let's See What Sticks!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8638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we always see the same side of the moon from Earth?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moon doesn't spin at 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moon rotates once for every trip it makes around Earth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Earth's gravity holds the moon's face in place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0662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lit part of the moon is getting bigger each night. This is called 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Waxing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0390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Revolving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5371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268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About how long does one complete lunar cycle take?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About one 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3766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About 29.5 days (roughly one month)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724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Exactly one year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A, B &amp; 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5120640" cy="486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Match the Phase: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Moon completely dark, not visible =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Entire lit side faces us, brightest night =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Half lit (right side), one week into cycle =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Thin sliver on the LEFT, cycle almost complete = 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 Bank: New Moon, Full Moon, First Quarter, Waning Crescent)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did people use the moon to tell time or find their way at night?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moon rotates, but we always see the same side. How is that possible?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What's something surprising you learned today?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The walking-around-a-friend comparison: why helpful? How different?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Draw the Lunar Cycle: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moon phases in order in a circle (like a clock face), Earth in center, label each phase, color/shade the lit and dark portions.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13232"/>
            <a:ext cx="580644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0467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Response — Last time with hints!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207008"/>
            <a:ext cx="5440680" cy="486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Why does the moon appear to change shape over the month?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'The moon appears to change shape because...'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'The data table shows that over ~29 days, the moon goes through ___ phases, including...'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'This makes sense because as the moon orbits Earth, the amount of its sunlit side that we can see...'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lunar cycle, phases, orbit, reflect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= Slide 7 | Part B = Slides 8,9,10 | Part C = Slide 7 diagram | CER = Slide 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moon doesn't make its own light, why does it look so bright in the night sky — and why does its shape seem to change every single night?"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Match the Phase: All 4 phase names filled in from word bank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Short Answer: Questions 5-8 answered with vocab words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Lunar Cycle Diagram: All 8 phases drawn in order around Earth, labeled, colored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Essential Question Response: 2-3 sentences using 3+ vocab 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Response: Claim, lunar cycle evidence, reasoning about orbit and reflected light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3.02 — Navigation at Night: Reading the Sky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explorers use stars, Polaris, and the moon to navigate across entire oceans?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3.01  ·  Meet the Moon!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2026-07-13T19:52:55Z</dcterms:created>
  <dcterms:modified xsi:type="dcterms:W3CDTF">2026-07-13T19:52:55Z</dcterms:modified>
</cp:coreProperties>
</file>