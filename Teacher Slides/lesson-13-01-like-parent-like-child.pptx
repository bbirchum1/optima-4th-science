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learn the key distinction: inherited traits (from parents) vs. environmental traits (from where the organism grows up). Many traits are both. The hardest concept: environmental traits don't get passed to the next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 min to draw and label. Cold-call: 'What did you label as inherited? How did you decide?' Most will choose visible physical features (beak shape, color). Push: 'What about the chick's SIZE — where does that come from?' This sets up the inherited vs. environmental distinction. Facilitation: 'Could a chick choose to have a different beak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Evidence-based prediction: 'Before we go further — predict: which category does EYE COLOR fall in? SCAR? BODY SIZE? Write your predictions.' Students will check these against the lesson content. Key vocabulary to set up: trait, inherited, environment, offspring.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for examples. Guide: 'How do you KNOW it's inherited vs. environmental? What would you test?' Key distinction: if ALL babies of that species have it (not just some), it's likely inherited. If only babies in a certain place or with a certain diet have it, it's more environmental.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'Brothers and sisters share the same parents — so why don't they look identical?' Guide: each offspring inherits a different MIX of traits from each parent. Add environment and every one is different. Key: identical twins are an exception (they start from the same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'Which column does BODY SIZE go in?' (BOTH — inherited potential, but food decides if you reach it). The misconception is crucial: environmental traits stay with that individual. A dog that learns tricks doesn't pass tricks to puppies. Only inherited traits get passed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pelican image: 'What can you tell IS inherited just by looking?' (beak shape, color pattern, wing shape). Point to the plant image: 'Same species, same parents — why different size?' (environment: different sun, water, soil). Evidence-based reasoning: 'How would you PROVE it's environmental, not inherited?' (plant them in the same soil — do they equalize?)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pick two cases and write their reasoning. Key: the oak tree is BOTH — students often want to say just 'inherited' or just 'environmental.' Ask: 'If you planted two acorns from the same tree in different soils, would they grow to the same height? Why or why not?' This makes the BOTH category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Step 4. Facilitation: 'How would you TEST whether that trait is inherited or environmental? What would a scientist do?' The investigation design question: 'What's changing? What would you keep the same to make it a fair test?' (plant same seeds in different soils OR different seeds in same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Claim aloud. Students complete all 3 panels. Key: variables — same parents (inherited traits identical) = fair test. What CHANGES is food/environment. So any size difference must be environmental. This introduces fair test and controlled variable thinking through the 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YES, the spots are inherited — ALL panther kittens have them (not just some), and they appear at birth (not from environment). The fact that adult parents don't show them doesn't mean the trait isn't inherited — it can be expressed at one life stage only. Use the word VARIATION to discuss why this shows inherited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a Florida gator loses a tooth in a fight, will its offspring be born with fewer teeth? Why not?' (Environmental traits — injuries, learned behaviors — don't change inherited traits.) This is the hardest concept: acquired characteristics are NOT inherited. Scientists figured this out in the 1800s!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Q1: 'Could growing up in the same place explain the similarity? What DOESN'T it explain?' (siblings grow up in the same place too but still look similar to parents). For Q2: 'Is a scar contagious? Can it be born with? So which category is it?' Connect to: if you can be BORN with it, it's likely inherited.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Remind students: Part C MUST have both inherited (3) AND environmental (2) traits labeled — not all of one type. The parent + offspring drawing should show why they RESEMBLE each other, but NOT be identical. Key Question response needs 3 vocabulary words from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Return to the warm-up pelican drawing. 'Now that you know inherited vs. environmental — which label would you change? What would you add?' Exit ticket: 'Name one inherited trait and one environmental trait you have. How do you know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Like Parent, Like Child</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Q3 · Week 13  ·  Life Science  ·  SC.4.L.16.2 / NGSS enrichment</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SC.4.L.16.2 — Explain that although characteristics of plants and animals are inherited, some characteristics can be affected by the environment.</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inherited traits passed from parents to offspring.</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tell the difference between inherited traits and environmental traits.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sort examples and explain which traits are inherited, environmental, or both.</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Family Photo</a:t>
            </a:r>
            <a:endParaRPr lang="en-US" sz="1600" dirty="0"/>
          </a:p>
        </p:txBody>
      </p:sp>
      <p:sp>
        <p:nvSpPr>
          <p:cNvPr id="5" name="Shape 3"/>
          <p:cNvSpPr/>
          <p:nvPr/>
        </p:nvSpPr>
        <p:spPr>
          <a:xfrm>
            <a:off x="365760" y="749808"/>
            <a:ext cx="11430000" cy="2057400"/>
          </a:xfrm>
          <a:prstGeom prst="roundRect">
            <a:avLst>
              <a:gd name="adj" fmla="val 3556"/>
            </a:avLst>
          </a:prstGeom>
          <a:solidFill>
            <a:srgbClr val="1E2F45"/>
          </a:solidFill>
          <a:ln w="12700">
            <a:solidFill>
              <a:srgbClr val="FFB703"/>
            </a:solidFill>
            <a:prstDash val="solid"/>
          </a:ln>
        </p:spPr>
      </p:sp>
      <p:sp>
        <p:nvSpPr>
          <p:cNvPr id="6" name="Text 4"/>
          <p:cNvSpPr/>
          <p:nvPr/>
        </p:nvSpPr>
        <p:spPr>
          <a:xfrm>
            <a:off x="548640" y="804672"/>
            <a:ext cx="1106424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Picture a family photo: a brown-eyed mom, a brown-eyed dad, and three kids.</a:t>
            </a:r>
            <a:endParaRPr lang="en-US" sz="1400" dirty="0"/>
          </a:p>
        </p:txBody>
      </p:sp>
      <p:sp>
        <p:nvSpPr>
          <p:cNvPr id="7" name="Text 5"/>
          <p:cNvSpPr/>
          <p:nvPr/>
        </p:nvSpPr>
        <p:spPr>
          <a:xfrm>
            <a:off x="548640" y="1188720"/>
            <a:ext cx="11064240" cy="148132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Two kids have brown eyes. One has green eyes — just like Grandma. Some traits passed straight down. Others skipped a generation. And nobody got mom's ACCENT — that came from where she grew up.</a:t>
            </a:r>
            <a:endParaRPr lang="en-US" sz="1250" dirty="0"/>
          </a:p>
        </p:txBody>
      </p:sp>
      <p:sp>
        <p:nvSpPr>
          <p:cNvPr id="8" name="Text 6"/>
          <p:cNvSpPr/>
          <p:nvPr/>
        </p:nvSpPr>
        <p:spPr>
          <a:xfrm>
            <a:off x="365760" y="2944368"/>
            <a:ext cx="11430000" cy="1051560"/>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In your notebook: Draw two pelicans — a parent and a chick. Label ONE thing the chick INHERITED from the parent (same beak shape? same color?). Label ONE thing about the chick that might come from its ENVIRONMENT (size from how much it ate, scars, feathers ruffled by wind).</a:t>
            </a:r>
            <a:endParaRPr lang="en-US" sz="1250" dirty="0"/>
          </a:p>
        </p:txBody>
      </p:sp>
      <p:sp>
        <p:nvSpPr>
          <p:cNvPr id="9" name="Shape 7"/>
          <p:cNvSpPr/>
          <p:nvPr/>
        </p:nvSpPr>
        <p:spPr>
          <a:xfrm>
            <a:off x="365760" y="4133088"/>
            <a:ext cx="11430000" cy="347472"/>
          </a:xfrm>
          <a:prstGeom prst="roundRect">
            <a:avLst>
              <a:gd name="adj" fmla="val 23684"/>
            </a:avLst>
          </a:prstGeom>
          <a:solidFill>
            <a:srgbClr val="E09200"/>
          </a:solidFill>
          <a:ln w="19050">
            <a:solidFill>
              <a:srgbClr val="FFB703"/>
            </a:solidFill>
            <a:prstDash val="solid"/>
          </a:ln>
        </p:spPr>
      </p:sp>
      <p:sp>
        <p:nvSpPr>
          <p:cNvPr id="10" name="Text 8"/>
          <p:cNvSpPr/>
          <p:nvPr/>
        </p:nvSpPr>
        <p:spPr>
          <a:xfrm>
            <a:off x="365760" y="4133088"/>
            <a:ext cx="1143000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1" name="Text 9"/>
          <p:cNvSpPr/>
          <p:nvPr/>
        </p:nvSpPr>
        <p:spPr>
          <a:xfrm>
            <a:off x="365760" y="4535424"/>
            <a:ext cx="11430000" cy="438912"/>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"You look a LOT like your parents — but not exactly. Some things came from them. Others came from how you grew up. How can you tell the difference?"</a:t>
            </a:r>
            <a:endParaRPr lang="en-US" sz="1300" dirty="0"/>
          </a:p>
        </p:txBody>
      </p:sp>
      <p:sp>
        <p:nvSpPr>
          <p:cNvPr id="12" name="Shape 10"/>
          <p:cNvSpPr/>
          <p:nvPr/>
        </p:nvSpPr>
        <p:spPr>
          <a:xfrm>
            <a:off x="365760" y="5084064"/>
            <a:ext cx="11430000" cy="1463040"/>
          </a:xfrm>
          <a:prstGeom prst="roundRect">
            <a:avLst>
              <a:gd name="adj" fmla="val 5000"/>
            </a:avLst>
          </a:prstGeom>
          <a:solidFill>
            <a:srgbClr val="0A1520"/>
          </a:solidFill>
          <a:ln w="19050">
            <a:solidFill>
              <a:srgbClr val="4CC9F0"/>
            </a:solidFill>
            <a:prstDash val="dash"/>
          </a:ln>
        </p:spPr>
      </p:sp>
      <p:sp>
        <p:nvSpPr>
          <p:cNvPr id="13" name="Text 11"/>
          <p:cNvSpPr/>
          <p:nvPr/>
        </p:nvSpPr>
        <p:spPr>
          <a:xfrm>
            <a:off x="457200" y="5193792"/>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457200" y="5632704"/>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5" name="Text 13"/>
          <p:cNvSpPr/>
          <p:nvPr/>
        </p:nvSpPr>
        <p:spPr>
          <a:xfrm>
            <a:off x="475488" y="5925312"/>
            <a:ext cx="11210544" cy="4114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"pelican parent chick Florida offspring inherited traits family resemblance"</a:t>
            </a:r>
            <a:endParaRPr lang="en-US" sz="950" dirty="0"/>
          </a:p>
        </p:txBody>
      </p:sp>
      <p:sp>
        <p:nvSpPr>
          <p:cNvPr id="16" name="Text 14"/>
          <p:cNvSpPr/>
          <p:nvPr/>
        </p:nvSpPr>
        <p:spPr>
          <a:xfrm>
            <a:off x="365760" y="6583680"/>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parent and chick — which features were inherited?</a:t>
            </a:r>
            <a:endParaRPr lang="en-US" sz="9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Our Big Question</a:t>
            </a:r>
            <a:endParaRPr lang="en-US" sz="1600" dirty="0"/>
          </a:p>
        </p:txBody>
      </p:sp>
      <p:sp>
        <p:nvSpPr>
          <p:cNvPr id="5" name="Shape 3"/>
          <p:cNvSpPr/>
          <p:nvPr/>
        </p:nvSpPr>
        <p:spPr>
          <a:xfrm>
            <a:off x="365760" y="749808"/>
            <a:ext cx="11430000" cy="1645920"/>
          </a:xfrm>
          <a:prstGeom prst="roundRect">
            <a:avLst>
              <a:gd name="adj" fmla="val 4444"/>
            </a:avLst>
          </a:prstGeom>
          <a:solidFill>
            <a:srgbClr val="1E2F45"/>
          </a:solidFill>
          <a:ln w="12700">
            <a:solidFill>
              <a:srgbClr val="4CC9F0"/>
            </a:solidFill>
            <a:prstDash val="solid"/>
          </a:ln>
        </p:spPr>
      </p:sp>
      <p:sp>
        <p:nvSpPr>
          <p:cNvPr id="6" name="Text 4"/>
          <p:cNvSpPr/>
          <p:nvPr/>
        </p:nvSpPr>
        <p:spPr>
          <a:xfrm>
            <a:off x="548640" y="841248"/>
            <a:ext cx="11064240" cy="1463040"/>
          </a:xfrm>
          <a:prstGeom prst="rect">
            <a:avLst/>
          </a:prstGeom>
          <a:noFill/>
          <a:ln/>
        </p:spPr>
        <p:txBody>
          <a:bodyPr wrap="square" rtlCol="0" anchor="ctr"/>
          <a:lstStyle/>
          <a:p>
            <a:pPr algn="ctr" indent="0" marL="0">
              <a:buNone/>
            </a:pPr>
            <a:r>
              <a:rPr lang="en-US" sz="2100" b="1" i="1" dirty="0">
                <a:solidFill>
                  <a:srgbClr val="FFFFFF"/>
                </a:solidFill>
                <a:latin typeface="Calibri" pitchFamily="34" charset="0"/>
                <a:ea typeface="Calibri" pitchFamily="34" charset="-122"/>
                <a:cs typeface="Calibri" pitchFamily="34" charset="-120"/>
              </a:rPr>
              <a:t>"How are Florida plants and animals like their parents — and how does the environment change that?"</a:t>
            </a:r>
            <a:endParaRPr lang="en-US" sz="2100" dirty="0"/>
          </a:p>
        </p:txBody>
      </p:sp>
      <p:sp>
        <p:nvSpPr>
          <p:cNvPr id="7" name="Shape 5"/>
          <p:cNvSpPr/>
          <p:nvPr/>
        </p:nvSpPr>
        <p:spPr>
          <a:xfrm>
            <a:off x="365760" y="2542032"/>
            <a:ext cx="5303520" cy="1737360"/>
          </a:xfrm>
          <a:prstGeom prst="roundRect">
            <a:avLst>
              <a:gd name="adj" fmla="val 4211"/>
            </a:avLst>
          </a:prstGeom>
          <a:solidFill>
            <a:srgbClr val="162233"/>
          </a:solidFill>
          <a:ln w="12700">
            <a:solidFill>
              <a:srgbClr val="4CC9F0"/>
            </a:solidFill>
            <a:prstDash val="solid"/>
          </a:ln>
        </p:spPr>
      </p:sp>
      <p:sp>
        <p:nvSpPr>
          <p:cNvPr id="8" name="Text 6"/>
          <p:cNvSpPr/>
          <p:nvPr/>
        </p:nvSpPr>
        <p:spPr>
          <a:xfrm>
            <a:off x="548640" y="2596896"/>
            <a:ext cx="5120640" cy="32004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Inherited Traits</a:t>
            </a:r>
            <a:endParaRPr lang="en-US" sz="1300" dirty="0"/>
          </a:p>
        </p:txBody>
      </p:sp>
      <p:sp>
        <p:nvSpPr>
          <p:cNvPr id="9" name="Text 7"/>
          <p:cNvSpPr/>
          <p:nvPr/>
        </p:nvSpPr>
        <p:spPr>
          <a:xfrm>
            <a:off x="548640" y="2944368"/>
            <a:ext cx="5120640" cy="12070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Passed DOWN from parents to offspring. You inherit them — you don't choose them or earn them.</a:t>
            </a:r>
            <a:endParaRPr lang="en-US" sz="1200" dirty="0"/>
          </a:p>
        </p:txBody>
      </p:sp>
      <p:sp>
        <p:nvSpPr>
          <p:cNvPr id="10" name="Shape 8"/>
          <p:cNvSpPr/>
          <p:nvPr/>
        </p:nvSpPr>
        <p:spPr>
          <a:xfrm>
            <a:off x="6035040" y="2542032"/>
            <a:ext cx="5303520" cy="1737360"/>
          </a:xfrm>
          <a:prstGeom prst="roundRect">
            <a:avLst>
              <a:gd name="adj" fmla="val 4211"/>
            </a:avLst>
          </a:prstGeom>
          <a:solidFill>
            <a:srgbClr val="162233"/>
          </a:solidFill>
          <a:ln w="12700">
            <a:solidFill>
              <a:srgbClr val="2DC653"/>
            </a:solidFill>
            <a:prstDash val="solid"/>
          </a:ln>
        </p:spPr>
      </p:sp>
      <p:sp>
        <p:nvSpPr>
          <p:cNvPr id="11" name="Text 9"/>
          <p:cNvSpPr/>
          <p:nvPr/>
        </p:nvSpPr>
        <p:spPr>
          <a:xfrm>
            <a:off x="6172200" y="2596896"/>
            <a:ext cx="51206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Environmental Traits</a:t>
            </a:r>
            <a:endParaRPr lang="en-US" sz="1300" dirty="0"/>
          </a:p>
        </p:txBody>
      </p:sp>
      <p:sp>
        <p:nvSpPr>
          <p:cNvPr id="12" name="Text 10"/>
          <p:cNvSpPr/>
          <p:nvPr/>
        </p:nvSpPr>
        <p:spPr>
          <a:xfrm>
            <a:off x="6172200" y="2944368"/>
            <a:ext cx="5120640" cy="12070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Shaped by WHERE you live and WHAT you do. A scar, a tan, the size you grow to with the food you have.</a:t>
            </a:r>
            <a:endParaRPr lang="en-US" sz="1200" dirty="0"/>
          </a:p>
        </p:txBody>
      </p:sp>
      <p:sp>
        <p:nvSpPr>
          <p:cNvPr id="13" name="Shape 11"/>
          <p:cNvSpPr/>
          <p:nvPr/>
        </p:nvSpPr>
        <p:spPr>
          <a:xfrm>
            <a:off x="365760" y="4434840"/>
            <a:ext cx="11430000" cy="685800"/>
          </a:xfrm>
          <a:prstGeom prst="roundRect">
            <a:avLst>
              <a:gd name="adj" fmla="val 10667"/>
            </a:avLst>
          </a:prstGeom>
          <a:solidFill>
            <a:srgbClr val="0A2A18"/>
          </a:solidFill>
          <a:ln w="12700">
            <a:solidFill>
              <a:srgbClr val="FFB703"/>
            </a:solidFill>
            <a:prstDash val="solid"/>
          </a:ln>
        </p:spPr>
      </p:sp>
      <p:sp>
        <p:nvSpPr>
          <p:cNvPr id="14" name="Text 12"/>
          <p:cNvSpPr/>
          <p:nvPr/>
        </p:nvSpPr>
        <p:spPr>
          <a:xfrm>
            <a:off x="548640" y="4489704"/>
            <a:ext cx="11064240" cy="566928"/>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  Many traits — like SIZE — come from BOTH. You inherit your potential, but food and care decide if you reach it.</a:t>
            </a:r>
            <a:endParaRPr lang="en-US" sz="13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Set 1</a:t>
            </a:r>
            <a:endParaRPr lang="en-US" sz="1600" dirty="0"/>
          </a:p>
        </p:txBody>
      </p:sp>
      <p:sp>
        <p:nvSpPr>
          <p:cNvPr id="5" name="Shape 3"/>
          <p:cNvSpPr/>
          <p:nvPr/>
        </p:nvSpPr>
        <p:spPr>
          <a:xfrm>
            <a:off x="365760" y="749808"/>
            <a:ext cx="347472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347472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Trait</a:t>
            </a:r>
            <a:endParaRPr lang="en-US" sz="1200" dirty="0"/>
          </a:p>
        </p:txBody>
      </p:sp>
      <p:sp>
        <p:nvSpPr>
          <p:cNvPr id="8" name="Text 6"/>
          <p:cNvSpPr/>
          <p:nvPr/>
        </p:nvSpPr>
        <p:spPr>
          <a:xfrm>
            <a:off x="475488" y="115214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feature of a living thing — eye color, beak shape, fur length, leaf shape. Traits can come from parents or from where you grew up.</a:t>
            </a:r>
            <a:endParaRPr lang="en-US" sz="1050" dirty="0"/>
          </a:p>
        </p:txBody>
      </p:sp>
      <p:sp>
        <p:nvSpPr>
          <p:cNvPr id="9" name="Shape 7"/>
          <p:cNvSpPr/>
          <p:nvPr/>
        </p:nvSpPr>
        <p:spPr>
          <a:xfrm>
            <a:off x="4114800" y="749808"/>
            <a:ext cx="347472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4114800" y="749808"/>
            <a:ext cx="347472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4206240" y="77724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Inherited</a:t>
            </a:r>
            <a:endParaRPr lang="en-US" sz="1200" dirty="0"/>
          </a:p>
        </p:txBody>
      </p:sp>
      <p:sp>
        <p:nvSpPr>
          <p:cNvPr id="12" name="Text 10"/>
          <p:cNvSpPr/>
          <p:nvPr/>
        </p:nvSpPr>
        <p:spPr>
          <a:xfrm>
            <a:off x="4224528" y="115214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trait passed DOWN from parents to offspring. You inherit traits — you don't choose them or earn them. Beak shape, eye color, flower color.</a:t>
            </a:r>
            <a:endParaRPr lang="en-US" sz="1050" dirty="0"/>
          </a:p>
        </p:txBody>
      </p:sp>
      <p:sp>
        <p:nvSpPr>
          <p:cNvPr id="13" name="Shape 11"/>
          <p:cNvSpPr/>
          <p:nvPr/>
        </p:nvSpPr>
        <p:spPr>
          <a:xfrm>
            <a:off x="7863840" y="749808"/>
            <a:ext cx="3474720" cy="1325880"/>
          </a:xfrm>
          <a:prstGeom prst="roundRect">
            <a:avLst>
              <a:gd name="adj" fmla="val 6897"/>
            </a:avLst>
          </a:prstGeom>
          <a:solidFill>
            <a:srgbClr val="1E2F45"/>
          </a:solidFill>
          <a:ln w="25400">
            <a:solidFill>
              <a:srgbClr val="2DC653"/>
            </a:solidFill>
            <a:prstDash val="solid"/>
          </a:ln>
        </p:spPr>
      </p:sp>
      <p:sp>
        <p:nvSpPr>
          <p:cNvPr id="14" name="Shape 12"/>
          <p:cNvSpPr/>
          <p:nvPr/>
        </p:nvSpPr>
        <p:spPr>
          <a:xfrm>
            <a:off x="7863840" y="749808"/>
            <a:ext cx="3474720" cy="347472"/>
          </a:xfrm>
          <a:prstGeom prst="roundRect">
            <a:avLst>
              <a:gd name="adj" fmla="val 21053"/>
            </a:avLst>
          </a:prstGeom>
          <a:solidFill>
            <a:srgbClr val="2DC653"/>
          </a:solidFill>
          <a:ln w="12700">
            <a:solidFill>
              <a:srgbClr val="2DC653"/>
            </a:solidFill>
            <a:prstDash val="solid"/>
          </a:ln>
        </p:spPr>
      </p:sp>
      <p:sp>
        <p:nvSpPr>
          <p:cNvPr id="15" name="Text 13"/>
          <p:cNvSpPr/>
          <p:nvPr/>
        </p:nvSpPr>
        <p:spPr>
          <a:xfrm>
            <a:off x="7955280" y="77724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Environment</a:t>
            </a:r>
            <a:endParaRPr lang="en-US" sz="1200" dirty="0"/>
          </a:p>
        </p:txBody>
      </p:sp>
      <p:sp>
        <p:nvSpPr>
          <p:cNvPr id="16" name="Text 14"/>
          <p:cNvSpPr/>
          <p:nvPr/>
        </p:nvSpPr>
        <p:spPr>
          <a:xfrm>
            <a:off x="7973568" y="115214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Where a living thing lives and grows. The environment can change traits like SIZE, scars, fur color, or how strong a tree grows.</a:t>
            </a:r>
            <a:endParaRPr lang="en-US" sz="1050" dirty="0"/>
          </a:p>
        </p:txBody>
      </p:sp>
      <p:sp>
        <p:nvSpPr>
          <p:cNvPr id="17" name="Shape 15"/>
          <p:cNvSpPr/>
          <p:nvPr/>
        </p:nvSpPr>
        <p:spPr>
          <a:xfrm>
            <a:off x="365760" y="2212848"/>
            <a:ext cx="3474720" cy="1325880"/>
          </a:xfrm>
          <a:prstGeom prst="roundRect">
            <a:avLst>
              <a:gd name="adj" fmla="val 6897"/>
            </a:avLst>
          </a:prstGeom>
          <a:solidFill>
            <a:srgbClr val="1E2F45"/>
          </a:solidFill>
          <a:ln w="25400">
            <a:solidFill>
              <a:srgbClr val="F4736A"/>
            </a:solidFill>
            <a:prstDash val="solid"/>
          </a:ln>
        </p:spPr>
      </p:sp>
      <p:sp>
        <p:nvSpPr>
          <p:cNvPr id="18" name="Shape 16"/>
          <p:cNvSpPr/>
          <p:nvPr/>
        </p:nvSpPr>
        <p:spPr>
          <a:xfrm>
            <a:off x="365760" y="2212848"/>
            <a:ext cx="3474720" cy="347472"/>
          </a:xfrm>
          <a:prstGeom prst="roundRect">
            <a:avLst>
              <a:gd name="adj" fmla="val 21053"/>
            </a:avLst>
          </a:prstGeom>
          <a:solidFill>
            <a:srgbClr val="F4736A"/>
          </a:solidFill>
          <a:ln w="12700">
            <a:solidFill>
              <a:srgbClr val="F4736A"/>
            </a:solidFill>
            <a:prstDash val="solid"/>
          </a:ln>
        </p:spPr>
      </p:sp>
      <p:sp>
        <p:nvSpPr>
          <p:cNvPr id="19" name="Text 17"/>
          <p:cNvSpPr/>
          <p:nvPr/>
        </p:nvSpPr>
        <p:spPr>
          <a:xfrm>
            <a:off x="457200" y="224028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Offspring</a:t>
            </a:r>
            <a:endParaRPr lang="en-US" sz="1200" dirty="0"/>
          </a:p>
        </p:txBody>
      </p:sp>
      <p:sp>
        <p:nvSpPr>
          <p:cNvPr id="20" name="Text 18"/>
          <p:cNvSpPr/>
          <p:nvPr/>
        </p:nvSpPr>
        <p:spPr>
          <a:xfrm>
            <a:off x="475488" y="261518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young plant or animal — a chick, puppy, calf, sapling, or seedling. Offspring inherit traits from their parents.</a:t>
            </a:r>
            <a:endParaRPr lang="en-US" sz="1050" dirty="0"/>
          </a:p>
        </p:txBody>
      </p:sp>
      <p:sp>
        <p:nvSpPr>
          <p:cNvPr id="21" name="Shape 19"/>
          <p:cNvSpPr/>
          <p:nvPr/>
        </p:nvSpPr>
        <p:spPr>
          <a:xfrm>
            <a:off x="4114800" y="2212848"/>
            <a:ext cx="3474720" cy="1325880"/>
          </a:xfrm>
          <a:prstGeom prst="roundRect">
            <a:avLst>
              <a:gd name="adj" fmla="val 6897"/>
            </a:avLst>
          </a:prstGeom>
          <a:solidFill>
            <a:srgbClr val="1E2F45"/>
          </a:solidFill>
          <a:ln w="25400">
            <a:solidFill>
              <a:srgbClr val="0096C7"/>
            </a:solidFill>
            <a:prstDash val="solid"/>
          </a:ln>
        </p:spPr>
      </p:sp>
      <p:sp>
        <p:nvSpPr>
          <p:cNvPr id="22" name="Shape 20"/>
          <p:cNvSpPr/>
          <p:nvPr/>
        </p:nvSpPr>
        <p:spPr>
          <a:xfrm>
            <a:off x="4114800" y="2212848"/>
            <a:ext cx="3474720" cy="347472"/>
          </a:xfrm>
          <a:prstGeom prst="roundRect">
            <a:avLst>
              <a:gd name="adj" fmla="val 21053"/>
            </a:avLst>
          </a:prstGeom>
          <a:solidFill>
            <a:srgbClr val="0096C7"/>
          </a:solidFill>
          <a:ln w="12700">
            <a:solidFill>
              <a:srgbClr val="0096C7"/>
            </a:solidFill>
            <a:prstDash val="solid"/>
          </a:ln>
        </p:spPr>
      </p:sp>
      <p:sp>
        <p:nvSpPr>
          <p:cNvPr id="23" name="Text 21"/>
          <p:cNvSpPr/>
          <p:nvPr/>
        </p:nvSpPr>
        <p:spPr>
          <a:xfrm>
            <a:off x="4206240" y="224028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Resemble</a:t>
            </a:r>
            <a:endParaRPr lang="en-US" sz="1200" dirty="0"/>
          </a:p>
        </p:txBody>
      </p:sp>
      <p:sp>
        <p:nvSpPr>
          <p:cNvPr id="24" name="Text 22"/>
          <p:cNvSpPr/>
          <p:nvPr/>
        </p:nvSpPr>
        <p:spPr>
          <a:xfrm>
            <a:off x="4224528" y="261518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look or be similar to. Offspring RESEMBLE their parents because they inherit many of the same traits.</a:t>
            </a:r>
            <a:endParaRPr lang="en-US" sz="1050" dirty="0"/>
          </a:p>
        </p:txBody>
      </p:sp>
      <p:sp>
        <p:nvSpPr>
          <p:cNvPr id="25" name="Shape 23"/>
          <p:cNvSpPr/>
          <p:nvPr/>
        </p:nvSpPr>
        <p:spPr>
          <a:xfrm>
            <a:off x="7863840" y="2212848"/>
            <a:ext cx="3474720" cy="1325880"/>
          </a:xfrm>
          <a:prstGeom prst="roundRect">
            <a:avLst>
              <a:gd name="adj" fmla="val 6897"/>
            </a:avLst>
          </a:prstGeom>
          <a:solidFill>
            <a:srgbClr val="1E2F45"/>
          </a:solidFill>
          <a:ln w="25400">
            <a:solidFill>
              <a:srgbClr val="FFB703"/>
            </a:solidFill>
            <a:prstDash val="solid"/>
          </a:ln>
        </p:spPr>
      </p:sp>
      <p:sp>
        <p:nvSpPr>
          <p:cNvPr id="26" name="Shape 24"/>
          <p:cNvSpPr/>
          <p:nvPr/>
        </p:nvSpPr>
        <p:spPr>
          <a:xfrm>
            <a:off x="7863840" y="2212848"/>
            <a:ext cx="3474720" cy="347472"/>
          </a:xfrm>
          <a:prstGeom prst="roundRect">
            <a:avLst>
              <a:gd name="adj" fmla="val 21053"/>
            </a:avLst>
          </a:prstGeom>
          <a:solidFill>
            <a:srgbClr val="FFB703"/>
          </a:solidFill>
          <a:ln w="12700">
            <a:solidFill>
              <a:srgbClr val="FFB703"/>
            </a:solidFill>
            <a:prstDash val="solid"/>
          </a:ln>
        </p:spPr>
      </p:sp>
      <p:sp>
        <p:nvSpPr>
          <p:cNvPr id="27" name="Text 25"/>
          <p:cNvSpPr/>
          <p:nvPr/>
        </p:nvSpPr>
        <p:spPr>
          <a:xfrm>
            <a:off x="7955280" y="2240280"/>
            <a:ext cx="329184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Variation</a:t>
            </a:r>
            <a:endParaRPr lang="en-US" sz="1200" dirty="0"/>
          </a:p>
        </p:txBody>
      </p:sp>
      <p:sp>
        <p:nvSpPr>
          <p:cNvPr id="28" name="Text 26"/>
          <p:cNvSpPr/>
          <p:nvPr/>
        </p:nvSpPr>
        <p:spPr>
          <a:xfrm>
            <a:off x="7973568" y="2615184"/>
            <a:ext cx="325526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Small differences between offspring and their parents. Even though traits are inherited, offspring are never EXACTLY the same as their parents.</a:t>
            </a:r>
            <a:endParaRPr lang="en-US" sz="1050" dirty="0"/>
          </a:p>
        </p:txBody>
      </p:sp>
      <p:sp>
        <p:nvSpPr>
          <p:cNvPr id="29" name="Shape 27"/>
          <p:cNvSpPr/>
          <p:nvPr/>
        </p:nvSpPr>
        <p:spPr>
          <a:xfrm>
            <a:off x="365760" y="3675888"/>
            <a:ext cx="11430000" cy="1170432"/>
          </a:xfrm>
          <a:prstGeom prst="roundRect">
            <a:avLst>
              <a:gd name="adj" fmla="val 6250"/>
            </a:avLst>
          </a:prstGeom>
          <a:solidFill>
            <a:srgbClr val="162233"/>
          </a:solidFill>
          <a:ln w="12700">
            <a:solidFill>
              <a:srgbClr val="FFB703"/>
            </a:solidFill>
            <a:prstDash val="solid"/>
          </a:ln>
        </p:spPr>
      </p:sp>
      <p:sp>
        <p:nvSpPr>
          <p:cNvPr id="30" name="Text 28"/>
          <p:cNvSpPr/>
          <p:nvPr/>
        </p:nvSpPr>
        <p:spPr>
          <a:xfrm>
            <a:off x="530352" y="37490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Quick Discussion</a:t>
            </a:r>
            <a:endParaRPr lang="en-US" sz="1300" dirty="0"/>
          </a:p>
        </p:txBody>
      </p:sp>
      <p:sp>
        <p:nvSpPr>
          <p:cNvPr id="31" name="Text 29"/>
          <p:cNvSpPr/>
          <p:nvPr/>
        </p:nvSpPr>
        <p:spPr>
          <a:xfrm>
            <a:off x="530352" y="4114800"/>
            <a:ext cx="11100816" cy="62179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"Pick a Florida animal — manatee, panther, or alligator. Name TWO inherited traits its babies probably get from parents. How can you tell they're inherited and not environmental?"</a:t>
            </a:r>
            <a:endParaRPr lang="en-US" sz="1200" dirty="0"/>
          </a:p>
        </p:txBody>
      </p:sp>
      <p:sp>
        <p:nvSpPr>
          <p:cNvPr id="32" name="Shape 30"/>
          <p:cNvSpPr/>
          <p:nvPr/>
        </p:nvSpPr>
        <p:spPr>
          <a:xfrm>
            <a:off x="0" y="6629400"/>
            <a:ext cx="12192000" cy="228600"/>
          </a:xfrm>
          <a:prstGeom prst="rect">
            <a:avLst/>
          </a:prstGeom>
          <a:solidFill>
            <a:srgbClr val="162233"/>
          </a:solidFill>
          <a:ln/>
        </p:spPr>
      </p:sp>
      <p:sp>
        <p:nvSpPr>
          <p:cNvPr id="33" name="Text 3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Part 1 — Traits Are Passed Down</a:t>
            </a:r>
            <a:endParaRPr lang="en-US" sz="1600" dirty="0"/>
          </a:p>
        </p:txBody>
      </p:sp>
      <p:sp>
        <p:nvSpPr>
          <p:cNvPr id="5" name="Shape 3"/>
          <p:cNvSpPr/>
          <p:nvPr/>
        </p:nvSpPr>
        <p:spPr>
          <a:xfrm>
            <a:off x="365760" y="749808"/>
            <a:ext cx="11430000" cy="1143000"/>
          </a:xfrm>
          <a:prstGeom prst="roundRect">
            <a:avLst>
              <a:gd name="adj" fmla="val 6400"/>
            </a:avLst>
          </a:prstGeom>
          <a:solidFill>
            <a:srgbClr val="1E2F45"/>
          </a:solidFill>
          <a:ln w="12700">
            <a:solidFill>
              <a:srgbClr val="4CC9F0"/>
            </a:solidFill>
            <a:prstDash val="solid"/>
          </a:ln>
        </p:spPr>
      </p:sp>
      <p:sp>
        <p:nvSpPr>
          <p:cNvPr id="6" name="Text 4"/>
          <p:cNvSpPr/>
          <p:nvPr/>
        </p:nvSpPr>
        <p:spPr>
          <a:xfrm>
            <a:off x="548640" y="804672"/>
            <a:ext cx="1106424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baby pelican looks like a smaller pelican. A puppy looks like a smaller dog. A sunflower seedling, given time, becomes a sunflower again. Why?</a:t>
            </a:r>
            <a:endParaRPr lang="en-US" sz="1300" dirty="0"/>
          </a:p>
        </p:txBody>
      </p:sp>
      <p:sp>
        <p:nvSpPr>
          <p:cNvPr id="7" name="Text 5"/>
          <p:cNvSpPr/>
          <p:nvPr/>
        </p:nvSpPr>
        <p:spPr>
          <a:xfrm>
            <a:off x="548640" y="1298448"/>
            <a:ext cx="11064240" cy="50292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Because parents pass down their TRAITS to their OFFSPRING. A trait passed from parent to offspring is called an INHERITED trait.</a:t>
            </a:r>
            <a:endParaRPr lang="en-US" sz="1300" dirty="0"/>
          </a:p>
        </p:txBody>
      </p:sp>
      <p:sp>
        <p:nvSpPr>
          <p:cNvPr id="8" name="Shape 6"/>
          <p:cNvSpPr/>
          <p:nvPr/>
        </p:nvSpPr>
        <p:spPr>
          <a:xfrm>
            <a:off x="365760" y="2029968"/>
            <a:ext cx="5303520" cy="3429000"/>
          </a:xfrm>
          <a:prstGeom prst="roundRect">
            <a:avLst>
              <a:gd name="adj" fmla="val 2133"/>
            </a:avLst>
          </a:prstGeom>
          <a:solidFill>
            <a:srgbClr val="1E2F45"/>
          </a:solidFill>
          <a:ln w="12700">
            <a:solidFill>
              <a:srgbClr val="FFB703"/>
            </a:solidFill>
            <a:prstDash val="solid"/>
          </a:ln>
        </p:spPr>
      </p:sp>
      <p:sp>
        <p:nvSpPr>
          <p:cNvPr id="9" name="Text 7"/>
          <p:cNvSpPr/>
          <p:nvPr/>
        </p:nvSpPr>
        <p:spPr>
          <a:xfrm>
            <a:off x="502920" y="2084832"/>
            <a:ext cx="5120640" cy="32004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Examples of INHERITED Traits:</a:t>
            </a:r>
            <a:endParaRPr lang="en-US" sz="1300" dirty="0"/>
          </a:p>
        </p:txBody>
      </p:sp>
      <p:sp>
        <p:nvSpPr>
          <p:cNvPr id="10" name="Text 8"/>
          <p:cNvSpPr/>
          <p:nvPr/>
        </p:nvSpPr>
        <p:spPr>
          <a:xfrm>
            <a:off x="548640" y="2432304"/>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Eye color</a:t>
            </a:r>
            <a:endParaRPr lang="en-US" sz="1150" dirty="0"/>
          </a:p>
        </p:txBody>
      </p:sp>
      <p:sp>
        <p:nvSpPr>
          <p:cNvPr id="11" name="Text 9"/>
          <p:cNvSpPr/>
          <p:nvPr/>
        </p:nvSpPr>
        <p:spPr>
          <a:xfrm>
            <a:off x="548640" y="2779776"/>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Beak shape</a:t>
            </a:r>
            <a:endParaRPr lang="en-US" sz="1150" dirty="0"/>
          </a:p>
        </p:txBody>
      </p:sp>
      <p:sp>
        <p:nvSpPr>
          <p:cNvPr id="12" name="Text 10"/>
          <p:cNvSpPr/>
          <p:nvPr/>
        </p:nvSpPr>
        <p:spPr>
          <a:xfrm>
            <a:off x="548640" y="3127248"/>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Leaf shape</a:t>
            </a:r>
            <a:endParaRPr lang="en-US" sz="1150" dirty="0"/>
          </a:p>
        </p:txBody>
      </p:sp>
      <p:sp>
        <p:nvSpPr>
          <p:cNvPr id="13" name="Text 11"/>
          <p:cNvSpPr/>
          <p:nvPr/>
        </p:nvSpPr>
        <p:spPr>
          <a:xfrm>
            <a:off x="548640" y="3474720"/>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Fur color (mostly)</a:t>
            </a:r>
            <a:endParaRPr lang="en-US" sz="1150" dirty="0"/>
          </a:p>
        </p:txBody>
      </p:sp>
      <p:sp>
        <p:nvSpPr>
          <p:cNvPr id="14" name="Text 12"/>
          <p:cNvSpPr/>
          <p:nvPr/>
        </p:nvSpPr>
        <p:spPr>
          <a:xfrm>
            <a:off x="548640" y="3822192"/>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Height (mostly)</a:t>
            </a:r>
            <a:endParaRPr lang="en-US" sz="1150" dirty="0"/>
          </a:p>
        </p:txBody>
      </p:sp>
      <p:sp>
        <p:nvSpPr>
          <p:cNvPr id="15" name="Text 13"/>
          <p:cNvSpPr/>
          <p:nvPr/>
        </p:nvSpPr>
        <p:spPr>
          <a:xfrm>
            <a:off x="548640" y="4169664"/>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How a plant's flowers look</a:t>
            </a:r>
            <a:endParaRPr lang="en-US" sz="1150" dirty="0"/>
          </a:p>
        </p:txBody>
      </p:sp>
      <p:sp>
        <p:nvSpPr>
          <p:cNvPr id="16" name="Text 14"/>
          <p:cNvSpPr/>
          <p:nvPr/>
        </p:nvSpPr>
        <p:spPr>
          <a:xfrm>
            <a:off x="548640" y="4517136"/>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Number of toes</a:t>
            </a:r>
            <a:endParaRPr lang="en-US" sz="1150" dirty="0"/>
          </a:p>
        </p:txBody>
      </p:sp>
      <p:sp>
        <p:nvSpPr>
          <p:cNvPr id="17" name="Text 15"/>
          <p:cNvSpPr/>
          <p:nvPr/>
        </p:nvSpPr>
        <p:spPr>
          <a:xfrm>
            <a:off x="548640" y="4864608"/>
            <a:ext cx="502920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Scale pattern</a:t>
            </a:r>
            <a:endParaRPr lang="en-US" sz="1150" dirty="0"/>
          </a:p>
        </p:txBody>
      </p:sp>
      <p:sp>
        <p:nvSpPr>
          <p:cNvPr id="18" name="Shape 16"/>
          <p:cNvSpPr/>
          <p:nvPr/>
        </p:nvSpPr>
        <p:spPr>
          <a:xfrm>
            <a:off x="6035040" y="2029968"/>
            <a:ext cx="5394960" cy="3429000"/>
          </a:xfrm>
          <a:prstGeom prst="roundRect">
            <a:avLst>
              <a:gd name="adj" fmla="val 2133"/>
            </a:avLst>
          </a:prstGeom>
          <a:solidFill>
            <a:srgbClr val="1E2F45"/>
          </a:solidFill>
          <a:ln w="12700">
            <a:solidFill>
              <a:srgbClr val="2DC653"/>
            </a:solidFill>
            <a:prstDash val="solid"/>
          </a:ln>
        </p:spPr>
      </p:sp>
      <p:sp>
        <p:nvSpPr>
          <p:cNvPr id="19" name="Text 17"/>
          <p:cNvSpPr/>
          <p:nvPr/>
        </p:nvSpPr>
        <p:spPr>
          <a:xfrm>
            <a:off x="6172200" y="2084832"/>
            <a:ext cx="51206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Why Offspring RESEMBLE Parents:</a:t>
            </a:r>
            <a:endParaRPr lang="en-US" sz="1300" dirty="0"/>
          </a:p>
        </p:txBody>
      </p:sp>
      <p:sp>
        <p:nvSpPr>
          <p:cNvPr id="20" name="Text 18"/>
          <p:cNvSpPr/>
          <p:nvPr/>
        </p:nvSpPr>
        <p:spPr>
          <a:xfrm>
            <a:off x="6172200" y="2432304"/>
            <a:ext cx="5120640" cy="2834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Offspring RESEMBLE their parents because they inherit these features handed down.</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But offspring show VARIATION — they're never EXACTLY their parents. Each offspring inherits a different MIX of traits from each parent.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Add variation from the environment, and every offspring ends up a little different.</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Part 2 — The Environment Shapes Traits Too</a:t>
            </a:r>
            <a:endParaRPr lang="en-US" sz="1600" dirty="0"/>
          </a:p>
        </p:txBody>
      </p:sp>
      <p:sp>
        <p:nvSpPr>
          <p:cNvPr id="5" name="Shape 3"/>
          <p:cNvSpPr/>
          <p:nvPr/>
        </p:nvSpPr>
        <p:spPr>
          <a:xfrm>
            <a:off x="365760" y="749808"/>
            <a:ext cx="11430000" cy="658368"/>
          </a:xfrm>
          <a:prstGeom prst="roundRect">
            <a:avLst>
              <a:gd name="adj" fmla="val 11111"/>
            </a:avLst>
          </a:prstGeom>
          <a:solidFill>
            <a:srgbClr val="1E2F45"/>
          </a:solidFill>
          <a:ln w="12700">
            <a:solidFill>
              <a:srgbClr val="2DC653"/>
            </a:solidFill>
            <a:prstDash val="solid"/>
          </a:ln>
        </p:spPr>
      </p:sp>
      <p:sp>
        <p:nvSpPr>
          <p:cNvPr id="6" name="Text 4"/>
          <p:cNvSpPr/>
          <p:nvPr/>
        </p:nvSpPr>
        <p:spPr>
          <a:xfrm>
            <a:off x="548640" y="804672"/>
            <a:ext cx="11064240" cy="53035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Not every trait comes from parents. Where you LIVE, what you EAT, and how much SUN you get can affect traits too.</a:t>
            </a:r>
            <a:endParaRPr lang="en-US" sz="1300" dirty="0"/>
          </a:p>
        </p:txBody>
      </p:sp>
      <p:sp>
        <p:nvSpPr>
          <p:cNvPr id="7" name="Shape 5"/>
          <p:cNvSpPr/>
          <p:nvPr/>
        </p:nvSpPr>
        <p:spPr>
          <a:xfrm>
            <a:off x="365760" y="1536192"/>
            <a:ext cx="3611880" cy="4297680"/>
          </a:xfrm>
          <a:prstGeom prst="roundRect">
            <a:avLst>
              <a:gd name="adj" fmla="val 2025"/>
            </a:avLst>
          </a:prstGeom>
          <a:solidFill>
            <a:srgbClr val="1E2F45"/>
          </a:solidFill>
          <a:ln w="12700">
            <a:solidFill>
              <a:srgbClr val="FFB703"/>
            </a:solidFill>
            <a:prstDash val="solid"/>
          </a:ln>
        </p:spPr>
      </p:sp>
      <p:sp>
        <p:nvSpPr>
          <p:cNvPr id="8" name="Text 6"/>
          <p:cNvSpPr/>
          <p:nvPr/>
        </p:nvSpPr>
        <p:spPr>
          <a:xfrm>
            <a:off x="502920" y="1591056"/>
            <a:ext cx="338328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INHERITED ONLY</a:t>
            </a:r>
            <a:endParaRPr lang="en-US" sz="1200" dirty="0"/>
          </a:p>
        </p:txBody>
      </p:sp>
      <p:sp>
        <p:nvSpPr>
          <p:cNvPr id="9" name="Text 7"/>
          <p:cNvSpPr/>
          <p:nvPr/>
        </p:nvSpPr>
        <p:spPr>
          <a:xfrm>
            <a:off x="502920" y="1975104"/>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Eye color</a:t>
            </a:r>
            <a:endParaRPr lang="en-US" sz="1150" dirty="0"/>
          </a:p>
        </p:txBody>
      </p:sp>
      <p:sp>
        <p:nvSpPr>
          <p:cNvPr id="10" name="Text 8"/>
          <p:cNvSpPr/>
          <p:nvPr/>
        </p:nvSpPr>
        <p:spPr>
          <a:xfrm>
            <a:off x="502920" y="2322576"/>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Beak shape</a:t>
            </a:r>
            <a:endParaRPr lang="en-US" sz="1150" dirty="0"/>
          </a:p>
        </p:txBody>
      </p:sp>
      <p:sp>
        <p:nvSpPr>
          <p:cNvPr id="11" name="Text 9"/>
          <p:cNvSpPr/>
          <p:nvPr/>
        </p:nvSpPr>
        <p:spPr>
          <a:xfrm>
            <a:off x="502920" y="2670048"/>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Flower color</a:t>
            </a:r>
            <a:endParaRPr lang="en-US" sz="1150" dirty="0"/>
          </a:p>
        </p:txBody>
      </p:sp>
      <p:sp>
        <p:nvSpPr>
          <p:cNvPr id="12" name="Text 10"/>
          <p:cNvSpPr/>
          <p:nvPr/>
        </p:nvSpPr>
        <p:spPr>
          <a:xfrm>
            <a:off x="502920" y="3017520"/>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Leaf shape</a:t>
            </a:r>
            <a:endParaRPr lang="en-US" sz="1150" dirty="0"/>
          </a:p>
        </p:txBody>
      </p:sp>
      <p:sp>
        <p:nvSpPr>
          <p:cNvPr id="13" name="Text 11"/>
          <p:cNvSpPr/>
          <p:nvPr/>
        </p:nvSpPr>
        <p:spPr>
          <a:xfrm>
            <a:off x="502920" y="3364992"/>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Scale pattern</a:t>
            </a:r>
            <a:endParaRPr lang="en-US" sz="1150" dirty="0"/>
          </a:p>
        </p:txBody>
      </p:sp>
      <p:sp>
        <p:nvSpPr>
          <p:cNvPr id="14" name="Text 12"/>
          <p:cNvSpPr/>
          <p:nvPr/>
        </p:nvSpPr>
        <p:spPr>
          <a:xfrm>
            <a:off x="502920" y="3712464"/>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Number of teeth</a:t>
            </a:r>
            <a:endParaRPr lang="en-US" sz="1150" dirty="0"/>
          </a:p>
        </p:txBody>
      </p:sp>
      <p:sp>
        <p:nvSpPr>
          <p:cNvPr id="15" name="Text 13"/>
          <p:cNvSpPr/>
          <p:nvPr/>
        </p:nvSpPr>
        <p:spPr>
          <a:xfrm>
            <a:off x="502920" y="3749040"/>
            <a:ext cx="3383280" cy="1024128"/>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Example: A pelican's scoop beak — ALL pelican chicks have it.</a:t>
            </a:r>
            <a:endParaRPr lang="en-US" sz="1100" dirty="0"/>
          </a:p>
        </p:txBody>
      </p:sp>
      <p:sp>
        <p:nvSpPr>
          <p:cNvPr id="16" name="Shape 14"/>
          <p:cNvSpPr/>
          <p:nvPr/>
        </p:nvSpPr>
        <p:spPr>
          <a:xfrm>
            <a:off x="4160520" y="1536192"/>
            <a:ext cx="3611880" cy="4297680"/>
          </a:xfrm>
          <a:prstGeom prst="roundRect">
            <a:avLst>
              <a:gd name="adj" fmla="val 2025"/>
            </a:avLst>
          </a:prstGeom>
          <a:solidFill>
            <a:srgbClr val="1E2F45"/>
          </a:solidFill>
          <a:ln w="12700">
            <a:solidFill>
              <a:srgbClr val="2DC653"/>
            </a:solidFill>
            <a:prstDash val="solid"/>
          </a:ln>
        </p:spPr>
      </p:sp>
      <p:sp>
        <p:nvSpPr>
          <p:cNvPr id="17" name="Text 15"/>
          <p:cNvSpPr/>
          <p:nvPr/>
        </p:nvSpPr>
        <p:spPr>
          <a:xfrm>
            <a:off x="4297680" y="1591056"/>
            <a:ext cx="33832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ENVIRONMENTAL ONLY</a:t>
            </a:r>
            <a:endParaRPr lang="en-US" sz="1200" dirty="0"/>
          </a:p>
        </p:txBody>
      </p:sp>
      <p:sp>
        <p:nvSpPr>
          <p:cNvPr id="18" name="Text 16"/>
          <p:cNvSpPr/>
          <p:nvPr/>
        </p:nvSpPr>
        <p:spPr>
          <a:xfrm>
            <a:off x="4297680" y="1975104"/>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A scar</a:t>
            </a:r>
            <a:endParaRPr lang="en-US" sz="1150" dirty="0"/>
          </a:p>
        </p:txBody>
      </p:sp>
      <p:sp>
        <p:nvSpPr>
          <p:cNvPr id="19" name="Text 17"/>
          <p:cNvSpPr/>
          <p:nvPr/>
        </p:nvSpPr>
        <p:spPr>
          <a:xfrm>
            <a:off x="4297680" y="2322576"/>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A tan</a:t>
            </a:r>
            <a:endParaRPr lang="en-US" sz="1150" dirty="0"/>
          </a:p>
        </p:txBody>
      </p:sp>
      <p:sp>
        <p:nvSpPr>
          <p:cNvPr id="20" name="Text 18"/>
          <p:cNvSpPr/>
          <p:nvPr/>
        </p:nvSpPr>
        <p:spPr>
          <a:xfrm>
            <a:off x="4297680" y="2670048"/>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A broken branch on a tree</a:t>
            </a:r>
            <a:endParaRPr lang="en-US" sz="1150" dirty="0"/>
          </a:p>
        </p:txBody>
      </p:sp>
      <p:sp>
        <p:nvSpPr>
          <p:cNvPr id="21" name="Text 19"/>
          <p:cNvSpPr/>
          <p:nvPr/>
        </p:nvSpPr>
        <p:spPr>
          <a:xfrm>
            <a:off x="4297680" y="3017520"/>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A dent in a shell</a:t>
            </a:r>
            <a:endParaRPr lang="en-US" sz="1150" dirty="0"/>
          </a:p>
        </p:txBody>
      </p:sp>
      <p:sp>
        <p:nvSpPr>
          <p:cNvPr id="22" name="Text 20"/>
          <p:cNvSpPr/>
          <p:nvPr/>
        </p:nvSpPr>
        <p:spPr>
          <a:xfrm>
            <a:off x="4297680" y="3364992"/>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Learned behaviors</a:t>
            </a:r>
            <a:endParaRPr lang="en-US" sz="1150" dirty="0"/>
          </a:p>
        </p:txBody>
      </p:sp>
      <p:sp>
        <p:nvSpPr>
          <p:cNvPr id="23" name="Text 21"/>
          <p:cNvSpPr/>
          <p:nvPr/>
        </p:nvSpPr>
        <p:spPr>
          <a:xfrm>
            <a:off x="4297680" y="3749040"/>
            <a:ext cx="3383280" cy="1024128"/>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Example: A scar comes from a real injury — NOT from parents.</a:t>
            </a:r>
            <a:endParaRPr lang="en-US" sz="1100" dirty="0"/>
          </a:p>
        </p:txBody>
      </p:sp>
      <p:sp>
        <p:nvSpPr>
          <p:cNvPr id="24" name="Shape 22"/>
          <p:cNvSpPr/>
          <p:nvPr/>
        </p:nvSpPr>
        <p:spPr>
          <a:xfrm>
            <a:off x="7955280" y="1536192"/>
            <a:ext cx="3611880" cy="4297680"/>
          </a:xfrm>
          <a:prstGeom prst="roundRect">
            <a:avLst>
              <a:gd name="adj" fmla="val 2025"/>
            </a:avLst>
          </a:prstGeom>
          <a:solidFill>
            <a:srgbClr val="1E2F45"/>
          </a:solidFill>
          <a:ln w="12700">
            <a:solidFill>
              <a:srgbClr val="4CC9F0"/>
            </a:solidFill>
            <a:prstDash val="solid"/>
          </a:ln>
        </p:spPr>
      </p:sp>
      <p:sp>
        <p:nvSpPr>
          <p:cNvPr id="25" name="Text 23"/>
          <p:cNvSpPr/>
          <p:nvPr/>
        </p:nvSpPr>
        <p:spPr>
          <a:xfrm>
            <a:off x="8092440" y="1591056"/>
            <a:ext cx="33832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BOTH (inherited potential + environment)</a:t>
            </a:r>
            <a:endParaRPr lang="en-US" sz="1200" dirty="0"/>
          </a:p>
        </p:txBody>
      </p:sp>
      <p:sp>
        <p:nvSpPr>
          <p:cNvPr id="26" name="Text 24"/>
          <p:cNvSpPr/>
          <p:nvPr/>
        </p:nvSpPr>
        <p:spPr>
          <a:xfrm>
            <a:off x="8092440" y="1975104"/>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SIZE (potential + food + care)</a:t>
            </a:r>
            <a:endParaRPr lang="en-US" sz="1150" dirty="0"/>
          </a:p>
        </p:txBody>
      </p:sp>
      <p:sp>
        <p:nvSpPr>
          <p:cNvPr id="27" name="Text 25"/>
          <p:cNvSpPr/>
          <p:nvPr/>
        </p:nvSpPr>
        <p:spPr>
          <a:xfrm>
            <a:off x="8092440" y="2322576"/>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Plant height</a:t>
            </a:r>
            <a:endParaRPr lang="en-US" sz="1150" dirty="0"/>
          </a:p>
        </p:txBody>
      </p:sp>
      <p:sp>
        <p:nvSpPr>
          <p:cNvPr id="28" name="Text 26"/>
          <p:cNvSpPr/>
          <p:nvPr/>
        </p:nvSpPr>
        <p:spPr>
          <a:xfrm>
            <a:off x="8092440" y="2670048"/>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Strength + muscle</a:t>
            </a:r>
            <a:endParaRPr lang="en-US" sz="1150" dirty="0"/>
          </a:p>
        </p:txBody>
      </p:sp>
      <p:sp>
        <p:nvSpPr>
          <p:cNvPr id="29" name="Text 27"/>
          <p:cNvSpPr/>
          <p:nvPr/>
        </p:nvSpPr>
        <p:spPr>
          <a:xfrm>
            <a:off x="8092440" y="3017520"/>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Fur thickness (season)</a:t>
            </a:r>
            <a:endParaRPr lang="en-US" sz="1150" dirty="0"/>
          </a:p>
        </p:txBody>
      </p:sp>
      <p:sp>
        <p:nvSpPr>
          <p:cNvPr id="30" name="Text 28"/>
          <p:cNvSpPr/>
          <p:nvPr/>
        </p:nvSpPr>
        <p:spPr>
          <a:xfrm>
            <a:off x="8092440" y="3364992"/>
            <a:ext cx="338328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Healthy coat/feathers</a:t>
            </a:r>
            <a:endParaRPr lang="en-US" sz="1150" dirty="0"/>
          </a:p>
        </p:txBody>
      </p:sp>
      <p:sp>
        <p:nvSpPr>
          <p:cNvPr id="31" name="Text 29"/>
          <p:cNvSpPr/>
          <p:nvPr/>
        </p:nvSpPr>
        <p:spPr>
          <a:xfrm>
            <a:off x="8092440" y="3749040"/>
            <a:ext cx="3383280" cy="1024128"/>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Example: A plant in good soil grows taller than in poor soil — same species, different environment.</a:t>
            </a:r>
            <a:endParaRPr lang="en-US" sz="1100" dirty="0"/>
          </a:p>
        </p:txBody>
      </p:sp>
      <p:sp>
        <p:nvSpPr>
          <p:cNvPr id="32" name="Shape 30"/>
          <p:cNvSpPr/>
          <p:nvPr/>
        </p:nvSpPr>
        <p:spPr>
          <a:xfrm>
            <a:off x="365760" y="5961888"/>
            <a:ext cx="11430000" cy="658368"/>
          </a:xfrm>
          <a:prstGeom prst="roundRect">
            <a:avLst>
              <a:gd name="adj" fmla="val 11111"/>
            </a:avLst>
          </a:prstGeom>
          <a:solidFill>
            <a:srgbClr val="1A0A0A"/>
          </a:solidFill>
          <a:ln w="12700">
            <a:solidFill>
              <a:srgbClr val="F4736A"/>
            </a:solidFill>
            <a:prstDash val="solid"/>
          </a:ln>
        </p:spPr>
      </p:sp>
      <p:sp>
        <p:nvSpPr>
          <p:cNvPr id="33" name="Text 31"/>
          <p:cNvSpPr/>
          <p:nvPr/>
        </p:nvSpPr>
        <p:spPr>
          <a:xfrm>
            <a:off x="548640" y="6007608"/>
            <a:ext cx="11064240" cy="548640"/>
          </a:xfrm>
          <a:prstGeom prst="rect">
            <a:avLst/>
          </a:prstGeom>
          <a:noFill/>
          <a:ln/>
        </p:spPr>
        <p:txBody>
          <a:bodyPr wrap="square" rtlCol="0" anchor="ctr"/>
          <a:lstStyle/>
          <a:p>
            <a:pPr indent="0" marL="0">
              <a:buNone/>
            </a:pPr>
            <a:r>
              <a:rPr lang="en-US" sz="1100" dirty="0">
                <a:solidFill>
                  <a:srgbClr val="FFB703"/>
                </a:solidFill>
                <a:latin typeface="Calibri" pitchFamily="34" charset="0"/>
                <a:ea typeface="Calibri" pitchFamily="34" charset="-122"/>
                <a:cs typeface="Calibri" pitchFamily="34" charset="-120"/>
              </a:rPr>
              <a:t>⚠️  Common Misconception: A dog that gets a scar doesn't pass scars to its puppies. Environmental traits stay with THAT individual. Only INHERITED traits get passed down.</a:t>
            </a:r>
            <a:endParaRPr lang="en-US" sz="1100" dirty="0"/>
          </a:p>
        </p:txBody>
      </p:sp>
      <p:sp>
        <p:nvSpPr>
          <p:cNvPr id="34" name="Shape 32"/>
          <p:cNvSpPr/>
          <p:nvPr/>
        </p:nvSpPr>
        <p:spPr>
          <a:xfrm>
            <a:off x="0" y="6629400"/>
            <a:ext cx="12192000" cy="228600"/>
          </a:xfrm>
          <a:prstGeom prst="rect">
            <a:avLst/>
          </a:prstGeom>
          <a:solidFill>
            <a:srgbClr val="162233"/>
          </a:solidFill>
          <a:ln/>
        </p:spPr>
      </p:sp>
      <p:sp>
        <p:nvSpPr>
          <p:cNvPr id="35" name="Text 3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Inherited vs. Environmental — Visual Chart</a:t>
            </a:r>
            <a:endParaRPr lang="en-US" sz="1600" dirty="0"/>
          </a:p>
        </p:txBody>
      </p:sp>
      <p:sp>
        <p:nvSpPr>
          <p:cNvPr id="5" name="Shape 3"/>
          <p:cNvSpPr/>
          <p:nvPr/>
        </p:nvSpPr>
        <p:spPr>
          <a:xfrm>
            <a:off x="365760" y="749808"/>
            <a:ext cx="539496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17550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"parent offspring pelican chick inherited traits labeled beak shape eye color wing shape Florida birds"</a:t>
            </a:r>
            <a:endParaRPr lang="en-US" sz="950" dirty="0"/>
          </a:p>
        </p:txBody>
      </p:sp>
      <p:sp>
        <p:nvSpPr>
          <p:cNvPr id="9" name="Text 7"/>
          <p:cNvSpPr/>
          <p:nvPr/>
        </p:nvSpPr>
        <p:spPr>
          <a:xfrm>
            <a:off x="365760" y="5815584"/>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Inherited traits — passed from parent pelican to chick</a:t>
            </a:r>
            <a:endParaRPr lang="en-US" sz="900" dirty="0"/>
          </a:p>
        </p:txBody>
      </p:sp>
      <p:sp>
        <p:nvSpPr>
          <p:cNvPr id="10" name="Shape 8"/>
          <p:cNvSpPr/>
          <p:nvPr/>
        </p:nvSpPr>
        <p:spPr>
          <a:xfrm>
            <a:off x="6035040" y="749808"/>
            <a:ext cx="5394960" cy="5029200"/>
          </a:xfrm>
          <a:prstGeom prst="roundRect">
            <a:avLst>
              <a:gd name="adj" fmla="val 1455"/>
            </a:avLst>
          </a:prstGeom>
          <a:solidFill>
            <a:srgbClr val="0A1520"/>
          </a:solidFill>
          <a:ln w="19050">
            <a:solidFill>
              <a:srgbClr val="4CC9F0"/>
            </a:solidFill>
            <a:prstDash val="dash"/>
          </a:ln>
        </p:spPr>
      </p:sp>
      <p:sp>
        <p:nvSpPr>
          <p:cNvPr id="11" name="Text 9"/>
          <p:cNvSpPr/>
          <p:nvPr/>
        </p:nvSpPr>
        <p:spPr>
          <a:xfrm>
            <a:off x="6126480" y="859536"/>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6126480" y="1298448"/>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6144768" y="1591056"/>
            <a:ext cx="517550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"plant same species different size sun shade soil water environmental trait comparison"</a:t>
            </a:r>
            <a:endParaRPr lang="en-US" sz="950" dirty="0"/>
          </a:p>
        </p:txBody>
      </p:sp>
      <p:sp>
        <p:nvSpPr>
          <p:cNvPr id="14" name="Text 12"/>
          <p:cNvSpPr/>
          <p:nvPr/>
        </p:nvSpPr>
        <p:spPr>
          <a:xfrm>
            <a:off x="6035040" y="5815584"/>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Environmental trait — same species, different environment = different size</a:t>
            </a:r>
            <a:endParaRPr lang="en-US" sz="900" dirty="0"/>
          </a:p>
        </p:txBody>
      </p:sp>
      <p:sp>
        <p:nvSpPr>
          <p:cNvPr id="15" name="Shape 13"/>
          <p:cNvSpPr/>
          <p:nvPr/>
        </p:nvSpPr>
        <p:spPr>
          <a:xfrm>
            <a:off x="365760" y="5897880"/>
            <a:ext cx="11430000" cy="658368"/>
          </a:xfrm>
          <a:prstGeom prst="roundRect">
            <a:avLst>
              <a:gd name="adj" fmla="val 11111"/>
            </a:avLst>
          </a:prstGeom>
          <a:solidFill>
            <a:srgbClr val="1A3A1A"/>
          </a:solidFill>
          <a:ln w="12700">
            <a:solidFill>
              <a:srgbClr val="2DC653"/>
            </a:solidFill>
            <a:prstDash val="solid"/>
          </a:ln>
        </p:spPr>
      </p:sp>
      <p:sp>
        <p:nvSpPr>
          <p:cNvPr id="16" name="Text 14"/>
          <p:cNvSpPr/>
          <p:nvPr/>
        </p:nvSpPr>
        <p:spPr>
          <a:xfrm>
            <a:off x="548640" y="5943600"/>
            <a:ext cx="11064240" cy="5486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Key Concept: Offspring inherit many traits from their parents. The environment shapes other traits. Many traits — like SIZE — come from BOTH.</a:t>
            </a:r>
            <a:endParaRPr lang="en-US" sz="12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Florida Trait Cases — Sort and Explain</a:t>
            </a:r>
            <a:endParaRPr lang="en-US" sz="1600" dirty="0"/>
          </a:p>
        </p:txBody>
      </p:sp>
      <p:sp>
        <p:nvSpPr>
          <p:cNvPr id="5" name="Shape 3"/>
          <p:cNvSpPr/>
          <p:nvPr/>
        </p:nvSpPr>
        <p:spPr>
          <a:xfrm>
            <a:off x="365760" y="749808"/>
            <a:ext cx="5577840" cy="2487168"/>
          </a:xfrm>
          <a:prstGeom prst="roundRect">
            <a:avLst>
              <a:gd name="adj" fmla="val 2941"/>
            </a:avLst>
          </a:prstGeom>
          <a:solidFill>
            <a:srgbClr val="1E2F45"/>
          </a:solidFill>
          <a:ln w="12700">
            <a:solidFill>
              <a:srgbClr val="FFB703"/>
            </a:solidFill>
            <a:prstDash val="solid"/>
          </a:ln>
        </p:spPr>
      </p:sp>
      <p:sp>
        <p:nvSpPr>
          <p:cNvPr id="6" name="Shape 4"/>
          <p:cNvSpPr/>
          <p:nvPr/>
        </p:nvSpPr>
        <p:spPr>
          <a:xfrm>
            <a:off x="502920" y="841248"/>
            <a:ext cx="1554480" cy="256032"/>
          </a:xfrm>
          <a:prstGeom prst="roundRect">
            <a:avLst>
              <a:gd name="adj" fmla="val 50000"/>
            </a:avLst>
          </a:prstGeom>
          <a:solidFill>
            <a:srgbClr val="FFB703"/>
          </a:solidFill>
          <a:ln w="12700">
            <a:solidFill>
              <a:srgbClr val="FFB703"/>
            </a:solidFill>
            <a:prstDash val="solid"/>
          </a:ln>
        </p:spPr>
      </p:sp>
      <p:sp>
        <p:nvSpPr>
          <p:cNvPr id="7" name="Text 5"/>
          <p:cNvSpPr/>
          <p:nvPr/>
        </p:nvSpPr>
        <p:spPr>
          <a:xfrm>
            <a:off x="502920" y="841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Pelican Beak Shape</a:t>
            </a:r>
            <a:endParaRPr lang="en-US" sz="900" dirty="0"/>
          </a:p>
        </p:txBody>
      </p:sp>
      <p:sp>
        <p:nvSpPr>
          <p:cNvPr id="8" name="Shape 6"/>
          <p:cNvSpPr/>
          <p:nvPr/>
        </p:nvSpPr>
        <p:spPr>
          <a:xfrm>
            <a:off x="3840480" y="841248"/>
            <a:ext cx="1554480" cy="256032"/>
          </a:xfrm>
          <a:prstGeom prst="roundRect">
            <a:avLst>
              <a:gd name="adj" fmla="val 50000"/>
            </a:avLst>
          </a:prstGeom>
          <a:solidFill>
            <a:srgbClr val="FFB703"/>
          </a:solidFill>
          <a:ln w="12700">
            <a:solidFill>
              <a:srgbClr val="FFB703"/>
            </a:solidFill>
            <a:prstDash val="solid"/>
          </a:ln>
        </p:spPr>
      </p:sp>
      <p:sp>
        <p:nvSpPr>
          <p:cNvPr id="9" name="Text 7"/>
          <p:cNvSpPr/>
          <p:nvPr/>
        </p:nvSpPr>
        <p:spPr>
          <a:xfrm>
            <a:off x="3840480" y="841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INHERITED</a:t>
            </a:r>
            <a:endParaRPr lang="en-US" sz="900" dirty="0"/>
          </a:p>
        </p:txBody>
      </p:sp>
      <p:sp>
        <p:nvSpPr>
          <p:cNvPr id="10" name="Text 8"/>
          <p:cNvSpPr/>
          <p:nvPr/>
        </p:nvSpPr>
        <p:spPr>
          <a:xfrm>
            <a:off x="548640" y="1207008"/>
            <a:ext cx="5212080" cy="13258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All pelican chicks have the same scoop beak shape — it comes from parents, not from where they grew up.</a:t>
            </a:r>
            <a:endParaRPr lang="en-US" sz="1150" dirty="0"/>
          </a:p>
        </p:txBody>
      </p:sp>
      <p:sp>
        <p:nvSpPr>
          <p:cNvPr id="11" name="Shape 9"/>
          <p:cNvSpPr/>
          <p:nvPr/>
        </p:nvSpPr>
        <p:spPr>
          <a:xfrm>
            <a:off x="548640" y="2578608"/>
            <a:ext cx="5212080" cy="530352"/>
          </a:xfrm>
          <a:prstGeom prst="roundRect">
            <a:avLst>
              <a:gd name="adj" fmla="val 13793"/>
            </a:avLst>
          </a:prstGeom>
          <a:solidFill>
            <a:srgbClr val="0A1520"/>
          </a:solidFill>
          <a:ln w="19050">
            <a:solidFill>
              <a:srgbClr val="4CC9F0"/>
            </a:solidFill>
            <a:prstDash val="dash"/>
          </a:ln>
        </p:spPr>
      </p:sp>
      <p:sp>
        <p:nvSpPr>
          <p:cNvPr id="12" name="Text 10"/>
          <p:cNvSpPr/>
          <p:nvPr/>
        </p:nvSpPr>
        <p:spPr>
          <a:xfrm>
            <a:off x="640080" y="268833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40080" y="312724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658368" y="3419856"/>
            <a:ext cx="4992624" cy="-52120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"pelican beak shape Florida trait inherited environmental"</a:t>
            </a:r>
            <a:endParaRPr lang="en-US" sz="950" dirty="0"/>
          </a:p>
        </p:txBody>
      </p:sp>
      <p:sp>
        <p:nvSpPr>
          <p:cNvPr id="15" name="Shape 13"/>
          <p:cNvSpPr/>
          <p:nvPr/>
        </p:nvSpPr>
        <p:spPr>
          <a:xfrm>
            <a:off x="6309360" y="749808"/>
            <a:ext cx="5577840" cy="2487168"/>
          </a:xfrm>
          <a:prstGeom prst="roundRect">
            <a:avLst>
              <a:gd name="adj" fmla="val 2941"/>
            </a:avLst>
          </a:prstGeom>
          <a:solidFill>
            <a:srgbClr val="1E2F45"/>
          </a:solidFill>
          <a:ln w="12700">
            <a:solidFill>
              <a:srgbClr val="4CC9F0"/>
            </a:solidFill>
            <a:prstDash val="solid"/>
          </a:ln>
        </p:spPr>
      </p:sp>
      <p:sp>
        <p:nvSpPr>
          <p:cNvPr id="16" name="Shape 14"/>
          <p:cNvSpPr/>
          <p:nvPr/>
        </p:nvSpPr>
        <p:spPr>
          <a:xfrm>
            <a:off x="6446520" y="841248"/>
            <a:ext cx="1554480" cy="256032"/>
          </a:xfrm>
          <a:prstGeom prst="roundRect">
            <a:avLst>
              <a:gd name="adj" fmla="val 50000"/>
            </a:avLst>
          </a:prstGeom>
          <a:solidFill>
            <a:srgbClr val="4CC9F0"/>
          </a:solidFill>
          <a:ln w="12700">
            <a:solidFill>
              <a:srgbClr val="4CC9F0"/>
            </a:solidFill>
            <a:prstDash val="solid"/>
          </a:ln>
        </p:spPr>
      </p:sp>
      <p:sp>
        <p:nvSpPr>
          <p:cNvPr id="17" name="Text 15"/>
          <p:cNvSpPr/>
          <p:nvPr/>
        </p:nvSpPr>
        <p:spPr>
          <a:xfrm>
            <a:off x="6446520" y="841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Oak Tree Height</a:t>
            </a:r>
            <a:endParaRPr lang="en-US" sz="900" dirty="0"/>
          </a:p>
        </p:txBody>
      </p:sp>
      <p:sp>
        <p:nvSpPr>
          <p:cNvPr id="18" name="Shape 16"/>
          <p:cNvSpPr/>
          <p:nvPr/>
        </p:nvSpPr>
        <p:spPr>
          <a:xfrm>
            <a:off x="9784080" y="841248"/>
            <a:ext cx="1554480" cy="256032"/>
          </a:xfrm>
          <a:prstGeom prst="roundRect">
            <a:avLst>
              <a:gd name="adj" fmla="val 50000"/>
            </a:avLst>
          </a:prstGeom>
          <a:solidFill>
            <a:srgbClr val="4CC9F0"/>
          </a:solidFill>
          <a:ln w="12700">
            <a:solidFill>
              <a:srgbClr val="4CC9F0"/>
            </a:solidFill>
            <a:prstDash val="solid"/>
          </a:ln>
        </p:spPr>
      </p:sp>
      <p:sp>
        <p:nvSpPr>
          <p:cNvPr id="19" name="Text 17"/>
          <p:cNvSpPr/>
          <p:nvPr/>
        </p:nvSpPr>
        <p:spPr>
          <a:xfrm>
            <a:off x="9784080" y="841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BOTH</a:t>
            </a:r>
            <a:endParaRPr lang="en-US" sz="900" dirty="0"/>
          </a:p>
        </p:txBody>
      </p:sp>
      <p:sp>
        <p:nvSpPr>
          <p:cNvPr id="20" name="Text 18"/>
          <p:cNvSpPr/>
          <p:nvPr/>
        </p:nvSpPr>
        <p:spPr>
          <a:xfrm>
            <a:off x="6492240" y="1207008"/>
            <a:ext cx="5212080" cy="13258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Oak trees inherit the potential to grow tall, but sun, water, and soil decide if they reach it. Same species, very different heights.</a:t>
            </a:r>
            <a:endParaRPr lang="en-US" sz="1150" dirty="0"/>
          </a:p>
        </p:txBody>
      </p:sp>
      <p:sp>
        <p:nvSpPr>
          <p:cNvPr id="21" name="Shape 19"/>
          <p:cNvSpPr/>
          <p:nvPr/>
        </p:nvSpPr>
        <p:spPr>
          <a:xfrm>
            <a:off x="6492240" y="2578608"/>
            <a:ext cx="5212080" cy="530352"/>
          </a:xfrm>
          <a:prstGeom prst="roundRect">
            <a:avLst>
              <a:gd name="adj" fmla="val 13793"/>
            </a:avLst>
          </a:prstGeom>
          <a:solidFill>
            <a:srgbClr val="0A1520"/>
          </a:solidFill>
          <a:ln w="19050">
            <a:solidFill>
              <a:srgbClr val="4CC9F0"/>
            </a:solidFill>
            <a:prstDash val="dash"/>
          </a:ln>
        </p:spPr>
      </p:sp>
      <p:sp>
        <p:nvSpPr>
          <p:cNvPr id="22" name="Text 20"/>
          <p:cNvSpPr/>
          <p:nvPr/>
        </p:nvSpPr>
        <p:spPr>
          <a:xfrm>
            <a:off x="6583680" y="268833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6583680" y="312724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4" name="Text 22"/>
          <p:cNvSpPr/>
          <p:nvPr/>
        </p:nvSpPr>
        <p:spPr>
          <a:xfrm>
            <a:off x="6601968" y="3419856"/>
            <a:ext cx="4992624" cy="-52120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"oak tree height Florida trait inherited environmental"</a:t>
            </a:r>
            <a:endParaRPr lang="en-US" sz="950" dirty="0"/>
          </a:p>
        </p:txBody>
      </p:sp>
      <p:sp>
        <p:nvSpPr>
          <p:cNvPr id="25" name="Shape 23"/>
          <p:cNvSpPr/>
          <p:nvPr/>
        </p:nvSpPr>
        <p:spPr>
          <a:xfrm>
            <a:off x="365760" y="3447288"/>
            <a:ext cx="5577840" cy="2487168"/>
          </a:xfrm>
          <a:prstGeom prst="roundRect">
            <a:avLst>
              <a:gd name="adj" fmla="val 2941"/>
            </a:avLst>
          </a:prstGeom>
          <a:solidFill>
            <a:srgbClr val="1E2F45"/>
          </a:solidFill>
          <a:ln w="12700">
            <a:solidFill>
              <a:srgbClr val="F4736A"/>
            </a:solidFill>
            <a:prstDash val="solid"/>
          </a:ln>
        </p:spPr>
      </p:sp>
      <p:sp>
        <p:nvSpPr>
          <p:cNvPr id="26" name="Shape 24"/>
          <p:cNvSpPr/>
          <p:nvPr/>
        </p:nvSpPr>
        <p:spPr>
          <a:xfrm>
            <a:off x="502920" y="3538728"/>
            <a:ext cx="1554480" cy="256032"/>
          </a:xfrm>
          <a:prstGeom prst="roundRect">
            <a:avLst>
              <a:gd name="adj" fmla="val 50000"/>
            </a:avLst>
          </a:prstGeom>
          <a:solidFill>
            <a:srgbClr val="F4736A"/>
          </a:solidFill>
          <a:ln w="12700">
            <a:solidFill>
              <a:srgbClr val="F4736A"/>
            </a:solidFill>
            <a:prstDash val="solid"/>
          </a:ln>
        </p:spPr>
      </p:sp>
      <p:sp>
        <p:nvSpPr>
          <p:cNvPr id="27" name="Text 25"/>
          <p:cNvSpPr/>
          <p:nvPr/>
        </p:nvSpPr>
        <p:spPr>
          <a:xfrm>
            <a:off x="502920" y="353872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Sea Turtle Shell Shape</a:t>
            </a:r>
            <a:endParaRPr lang="en-US" sz="900" dirty="0"/>
          </a:p>
        </p:txBody>
      </p:sp>
      <p:sp>
        <p:nvSpPr>
          <p:cNvPr id="28" name="Shape 26"/>
          <p:cNvSpPr/>
          <p:nvPr/>
        </p:nvSpPr>
        <p:spPr>
          <a:xfrm>
            <a:off x="3840480" y="3538728"/>
            <a:ext cx="1554480" cy="256032"/>
          </a:xfrm>
          <a:prstGeom prst="roundRect">
            <a:avLst>
              <a:gd name="adj" fmla="val 50000"/>
            </a:avLst>
          </a:prstGeom>
          <a:solidFill>
            <a:srgbClr val="FFB703"/>
          </a:solidFill>
          <a:ln w="12700">
            <a:solidFill>
              <a:srgbClr val="FFB703"/>
            </a:solidFill>
            <a:prstDash val="solid"/>
          </a:ln>
        </p:spPr>
      </p:sp>
      <p:sp>
        <p:nvSpPr>
          <p:cNvPr id="29" name="Text 27"/>
          <p:cNvSpPr/>
          <p:nvPr/>
        </p:nvSpPr>
        <p:spPr>
          <a:xfrm>
            <a:off x="3840480" y="353872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INHERITED</a:t>
            </a:r>
            <a:endParaRPr lang="en-US" sz="900" dirty="0"/>
          </a:p>
        </p:txBody>
      </p:sp>
      <p:sp>
        <p:nvSpPr>
          <p:cNvPr id="30" name="Text 28"/>
          <p:cNvSpPr/>
          <p:nvPr/>
        </p:nvSpPr>
        <p:spPr>
          <a:xfrm>
            <a:off x="548640" y="3904488"/>
            <a:ext cx="5212080" cy="13258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All loggerhead turtles have the same dome-shaped shell — it's a species trait passed from parent to offspring.</a:t>
            </a:r>
            <a:endParaRPr lang="en-US" sz="1150" dirty="0"/>
          </a:p>
        </p:txBody>
      </p:sp>
      <p:sp>
        <p:nvSpPr>
          <p:cNvPr id="31" name="Shape 29"/>
          <p:cNvSpPr/>
          <p:nvPr/>
        </p:nvSpPr>
        <p:spPr>
          <a:xfrm>
            <a:off x="548640" y="5276088"/>
            <a:ext cx="5212080" cy="530352"/>
          </a:xfrm>
          <a:prstGeom prst="roundRect">
            <a:avLst>
              <a:gd name="adj" fmla="val 13793"/>
            </a:avLst>
          </a:prstGeom>
          <a:solidFill>
            <a:srgbClr val="0A1520"/>
          </a:solidFill>
          <a:ln w="19050">
            <a:solidFill>
              <a:srgbClr val="4CC9F0"/>
            </a:solidFill>
            <a:prstDash val="dash"/>
          </a:ln>
        </p:spPr>
      </p:sp>
      <p:sp>
        <p:nvSpPr>
          <p:cNvPr id="32" name="Text 30"/>
          <p:cNvSpPr/>
          <p:nvPr/>
        </p:nvSpPr>
        <p:spPr>
          <a:xfrm>
            <a:off x="640080" y="538581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3" name="Text 31"/>
          <p:cNvSpPr/>
          <p:nvPr/>
        </p:nvSpPr>
        <p:spPr>
          <a:xfrm>
            <a:off x="640080" y="582472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4" name="Text 32"/>
          <p:cNvSpPr/>
          <p:nvPr/>
        </p:nvSpPr>
        <p:spPr>
          <a:xfrm>
            <a:off x="658368" y="6117336"/>
            <a:ext cx="4992624" cy="-52120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"sea turtle shell shape Florida trait inherited environmental"</a:t>
            </a:r>
            <a:endParaRPr lang="en-US" sz="950" dirty="0"/>
          </a:p>
        </p:txBody>
      </p:sp>
      <p:sp>
        <p:nvSpPr>
          <p:cNvPr id="35" name="Shape 33"/>
          <p:cNvSpPr/>
          <p:nvPr/>
        </p:nvSpPr>
        <p:spPr>
          <a:xfrm>
            <a:off x="6309360" y="3447288"/>
            <a:ext cx="5577840" cy="2487168"/>
          </a:xfrm>
          <a:prstGeom prst="roundRect">
            <a:avLst>
              <a:gd name="adj" fmla="val 2941"/>
            </a:avLst>
          </a:prstGeom>
          <a:solidFill>
            <a:srgbClr val="1E2F45"/>
          </a:solidFill>
          <a:ln w="12700">
            <a:solidFill>
              <a:srgbClr val="2DC653"/>
            </a:solidFill>
            <a:prstDash val="solid"/>
          </a:ln>
        </p:spPr>
      </p:sp>
      <p:sp>
        <p:nvSpPr>
          <p:cNvPr id="36" name="Shape 34"/>
          <p:cNvSpPr/>
          <p:nvPr/>
        </p:nvSpPr>
        <p:spPr>
          <a:xfrm>
            <a:off x="6446520" y="3538728"/>
            <a:ext cx="1554480" cy="256032"/>
          </a:xfrm>
          <a:prstGeom prst="roundRect">
            <a:avLst>
              <a:gd name="adj" fmla="val 50000"/>
            </a:avLst>
          </a:prstGeom>
          <a:solidFill>
            <a:srgbClr val="2DC653"/>
          </a:solidFill>
          <a:ln w="12700">
            <a:solidFill>
              <a:srgbClr val="2DC653"/>
            </a:solidFill>
            <a:prstDash val="solid"/>
          </a:ln>
        </p:spPr>
      </p:sp>
      <p:sp>
        <p:nvSpPr>
          <p:cNvPr id="37" name="Text 35"/>
          <p:cNvSpPr/>
          <p:nvPr/>
        </p:nvSpPr>
        <p:spPr>
          <a:xfrm>
            <a:off x="6446520" y="353872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Sunflower Facing Sun</a:t>
            </a:r>
            <a:endParaRPr lang="en-US" sz="900" dirty="0"/>
          </a:p>
        </p:txBody>
      </p:sp>
      <p:sp>
        <p:nvSpPr>
          <p:cNvPr id="38" name="Shape 36"/>
          <p:cNvSpPr/>
          <p:nvPr/>
        </p:nvSpPr>
        <p:spPr>
          <a:xfrm>
            <a:off x="9784080" y="3538728"/>
            <a:ext cx="1554480" cy="256032"/>
          </a:xfrm>
          <a:prstGeom prst="roundRect">
            <a:avLst>
              <a:gd name="adj" fmla="val 50000"/>
            </a:avLst>
          </a:prstGeom>
          <a:solidFill>
            <a:srgbClr val="2DC653"/>
          </a:solidFill>
          <a:ln w="12700">
            <a:solidFill>
              <a:srgbClr val="2DC653"/>
            </a:solidFill>
            <a:prstDash val="solid"/>
          </a:ln>
        </p:spPr>
      </p:sp>
      <p:sp>
        <p:nvSpPr>
          <p:cNvPr id="39" name="Text 37"/>
          <p:cNvSpPr/>
          <p:nvPr/>
        </p:nvSpPr>
        <p:spPr>
          <a:xfrm>
            <a:off x="9784080" y="353872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ENVIRONMENTAL</a:t>
            </a:r>
            <a:endParaRPr lang="en-US" sz="900" dirty="0"/>
          </a:p>
        </p:txBody>
      </p:sp>
      <p:sp>
        <p:nvSpPr>
          <p:cNvPr id="40" name="Text 38"/>
          <p:cNvSpPr/>
          <p:nvPr/>
        </p:nvSpPr>
        <p:spPr>
          <a:xfrm>
            <a:off x="6492240" y="3904488"/>
            <a:ext cx="5212080" cy="13258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Sunflowers turn to track sunlight — this is a response to the environment (light direction), not a trait inherited from parents.</a:t>
            </a:r>
            <a:endParaRPr lang="en-US" sz="1150" dirty="0"/>
          </a:p>
        </p:txBody>
      </p:sp>
      <p:sp>
        <p:nvSpPr>
          <p:cNvPr id="41" name="Shape 39"/>
          <p:cNvSpPr/>
          <p:nvPr/>
        </p:nvSpPr>
        <p:spPr>
          <a:xfrm>
            <a:off x="6492240" y="5276088"/>
            <a:ext cx="5212080" cy="530352"/>
          </a:xfrm>
          <a:prstGeom prst="roundRect">
            <a:avLst>
              <a:gd name="adj" fmla="val 13793"/>
            </a:avLst>
          </a:prstGeom>
          <a:solidFill>
            <a:srgbClr val="0A1520"/>
          </a:solidFill>
          <a:ln w="19050">
            <a:solidFill>
              <a:srgbClr val="4CC9F0"/>
            </a:solidFill>
            <a:prstDash val="dash"/>
          </a:ln>
        </p:spPr>
      </p:sp>
      <p:sp>
        <p:nvSpPr>
          <p:cNvPr id="42" name="Text 40"/>
          <p:cNvSpPr/>
          <p:nvPr/>
        </p:nvSpPr>
        <p:spPr>
          <a:xfrm>
            <a:off x="6583680" y="538581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3" name="Text 41"/>
          <p:cNvSpPr/>
          <p:nvPr/>
        </p:nvSpPr>
        <p:spPr>
          <a:xfrm>
            <a:off x="6583680" y="582472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44" name="Text 42"/>
          <p:cNvSpPr/>
          <p:nvPr/>
        </p:nvSpPr>
        <p:spPr>
          <a:xfrm>
            <a:off x="6601968" y="6117336"/>
            <a:ext cx="4992624" cy="-52120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"sunflower facing sun Florida trait inherited environmental"</a:t>
            </a:r>
            <a:endParaRPr lang="en-US" sz="950" dirty="0"/>
          </a:p>
        </p:txBody>
      </p:sp>
      <p:sp>
        <p:nvSpPr>
          <p:cNvPr id="45" name="Shape 43"/>
          <p:cNvSpPr/>
          <p:nvPr/>
        </p:nvSpPr>
        <p:spPr>
          <a:xfrm>
            <a:off x="365760" y="5943600"/>
            <a:ext cx="11430000" cy="658368"/>
          </a:xfrm>
          <a:prstGeom prst="roundRect">
            <a:avLst>
              <a:gd name="adj" fmla="val 11111"/>
            </a:avLst>
          </a:prstGeom>
          <a:solidFill>
            <a:srgbClr val="162233"/>
          </a:solidFill>
          <a:ln w="12700">
            <a:solidFill>
              <a:srgbClr val="FFB703"/>
            </a:solidFill>
            <a:prstDash val="solid"/>
          </a:ln>
        </p:spPr>
      </p:sp>
      <p:sp>
        <p:nvSpPr>
          <p:cNvPr id="46" name="Text 44"/>
          <p:cNvSpPr/>
          <p:nvPr/>
        </p:nvSpPr>
        <p:spPr>
          <a:xfrm>
            <a:off x="530352" y="6016752"/>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Observe &amp; Reason</a:t>
            </a:r>
            <a:endParaRPr lang="en-US" sz="1300" dirty="0"/>
          </a:p>
        </p:txBody>
      </p:sp>
      <p:sp>
        <p:nvSpPr>
          <p:cNvPr id="47" name="Text 45"/>
          <p:cNvSpPr/>
          <p:nvPr/>
        </p:nvSpPr>
        <p:spPr>
          <a:xfrm>
            <a:off x="530352" y="6382512"/>
            <a:ext cx="11100816" cy="109728"/>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"Pick TWO cases. For each, decide INHERITED, ENVIRONMENTAL, or BOTH — and give one piece of evidence for your choice."</a:t>
            </a:r>
            <a:endParaRPr lang="en-US" sz="1150" dirty="0"/>
          </a:p>
        </p:txBody>
      </p:sp>
      <p:sp>
        <p:nvSpPr>
          <p:cNvPr id="48" name="Shape 46"/>
          <p:cNvSpPr/>
          <p:nvPr/>
        </p:nvSpPr>
        <p:spPr>
          <a:xfrm>
            <a:off x="0" y="6629400"/>
            <a:ext cx="12192000" cy="228600"/>
          </a:xfrm>
          <a:prstGeom prst="rect">
            <a:avLst/>
          </a:prstGeom>
          <a:solidFill>
            <a:srgbClr val="162233"/>
          </a:solidFill>
          <a:ln/>
        </p:spPr>
      </p:sp>
      <p:sp>
        <p:nvSpPr>
          <p:cNvPr id="49" name="Text 4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Sort the Traits</a:t>
            </a:r>
            <a:endParaRPr lang="en-US" sz="1600" dirty="0"/>
          </a:p>
        </p:txBody>
      </p:sp>
      <p:sp>
        <p:nvSpPr>
          <p:cNvPr id="5" name="Text 3"/>
          <p:cNvSpPr/>
          <p:nvPr/>
        </p:nvSpPr>
        <p:spPr>
          <a:xfrm>
            <a:off x="365760" y="749808"/>
            <a:ext cx="11430000" cy="34747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Pick a Florida organism you know. By Step 4 you'll have a sorted chart of its traits.</a:t>
            </a:r>
            <a:endParaRPr lang="en-US" sz="1300" dirty="0"/>
          </a:p>
        </p:txBody>
      </p:sp>
      <p:sp>
        <p:nvSpPr>
          <p:cNvPr id="6" name="Shape 4"/>
          <p:cNvSpPr/>
          <p:nvPr/>
        </p:nvSpPr>
        <p:spPr>
          <a:xfrm>
            <a:off x="365760" y="1170432"/>
            <a:ext cx="5577840" cy="2331720"/>
          </a:xfrm>
          <a:prstGeom prst="roundRect">
            <a:avLst>
              <a:gd name="adj" fmla="val 3137"/>
            </a:avLst>
          </a:prstGeom>
          <a:solidFill>
            <a:srgbClr val="1E2F45"/>
          </a:solidFill>
          <a:ln w="12700">
            <a:solidFill>
              <a:srgbClr val="4CC9F0"/>
            </a:solidFill>
            <a:prstDash val="solid"/>
          </a:ln>
        </p:spPr>
      </p:sp>
      <p:sp>
        <p:nvSpPr>
          <p:cNvPr id="7" name="Shape 5"/>
          <p:cNvSpPr/>
          <p:nvPr/>
        </p:nvSpPr>
        <p:spPr>
          <a:xfrm>
            <a:off x="548640" y="1261872"/>
            <a:ext cx="1554480" cy="256032"/>
          </a:xfrm>
          <a:prstGeom prst="roundRect">
            <a:avLst>
              <a:gd name="adj" fmla="val 50000"/>
            </a:avLst>
          </a:prstGeom>
          <a:solidFill>
            <a:srgbClr val="4CC9F0"/>
          </a:solidFill>
          <a:ln w="12700">
            <a:solidFill>
              <a:srgbClr val="4CC9F0"/>
            </a:solidFill>
            <a:prstDash val="solid"/>
          </a:ln>
        </p:spPr>
      </p:sp>
      <p:sp>
        <p:nvSpPr>
          <p:cNvPr id="8" name="Text 6"/>
          <p:cNvSpPr/>
          <p:nvPr/>
        </p:nvSpPr>
        <p:spPr>
          <a:xfrm>
            <a:off x="548640" y="12618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548640" y="1591056"/>
            <a:ext cx="5303520" cy="32004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Pick your organism</a:t>
            </a:r>
            <a:endParaRPr lang="en-US" sz="1300" dirty="0"/>
          </a:p>
        </p:txBody>
      </p:sp>
      <p:sp>
        <p:nvSpPr>
          <p:cNvPr id="10" name="Text 8"/>
          <p:cNvSpPr/>
          <p:nvPr/>
        </p:nvSpPr>
        <p:spPr>
          <a:xfrm>
            <a:off x="548640" y="1938528"/>
            <a:ext cx="5303520" cy="1417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Choose a Florida plant or animal: family pet, backyard tree, bird outside, a known Florida species. Write its name at the top of a notebook page.</a:t>
            </a:r>
            <a:endParaRPr lang="en-US" sz="1150" dirty="0"/>
          </a:p>
        </p:txBody>
      </p:sp>
      <p:sp>
        <p:nvSpPr>
          <p:cNvPr id="11" name="Shape 9"/>
          <p:cNvSpPr/>
          <p:nvPr/>
        </p:nvSpPr>
        <p:spPr>
          <a:xfrm>
            <a:off x="6309360" y="1170432"/>
            <a:ext cx="5577840" cy="2331720"/>
          </a:xfrm>
          <a:prstGeom prst="roundRect">
            <a:avLst>
              <a:gd name="adj" fmla="val 3137"/>
            </a:avLst>
          </a:prstGeom>
          <a:solidFill>
            <a:srgbClr val="1E2F45"/>
          </a:solidFill>
          <a:ln w="12700">
            <a:solidFill>
              <a:srgbClr val="FFB703"/>
            </a:solidFill>
            <a:prstDash val="solid"/>
          </a:ln>
        </p:spPr>
      </p:sp>
      <p:sp>
        <p:nvSpPr>
          <p:cNvPr id="12" name="Shape 10"/>
          <p:cNvSpPr/>
          <p:nvPr/>
        </p:nvSpPr>
        <p:spPr>
          <a:xfrm>
            <a:off x="6492240" y="1261872"/>
            <a:ext cx="1554480" cy="256032"/>
          </a:xfrm>
          <a:prstGeom prst="roundRect">
            <a:avLst>
              <a:gd name="adj" fmla="val 50000"/>
            </a:avLst>
          </a:prstGeom>
          <a:solidFill>
            <a:srgbClr val="FFB703"/>
          </a:solidFill>
          <a:ln w="12700">
            <a:solidFill>
              <a:srgbClr val="FFB703"/>
            </a:solidFill>
            <a:prstDash val="solid"/>
          </a:ln>
        </p:spPr>
      </p:sp>
      <p:sp>
        <p:nvSpPr>
          <p:cNvPr id="13" name="Text 11"/>
          <p:cNvSpPr/>
          <p:nvPr/>
        </p:nvSpPr>
        <p:spPr>
          <a:xfrm>
            <a:off x="6492240" y="12618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6492240" y="1591056"/>
            <a:ext cx="5303520" cy="32004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List 6 traits</a:t>
            </a:r>
            <a:endParaRPr lang="en-US" sz="1300" dirty="0"/>
          </a:p>
        </p:txBody>
      </p:sp>
      <p:sp>
        <p:nvSpPr>
          <p:cNvPr id="15" name="Text 13"/>
          <p:cNvSpPr/>
          <p:nvPr/>
        </p:nvSpPr>
        <p:spPr>
          <a:xfrm>
            <a:off x="6492240" y="1938528"/>
            <a:ext cx="5303520" cy="1417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List at least 6 specific traits you can see — eye color, leaf shape, size, scars, fur color, posture. BE SPECIFIC (not just 'big').</a:t>
            </a:r>
            <a:endParaRPr lang="en-US" sz="1150" dirty="0"/>
          </a:p>
        </p:txBody>
      </p:sp>
      <p:sp>
        <p:nvSpPr>
          <p:cNvPr id="16" name="Shape 14"/>
          <p:cNvSpPr/>
          <p:nvPr/>
        </p:nvSpPr>
        <p:spPr>
          <a:xfrm>
            <a:off x="365760" y="3685032"/>
            <a:ext cx="5577840" cy="2331720"/>
          </a:xfrm>
          <a:prstGeom prst="roundRect">
            <a:avLst>
              <a:gd name="adj" fmla="val 3137"/>
            </a:avLst>
          </a:prstGeom>
          <a:solidFill>
            <a:srgbClr val="1E2F45"/>
          </a:solidFill>
          <a:ln w="12700">
            <a:solidFill>
              <a:srgbClr val="2DC653"/>
            </a:solidFill>
            <a:prstDash val="solid"/>
          </a:ln>
        </p:spPr>
      </p:sp>
      <p:sp>
        <p:nvSpPr>
          <p:cNvPr id="17" name="Shape 15"/>
          <p:cNvSpPr/>
          <p:nvPr/>
        </p:nvSpPr>
        <p:spPr>
          <a:xfrm>
            <a:off x="548640" y="3776472"/>
            <a:ext cx="1554480" cy="256032"/>
          </a:xfrm>
          <a:prstGeom prst="roundRect">
            <a:avLst>
              <a:gd name="adj" fmla="val 50000"/>
            </a:avLst>
          </a:prstGeom>
          <a:solidFill>
            <a:srgbClr val="2DC653"/>
          </a:solidFill>
          <a:ln w="12700">
            <a:solidFill>
              <a:srgbClr val="2DC653"/>
            </a:solidFill>
            <a:prstDash val="solid"/>
          </a:ln>
        </p:spPr>
      </p:sp>
      <p:sp>
        <p:nvSpPr>
          <p:cNvPr id="18" name="Text 16"/>
          <p:cNvSpPr/>
          <p:nvPr/>
        </p:nvSpPr>
        <p:spPr>
          <a:xfrm>
            <a:off x="548640" y="37764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548640" y="4105656"/>
            <a:ext cx="530352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Sort each trait</a:t>
            </a:r>
            <a:endParaRPr lang="en-US" sz="1300" dirty="0"/>
          </a:p>
        </p:txBody>
      </p:sp>
      <p:sp>
        <p:nvSpPr>
          <p:cNvPr id="20" name="Text 18"/>
          <p:cNvSpPr/>
          <p:nvPr/>
        </p:nvSpPr>
        <p:spPr>
          <a:xfrm>
            <a:off x="548640" y="4453128"/>
            <a:ext cx="5303520" cy="1417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Make 3 columns: INHERITED / ENVIRONMENTAL / BOTH. Place each trait in one column. If unsure, mark it BOTH and explain why.</a:t>
            </a:r>
            <a:endParaRPr lang="en-US" sz="1150" dirty="0"/>
          </a:p>
        </p:txBody>
      </p:sp>
      <p:sp>
        <p:nvSpPr>
          <p:cNvPr id="21" name="Shape 19"/>
          <p:cNvSpPr/>
          <p:nvPr/>
        </p:nvSpPr>
        <p:spPr>
          <a:xfrm>
            <a:off x="6309360" y="3685032"/>
            <a:ext cx="5577840" cy="2331720"/>
          </a:xfrm>
          <a:prstGeom prst="roundRect">
            <a:avLst>
              <a:gd name="adj" fmla="val 3137"/>
            </a:avLst>
          </a:prstGeom>
          <a:solidFill>
            <a:srgbClr val="1E2F45"/>
          </a:solidFill>
          <a:ln w="12700">
            <a:solidFill>
              <a:srgbClr val="F4736A"/>
            </a:solidFill>
            <a:prstDash val="solid"/>
          </a:ln>
        </p:spPr>
      </p:sp>
      <p:sp>
        <p:nvSpPr>
          <p:cNvPr id="22" name="Shape 20"/>
          <p:cNvSpPr/>
          <p:nvPr/>
        </p:nvSpPr>
        <p:spPr>
          <a:xfrm>
            <a:off x="6492240" y="3776472"/>
            <a:ext cx="1554480" cy="256032"/>
          </a:xfrm>
          <a:prstGeom prst="roundRect">
            <a:avLst>
              <a:gd name="adj" fmla="val 50000"/>
            </a:avLst>
          </a:prstGeom>
          <a:solidFill>
            <a:srgbClr val="F4736A"/>
          </a:solidFill>
          <a:ln w="12700">
            <a:solidFill>
              <a:srgbClr val="F4736A"/>
            </a:solidFill>
            <a:prstDash val="solid"/>
          </a:ln>
        </p:spPr>
      </p:sp>
      <p:sp>
        <p:nvSpPr>
          <p:cNvPr id="23" name="Text 21"/>
          <p:cNvSpPr/>
          <p:nvPr/>
        </p:nvSpPr>
        <p:spPr>
          <a:xfrm>
            <a:off x="6492240" y="37764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6492240" y="4105656"/>
            <a:ext cx="5303520" cy="32004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Defend with evidence</a:t>
            </a:r>
            <a:endParaRPr lang="en-US" sz="1300" dirty="0"/>
          </a:p>
        </p:txBody>
      </p:sp>
      <p:sp>
        <p:nvSpPr>
          <p:cNvPr id="25" name="Text 23"/>
          <p:cNvSpPr/>
          <p:nvPr/>
        </p:nvSpPr>
        <p:spPr>
          <a:xfrm>
            <a:off x="6492240" y="4453128"/>
            <a:ext cx="5303520" cy="14173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Pick 1 trait from each column. Write 3 sentences: 'I sorted ___ as INHERITED because ___. I sorted ___ as ENVIRONMENTAL because ___. I sorted ___ as BOTH because ___.'</a:t>
            </a:r>
            <a:endParaRPr lang="en-US" sz="1150" dirty="0"/>
          </a:p>
        </p:txBody>
      </p:sp>
      <p:sp>
        <p:nvSpPr>
          <p:cNvPr id="26" name="Shape 24"/>
          <p:cNvSpPr/>
          <p:nvPr/>
        </p:nvSpPr>
        <p:spPr>
          <a:xfrm>
            <a:off x="365760" y="6236208"/>
            <a:ext cx="11430000" cy="411480"/>
          </a:xfrm>
          <a:prstGeom prst="roundRect">
            <a:avLst>
              <a:gd name="adj" fmla="val 17778"/>
            </a:avLst>
          </a:prstGeom>
          <a:solidFill>
            <a:srgbClr val="162233"/>
          </a:solidFill>
          <a:ln w="12700">
            <a:solidFill>
              <a:srgbClr val="B0C4D8"/>
            </a:solidFill>
            <a:prstDash val="solid"/>
          </a:ln>
        </p:spPr>
      </p:sp>
      <p:sp>
        <p:nvSpPr>
          <p:cNvPr id="27" name="Text 25"/>
          <p:cNvSpPr/>
          <p:nvPr/>
        </p:nvSpPr>
        <p:spPr>
          <a:xfrm>
            <a:off x="548640" y="6281928"/>
            <a:ext cx="11064240" cy="320040"/>
          </a:xfrm>
          <a:prstGeom prst="rect">
            <a:avLst/>
          </a:prstGeom>
          <a:noFill/>
          <a:ln/>
        </p:spPr>
        <p:txBody>
          <a:bodyPr wrap="square" rtlCol="0" anchor="ctr"/>
          <a:lstStyle/>
          <a:p>
            <a:pPr indent="0" marL="0">
              <a:buNone/>
            </a:pPr>
            <a:r>
              <a:rPr lang="en-US" sz="1050" i="1" dirty="0">
                <a:solidFill>
                  <a:srgbClr val="B0C4D8"/>
                </a:solidFill>
                <a:latin typeface="Calibri" pitchFamily="34" charset="0"/>
                <a:ea typeface="Calibri" pitchFamily="34" charset="-122"/>
                <a:cs typeface="Calibri" pitchFamily="34" charset="-120"/>
              </a:rPr>
              <a:t>Think like a scientist: 'You see two oak trees the same age — one is twice as tall. Name TWO things you'd check to decide if the difference is inherited or environmental.'</a:t>
            </a:r>
            <a:endParaRPr lang="en-US" sz="1050" dirty="0"/>
          </a:p>
        </p:txBody>
      </p:sp>
      <p:sp>
        <p:nvSpPr>
          <p:cNvPr id="28" name="Shape 26"/>
          <p:cNvSpPr/>
          <p:nvPr/>
        </p:nvSpPr>
        <p:spPr>
          <a:xfrm>
            <a:off x="0" y="6629400"/>
            <a:ext cx="12192000" cy="228600"/>
          </a:xfrm>
          <a:prstGeom prst="rect">
            <a:avLst/>
          </a:prstGeom>
          <a:solidFill>
            <a:srgbClr val="162233"/>
          </a:solidFill>
          <a:ln/>
        </p:spPr>
      </p:sp>
      <p:sp>
        <p:nvSpPr>
          <p:cNvPr id="29" name="Text 2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 Are Offspring Clones?</a:t>
            </a:r>
            <a:endParaRPr lang="en-US" sz="1600" dirty="0"/>
          </a:p>
        </p:txBody>
      </p:sp>
      <p:sp>
        <p:nvSpPr>
          <p:cNvPr id="5" name="Shape 3"/>
          <p:cNvSpPr/>
          <p:nvPr/>
        </p:nvSpPr>
        <p:spPr>
          <a:xfrm>
            <a:off x="365760" y="749808"/>
            <a:ext cx="11430000" cy="777240"/>
          </a:xfrm>
          <a:prstGeom prst="roundRect">
            <a:avLst>
              <a:gd name="adj" fmla="val 9412"/>
            </a:avLst>
          </a:prstGeom>
          <a:solidFill>
            <a:srgbClr val="1E2F45"/>
          </a:solidFill>
          <a:ln w="12700">
            <a:solidFill>
              <a:srgbClr val="B0C4D8"/>
            </a:solidFill>
            <a:prstDash val="solid"/>
          </a:ln>
        </p:spPr>
      </p:sp>
      <p:sp>
        <p:nvSpPr>
          <p:cNvPr id="6" name="Text 4"/>
          <p:cNvSpPr/>
          <p:nvPr/>
        </p:nvSpPr>
        <p:spPr>
          <a:xfrm>
            <a:off x="548640" y="804672"/>
            <a:ext cx="11064240" cy="658368"/>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Claim Question: "A classmate says 'Offspring are basically clones of their parents — everything they look like comes from inheritance.' Do you agree?"</a:t>
            </a:r>
            <a:endParaRPr lang="en-US" sz="1250" dirty="0"/>
          </a:p>
        </p:txBody>
      </p:sp>
      <p:sp>
        <p:nvSpPr>
          <p:cNvPr id="7" name="Shape 5"/>
          <p:cNvSpPr/>
          <p:nvPr/>
        </p:nvSpPr>
        <p:spPr>
          <a:xfrm>
            <a:off x="365760" y="1664208"/>
            <a:ext cx="3474720" cy="3657600"/>
          </a:xfrm>
          <a:prstGeom prst="roundRect">
            <a:avLst>
              <a:gd name="adj" fmla="val 2632"/>
            </a:avLst>
          </a:prstGeom>
          <a:solidFill>
            <a:srgbClr val="0A3D8F"/>
          </a:solidFill>
          <a:ln w="19050">
            <a:solidFill>
              <a:srgbClr val="1A5FBD"/>
            </a:solidFill>
            <a:prstDash val="solid"/>
          </a:ln>
        </p:spPr>
      </p:sp>
      <p:sp>
        <p:nvSpPr>
          <p:cNvPr id="8" name="Shape 6"/>
          <p:cNvSpPr/>
          <p:nvPr/>
        </p:nvSpPr>
        <p:spPr>
          <a:xfrm>
            <a:off x="365760" y="1664208"/>
            <a:ext cx="3474720" cy="347472"/>
          </a:xfrm>
          <a:prstGeom prst="rect">
            <a:avLst/>
          </a:prstGeom>
          <a:solidFill>
            <a:srgbClr val="1A5FBD"/>
          </a:solidFill>
          <a:ln w="12700">
            <a:solidFill>
              <a:srgbClr val="1A5FBD"/>
            </a:solidFill>
            <a:prstDash val="solid"/>
          </a:ln>
        </p:spPr>
      </p:sp>
      <p:sp>
        <p:nvSpPr>
          <p:cNvPr id="9" name="Text 7"/>
          <p:cNvSpPr/>
          <p:nvPr/>
        </p:nvSpPr>
        <p:spPr>
          <a:xfrm>
            <a:off x="457200" y="1682496"/>
            <a:ext cx="32918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200400" cy="316382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I disagree. Offspring are NOT clones — they inherit traits but the environment shapes others, and offspring show variation.</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Sentence starter: "I claim that offspring are not clones because..."</a:t>
            </a:r>
            <a:endParaRPr lang="en-US" sz="1050" dirty="0"/>
          </a:p>
        </p:txBody>
      </p:sp>
      <p:sp>
        <p:nvSpPr>
          <p:cNvPr id="11" name="Shape 9"/>
          <p:cNvSpPr/>
          <p:nvPr/>
        </p:nvSpPr>
        <p:spPr>
          <a:xfrm>
            <a:off x="4114800" y="1664208"/>
            <a:ext cx="3474720" cy="3657600"/>
          </a:xfrm>
          <a:prstGeom prst="roundRect">
            <a:avLst>
              <a:gd name="adj" fmla="val 2632"/>
            </a:avLst>
          </a:prstGeom>
          <a:solidFill>
            <a:srgbClr val="145C35"/>
          </a:solidFill>
          <a:ln w="19050">
            <a:solidFill>
              <a:srgbClr val="228B50"/>
            </a:solidFill>
            <a:prstDash val="solid"/>
          </a:ln>
        </p:spPr>
      </p:sp>
      <p:sp>
        <p:nvSpPr>
          <p:cNvPr id="12" name="Shape 10"/>
          <p:cNvSpPr/>
          <p:nvPr/>
        </p:nvSpPr>
        <p:spPr>
          <a:xfrm>
            <a:off x="4114800" y="1664208"/>
            <a:ext cx="3474720" cy="347472"/>
          </a:xfrm>
          <a:prstGeom prst="rect">
            <a:avLst/>
          </a:prstGeom>
          <a:solidFill>
            <a:srgbClr val="228B50"/>
          </a:solidFill>
          <a:ln w="12700">
            <a:solidFill>
              <a:srgbClr val="228B50"/>
            </a:solidFill>
            <a:prstDash val="solid"/>
          </a:ln>
        </p:spPr>
      </p:sp>
      <p:sp>
        <p:nvSpPr>
          <p:cNvPr id="13" name="Text 11"/>
          <p:cNvSpPr/>
          <p:nvPr/>
        </p:nvSpPr>
        <p:spPr>
          <a:xfrm>
            <a:off x="4206240" y="1682496"/>
            <a:ext cx="32918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2066544"/>
            <a:ext cx="3200400" cy="316382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Evidence from today:</a:t>
            </a: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1. Two sibling puppies grow to different sizes depending on food — same parents, different sizes from the environment.</a:t>
            </a: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2. Florida panther kittens have SPOTTED fur at birth even though adult parents have plain coats.</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Sentence starter: "I know this because..."</a:t>
            </a:r>
            <a:endParaRPr lang="en-US" sz="1050" dirty="0"/>
          </a:p>
        </p:txBody>
      </p:sp>
      <p:sp>
        <p:nvSpPr>
          <p:cNvPr id="15" name="Shape 13"/>
          <p:cNvSpPr/>
          <p:nvPr/>
        </p:nvSpPr>
        <p:spPr>
          <a:xfrm>
            <a:off x="7863840" y="1664208"/>
            <a:ext cx="3474720" cy="3657600"/>
          </a:xfrm>
          <a:prstGeom prst="roundRect">
            <a:avLst>
              <a:gd name="adj" fmla="val 2632"/>
            </a:avLst>
          </a:prstGeom>
          <a:solidFill>
            <a:srgbClr val="7A3200"/>
          </a:solidFill>
          <a:ln w="19050">
            <a:solidFill>
              <a:srgbClr val="B04A00"/>
            </a:solidFill>
            <a:prstDash val="solid"/>
          </a:ln>
        </p:spPr>
      </p:sp>
      <p:sp>
        <p:nvSpPr>
          <p:cNvPr id="16" name="Shape 14"/>
          <p:cNvSpPr/>
          <p:nvPr/>
        </p:nvSpPr>
        <p:spPr>
          <a:xfrm>
            <a:off x="7863840" y="1664208"/>
            <a:ext cx="3474720" cy="347472"/>
          </a:xfrm>
          <a:prstGeom prst="rect">
            <a:avLst/>
          </a:prstGeom>
          <a:solidFill>
            <a:srgbClr val="B04A00"/>
          </a:solidFill>
          <a:ln w="12700">
            <a:solidFill>
              <a:srgbClr val="B04A00"/>
            </a:solidFill>
            <a:prstDash val="solid"/>
          </a:ln>
        </p:spPr>
      </p:sp>
      <p:sp>
        <p:nvSpPr>
          <p:cNvPr id="17" name="Text 15"/>
          <p:cNvSpPr/>
          <p:nvPr/>
        </p:nvSpPr>
        <p:spPr>
          <a:xfrm>
            <a:off x="7955280" y="1682496"/>
            <a:ext cx="32918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2066544"/>
            <a:ext cx="3200400" cy="316382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If offspring were clones, the environment wouldn't be able to change any of their traits. But size, scars, and even coat timing are shaped by the environment — so inheritance alone doesn't explain everything.</a:t>
            </a:r>
            <a:endParaRPr lang="en-US" sz="1050" dirty="0"/>
          </a:p>
          <a:p>
            <a:pPr algn="l" indent="0" marL="0">
              <a:buNone/>
            </a:pPr>
            <a:endParaRPr lang="en-US" sz="1050" dirty="0"/>
          </a:p>
          <a:p>
            <a:pPr algn="l" indent="0" marL="0">
              <a:buNone/>
            </a:pPr>
            <a:r>
              <a:rPr lang="en-US" sz="1050" dirty="0">
                <a:solidFill>
                  <a:srgbClr val="FFFFFF"/>
                </a:solidFill>
                <a:latin typeface="Calibri" pitchFamily="34" charset="0"/>
                <a:ea typeface="Calibri" pitchFamily="34" charset="-122"/>
                <a:cs typeface="Calibri" pitchFamily="34" charset="-120"/>
              </a:rPr>
              <a:t>Sentence starter: "This shows that..."</a:t>
            </a:r>
            <a:endParaRPr lang="en-US" sz="1050" dirty="0"/>
          </a:p>
        </p:txBody>
      </p:sp>
      <p:sp>
        <p:nvSpPr>
          <p:cNvPr id="19" name="Shape 17"/>
          <p:cNvSpPr/>
          <p:nvPr/>
        </p:nvSpPr>
        <p:spPr>
          <a:xfrm>
            <a:off x="365760" y="5486400"/>
            <a:ext cx="11430000" cy="1078992"/>
          </a:xfrm>
          <a:prstGeom prst="roundRect">
            <a:avLst>
              <a:gd name="adj" fmla="val 6780"/>
            </a:avLst>
          </a:prstGeom>
          <a:solidFill>
            <a:srgbClr val="162233"/>
          </a:solidFill>
          <a:ln w="12700">
            <a:solidFill>
              <a:srgbClr val="FFB703"/>
            </a:solidFill>
            <a:prstDash val="solid"/>
          </a:ln>
        </p:spPr>
      </p:sp>
      <p:sp>
        <p:nvSpPr>
          <p:cNvPr id="20" name="Text 18"/>
          <p:cNvSpPr/>
          <p:nvPr/>
        </p:nvSpPr>
        <p:spPr>
          <a:xfrm>
            <a:off x="530352" y="5559552"/>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Variables Check</a:t>
            </a:r>
            <a:endParaRPr lang="en-US" sz="1300" dirty="0"/>
          </a:p>
        </p:txBody>
      </p:sp>
      <p:sp>
        <p:nvSpPr>
          <p:cNvPr id="21" name="Text 19"/>
          <p:cNvSpPr/>
          <p:nvPr/>
        </p:nvSpPr>
        <p:spPr>
          <a:xfrm>
            <a:off x="530352" y="5925312"/>
            <a:ext cx="11100816" cy="53035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"If we tested this: take two puppies from the same litter, feed one well and one poorly — what's changing? What's staying the same? Is this a FAIR TEST of whether size is environmental?"</a:t>
            </a:r>
            <a:endParaRPr lang="en-US" sz="12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Your Turn — Panther Kittens' Spots</a:t>
            </a:r>
            <a:endParaRPr lang="en-US" sz="1600" dirty="0"/>
          </a:p>
        </p:txBody>
      </p:sp>
      <p:sp>
        <p:nvSpPr>
          <p:cNvPr id="5" name="Shape 3"/>
          <p:cNvSpPr/>
          <p:nvPr/>
        </p:nvSpPr>
        <p:spPr>
          <a:xfrm>
            <a:off x="365760" y="749808"/>
            <a:ext cx="11430000" cy="777240"/>
          </a:xfrm>
          <a:prstGeom prst="roundRect">
            <a:avLst>
              <a:gd name="adj" fmla="val 9412"/>
            </a:avLst>
          </a:prstGeom>
          <a:solidFill>
            <a:srgbClr val="1E2F45"/>
          </a:solidFill>
          <a:ln w="12700">
            <a:solidFill>
              <a:srgbClr val="B0C4D8"/>
            </a:solidFill>
            <a:prstDash val="solid"/>
          </a:ln>
        </p:spPr>
      </p:sp>
      <p:sp>
        <p:nvSpPr>
          <p:cNvPr id="6" name="Text 4"/>
          <p:cNvSpPr/>
          <p:nvPr/>
        </p:nvSpPr>
        <p:spPr>
          <a:xfrm>
            <a:off x="548640" y="804672"/>
            <a:ext cx="11064240" cy="658368"/>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Science Question: "Florida panther kittens are born with spotted fur — even though their parents have plain tan coats. Is the kitten's spotted fur an INHERITED trait? Why?"</a:t>
            </a:r>
            <a:endParaRPr lang="en-US" sz="1250" dirty="0"/>
          </a:p>
        </p:txBody>
      </p:sp>
      <p:sp>
        <p:nvSpPr>
          <p:cNvPr id="7" name="Shape 5"/>
          <p:cNvSpPr/>
          <p:nvPr/>
        </p:nvSpPr>
        <p:spPr>
          <a:xfrm>
            <a:off x="365760" y="1664208"/>
            <a:ext cx="3611880" cy="4114800"/>
          </a:xfrm>
          <a:prstGeom prst="roundRect">
            <a:avLst>
              <a:gd name="adj" fmla="val 2532"/>
            </a:avLst>
          </a:prstGeom>
          <a:solidFill>
            <a:srgbClr val="0A3D8F"/>
          </a:solidFill>
          <a:ln w="19050">
            <a:solidFill>
              <a:srgbClr val="1A5FBD"/>
            </a:solidFill>
            <a:prstDash val="solid"/>
          </a:ln>
        </p:spPr>
      </p:sp>
      <p:sp>
        <p:nvSpPr>
          <p:cNvPr id="8" name="Shape 6"/>
          <p:cNvSpPr/>
          <p:nvPr/>
        </p:nvSpPr>
        <p:spPr>
          <a:xfrm>
            <a:off x="365760" y="1664208"/>
            <a:ext cx="3611880" cy="347472"/>
          </a:xfrm>
          <a:prstGeom prst="rect">
            <a:avLst/>
          </a:prstGeom>
          <a:solidFill>
            <a:srgbClr val="1A5FBD"/>
          </a:solidFill>
          <a:ln w="12700">
            <a:solidFill>
              <a:srgbClr val="1A5FBD"/>
            </a:solidFill>
            <a:prstDash val="solid"/>
          </a:ln>
        </p:spPr>
      </p:sp>
      <p:sp>
        <p:nvSpPr>
          <p:cNvPr id="9" name="Text 7"/>
          <p:cNvSpPr/>
          <p:nvPr/>
        </p:nvSpPr>
        <p:spPr>
          <a:xfrm>
            <a:off x="45720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337560" cy="36210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Write your CLAIM:</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"The spots ARE / ARE NOT inherited because..."</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Hint: does every panther kitten have them?</a:t>
            </a:r>
            <a:endParaRPr lang="en-US" sz="1100" dirty="0"/>
          </a:p>
        </p:txBody>
      </p:sp>
      <p:sp>
        <p:nvSpPr>
          <p:cNvPr id="11" name="Shape 9"/>
          <p:cNvSpPr/>
          <p:nvPr/>
        </p:nvSpPr>
        <p:spPr>
          <a:xfrm>
            <a:off x="4160520" y="1664208"/>
            <a:ext cx="3611880" cy="4114800"/>
          </a:xfrm>
          <a:prstGeom prst="roundRect">
            <a:avLst>
              <a:gd name="adj" fmla="val 2532"/>
            </a:avLst>
          </a:prstGeom>
          <a:solidFill>
            <a:srgbClr val="145C35"/>
          </a:solidFill>
          <a:ln w="19050">
            <a:solidFill>
              <a:srgbClr val="228B50"/>
            </a:solidFill>
            <a:prstDash val="solid"/>
          </a:ln>
        </p:spPr>
      </p:sp>
      <p:sp>
        <p:nvSpPr>
          <p:cNvPr id="12" name="Shape 10"/>
          <p:cNvSpPr/>
          <p:nvPr/>
        </p:nvSpPr>
        <p:spPr>
          <a:xfrm>
            <a:off x="4160520" y="1664208"/>
            <a:ext cx="3611880" cy="347472"/>
          </a:xfrm>
          <a:prstGeom prst="rect">
            <a:avLst/>
          </a:prstGeom>
          <a:solidFill>
            <a:srgbClr val="228B50"/>
          </a:solidFill>
          <a:ln w="12700">
            <a:solidFill>
              <a:srgbClr val="228B50"/>
            </a:solidFill>
            <a:prstDash val="solid"/>
          </a:ln>
        </p:spPr>
      </p:sp>
      <p:sp>
        <p:nvSpPr>
          <p:cNvPr id="13" name="Text 11"/>
          <p:cNvSpPr/>
          <p:nvPr/>
        </p:nvSpPr>
        <p:spPr>
          <a:xfrm>
            <a:off x="425196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97680" y="2066544"/>
            <a:ext cx="3337560" cy="36210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Use today's evidence: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Do ALL kitten panthers have spots?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Do the spots come from the parents?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What happens to the spots as the kitten grows?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"I know this because..."</a:t>
            </a:r>
            <a:endParaRPr lang="en-US" sz="1100" dirty="0"/>
          </a:p>
        </p:txBody>
      </p:sp>
      <p:sp>
        <p:nvSpPr>
          <p:cNvPr id="15" name="Shape 13"/>
          <p:cNvSpPr/>
          <p:nvPr/>
        </p:nvSpPr>
        <p:spPr>
          <a:xfrm>
            <a:off x="7955280" y="1664208"/>
            <a:ext cx="3611880" cy="4114800"/>
          </a:xfrm>
          <a:prstGeom prst="roundRect">
            <a:avLst>
              <a:gd name="adj" fmla="val 2532"/>
            </a:avLst>
          </a:prstGeom>
          <a:solidFill>
            <a:srgbClr val="7A3200"/>
          </a:solidFill>
          <a:ln w="19050">
            <a:solidFill>
              <a:srgbClr val="B04A00"/>
            </a:solidFill>
            <a:prstDash val="solid"/>
          </a:ln>
        </p:spPr>
      </p:sp>
      <p:sp>
        <p:nvSpPr>
          <p:cNvPr id="16" name="Shape 14"/>
          <p:cNvSpPr/>
          <p:nvPr/>
        </p:nvSpPr>
        <p:spPr>
          <a:xfrm>
            <a:off x="7955280" y="1664208"/>
            <a:ext cx="3611880" cy="347472"/>
          </a:xfrm>
          <a:prstGeom prst="rect">
            <a:avLst/>
          </a:prstGeom>
          <a:solidFill>
            <a:srgbClr val="B04A00"/>
          </a:solidFill>
          <a:ln w="12700">
            <a:solidFill>
              <a:srgbClr val="B04A00"/>
            </a:solidFill>
            <a:prstDash val="solid"/>
          </a:ln>
        </p:spPr>
      </p:sp>
      <p:sp>
        <p:nvSpPr>
          <p:cNvPr id="17" name="Text 15"/>
          <p:cNvSpPr/>
          <p:nvPr/>
        </p:nvSpPr>
        <p:spPr>
          <a:xfrm>
            <a:off x="804672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92440" y="2066544"/>
            <a:ext cx="3337560" cy="36210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Explain why:</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If all kittens have them, could they be environmental?</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Why might spots be inherited even if adults don't show them?</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Use the word 'variation' in your reasoning.</a:t>
            </a:r>
            <a:endParaRPr lang="en-US" sz="1100" dirty="0"/>
          </a:p>
        </p:txBody>
      </p:sp>
      <p:sp>
        <p:nvSpPr>
          <p:cNvPr id="19" name="Shape 17"/>
          <p:cNvSpPr/>
          <p:nvPr/>
        </p:nvSpPr>
        <p:spPr>
          <a:xfrm>
            <a:off x="365760" y="5897880"/>
            <a:ext cx="1143000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943600"/>
            <a:ext cx="11064240" cy="548640"/>
          </a:xfrm>
          <a:prstGeom prst="rect">
            <a:avLst/>
          </a:prstGeom>
          <a:noFill/>
          <a:ln/>
        </p:spPr>
        <p:txBody>
          <a:bodyPr wrap="square" rtlCol="0" anchor="ctr"/>
          <a:lstStyle/>
          <a:p>
            <a:pPr indent="0" marL="0">
              <a:buNone/>
            </a:pPr>
            <a:r>
              <a:rPr lang="en-US" sz="1050" i="1" dirty="0">
                <a:solidFill>
                  <a:srgbClr val="B0C4D8"/>
                </a:solidFill>
                <a:latin typeface="Calibri" pitchFamily="34" charset="0"/>
                <a:ea typeface="Calibri" pitchFamily="34" charset="-122"/>
                <a:cs typeface="Calibri" pitchFamily="34" charset="-120"/>
              </a:rPr>
              <a:t>🐆  Florida Amazing Fact: Florida panther kittens are born with spotted fur — even though their parents have plain tan coats. The spots are an INHERITED trait that just shows up at one stage of life. The spots fade as the kitten grows into an adult.</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Elaborate — Mind-Blow + Go Deeper</a:t>
            </a:r>
            <a:endParaRPr lang="en-US" sz="1600" dirty="0"/>
          </a:p>
        </p:txBody>
      </p:sp>
      <p:sp>
        <p:nvSpPr>
          <p:cNvPr id="5" name="Shape 3"/>
          <p:cNvSpPr/>
          <p:nvPr/>
        </p:nvSpPr>
        <p:spPr>
          <a:xfrm>
            <a:off x="365760" y="749808"/>
            <a:ext cx="11430000" cy="1691640"/>
          </a:xfrm>
          <a:prstGeom prst="roundRect">
            <a:avLst>
              <a:gd name="adj" fmla="val 4324"/>
            </a:avLst>
          </a:prstGeom>
          <a:solidFill>
            <a:srgbClr val="1E2F45"/>
          </a:solidFill>
          <a:ln w="12700">
            <a:solidFill>
              <a:srgbClr val="F4736A"/>
            </a:solidFill>
            <a:prstDash val="solid"/>
          </a:ln>
        </p:spPr>
      </p:sp>
      <p:sp>
        <p:nvSpPr>
          <p:cNvPr id="6" name="Text 4"/>
          <p:cNvSpPr/>
          <p:nvPr/>
        </p:nvSpPr>
        <p:spPr>
          <a:xfrm>
            <a:off x="548640" y="804672"/>
            <a:ext cx="11064240" cy="320040"/>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  Amazing Florida Fact — Sea Turtle Hatchlings' Inherited Instinct</a:t>
            </a:r>
            <a:endParaRPr lang="en-US" sz="1400" dirty="0"/>
          </a:p>
        </p:txBody>
      </p:sp>
      <p:sp>
        <p:nvSpPr>
          <p:cNvPr id="7" name="Text 5"/>
          <p:cNvSpPr/>
          <p:nvPr/>
        </p:nvSpPr>
        <p:spPr>
          <a:xfrm>
            <a:off x="548640" y="1152144"/>
            <a:ext cx="11064240" cy="12070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Florida sea turtle hatchlings inherit the ability to head straight for the ocean as soon as they emerge from the nest — even before they've ever seen it. That instinct is INHERITED, but exactly which beach they hatch on (the environment) shapes where they'll later return to lay their own eggs. Same inherited instinct, different environmental imprint.</a:t>
            </a:r>
            <a:endParaRPr lang="en-US" sz="1200" dirty="0"/>
          </a:p>
        </p:txBody>
      </p:sp>
      <p:sp>
        <p:nvSpPr>
          <p:cNvPr id="8" name="Shape 6"/>
          <p:cNvSpPr/>
          <p:nvPr/>
        </p:nvSpPr>
        <p:spPr>
          <a:xfrm>
            <a:off x="365760" y="2578608"/>
            <a:ext cx="5394960" cy="3291840"/>
          </a:xfrm>
          <a:prstGeom prst="roundRect">
            <a:avLst>
              <a:gd name="adj" fmla="val 2222"/>
            </a:avLst>
          </a:prstGeom>
          <a:solidFill>
            <a:srgbClr val="162233"/>
          </a:solidFill>
          <a:ln w="12700">
            <a:solidFill>
              <a:srgbClr val="0096C7"/>
            </a:solidFill>
            <a:prstDash val="solid"/>
          </a:ln>
        </p:spPr>
      </p:sp>
      <p:sp>
        <p:nvSpPr>
          <p:cNvPr id="9" name="Text 7"/>
          <p:cNvSpPr/>
          <p:nvPr/>
        </p:nvSpPr>
        <p:spPr>
          <a:xfrm>
            <a:off x="502920" y="2633472"/>
            <a:ext cx="512064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Go Deeper: Mangroves — Same Species, Different Size</a:t>
            </a:r>
            <a:endParaRPr lang="en-US" sz="1200" dirty="0"/>
          </a:p>
        </p:txBody>
      </p:sp>
      <p:sp>
        <p:nvSpPr>
          <p:cNvPr id="10" name="Text 8"/>
          <p:cNvSpPr/>
          <p:nvPr/>
        </p:nvSpPr>
        <p:spPr>
          <a:xfrm>
            <a:off x="502920" y="3017520"/>
            <a:ext cx="5120640" cy="270662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Florida's mangrove trees inherit their tangled root shape from parent mangroves — but how TALL each one grows depends on water depth and salt levels around it. Same species, very different sizes depending on the environment.</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This is the BOTH category in action — inherited potential, environmental outcome.</a:t>
            </a:r>
            <a:endParaRPr lang="en-US" sz="1150" dirty="0"/>
          </a:p>
        </p:txBody>
      </p:sp>
      <p:sp>
        <p:nvSpPr>
          <p:cNvPr id="11" name="Shape 9"/>
          <p:cNvSpPr/>
          <p:nvPr/>
        </p:nvSpPr>
        <p:spPr>
          <a:xfrm>
            <a:off x="6035040" y="2578608"/>
            <a:ext cx="5394960" cy="3291840"/>
          </a:xfrm>
          <a:prstGeom prst="roundRect">
            <a:avLst>
              <a:gd name="adj" fmla="val 2222"/>
            </a:avLst>
          </a:prstGeom>
          <a:solidFill>
            <a:srgbClr val="162233"/>
          </a:solidFill>
          <a:ln w="12700">
            <a:solidFill>
              <a:srgbClr val="FFB703"/>
            </a:solidFill>
            <a:prstDash val="solid"/>
          </a:ln>
        </p:spPr>
      </p:sp>
      <p:sp>
        <p:nvSpPr>
          <p:cNvPr id="12" name="Text 10"/>
          <p:cNvSpPr/>
          <p:nvPr/>
        </p:nvSpPr>
        <p:spPr>
          <a:xfrm>
            <a:off x="6172200" y="2633472"/>
            <a:ext cx="512064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Why Don't Parents Pass On Their Experiences?</a:t>
            </a:r>
            <a:endParaRPr lang="en-US" sz="1200" dirty="0"/>
          </a:p>
        </p:txBody>
      </p:sp>
      <p:sp>
        <p:nvSpPr>
          <p:cNvPr id="13" name="Text 11"/>
          <p:cNvSpPr/>
          <p:nvPr/>
        </p:nvSpPr>
        <p:spPr>
          <a:xfrm>
            <a:off x="6172200" y="3017520"/>
            <a:ext cx="5120640" cy="270662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parent dog that learns to do tricks doesn't pass that knowledge to its puppies. The dog's SKILLS came from training (the environment) — and environmental traits stay with that individual. Only INHERITED traits get passed down.</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Scientists call this: 'acquired characteristics are not inherited.'</a:t>
            </a:r>
            <a:endParaRPr lang="en-US" sz="11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 — Not Graded!</a:t>
            </a:r>
            <a:endParaRPr lang="en-US" sz="1600" dirty="0"/>
          </a:p>
        </p:txBody>
      </p:sp>
      <p:sp>
        <p:nvSpPr>
          <p:cNvPr id="5" name="Shape 3"/>
          <p:cNvSpPr/>
          <p:nvPr/>
        </p:nvSpPr>
        <p:spPr>
          <a:xfrm>
            <a:off x="365760" y="749808"/>
            <a:ext cx="11430000" cy="2606040"/>
          </a:xfrm>
          <a:prstGeom prst="roundRect">
            <a:avLst>
              <a:gd name="adj" fmla="val 2807"/>
            </a:avLst>
          </a:prstGeom>
          <a:solidFill>
            <a:srgbClr val="1E2F45"/>
          </a:solidFill>
          <a:ln w="12700">
            <a:solidFill>
              <a:srgbClr val="4CC9F0"/>
            </a:solidFill>
            <a:prstDash val="solid"/>
          </a:ln>
        </p:spPr>
      </p:sp>
      <p:sp>
        <p:nvSpPr>
          <p:cNvPr id="6" name="Text 4"/>
          <p:cNvSpPr/>
          <p:nvPr/>
        </p:nvSpPr>
        <p:spPr>
          <a:xfrm>
            <a:off x="548640" y="804672"/>
            <a:ext cx="110642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Q1:  A puppy looks a lot like its mother dog. Why?</a:t>
            </a:r>
            <a:endParaRPr lang="en-US" sz="1300" dirty="0"/>
          </a:p>
        </p:txBody>
      </p:sp>
      <p:sp>
        <p:nvSpPr>
          <p:cNvPr id="7" name="Text 5"/>
          <p:cNvSpPr/>
          <p:nvPr/>
        </p:nvSpPr>
        <p:spPr>
          <a:xfrm>
            <a:off x="548640" y="1316736"/>
            <a:ext cx="1106424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A — It inherited many traits from its parents</a:t>
            </a:r>
            <a:endParaRPr lang="en-US" sz="1200" dirty="0"/>
          </a:p>
        </p:txBody>
      </p:sp>
      <p:sp>
        <p:nvSpPr>
          <p:cNvPr id="8" name="Text 6"/>
          <p:cNvSpPr/>
          <p:nvPr/>
        </p:nvSpPr>
        <p:spPr>
          <a:xfrm>
            <a:off x="548640" y="1664208"/>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B — It copied her on purpose</a:t>
            </a:r>
            <a:endParaRPr lang="en-US" sz="1200" dirty="0"/>
          </a:p>
        </p:txBody>
      </p:sp>
      <p:sp>
        <p:nvSpPr>
          <p:cNvPr id="9" name="Text 7"/>
          <p:cNvSpPr/>
          <p:nvPr/>
        </p:nvSpPr>
        <p:spPr>
          <a:xfrm>
            <a:off x="548640" y="2011680"/>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C — It grew up in the same place</a:t>
            </a:r>
            <a:endParaRPr lang="en-US" sz="1200" dirty="0"/>
          </a:p>
        </p:txBody>
      </p:sp>
      <p:sp>
        <p:nvSpPr>
          <p:cNvPr id="10" name="Text 8"/>
          <p:cNvSpPr/>
          <p:nvPr/>
        </p:nvSpPr>
        <p:spPr>
          <a:xfrm>
            <a:off x="548640" y="2359152"/>
            <a:ext cx="11064240" cy="475488"/>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  Offspring INHERIT traits like fur pattern, ear shape, and snout shape from their parents. That's why they resemble each other — not because of where they live.</a:t>
            </a:r>
            <a:endParaRPr lang="en-US" sz="1100" dirty="0"/>
          </a:p>
        </p:txBody>
      </p:sp>
      <p:sp>
        <p:nvSpPr>
          <p:cNvPr id="11" name="Shape 9"/>
          <p:cNvSpPr/>
          <p:nvPr/>
        </p:nvSpPr>
        <p:spPr>
          <a:xfrm>
            <a:off x="365760" y="3584448"/>
            <a:ext cx="11430000" cy="2606040"/>
          </a:xfrm>
          <a:prstGeom prst="roundRect">
            <a:avLst>
              <a:gd name="adj" fmla="val 2807"/>
            </a:avLst>
          </a:prstGeom>
          <a:solidFill>
            <a:srgbClr val="1E2F45"/>
          </a:solidFill>
          <a:ln w="12700">
            <a:solidFill>
              <a:srgbClr val="4CC9F0"/>
            </a:solidFill>
            <a:prstDash val="solid"/>
          </a:ln>
        </p:spPr>
      </p:sp>
      <p:sp>
        <p:nvSpPr>
          <p:cNvPr id="12" name="Text 10"/>
          <p:cNvSpPr/>
          <p:nvPr/>
        </p:nvSpPr>
        <p:spPr>
          <a:xfrm>
            <a:off x="548640" y="3639312"/>
            <a:ext cx="110642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Q2:  Which is an ENVIRONMENTAL trait, NOT an inherited one?</a:t>
            </a:r>
            <a:endParaRPr lang="en-US" sz="1300" dirty="0"/>
          </a:p>
        </p:txBody>
      </p:sp>
      <p:sp>
        <p:nvSpPr>
          <p:cNvPr id="13" name="Text 11"/>
          <p:cNvSpPr/>
          <p:nvPr/>
        </p:nvSpPr>
        <p:spPr>
          <a:xfrm>
            <a:off x="548640" y="4151376"/>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 — A flower's color</a:t>
            </a:r>
            <a:endParaRPr lang="en-US" sz="1200" dirty="0"/>
          </a:p>
        </p:txBody>
      </p:sp>
      <p:sp>
        <p:nvSpPr>
          <p:cNvPr id="14" name="Text 12"/>
          <p:cNvSpPr/>
          <p:nvPr/>
        </p:nvSpPr>
        <p:spPr>
          <a:xfrm>
            <a:off x="548640" y="4498848"/>
            <a:ext cx="11064240" cy="320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B — An alligator's scaly skin</a:t>
            </a:r>
            <a:endParaRPr lang="en-US" sz="1200" dirty="0"/>
          </a:p>
        </p:txBody>
      </p:sp>
      <p:sp>
        <p:nvSpPr>
          <p:cNvPr id="15" name="Text 13"/>
          <p:cNvSpPr/>
          <p:nvPr/>
        </p:nvSpPr>
        <p:spPr>
          <a:xfrm>
            <a:off x="548640" y="4846320"/>
            <a:ext cx="1106424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C — A scar on an animal's leg from an old injury</a:t>
            </a:r>
            <a:endParaRPr lang="en-US" sz="1200" dirty="0"/>
          </a:p>
        </p:txBody>
      </p:sp>
      <p:sp>
        <p:nvSpPr>
          <p:cNvPr id="16" name="Text 14"/>
          <p:cNvSpPr/>
          <p:nvPr/>
        </p:nvSpPr>
        <p:spPr>
          <a:xfrm>
            <a:off x="548640" y="5193792"/>
            <a:ext cx="11064240" cy="475488"/>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  Flower color and scaly skin are INHERITED from parents. A scar happens because of something in the environment — an injury. It can't be passed to offspring.</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Show What You Know</a:t>
            </a:r>
            <a:endParaRPr lang="en-US" sz="1600" dirty="0"/>
          </a:p>
        </p:txBody>
      </p:sp>
      <p:sp>
        <p:nvSpPr>
          <p:cNvPr id="5" name="Shape 3"/>
          <p:cNvSpPr/>
          <p:nvPr/>
        </p:nvSpPr>
        <p:spPr>
          <a:xfrm>
            <a:off x="365760" y="749808"/>
            <a:ext cx="11430000" cy="502920"/>
          </a:xfrm>
          <a:prstGeom prst="roundRect">
            <a:avLst>
              <a:gd name="adj" fmla="val 14545"/>
            </a:avLst>
          </a:prstGeom>
          <a:solidFill>
            <a:srgbClr val="162233"/>
          </a:solidFill>
          <a:ln w="12700">
            <a:solidFill>
              <a:srgbClr val="4CC9F0"/>
            </a:solidFill>
            <a:prstDash val="solid"/>
          </a:ln>
        </p:spPr>
      </p:sp>
      <p:sp>
        <p:nvSpPr>
          <p:cNvPr id="6" name="Text 4"/>
          <p:cNvSpPr/>
          <p:nvPr/>
        </p:nvSpPr>
        <p:spPr>
          <a:xfrm>
            <a:off x="548640" y="804672"/>
            <a:ext cx="1106424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You sorted and explained traits today — now show it in your own work.</a:t>
            </a:r>
            <a:endParaRPr lang="en-US" sz="1200" dirty="0"/>
          </a:p>
        </p:txBody>
      </p:sp>
      <p:sp>
        <p:nvSpPr>
          <p:cNvPr id="7" name="Shape 5"/>
          <p:cNvSpPr/>
          <p:nvPr/>
        </p:nvSpPr>
        <p:spPr>
          <a:xfrm>
            <a:off x="365760" y="1371600"/>
            <a:ext cx="3474720" cy="4754880"/>
          </a:xfrm>
          <a:prstGeom prst="roundRect">
            <a:avLst>
              <a:gd name="adj" fmla="val 2105"/>
            </a:avLst>
          </a:prstGeom>
          <a:solidFill>
            <a:srgbClr val="1E2F45"/>
          </a:solidFill>
          <a:ln w="12700">
            <a:solidFill>
              <a:srgbClr val="4CC9F0"/>
            </a:solidFill>
            <a:prstDash val="solid"/>
          </a:ln>
        </p:spPr>
      </p:sp>
      <p:sp>
        <p:nvSpPr>
          <p:cNvPr id="8" name="Text 6"/>
          <p:cNvSpPr/>
          <p:nvPr/>
        </p:nvSpPr>
        <p:spPr>
          <a:xfrm>
            <a:off x="502920" y="1426464"/>
            <a:ext cx="329184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Part A — Match the Word</a:t>
            </a:r>
            <a:endParaRPr lang="en-US" sz="1200" dirty="0"/>
          </a:p>
        </p:txBody>
      </p:sp>
      <p:sp>
        <p:nvSpPr>
          <p:cNvPr id="9" name="Text 7"/>
          <p:cNvSpPr/>
          <p:nvPr/>
        </p:nvSpPr>
        <p:spPr>
          <a:xfrm>
            <a:off x="502920" y="1783080"/>
            <a:ext cx="3291840" cy="4114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Word bank:</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Trait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Inherited</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Environment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Offspring</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Fill in 4 blanks.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(Practiced: Slides 4–5)</a:t>
            </a:r>
            <a:endParaRPr lang="en-US" sz="1150" dirty="0"/>
          </a:p>
        </p:txBody>
      </p:sp>
      <p:sp>
        <p:nvSpPr>
          <p:cNvPr id="10" name="Shape 8"/>
          <p:cNvSpPr/>
          <p:nvPr/>
        </p:nvSpPr>
        <p:spPr>
          <a:xfrm>
            <a:off x="4114800" y="1371600"/>
            <a:ext cx="3474720" cy="4754880"/>
          </a:xfrm>
          <a:prstGeom prst="roundRect">
            <a:avLst>
              <a:gd name="adj" fmla="val 2105"/>
            </a:avLst>
          </a:prstGeom>
          <a:solidFill>
            <a:srgbClr val="1E2F45"/>
          </a:solidFill>
          <a:ln w="12700">
            <a:solidFill>
              <a:srgbClr val="FFB703"/>
            </a:solidFill>
            <a:prstDash val="solid"/>
          </a:ln>
        </p:spPr>
      </p:sp>
      <p:sp>
        <p:nvSpPr>
          <p:cNvPr id="11" name="Text 9"/>
          <p:cNvSpPr/>
          <p:nvPr/>
        </p:nvSpPr>
        <p:spPr>
          <a:xfrm>
            <a:off x="4251960" y="1426464"/>
            <a:ext cx="3291840" cy="32004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B — Short Answer</a:t>
            </a:r>
            <a:endParaRPr lang="en-US" sz="1200" dirty="0"/>
          </a:p>
        </p:txBody>
      </p:sp>
      <p:sp>
        <p:nvSpPr>
          <p:cNvPr id="12" name="Text 10"/>
          <p:cNvSpPr/>
          <p:nvPr/>
        </p:nvSpPr>
        <p:spPr>
          <a:xfrm>
            <a:off x="4251960" y="1783080"/>
            <a:ext cx="3291840" cy="4114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 questions: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Classify one Florida trait case as inherited, environmental, or both + 1 piece of evidence (Slide 8)</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Explain difference between inherited and environmental trait + 1 Florida example of each (Slides 5–6)</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Two sibling puppies, different food — explain using 'inherited' and 'environment' (Slide 6)</a:t>
            </a:r>
            <a:endParaRPr lang="en-US" sz="1150" dirty="0"/>
          </a:p>
        </p:txBody>
      </p:sp>
      <p:sp>
        <p:nvSpPr>
          <p:cNvPr id="13" name="Shape 11"/>
          <p:cNvSpPr/>
          <p:nvPr/>
        </p:nvSpPr>
        <p:spPr>
          <a:xfrm>
            <a:off x="7863840" y="1371600"/>
            <a:ext cx="3840480" cy="4754880"/>
          </a:xfrm>
          <a:prstGeom prst="roundRect">
            <a:avLst>
              <a:gd name="adj" fmla="val 1905"/>
            </a:avLst>
          </a:prstGeom>
          <a:solidFill>
            <a:srgbClr val="1E2F45"/>
          </a:solidFill>
          <a:ln w="12700">
            <a:solidFill>
              <a:srgbClr val="2DC653"/>
            </a:solidFill>
            <a:prstDash val="solid"/>
          </a:ln>
        </p:spPr>
      </p:sp>
      <p:sp>
        <p:nvSpPr>
          <p:cNvPr id="14" name="Text 12"/>
          <p:cNvSpPr/>
          <p:nvPr/>
        </p:nvSpPr>
        <p:spPr>
          <a:xfrm>
            <a:off x="8001000" y="1426464"/>
            <a:ext cx="3566160" cy="32004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C — Parent &amp; Offspring Chart</a:t>
            </a:r>
            <a:endParaRPr lang="en-US" sz="1200" dirty="0"/>
          </a:p>
        </p:txBody>
      </p:sp>
      <p:sp>
        <p:nvSpPr>
          <p:cNvPr id="15" name="Text 13"/>
          <p:cNvSpPr/>
          <p:nvPr/>
        </p:nvSpPr>
        <p:spPr>
          <a:xfrm>
            <a:off x="8001000" y="1783080"/>
            <a:ext cx="3566160" cy="41148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 your notebook:</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Draw a parent + offspring side by side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Label 3 INHERITED traits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Label 2 ENVIRONMENTAL traits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Key Question response (3 vocab words)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Evidence argument: 'Offspring are basically clones'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(Practiced: Slides 9–11)</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are Florida plants and animals like their parents — and how does the environment change that?"</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blanks filled in using the word bank.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Questions 5, 6, and 7 in complete sentences with vocab.</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Parent + offspring drawing with 3 inherited + 2 environmental traits labeled.</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Key Question Response: 2–3 sentences, at least 3 vocab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Evidence Response: Claim about whether offspring are clones + 2 pieces of evidence.</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13.02 — Flowering Plant Reproduction</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do flowering plants make the next generation? You'll trace the five-step cycle from pollination to germination — and see how inherited traits travel in seeds.</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13.01  ·  Like Parent, Like Child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2026-07-13T20:20:13Z</dcterms:created>
  <dcterms:modified xsi:type="dcterms:W3CDTF">2026-07-13T20:20:13Z</dcterms:modified>
</cp:coreProperties>
</file>