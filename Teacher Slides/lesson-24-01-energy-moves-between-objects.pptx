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Warm-up: toaster observation. Vocab + conduction + conductor/insulator comparison + CER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some materials CONDUCT heat easily (metals), others RESIST heat transfer (plastic, rubber, wood). This is the phenomenon we explore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Exit: Name one conductor and one insulator from your OWN life and explain what each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Moves Between Objects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conductors and insulators control where heat energy moves?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4-PS3-2 | 4-PS3-4 — Energy transfer: heat conduction, conductors, and insulators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what conductors and insulators do differently when heat energy moves through them.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give examples of conductors and insulators and explain their uses.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write a claim + evidence about a conductor or insulator material.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   pencil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24-01  ·  Energy Moves Between Objects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The Toaster Phenomenon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508406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"toaster heating bread glowing wires heat conduction metal parts hot"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7790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toaster: metal wires glow red-hot and heat the bread through radiation and conduction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713232"/>
            <a:ext cx="594360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7724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and Think: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170432"/>
            <a:ext cx="5669280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 toaster image. In your notebook: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Where does the heat energy come from?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How does the energy reach the bread?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Why is the outside plastic cool but the inside wires hot?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prediction: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the plastic stays cool because ___ while the metal gets hot because ___"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24-01  ·  Energy Moves Between Objects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conductors and insulators control the way heat energy moves between objects?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"I predict a conductor ___ while an insulator ___ because ___"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24-01  ·  Energy Moves Between Objects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Heat Transfer and Materials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energy that moves from a warmer object to a cooler one.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7880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allows heat (or electricity) to move through it easily.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resists the flow of heat (or electricity), slowing energy transfer.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or object designed for a specific purpose — like a pot, coat, or wire.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7880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energy from one object or place to another.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7356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 of how much heat energy an object has. Higher temp = more heat energy.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24-01  ·  Energy Moves Between Objects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Conductors vs. Insulators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5212080"/>
          </a:xfrm>
          <a:prstGeom prst="roundRect">
            <a:avLst>
              <a:gd name="adj" fmla="val 1404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5029200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heat energy to move through them EASILY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Metals (copper, iron, steel, aluminum)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Glass (partially)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Cooking pans and pots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Electrical wires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Radiators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evidence: metal spoon in hot soup gets hot quickly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749808"/>
            <a:ext cx="5852160" cy="5212080"/>
          </a:xfrm>
          <a:prstGeom prst="roundRect">
            <a:avLst>
              <a:gd name="adj" fmla="val 1404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822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26480" y="1353312"/>
            <a:ext cx="5486400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or BLOCK heat energy transfer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Wood, plastic, rubber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Foam, wool, cotton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Air pockets (like in a winter coat)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Pot handles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Oven mitts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House insulation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Winter clothing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evidence: plastic handle on a pot stays cool while metal pot gets hot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24-01  ·  Energy Moves Between Objects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Evidence: Conductors and Insulators at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343814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"cooking pot metal handle insulator heat conductor kitchen"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175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pot body (conductor) + rubber/wood handle (insulator)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5230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Pot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749808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389120" y="859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0" y="1298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07408" y="1591056"/>
            <a:ext cx="343814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"house wall insulation foam fiberglass thermal barrier cutaway"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0" y="5175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Fiberglass insulation in walls slows heat transfer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5230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Insulation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749808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321040" y="859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21040" y="1298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9328" y="1591056"/>
            <a:ext cx="343814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"winter coat cross section air pockets insulation thermal warmth"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0" y="5175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pockets in down coat — trapped air is a great insulator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5230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Coat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650992"/>
            <a:ext cx="11430000" cy="594360"/>
          </a:xfrm>
          <a:prstGeom prst="roundRect">
            <a:avLst>
              <a:gd name="adj" fmla="val 12308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705856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example: identify which part is the conductor and which is the insulator. Write your reasoning in your notebook.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24-01  ·  Energy Moves Between Objects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Thinking: Choosing the Right Material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choose conductor or insulator materials based on what the device needs to 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11430000" cy="1051560"/>
          </a:xfrm>
          <a:prstGeom prst="roundRect">
            <a:avLst>
              <a:gd name="adj" fmla="val 6957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10512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handle for a frying pan that won't burn your hand.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783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 (rubber or wood) — blocks heat transfer to your hand.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62072"/>
            <a:ext cx="11430000" cy="1051560"/>
          </a:xfrm>
          <a:prstGeom prst="roundRect">
            <a:avLst>
              <a:gd name="adj" fmla="val 695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53512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260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of the frying pan that must heat food quickly.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0" y="2926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(metal) — allows rapid heat transfer to the food.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11430000" cy="1051560"/>
          </a:xfrm>
          <a:prstGeom prst="roundRect">
            <a:avLst>
              <a:gd name="adj" fmla="val 6957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96512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0690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inside your toaster that must get very hot to toast bread.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4069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(metal wire) — allows electrical energy → heat transfer.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148072"/>
            <a:ext cx="11430000" cy="1051560"/>
          </a:xfrm>
          <a:prstGeom prst="roundRect">
            <a:avLst>
              <a:gd name="adj" fmla="val 695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239512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52120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casing of the toaster that must stay cool to touch.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5212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 (plastic) — prevents heat from escaping the casing.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24-01  ·  Energy Moves Between Objects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011680"/>
          </a:xfrm>
          <a:prstGeom prst="roundRect">
            <a:avLst>
              <a:gd name="adj" fmla="val 3636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1100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says: 'Metal is always dangerous because it gets too hot.' Is this accurate? When is metal being a conductor USEFUL, and when might it be dangerous? Justify with evidence from today's lesson.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07792"/>
            <a:ext cx="11430000" cy="1298448"/>
          </a:xfrm>
          <a:prstGeom prst="roundRect">
            <a:avLst>
              <a:gd name="adj" fmla="val 5634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Argumentation Starters: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"Metal being a conductor is useful when ___ because ___."  "It can be dangerous when ___ because ___."  "Engineers solve this by ___."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24-01  ·  Energy Moves Between Objects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Stage 2: Claim + Evidence — Conductors and Insulators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5349240"/>
          </a:xfrm>
          <a:prstGeom prst="roundRect">
            <a:avLst>
              <a:gd name="adj" fmla="val 1709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53949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51206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[material] is a [conductor/insulator] because ___."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[device] uses both a conductor AND an insulator because ___"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749808"/>
            <a:ext cx="5852160" cy="5349240"/>
          </a:xfrm>
          <a:prstGeom prst="roundRect">
            <a:avLst>
              <a:gd name="adj" fmla="val 1709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749808"/>
            <a:ext cx="5852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6809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152144"/>
            <a:ext cx="5577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pieces of evidence: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From the warm-up: "The plastic handle stayed cool because ___"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From the examples: "Metal conducts heat because ___ shows that ___"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must connect the material's properties to what happened.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24-01  ·  Energy Moves Between Objects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is the handle of a cooking pot usually made of plastic or rubber?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Plastic looks nicer than metal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Plastic is a conductor that heats up faster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Plastic is an insulator that slows heat transfer to your hand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Rubber is stronger than metal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3016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03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material is the BEST conductor of heat?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Wood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Plastic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Wool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Copper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5897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24-01  ·  Energy Moves Between Objects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conductors and insulators control the way heat energy moves between objects?"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Toaster observation + prediction (notebook)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Conductor/insulator comparison notes (notebook)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Stage 2: Claim + Evidence for a conductor or insulator material (notebook)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24-02: Data Task — Energy Changes (putting it all together)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24-01  ·  Energy Moves Between Objects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2026-07-14T00:38:58Z</dcterms:created>
  <dcterms:modified xsi:type="dcterms:W3CDTF">2026-07-14T00:38:58Z</dcterms:modified>
</cp:coreProperties>
</file>