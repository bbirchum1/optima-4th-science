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culminating data task. Students analyze 4 devices (toaster, solar panel, windmill, speaker) tracking energy input/output. Full 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data set aloud with students. Clarify any confusing numbers. Students analyze all 4 devices independently, then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full CER using data — the culminating task for Q3. Give students 15 minutes. Circulate and push reasoning: 'Why does your evidence support the claim? Explain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Guiding question: Where does the energy in your food come from? (plants) Where does plant energy come from? (sun) Where does wind energy come from? (sun heats air, creating pressure differences). Almost everything traces back to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complete! Exit: 'Trace the path of energy from the sun to your lunch today.' (sun → plant → food →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Data Task: Energy Changes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Use data to track and explain energy changes in real-world devices</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4-PS3-1 | 4-PS3-2 | 4-PS3-4 — Energy transfer, conversion, and evidence-based explanation</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identify the starting energy and resulting energy in a device.</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use data to track how energy changes form as it moves through a system.</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write a full CER explaining energy changes in a device using data as evidence.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pencil   Data Task recording sheet (or notebook)</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Warm-Up: Review the Energy Vocabulary</a:t>
            </a:r>
            <a:endParaRPr lang="en-US" sz="1600" dirty="0"/>
          </a:p>
        </p:txBody>
      </p:sp>
      <p:sp>
        <p:nvSpPr>
          <p:cNvPr id="5" name="Shape 3"/>
          <p:cNvSpPr/>
          <p:nvPr/>
        </p:nvSpPr>
        <p:spPr>
          <a:xfrm>
            <a:off x="365760" y="749808"/>
            <a:ext cx="11430000" cy="804672"/>
          </a:xfrm>
          <a:prstGeom prst="roundRect">
            <a:avLst>
              <a:gd name="adj" fmla="val 9091"/>
            </a:avLst>
          </a:prstGeom>
          <a:solidFill>
            <a:srgbClr val="162233"/>
          </a:solidFill>
          <a:ln w="12700">
            <a:solidFill>
              <a:srgbClr val="4CC9F0"/>
            </a:solidFill>
            <a:prstDash val="solid"/>
          </a:ln>
        </p:spPr>
      </p:sp>
      <p:sp>
        <p:nvSpPr>
          <p:cNvPr id="6" name="Text 4"/>
          <p:cNvSpPr/>
          <p:nvPr/>
        </p:nvSpPr>
        <p:spPr>
          <a:xfrm>
            <a:off x="548640" y="804672"/>
            <a:ext cx="11155680" cy="6858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 has been all about energy. Before the data task, let's pull it all together.</a:t>
            </a:r>
            <a:endParaRPr lang="en-US" sz="1400" dirty="0"/>
          </a:p>
        </p:txBody>
      </p:sp>
      <p:sp>
        <p:nvSpPr>
          <p:cNvPr id="7" name="Shape 5"/>
          <p:cNvSpPr/>
          <p:nvPr/>
        </p:nvSpPr>
        <p:spPr>
          <a:xfrm>
            <a:off x="274320" y="1719072"/>
            <a:ext cx="3657600" cy="1325880"/>
          </a:xfrm>
          <a:prstGeom prst="roundRect">
            <a:avLst>
              <a:gd name="adj" fmla="val 6897"/>
            </a:avLst>
          </a:prstGeom>
          <a:solidFill>
            <a:srgbClr val="1E2F45"/>
          </a:solidFill>
          <a:ln w="25400">
            <a:solidFill>
              <a:srgbClr val="4CC9F0"/>
            </a:solidFill>
            <a:prstDash val="solid"/>
          </a:ln>
        </p:spPr>
      </p:sp>
      <p:sp>
        <p:nvSpPr>
          <p:cNvPr id="8" name="Shape 6"/>
          <p:cNvSpPr/>
          <p:nvPr/>
        </p:nvSpPr>
        <p:spPr>
          <a:xfrm>
            <a:off x="274320" y="1719072"/>
            <a:ext cx="3657600" cy="347472"/>
          </a:xfrm>
          <a:prstGeom prst="roundRect">
            <a:avLst>
              <a:gd name="adj" fmla="val 21053"/>
            </a:avLst>
          </a:prstGeom>
          <a:solidFill>
            <a:srgbClr val="4CC9F0"/>
          </a:solidFill>
          <a:ln w="12700">
            <a:solidFill>
              <a:srgbClr val="4CC9F0"/>
            </a:solidFill>
            <a:prstDash val="solid"/>
          </a:ln>
        </p:spPr>
      </p:sp>
      <p:sp>
        <p:nvSpPr>
          <p:cNvPr id="9" name="Text 7"/>
          <p:cNvSpPr/>
          <p:nvPr/>
        </p:nvSpPr>
        <p:spPr>
          <a:xfrm>
            <a:off x="365760" y="174650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starting energy</a:t>
            </a:r>
            <a:endParaRPr lang="en-US" sz="1200" dirty="0"/>
          </a:p>
        </p:txBody>
      </p:sp>
      <p:sp>
        <p:nvSpPr>
          <p:cNvPr id="10" name="Text 8"/>
          <p:cNvSpPr/>
          <p:nvPr/>
        </p:nvSpPr>
        <p:spPr>
          <a:xfrm>
            <a:off x="384048" y="212140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form of energy that goes INTO a device before any conversion happens.</a:t>
            </a:r>
            <a:endParaRPr lang="en-US" sz="1050" dirty="0"/>
          </a:p>
        </p:txBody>
      </p:sp>
      <p:sp>
        <p:nvSpPr>
          <p:cNvPr id="11" name="Shape 9"/>
          <p:cNvSpPr/>
          <p:nvPr/>
        </p:nvSpPr>
        <p:spPr>
          <a:xfrm>
            <a:off x="4069080" y="1719072"/>
            <a:ext cx="3657600" cy="1325880"/>
          </a:xfrm>
          <a:prstGeom prst="roundRect">
            <a:avLst>
              <a:gd name="adj" fmla="val 6897"/>
            </a:avLst>
          </a:prstGeom>
          <a:solidFill>
            <a:srgbClr val="1E2F45"/>
          </a:solidFill>
          <a:ln w="25400">
            <a:solidFill>
              <a:srgbClr val="F4736A"/>
            </a:solidFill>
            <a:prstDash val="solid"/>
          </a:ln>
        </p:spPr>
      </p:sp>
      <p:sp>
        <p:nvSpPr>
          <p:cNvPr id="12" name="Shape 10"/>
          <p:cNvSpPr/>
          <p:nvPr/>
        </p:nvSpPr>
        <p:spPr>
          <a:xfrm>
            <a:off x="4069080" y="1719072"/>
            <a:ext cx="3657600" cy="347472"/>
          </a:xfrm>
          <a:prstGeom prst="roundRect">
            <a:avLst>
              <a:gd name="adj" fmla="val 21053"/>
            </a:avLst>
          </a:prstGeom>
          <a:solidFill>
            <a:srgbClr val="F4736A"/>
          </a:solidFill>
          <a:ln w="12700">
            <a:solidFill>
              <a:srgbClr val="F4736A"/>
            </a:solidFill>
            <a:prstDash val="solid"/>
          </a:ln>
        </p:spPr>
      </p:sp>
      <p:sp>
        <p:nvSpPr>
          <p:cNvPr id="13" name="Text 11"/>
          <p:cNvSpPr/>
          <p:nvPr/>
        </p:nvSpPr>
        <p:spPr>
          <a:xfrm>
            <a:off x="4160520" y="174650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resulting energy</a:t>
            </a:r>
            <a:endParaRPr lang="en-US" sz="1200" dirty="0"/>
          </a:p>
        </p:txBody>
      </p:sp>
      <p:sp>
        <p:nvSpPr>
          <p:cNvPr id="14" name="Text 12"/>
          <p:cNvSpPr/>
          <p:nvPr/>
        </p:nvSpPr>
        <p:spPr>
          <a:xfrm>
            <a:off x="4178808" y="212140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form of energy that comes OUT of a device after conversion.</a:t>
            </a:r>
            <a:endParaRPr lang="en-US" sz="1050" dirty="0"/>
          </a:p>
        </p:txBody>
      </p:sp>
      <p:sp>
        <p:nvSpPr>
          <p:cNvPr id="15" name="Shape 13"/>
          <p:cNvSpPr/>
          <p:nvPr/>
        </p:nvSpPr>
        <p:spPr>
          <a:xfrm>
            <a:off x="7863840" y="1719072"/>
            <a:ext cx="3657600" cy="1325880"/>
          </a:xfrm>
          <a:prstGeom prst="roundRect">
            <a:avLst>
              <a:gd name="adj" fmla="val 6897"/>
            </a:avLst>
          </a:prstGeom>
          <a:solidFill>
            <a:srgbClr val="1E2F45"/>
          </a:solidFill>
          <a:ln w="25400">
            <a:solidFill>
              <a:srgbClr val="FFB703"/>
            </a:solidFill>
            <a:prstDash val="solid"/>
          </a:ln>
        </p:spPr>
      </p:sp>
      <p:sp>
        <p:nvSpPr>
          <p:cNvPr id="16" name="Shape 14"/>
          <p:cNvSpPr/>
          <p:nvPr/>
        </p:nvSpPr>
        <p:spPr>
          <a:xfrm>
            <a:off x="7863840" y="1719072"/>
            <a:ext cx="3657600" cy="347472"/>
          </a:xfrm>
          <a:prstGeom prst="roundRect">
            <a:avLst>
              <a:gd name="adj" fmla="val 21053"/>
            </a:avLst>
          </a:prstGeom>
          <a:solidFill>
            <a:srgbClr val="FFB703"/>
          </a:solidFill>
          <a:ln w="12700">
            <a:solidFill>
              <a:srgbClr val="FFB703"/>
            </a:solidFill>
            <a:prstDash val="solid"/>
          </a:ln>
        </p:spPr>
      </p:sp>
      <p:sp>
        <p:nvSpPr>
          <p:cNvPr id="17" name="Text 15"/>
          <p:cNvSpPr/>
          <p:nvPr/>
        </p:nvSpPr>
        <p:spPr>
          <a:xfrm>
            <a:off x="7955280" y="174650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p>
        </p:txBody>
      </p:sp>
      <p:sp>
        <p:nvSpPr>
          <p:cNvPr id="18" name="Text 16"/>
          <p:cNvSpPr/>
          <p:nvPr/>
        </p:nvSpPr>
        <p:spPr>
          <a:xfrm>
            <a:off x="7973568" y="212140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Observations or data that directly support a scientific claim.</a:t>
            </a:r>
            <a:endParaRPr lang="en-US" sz="1050" dirty="0"/>
          </a:p>
        </p:txBody>
      </p:sp>
      <p:sp>
        <p:nvSpPr>
          <p:cNvPr id="19" name="Shape 17"/>
          <p:cNvSpPr/>
          <p:nvPr/>
        </p:nvSpPr>
        <p:spPr>
          <a:xfrm>
            <a:off x="274320" y="3273552"/>
            <a:ext cx="3657600" cy="1325880"/>
          </a:xfrm>
          <a:prstGeom prst="roundRect">
            <a:avLst>
              <a:gd name="adj" fmla="val 6897"/>
            </a:avLst>
          </a:prstGeom>
          <a:solidFill>
            <a:srgbClr val="1E2F45"/>
          </a:solidFill>
          <a:ln w="25400">
            <a:solidFill>
              <a:srgbClr val="2DC653"/>
            </a:solidFill>
            <a:prstDash val="solid"/>
          </a:ln>
        </p:spPr>
      </p:sp>
      <p:sp>
        <p:nvSpPr>
          <p:cNvPr id="20" name="Shape 18"/>
          <p:cNvSpPr/>
          <p:nvPr/>
        </p:nvSpPr>
        <p:spPr>
          <a:xfrm>
            <a:off x="274320" y="3273552"/>
            <a:ext cx="3657600" cy="347472"/>
          </a:xfrm>
          <a:prstGeom prst="roundRect">
            <a:avLst>
              <a:gd name="adj" fmla="val 21053"/>
            </a:avLst>
          </a:prstGeom>
          <a:solidFill>
            <a:srgbClr val="2DC653"/>
          </a:solidFill>
          <a:ln w="12700">
            <a:solidFill>
              <a:srgbClr val="2DC653"/>
            </a:solidFill>
            <a:prstDash val="solid"/>
          </a:ln>
        </p:spPr>
      </p:sp>
      <p:sp>
        <p:nvSpPr>
          <p:cNvPr id="21" name="Text 19"/>
          <p:cNvSpPr/>
          <p:nvPr/>
        </p:nvSpPr>
        <p:spPr>
          <a:xfrm>
            <a:off x="365760" y="3300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device</a:t>
            </a:r>
            <a:endParaRPr lang="en-US" sz="1200" dirty="0"/>
          </a:p>
        </p:txBody>
      </p:sp>
      <p:sp>
        <p:nvSpPr>
          <p:cNvPr id="22" name="Text 20"/>
          <p:cNvSpPr/>
          <p:nvPr/>
        </p:nvSpPr>
        <p:spPr>
          <a:xfrm>
            <a:off x="384048" y="3675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machine or tool that converts one form of energy into another.</a:t>
            </a:r>
            <a:endParaRPr lang="en-US" sz="1050" dirty="0"/>
          </a:p>
        </p:txBody>
      </p:sp>
      <p:sp>
        <p:nvSpPr>
          <p:cNvPr id="23" name="Shape 21"/>
          <p:cNvSpPr/>
          <p:nvPr/>
        </p:nvSpPr>
        <p:spPr>
          <a:xfrm>
            <a:off x="4069080" y="3273552"/>
            <a:ext cx="3657600" cy="1325880"/>
          </a:xfrm>
          <a:prstGeom prst="roundRect">
            <a:avLst>
              <a:gd name="adj" fmla="val 6897"/>
            </a:avLst>
          </a:prstGeom>
          <a:solidFill>
            <a:srgbClr val="1E2F45"/>
          </a:solidFill>
          <a:ln w="25400">
            <a:solidFill>
              <a:srgbClr val="0096C7"/>
            </a:solidFill>
            <a:prstDash val="solid"/>
          </a:ln>
        </p:spPr>
      </p:sp>
      <p:sp>
        <p:nvSpPr>
          <p:cNvPr id="24" name="Shape 22"/>
          <p:cNvSpPr/>
          <p:nvPr/>
        </p:nvSpPr>
        <p:spPr>
          <a:xfrm>
            <a:off x="4069080" y="3273552"/>
            <a:ext cx="3657600" cy="347472"/>
          </a:xfrm>
          <a:prstGeom prst="roundRect">
            <a:avLst>
              <a:gd name="adj" fmla="val 21053"/>
            </a:avLst>
          </a:prstGeom>
          <a:solidFill>
            <a:srgbClr val="0096C7"/>
          </a:solidFill>
          <a:ln w="12700">
            <a:solidFill>
              <a:srgbClr val="0096C7"/>
            </a:solidFill>
            <a:prstDash val="solid"/>
          </a:ln>
        </p:spPr>
      </p:sp>
      <p:sp>
        <p:nvSpPr>
          <p:cNvPr id="25" name="Text 23"/>
          <p:cNvSpPr/>
          <p:nvPr/>
        </p:nvSpPr>
        <p:spPr>
          <a:xfrm>
            <a:off x="4160520" y="3300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claim</a:t>
            </a:r>
            <a:endParaRPr lang="en-US" sz="1200" dirty="0"/>
          </a:p>
        </p:txBody>
      </p:sp>
      <p:sp>
        <p:nvSpPr>
          <p:cNvPr id="26" name="Text 24"/>
          <p:cNvSpPr/>
          <p:nvPr/>
        </p:nvSpPr>
        <p:spPr>
          <a:xfrm>
            <a:off x="4178808" y="3675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statement that answers a scientific question and can be supported by evidence.</a:t>
            </a:r>
            <a:endParaRPr lang="en-US" sz="1050" dirty="0"/>
          </a:p>
        </p:txBody>
      </p:sp>
      <p:sp>
        <p:nvSpPr>
          <p:cNvPr id="27" name="Shape 25"/>
          <p:cNvSpPr/>
          <p:nvPr/>
        </p:nvSpPr>
        <p:spPr>
          <a:xfrm>
            <a:off x="7863840" y="3273552"/>
            <a:ext cx="3657600" cy="1325880"/>
          </a:xfrm>
          <a:prstGeom prst="roundRect">
            <a:avLst>
              <a:gd name="adj" fmla="val 6897"/>
            </a:avLst>
          </a:prstGeom>
          <a:solidFill>
            <a:srgbClr val="1E2F45"/>
          </a:solidFill>
          <a:ln w="25400">
            <a:solidFill>
              <a:srgbClr val="F4736A"/>
            </a:solidFill>
            <a:prstDash val="solid"/>
          </a:ln>
        </p:spPr>
      </p:sp>
      <p:sp>
        <p:nvSpPr>
          <p:cNvPr id="28" name="Shape 26"/>
          <p:cNvSpPr/>
          <p:nvPr/>
        </p:nvSpPr>
        <p:spPr>
          <a:xfrm>
            <a:off x="7863840" y="3273552"/>
            <a:ext cx="3657600" cy="347472"/>
          </a:xfrm>
          <a:prstGeom prst="roundRect">
            <a:avLst>
              <a:gd name="adj" fmla="val 21053"/>
            </a:avLst>
          </a:prstGeom>
          <a:solidFill>
            <a:srgbClr val="F4736A"/>
          </a:solidFill>
          <a:ln w="12700">
            <a:solidFill>
              <a:srgbClr val="F4736A"/>
            </a:solidFill>
            <a:prstDash val="solid"/>
          </a:ln>
        </p:spPr>
      </p:sp>
      <p:sp>
        <p:nvSpPr>
          <p:cNvPr id="29" name="Text 27"/>
          <p:cNvSpPr/>
          <p:nvPr/>
        </p:nvSpPr>
        <p:spPr>
          <a:xfrm>
            <a:off x="7955280" y="3300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energy change</a:t>
            </a:r>
            <a:endParaRPr lang="en-US" sz="1200" dirty="0"/>
          </a:p>
        </p:txBody>
      </p:sp>
      <p:sp>
        <p:nvSpPr>
          <p:cNvPr id="30" name="Text 28"/>
          <p:cNvSpPr/>
          <p:nvPr/>
        </p:nvSpPr>
        <p:spPr>
          <a:xfrm>
            <a:off x="7973568" y="3675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energy converts from one form to another (electrical to heat, kinetic to sound, etc.).</a:t>
            </a:r>
            <a:endParaRPr lang="en-US" sz="105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Essential Question</a:t>
            </a:r>
            <a:endParaRPr lang="en-US" sz="1600" dirty="0"/>
          </a:p>
        </p:txBody>
      </p:sp>
      <p:sp>
        <p:nvSpPr>
          <p:cNvPr id="5" name="Shape 3"/>
          <p:cNvSpPr/>
          <p:nvPr/>
        </p:nvSpPr>
        <p:spPr>
          <a:xfrm>
            <a:off x="457200" y="749808"/>
            <a:ext cx="11247120" cy="1371600"/>
          </a:xfrm>
          <a:prstGeom prst="roundRect">
            <a:avLst>
              <a:gd name="adj" fmla="val 5333"/>
            </a:avLst>
          </a:prstGeom>
          <a:solidFill>
            <a:srgbClr val="162233"/>
          </a:solidFill>
          <a:ln w="12700">
            <a:solidFill>
              <a:srgbClr val="4CC9F0"/>
            </a:solidFill>
            <a:prstDash val="solid"/>
          </a:ln>
        </p:spPr>
      </p:sp>
      <p:sp>
        <p:nvSpPr>
          <p:cNvPr id="6" name="Text 4"/>
          <p:cNvSpPr/>
          <p:nvPr/>
        </p:nvSpPr>
        <p:spPr>
          <a:xfrm>
            <a:off x="640080" y="804672"/>
            <a:ext cx="10972800" cy="11887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How can we use data to track and explain how energy changes form as it moves through a device?</a:t>
            </a:r>
            <a:endParaRPr lang="en-US" sz="2200" dirty="0"/>
          </a:p>
        </p:txBody>
      </p:sp>
      <p:sp>
        <p:nvSpPr>
          <p:cNvPr id="7" name="Shape 5"/>
          <p:cNvSpPr/>
          <p:nvPr/>
        </p:nvSpPr>
        <p:spPr>
          <a:xfrm>
            <a:off x="457200" y="2331720"/>
            <a:ext cx="11247120" cy="1143000"/>
          </a:xfrm>
          <a:prstGeom prst="roundRect">
            <a:avLst>
              <a:gd name="adj" fmla="val 6400"/>
            </a:avLst>
          </a:prstGeom>
          <a:solidFill>
            <a:srgbClr val="1E2F45"/>
          </a:solidFill>
          <a:ln w="12700">
            <a:solidFill>
              <a:srgbClr val="FFB703"/>
            </a:solidFill>
            <a:prstDash val="solid"/>
          </a:ln>
        </p:spPr>
      </p:sp>
      <p:sp>
        <p:nvSpPr>
          <p:cNvPr id="8" name="Text 6"/>
          <p:cNvSpPr/>
          <p:nvPr/>
        </p:nvSpPr>
        <p:spPr>
          <a:xfrm>
            <a:off x="640080" y="2487168"/>
            <a:ext cx="10972800" cy="822960"/>
          </a:xfrm>
          <a:prstGeom prst="rect">
            <a:avLst/>
          </a:prstGeom>
          <a:noFill/>
          <a:ln/>
        </p:spPr>
        <p:txBody>
          <a:bodyPr wrap="square" rtlCol="0" anchor="ctr"/>
          <a:lstStyle/>
          <a:p>
            <a:pPr algn="ctr" indent="0" marL="0">
              <a:buNone/>
            </a:pPr>
            <a:r>
              <a:rPr lang="en-US" sz="1300" i="1" dirty="0">
                <a:solidFill>
                  <a:srgbClr val="B0C4D8"/>
                </a:solidFill>
                <a:latin typeface="Calibri" pitchFamily="34" charset="0"/>
                <a:ea typeface="Calibri" pitchFamily="34" charset="-122"/>
                <a:cs typeface="Calibri" pitchFamily="34" charset="-120"/>
              </a:rPr>
              <a:t>Today's Goal: Use evidence from 4 devices to write a full CER explaining energy changes.</a:t>
            </a:r>
            <a:endParaRPr lang="en-US" sz="1300" dirty="0"/>
          </a:p>
        </p:txBody>
      </p:sp>
      <p:sp>
        <p:nvSpPr>
          <p:cNvPr id="9" name="Shape 7"/>
          <p:cNvSpPr/>
          <p:nvPr/>
        </p:nvSpPr>
        <p:spPr>
          <a:xfrm>
            <a:off x="0" y="6629400"/>
            <a:ext cx="12192000" cy="228600"/>
          </a:xfrm>
          <a:prstGeom prst="rect">
            <a:avLst/>
          </a:prstGeom>
          <a:solidFill>
            <a:srgbClr val="162233"/>
          </a:solidFill>
          <a:ln/>
        </p:spPr>
      </p:sp>
      <p:sp>
        <p:nvSpPr>
          <p:cNvPr id="10" name="Text 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Energy Conversion: Starting and Resulting Energy</a:t>
            </a:r>
            <a:endParaRPr lang="en-US" sz="1600" dirty="0"/>
          </a:p>
        </p:txBody>
      </p:sp>
      <p:sp>
        <p:nvSpPr>
          <p:cNvPr id="5" name="Shape 3"/>
          <p:cNvSpPr/>
          <p:nvPr/>
        </p:nvSpPr>
        <p:spPr>
          <a:xfrm>
            <a:off x="365760" y="749808"/>
            <a:ext cx="11430000" cy="1115568"/>
          </a:xfrm>
          <a:prstGeom prst="roundRect">
            <a:avLst>
              <a:gd name="adj" fmla="val 6557"/>
            </a:avLst>
          </a:prstGeom>
          <a:solidFill>
            <a:srgbClr val="162233"/>
          </a:solidFill>
          <a:ln w="12700">
            <a:solidFill>
              <a:srgbClr val="4CC9F0"/>
            </a:solidFill>
            <a:prstDash val="solid"/>
          </a:ln>
        </p:spPr>
      </p:sp>
      <p:sp>
        <p:nvSpPr>
          <p:cNvPr id="6" name="Text 4"/>
          <p:cNvSpPr/>
          <p:nvPr/>
        </p:nvSpPr>
        <p:spPr>
          <a:xfrm>
            <a:off x="548640" y="804672"/>
            <a:ext cx="11155680" cy="96926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Energy CHANGES FORM as it passes through devices — but it is never created or destroyed. It only converts.</a:t>
            </a:r>
            <a:endParaRPr lang="en-US" sz="1400" dirty="0"/>
          </a:p>
        </p:txBody>
      </p:sp>
      <p:sp>
        <p:nvSpPr>
          <p:cNvPr id="7" name="Shape 5"/>
          <p:cNvSpPr/>
          <p:nvPr/>
        </p:nvSpPr>
        <p:spPr>
          <a:xfrm>
            <a:off x="365760" y="2029968"/>
            <a:ext cx="3749040" cy="1993392"/>
          </a:xfrm>
          <a:prstGeom prst="roundRect">
            <a:avLst>
              <a:gd name="adj" fmla="val 3670"/>
            </a:avLst>
          </a:prstGeom>
          <a:solidFill>
            <a:srgbClr val="1E2F45"/>
          </a:solidFill>
          <a:ln w="12700">
            <a:solidFill>
              <a:srgbClr val="0096C7"/>
            </a:solidFill>
            <a:prstDash val="solid"/>
          </a:ln>
        </p:spPr>
      </p:sp>
      <p:sp>
        <p:nvSpPr>
          <p:cNvPr id="8" name="Text 6"/>
          <p:cNvSpPr/>
          <p:nvPr/>
        </p:nvSpPr>
        <p:spPr>
          <a:xfrm>
            <a:off x="475488" y="2103120"/>
            <a:ext cx="3547872"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Toaster</a:t>
            </a:r>
            <a:endParaRPr lang="en-US" sz="1300" dirty="0"/>
          </a:p>
        </p:txBody>
      </p:sp>
      <p:sp>
        <p:nvSpPr>
          <p:cNvPr id="9" name="Text 7"/>
          <p:cNvSpPr/>
          <p:nvPr/>
        </p:nvSpPr>
        <p:spPr>
          <a:xfrm>
            <a:off x="475488" y="2532888"/>
            <a:ext cx="3547872" cy="384048"/>
          </a:xfrm>
          <a:prstGeom prst="rect">
            <a:avLst/>
          </a:prstGeom>
          <a:noFill/>
          <a:ln/>
        </p:spPr>
        <p:txBody>
          <a:bodyPr wrap="square" rtlCol="0" anchor="ctr"/>
          <a:lstStyle/>
          <a:p>
            <a:pPr indent="0" marL="0">
              <a:buNone/>
            </a:pPr>
            <a:r>
              <a:rPr lang="en-US" sz="1300" dirty="0">
                <a:solidFill>
                  <a:srgbClr val="FFB703"/>
                </a:solidFill>
                <a:latin typeface="Calibri" pitchFamily="34" charset="0"/>
                <a:ea typeface="Calibri" pitchFamily="34" charset="-122"/>
                <a:cs typeface="Calibri" pitchFamily="34" charset="-120"/>
              </a:rPr>
              <a:t>⚡ ➜ 🔥</a:t>
            </a:r>
            <a:endParaRPr lang="en-US" sz="1300" dirty="0"/>
          </a:p>
        </p:txBody>
      </p:sp>
      <p:sp>
        <p:nvSpPr>
          <p:cNvPr id="10" name="Text 8"/>
          <p:cNvSpPr/>
          <p:nvPr/>
        </p:nvSpPr>
        <p:spPr>
          <a:xfrm>
            <a:off x="475488" y="2944368"/>
            <a:ext cx="3547872" cy="411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Start: Electrical energy</a:t>
            </a:r>
            <a:endParaRPr lang="en-US" sz="1050" dirty="0"/>
          </a:p>
        </p:txBody>
      </p:sp>
      <p:sp>
        <p:nvSpPr>
          <p:cNvPr id="11" name="Text 9"/>
          <p:cNvSpPr/>
          <p:nvPr/>
        </p:nvSpPr>
        <p:spPr>
          <a:xfrm>
            <a:off x="475488" y="3419856"/>
            <a:ext cx="3547872" cy="5029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Result: Heat energy (toasts bread)</a:t>
            </a:r>
            <a:endParaRPr lang="en-US" sz="1050" dirty="0"/>
          </a:p>
        </p:txBody>
      </p:sp>
      <p:sp>
        <p:nvSpPr>
          <p:cNvPr id="12" name="Shape 10"/>
          <p:cNvSpPr/>
          <p:nvPr/>
        </p:nvSpPr>
        <p:spPr>
          <a:xfrm>
            <a:off x="4297680" y="2029968"/>
            <a:ext cx="3749040" cy="1993392"/>
          </a:xfrm>
          <a:prstGeom prst="roundRect">
            <a:avLst>
              <a:gd name="adj" fmla="val 3670"/>
            </a:avLst>
          </a:prstGeom>
          <a:solidFill>
            <a:srgbClr val="1E2F45"/>
          </a:solidFill>
          <a:ln w="12700">
            <a:solidFill>
              <a:srgbClr val="0096C7"/>
            </a:solidFill>
            <a:prstDash val="solid"/>
          </a:ln>
        </p:spPr>
      </p:sp>
      <p:sp>
        <p:nvSpPr>
          <p:cNvPr id="13" name="Text 11"/>
          <p:cNvSpPr/>
          <p:nvPr/>
        </p:nvSpPr>
        <p:spPr>
          <a:xfrm>
            <a:off x="4407408" y="2103120"/>
            <a:ext cx="3547872"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Solar panel</a:t>
            </a:r>
            <a:endParaRPr lang="en-US" sz="1300" dirty="0"/>
          </a:p>
        </p:txBody>
      </p:sp>
      <p:sp>
        <p:nvSpPr>
          <p:cNvPr id="14" name="Text 12"/>
          <p:cNvSpPr/>
          <p:nvPr/>
        </p:nvSpPr>
        <p:spPr>
          <a:xfrm>
            <a:off x="4407408" y="2532888"/>
            <a:ext cx="3547872" cy="384048"/>
          </a:xfrm>
          <a:prstGeom prst="rect">
            <a:avLst/>
          </a:prstGeom>
          <a:noFill/>
          <a:ln/>
        </p:spPr>
        <p:txBody>
          <a:bodyPr wrap="square" rtlCol="0" anchor="ctr"/>
          <a:lstStyle/>
          <a:p>
            <a:pPr indent="0" marL="0">
              <a:buNone/>
            </a:pPr>
            <a:r>
              <a:rPr lang="en-US" sz="1300" dirty="0">
                <a:solidFill>
                  <a:srgbClr val="FFB703"/>
                </a:solidFill>
                <a:latin typeface="Calibri" pitchFamily="34" charset="0"/>
                <a:ea typeface="Calibri" pitchFamily="34" charset="-122"/>
                <a:cs typeface="Calibri" pitchFamily="34" charset="-120"/>
              </a:rPr>
              <a:t>💡 ➜ ⚡</a:t>
            </a:r>
            <a:endParaRPr lang="en-US" sz="1300" dirty="0"/>
          </a:p>
        </p:txBody>
      </p:sp>
      <p:sp>
        <p:nvSpPr>
          <p:cNvPr id="15" name="Text 13"/>
          <p:cNvSpPr/>
          <p:nvPr/>
        </p:nvSpPr>
        <p:spPr>
          <a:xfrm>
            <a:off x="4407408" y="2944368"/>
            <a:ext cx="3547872" cy="411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Start: Light energy (sunlight)</a:t>
            </a:r>
            <a:endParaRPr lang="en-US" sz="1050" dirty="0"/>
          </a:p>
        </p:txBody>
      </p:sp>
      <p:sp>
        <p:nvSpPr>
          <p:cNvPr id="16" name="Text 14"/>
          <p:cNvSpPr/>
          <p:nvPr/>
        </p:nvSpPr>
        <p:spPr>
          <a:xfrm>
            <a:off x="4407408" y="3419856"/>
            <a:ext cx="3547872" cy="5029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Result: Electrical energy (powers devices)</a:t>
            </a:r>
            <a:endParaRPr lang="en-US" sz="1050" dirty="0"/>
          </a:p>
        </p:txBody>
      </p:sp>
      <p:sp>
        <p:nvSpPr>
          <p:cNvPr id="17" name="Shape 15"/>
          <p:cNvSpPr/>
          <p:nvPr/>
        </p:nvSpPr>
        <p:spPr>
          <a:xfrm>
            <a:off x="8229600" y="2029968"/>
            <a:ext cx="3749040" cy="1993392"/>
          </a:xfrm>
          <a:prstGeom prst="roundRect">
            <a:avLst>
              <a:gd name="adj" fmla="val 3670"/>
            </a:avLst>
          </a:prstGeom>
          <a:solidFill>
            <a:srgbClr val="1E2F45"/>
          </a:solidFill>
          <a:ln w="12700">
            <a:solidFill>
              <a:srgbClr val="0096C7"/>
            </a:solidFill>
            <a:prstDash val="solid"/>
          </a:ln>
        </p:spPr>
      </p:sp>
      <p:sp>
        <p:nvSpPr>
          <p:cNvPr id="18" name="Text 16"/>
          <p:cNvSpPr/>
          <p:nvPr/>
        </p:nvSpPr>
        <p:spPr>
          <a:xfrm>
            <a:off x="8339328" y="2103120"/>
            <a:ext cx="3547872"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Wind turbine</a:t>
            </a:r>
            <a:endParaRPr lang="en-US" sz="1300" dirty="0"/>
          </a:p>
        </p:txBody>
      </p:sp>
      <p:sp>
        <p:nvSpPr>
          <p:cNvPr id="19" name="Text 17"/>
          <p:cNvSpPr/>
          <p:nvPr/>
        </p:nvSpPr>
        <p:spPr>
          <a:xfrm>
            <a:off x="8339328" y="2532888"/>
            <a:ext cx="3547872" cy="384048"/>
          </a:xfrm>
          <a:prstGeom prst="rect">
            <a:avLst/>
          </a:prstGeom>
          <a:noFill/>
          <a:ln/>
        </p:spPr>
        <p:txBody>
          <a:bodyPr wrap="square" rtlCol="0" anchor="ctr"/>
          <a:lstStyle/>
          <a:p>
            <a:pPr indent="0" marL="0">
              <a:buNone/>
            </a:pPr>
            <a:r>
              <a:rPr lang="en-US" sz="1300" dirty="0">
                <a:solidFill>
                  <a:srgbClr val="FFB703"/>
                </a:solidFill>
                <a:latin typeface="Calibri" pitchFamily="34" charset="0"/>
                <a:ea typeface="Calibri" pitchFamily="34" charset="-122"/>
                <a:cs typeface="Calibri" pitchFamily="34" charset="-120"/>
              </a:rPr>
              <a:t>💨 ➜ ⚡</a:t>
            </a:r>
            <a:endParaRPr lang="en-US" sz="1300" dirty="0"/>
          </a:p>
        </p:txBody>
      </p:sp>
      <p:sp>
        <p:nvSpPr>
          <p:cNvPr id="20" name="Text 18"/>
          <p:cNvSpPr/>
          <p:nvPr/>
        </p:nvSpPr>
        <p:spPr>
          <a:xfrm>
            <a:off x="8339328" y="2944368"/>
            <a:ext cx="3547872" cy="411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Start: Kinetic energy (wind)</a:t>
            </a:r>
            <a:endParaRPr lang="en-US" sz="1050" dirty="0"/>
          </a:p>
        </p:txBody>
      </p:sp>
      <p:sp>
        <p:nvSpPr>
          <p:cNvPr id="21" name="Text 19"/>
          <p:cNvSpPr/>
          <p:nvPr/>
        </p:nvSpPr>
        <p:spPr>
          <a:xfrm>
            <a:off x="8339328" y="3419856"/>
            <a:ext cx="3547872" cy="5029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Result: Electrical energy (powers grid)</a:t>
            </a:r>
            <a:endParaRPr lang="en-US" sz="1050" dirty="0"/>
          </a:p>
        </p:txBody>
      </p:sp>
      <p:sp>
        <p:nvSpPr>
          <p:cNvPr id="22" name="Shape 20"/>
          <p:cNvSpPr/>
          <p:nvPr/>
        </p:nvSpPr>
        <p:spPr>
          <a:xfrm>
            <a:off x="365760" y="4178808"/>
            <a:ext cx="3749040" cy="1993392"/>
          </a:xfrm>
          <a:prstGeom prst="roundRect">
            <a:avLst>
              <a:gd name="adj" fmla="val 3670"/>
            </a:avLst>
          </a:prstGeom>
          <a:solidFill>
            <a:srgbClr val="1E2F45"/>
          </a:solidFill>
          <a:ln w="12700">
            <a:solidFill>
              <a:srgbClr val="0096C7"/>
            </a:solidFill>
            <a:prstDash val="solid"/>
          </a:ln>
        </p:spPr>
      </p:sp>
      <p:sp>
        <p:nvSpPr>
          <p:cNvPr id="23" name="Text 21"/>
          <p:cNvSpPr/>
          <p:nvPr/>
        </p:nvSpPr>
        <p:spPr>
          <a:xfrm>
            <a:off x="475488" y="4251960"/>
            <a:ext cx="3547872"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Speaker</a:t>
            </a:r>
            <a:endParaRPr lang="en-US" sz="1300" dirty="0"/>
          </a:p>
        </p:txBody>
      </p:sp>
      <p:sp>
        <p:nvSpPr>
          <p:cNvPr id="24" name="Text 22"/>
          <p:cNvSpPr/>
          <p:nvPr/>
        </p:nvSpPr>
        <p:spPr>
          <a:xfrm>
            <a:off x="475488" y="4681728"/>
            <a:ext cx="3547872" cy="384048"/>
          </a:xfrm>
          <a:prstGeom prst="rect">
            <a:avLst/>
          </a:prstGeom>
          <a:noFill/>
          <a:ln/>
        </p:spPr>
        <p:txBody>
          <a:bodyPr wrap="square" rtlCol="0" anchor="ctr"/>
          <a:lstStyle/>
          <a:p>
            <a:pPr indent="0" marL="0">
              <a:buNone/>
            </a:pPr>
            <a:r>
              <a:rPr lang="en-US" sz="1300" dirty="0">
                <a:solidFill>
                  <a:srgbClr val="FFB703"/>
                </a:solidFill>
                <a:latin typeface="Calibri" pitchFamily="34" charset="0"/>
                <a:ea typeface="Calibri" pitchFamily="34" charset="-122"/>
                <a:cs typeface="Calibri" pitchFamily="34" charset="-120"/>
              </a:rPr>
              <a:t>⚡ ➜ 🔊</a:t>
            </a:r>
            <a:endParaRPr lang="en-US" sz="1300" dirty="0"/>
          </a:p>
        </p:txBody>
      </p:sp>
      <p:sp>
        <p:nvSpPr>
          <p:cNvPr id="25" name="Text 23"/>
          <p:cNvSpPr/>
          <p:nvPr/>
        </p:nvSpPr>
        <p:spPr>
          <a:xfrm>
            <a:off x="475488" y="5093208"/>
            <a:ext cx="3547872" cy="411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Start: Electrical energy</a:t>
            </a:r>
            <a:endParaRPr lang="en-US" sz="1050" dirty="0"/>
          </a:p>
        </p:txBody>
      </p:sp>
      <p:sp>
        <p:nvSpPr>
          <p:cNvPr id="26" name="Text 24"/>
          <p:cNvSpPr/>
          <p:nvPr/>
        </p:nvSpPr>
        <p:spPr>
          <a:xfrm>
            <a:off x="475488" y="5568696"/>
            <a:ext cx="3547872" cy="5029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Result: Sound energy (vibrations in air)</a:t>
            </a:r>
            <a:endParaRPr lang="en-US" sz="1050" dirty="0"/>
          </a:p>
        </p:txBody>
      </p:sp>
      <p:sp>
        <p:nvSpPr>
          <p:cNvPr id="27" name="Shape 25"/>
          <p:cNvSpPr/>
          <p:nvPr/>
        </p:nvSpPr>
        <p:spPr>
          <a:xfrm>
            <a:off x="4297680" y="4178808"/>
            <a:ext cx="3749040" cy="1993392"/>
          </a:xfrm>
          <a:prstGeom prst="roundRect">
            <a:avLst>
              <a:gd name="adj" fmla="val 3670"/>
            </a:avLst>
          </a:prstGeom>
          <a:solidFill>
            <a:srgbClr val="1E2F45"/>
          </a:solidFill>
          <a:ln w="12700">
            <a:solidFill>
              <a:srgbClr val="0096C7"/>
            </a:solidFill>
            <a:prstDash val="solid"/>
          </a:ln>
        </p:spPr>
      </p:sp>
      <p:sp>
        <p:nvSpPr>
          <p:cNvPr id="28" name="Text 26"/>
          <p:cNvSpPr/>
          <p:nvPr/>
        </p:nvSpPr>
        <p:spPr>
          <a:xfrm>
            <a:off x="4407408" y="4251960"/>
            <a:ext cx="3547872"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Car engine</a:t>
            </a:r>
            <a:endParaRPr lang="en-US" sz="1300" dirty="0"/>
          </a:p>
        </p:txBody>
      </p:sp>
      <p:sp>
        <p:nvSpPr>
          <p:cNvPr id="29" name="Text 27"/>
          <p:cNvSpPr/>
          <p:nvPr/>
        </p:nvSpPr>
        <p:spPr>
          <a:xfrm>
            <a:off x="4407408" y="4681728"/>
            <a:ext cx="3547872" cy="384048"/>
          </a:xfrm>
          <a:prstGeom prst="rect">
            <a:avLst/>
          </a:prstGeom>
          <a:noFill/>
          <a:ln/>
        </p:spPr>
        <p:txBody>
          <a:bodyPr wrap="square" rtlCol="0" anchor="ctr"/>
          <a:lstStyle/>
          <a:p>
            <a:pPr indent="0" marL="0">
              <a:buNone/>
            </a:pPr>
            <a:r>
              <a:rPr lang="en-US" sz="1300" dirty="0">
                <a:solidFill>
                  <a:srgbClr val="FFB703"/>
                </a:solidFill>
                <a:latin typeface="Calibri" pitchFamily="34" charset="0"/>
                <a:ea typeface="Calibri" pitchFamily="34" charset="-122"/>
                <a:cs typeface="Calibri" pitchFamily="34" charset="-120"/>
              </a:rPr>
              <a:t>⛽ ➜ 🚗 🔥</a:t>
            </a:r>
            <a:endParaRPr lang="en-US" sz="1300" dirty="0"/>
          </a:p>
        </p:txBody>
      </p:sp>
      <p:sp>
        <p:nvSpPr>
          <p:cNvPr id="30" name="Text 28"/>
          <p:cNvSpPr/>
          <p:nvPr/>
        </p:nvSpPr>
        <p:spPr>
          <a:xfrm>
            <a:off x="4407408" y="5093208"/>
            <a:ext cx="3547872" cy="411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Start: Chemical energy (fuel)</a:t>
            </a:r>
            <a:endParaRPr lang="en-US" sz="1050" dirty="0"/>
          </a:p>
        </p:txBody>
      </p:sp>
      <p:sp>
        <p:nvSpPr>
          <p:cNvPr id="31" name="Text 29"/>
          <p:cNvSpPr/>
          <p:nvPr/>
        </p:nvSpPr>
        <p:spPr>
          <a:xfrm>
            <a:off x="4407408" y="5568696"/>
            <a:ext cx="3547872" cy="5029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Result: Kinetic energy + heat</a:t>
            </a:r>
            <a:endParaRPr lang="en-US" sz="1050" dirty="0"/>
          </a:p>
        </p:txBody>
      </p:sp>
      <p:sp>
        <p:nvSpPr>
          <p:cNvPr id="32" name="Shape 30"/>
          <p:cNvSpPr/>
          <p:nvPr/>
        </p:nvSpPr>
        <p:spPr>
          <a:xfrm>
            <a:off x="8229600" y="4178808"/>
            <a:ext cx="3749040" cy="1993392"/>
          </a:xfrm>
          <a:prstGeom prst="roundRect">
            <a:avLst>
              <a:gd name="adj" fmla="val 3670"/>
            </a:avLst>
          </a:prstGeom>
          <a:solidFill>
            <a:srgbClr val="1E2F45"/>
          </a:solidFill>
          <a:ln w="12700">
            <a:solidFill>
              <a:srgbClr val="0096C7"/>
            </a:solidFill>
            <a:prstDash val="solid"/>
          </a:ln>
        </p:spPr>
      </p:sp>
      <p:sp>
        <p:nvSpPr>
          <p:cNvPr id="33" name="Text 31"/>
          <p:cNvSpPr/>
          <p:nvPr/>
        </p:nvSpPr>
        <p:spPr>
          <a:xfrm>
            <a:off x="8339328" y="4251960"/>
            <a:ext cx="3547872"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Your muscles</a:t>
            </a:r>
            <a:endParaRPr lang="en-US" sz="1300" dirty="0"/>
          </a:p>
        </p:txBody>
      </p:sp>
      <p:sp>
        <p:nvSpPr>
          <p:cNvPr id="34" name="Text 32"/>
          <p:cNvSpPr/>
          <p:nvPr/>
        </p:nvSpPr>
        <p:spPr>
          <a:xfrm>
            <a:off x="8339328" y="4681728"/>
            <a:ext cx="3547872" cy="384048"/>
          </a:xfrm>
          <a:prstGeom prst="rect">
            <a:avLst/>
          </a:prstGeom>
          <a:noFill/>
          <a:ln/>
        </p:spPr>
        <p:txBody>
          <a:bodyPr wrap="square" rtlCol="0" anchor="ctr"/>
          <a:lstStyle/>
          <a:p>
            <a:pPr indent="0" marL="0">
              <a:buNone/>
            </a:pPr>
            <a:r>
              <a:rPr lang="en-US" sz="1300" dirty="0">
                <a:solidFill>
                  <a:srgbClr val="FFB703"/>
                </a:solidFill>
                <a:latin typeface="Calibri" pitchFamily="34" charset="0"/>
                <a:ea typeface="Calibri" pitchFamily="34" charset="-122"/>
                <a:cs typeface="Calibri" pitchFamily="34" charset="-120"/>
              </a:rPr>
              <a:t>🍎 ➜ 🏃 🔥</a:t>
            </a:r>
            <a:endParaRPr lang="en-US" sz="1300" dirty="0"/>
          </a:p>
        </p:txBody>
      </p:sp>
      <p:sp>
        <p:nvSpPr>
          <p:cNvPr id="35" name="Text 33"/>
          <p:cNvSpPr/>
          <p:nvPr/>
        </p:nvSpPr>
        <p:spPr>
          <a:xfrm>
            <a:off x="8339328" y="5093208"/>
            <a:ext cx="3547872" cy="411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Start: Chemical energy (food)</a:t>
            </a:r>
            <a:endParaRPr lang="en-US" sz="1050" dirty="0"/>
          </a:p>
        </p:txBody>
      </p:sp>
      <p:sp>
        <p:nvSpPr>
          <p:cNvPr id="36" name="Text 34"/>
          <p:cNvSpPr/>
          <p:nvPr/>
        </p:nvSpPr>
        <p:spPr>
          <a:xfrm>
            <a:off x="8339328" y="5568696"/>
            <a:ext cx="3547872" cy="5029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Result: Kinetic energy (movement) + heat</a:t>
            </a:r>
            <a:endParaRPr lang="en-US" sz="1050" dirty="0"/>
          </a:p>
        </p:txBody>
      </p:sp>
      <p:sp>
        <p:nvSpPr>
          <p:cNvPr id="37" name="Shape 35"/>
          <p:cNvSpPr/>
          <p:nvPr/>
        </p:nvSpPr>
        <p:spPr>
          <a:xfrm>
            <a:off x="0" y="6629400"/>
            <a:ext cx="12192000" cy="228600"/>
          </a:xfrm>
          <a:prstGeom prst="rect">
            <a:avLst/>
          </a:prstGeom>
          <a:solidFill>
            <a:srgbClr val="162233"/>
          </a:solidFill>
          <a:ln/>
        </p:spPr>
      </p:sp>
      <p:sp>
        <p:nvSpPr>
          <p:cNvPr id="38" name="Text 3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Data Task: 4 Devices to Analyze</a:t>
            </a:r>
            <a:endParaRPr lang="en-US" sz="1600" dirty="0"/>
          </a:p>
        </p:txBody>
      </p:sp>
      <p:sp>
        <p:nvSpPr>
          <p:cNvPr id="5" name="Shape 3"/>
          <p:cNvSpPr/>
          <p:nvPr/>
        </p:nvSpPr>
        <p:spPr>
          <a:xfrm>
            <a:off x="365760" y="749808"/>
            <a:ext cx="11430000" cy="804672"/>
          </a:xfrm>
          <a:prstGeom prst="roundRect">
            <a:avLst>
              <a:gd name="adj" fmla="val 9091"/>
            </a:avLst>
          </a:prstGeom>
          <a:solidFill>
            <a:srgbClr val="1E2F45"/>
          </a:solidFill>
          <a:ln w="12700">
            <a:solidFill>
              <a:srgbClr val="4CC9F0"/>
            </a:solidFill>
            <a:prstDash val="solid"/>
          </a:ln>
        </p:spPr>
      </p:sp>
      <p:sp>
        <p:nvSpPr>
          <p:cNvPr id="6" name="Text 4"/>
          <p:cNvSpPr/>
          <p:nvPr/>
        </p:nvSpPr>
        <p:spPr>
          <a:xfrm>
            <a:off x="548640" y="804672"/>
            <a:ext cx="11155680" cy="6858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You will analyze data from 4 devices. For each, identify: starting energy, resulting energy, and evidence of the energy change.</a:t>
            </a:r>
            <a:endParaRPr lang="en-US" sz="1300" dirty="0"/>
          </a:p>
        </p:txBody>
      </p:sp>
      <p:sp>
        <p:nvSpPr>
          <p:cNvPr id="7" name="Shape 5"/>
          <p:cNvSpPr/>
          <p:nvPr/>
        </p:nvSpPr>
        <p:spPr>
          <a:xfrm>
            <a:off x="365760" y="1719072"/>
            <a:ext cx="11430000" cy="1051560"/>
          </a:xfrm>
          <a:prstGeom prst="roundRect">
            <a:avLst>
              <a:gd name="adj" fmla="val 6957"/>
            </a:avLst>
          </a:prstGeom>
          <a:solidFill>
            <a:srgbClr val="1E2F45"/>
          </a:solidFill>
          <a:ln w="12700">
            <a:solidFill>
              <a:srgbClr val="F4736A"/>
            </a:solidFill>
            <a:prstDash val="solid"/>
          </a:ln>
        </p:spPr>
      </p:sp>
      <p:sp>
        <p:nvSpPr>
          <p:cNvPr id="8" name="Shape 6"/>
          <p:cNvSpPr/>
          <p:nvPr/>
        </p:nvSpPr>
        <p:spPr>
          <a:xfrm>
            <a:off x="457200" y="1828800"/>
            <a:ext cx="457200" cy="457200"/>
          </a:xfrm>
          <a:prstGeom prst="ellipse">
            <a:avLst/>
          </a:prstGeom>
          <a:solidFill>
            <a:srgbClr val="F4736A"/>
          </a:solidFill>
          <a:ln w="12700">
            <a:solidFill>
              <a:srgbClr val="F4736A"/>
            </a:solidFill>
            <a:prstDash val="solid"/>
          </a:ln>
        </p:spPr>
      </p:sp>
      <p:sp>
        <p:nvSpPr>
          <p:cNvPr id="9" name="Text 7"/>
          <p:cNvSpPr/>
          <p:nvPr/>
        </p:nvSpPr>
        <p:spPr>
          <a:xfrm>
            <a:off x="457200" y="182880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005840" y="1792224"/>
            <a:ext cx="2011680" cy="50292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Toaster:</a:t>
            </a:r>
            <a:endParaRPr lang="en-US" sz="1300" dirty="0"/>
          </a:p>
        </p:txBody>
      </p:sp>
      <p:sp>
        <p:nvSpPr>
          <p:cNvPr id="11" name="Text 9"/>
          <p:cNvSpPr/>
          <p:nvPr/>
        </p:nvSpPr>
        <p:spPr>
          <a:xfrm>
            <a:off x="3108960" y="1792224"/>
            <a:ext cx="8503920" cy="8686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Temperature of bread rises from 22°C to 105°C in 90 seconds after electrical power on.</a:t>
            </a:r>
            <a:endParaRPr lang="en-US" sz="1150" dirty="0"/>
          </a:p>
        </p:txBody>
      </p:sp>
      <p:sp>
        <p:nvSpPr>
          <p:cNvPr id="12" name="Shape 10"/>
          <p:cNvSpPr/>
          <p:nvPr/>
        </p:nvSpPr>
        <p:spPr>
          <a:xfrm>
            <a:off x="365760" y="2862072"/>
            <a:ext cx="11430000" cy="1051560"/>
          </a:xfrm>
          <a:prstGeom prst="roundRect">
            <a:avLst>
              <a:gd name="adj" fmla="val 6957"/>
            </a:avLst>
          </a:prstGeom>
          <a:solidFill>
            <a:srgbClr val="1E2F45"/>
          </a:solidFill>
          <a:ln w="12700">
            <a:solidFill>
              <a:srgbClr val="FFB703"/>
            </a:solidFill>
            <a:prstDash val="solid"/>
          </a:ln>
        </p:spPr>
      </p:sp>
      <p:sp>
        <p:nvSpPr>
          <p:cNvPr id="13" name="Shape 11"/>
          <p:cNvSpPr/>
          <p:nvPr/>
        </p:nvSpPr>
        <p:spPr>
          <a:xfrm>
            <a:off x="457200" y="2971800"/>
            <a:ext cx="457200" cy="457200"/>
          </a:xfrm>
          <a:prstGeom prst="ellipse">
            <a:avLst/>
          </a:prstGeom>
          <a:solidFill>
            <a:srgbClr val="FFB703"/>
          </a:solidFill>
          <a:ln w="12700">
            <a:solidFill>
              <a:srgbClr val="FFB703"/>
            </a:solidFill>
            <a:prstDash val="solid"/>
          </a:ln>
        </p:spPr>
      </p:sp>
      <p:sp>
        <p:nvSpPr>
          <p:cNvPr id="14" name="Text 12"/>
          <p:cNvSpPr/>
          <p:nvPr/>
        </p:nvSpPr>
        <p:spPr>
          <a:xfrm>
            <a:off x="457200" y="297180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005840" y="2935224"/>
            <a:ext cx="2011680" cy="50292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Solar Panel:</a:t>
            </a:r>
            <a:endParaRPr lang="en-US" sz="1300" dirty="0"/>
          </a:p>
        </p:txBody>
      </p:sp>
      <p:sp>
        <p:nvSpPr>
          <p:cNvPr id="16" name="Text 14"/>
          <p:cNvSpPr/>
          <p:nvPr/>
        </p:nvSpPr>
        <p:spPr>
          <a:xfrm>
            <a:off x="3108960" y="2935224"/>
            <a:ext cx="8503920" cy="8686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Panel generates 0W in shade, 120W in full sun. Battery charges when panel is in sunlight.</a:t>
            </a:r>
            <a:endParaRPr lang="en-US" sz="1150" dirty="0"/>
          </a:p>
        </p:txBody>
      </p:sp>
      <p:sp>
        <p:nvSpPr>
          <p:cNvPr id="17" name="Shape 15"/>
          <p:cNvSpPr/>
          <p:nvPr/>
        </p:nvSpPr>
        <p:spPr>
          <a:xfrm>
            <a:off x="365760" y="4005072"/>
            <a:ext cx="11430000" cy="1051560"/>
          </a:xfrm>
          <a:prstGeom prst="roundRect">
            <a:avLst>
              <a:gd name="adj" fmla="val 6957"/>
            </a:avLst>
          </a:prstGeom>
          <a:solidFill>
            <a:srgbClr val="1E2F45"/>
          </a:solidFill>
          <a:ln w="12700">
            <a:solidFill>
              <a:srgbClr val="4CC9F0"/>
            </a:solidFill>
            <a:prstDash val="solid"/>
          </a:ln>
        </p:spPr>
      </p:sp>
      <p:sp>
        <p:nvSpPr>
          <p:cNvPr id="18" name="Shape 16"/>
          <p:cNvSpPr/>
          <p:nvPr/>
        </p:nvSpPr>
        <p:spPr>
          <a:xfrm>
            <a:off x="457200" y="4114800"/>
            <a:ext cx="457200" cy="457200"/>
          </a:xfrm>
          <a:prstGeom prst="ellipse">
            <a:avLst/>
          </a:prstGeom>
          <a:solidFill>
            <a:srgbClr val="4CC9F0"/>
          </a:solidFill>
          <a:ln w="12700">
            <a:solidFill>
              <a:srgbClr val="4CC9F0"/>
            </a:solidFill>
            <a:prstDash val="solid"/>
          </a:ln>
        </p:spPr>
      </p:sp>
      <p:sp>
        <p:nvSpPr>
          <p:cNvPr id="19" name="Text 17"/>
          <p:cNvSpPr/>
          <p:nvPr/>
        </p:nvSpPr>
        <p:spPr>
          <a:xfrm>
            <a:off x="457200" y="411480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005840" y="4078224"/>
            <a:ext cx="2011680" cy="50292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Wind Turbine:</a:t>
            </a:r>
            <a:endParaRPr lang="en-US" sz="1300" dirty="0"/>
          </a:p>
        </p:txBody>
      </p:sp>
      <p:sp>
        <p:nvSpPr>
          <p:cNvPr id="21" name="Text 19"/>
          <p:cNvSpPr/>
          <p:nvPr/>
        </p:nvSpPr>
        <p:spPr>
          <a:xfrm>
            <a:off x="3108960" y="4078224"/>
            <a:ext cx="8503920" cy="8686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At 5 mph wind: 500W generated. At 10 mph: 2,000W. At 20 mph: 8,000W.</a:t>
            </a:r>
            <a:endParaRPr lang="en-US" sz="1150" dirty="0"/>
          </a:p>
        </p:txBody>
      </p:sp>
      <p:sp>
        <p:nvSpPr>
          <p:cNvPr id="22" name="Shape 20"/>
          <p:cNvSpPr/>
          <p:nvPr/>
        </p:nvSpPr>
        <p:spPr>
          <a:xfrm>
            <a:off x="365760" y="5148072"/>
            <a:ext cx="11430000" cy="1051560"/>
          </a:xfrm>
          <a:prstGeom prst="roundRect">
            <a:avLst>
              <a:gd name="adj" fmla="val 6957"/>
            </a:avLst>
          </a:prstGeom>
          <a:solidFill>
            <a:srgbClr val="1E2F45"/>
          </a:solidFill>
          <a:ln w="12700">
            <a:solidFill>
              <a:srgbClr val="2DC653"/>
            </a:solidFill>
            <a:prstDash val="solid"/>
          </a:ln>
        </p:spPr>
      </p:sp>
      <p:sp>
        <p:nvSpPr>
          <p:cNvPr id="23" name="Shape 21"/>
          <p:cNvSpPr/>
          <p:nvPr/>
        </p:nvSpPr>
        <p:spPr>
          <a:xfrm>
            <a:off x="457200" y="5257800"/>
            <a:ext cx="457200" cy="457200"/>
          </a:xfrm>
          <a:prstGeom prst="ellipse">
            <a:avLst/>
          </a:prstGeom>
          <a:solidFill>
            <a:srgbClr val="2DC653"/>
          </a:solidFill>
          <a:ln w="12700">
            <a:solidFill>
              <a:srgbClr val="2DC653"/>
            </a:solidFill>
            <a:prstDash val="solid"/>
          </a:ln>
        </p:spPr>
      </p:sp>
      <p:sp>
        <p:nvSpPr>
          <p:cNvPr id="24" name="Text 22"/>
          <p:cNvSpPr/>
          <p:nvPr/>
        </p:nvSpPr>
        <p:spPr>
          <a:xfrm>
            <a:off x="457200" y="525780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005840" y="5221224"/>
            <a:ext cx="2011680" cy="50292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Speaker:</a:t>
            </a:r>
            <a:endParaRPr lang="en-US" sz="1300" dirty="0"/>
          </a:p>
        </p:txBody>
      </p:sp>
      <p:sp>
        <p:nvSpPr>
          <p:cNvPr id="26" name="Text 24"/>
          <p:cNvSpPr/>
          <p:nvPr/>
        </p:nvSpPr>
        <p:spPr>
          <a:xfrm>
            <a:off x="3108960" y="5221224"/>
            <a:ext cx="8503920" cy="8686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When electrical signal sent, speaker cone vibrates 440 times/second. Sound heard at 85 decibels.</a:t>
            </a:r>
            <a:endParaRPr lang="en-US" sz="1150" dirty="0"/>
          </a:p>
        </p:txBody>
      </p:sp>
      <p:sp>
        <p:nvSpPr>
          <p:cNvPr id="27" name="Shape 25"/>
          <p:cNvSpPr/>
          <p:nvPr/>
        </p:nvSpPr>
        <p:spPr>
          <a:xfrm>
            <a:off x="0" y="6629400"/>
            <a:ext cx="12192000" cy="228600"/>
          </a:xfrm>
          <a:prstGeom prst="rect">
            <a:avLst/>
          </a:prstGeom>
          <a:solidFill>
            <a:srgbClr val="162233"/>
          </a:solidFill>
          <a:ln/>
        </p:spPr>
      </p:sp>
      <p:sp>
        <p:nvSpPr>
          <p:cNvPr id="28" name="Text 2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Data Task Recording Sheet</a:t>
            </a:r>
            <a:endParaRPr lang="en-US" sz="1600" dirty="0"/>
          </a:p>
        </p:txBody>
      </p:sp>
      <p:sp>
        <p:nvSpPr>
          <p:cNvPr id="5" name="Shape 3"/>
          <p:cNvSpPr/>
          <p:nvPr/>
        </p:nvSpPr>
        <p:spPr>
          <a:xfrm>
            <a:off x="365760" y="749808"/>
            <a:ext cx="11430000" cy="548640"/>
          </a:xfrm>
          <a:prstGeom prst="roundRect">
            <a:avLst>
              <a:gd name="adj" fmla="val 13333"/>
            </a:avLst>
          </a:prstGeom>
          <a:solidFill>
            <a:srgbClr val="162233"/>
          </a:solidFill>
          <a:ln w="12700">
            <a:solidFill>
              <a:srgbClr val="4CC9F0"/>
            </a:solidFill>
            <a:prstDash val="solid"/>
          </a:ln>
        </p:spPr>
      </p:sp>
      <p:sp>
        <p:nvSpPr>
          <p:cNvPr id="6" name="Text 4"/>
          <p:cNvSpPr/>
          <p:nvPr/>
        </p:nvSpPr>
        <p:spPr>
          <a:xfrm>
            <a:off x="548640" y="804672"/>
            <a:ext cx="11155680" cy="438912"/>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Copy into your notebook. Complete for all 4 devices.</a:t>
            </a:r>
            <a:endParaRPr lang="en-US" sz="1200" dirty="0"/>
          </a:p>
        </p:txBody>
      </p:sp>
      <p:sp>
        <p:nvSpPr>
          <p:cNvPr id="7" name="Shape 5"/>
          <p:cNvSpPr/>
          <p:nvPr/>
        </p:nvSpPr>
        <p:spPr>
          <a:xfrm>
            <a:off x="274320" y="1389888"/>
            <a:ext cx="1554480" cy="475488"/>
          </a:xfrm>
          <a:prstGeom prst="roundRect">
            <a:avLst>
              <a:gd name="adj" fmla="val 15385"/>
            </a:avLst>
          </a:prstGeom>
          <a:solidFill>
            <a:srgbClr val="0096C7"/>
          </a:solidFill>
          <a:ln w="12700">
            <a:solidFill>
              <a:srgbClr val="4CC9F0"/>
            </a:solidFill>
            <a:prstDash val="solid"/>
          </a:ln>
        </p:spPr>
      </p:sp>
      <p:sp>
        <p:nvSpPr>
          <p:cNvPr id="8" name="Text 6"/>
          <p:cNvSpPr/>
          <p:nvPr/>
        </p:nvSpPr>
        <p:spPr>
          <a:xfrm>
            <a:off x="329184" y="1417320"/>
            <a:ext cx="1444752" cy="42062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Device</a:t>
            </a:r>
            <a:endParaRPr lang="en-US" sz="950" dirty="0"/>
          </a:p>
        </p:txBody>
      </p:sp>
      <p:sp>
        <p:nvSpPr>
          <p:cNvPr id="9" name="Shape 7"/>
          <p:cNvSpPr/>
          <p:nvPr/>
        </p:nvSpPr>
        <p:spPr>
          <a:xfrm>
            <a:off x="1920240" y="1389888"/>
            <a:ext cx="1828800" cy="475488"/>
          </a:xfrm>
          <a:prstGeom prst="roundRect">
            <a:avLst>
              <a:gd name="adj" fmla="val 15385"/>
            </a:avLst>
          </a:prstGeom>
          <a:solidFill>
            <a:srgbClr val="0096C7"/>
          </a:solidFill>
          <a:ln w="12700">
            <a:solidFill>
              <a:srgbClr val="4CC9F0"/>
            </a:solidFill>
            <a:prstDash val="solid"/>
          </a:ln>
        </p:spPr>
      </p:sp>
      <p:sp>
        <p:nvSpPr>
          <p:cNvPr id="10" name="Text 8"/>
          <p:cNvSpPr/>
          <p:nvPr/>
        </p:nvSpPr>
        <p:spPr>
          <a:xfrm>
            <a:off x="1975104" y="1417320"/>
            <a:ext cx="1719072" cy="42062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Starting Energy</a:t>
            </a:r>
            <a:endParaRPr lang="en-US" sz="950" dirty="0"/>
          </a:p>
        </p:txBody>
      </p:sp>
      <p:sp>
        <p:nvSpPr>
          <p:cNvPr id="11" name="Shape 9"/>
          <p:cNvSpPr/>
          <p:nvPr/>
        </p:nvSpPr>
        <p:spPr>
          <a:xfrm>
            <a:off x="3840480" y="1389888"/>
            <a:ext cx="1828800" cy="475488"/>
          </a:xfrm>
          <a:prstGeom prst="roundRect">
            <a:avLst>
              <a:gd name="adj" fmla="val 15385"/>
            </a:avLst>
          </a:prstGeom>
          <a:solidFill>
            <a:srgbClr val="0096C7"/>
          </a:solidFill>
          <a:ln w="12700">
            <a:solidFill>
              <a:srgbClr val="4CC9F0"/>
            </a:solidFill>
            <a:prstDash val="solid"/>
          </a:ln>
        </p:spPr>
      </p:sp>
      <p:sp>
        <p:nvSpPr>
          <p:cNvPr id="12" name="Text 10"/>
          <p:cNvSpPr/>
          <p:nvPr/>
        </p:nvSpPr>
        <p:spPr>
          <a:xfrm>
            <a:off x="3895344" y="1417320"/>
            <a:ext cx="1719072" cy="42062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Resulting Energy</a:t>
            </a:r>
            <a:endParaRPr lang="en-US" sz="950" dirty="0"/>
          </a:p>
        </p:txBody>
      </p:sp>
      <p:sp>
        <p:nvSpPr>
          <p:cNvPr id="13" name="Shape 11"/>
          <p:cNvSpPr/>
          <p:nvPr/>
        </p:nvSpPr>
        <p:spPr>
          <a:xfrm>
            <a:off x="5760720" y="1389888"/>
            <a:ext cx="2926080" cy="475488"/>
          </a:xfrm>
          <a:prstGeom prst="roundRect">
            <a:avLst>
              <a:gd name="adj" fmla="val 15385"/>
            </a:avLst>
          </a:prstGeom>
          <a:solidFill>
            <a:srgbClr val="0096C7"/>
          </a:solidFill>
          <a:ln w="12700">
            <a:solidFill>
              <a:srgbClr val="4CC9F0"/>
            </a:solidFill>
            <a:prstDash val="solid"/>
          </a:ln>
        </p:spPr>
      </p:sp>
      <p:sp>
        <p:nvSpPr>
          <p:cNvPr id="14" name="Text 12"/>
          <p:cNvSpPr/>
          <p:nvPr/>
        </p:nvSpPr>
        <p:spPr>
          <a:xfrm>
            <a:off x="5815584" y="1417320"/>
            <a:ext cx="2816352" cy="42062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 from Data</a:t>
            </a:r>
            <a:endParaRPr lang="en-US" sz="950" dirty="0"/>
          </a:p>
        </p:txBody>
      </p:sp>
      <p:sp>
        <p:nvSpPr>
          <p:cNvPr id="15" name="Shape 13"/>
          <p:cNvSpPr/>
          <p:nvPr/>
        </p:nvSpPr>
        <p:spPr>
          <a:xfrm>
            <a:off x="8778240" y="1389888"/>
            <a:ext cx="2926080" cy="475488"/>
          </a:xfrm>
          <a:prstGeom prst="roundRect">
            <a:avLst>
              <a:gd name="adj" fmla="val 15385"/>
            </a:avLst>
          </a:prstGeom>
          <a:solidFill>
            <a:srgbClr val="0096C7"/>
          </a:solidFill>
          <a:ln w="12700">
            <a:solidFill>
              <a:srgbClr val="4CC9F0"/>
            </a:solidFill>
            <a:prstDash val="solid"/>
          </a:ln>
        </p:spPr>
      </p:sp>
      <p:sp>
        <p:nvSpPr>
          <p:cNvPr id="16" name="Text 14"/>
          <p:cNvSpPr/>
          <p:nvPr/>
        </p:nvSpPr>
        <p:spPr>
          <a:xfrm>
            <a:off x="8833104" y="1417320"/>
            <a:ext cx="2816352" cy="42062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Energy Change Description</a:t>
            </a:r>
            <a:endParaRPr lang="en-US" sz="950" dirty="0"/>
          </a:p>
        </p:txBody>
      </p:sp>
      <p:sp>
        <p:nvSpPr>
          <p:cNvPr id="17" name="Shape 15"/>
          <p:cNvSpPr/>
          <p:nvPr/>
        </p:nvSpPr>
        <p:spPr>
          <a:xfrm>
            <a:off x="274320" y="1938528"/>
            <a:ext cx="1554480" cy="1005840"/>
          </a:xfrm>
          <a:prstGeom prst="roundRect">
            <a:avLst>
              <a:gd name="adj" fmla="val 7273"/>
            </a:avLst>
          </a:prstGeom>
          <a:solidFill>
            <a:srgbClr val="1E2F45"/>
          </a:solidFill>
          <a:ln w="12700">
            <a:solidFill>
              <a:srgbClr val="243A52"/>
            </a:solidFill>
            <a:prstDash val="solid"/>
          </a:ln>
        </p:spPr>
      </p:sp>
      <p:sp>
        <p:nvSpPr>
          <p:cNvPr id="18" name="Text 16"/>
          <p:cNvSpPr/>
          <p:nvPr/>
        </p:nvSpPr>
        <p:spPr>
          <a:xfrm>
            <a:off x="329184" y="1993392"/>
            <a:ext cx="1444752" cy="86868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Toaster</a:t>
            </a:r>
            <a:endParaRPr lang="en-US" sz="1100" dirty="0"/>
          </a:p>
        </p:txBody>
      </p:sp>
      <p:sp>
        <p:nvSpPr>
          <p:cNvPr id="19" name="Shape 17"/>
          <p:cNvSpPr/>
          <p:nvPr/>
        </p:nvSpPr>
        <p:spPr>
          <a:xfrm>
            <a:off x="1920240" y="1938528"/>
            <a:ext cx="1828800" cy="1005840"/>
          </a:xfrm>
          <a:prstGeom prst="roundRect">
            <a:avLst>
              <a:gd name="adj" fmla="val 7273"/>
            </a:avLst>
          </a:prstGeom>
          <a:solidFill>
            <a:srgbClr val="0A1520"/>
          </a:solidFill>
          <a:ln w="12700">
            <a:solidFill>
              <a:srgbClr val="243A52"/>
            </a:solidFill>
            <a:prstDash val="solid"/>
          </a:ln>
        </p:spPr>
      </p:sp>
      <p:sp>
        <p:nvSpPr>
          <p:cNvPr id="20" name="Text 18"/>
          <p:cNvSpPr/>
          <p:nvPr/>
        </p:nvSpPr>
        <p:spPr>
          <a:xfrm>
            <a:off x="1975104" y="1993392"/>
            <a:ext cx="1719072" cy="868680"/>
          </a:xfrm>
          <a:prstGeom prst="rect">
            <a:avLst/>
          </a:prstGeom>
          <a:noFill/>
          <a:ln/>
        </p:spPr>
        <p:txBody>
          <a:bodyPr wrap="square" rtlCol="0" anchor="ctr"/>
          <a:lstStyle/>
          <a:p>
            <a:pPr indent="0" marL="0">
              <a:buNone/>
            </a:pPr>
            <a:endParaRPr lang="en-US" sz="1100" dirty="0"/>
          </a:p>
        </p:txBody>
      </p:sp>
      <p:sp>
        <p:nvSpPr>
          <p:cNvPr id="21" name="Shape 19"/>
          <p:cNvSpPr/>
          <p:nvPr/>
        </p:nvSpPr>
        <p:spPr>
          <a:xfrm>
            <a:off x="3840480" y="1938528"/>
            <a:ext cx="1828800" cy="1005840"/>
          </a:xfrm>
          <a:prstGeom prst="roundRect">
            <a:avLst>
              <a:gd name="adj" fmla="val 7273"/>
            </a:avLst>
          </a:prstGeom>
          <a:solidFill>
            <a:srgbClr val="0A1520"/>
          </a:solidFill>
          <a:ln w="12700">
            <a:solidFill>
              <a:srgbClr val="243A52"/>
            </a:solidFill>
            <a:prstDash val="solid"/>
          </a:ln>
        </p:spPr>
      </p:sp>
      <p:sp>
        <p:nvSpPr>
          <p:cNvPr id="22" name="Text 20"/>
          <p:cNvSpPr/>
          <p:nvPr/>
        </p:nvSpPr>
        <p:spPr>
          <a:xfrm>
            <a:off x="3895344" y="1993392"/>
            <a:ext cx="1719072" cy="868680"/>
          </a:xfrm>
          <a:prstGeom prst="rect">
            <a:avLst/>
          </a:prstGeom>
          <a:noFill/>
          <a:ln/>
        </p:spPr>
        <p:txBody>
          <a:bodyPr wrap="square" rtlCol="0" anchor="ctr"/>
          <a:lstStyle/>
          <a:p>
            <a:pPr indent="0" marL="0">
              <a:buNone/>
            </a:pPr>
            <a:endParaRPr lang="en-US" sz="1100" dirty="0"/>
          </a:p>
        </p:txBody>
      </p:sp>
      <p:sp>
        <p:nvSpPr>
          <p:cNvPr id="23" name="Shape 21"/>
          <p:cNvSpPr/>
          <p:nvPr/>
        </p:nvSpPr>
        <p:spPr>
          <a:xfrm>
            <a:off x="5760720" y="1938528"/>
            <a:ext cx="2926080" cy="1005840"/>
          </a:xfrm>
          <a:prstGeom prst="roundRect">
            <a:avLst>
              <a:gd name="adj" fmla="val 7273"/>
            </a:avLst>
          </a:prstGeom>
          <a:solidFill>
            <a:srgbClr val="0A1520"/>
          </a:solidFill>
          <a:ln w="12700">
            <a:solidFill>
              <a:srgbClr val="243A52"/>
            </a:solidFill>
            <a:prstDash val="solid"/>
          </a:ln>
        </p:spPr>
      </p:sp>
      <p:sp>
        <p:nvSpPr>
          <p:cNvPr id="24" name="Text 22"/>
          <p:cNvSpPr/>
          <p:nvPr/>
        </p:nvSpPr>
        <p:spPr>
          <a:xfrm>
            <a:off x="5815584" y="1993392"/>
            <a:ext cx="2816352" cy="868680"/>
          </a:xfrm>
          <a:prstGeom prst="rect">
            <a:avLst/>
          </a:prstGeom>
          <a:noFill/>
          <a:ln/>
        </p:spPr>
        <p:txBody>
          <a:bodyPr wrap="square" rtlCol="0" anchor="ctr"/>
          <a:lstStyle/>
          <a:p>
            <a:pPr indent="0" marL="0">
              <a:buNone/>
            </a:pPr>
            <a:endParaRPr lang="en-US" sz="1100" dirty="0"/>
          </a:p>
        </p:txBody>
      </p:sp>
      <p:sp>
        <p:nvSpPr>
          <p:cNvPr id="25" name="Shape 23"/>
          <p:cNvSpPr/>
          <p:nvPr/>
        </p:nvSpPr>
        <p:spPr>
          <a:xfrm>
            <a:off x="8778240" y="1938528"/>
            <a:ext cx="2926080" cy="1005840"/>
          </a:xfrm>
          <a:prstGeom prst="roundRect">
            <a:avLst>
              <a:gd name="adj" fmla="val 7273"/>
            </a:avLst>
          </a:prstGeom>
          <a:solidFill>
            <a:srgbClr val="0A1520"/>
          </a:solidFill>
          <a:ln w="12700">
            <a:solidFill>
              <a:srgbClr val="243A52"/>
            </a:solidFill>
            <a:prstDash val="solid"/>
          </a:ln>
        </p:spPr>
      </p:sp>
      <p:sp>
        <p:nvSpPr>
          <p:cNvPr id="26" name="Text 24"/>
          <p:cNvSpPr/>
          <p:nvPr/>
        </p:nvSpPr>
        <p:spPr>
          <a:xfrm>
            <a:off x="8833104" y="1993392"/>
            <a:ext cx="2816352" cy="868680"/>
          </a:xfrm>
          <a:prstGeom prst="rect">
            <a:avLst/>
          </a:prstGeom>
          <a:noFill/>
          <a:ln/>
        </p:spPr>
        <p:txBody>
          <a:bodyPr wrap="square" rtlCol="0" anchor="ctr"/>
          <a:lstStyle/>
          <a:p>
            <a:pPr indent="0" marL="0">
              <a:buNone/>
            </a:pPr>
            <a:endParaRPr lang="en-US" sz="1100" dirty="0"/>
          </a:p>
        </p:txBody>
      </p:sp>
      <p:sp>
        <p:nvSpPr>
          <p:cNvPr id="27" name="Shape 25"/>
          <p:cNvSpPr/>
          <p:nvPr/>
        </p:nvSpPr>
        <p:spPr>
          <a:xfrm>
            <a:off x="274320" y="3035808"/>
            <a:ext cx="1554480" cy="1005840"/>
          </a:xfrm>
          <a:prstGeom prst="roundRect">
            <a:avLst>
              <a:gd name="adj" fmla="val 7273"/>
            </a:avLst>
          </a:prstGeom>
          <a:solidFill>
            <a:srgbClr val="1E2F45"/>
          </a:solidFill>
          <a:ln w="12700">
            <a:solidFill>
              <a:srgbClr val="243A52"/>
            </a:solidFill>
            <a:prstDash val="solid"/>
          </a:ln>
        </p:spPr>
      </p:sp>
      <p:sp>
        <p:nvSpPr>
          <p:cNvPr id="28" name="Text 26"/>
          <p:cNvSpPr/>
          <p:nvPr/>
        </p:nvSpPr>
        <p:spPr>
          <a:xfrm>
            <a:off x="329184" y="3090672"/>
            <a:ext cx="1444752" cy="86868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Solar Panel</a:t>
            </a:r>
            <a:endParaRPr lang="en-US" sz="1100" dirty="0"/>
          </a:p>
        </p:txBody>
      </p:sp>
      <p:sp>
        <p:nvSpPr>
          <p:cNvPr id="29" name="Shape 27"/>
          <p:cNvSpPr/>
          <p:nvPr/>
        </p:nvSpPr>
        <p:spPr>
          <a:xfrm>
            <a:off x="1920240" y="3035808"/>
            <a:ext cx="1828800" cy="1005840"/>
          </a:xfrm>
          <a:prstGeom prst="roundRect">
            <a:avLst>
              <a:gd name="adj" fmla="val 7273"/>
            </a:avLst>
          </a:prstGeom>
          <a:solidFill>
            <a:srgbClr val="0A1520"/>
          </a:solidFill>
          <a:ln w="12700">
            <a:solidFill>
              <a:srgbClr val="243A52"/>
            </a:solidFill>
            <a:prstDash val="solid"/>
          </a:ln>
        </p:spPr>
      </p:sp>
      <p:sp>
        <p:nvSpPr>
          <p:cNvPr id="30" name="Text 28"/>
          <p:cNvSpPr/>
          <p:nvPr/>
        </p:nvSpPr>
        <p:spPr>
          <a:xfrm>
            <a:off x="1975104" y="3090672"/>
            <a:ext cx="1719072" cy="868680"/>
          </a:xfrm>
          <a:prstGeom prst="rect">
            <a:avLst/>
          </a:prstGeom>
          <a:noFill/>
          <a:ln/>
        </p:spPr>
        <p:txBody>
          <a:bodyPr wrap="square" rtlCol="0" anchor="ctr"/>
          <a:lstStyle/>
          <a:p>
            <a:pPr indent="0" marL="0">
              <a:buNone/>
            </a:pPr>
            <a:endParaRPr lang="en-US" sz="1100" dirty="0"/>
          </a:p>
        </p:txBody>
      </p:sp>
      <p:sp>
        <p:nvSpPr>
          <p:cNvPr id="31" name="Shape 29"/>
          <p:cNvSpPr/>
          <p:nvPr/>
        </p:nvSpPr>
        <p:spPr>
          <a:xfrm>
            <a:off x="3840480" y="3035808"/>
            <a:ext cx="1828800" cy="1005840"/>
          </a:xfrm>
          <a:prstGeom prst="roundRect">
            <a:avLst>
              <a:gd name="adj" fmla="val 7273"/>
            </a:avLst>
          </a:prstGeom>
          <a:solidFill>
            <a:srgbClr val="0A1520"/>
          </a:solidFill>
          <a:ln w="12700">
            <a:solidFill>
              <a:srgbClr val="243A52"/>
            </a:solidFill>
            <a:prstDash val="solid"/>
          </a:ln>
        </p:spPr>
      </p:sp>
      <p:sp>
        <p:nvSpPr>
          <p:cNvPr id="32" name="Text 30"/>
          <p:cNvSpPr/>
          <p:nvPr/>
        </p:nvSpPr>
        <p:spPr>
          <a:xfrm>
            <a:off x="3895344" y="3090672"/>
            <a:ext cx="1719072" cy="868680"/>
          </a:xfrm>
          <a:prstGeom prst="rect">
            <a:avLst/>
          </a:prstGeom>
          <a:noFill/>
          <a:ln/>
        </p:spPr>
        <p:txBody>
          <a:bodyPr wrap="square" rtlCol="0" anchor="ctr"/>
          <a:lstStyle/>
          <a:p>
            <a:pPr indent="0" marL="0">
              <a:buNone/>
            </a:pPr>
            <a:endParaRPr lang="en-US" sz="1100" dirty="0"/>
          </a:p>
        </p:txBody>
      </p:sp>
      <p:sp>
        <p:nvSpPr>
          <p:cNvPr id="33" name="Shape 31"/>
          <p:cNvSpPr/>
          <p:nvPr/>
        </p:nvSpPr>
        <p:spPr>
          <a:xfrm>
            <a:off x="5760720" y="3035808"/>
            <a:ext cx="2926080" cy="1005840"/>
          </a:xfrm>
          <a:prstGeom prst="roundRect">
            <a:avLst>
              <a:gd name="adj" fmla="val 7273"/>
            </a:avLst>
          </a:prstGeom>
          <a:solidFill>
            <a:srgbClr val="0A1520"/>
          </a:solidFill>
          <a:ln w="12700">
            <a:solidFill>
              <a:srgbClr val="243A52"/>
            </a:solidFill>
            <a:prstDash val="solid"/>
          </a:ln>
        </p:spPr>
      </p:sp>
      <p:sp>
        <p:nvSpPr>
          <p:cNvPr id="34" name="Text 32"/>
          <p:cNvSpPr/>
          <p:nvPr/>
        </p:nvSpPr>
        <p:spPr>
          <a:xfrm>
            <a:off x="5815584" y="3090672"/>
            <a:ext cx="2816352" cy="868680"/>
          </a:xfrm>
          <a:prstGeom prst="rect">
            <a:avLst/>
          </a:prstGeom>
          <a:noFill/>
          <a:ln/>
        </p:spPr>
        <p:txBody>
          <a:bodyPr wrap="square" rtlCol="0" anchor="ctr"/>
          <a:lstStyle/>
          <a:p>
            <a:pPr indent="0" marL="0">
              <a:buNone/>
            </a:pPr>
            <a:endParaRPr lang="en-US" sz="1100" dirty="0"/>
          </a:p>
        </p:txBody>
      </p:sp>
      <p:sp>
        <p:nvSpPr>
          <p:cNvPr id="35" name="Shape 33"/>
          <p:cNvSpPr/>
          <p:nvPr/>
        </p:nvSpPr>
        <p:spPr>
          <a:xfrm>
            <a:off x="8778240" y="3035808"/>
            <a:ext cx="2926080" cy="1005840"/>
          </a:xfrm>
          <a:prstGeom prst="roundRect">
            <a:avLst>
              <a:gd name="adj" fmla="val 7273"/>
            </a:avLst>
          </a:prstGeom>
          <a:solidFill>
            <a:srgbClr val="0A1520"/>
          </a:solidFill>
          <a:ln w="12700">
            <a:solidFill>
              <a:srgbClr val="243A52"/>
            </a:solidFill>
            <a:prstDash val="solid"/>
          </a:ln>
        </p:spPr>
      </p:sp>
      <p:sp>
        <p:nvSpPr>
          <p:cNvPr id="36" name="Text 34"/>
          <p:cNvSpPr/>
          <p:nvPr/>
        </p:nvSpPr>
        <p:spPr>
          <a:xfrm>
            <a:off x="8833104" y="3090672"/>
            <a:ext cx="2816352" cy="868680"/>
          </a:xfrm>
          <a:prstGeom prst="rect">
            <a:avLst/>
          </a:prstGeom>
          <a:noFill/>
          <a:ln/>
        </p:spPr>
        <p:txBody>
          <a:bodyPr wrap="square" rtlCol="0" anchor="ctr"/>
          <a:lstStyle/>
          <a:p>
            <a:pPr indent="0" marL="0">
              <a:buNone/>
            </a:pPr>
            <a:endParaRPr lang="en-US" sz="1100" dirty="0"/>
          </a:p>
        </p:txBody>
      </p:sp>
      <p:sp>
        <p:nvSpPr>
          <p:cNvPr id="37" name="Shape 35"/>
          <p:cNvSpPr/>
          <p:nvPr/>
        </p:nvSpPr>
        <p:spPr>
          <a:xfrm>
            <a:off x="274320" y="4133088"/>
            <a:ext cx="1554480" cy="1005840"/>
          </a:xfrm>
          <a:prstGeom prst="roundRect">
            <a:avLst>
              <a:gd name="adj" fmla="val 7273"/>
            </a:avLst>
          </a:prstGeom>
          <a:solidFill>
            <a:srgbClr val="1E2F45"/>
          </a:solidFill>
          <a:ln w="12700">
            <a:solidFill>
              <a:srgbClr val="243A52"/>
            </a:solidFill>
            <a:prstDash val="solid"/>
          </a:ln>
        </p:spPr>
      </p:sp>
      <p:sp>
        <p:nvSpPr>
          <p:cNvPr id="38" name="Text 36"/>
          <p:cNvSpPr/>
          <p:nvPr/>
        </p:nvSpPr>
        <p:spPr>
          <a:xfrm>
            <a:off x="329184" y="4187952"/>
            <a:ext cx="1444752" cy="86868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Wind Turbine</a:t>
            </a:r>
            <a:endParaRPr lang="en-US" sz="1100" dirty="0"/>
          </a:p>
        </p:txBody>
      </p:sp>
      <p:sp>
        <p:nvSpPr>
          <p:cNvPr id="39" name="Shape 37"/>
          <p:cNvSpPr/>
          <p:nvPr/>
        </p:nvSpPr>
        <p:spPr>
          <a:xfrm>
            <a:off x="1920240" y="4133088"/>
            <a:ext cx="1828800" cy="1005840"/>
          </a:xfrm>
          <a:prstGeom prst="roundRect">
            <a:avLst>
              <a:gd name="adj" fmla="val 7273"/>
            </a:avLst>
          </a:prstGeom>
          <a:solidFill>
            <a:srgbClr val="0A1520"/>
          </a:solidFill>
          <a:ln w="12700">
            <a:solidFill>
              <a:srgbClr val="243A52"/>
            </a:solidFill>
            <a:prstDash val="solid"/>
          </a:ln>
        </p:spPr>
      </p:sp>
      <p:sp>
        <p:nvSpPr>
          <p:cNvPr id="40" name="Text 38"/>
          <p:cNvSpPr/>
          <p:nvPr/>
        </p:nvSpPr>
        <p:spPr>
          <a:xfrm>
            <a:off x="1975104" y="4187952"/>
            <a:ext cx="1719072" cy="868680"/>
          </a:xfrm>
          <a:prstGeom prst="rect">
            <a:avLst/>
          </a:prstGeom>
          <a:noFill/>
          <a:ln/>
        </p:spPr>
        <p:txBody>
          <a:bodyPr wrap="square" rtlCol="0" anchor="ctr"/>
          <a:lstStyle/>
          <a:p>
            <a:pPr indent="0" marL="0">
              <a:buNone/>
            </a:pPr>
            <a:endParaRPr lang="en-US" sz="1100" dirty="0"/>
          </a:p>
        </p:txBody>
      </p:sp>
      <p:sp>
        <p:nvSpPr>
          <p:cNvPr id="41" name="Shape 39"/>
          <p:cNvSpPr/>
          <p:nvPr/>
        </p:nvSpPr>
        <p:spPr>
          <a:xfrm>
            <a:off x="3840480" y="4133088"/>
            <a:ext cx="1828800" cy="1005840"/>
          </a:xfrm>
          <a:prstGeom prst="roundRect">
            <a:avLst>
              <a:gd name="adj" fmla="val 7273"/>
            </a:avLst>
          </a:prstGeom>
          <a:solidFill>
            <a:srgbClr val="0A1520"/>
          </a:solidFill>
          <a:ln w="12700">
            <a:solidFill>
              <a:srgbClr val="243A52"/>
            </a:solidFill>
            <a:prstDash val="solid"/>
          </a:ln>
        </p:spPr>
      </p:sp>
      <p:sp>
        <p:nvSpPr>
          <p:cNvPr id="42" name="Text 40"/>
          <p:cNvSpPr/>
          <p:nvPr/>
        </p:nvSpPr>
        <p:spPr>
          <a:xfrm>
            <a:off x="3895344" y="4187952"/>
            <a:ext cx="1719072" cy="868680"/>
          </a:xfrm>
          <a:prstGeom prst="rect">
            <a:avLst/>
          </a:prstGeom>
          <a:noFill/>
          <a:ln/>
        </p:spPr>
        <p:txBody>
          <a:bodyPr wrap="square" rtlCol="0" anchor="ctr"/>
          <a:lstStyle/>
          <a:p>
            <a:pPr indent="0" marL="0">
              <a:buNone/>
            </a:pPr>
            <a:endParaRPr lang="en-US" sz="1100" dirty="0"/>
          </a:p>
        </p:txBody>
      </p:sp>
      <p:sp>
        <p:nvSpPr>
          <p:cNvPr id="43" name="Shape 41"/>
          <p:cNvSpPr/>
          <p:nvPr/>
        </p:nvSpPr>
        <p:spPr>
          <a:xfrm>
            <a:off x="5760720" y="4133088"/>
            <a:ext cx="2926080" cy="1005840"/>
          </a:xfrm>
          <a:prstGeom prst="roundRect">
            <a:avLst>
              <a:gd name="adj" fmla="val 7273"/>
            </a:avLst>
          </a:prstGeom>
          <a:solidFill>
            <a:srgbClr val="0A1520"/>
          </a:solidFill>
          <a:ln w="12700">
            <a:solidFill>
              <a:srgbClr val="243A52"/>
            </a:solidFill>
            <a:prstDash val="solid"/>
          </a:ln>
        </p:spPr>
      </p:sp>
      <p:sp>
        <p:nvSpPr>
          <p:cNvPr id="44" name="Text 42"/>
          <p:cNvSpPr/>
          <p:nvPr/>
        </p:nvSpPr>
        <p:spPr>
          <a:xfrm>
            <a:off x="5815584" y="4187952"/>
            <a:ext cx="2816352" cy="868680"/>
          </a:xfrm>
          <a:prstGeom prst="rect">
            <a:avLst/>
          </a:prstGeom>
          <a:noFill/>
          <a:ln/>
        </p:spPr>
        <p:txBody>
          <a:bodyPr wrap="square" rtlCol="0" anchor="ctr"/>
          <a:lstStyle/>
          <a:p>
            <a:pPr indent="0" marL="0">
              <a:buNone/>
            </a:pPr>
            <a:endParaRPr lang="en-US" sz="1100" dirty="0"/>
          </a:p>
        </p:txBody>
      </p:sp>
      <p:sp>
        <p:nvSpPr>
          <p:cNvPr id="45" name="Shape 43"/>
          <p:cNvSpPr/>
          <p:nvPr/>
        </p:nvSpPr>
        <p:spPr>
          <a:xfrm>
            <a:off x="8778240" y="4133088"/>
            <a:ext cx="2926080" cy="1005840"/>
          </a:xfrm>
          <a:prstGeom prst="roundRect">
            <a:avLst>
              <a:gd name="adj" fmla="val 7273"/>
            </a:avLst>
          </a:prstGeom>
          <a:solidFill>
            <a:srgbClr val="0A1520"/>
          </a:solidFill>
          <a:ln w="12700">
            <a:solidFill>
              <a:srgbClr val="243A52"/>
            </a:solidFill>
            <a:prstDash val="solid"/>
          </a:ln>
        </p:spPr>
      </p:sp>
      <p:sp>
        <p:nvSpPr>
          <p:cNvPr id="46" name="Text 44"/>
          <p:cNvSpPr/>
          <p:nvPr/>
        </p:nvSpPr>
        <p:spPr>
          <a:xfrm>
            <a:off x="8833104" y="4187952"/>
            <a:ext cx="2816352" cy="868680"/>
          </a:xfrm>
          <a:prstGeom prst="rect">
            <a:avLst/>
          </a:prstGeom>
          <a:noFill/>
          <a:ln/>
        </p:spPr>
        <p:txBody>
          <a:bodyPr wrap="square" rtlCol="0" anchor="ctr"/>
          <a:lstStyle/>
          <a:p>
            <a:pPr indent="0" marL="0">
              <a:buNone/>
            </a:pPr>
            <a:endParaRPr lang="en-US" sz="1100" dirty="0"/>
          </a:p>
        </p:txBody>
      </p:sp>
      <p:sp>
        <p:nvSpPr>
          <p:cNvPr id="47" name="Shape 45"/>
          <p:cNvSpPr/>
          <p:nvPr/>
        </p:nvSpPr>
        <p:spPr>
          <a:xfrm>
            <a:off x="274320" y="5230368"/>
            <a:ext cx="1554480" cy="1005840"/>
          </a:xfrm>
          <a:prstGeom prst="roundRect">
            <a:avLst>
              <a:gd name="adj" fmla="val 7273"/>
            </a:avLst>
          </a:prstGeom>
          <a:solidFill>
            <a:srgbClr val="1E2F45"/>
          </a:solidFill>
          <a:ln w="12700">
            <a:solidFill>
              <a:srgbClr val="243A52"/>
            </a:solidFill>
            <a:prstDash val="solid"/>
          </a:ln>
        </p:spPr>
      </p:sp>
      <p:sp>
        <p:nvSpPr>
          <p:cNvPr id="48" name="Text 46"/>
          <p:cNvSpPr/>
          <p:nvPr/>
        </p:nvSpPr>
        <p:spPr>
          <a:xfrm>
            <a:off x="329184" y="5285232"/>
            <a:ext cx="1444752" cy="86868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Speaker</a:t>
            </a:r>
            <a:endParaRPr lang="en-US" sz="1100" dirty="0"/>
          </a:p>
        </p:txBody>
      </p:sp>
      <p:sp>
        <p:nvSpPr>
          <p:cNvPr id="49" name="Shape 47"/>
          <p:cNvSpPr/>
          <p:nvPr/>
        </p:nvSpPr>
        <p:spPr>
          <a:xfrm>
            <a:off x="1920240" y="5230368"/>
            <a:ext cx="1828800" cy="1005840"/>
          </a:xfrm>
          <a:prstGeom prst="roundRect">
            <a:avLst>
              <a:gd name="adj" fmla="val 7273"/>
            </a:avLst>
          </a:prstGeom>
          <a:solidFill>
            <a:srgbClr val="0A1520"/>
          </a:solidFill>
          <a:ln w="12700">
            <a:solidFill>
              <a:srgbClr val="243A52"/>
            </a:solidFill>
            <a:prstDash val="solid"/>
          </a:ln>
        </p:spPr>
      </p:sp>
      <p:sp>
        <p:nvSpPr>
          <p:cNvPr id="50" name="Text 48"/>
          <p:cNvSpPr/>
          <p:nvPr/>
        </p:nvSpPr>
        <p:spPr>
          <a:xfrm>
            <a:off x="1975104" y="5285232"/>
            <a:ext cx="1719072" cy="868680"/>
          </a:xfrm>
          <a:prstGeom prst="rect">
            <a:avLst/>
          </a:prstGeom>
          <a:noFill/>
          <a:ln/>
        </p:spPr>
        <p:txBody>
          <a:bodyPr wrap="square" rtlCol="0" anchor="ctr"/>
          <a:lstStyle/>
          <a:p>
            <a:pPr indent="0" marL="0">
              <a:buNone/>
            </a:pPr>
            <a:endParaRPr lang="en-US" sz="1100" dirty="0"/>
          </a:p>
        </p:txBody>
      </p:sp>
      <p:sp>
        <p:nvSpPr>
          <p:cNvPr id="51" name="Shape 49"/>
          <p:cNvSpPr/>
          <p:nvPr/>
        </p:nvSpPr>
        <p:spPr>
          <a:xfrm>
            <a:off x="3840480" y="5230368"/>
            <a:ext cx="1828800" cy="1005840"/>
          </a:xfrm>
          <a:prstGeom prst="roundRect">
            <a:avLst>
              <a:gd name="adj" fmla="val 7273"/>
            </a:avLst>
          </a:prstGeom>
          <a:solidFill>
            <a:srgbClr val="0A1520"/>
          </a:solidFill>
          <a:ln w="12700">
            <a:solidFill>
              <a:srgbClr val="243A52"/>
            </a:solidFill>
            <a:prstDash val="solid"/>
          </a:ln>
        </p:spPr>
      </p:sp>
      <p:sp>
        <p:nvSpPr>
          <p:cNvPr id="52" name="Text 50"/>
          <p:cNvSpPr/>
          <p:nvPr/>
        </p:nvSpPr>
        <p:spPr>
          <a:xfrm>
            <a:off x="3895344" y="5285232"/>
            <a:ext cx="1719072" cy="868680"/>
          </a:xfrm>
          <a:prstGeom prst="rect">
            <a:avLst/>
          </a:prstGeom>
          <a:noFill/>
          <a:ln/>
        </p:spPr>
        <p:txBody>
          <a:bodyPr wrap="square" rtlCol="0" anchor="ctr"/>
          <a:lstStyle/>
          <a:p>
            <a:pPr indent="0" marL="0">
              <a:buNone/>
            </a:pPr>
            <a:endParaRPr lang="en-US" sz="1100" dirty="0"/>
          </a:p>
        </p:txBody>
      </p:sp>
      <p:sp>
        <p:nvSpPr>
          <p:cNvPr id="53" name="Shape 51"/>
          <p:cNvSpPr/>
          <p:nvPr/>
        </p:nvSpPr>
        <p:spPr>
          <a:xfrm>
            <a:off x="5760720" y="5230368"/>
            <a:ext cx="2926080" cy="1005840"/>
          </a:xfrm>
          <a:prstGeom prst="roundRect">
            <a:avLst>
              <a:gd name="adj" fmla="val 7273"/>
            </a:avLst>
          </a:prstGeom>
          <a:solidFill>
            <a:srgbClr val="0A1520"/>
          </a:solidFill>
          <a:ln w="12700">
            <a:solidFill>
              <a:srgbClr val="243A52"/>
            </a:solidFill>
            <a:prstDash val="solid"/>
          </a:ln>
        </p:spPr>
      </p:sp>
      <p:sp>
        <p:nvSpPr>
          <p:cNvPr id="54" name="Text 52"/>
          <p:cNvSpPr/>
          <p:nvPr/>
        </p:nvSpPr>
        <p:spPr>
          <a:xfrm>
            <a:off x="5815584" y="5285232"/>
            <a:ext cx="2816352" cy="868680"/>
          </a:xfrm>
          <a:prstGeom prst="rect">
            <a:avLst/>
          </a:prstGeom>
          <a:noFill/>
          <a:ln/>
        </p:spPr>
        <p:txBody>
          <a:bodyPr wrap="square" rtlCol="0" anchor="ctr"/>
          <a:lstStyle/>
          <a:p>
            <a:pPr indent="0" marL="0">
              <a:buNone/>
            </a:pPr>
            <a:endParaRPr lang="en-US" sz="1100" dirty="0"/>
          </a:p>
        </p:txBody>
      </p:sp>
      <p:sp>
        <p:nvSpPr>
          <p:cNvPr id="55" name="Shape 53"/>
          <p:cNvSpPr/>
          <p:nvPr/>
        </p:nvSpPr>
        <p:spPr>
          <a:xfrm>
            <a:off x="8778240" y="5230368"/>
            <a:ext cx="2926080" cy="1005840"/>
          </a:xfrm>
          <a:prstGeom prst="roundRect">
            <a:avLst>
              <a:gd name="adj" fmla="val 7273"/>
            </a:avLst>
          </a:prstGeom>
          <a:solidFill>
            <a:srgbClr val="0A1520"/>
          </a:solidFill>
          <a:ln w="12700">
            <a:solidFill>
              <a:srgbClr val="243A52"/>
            </a:solidFill>
            <a:prstDash val="solid"/>
          </a:ln>
        </p:spPr>
      </p:sp>
      <p:sp>
        <p:nvSpPr>
          <p:cNvPr id="56" name="Text 54"/>
          <p:cNvSpPr/>
          <p:nvPr/>
        </p:nvSpPr>
        <p:spPr>
          <a:xfrm>
            <a:off x="8833104" y="5285232"/>
            <a:ext cx="2816352" cy="868680"/>
          </a:xfrm>
          <a:prstGeom prst="rect">
            <a:avLst/>
          </a:prstGeom>
          <a:noFill/>
          <a:ln/>
        </p:spPr>
        <p:txBody>
          <a:bodyPr wrap="square" rtlCol="0" anchor="ctr"/>
          <a:lstStyle/>
          <a:p>
            <a:pPr indent="0" marL="0">
              <a:buNone/>
            </a:pPr>
            <a:endParaRPr lang="en-US" sz="1100" dirty="0"/>
          </a:p>
        </p:txBody>
      </p:sp>
      <p:sp>
        <p:nvSpPr>
          <p:cNvPr id="57" name="Shape 55"/>
          <p:cNvSpPr/>
          <p:nvPr/>
        </p:nvSpPr>
        <p:spPr>
          <a:xfrm>
            <a:off x="0" y="6629400"/>
            <a:ext cx="12192000" cy="228600"/>
          </a:xfrm>
          <a:prstGeom prst="rect">
            <a:avLst/>
          </a:prstGeom>
          <a:solidFill>
            <a:srgbClr val="162233"/>
          </a:solidFill>
          <a:ln/>
        </p:spPr>
      </p:sp>
      <p:sp>
        <p:nvSpPr>
          <p:cNvPr id="58" name="Text 5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Device 1: Toaster — Tracing Energy Changes</a:t>
            </a:r>
            <a:endParaRPr lang="en-US" sz="1600" dirty="0"/>
          </a:p>
        </p:txBody>
      </p:sp>
      <p:sp>
        <p:nvSpPr>
          <p:cNvPr id="5" name="Shape 3"/>
          <p:cNvSpPr/>
          <p:nvPr/>
        </p:nvSpPr>
        <p:spPr>
          <a:xfrm>
            <a:off x="365760" y="749808"/>
            <a:ext cx="502920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48463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48463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480974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"toaster cutaway diagram electrical wire heating element bread coils glow"</a:t>
            </a:r>
            <a:endParaRPr lang="en-US" sz="950" dirty="0"/>
          </a:p>
        </p:txBody>
      </p:sp>
      <p:sp>
        <p:nvSpPr>
          <p:cNvPr id="9" name="Text 7"/>
          <p:cNvSpPr/>
          <p:nvPr/>
        </p:nvSpPr>
        <p:spPr>
          <a:xfrm>
            <a:off x="365760" y="5815584"/>
            <a:ext cx="50292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Toaster cross-section: electrical energy → heat energy in metal coils</a:t>
            </a:r>
            <a:endParaRPr lang="en-US" sz="900" dirty="0"/>
          </a:p>
        </p:txBody>
      </p:sp>
      <p:sp>
        <p:nvSpPr>
          <p:cNvPr id="10" name="Shape 8"/>
          <p:cNvSpPr/>
          <p:nvPr/>
        </p:nvSpPr>
        <p:spPr>
          <a:xfrm>
            <a:off x="5577840" y="749808"/>
            <a:ext cx="6217920" cy="5029200"/>
          </a:xfrm>
          <a:prstGeom prst="roundRect">
            <a:avLst>
              <a:gd name="adj" fmla="val 1455"/>
            </a:avLst>
          </a:prstGeom>
          <a:solidFill>
            <a:srgbClr val="1E2F45"/>
          </a:solidFill>
          <a:ln w="12700">
            <a:solidFill>
              <a:srgbClr val="F4736A"/>
            </a:solidFill>
            <a:prstDash val="solid"/>
          </a:ln>
        </p:spPr>
      </p:sp>
      <p:sp>
        <p:nvSpPr>
          <p:cNvPr id="11" name="Text 9"/>
          <p:cNvSpPr/>
          <p:nvPr/>
        </p:nvSpPr>
        <p:spPr>
          <a:xfrm>
            <a:off x="5760720" y="822960"/>
            <a:ext cx="594360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Guided Analysis:</a:t>
            </a:r>
            <a:endParaRPr lang="en-US" sz="1300" dirty="0"/>
          </a:p>
        </p:txBody>
      </p:sp>
      <p:sp>
        <p:nvSpPr>
          <p:cNvPr id="12" name="Text 10"/>
          <p:cNvSpPr/>
          <p:nvPr/>
        </p:nvSpPr>
        <p:spPr>
          <a:xfrm>
            <a:off x="5760720" y="1234440"/>
            <a:ext cx="5943600" cy="44074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Data: Temperature rises from 22°C to 105°C in 90 sec.</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Analysis questions: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1. What is the STARTING energy? (what powers the toaster?)</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2. What is the RESULTING energy? (what evidence shows the change?)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3. The temperature INCREASED — what does this tell you about energy transfer?</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4. Write: "The evidence shows that energy changed from ___ to ___ because ___"</a:t>
            </a:r>
            <a:endParaRPr lang="en-US" sz="12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Full CER: Choose One Device — Explain the Energy Change</a:t>
            </a:r>
            <a:endParaRPr lang="en-US" sz="1600" dirty="0"/>
          </a:p>
        </p:txBody>
      </p:sp>
      <p:sp>
        <p:nvSpPr>
          <p:cNvPr id="5" name="Shape 3"/>
          <p:cNvSpPr/>
          <p:nvPr/>
        </p:nvSpPr>
        <p:spPr>
          <a:xfrm>
            <a:off x="365760" y="749808"/>
            <a:ext cx="3566160" cy="5349240"/>
          </a:xfrm>
          <a:prstGeom prst="roundRect">
            <a:avLst>
              <a:gd name="adj" fmla="val 2564"/>
            </a:avLst>
          </a:prstGeom>
          <a:solidFill>
            <a:srgbClr val="0A3D8F"/>
          </a:solidFill>
          <a:ln w="19050">
            <a:solidFill>
              <a:srgbClr val="1A5FBD"/>
            </a:solidFill>
            <a:prstDash val="solid"/>
          </a:ln>
        </p:spPr>
      </p:sp>
      <p:sp>
        <p:nvSpPr>
          <p:cNvPr id="6" name="Shape 4"/>
          <p:cNvSpPr/>
          <p:nvPr/>
        </p:nvSpPr>
        <p:spPr>
          <a:xfrm>
            <a:off x="365760" y="749808"/>
            <a:ext cx="3566160" cy="347472"/>
          </a:xfrm>
          <a:prstGeom prst="rect">
            <a:avLst/>
          </a:prstGeom>
          <a:solidFill>
            <a:srgbClr val="1A5FBD"/>
          </a:solidFill>
          <a:ln w="12700">
            <a:solidFill>
              <a:srgbClr val="1A5FBD"/>
            </a:solidFill>
            <a:prstDash val="solid"/>
          </a:ln>
        </p:spPr>
      </p:sp>
      <p:sp>
        <p:nvSpPr>
          <p:cNvPr id="7" name="Text 5"/>
          <p:cNvSpPr/>
          <p:nvPr/>
        </p:nvSpPr>
        <p:spPr>
          <a:xfrm>
            <a:off x="45720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8" name="Text 6"/>
          <p:cNvSpPr/>
          <p:nvPr/>
        </p:nvSpPr>
        <p:spPr>
          <a:xfrm>
            <a:off x="502920" y="1152144"/>
            <a:ext cx="3291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Choose 1 device. Write:</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"I claim that [device] converts [starting energy] into [resulting energy] because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Example: "I claim that the toaster converts electrical energy into heat energy because..."</a:t>
            </a:r>
            <a:endParaRPr lang="en-US" sz="1150" dirty="0"/>
          </a:p>
        </p:txBody>
      </p:sp>
      <p:sp>
        <p:nvSpPr>
          <p:cNvPr id="9" name="Shape 7"/>
          <p:cNvSpPr/>
          <p:nvPr/>
        </p:nvSpPr>
        <p:spPr>
          <a:xfrm>
            <a:off x="4114800" y="749808"/>
            <a:ext cx="3566160" cy="5349240"/>
          </a:xfrm>
          <a:prstGeom prst="roundRect">
            <a:avLst>
              <a:gd name="adj" fmla="val 2564"/>
            </a:avLst>
          </a:prstGeom>
          <a:solidFill>
            <a:srgbClr val="145C35"/>
          </a:solidFill>
          <a:ln w="19050">
            <a:solidFill>
              <a:srgbClr val="228B50"/>
            </a:solidFill>
            <a:prstDash val="solid"/>
          </a:ln>
        </p:spPr>
      </p:sp>
      <p:sp>
        <p:nvSpPr>
          <p:cNvPr id="10" name="Shape 8"/>
          <p:cNvSpPr/>
          <p:nvPr/>
        </p:nvSpPr>
        <p:spPr>
          <a:xfrm>
            <a:off x="4114800" y="749808"/>
            <a:ext cx="3566160" cy="347472"/>
          </a:xfrm>
          <a:prstGeom prst="rect">
            <a:avLst/>
          </a:prstGeom>
          <a:solidFill>
            <a:srgbClr val="228B50"/>
          </a:solidFill>
          <a:ln w="12700">
            <a:solidFill>
              <a:srgbClr val="228B50"/>
            </a:solidFill>
            <a:prstDash val="solid"/>
          </a:ln>
        </p:spPr>
      </p:sp>
      <p:sp>
        <p:nvSpPr>
          <p:cNvPr id="11" name="Text 9"/>
          <p:cNvSpPr/>
          <p:nvPr/>
        </p:nvSpPr>
        <p:spPr>
          <a:xfrm>
            <a:off x="420624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4251960" y="1152144"/>
            <a:ext cx="3291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Use the DATA provided:</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"The data shows that ___ increased/changed from ___ to ___, which means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Your evidence must include specific numbers from the data set. Vague statements don't count.</a:t>
            </a:r>
            <a:endParaRPr lang="en-US" sz="1150" dirty="0"/>
          </a:p>
        </p:txBody>
      </p:sp>
      <p:sp>
        <p:nvSpPr>
          <p:cNvPr id="13" name="Shape 11"/>
          <p:cNvSpPr/>
          <p:nvPr/>
        </p:nvSpPr>
        <p:spPr>
          <a:xfrm>
            <a:off x="7863840" y="749808"/>
            <a:ext cx="3749040" cy="5349240"/>
          </a:xfrm>
          <a:prstGeom prst="roundRect">
            <a:avLst>
              <a:gd name="adj" fmla="val 2439"/>
            </a:avLst>
          </a:prstGeom>
          <a:solidFill>
            <a:srgbClr val="7A3200"/>
          </a:solidFill>
          <a:ln w="19050">
            <a:solidFill>
              <a:srgbClr val="B04A00"/>
            </a:solidFill>
            <a:prstDash val="solid"/>
          </a:ln>
        </p:spPr>
      </p:sp>
      <p:sp>
        <p:nvSpPr>
          <p:cNvPr id="14" name="Shape 12"/>
          <p:cNvSpPr/>
          <p:nvPr/>
        </p:nvSpPr>
        <p:spPr>
          <a:xfrm>
            <a:off x="7863840" y="749808"/>
            <a:ext cx="3749040" cy="347472"/>
          </a:xfrm>
          <a:prstGeom prst="rect">
            <a:avLst/>
          </a:prstGeom>
          <a:solidFill>
            <a:srgbClr val="B04A00"/>
          </a:solidFill>
          <a:ln w="12700">
            <a:solidFill>
              <a:srgbClr val="B04A00"/>
            </a:solidFill>
            <a:prstDash val="solid"/>
          </a:ln>
        </p:spPr>
      </p:sp>
      <p:sp>
        <p:nvSpPr>
          <p:cNvPr id="15" name="Text 13"/>
          <p:cNvSpPr/>
          <p:nvPr/>
        </p:nvSpPr>
        <p:spPr>
          <a:xfrm>
            <a:off x="7955280" y="768096"/>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6" name="Text 14"/>
          <p:cNvSpPr/>
          <p:nvPr/>
        </p:nvSpPr>
        <p:spPr>
          <a:xfrm>
            <a:off x="8001000" y="1152144"/>
            <a:ext cx="347472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Explain WHY the evidence supports the claim:</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"This evidence supports my claim because [starting energy] was transferred to [device part] and converted to [resulting energy]. We know this because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Connects mechanism to evidence.</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Extension: Complete All 4 Devices</a:t>
            </a:r>
            <a:endParaRPr lang="en-US" sz="1600" dirty="0"/>
          </a:p>
        </p:txBody>
      </p:sp>
      <p:sp>
        <p:nvSpPr>
          <p:cNvPr id="5" name="Shape 3"/>
          <p:cNvSpPr/>
          <p:nvPr/>
        </p:nvSpPr>
        <p:spPr>
          <a:xfrm>
            <a:off x="365760" y="749808"/>
            <a:ext cx="11430000" cy="685800"/>
          </a:xfrm>
          <a:prstGeom prst="roundRect">
            <a:avLst>
              <a:gd name="adj" fmla="val 10667"/>
            </a:avLst>
          </a:prstGeom>
          <a:solidFill>
            <a:srgbClr val="1E2F45"/>
          </a:solidFill>
          <a:ln w="12700">
            <a:solidFill>
              <a:srgbClr val="4CC9F0"/>
            </a:solidFill>
            <a:prstDash val="solid"/>
          </a:ln>
        </p:spPr>
      </p:sp>
      <p:sp>
        <p:nvSpPr>
          <p:cNvPr id="6" name="Text 4"/>
          <p:cNvSpPr/>
          <p:nvPr/>
        </p:nvSpPr>
        <p:spPr>
          <a:xfrm>
            <a:off x="548640" y="804672"/>
            <a:ext cx="11155680" cy="566928"/>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If you finish early: complete the analysis for the other 3 devices in your recording sheet.</a:t>
            </a:r>
            <a:endParaRPr lang="en-US" sz="1300" dirty="0"/>
          </a:p>
        </p:txBody>
      </p:sp>
      <p:sp>
        <p:nvSpPr>
          <p:cNvPr id="7" name="Shape 5"/>
          <p:cNvSpPr/>
          <p:nvPr/>
        </p:nvSpPr>
        <p:spPr>
          <a:xfrm>
            <a:off x="365760" y="1572768"/>
            <a:ext cx="3749040" cy="4114800"/>
          </a:xfrm>
          <a:prstGeom prst="roundRect">
            <a:avLst>
              <a:gd name="adj" fmla="val 1951"/>
            </a:avLst>
          </a:prstGeom>
          <a:solidFill>
            <a:srgbClr val="1E2F45"/>
          </a:solidFill>
          <a:ln w="12700">
            <a:solidFill>
              <a:srgbClr val="0096C7"/>
            </a:solidFill>
            <a:prstDash val="solid"/>
          </a:ln>
        </p:spPr>
      </p:sp>
      <p:sp>
        <p:nvSpPr>
          <p:cNvPr id="8" name="Text 6"/>
          <p:cNvSpPr/>
          <p:nvPr/>
        </p:nvSpPr>
        <p:spPr>
          <a:xfrm>
            <a:off x="457200" y="1645920"/>
            <a:ext cx="3566160" cy="438912"/>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Solar Panel</a:t>
            </a:r>
            <a:endParaRPr lang="en-US" sz="1300" dirty="0"/>
          </a:p>
        </p:txBody>
      </p:sp>
      <p:sp>
        <p:nvSpPr>
          <p:cNvPr id="9" name="Text 7"/>
          <p:cNvSpPr/>
          <p:nvPr/>
        </p:nvSpPr>
        <p:spPr>
          <a:xfrm>
            <a:off x="502920" y="2148840"/>
            <a:ext cx="3566160" cy="34015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0W in shade → 120W in sun.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Starting: light energy.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Result: electrical energy.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Evidence: voltage changes with sunlight.</a:t>
            </a:r>
            <a:endParaRPr lang="en-US" sz="1100" dirty="0"/>
          </a:p>
        </p:txBody>
      </p:sp>
      <p:sp>
        <p:nvSpPr>
          <p:cNvPr id="10" name="Shape 8"/>
          <p:cNvSpPr/>
          <p:nvPr/>
        </p:nvSpPr>
        <p:spPr>
          <a:xfrm>
            <a:off x="4297680" y="1572768"/>
            <a:ext cx="3749040" cy="4114800"/>
          </a:xfrm>
          <a:prstGeom prst="roundRect">
            <a:avLst>
              <a:gd name="adj" fmla="val 1951"/>
            </a:avLst>
          </a:prstGeom>
          <a:solidFill>
            <a:srgbClr val="1E2F45"/>
          </a:solidFill>
          <a:ln w="12700">
            <a:solidFill>
              <a:srgbClr val="0096C7"/>
            </a:solidFill>
            <a:prstDash val="solid"/>
          </a:ln>
        </p:spPr>
      </p:sp>
      <p:sp>
        <p:nvSpPr>
          <p:cNvPr id="11" name="Text 9"/>
          <p:cNvSpPr/>
          <p:nvPr/>
        </p:nvSpPr>
        <p:spPr>
          <a:xfrm>
            <a:off x="4389120" y="1645920"/>
            <a:ext cx="3566160" cy="438912"/>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Wind Turbine</a:t>
            </a:r>
            <a:endParaRPr lang="en-US" sz="1300" dirty="0"/>
          </a:p>
        </p:txBody>
      </p:sp>
      <p:sp>
        <p:nvSpPr>
          <p:cNvPr id="12" name="Text 10"/>
          <p:cNvSpPr/>
          <p:nvPr/>
        </p:nvSpPr>
        <p:spPr>
          <a:xfrm>
            <a:off x="4434840" y="2148840"/>
            <a:ext cx="3566160" cy="34015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5mph = 500W, 10mph = 2000W, 20mph = 8000W.</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Starting: kinetic energy (wind).</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Result: electrical energy.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Pattern: faster wind = much more electricity.</a:t>
            </a:r>
            <a:endParaRPr lang="en-US" sz="1100" dirty="0"/>
          </a:p>
        </p:txBody>
      </p:sp>
      <p:sp>
        <p:nvSpPr>
          <p:cNvPr id="13" name="Shape 11"/>
          <p:cNvSpPr/>
          <p:nvPr/>
        </p:nvSpPr>
        <p:spPr>
          <a:xfrm>
            <a:off x="8229600" y="1572768"/>
            <a:ext cx="3749040" cy="4114800"/>
          </a:xfrm>
          <a:prstGeom prst="roundRect">
            <a:avLst>
              <a:gd name="adj" fmla="val 1951"/>
            </a:avLst>
          </a:prstGeom>
          <a:solidFill>
            <a:srgbClr val="1E2F45"/>
          </a:solidFill>
          <a:ln w="12700">
            <a:solidFill>
              <a:srgbClr val="0096C7"/>
            </a:solidFill>
            <a:prstDash val="solid"/>
          </a:ln>
        </p:spPr>
      </p:sp>
      <p:sp>
        <p:nvSpPr>
          <p:cNvPr id="14" name="Text 12"/>
          <p:cNvSpPr/>
          <p:nvPr/>
        </p:nvSpPr>
        <p:spPr>
          <a:xfrm>
            <a:off x="8321040" y="1645920"/>
            <a:ext cx="3566160" cy="438912"/>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Speaker</a:t>
            </a:r>
            <a:endParaRPr lang="en-US" sz="1300" dirty="0"/>
          </a:p>
        </p:txBody>
      </p:sp>
      <p:sp>
        <p:nvSpPr>
          <p:cNvPr id="15" name="Text 13"/>
          <p:cNvSpPr/>
          <p:nvPr/>
        </p:nvSpPr>
        <p:spPr>
          <a:xfrm>
            <a:off x="8366760" y="2148840"/>
            <a:ext cx="3566160" cy="34015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Electrical signal → cone vibrates 440x/sec → 85 decibels.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Starting: electrical energy.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Result: sound energy (vibration waves).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Evidence: frequency and volume of sound.</a:t>
            </a:r>
            <a:endParaRPr lang="en-US" sz="11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Scientific Discussion: Energy in Our World</a:t>
            </a:r>
            <a:endParaRPr lang="en-US" sz="1600" dirty="0"/>
          </a:p>
        </p:txBody>
      </p:sp>
      <p:sp>
        <p:nvSpPr>
          <p:cNvPr id="5" name="Shape 3"/>
          <p:cNvSpPr/>
          <p:nvPr/>
        </p:nvSpPr>
        <p:spPr>
          <a:xfrm>
            <a:off x="365760" y="749808"/>
            <a:ext cx="11430000" cy="2103120"/>
          </a:xfrm>
          <a:prstGeom prst="roundRect">
            <a:avLst>
              <a:gd name="adj" fmla="val 3478"/>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Discussion Question:</a:t>
            </a:r>
            <a:endParaRPr lang="en-US" sz="1300" dirty="0"/>
          </a:p>
        </p:txBody>
      </p:sp>
      <p:sp>
        <p:nvSpPr>
          <p:cNvPr id="7" name="Text 5"/>
          <p:cNvSpPr/>
          <p:nvPr/>
        </p:nvSpPr>
        <p:spPr>
          <a:xfrm>
            <a:off x="530352" y="1188720"/>
            <a:ext cx="11100816" cy="155448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Every device you looked at today started with one form of energy and ended with another. But energy is NEVER created or destroyed — it just changes form. What does this tell us about where all energy ultimately comes from? Does it all trace back to one source?</a:t>
            </a:r>
            <a:endParaRPr lang="en-US" sz="1300" dirty="0"/>
          </a:p>
        </p:txBody>
      </p:sp>
      <p:sp>
        <p:nvSpPr>
          <p:cNvPr id="8" name="Shape 6"/>
          <p:cNvSpPr/>
          <p:nvPr/>
        </p:nvSpPr>
        <p:spPr>
          <a:xfrm>
            <a:off x="365760" y="3035808"/>
            <a:ext cx="11430000" cy="1280160"/>
          </a:xfrm>
          <a:prstGeom prst="roundRect">
            <a:avLst>
              <a:gd name="adj" fmla="val 5714"/>
            </a:avLst>
          </a:prstGeom>
          <a:solidFill>
            <a:srgbClr val="1E2F45"/>
          </a:solidFill>
          <a:ln w="12700">
            <a:solidFill>
              <a:srgbClr val="2DC653"/>
            </a:solidFill>
            <a:prstDash val="solid"/>
          </a:ln>
        </p:spPr>
      </p:sp>
      <p:sp>
        <p:nvSpPr>
          <p:cNvPr id="9" name="Text 7"/>
          <p:cNvSpPr/>
          <p:nvPr/>
        </p:nvSpPr>
        <p:spPr>
          <a:xfrm>
            <a:off x="548640" y="3090672"/>
            <a:ext cx="1115568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Think About It:</a:t>
            </a:r>
            <a:endParaRPr lang="en-US" sz="1200" dirty="0"/>
          </a:p>
        </p:txBody>
      </p:sp>
      <p:sp>
        <p:nvSpPr>
          <p:cNvPr id="10" name="Text 8"/>
          <p:cNvSpPr/>
          <p:nvPr/>
        </p:nvSpPr>
        <p:spPr>
          <a:xfrm>
            <a:off x="548640" y="3456432"/>
            <a:ext cx="11155680" cy="74980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Solar panel: from the SUN. Wind turbine: wind is caused by the SUN heating air. Food: plants grow using the SUN. Almost ALL energy on Earth traces back to the SUN.</a:t>
            </a:r>
            <a:endParaRPr lang="en-US" sz="12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Check for Understanding</a:t>
            </a:r>
            <a:endParaRPr lang="en-US" sz="1600" dirty="0"/>
          </a:p>
        </p:txBody>
      </p:sp>
      <p:sp>
        <p:nvSpPr>
          <p:cNvPr id="5" name="Shape 3"/>
          <p:cNvSpPr/>
          <p:nvPr/>
        </p:nvSpPr>
        <p:spPr>
          <a:xfrm>
            <a:off x="365760" y="749808"/>
            <a:ext cx="11430000" cy="2697480"/>
          </a:xfrm>
          <a:prstGeom prst="roundRect">
            <a:avLst>
              <a:gd name="adj" fmla="val 2712"/>
            </a:avLst>
          </a:prstGeom>
          <a:solidFill>
            <a:srgbClr val="1E2F45"/>
          </a:solidFill>
          <a:ln w="12700">
            <a:solidFill>
              <a:srgbClr val="243A52"/>
            </a:solidFill>
            <a:prstDash val="solid"/>
          </a:ln>
        </p:spPr>
      </p:sp>
      <p:sp>
        <p:nvSpPr>
          <p:cNvPr id="6" name="Text 4"/>
          <p:cNvSpPr/>
          <p:nvPr/>
        </p:nvSpPr>
        <p:spPr>
          <a:xfrm>
            <a:off x="548640" y="82296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The wind turbine data shows 500W at 5mph and 8,000W at 20mph. What does this tell us?</a:t>
            </a:r>
            <a:endParaRPr lang="en-US" sz="1250" dirty="0"/>
          </a:p>
        </p:txBody>
      </p:sp>
      <p:sp>
        <p:nvSpPr>
          <p:cNvPr id="7" name="Text 5"/>
          <p:cNvSpPr/>
          <p:nvPr/>
        </p:nvSpPr>
        <p:spPr>
          <a:xfrm>
            <a:off x="731520" y="137160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Speed does not affect energy generation</a:t>
            </a:r>
            <a:endParaRPr lang="en-US" sz="1150" dirty="0"/>
          </a:p>
        </p:txBody>
      </p:sp>
      <p:sp>
        <p:nvSpPr>
          <p:cNvPr id="8" name="Text 6"/>
          <p:cNvSpPr/>
          <p:nvPr/>
        </p:nvSpPr>
        <p:spPr>
          <a:xfrm>
            <a:off x="6400800" y="1371600"/>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B. Higher wind speed transfers much more kinetic energy to the turbine</a:t>
            </a:r>
            <a:endParaRPr lang="en-US" sz="1150" dirty="0"/>
          </a:p>
        </p:txBody>
      </p:sp>
      <p:sp>
        <p:nvSpPr>
          <p:cNvPr id="9" name="Text 7"/>
          <p:cNvSpPr/>
          <p:nvPr/>
        </p:nvSpPr>
        <p:spPr>
          <a:xfrm>
            <a:off x="73152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The turbine works better at low speeds</a:t>
            </a:r>
            <a:endParaRPr lang="en-US" sz="1150" dirty="0"/>
          </a:p>
        </p:txBody>
      </p:sp>
      <p:sp>
        <p:nvSpPr>
          <p:cNvPr id="10" name="Text 8"/>
          <p:cNvSpPr/>
          <p:nvPr/>
        </p:nvSpPr>
        <p:spPr>
          <a:xfrm>
            <a:off x="640080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Wind and electricity have no connection</a:t>
            </a:r>
            <a:endParaRPr lang="en-US" sz="1150" dirty="0"/>
          </a:p>
        </p:txBody>
      </p:sp>
      <p:sp>
        <p:nvSpPr>
          <p:cNvPr id="11" name="Text 9"/>
          <p:cNvSpPr/>
          <p:nvPr/>
        </p:nvSpPr>
        <p:spPr>
          <a:xfrm>
            <a:off x="9601200" y="301752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B</a:t>
            </a:r>
            <a:endParaRPr lang="en-US" sz="1000" dirty="0"/>
          </a:p>
        </p:txBody>
      </p:sp>
      <p:sp>
        <p:nvSpPr>
          <p:cNvPr id="12" name="Shape 10"/>
          <p:cNvSpPr/>
          <p:nvPr/>
        </p:nvSpPr>
        <p:spPr>
          <a:xfrm>
            <a:off x="365760" y="3630168"/>
            <a:ext cx="11430000" cy="2697480"/>
          </a:xfrm>
          <a:prstGeom prst="roundRect">
            <a:avLst>
              <a:gd name="adj" fmla="val 2712"/>
            </a:avLst>
          </a:prstGeom>
          <a:solidFill>
            <a:srgbClr val="1E2F45"/>
          </a:solidFill>
          <a:ln w="12700">
            <a:solidFill>
              <a:srgbClr val="243A52"/>
            </a:solidFill>
            <a:prstDash val="solid"/>
          </a:ln>
        </p:spPr>
      </p:sp>
      <p:sp>
        <p:nvSpPr>
          <p:cNvPr id="13" name="Text 11"/>
          <p:cNvSpPr/>
          <p:nvPr/>
        </p:nvSpPr>
        <p:spPr>
          <a:xfrm>
            <a:off x="548640" y="370332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Which of these is the BEST evidence of energy conversion in a speaker?</a:t>
            </a:r>
            <a:endParaRPr lang="en-US" sz="1250" dirty="0"/>
          </a:p>
        </p:txBody>
      </p:sp>
      <p:sp>
        <p:nvSpPr>
          <p:cNvPr id="14" name="Text 12"/>
          <p:cNvSpPr/>
          <p:nvPr/>
        </p:nvSpPr>
        <p:spPr>
          <a:xfrm>
            <a:off x="73152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The speaker is made of plastic</a:t>
            </a:r>
            <a:endParaRPr lang="en-US" sz="1150" dirty="0"/>
          </a:p>
        </p:txBody>
      </p:sp>
      <p:sp>
        <p:nvSpPr>
          <p:cNvPr id="15" name="Text 13"/>
          <p:cNvSpPr/>
          <p:nvPr/>
        </p:nvSpPr>
        <p:spPr>
          <a:xfrm>
            <a:off x="640080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The speaker has a wire attached</a:t>
            </a:r>
            <a:endParaRPr lang="en-US" sz="1150" dirty="0"/>
          </a:p>
        </p:txBody>
      </p:sp>
      <p:sp>
        <p:nvSpPr>
          <p:cNvPr id="16" name="Text 14"/>
          <p:cNvSpPr/>
          <p:nvPr/>
        </p:nvSpPr>
        <p:spPr>
          <a:xfrm>
            <a:off x="731520" y="4727448"/>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C. The cone vibrates when an electrical signal is sent</a:t>
            </a:r>
            <a:endParaRPr lang="en-US" sz="1150" dirty="0"/>
          </a:p>
        </p:txBody>
      </p:sp>
      <p:sp>
        <p:nvSpPr>
          <p:cNvPr id="17" name="Text 15"/>
          <p:cNvSpPr/>
          <p:nvPr/>
        </p:nvSpPr>
        <p:spPr>
          <a:xfrm>
            <a:off x="6400800" y="472744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The speaker is black in color</a:t>
            </a:r>
            <a:endParaRPr lang="en-US" sz="1150" dirty="0"/>
          </a:p>
        </p:txBody>
      </p:sp>
      <p:sp>
        <p:nvSpPr>
          <p:cNvPr id="18" name="Text 16"/>
          <p:cNvSpPr/>
          <p:nvPr/>
        </p:nvSpPr>
        <p:spPr>
          <a:xfrm>
            <a:off x="9601200" y="589788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C</a:t>
            </a:r>
            <a:endParaRPr lang="en-US" sz="10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we use data to track and explain how energy changes form as it moves through a device?"</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Data Task recording sheet — all 4 devices (notebook)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Full CER for one device: Claim + Evidence + Reasoning (notebook)</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Extension: full analysis for remaining 3 devices (if completed)</a:t>
            </a:r>
            <a:endParaRPr lang="en-US" sz="1100" dirty="0"/>
          </a:p>
        </p:txBody>
      </p:sp>
      <p:sp>
        <p:nvSpPr>
          <p:cNvPr id="13" name="Shape 11"/>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4" name="Text 12"/>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5" name="Text 13"/>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Q4 begins! Lesson 25-01 — Coming up: Earth's Place in the Universe</a:t>
            </a:r>
            <a:endParaRPr lang="en-US" sz="1200" dirty="0"/>
          </a:p>
        </p:txBody>
      </p:sp>
      <p:sp>
        <p:nvSpPr>
          <p:cNvPr id="16" name="Shape 14"/>
          <p:cNvSpPr/>
          <p:nvPr/>
        </p:nvSpPr>
        <p:spPr>
          <a:xfrm>
            <a:off x="0" y="5047488"/>
            <a:ext cx="12192000" cy="45720"/>
          </a:xfrm>
          <a:prstGeom prst="rect">
            <a:avLst/>
          </a:prstGeom>
          <a:solidFill>
            <a:srgbClr val="4CC9F0"/>
          </a:solidFill>
          <a:ln/>
        </p:spPr>
      </p:sp>
      <p:sp>
        <p:nvSpPr>
          <p:cNvPr id="17" name="Text 15"/>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24-02  ·  Data Task: Energy Changes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2026-07-14T00:38:58Z</dcterms:created>
  <dcterms:modified xsi:type="dcterms:W3CDTF">2026-07-14T00:38:58Z</dcterms:modified>
</cp:coreProperties>
</file>