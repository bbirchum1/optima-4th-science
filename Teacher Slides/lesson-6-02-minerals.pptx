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geologists! Today we become mineral detectives. Open notebooks to a fresh page — students will sketch a mineral from memory as the warm-up.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3-5 minutes to sketch. Circulate and ask: 'Where have you seen minerals before?' Save the sketches — students revisit at the end of the lesson.
Facilitation: 'Share with a partner — what did you draw? What do you think a mineral is made of?'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'Turn and talk: Before I show you the five properties, make your best prediction. What other clues besides color could help?'
Look for: scratch marks, shine, how it breaks. Accept all ideas — we'll confirm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definition together. Ask students to create a quick gesture or drawing for each word.
'Hardness — let's do a quick fist-pump motion like you're scratching!'
'Luster — let's pretend to hold something shiny up to the light.'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discussion: 'Is salt at home a mineral? What about the iron in your cereal? What makes something a mineral?'
Key: naturally occurring + solid + crystal structure. Vitamin pills don't count — they're manufactured!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Facilitation: 'What evidence supports that streak is more reliable than color? What would change your mind?'
Side story: Hematite looks silver/black but ALWAYS leaves reddish-brown streak. The outside lies — the powder tells the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'If two people might wear the same color shirt, but have different fingerprints, voices, and heights — minerals work the same way. One property isn't enough!'
Ask: How is this like being a detective?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property for quartz. Emphasize: color alone can't identify quartz because it comes in MANY colors!
Ask: 'Which of these properties do you think is most reliable? What evidence supports that?'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REASONING MOMENT: 'I know pyrite is NOT gold because... its hardness is 6.5 while gold is only 2.5. This shows that hardness is a reliable property even when color tricks us.'
Ask: 'What evidence MOST convinced you? What would change your mind?'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'Quartz (7) can scratch glass (5.5), but can't scratch topaz (8). A penny can scratch gypsum but NOT calcite.'
Prediction activity: 'Fingernail vs. apatite — who wins? I predict ___ because ___'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'Limestone and marble are BOTH made of calcite. But they look and feel completely different. What happened to the minerals inside? I know ___ because ___.'
Ask: What does this show about how Earth can transform the same material?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'What evidence supports that metamorphic rocks were once different rock types? What would change your mind about whether heat and pressure really transform minerals?'
Key insight: Same mineral (calcite), different conditions = completely different rock!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At step 4: 'Why is the streak plate called MORE reliable? What evidence do we have? The hematite example proves surface appearance lies.'
Challenge: 'If you could only use ONE step, which would you choose? Defend your answer.'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Students should say 'I'd scratch it first — if it's soft (2.5) it could be gold. If it's hard (6.5), it's pyrite. Then I'd check the streak to be SURE.'
Ask: 'What is your claim? What's your best evidence? What would make you change your mind?'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'Point to something in the room that contains a mineral — bet you can find 10 in 60 seconds!'
Elaborate: Without minerals, modern civilization wouldn't exist. The iron in your blood came from minerals in Earth's crust!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reasoning practice. Circulate and listen for strong evidence use.
Look for: students connecting the 5 properties to identification strategies, students explaining the rock formation process with mineral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'Slow cooling = bigger crystals. That's why granite has big visible crystals but basalt (fast cooling at surface) has tiny ones!'
Connect to rock cycle: all three processes tie back to the igneous/sedimentary/metamorphic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graded — this is for live discussion and checking for understanding.
Ask students to explain WHY before revealing answers.
Look for: understanding of streak reliability, ability to name minerals in granite.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each part before students begin. Make sure they understand the CER response — we practiced the evidence frame in slide 16.
Remind: Use vocab words! Hardness, luster, cleavage, streak, Mohs scale, mineral.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option: 'Name one property that's MORE reliable than color, and explain why with evidence.'
Have students compare their original mineral sketch to what they now know — celebrate the growth!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Properties of Minerals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scientists identify minerals — and how do they form rocks?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NGSS 4-ESS1-1 · Earth's Rock Record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and describe the five physical properties used to classify minerals: hardness, color, luster, cleavage, and streak.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why streak color is more reliable than surface color for identifying a mineral.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Describe how minerals combine to form the three main rock types: igneous, sedimentary, and metamorphic.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✏️ Colored pencils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Warm-Up: What Do You Already Know?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508406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"amethyst quartz pyrite mineral crystal samples close up"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44439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Amethyst, quartz, and pyrite — three different minerals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207008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2984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&amp; Reflect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16916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notebook, draw a quick sketch of what you think a mineral looks like. Maybe you've seen a crystal, gemstone, or glittery rock.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 you think minerals come from? Have you ever seen or touched a mineral? What did it look, feel, or smell like?"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Make a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predict ___ because ___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minerals look exactly the same color. How could a scientist tell them apart? What other clues could they use?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0A152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70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51206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are the building blocks of rocks.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5,700 minerals exist.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use 5 properties — not just color — to identify them.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detective checking multiple clues!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606040"/>
            <a:ext cx="5760720" cy="2834640"/>
          </a:xfrm>
          <a:prstGeom prst="roundRect">
            <a:avLst>
              <a:gd name="adj" fmla="val 2581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35040" y="27157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5040" y="31546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3447288"/>
            <a:ext cx="554126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"geologist identifying mineral with hand lens streak plate Mohs hardness test"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547725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geologist testing mineral properties in the field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Key Vocabulary — Part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5175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naturally occurring, solid substance with a specific crystal structure found in Earth's crust.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749808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749808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7772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4768" y="1152144"/>
            <a:ext cx="5358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resistant a mineral is to being scratched. Measured on the Mohs scale from 1 (softest) to 10 (hardest).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539496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278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602736"/>
            <a:ext cx="5175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a mineral reflects light. Can be metallic (shiny like a coin) or non-metallic (glassy, dull, or pearly).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320040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200400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278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602736"/>
            <a:ext cx="5358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a mineral breaks along smooth, flat surfaces because of its internal crystal structure.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Key Vocabulary — Part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51755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of the powder a mineral leaves when rubbed against a rough white streak plate. More reliable than surface color!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749808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749808"/>
            <a:ext cx="557784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7772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 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4768" y="1152144"/>
            <a:ext cx="5358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1-to-10 ranking system scientists use to compare how hard minerals are. Talc = 1 (softest), Diamond = 10 (hardest).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 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a mineral! The mineral halite — better known as ordinary table salt — has been used by humans for thousands of years. Ancient Roman soldiers were sometimes paid in salt. That's where the word "salary" comes from!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Vocabulary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0917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Turn &amp; Talk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09179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the five mineral properties do you think would be easiest to test in a classroom? Which would be hardest? Why?"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92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 — just look at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Luster — hold it to light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Hardness — scratch test with common objects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Streak — rub on ceramic tile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9992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38328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NEVER use just one property to identify a mineral — they use several together, like a detective checking multiple clues!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The Lesson: What Is a Mineral?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6858000" cy="1920240"/>
          </a:xfrm>
          <a:prstGeom prst="roundRect">
            <a:avLst>
              <a:gd name="adj" fmla="val 381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6583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mineral is a naturally occurring, solid substance found in Earth's crust. Minerals are the building blocks of rocks — most rocks are made of two or more minerals locked together.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749808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498080" y="859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0" y="12984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16368" y="1591056"/>
            <a:ext cx="44439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"quartz crystal clear mineral specimen close up white background"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06640" y="27066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— one of Earth's most common minerals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A203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07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Challenge: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more than 5,700 known minerals — and many look similar! That's why scientists use FIVE physical properties to identify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06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42062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206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0" y="42062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206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42062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4206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42062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4206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4160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These 5 properties together = a mineral's 'fingerprint'!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Five Properties in Action: Quartz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32552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"quartz crystal clear transparent mineral specimen white background"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15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crystal sample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749808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863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COLOR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76809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Varies: clear, pink, purple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mineral, many colors!)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1755648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7922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LUSTER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77393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Glassy / Vitreous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(reflects light like glass)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2761488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798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HARDNESS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77977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on Mohs 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(scratches glass at 5.5)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3767328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8039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CLEAVAGE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78561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fractures unevenly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(breaks in curved surfaces)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4773168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809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STREAK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79145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powder on 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reliable color test)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Stop &amp; Reason: Fool's Gold!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8097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"pyrite fool's gold vs real gold mineral specimens side by side comparison"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4439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Pyrite (left) looks almost identical to gold (right)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6400800" cy="2103120"/>
          </a:xfrm>
          <a:prstGeom prst="roundRect">
            <a:avLst>
              <a:gd name="adj" fmla="val 347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Pyrite (fool's gold) looks exactly like gold in color and luster. If a miner found a shiny yellow mineral, what other properties would they test to be absolutely sure it was real gold?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77840" y="3017520"/>
            <a:ext cx="6400800" cy="2286000"/>
          </a:xfrm>
          <a:prstGeom prst="roundRect">
            <a:avLst>
              <a:gd name="adj" fmla="val 3200"/>
            </a:avLst>
          </a:prstGeom>
          <a:solidFill>
            <a:srgbClr val="0A203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0906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Comparison: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493008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Gold: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Hardness: 2.5 (very soft!)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Streak: Yellow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Cleavage: Hackly fracture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Hardness: 6.5 (much harder!)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Streak: Greenish-black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Cleavage: Cubic fracture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Mohs Hardness Scale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4892040"/>
            <a:ext cx="1024128" cy="274320"/>
          </a:xfrm>
          <a:prstGeom prst="rect">
            <a:avLst/>
          </a:prstGeom>
          <a:solidFill>
            <a:srgbClr val="B0C4D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919472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5880" y="4544568"/>
            <a:ext cx="1024128" cy="621792"/>
          </a:xfrm>
          <a:prstGeom prst="rect">
            <a:avLst/>
          </a:prstGeom>
          <a:solidFill>
            <a:srgbClr val="B0C4D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457200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Gypsum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4197096"/>
            <a:ext cx="1024128" cy="969264"/>
          </a:xfrm>
          <a:prstGeom prst="rect">
            <a:avLst/>
          </a:prstGeom>
          <a:solidFill>
            <a:srgbClr val="2DC65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422452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3849624"/>
            <a:ext cx="1024128" cy="1316736"/>
          </a:xfrm>
          <a:prstGeom prst="rect">
            <a:avLst/>
          </a:prstGeom>
          <a:solidFill>
            <a:srgbClr val="2DC65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87705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3502152"/>
            <a:ext cx="1024128" cy="1664208"/>
          </a:xfrm>
          <a:prstGeom prst="rect">
            <a:avLst/>
          </a:prstGeom>
          <a:solidFill>
            <a:srgbClr val="4CC9F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529584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Apatite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3154680"/>
            <a:ext cx="1024128" cy="2011680"/>
          </a:xfrm>
          <a:prstGeom prst="rect">
            <a:avLst/>
          </a:prstGeom>
          <a:solidFill>
            <a:srgbClr val="4CC9F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182112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Feldspar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2807208"/>
            <a:ext cx="1024128" cy="2359152"/>
          </a:xfrm>
          <a:prstGeom prst="rect">
            <a:avLst/>
          </a:prstGeom>
          <a:solidFill>
            <a:srgbClr val="FFB70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83464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09560" y="2459736"/>
            <a:ext cx="1024128" cy="2706624"/>
          </a:xfrm>
          <a:prstGeom prst="rect">
            <a:avLst/>
          </a:prstGeom>
          <a:solidFill>
            <a:srgbClr val="FFB703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48716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Topaz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06840" y="2112264"/>
            <a:ext cx="1024128" cy="3054096"/>
          </a:xfrm>
          <a:prstGeom prst="rect">
            <a:avLst/>
          </a:prstGeom>
          <a:solidFill>
            <a:srgbClr val="F4736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213969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0684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Corundum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104120" y="1764792"/>
            <a:ext cx="1024128" cy="3401568"/>
          </a:xfrm>
          <a:prstGeom prst="rect">
            <a:avLst/>
          </a:prstGeom>
          <a:solidFill>
            <a:srgbClr val="F4736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04120" y="1792224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04120" y="523036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" y="1188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SOFTEST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18320" y="1188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1536192"/>
            <a:ext cx="11795760" cy="822960"/>
          </a:xfrm>
          <a:prstGeom prst="roundRect">
            <a:avLst>
              <a:gd name="adj" fmla="val 888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1591056"/>
            <a:ext cx="11612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💅 Fingernail ~2.5     🪙 Penny ~3.5     🪟 Glass ~5.5     🔧 Steel File ~6.5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 How Minerals Form Rocks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are the ingredients that make up rocks — the type and conditions of formation determine the rock type.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Igneous Rock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Granite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2816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2552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54787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"granite rock sample igneous feldspar quartz mica minerals"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quartz, feldspar &amp; mica. Forms when melted rock cools and hardens.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353312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🏔️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89120" y="1938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Sedimentary Rock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Limestone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706624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0" y="2816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0" y="32552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0288" y="354787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"limestone sedimentary rock layers calcite mineral formation"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0" y="4224528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primarily of calcite mineral. Forms from layers of sediment pressing together over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1353312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21040" y="1938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Metamorphic Rock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Marble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2706624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503920" y="28163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03920" y="32552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22208" y="354787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"marble metamorphic rock white calcite mineral recrystallized"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21040" y="4224528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when limestone is squeezed by heat and pressure — its calcite minerals recrystallize into a new pattern.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Observe &amp; Reason: Limestone → Marble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48097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"limestone vs marble side by side comparison calcite mineral rock samples"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 (left) and marble (right) — both made of calcite!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 Frame: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61872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limestone and marble are different because...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...This shows that heat and pressure...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...This is important because buildings like the Taj Mahal..."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5029200"/>
            <a:ext cx="11247120" cy="896112"/>
          </a:xfrm>
          <a:prstGeom prst="roundRect">
            <a:avLst>
              <a:gd name="adj" fmla="val 8163"/>
            </a:avLst>
          </a:prstGeom>
          <a:solidFill>
            <a:srgbClr val="0A203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102352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Connection: The White House (sandstone = feldspar &amp; quartz) · Taj Mahal (marble = calcite) · Every building started as minerals deep in Earth!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Explore: The Geologist's 4-Step Method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geologist hands you an unknown mineral. How do real scientists figure out what it is?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0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490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Color &amp; Luster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near light. Is it metallic (like a coin)? Glassy (like a window)? Dull (like chalk)? Record — but remember, color alone can be misleading!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53312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90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90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38160" y="1490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Hardness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47672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fingernail (~2.5), a penny (~3.5), glass (~5.5). This places the mineral on the Mohs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59352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9651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96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40965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Cleavage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53712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split into smooth flat sheets (like mica) or break in rough curved pieces (like quartz)? Reveals crystal structure!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959352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09651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096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0965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Streak Test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553712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 on white streak plate. The powder color is FAR more reliable than surface color. Hematite looks silver but leaves reddish-brown streak!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Like a Scientist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0917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Mystery Mineral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09179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find a shiny, yellow mineral. Walk through all FOUR steps to decide: Is it real gold (hardness 2.5, yellow streak) or pyrite (hardness 6.5, greenish-black streak)?"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539496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735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Frame: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75888"/>
            <a:ext cx="512064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it is ___ because when I tested hardness, it ___.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that ___.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streak test confirmed ___ because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2735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 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675888"/>
            <a:ext cx="548640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have identified more than 5,700 different minerals on Earth — yet just 8 minerals make up over 98% of Earth's entire crust!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understand almost all of Earth's rocks by knowing just those eight.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Minerals Are Everywhere in Your Life!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Pencil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Mineral: Graphite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1-2, leaves black streak — used because it's soft enough to mark paper!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749808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8595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🧂 Table Salt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1298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Mineral: Halite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166420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crystals, salty taste — Romans paid soldiers in salt (that's 'salary'!)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749808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8595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 Screen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1298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Mineral: Quartz (SiO₂)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83880" y="166420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Melted quartz makes glass screens — hardness 7 makes them scratch-resistant!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198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🦷 Teeth &amp; Bones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Mineral: Apatite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2452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5 on Mohs scale — your body contains the same mineral as some rocks!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3310128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4198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Buildings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340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Mineral: Feldspar + Calcite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422452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House = sandstone (feldspar/quartz), Taj Mahal = marble (calcite)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310128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4198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Metal tools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8388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Mineral: Ore minerals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4224528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Iron, copper, aluminum all started as ore minerals mined from the ground!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Evidence &amp; Reasoning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0917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Partner Discussion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0917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___ because ___. This shows ___."   Use this frame to explain ONE thing you learned today about minerals.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7315200" cy="3337560"/>
          </a:xfrm>
          <a:prstGeom prst="roundRect">
            <a:avLst>
              <a:gd name="adj" fmla="val 219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15184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Starters: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 know streak is more reliable than color because hematite looks silver but leaves a reddish-brown streak. This shows that..."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 know quartz and calcite are different minerals because their hardness is different (7 vs. 3). This shows that..."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 know granite is an igneous rock because it contains quartz, feldspar, and mica — all minerals that form when magma cools. This shows that..."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2542032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0A203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6151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Further: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3035808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evidence supports that?"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change your mind?"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there another explanation?"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confident are you? Why?"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Elaborate: Go Deeper — Where Do Minerals Form?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A203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form in THREE fascinating ways deep inside Earth: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Cooling Magma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94436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"magma cooling underground mineral crystal formation granite igneous rock"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279392"/>
            <a:ext cx="33832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magma cools slowly underground, atoms arrange into neat crystal structures — forming quartz, feldspar, and mica. Slow cooling = bigger crystals!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572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Water Evaporation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103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26517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294436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"salt flat evaporation halite mineral crystal formation dried lake bed"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4279392"/>
            <a:ext cx="33832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loaded with dissolved chemicals evaporates. The chemicals crystallize into minerals like halite (table salt) in dried-up lakes.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5087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572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Heat &amp; Pressure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2103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50392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03920" y="26517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22208" y="2944368"/>
            <a:ext cx="3072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"metamorphic rock formation heat pressure underground limestone marble minerals"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4279392"/>
            <a:ext cx="33832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minerals transform into new minerals under intense heat and pressure deep underground — same process that turns limestone into marble!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Self-Check — Discuss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the Mohs scale measure?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How shiny a mineral looks     B. How easily a mineral can be scratched ✓     C. What color powder it leaves behind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 — How easily a mineral can be scratched (hardness!). Ranked 1 to 10.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streak color more reliable than surface color?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097280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Because streak is always white     B. Because a mineral's streak stays the same even when surface color changes ✓     C. Because surface color is always black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 — A mineral's streak stays the same even when its surface color changes! (Hematite = proof)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590288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634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minerals are found in granite?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097280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Calcite, talc, and halite     B. Diamond, mica, and sulfur     C. Quartz, feldspar, and mica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 — Quartz, feldspar, and mica! All with different properties, all locked together.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Assignment: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9496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Properties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 hardness, luster, cleavage, streak, color, Mohs scale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a mineral's surface reflects light: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easily it can be scratched: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Powder color left on streak plate: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mineral breaks in flat surfaces: ___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749808"/>
            <a:ext cx="3840480" cy="5394960"/>
          </a:xfrm>
          <a:prstGeom prst="roundRect">
            <a:avLst>
              <a:gd name="adj" fmla="val 1905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822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35661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sentences + vocab!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difference between a mineral and a rock?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Why do scientists use MORE than one property when identifying a mineral? Give a color example.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How does marble form from limestone? What happens to the minerals inside?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749808"/>
            <a:ext cx="3931920" cy="5394960"/>
          </a:xfrm>
          <a:prstGeom prst="roundRect">
            <a:avLst>
              <a:gd name="adj" fmla="val 186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822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Table &amp; Drawing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1554480"/>
            <a:ext cx="36576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mineral (quartz, calcite, mica, or feldspar)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Hardness, color, luster, cleavage, streak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rock type does it form?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and label it!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Evidence-Based Response: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 the Mohs Scale to make a claim about the hardest mineral. What's your evidence?'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I tell different minerals apart just by looking at and testing them — and how do these minerals come together to form the rocks beneath our feet?"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All four property labels filled in using the word bank.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Questions 5, 6 &amp; 7 answered in complete sentences with vocab words.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Completed mineral table + labeled drawing.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Essential Question Response — 2-3 sentences using 3+ vocab words.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Response — Claim about mineral hardness + Mohs Scale evidence + reasoning.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Nonrenewable Resources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all our energy come from — and could it ever run out?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6.02  ·  Physical Properties of Minerals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2026-07-13T19:54:25Z</dcterms:created>
  <dcterms:modified xsi:type="dcterms:W3CDTF">2026-07-13T19:54:25Z</dcterms:modified>
</cp:coreProperties>
</file>