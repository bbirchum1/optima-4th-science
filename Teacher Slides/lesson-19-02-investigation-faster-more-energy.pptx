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Investigation day! Students roll marbles from different heights (= different speeds) and measure cup displacement. CER complete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students write predictions BEFORE starting. Predictions are scientific — there is no wrong prediction as long as they provide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5 min to write analysis answers in their notebooks before whole-class share-out.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FULL CER! Give students 10 min to write all three parts. Reasoning is the hard part — ask: WHY does your evidence support your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State one piece of evidence from YOUR data that supports the claim that faster = more kinetic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Investigation: Faster = More Energy?</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Does a faster object really have more kinetic energy? Let's find out.</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4-PS3-1 — Evidence-based explanation of speed and kinetic energy relationship</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design a fair test to investigate the relationship between speed and energy.</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record data across multiple trials and identify patterns.</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write a full CER (Claim + Evidence + Reasoning) using my investigation data.</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Marble (large and small if available)   ruler or ramp   small paper cup   notebook</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19-02  ·  Investigation: Faster = More Energy?</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Review + Make Your Prediction</a:t>
            </a:r>
            <a:endParaRPr lang="en-US" sz="1600" dirty="0"/>
          </a:p>
        </p:txBody>
      </p:sp>
      <p:sp>
        <p:nvSpPr>
          <p:cNvPr id="5" name="Shape 3"/>
          <p:cNvSpPr/>
          <p:nvPr/>
        </p:nvSpPr>
        <p:spPr>
          <a:xfrm>
            <a:off x="365760" y="749808"/>
            <a:ext cx="11430000" cy="1389888"/>
          </a:xfrm>
          <a:prstGeom prst="roundRect">
            <a:avLst>
              <a:gd name="adj" fmla="val 5263"/>
            </a:avLst>
          </a:prstGeom>
          <a:solidFill>
            <a:srgbClr val="162233"/>
          </a:solidFill>
          <a:ln w="12700">
            <a:solidFill>
              <a:srgbClr val="4CC9F0"/>
            </a:solidFill>
            <a:prstDash val="solid"/>
          </a:ln>
        </p:spPr>
      </p:sp>
      <p:sp>
        <p:nvSpPr>
          <p:cNvPr id="6" name="Text 4"/>
          <p:cNvSpPr/>
          <p:nvPr/>
        </p:nvSpPr>
        <p:spPr>
          <a:xfrm>
            <a:off x="548640" y="804672"/>
            <a:ext cx="11155680" cy="12344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Last lesson we learned: faster objects have more kinetic energy. Today we INVESTIGATE this!</a:t>
            </a:r>
            <a:endParaRPr lang="en-US" sz="1500" dirty="0"/>
          </a:p>
        </p:txBody>
      </p:sp>
      <p:sp>
        <p:nvSpPr>
          <p:cNvPr id="7" name="Shape 5"/>
          <p:cNvSpPr/>
          <p:nvPr/>
        </p:nvSpPr>
        <p:spPr>
          <a:xfrm>
            <a:off x="365760" y="2286000"/>
            <a:ext cx="11430000" cy="2834640"/>
          </a:xfrm>
          <a:prstGeom prst="roundRect">
            <a:avLst>
              <a:gd name="adj" fmla="val 2581"/>
            </a:avLst>
          </a:prstGeom>
          <a:solidFill>
            <a:srgbClr val="1E2F45"/>
          </a:solidFill>
          <a:ln w="12700">
            <a:solidFill>
              <a:srgbClr val="FFB703"/>
            </a:solidFill>
            <a:prstDash val="solid"/>
          </a:ln>
        </p:spPr>
      </p:sp>
      <p:sp>
        <p:nvSpPr>
          <p:cNvPr id="8" name="Text 6"/>
          <p:cNvSpPr/>
          <p:nvPr/>
        </p:nvSpPr>
        <p:spPr>
          <a:xfrm>
            <a:off x="548640" y="2359152"/>
            <a:ext cx="1115568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Write Your Investigation Prediction:</a:t>
            </a:r>
            <a:endParaRPr lang="en-US" sz="1300" dirty="0"/>
          </a:p>
        </p:txBody>
      </p:sp>
      <p:sp>
        <p:nvSpPr>
          <p:cNvPr id="9" name="Text 7"/>
          <p:cNvSpPr/>
          <p:nvPr/>
        </p:nvSpPr>
        <p:spPr>
          <a:xfrm>
            <a:off x="548640" y="2743200"/>
            <a:ext cx="11155680" cy="219456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 predict that when I roll the marble from a HIGHER point on the ramp (faster speed), the cup will move ___ because ___."</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Circle: MORE / SAME / LESS</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Be specific — how much more or less?</a:t>
            </a:r>
            <a:endParaRPr lang="en-US" sz="1300" dirty="0"/>
          </a:p>
        </p:txBody>
      </p:sp>
      <p:sp>
        <p:nvSpPr>
          <p:cNvPr id="10" name="Shape 8"/>
          <p:cNvSpPr/>
          <p:nvPr/>
        </p:nvSpPr>
        <p:spPr>
          <a:xfrm>
            <a:off x="0" y="6629400"/>
            <a:ext cx="12192000" cy="228600"/>
          </a:xfrm>
          <a:prstGeom prst="rect">
            <a:avLst/>
          </a:prstGeom>
          <a:solidFill>
            <a:srgbClr val="162233"/>
          </a:solidFill>
          <a:ln/>
        </p:spPr>
      </p:sp>
      <p:sp>
        <p:nvSpPr>
          <p:cNvPr id="11" name="Text 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19-02  ·  Investigation: Faster = More Energy?</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Investigation Setup: Variables Review</a:t>
            </a:r>
            <a:endParaRPr lang="en-US" sz="1600" dirty="0"/>
          </a:p>
        </p:txBody>
      </p:sp>
      <p:sp>
        <p:nvSpPr>
          <p:cNvPr id="5" name="Shape 3"/>
          <p:cNvSpPr/>
          <p:nvPr/>
        </p:nvSpPr>
        <p:spPr>
          <a:xfrm>
            <a:off x="365760" y="749808"/>
            <a:ext cx="3749040" cy="5120640"/>
          </a:xfrm>
          <a:prstGeom prst="roundRect">
            <a:avLst>
              <a:gd name="adj" fmla="val 1951"/>
            </a:avLst>
          </a:prstGeom>
          <a:solidFill>
            <a:srgbClr val="1E2F45"/>
          </a:solidFill>
          <a:ln w="12700">
            <a:solidFill>
              <a:srgbClr val="4CC9F0"/>
            </a:solidFill>
            <a:prstDash val="solid"/>
          </a:ln>
        </p:spPr>
      </p:sp>
      <p:sp>
        <p:nvSpPr>
          <p:cNvPr id="6" name="Text 4"/>
          <p:cNvSpPr/>
          <p:nvPr/>
        </p:nvSpPr>
        <p:spPr>
          <a:xfrm>
            <a:off x="457200" y="822960"/>
            <a:ext cx="3566160" cy="868680"/>
          </a:xfrm>
          <a:prstGeom prst="rect">
            <a:avLst/>
          </a:prstGeom>
          <a:noFill/>
          <a:ln/>
        </p:spPr>
        <p:txBody>
          <a:bodyPr wrap="square" rtlCol="0" anchor="ctr"/>
          <a:lstStyle/>
          <a:p>
            <a:pPr algn="ctr" indent="0" marL="0">
              <a:buNone/>
            </a:pPr>
            <a:r>
              <a:rPr lang="en-US" sz="1200" b="1" dirty="0">
                <a:solidFill>
                  <a:srgbClr val="4CC9F0"/>
                </a:solidFill>
                <a:latin typeface="Calibri" pitchFamily="34" charset="0"/>
                <a:ea typeface="Calibri" pitchFamily="34" charset="-122"/>
                <a:cs typeface="Calibri" pitchFamily="34" charset="-120"/>
              </a:rPr>
              <a:t>INDEPENDENT</a:t>
            </a:r>
            <a:endParaRPr lang="en-US" sz="1200" dirty="0"/>
          </a:p>
          <a:p>
            <a:pPr algn="ctr" indent="0" marL="0">
              <a:buNone/>
            </a:pPr>
            <a:r>
              <a:rPr lang="en-US" sz="1200" b="1" dirty="0">
                <a:solidFill>
                  <a:srgbClr val="4CC9F0"/>
                </a:solidFill>
                <a:latin typeface="Calibri" pitchFamily="34" charset="0"/>
                <a:ea typeface="Calibri" pitchFamily="34" charset="-122"/>
                <a:cs typeface="Calibri" pitchFamily="34" charset="-120"/>
              </a:rPr>
              <a:t>Variable</a:t>
            </a:r>
            <a:endParaRPr lang="en-US" sz="1200" dirty="0"/>
          </a:p>
          <a:p>
            <a:pPr algn="ctr" indent="0" marL="0">
              <a:buNone/>
            </a:pPr>
            <a:r>
              <a:rPr lang="en-US" sz="1200" b="1" dirty="0">
                <a:solidFill>
                  <a:srgbClr val="4CC9F0"/>
                </a:solidFill>
                <a:latin typeface="Calibri" pitchFamily="34" charset="0"/>
                <a:ea typeface="Calibri" pitchFamily="34" charset="-122"/>
                <a:cs typeface="Calibri" pitchFamily="34" charset="-120"/>
              </a:rPr>
              <a:t>(what we change)</a:t>
            </a:r>
            <a:endParaRPr lang="en-US" sz="1200" dirty="0"/>
          </a:p>
        </p:txBody>
      </p:sp>
      <p:sp>
        <p:nvSpPr>
          <p:cNvPr id="7" name="Text 5"/>
          <p:cNvSpPr/>
          <p:nvPr/>
        </p:nvSpPr>
        <p:spPr>
          <a:xfrm>
            <a:off x="502920" y="1755648"/>
            <a:ext cx="3566160" cy="3931920"/>
          </a:xfrm>
          <a:prstGeom prst="rect">
            <a:avLst/>
          </a:prstGeom>
          <a:noFill/>
          <a:ln/>
        </p:spPr>
        <p:txBody>
          <a:bodyPr wrap="square"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Height of marble release</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on the ramp</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 different speeds)</a:t>
            </a:r>
            <a:endParaRPr lang="en-US" sz="1250" dirty="0"/>
          </a:p>
        </p:txBody>
      </p:sp>
      <p:sp>
        <p:nvSpPr>
          <p:cNvPr id="8" name="Shape 6"/>
          <p:cNvSpPr/>
          <p:nvPr/>
        </p:nvSpPr>
        <p:spPr>
          <a:xfrm>
            <a:off x="4297680" y="749808"/>
            <a:ext cx="3749040" cy="5120640"/>
          </a:xfrm>
          <a:prstGeom prst="roundRect">
            <a:avLst>
              <a:gd name="adj" fmla="val 1951"/>
            </a:avLst>
          </a:prstGeom>
          <a:solidFill>
            <a:srgbClr val="1E2F45"/>
          </a:solidFill>
          <a:ln w="12700">
            <a:solidFill>
              <a:srgbClr val="FFB703"/>
            </a:solidFill>
            <a:prstDash val="solid"/>
          </a:ln>
        </p:spPr>
      </p:sp>
      <p:sp>
        <p:nvSpPr>
          <p:cNvPr id="9" name="Text 7"/>
          <p:cNvSpPr/>
          <p:nvPr/>
        </p:nvSpPr>
        <p:spPr>
          <a:xfrm>
            <a:off x="4389120" y="822960"/>
            <a:ext cx="3566160" cy="868680"/>
          </a:xfrm>
          <a:prstGeom prst="rect">
            <a:avLst/>
          </a:prstGeom>
          <a:noFill/>
          <a:ln/>
        </p:spPr>
        <p:txBody>
          <a:bodyPr wrap="square" rtlCol="0" anchor="ctr"/>
          <a:lstStyle/>
          <a:p>
            <a:pPr algn="ctr" indent="0" marL="0">
              <a:buNone/>
            </a:pPr>
            <a:r>
              <a:rPr lang="en-US" sz="1200" b="1" dirty="0">
                <a:solidFill>
                  <a:srgbClr val="FFB703"/>
                </a:solidFill>
                <a:latin typeface="Calibri" pitchFamily="34" charset="0"/>
                <a:ea typeface="Calibri" pitchFamily="34" charset="-122"/>
                <a:cs typeface="Calibri" pitchFamily="34" charset="-120"/>
              </a:rPr>
              <a:t>DEPENDENT</a:t>
            </a:r>
            <a:endParaRPr lang="en-US" sz="1200" dirty="0"/>
          </a:p>
          <a:p>
            <a:pPr algn="ctr" indent="0" marL="0">
              <a:buNone/>
            </a:pPr>
            <a:r>
              <a:rPr lang="en-US" sz="1200" b="1" dirty="0">
                <a:solidFill>
                  <a:srgbClr val="FFB703"/>
                </a:solidFill>
                <a:latin typeface="Calibri" pitchFamily="34" charset="0"/>
                <a:ea typeface="Calibri" pitchFamily="34" charset="-122"/>
                <a:cs typeface="Calibri" pitchFamily="34" charset="-120"/>
              </a:rPr>
              <a:t>Variable</a:t>
            </a:r>
            <a:endParaRPr lang="en-US" sz="1200" dirty="0"/>
          </a:p>
          <a:p>
            <a:pPr algn="ctr" indent="0" marL="0">
              <a:buNone/>
            </a:pPr>
            <a:r>
              <a:rPr lang="en-US" sz="1200" b="1" dirty="0">
                <a:solidFill>
                  <a:srgbClr val="FFB703"/>
                </a:solidFill>
                <a:latin typeface="Calibri" pitchFamily="34" charset="0"/>
                <a:ea typeface="Calibri" pitchFamily="34" charset="-122"/>
                <a:cs typeface="Calibri" pitchFamily="34" charset="-120"/>
              </a:rPr>
              <a:t>(what we measure)</a:t>
            </a:r>
            <a:endParaRPr lang="en-US" sz="1200" dirty="0"/>
          </a:p>
        </p:txBody>
      </p:sp>
      <p:sp>
        <p:nvSpPr>
          <p:cNvPr id="10" name="Text 8"/>
          <p:cNvSpPr/>
          <p:nvPr/>
        </p:nvSpPr>
        <p:spPr>
          <a:xfrm>
            <a:off x="4434840" y="1755648"/>
            <a:ext cx="3566160" cy="3931920"/>
          </a:xfrm>
          <a:prstGeom prst="rect">
            <a:avLst/>
          </a:prstGeom>
          <a:noFill/>
          <a:ln/>
        </p:spPr>
        <p:txBody>
          <a:bodyPr wrap="square"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Distance the cup moves</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after the marble hits it</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(in centimeters)</a:t>
            </a:r>
            <a:endParaRPr lang="en-US" sz="1250" dirty="0"/>
          </a:p>
        </p:txBody>
      </p:sp>
      <p:sp>
        <p:nvSpPr>
          <p:cNvPr id="11" name="Shape 9"/>
          <p:cNvSpPr/>
          <p:nvPr/>
        </p:nvSpPr>
        <p:spPr>
          <a:xfrm>
            <a:off x="8229600" y="749808"/>
            <a:ext cx="3749040" cy="5120640"/>
          </a:xfrm>
          <a:prstGeom prst="roundRect">
            <a:avLst>
              <a:gd name="adj" fmla="val 1951"/>
            </a:avLst>
          </a:prstGeom>
          <a:solidFill>
            <a:srgbClr val="1E2F45"/>
          </a:solidFill>
          <a:ln w="12700">
            <a:solidFill>
              <a:srgbClr val="2DC653"/>
            </a:solidFill>
            <a:prstDash val="solid"/>
          </a:ln>
        </p:spPr>
      </p:sp>
      <p:sp>
        <p:nvSpPr>
          <p:cNvPr id="12" name="Text 10"/>
          <p:cNvSpPr/>
          <p:nvPr/>
        </p:nvSpPr>
        <p:spPr>
          <a:xfrm>
            <a:off x="8321040" y="822960"/>
            <a:ext cx="3566160" cy="868680"/>
          </a:xfrm>
          <a:prstGeom prst="rect">
            <a:avLst/>
          </a:prstGeom>
          <a:noFill/>
          <a:ln/>
        </p:spPr>
        <p:txBody>
          <a:bodyPr wrap="square" rtlCol="0" anchor="ctr"/>
          <a:lstStyle/>
          <a:p>
            <a:pPr algn="ctr" indent="0" marL="0">
              <a:buNone/>
            </a:pPr>
            <a:r>
              <a:rPr lang="en-US" sz="1200" b="1" dirty="0">
                <a:solidFill>
                  <a:srgbClr val="2DC653"/>
                </a:solidFill>
                <a:latin typeface="Calibri" pitchFamily="34" charset="0"/>
                <a:ea typeface="Calibri" pitchFamily="34" charset="-122"/>
                <a:cs typeface="Calibri" pitchFamily="34" charset="-120"/>
              </a:rPr>
              <a:t>CONTROLLED</a:t>
            </a:r>
            <a:endParaRPr lang="en-US" sz="1200" dirty="0"/>
          </a:p>
          <a:p>
            <a:pPr algn="ctr" indent="0" marL="0">
              <a:buNone/>
            </a:pPr>
            <a:r>
              <a:rPr lang="en-US" sz="1200" b="1" dirty="0">
                <a:solidFill>
                  <a:srgbClr val="2DC653"/>
                </a:solidFill>
                <a:latin typeface="Calibri" pitchFamily="34" charset="0"/>
                <a:ea typeface="Calibri" pitchFamily="34" charset="-122"/>
                <a:cs typeface="Calibri" pitchFamily="34" charset="-120"/>
              </a:rPr>
              <a:t>Variables</a:t>
            </a:r>
            <a:endParaRPr lang="en-US" sz="1200" dirty="0"/>
          </a:p>
          <a:p>
            <a:pPr algn="ctr" indent="0" marL="0">
              <a:buNone/>
            </a:pPr>
            <a:r>
              <a:rPr lang="en-US" sz="1200" b="1" dirty="0">
                <a:solidFill>
                  <a:srgbClr val="2DC653"/>
                </a:solidFill>
                <a:latin typeface="Calibri" pitchFamily="34" charset="0"/>
                <a:ea typeface="Calibri" pitchFamily="34" charset="-122"/>
                <a:cs typeface="Calibri" pitchFamily="34" charset="-120"/>
              </a:rPr>
              <a:t>(keep the same)</a:t>
            </a:r>
            <a:endParaRPr lang="en-US" sz="1200" dirty="0"/>
          </a:p>
        </p:txBody>
      </p:sp>
      <p:sp>
        <p:nvSpPr>
          <p:cNvPr id="13" name="Text 11"/>
          <p:cNvSpPr/>
          <p:nvPr/>
        </p:nvSpPr>
        <p:spPr>
          <a:xfrm>
            <a:off x="8366760" y="1755648"/>
            <a:ext cx="3566160" cy="3931920"/>
          </a:xfrm>
          <a:prstGeom prst="rect">
            <a:avLst/>
          </a:prstGeom>
          <a:noFill/>
          <a:ln/>
        </p:spPr>
        <p:txBody>
          <a:bodyPr wrap="square"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Same marble</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Same cup</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Same surface</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Same starting position of cup</a:t>
            </a:r>
            <a:endParaRPr lang="en-US" sz="1250" dirty="0"/>
          </a:p>
        </p:txBody>
      </p:sp>
      <p:sp>
        <p:nvSpPr>
          <p:cNvPr id="14" name="Shape 12"/>
          <p:cNvSpPr/>
          <p:nvPr/>
        </p:nvSpPr>
        <p:spPr>
          <a:xfrm>
            <a:off x="365760" y="6035040"/>
            <a:ext cx="11430000" cy="594360"/>
          </a:xfrm>
          <a:prstGeom prst="roundRect">
            <a:avLst>
              <a:gd name="adj" fmla="val 12308"/>
            </a:avLst>
          </a:prstGeom>
          <a:solidFill>
            <a:srgbClr val="1E2F45"/>
          </a:solidFill>
          <a:ln w="12700">
            <a:solidFill>
              <a:srgbClr val="F4736A"/>
            </a:solidFill>
            <a:prstDash val="solid"/>
          </a:ln>
        </p:spPr>
      </p:sp>
      <p:sp>
        <p:nvSpPr>
          <p:cNvPr id="15" name="Text 13"/>
          <p:cNvSpPr/>
          <p:nvPr/>
        </p:nvSpPr>
        <p:spPr>
          <a:xfrm>
            <a:off x="548640" y="6089904"/>
            <a:ext cx="11155680" cy="47548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MULTIPLE TRIALS: Run each height 3 times. Average your results. Why does this improve the quality of our data?</a:t>
            </a:r>
            <a:endParaRPr lang="en-US" sz="115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19-02  ·  Investigation: Faster = More Energy?</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Data Table: Record Your Results</a:t>
            </a:r>
            <a:endParaRPr lang="en-US" sz="1600" dirty="0"/>
          </a:p>
        </p:txBody>
      </p:sp>
      <p:sp>
        <p:nvSpPr>
          <p:cNvPr id="5" name="Shape 3"/>
          <p:cNvSpPr/>
          <p:nvPr/>
        </p:nvSpPr>
        <p:spPr>
          <a:xfrm>
            <a:off x="274320" y="749808"/>
            <a:ext cx="2286000" cy="475488"/>
          </a:xfrm>
          <a:prstGeom prst="roundRect">
            <a:avLst>
              <a:gd name="adj" fmla="val 15385"/>
            </a:avLst>
          </a:prstGeom>
          <a:solidFill>
            <a:srgbClr val="0096C7"/>
          </a:solidFill>
          <a:ln w="12700">
            <a:solidFill>
              <a:srgbClr val="4CC9F0"/>
            </a:solidFill>
            <a:prstDash val="solid"/>
          </a:ln>
        </p:spPr>
      </p:sp>
      <p:sp>
        <p:nvSpPr>
          <p:cNvPr id="6" name="Text 4"/>
          <p:cNvSpPr/>
          <p:nvPr/>
        </p:nvSpPr>
        <p:spPr>
          <a:xfrm>
            <a:off x="347472" y="777240"/>
            <a:ext cx="2139696" cy="42062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Release Height</a:t>
            </a:r>
            <a:endParaRPr lang="en-US" sz="1100" dirty="0"/>
          </a:p>
        </p:txBody>
      </p:sp>
      <p:sp>
        <p:nvSpPr>
          <p:cNvPr id="7" name="Shape 5"/>
          <p:cNvSpPr/>
          <p:nvPr/>
        </p:nvSpPr>
        <p:spPr>
          <a:xfrm>
            <a:off x="2651760" y="749808"/>
            <a:ext cx="2011680" cy="475488"/>
          </a:xfrm>
          <a:prstGeom prst="roundRect">
            <a:avLst>
              <a:gd name="adj" fmla="val 15385"/>
            </a:avLst>
          </a:prstGeom>
          <a:solidFill>
            <a:srgbClr val="0096C7"/>
          </a:solidFill>
          <a:ln w="12700">
            <a:solidFill>
              <a:srgbClr val="4CC9F0"/>
            </a:solidFill>
            <a:prstDash val="solid"/>
          </a:ln>
        </p:spPr>
      </p:sp>
      <p:sp>
        <p:nvSpPr>
          <p:cNvPr id="8" name="Text 6"/>
          <p:cNvSpPr/>
          <p:nvPr/>
        </p:nvSpPr>
        <p:spPr>
          <a:xfrm>
            <a:off x="2724912" y="777240"/>
            <a:ext cx="1865376" cy="42062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Trial 1 (cm)</a:t>
            </a:r>
            <a:endParaRPr lang="en-US" sz="1100" dirty="0"/>
          </a:p>
        </p:txBody>
      </p:sp>
      <p:sp>
        <p:nvSpPr>
          <p:cNvPr id="9" name="Shape 7"/>
          <p:cNvSpPr/>
          <p:nvPr/>
        </p:nvSpPr>
        <p:spPr>
          <a:xfrm>
            <a:off x="4754880" y="749808"/>
            <a:ext cx="2011680" cy="475488"/>
          </a:xfrm>
          <a:prstGeom prst="roundRect">
            <a:avLst>
              <a:gd name="adj" fmla="val 15385"/>
            </a:avLst>
          </a:prstGeom>
          <a:solidFill>
            <a:srgbClr val="0096C7"/>
          </a:solidFill>
          <a:ln w="12700">
            <a:solidFill>
              <a:srgbClr val="4CC9F0"/>
            </a:solidFill>
            <a:prstDash val="solid"/>
          </a:ln>
        </p:spPr>
      </p:sp>
      <p:sp>
        <p:nvSpPr>
          <p:cNvPr id="10" name="Text 8"/>
          <p:cNvSpPr/>
          <p:nvPr/>
        </p:nvSpPr>
        <p:spPr>
          <a:xfrm>
            <a:off x="4828032" y="777240"/>
            <a:ext cx="1865376" cy="42062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Trial 2 (cm)</a:t>
            </a:r>
            <a:endParaRPr lang="en-US" sz="1100" dirty="0"/>
          </a:p>
        </p:txBody>
      </p:sp>
      <p:sp>
        <p:nvSpPr>
          <p:cNvPr id="11" name="Shape 9"/>
          <p:cNvSpPr/>
          <p:nvPr/>
        </p:nvSpPr>
        <p:spPr>
          <a:xfrm>
            <a:off x="6858000" y="749808"/>
            <a:ext cx="2011680" cy="475488"/>
          </a:xfrm>
          <a:prstGeom prst="roundRect">
            <a:avLst>
              <a:gd name="adj" fmla="val 15385"/>
            </a:avLst>
          </a:prstGeom>
          <a:solidFill>
            <a:srgbClr val="0096C7"/>
          </a:solidFill>
          <a:ln w="12700">
            <a:solidFill>
              <a:srgbClr val="4CC9F0"/>
            </a:solidFill>
            <a:prstDash val="solid"/>
          </a:ln>
        </p:spPr>
      </p:sp>
      <p:sp>
        <p:nvSpPr>
          <p:cNvPr id="12" name="Text 10"/>
          <p:cNvSpPr/>
          <p:nvPr/>
        </p:nvSpPr>
        <p:spPr>
          <a:xfrm>
            <a:off x="6931152" y="777240"/>
            <a:ext cx="1865376" cy="42062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Trial 3 (cm)</a:t>
            </a:r>
            <a:endParaRPr lang="en-US" sz="1100" dirty="0"/>
          </a:p>
        </p:txBody>
      </p:sp>
      <p:sp>
        <p:nvSpPr>
          <p:cNvPr id="13" name="Shape 11"/>
          <p:cNvSpPr/>
          <p:nvPr/>
        </p:nvSpPr>
        <p:spPr>
          <a:xfrm>
            <a:off x="8961120" y="749808"/>
            <a:ext cx="2286000" cy="475488"/>
          </a:xfrm>
          <a:prstGeom prst="roundRect">
            <a:avLst>
              <a:gd name="adj" fmla="val 15385"/>
            </a:avLst>
          </a:prstGeom>
          <a:solidFill>
            <a:srgbClr val="0096C7"/>
          </a:solidFill>
          <a:ln w="12700">
            <a:solidFill>
              <a:srgbClr val="4CC9F0"/>
            </a:solidFill>
            <a:prstDash val="solid"/>
          </a:ln>
        </p:spPr>
      </p:sp>
      <p:sp>
        <p:nvSpPr>
          <p:cNvPr id="14" name="Text 12"/>
          <p:cNvSpPr/>
          <p:nvPr/>
        </p:nvSpPr>
        <p:spPr>
          <a:xfrm>
            <a:off x="9034272" y="777240"/>
            <a:ext cx="2139696" cy="42062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AVERAGE (cm)</a:t>
            </a:r>
            <a:endParaRPr lang="en-US" sz="1100" dirty="0"/>
          </a:p>
        </p:txBody>
      </p:sp>
      <p:sp>
        <p:nvSpPr>
          <p:cNvPr id="15" name="Shape 13"/>
          <p:cNvSpPr/>
          <p:nvPr/>
        </p:nvSpPr>
        <p:spPr>
          <a:xfrm>
            <a:off x="274320" y="1298448"/>
            <a:ext cx="2286000" cy="1005840"/>
          </a:xfrm>
          <a:prstGeom prst="roundRect">
            <a:avLst>
              <a:gd name="adj" fmla="val 7273"/>
            </a:avLst>
          </a:prstGeom>
          <a:solidFill>
            <a:srgbClr val="1E2F45"/>
          </a:solidFill>
          <a:ln w="12700">
            <a:solidFill>
              <a:srgbClr val="243A52"/>
            </a:solidFill>
            <a:prstDash val="solid"/>
          </a:ln>
        </p:spPr>
      </p:sp>
      <p:sp>
        <p:nvSpPr>
          <p:cNvPr id="16" name="Text 14"/>
          <p:cNvSpPr/>
          <p:nvPr/>
        </p:nvSpPr>
        <p:spPr>
          <a:xfrm>
            <a:off x="347472" y="1371600"/>
            <a:ext cx="2139696" cy="822960"/>
          </a:xfrm>
          <a:prstGeom prst="rect">
            <a:avLst/>
          </a:prstGeom>
          <a:noFill/>
          <a:ln/>
        </p:spPr>
        <p:txBody>
          <a:bodyPr wrap="square" rtlCol="0" anchor="ctr"/>
          <a:lstStyle/>
          <a:p>
            <a:pPr algn="l" indent="0" marL="0">
              <a:buNone/>
            </a:pPr>
            <a:r>
              <a:rPr lang="en-US" sz="1150" dirty="0">
                <a:solidFill>
                  <a:srgbClr val="4CC9F0"/>
                </a:solidFill>
                <a:latin typeface="Calibri" pitchFamily="34" charset="0"/>
                <a:ea typeface="Calibri" pitchFamily="34" charset="-122"/>
                <a:cs typeface="Calibri" pitchFamily="34" charset="-120"/>
              </a:rPr>
              <a:t>Low (5 cm)</a:t>
            </a:r>
            <a:endParaRPr lang="en-US" sz="1150" dirty="0"/>
          </a:p>
        </p:txBody>
      </p:sp>
      <p:sp>
        <p:nvSpPr>
          <p:cNvPr id="17" name="Shape 15"/>
          <p:cNvSpPr/>
          <p:nvPr/>
        </p:nvSpPr>
        <p:spPr>
          <a:xfrm>
            <a:off x="2651760" y="1298448"/>
            <a:ext cx="2011680" cy="1005840"/>
          </a:xfrm>
          <a:prstGeom prst="roundRect">
            <a:avLst>
              <a:gd name="adj" fmla="val 7273"/>
            </a:avLst>
          </a:prstGeom>
          <a:solidFill>
            <a:srgbClr val="0A1520"/>
          </a:solidFill>
          <a:ln w="12700">
            <a:solidFill>
              <a:srgbClr val="243A52"/>
            </a:solidFill>
            <a:prstDash val="solid"/>
          </a:ln>
        </p:spPr>
      </p:sp>
      <p:sp>
        <p:nvSpPr>
          <p:cNvPr id="18" name="Text 16"/>
          <p:cNvSpPr/>
          <p:nvPr/>
        </p:nvSpPr>
        <p:spPr>
          <a:xfrm>
            <a:off x="2724912" y="1371600"/>
            <a:ext cx="1865376" cy="822960"/>
          </a:xfrm>
          <a:prstGeom prst="rect">
            <a:avLst/>
          </a:prstGeom>
          <a:noFill/>
          <a:ln/>
        </p:spPr>
        <p:txBody>
          <a:bodyPr wrap="square" rtlCol="0" anchor="ctr"/>
          <a:lstStyle/>
          <a:p>
            <a:pPr algn="ctr" indent="0" marL="0">
              <a:buNone/>
            </a:pPr>
            <a:endParaRPr lang="en-US" sz="1150" dirty="0"/>
          </a:p>
        </p:txBody>
      </p:sp>
      <p:sp>
        <p:nvSpPr>
          <p:cNvPr id="19" name="Shape 17"/>
          <p:cNvSpPr/>
          <p:nvPr/>
        </p:nvSpPr>
        <p:spPr>
          <a:xfrm>
            <a:off x="4754880" y="1298448"/>
            <a:ext cx="2011680" cy="1005840"/>
          </a:xfrm>
          <a:prstGeom prst="roundRect">
            <a:avLst>
              <a:gd name="adj" fmla="val 7273"/>
            </a:avLst>
          </a:prstGeom>
          <a:solidFill>
            <a:srgbClr val="0A1520"/>
          </a:solidFill>
          <a:ln w="12700">
            <a:solidFill>
              <a:srgbClr val="243A52"/>
            </a:solidFill>
            <a:prstDash val="solid"/>
          </a:ln>
        </p:spPr>
      </p:sp>
      <p:sp>
        <p:nvSpPr>
          <p:cNvPr id="20" name="Text 18"/>
          <p:cNvSpPr/>
          <p:nvPr/>
        </p:nvSpPr>
        <p:spPr>
          <a:xfrm>
            <a:off x="4828032" y="1371600"/>
            <a:ext cx="1865376" cy="822960"/>
          </a:xfrm>
          <a:prstGeom prst="rect">
            <a:avLst/>
          </a:prstGeom>
          <a:noFill/>
          <a:ln/>
        </p:spPr>
        <p:txBody>
          <a:bodyPr wrap="square" rtlCol="0" anchor="ctr"/>
          <a:lstStyle/>
          <a:p>
            <a:pPr algn="ctr" indent="0" marL="0">
              <a:buNone/>
            </a:pPr>
            <a:endParaRPr lang="en-US" sz="1150" dirty="0"/>
          </a:p>
        </p:txBody>
      </p:sp>
      <p:sp>
        <p:nvSpPr>
          <p:cNvPr id="21" name="Shape 19"/>
          <p:cNvSpPr/>
          <p:nvPr/>
        </p:nvSpPr>
        <p:spPr>
          <a:xfrm>
            <a:off x="6858000" y="1298448"/>
            <a:ext cx="2011680" cy="1005840"/>
          </a:xfrm>
          <a:prstGeom prst="roundRect">
            <a:avLst>
              <a:gd name="adj" fmla="val 7273"/>
            </a:avLst>
          </a:prstGeom>
          <a:solidFill>
            <a:srgbClr val="0A1520"/>
          </a:solidFill>
          <a:ln w="12700">
            <a:solidFill>
              <a:srgbClr val="243A52"/>
            </a:solidFill>
            <a:prstDash val="solid"/>
          </a:ln>
        </p:spPr>
      </p:sp>
      <p:sp>
        <p:nvSpPr>
          <p:cNvPr id="22" name="Text 20"/>
          <p:cNvSpPr/>
          <p:nvPr/>
        </p:nvSpPr>
        <p:spPr>
          <a:xfrm>
            <a:off x="6931152" y="1371600"/>
            <a:ext cx="1865376" cy="822960"/>
          </a:xfrm>
          <a:prstGeom prst="rect">
            <a:avLst/>
          </a:prstGeom>
          <a:noFill/>
          <a:ln/>
        </p:spPr>
        <p:txBody>
          <a:bodyPr wrap="square" rtlCol="0" anchor="ctr"/>
          <a:lstStyle/>
          <a:p>
            <a:pPr algn="ctr" indent="0" marL="0">
              <a:buNone/>
            </a:pPr>
            <a:endParaRPr lang="en-US" sz="1150" dirty="0"/>
          </a:p>
        </p:txBody>
      </p:sp>
      <p:sp>
        <p:nvSpPr>
          <p:cNvPr id="23" name="Shape 21"/>
          <p:cNvSpPr/>
          <p:nvPr/>
        </p:nvSpPr>
        <p:spPr>
          <a:xfrm>
            <a:off x="8961120" y="1298448"/>
            <a:ext cx="2286000" cy="1005840"/>
          </a:xfrm>
          <a:prstGeom prst="roundRect">
            <a:avLst>
              <a:gd name="adj" fmla="val 7273"/>
            </a:avLst>
          </a:prstGeom>
          <a:solidFill>
            <a:srgbClr val="0A1520"/>
          </a:solidFill>
          <a:ln w="12700">
            <a:solidFill>
              <a:srgbClr val="243A52"/>
            </a:solidFill>
            <a:prstDash val="solid"/>
          </a:ln>
        </p:spPr>
      </p:sp>
      <p:sp>
        <p:nvSpPr>
          <p:cNvPr id="24" name="Text 22"/>
          <p:cNvSpPr/>
          <p:nvPr/>
        </p:nvSpPr>
        <p:spPr>
          <a:xfrm>
            <a:off x="9034272" y="1371600"/>
            <a:ext cx="2139696" cy="822960"/>
          </a:xfrm>
          <a:prstGeom prst="rect">
            <a:avLst/>
          </a:prstGeom>
          <a:noFill/>
          <a:ln/>
        </p:spPr>
        <p:txBody>
          <a:bodyPr wrap="square" rtlCol="0" anchor="ctr"/>
          <a:lstStyle/>
          <a:p>
            <a:pPr algn="ctr" indent="0" marL="0">
              <a:buNone/>
            </a:pPr>
            <a:endParaRPr lang="en-US" sz="1150" dirty="0"/>
          </a:p>
        </p:txBody>
      </p:sp>
      <p:sp>
        <p:nvSpPr>
          <p:cNvPr id="25" name="Shape 23"/>
          <p:cNvSpPr/>
          <p:nvPr/>
        </p:nvSpPr>
        <p:spPr>
          <a:xfrm>
            <a:off x="274320" y="2395728"/>
            <a:ext cx="2286000" cy="1005840"/>
          </a:xfrm>
          <a:prstGeom prst="roundRect">
            <a:avLst>
              <a:gd name="adj" fmla="val 7273"/>
            </a:avLst>
          </a:prstGeom>
          <a:solidFill>
            <a:srgbClr val="1E2F45"/>
          </a:solidFill>
          <a:ln w="12700">
            <a:solidFill>
              <a:srgbClr val="243A52"/>
            </a:solidFill>
            <a:prstDash val="solid"/>
          </a:ln>
        </p:spPr>
      </p:sp>
      <p:sp>
        <p:nvSpPr>
          <p:cNvPr id="26" name="Text 24"/>
          <p:cNvSpPr/>
          <p:nvPr/>
        </p:nvSpPr>
        <p:spPr>
          <a:xfrm>
            <a:off x="347472" y="2468880"/>
            <a:ext cx="2139696" cy="822960"/>
          </a:xfrm>
          <a:prstGeom prst="rect">
            <a:avLst/>
          </a:prstGeom>
          <a:noFill/>
          <a:ln/>
        </p:spPr>
        <p:txBody>
          <a:bodyPr wrap="square" rtlCol="0" anchor="ctr"/>
          <a:lstStyle/>
          <a:p>
            <a:pPr algn="l" indent="0" marL="0">
              <a:buNone/>
            </a:pPr>
            <a:r>
              <a:rPr lang="en-US" sz="1150" dirty="0">
                <a:solidFill>
                  <a:srgbClr val="4CC9F0"/>
                </a:solidFill>
                <a:latin typeface="Calibri" pitchFamily="34" charset="0"/>
                <a:ea typeface="Calibri" pitchFamily="34" charset="-122"/>
                <a:cs typeface="Calibri" pitchFamily="34" charset="-120"/>
              </a:rPr>
              <a:t>Medium (10 cm)</a:t>
            </a:r>
            <a:endParaRPr lang="en-US" sz="1150" dirty="0"/>
          </a:p>
        </p:txBody>
      </p:sp>
      <p:sp>
        <p:nvSpPr>
          <p:cNvPr id="27" name="Shape 25"/>
          <p:cNvSpPr/>
          <p:nvPr/>
        </p:nvSpPr>
        <p:spPr>
          <a:xfrm>
            <a:off x="2651760" y="2395728"/>
            <a:ext cx="2011680" cy="1005840"/>
          </a:xfrm>
          <a:prstGeom prst="roundRect">
            <a:avLst>
              <a:gd name="adj" fmla="val 7273"/>
            </a:avLst>
          </a:prstGeom>
          <a:solidFill>
            <a:srgbClr val="0A1520"/>
          </a:solidFill>
          <a:ln w="12700">
            <a:solidFill>
              <a:srgbClr val="243A52"/>
            </a:solidFill>
            <a:prstDash val="solid"/>
          </a:ln>
        </p:spPr>
      </p:sp>
      <p:sp>
        <p:nvSpPr>
          <p:cNvPr id="28" name="Text 26"/>
          <p:cNvSpPr/>
          <p:nvPr/>
        </p:nvSpPr>
        <p:spPr>
          <a:xfrm>
            <a:off x="2724912" y="2468880"/>
            <a:ext cx="1865376" cy="822960"/>
          </a:xfrm>
          <a:prstGeom prst="rect">
            <a:avLst/>
          </a:prstGeom>
          <a:noFill/>
          <a:ln/>
        </p:spPr>
        <p:txBody>
          <a:bodyPr wrap="square" rtlCol="0" anchor="ctr"/>
          <a:lstStyle/>
          <a:p>
            <a:pPr algn="ctr" indent="0" marL="0">
              <a:buNone/>
            </a:pPr>
            <a:endParaRPr lang="en-US" sz="1150" dirty="0"/>
          </a:p>
        </p:txBody>
      </p:sp>
      <p:sp>
        <p:nvSpPr>
          <p:cNvPr id="29" name="Shape 27"/>
          <p:cNvSpPr/>
          <p:nvPr/>
        </p:nvSpPr>
        <p:spPr>
          <a:xfrm>
            <a:off x="4754880" y="2395728"/>
            <a:ext cx="2011680" cy="1005840"/>
          </a:xfrm>
          <a:prstGeom prst="roundRect">
            <a:avLst>
              <a:gd name="adj" fmla="val 7273"/>
            </a:avLst>
          </a:prstGeom>
          <a:solidFill>
            <a:srgbClr val="0A1520"/>
          </a:solidFill>
          <a:ln w="12700">
            <a:solidFill>
              <a:srgbClr val="243A52"/>
            </a:solidFill>
            <a:prstDash val="solid"/>
          </a:ln>
        </p:spPr>
      </p:sp>
      <p:sp>
        <p:nvSpPr>
          <p:cNvPr id="30" name="Text 28"/>
          <p:cNvSpPr/>
          <p:nvPr/>
        </p:nvSpPr>
        <p:spPr>
          <a:xfrm>
            <a:off x="4828032" y="2468880"/>
            <a:ext cx="1865376" cy="822960"/>
          </a:xfrm>
          <a:prstGeom prst="rect">
            <a:avLst/>
          </a:prstGeom>
          <a:noFill/>
          <a:ln/>
        </p:spPr>
        <p:txBody>
          <a:bodyPr wrap="square" rtlCol="0" anchor="ctr"/>
          <a:lstStyle/>
          <a:p>
            <a:pPr algn="ctr" indent="0" marL="0">
              <a:buNone/>
            </a:pPr>
            <a:endParaRPr lang="en-US" sz="1150" dirty="0"/>
          </a:p>
        </p:txBody>
      </p:sp>
      <p:sp>
        <p:nvSpPr>
          <p:cNvPr id="31" name="Shape 29"/>
          <p:cNvSpPr/>
          <p:nvPr/>
        </p:nvSpPr>
        <p:spPr>
          <a:xfrm>
            <a:off x="6858000" y="2395728"/>
            <a:ext cx="2011680" cy="1005840"/>
          </a:xfrm>
          <a:prstGeom prst="roundRect">
            <a:avLst>
              <a:gd name="adj" fmla="val 7273"/>
            </a:avLst>
          </a:prstGeom>
          <a:solidFill>
            <a:srgbClr val="0A1520"/>
          </a:solidFill>
          <a:ln w="12700">
            <a:solidFill>
              <a:srgbClr val="243A52"/>
            </a:solidFill>
            <a:prstDash val="solid"/>
          </a:ln>
        </p:spPr>
      </p:sp>
      <p:sp>
        <p:nvSpPr>
          <p:cNvPr id="32" name="Text 30"/>
          <p:cNvSpPr/>
          <p:nvPr/>
        </p:nvSpPr>
        <p:spPr>
          <a:xfrm>
            <a:off x="6931152" y="2468880"/>
            <a:ext cx="1865376" cy="822960"/>
          </a:xfrm>
          <a:prstGeom prst="rect">
            <a:avLst/>
          </a:prstGeom>
          <a:noFill/>
          <a:ln/>
        </p:spPr>
        <p:txBody>
          <a:bodyPr wrap="square" rtlCol="0" anchor="ctr"/>
          <a:lstStyle/>
          <a:p>
            <a:pPr algn="ctr" indent="0" marL="0">
              <a:buNone/>
            </a:pPr>
            <a:endParaRPr lang="en-US" sz="1150" dirty="0"/>
          </a:p>
        </p:txBody>
      </p:sp>
      <p:sp>
        <p:nvSpPr>
          <p:cNvPr id="33" name="Shape 31"/>
          <p:cNvSpPr/>
          <p:nvPr/>
        </p:nvSpPr>
        <p:spPr>
          <a:xfrm>
            <a:off x="8961120" y="2395728"/>
            <a:ext cx="2286000" cy="1005840"/>
          </a:xfrm>
          <a:prstGeom prst="roundRect">
            <a:avLst>
              <a:gd name="adj" fmla="val 7273"/>
            </a:avLst>
          </a:prstGeom>
          <a:solidFill>
            <a:srgbClr val="0A1520"/>
          </a:solidFill>
          <a:ln w="12700">
            <a:solidFill>
              <a:srgbClr val="243A52"/>
            </a:solidFill>
            <a:prstDash val="solid"/>
          </a:ln>
        </p:spPr>
      </p:sp>
      <p:sp>
        <p:nvSpPr>
          <p:cNvPr id="34" name="Text 32"/>
          <p:cNvSpPr/>
          <p:nvPr/>
        </p:nvSpPr>
        <p:spPr>
          <a:xfrm>
            <a:off x="9034272" y="2468880"/>
            <a:ext cx="2139696" cy="822960"/>
          </a:xfrm>
          <a:prstGeom prst="rect">
            <a:avLst/>
          </a:prstGeom>
          <a:noFill/>
          <a:ln/>
        </p:spPr>
        <p:txBody>
          <a:bodyPr wrap="square" rtlCol="0" anchor="ctr"/>
          <a:lstStyle/>
          <a:p>
            <a:pPr algn="ctr" indent="0" marL="0">
              <a:buNone/>
            </a:pPr>
            <a:endParaRPr lang="en-US" sz="1150" dirty="0"/>
          </a:p>
        </p:txBody>
      </p:sp>
      <p:sp>
        <p:nvSpPr>
          <p:cNvPr id="35" name="Shape 33"/>
          <p:cNvSpPr/>
          <p:nvPr/>
        </p:nvSpPr>
        <p:spPr>
          <a:xfrm>
            <a:off x="274320" y="3493008"/>
            <a:ext cx="2286000" cy="1005840"/>
          </a:xfrm>
          <a:prstGeom prst="roundRect">
            <a:avLst>
              <a:gd name="adj" fmla="val 7273"/>
            </a:avLst>
          </a:prstGeom>
          <a:solidFill>
            <a:srgbClr val="1E2F45"/>
          </a:solidFill>
          <a:ln w="12700">
            <a:solidFill>
              <a:srgbClr val="243A52"/>
            </a:solidFill>
            <a:prstDash val="solid"/>
          </a:ln>
        </p:spPr>
      </p:sp>
      <p:sp>
        <p:nvSpPr>
          <p:cNvPr id="36" name="Text 34"/>
          <p:cNvSpPr/>
          <p:nvPr/>
        </p:nvSpPr>
        <p:spPr>
          <a:xfrm>
            <a:off x="347472" y="3566160"/>
            <a:ext cx="2139696" cy="822960"/>
          </a:xfrm>
          <a:prstGeom prst="rect">
            <a:avLst/>
          </a:prstGeom>
          <a:noFill/>
          <a:ln/>
        </p:spPr>
        <p:txBody>
          <a:bodyPr wrap="square" rtlCol="0" anchor="ctr"/>
          <a:lstStyle/>
          <a:p>
            <a:pPr algn="l" indent="0" marL="0">
              <a:buNone/>
            </a:pPr>
            <a:r>
              <a:rPr lang="en-US" sz="1150" dirty="0">
                <a:solidFill>
                  <a:srgbClr val="4CC9F0"/>
                </a:solidFill>
                <a:latin typeface="Calibri" pitchFamily="34" charset="0"/>
                <a:ea typeface="Calibri" pitchFamily="34" charset="-122"/>
                <a:cs typeface="Calibri" pitchFamily="34" charset="-120"/>
              </a:rPr>
              <a:t>High (20 cm)</a:t>
            </a:r>
            <a:endParaRPr lang="en-US" sz="1150" dirty="0"/>
          </a:p>
        </p:txBody>
      </p:sp>
      <p:sp>
        <p:nvSpPr>
          <p:cNvPr id="37" name="Shape 35"/>
          <p:cNvSpPr/>
          <p:nvPr/>
        </p:nvSpPr>
        <p:spPr>
          <a:xfrm>
            <a:off x="2651760" y="3493008"/>
            <a:ext cx="2011680" cy="1005840"/>
          </a:xfrm>
          <a:prstGeom prst="roundRect">
            <a:avLst>
              <a:gd name="adj" fmla="val 7273"/>
            </a:avLst>
          </a:prstGeom>
          <a:solidFill>
            <a:srgbClr val="0A1520"/>
          </a:solidFill>
          <a:ln w="12700">
            <a:solidFill>
              <a:srgbClr val="243A52"/>
            </a:solidFill>
            <a:prstDash val="solid"/>
          </a:ln>
        </p:spPr>
      </p:sp>
      <p:sp>
        <p:nvSpPr>
          <p:cNvPr id="38" name="Text 36"/>
          <p:cNvSpPr/>
          <p:nvPr/>
        </p:nvSpPr>
        <p:spPr>
          <a:xfrm>
            <a:off x="2724912" y="3566160"/>
            <a:ext cx="1865376" cy="822960"/>
          </a:xfrm>
          <a:prstGeom prst="rect">
            <a:avLst/>
          </a:prstGeom>
          <a:noFill/>
          <a:ln/>
        </p:spPr>
        <p:txBody>
          <a:bodyPr wrap="square" rtlCol="0" anchor="ctr"/>
          <a:lstStyle/>
          <a:p>
            <a:pPr algn="ctr" indent="0" marL="0">
              <a:buNone/>
            </a:pPr>
            <a:endParaRPr lang="en-US" sz="1150" dirty="0"/>
          </a:p>
        </p:txBody>
      </p:sp>
      <p:sp>
        <p:nvSpPr>
          <p:cNvPr id="39" name="Shape 37"/>
          <p:cNvSpPr/>
          <p:nvPr/>
        </p:nvSpPr>
        <p:spPr>
          <a:xfrm>
            <a:off x="4754880" y="3493008"/>
            <a:ext cx="2011680" cy="1005840"/>
          </a:xfrm>
          <a:prstGeom prst="roundRect">
            <a:avLst>
              <a:gd name="adj" fmla="val 7273"/>
            </a:avLst>
          </a:prstGeom>
          <a:solidFill>
            <a:srgbClr val="0A1520"/>
          </a:solidFill>
          <a:ln w="12700">
            <a:solidFill>
              <a:srgbClr val="243A52"/>
            </a:solidFill>
            <a:prstDash val="solid"/>
          </a:ln>
        </p:spPr>
      </p:sp>
      <p:sp>
        <p:nvSpPr>
          <p:cNvPr id="40" name="Text 38"/>
          <p:cNvSpPr/>
          <p:nvPr/>
        </p:nvSpPr>
        <p:spPr>
          <a:xfrm>
            <a:off x="4828032" y="3566160"/>
            <a:ext cx="1865376" cy="822960"/>
          </a:xfrm>
          <a:prstGeom prst="rect">
            <a:avLst/>
          </a:prstGeom>
          <a:noFill/>
          <a:ln/>
        </p:spPr>
        <p:txBody>
          <a:bodyPr wrap="square" rtlCol="0" anchor="ctr"/>
          <a:lstStyle/>
          <a:p>
            <a:pPr algn="ctr" indent="0" marL="0">
              <a:buNone/>
            </a:pPr>
            <a:endParaRPr lang="en-US" sz="1150" dirty="0"/>
          </a:p>
        </p:txBody>
      </p:sp>
      <p:sp>
        <p:nvSpPr>
          <p:cNvPr id="41" name="Shape 39"/>
          <p:cNvSpPr/>
          <p:nvPr/>
        </p:nvSpPr>
        <p:spPr>
          <a:xfrm>
            <a:off x="6858000" y="3493008"/>
            <a:ext cx="2011680" cy="1005840"/>
          </a:xfrm>
          <a:prstGeom prst="roundRect">
            <a:avLst>
              <a:gd name="adj" fmla="val 7273"/>
            </a:avLst>
          </a:prstGeom>
          <a:solidFill>
            <a:srgbClr val="0A1520"/>
          </a:solidFill>
          <a:ln w="12700">
            <a:solidFill>
              <a:srgbClr val="243A52"/>
            </a:solidFill>
            <a:prstDash val="solid"/>
          </a:ln>
        </p:spPr>
      </p:sp>
      <p:sp>
        <p:nvSpPr>
          <p:cNvPr id="42" name="Text 40"/>
          <p:cNvSpPr/>
          <p:nvPr/>
        </p:nvSpPr>
        <p:spPr>
          <a:xfrm>
            <a:off x="6931152" y="3566160"/>
            <a:ext cx="1865376" cy="822960"/>
          </a:xfrm>
          <a:prstGeom prst="rect">
            <a:avLst/>
          </a:prstGeom>
          <a:noFill/>
          <a:ln/>
        </p:spPr>
        <p:txBody>
          <a:bodyPr wrap="square" rtlCol="0" anchor="ctr"/>
          <a:lstStyle/>
          <a:p>
            <a:pPr algn="ctr" indent="0" marL="0">
              <a:buNone/>
            </a:pPr>
            <a:endParaRPr lang="en-US" sz="1150" dirty="0"/>
          </a:p>
        </p:txBody>
      </p:sp>
      <p:sp>
        <p:nvSpPr>
          <p:cNvPr id="43" name="Shape 41"/>
          <p:cNvSpPr/>
          <p:nvPr/>
        </p:nvSpPr>
        <p:spPr>
          <a:xfrm>
            <a:off x="8961120" y="3493008"/>
            <a:ext cx="2286000" cy="1005840"/>
          </a:xfrm>
          <a:prstGeom prst="roundRect">
            <a:avLst>
              <a:gd name="adj" fmla="val 7273"/>
            </a:avLst>
          </a:prstGeom>
          <a:solidFill>
            <a:srgbClr val="0A1520"/>
          </a:solidFill>
          <a:ln w="12700">
            <a:solidFill>
              <a:srgbClr val="243A52"/>
            </a:solidFill>
            <a:prstDash val="solid"/>
          </a:ln>
        </p:spPr>
      </p:sp>
      <p:sp>
        <p:nvSpPr>
          <p:cNvPr id="44" name="Text 42"/>
          <p:cNvSpPr/>
          <p:nvPr/>
        </p:nvSpPr>
        <p:spPr>
          <a:xfrm>
            <a:off x="9034272" y="3566160"/>
            <a:ext cx="2139696" cy="822960"/>
          </a:xfrm>
          <a:prstGeom prst="rect">
            <a:avLst/>
          </a:prstGeom>
          <a:noFill/>
          <a:ln/>
        </p:spPr>
        <p:txBody>
          <a:bodyPr wrap="square" rtlCol="0" anchor="ctr"/>
          <a:lstStyle/>
          <a:p>
            <a:pPr algn="ctr" indent="0" marL="0">
              <a:buNone/>
            </a:pPr>
            <a:endParaRPr lang="en-US" sz="1150" dirty="0"/>
          </a:p>
        </p:txBody>
      </p:sp>
      <p:sp>
        <p:nvSpPr>
          <p:cNvPr id="45" name="Shape 43"/>
          <p:cNvSpPr/>
          <p:nvPr/>
        </p:nvSpPr>
        <p:spPr>
          <a:xfrm>
            <a:off x="274320" y="4590288"/>
            <a:ext cx="2286000" cy="1005840"/>
          </a:xfrm>
          <a:prstGeom prst="roundRect">
            <a:avLst>
              <a:gd name="adj" fmla="val 7273"/>
            </a:avLst>
          </a:prstGeom>
          <a:solidFill>
            <a:srgbClr val="1E2F45"/>
          </a:solidFill>
          <a:ln w="12700">
            <a:solidFill>
              <a:srgbClr val="243A52"/>
            </a:solidFill>
            <a:prstDash val="solid"/>
          </a:ln>
        </p:spPr>
      </p:sp>
      <p:sp>
        <p:nvSpPr>
          <p:cNvPr id="46" name="Text 44"/>
          <p:cNvSpPr/>
          <p:nvPr/>
        </p:nvSpPr>
        <p:spPr>
          <a:xfrm>
            <a:off x="347472" y="4663440"/>
            <a:ext cx="2139696" cy="822960"/>
          </a:xfrm>
          <a:prstGeom prst="rect">
            <a:avLst/>
          </a:prstGeom>
          <a:noFill/>
          <a:ln/>
        </p:spPr>
        <p:txBody>
          <a:bodyPr wrap="square" rtlCol="0" anchor="ctr"/>
          <a:lstStyle/>
          <a:p>
            <a:pPr algn="l" indent="0" marL="0">
              <a:buNone/>
            </a:pPr>
            <a:r>
              <a:rPr lang="en-US" sz="1150" dirty="0">
                <a:solidFill>
                  <a:srgbClr val="4CC9F0"/>
                </a:solidFill>
                <a:latin typeface="Calibri" pitchFamily="34" charset="0"/>
                <a:ea typeface="Calibri" pitchFamily="34" charset="-122"/>
                <a:cs typeface="Calibri" pitchFamily="34" charset="-120"/>
              </a:rPr>
              <a:t>Extra high (30 cm)</a:t>
            </a:r>
            <a:endParaRPr lang="en-US" sz="1150" dirty="0"/>
          </a:p>
        </p:txBody>
      </p:sp>
      <p:sp>
        <p:nvSpPr>
          <p:cNvPr id="47" name="Shape 45"/>
          <p:cNvSpPr/>
          <p:nvPr/>
        </p:nvSpPr>
        <p:spPr>
          <a:xfrm>
            <a:off x="2651760" y="4590288"/>
            <a:ext cx="2011680" cy="1005840"/>
          </a:xfrm>
          <a:prstGeom prst="roundRect">
            <a:avLst>
              <a:gd name="adj" fmla="val 7273"/>
            </a:avLst>
          </a:prstGeom>
          <a:solidFill>
            <a:srgbClr val="0A1520"/>
          </a:solidFill>
          <a:ln w="12700">
            <a:solidFill>
              <a:srgbClr val="243A52"/>
            </a:solidFill>
            <a:prstDash val="solid"/>
          </a:ln>
        </p:spPr>
      </p:sp>
      <p:sp>
        <p:nvSpPr>
          <p:cNvPr id="48" name="Text 46"/>
          <p:cNvSpPr/>
          <p:nvPr/>
        </p:nvSpPr>
        <p:spPr>
          <a:xfrm>
            <a:off x="2724912" y="4663440"/>
            <a:ext cx="1865376" cy="822960"/>
          </a:xfrm>
          <a:prstGeom prst="rect">
            <a:avLst/>
          </a:prstGeom>
          <a:noFill/>
          <a:ln/>
        </p:spPr>
        <p:txBody>
          <a:bodyPr wrap="square" rtlCol="0" anchor="ctr"/>
          <a:lstStyle/>
          <a:p>
            <a:pPr algn="ctr" indent="0" marL="0">
              <a:buNone/>
            </a:pPr>
            <a:endParaRPr lang="en-US" sz="1150" dirty="0"/>
          </a:p>
        </p:txBody>
      </p:sp>
      <p:sp>
        <p:nvSpPr>
          <p:cNvPr id="49" name="Shape 47"/>
          <p:cNvSpPr/>
          <p:nvPr/>
        </p:nvSpPr>
        <p:spPr>
          <a:xfrm>
            <a:off x="4754880" y="4590288"/>
            <a:ext cx="2011680" cy="1005840"/>
          </a:xfrm>
          <a:prstGeom prst="roundRect">
            <a:avLst>
              <a:gd name="adj" fmla="val 7273"/>
            </a:avLst>
          </a:prstGeom>
          <a:solidFill>
            <a:srgbClr val="0A1520"/>
          </a:solidFill>
          <a:ln w="12700">
            <a:solidFill>
              <a:srgbClr val="243A52"/>
            </a:solidFill>
            <a:prstDash val="solid"/>
          </a:ln>
        </p:spPr>
      </p:sp>
      <p:sp>
        <p:nvSpPr>
          <p:cNvPr id="50" name="Text 48"/>
          <p:cNvSpPr/>
          <p:nvPr/>
        </p:nvSpPr>
        <p:spPr>
          <a:xfrm>
            <a:off x="4828032" y="4663440"/>
            <a:ext cx="1865376" cy="822960"/>
          </a:xfrm>
          <a:prstGeom prst="rect">
            <a:avLst/>
          </a:prstGeom>
          <a:noFill/>
          <a:ln/>
        </p:spPr>
        <p:txBody>
          <a:bodyPr wrap="square" rtlCol="0" anchor="ctr"/>
          <a:lstStyle/>
          <a:p>
            <a:pPr algn="ctr" indent="0" marL="0">
              <a:buNone/>
            </a:pPr>
            <a:endParaRPr lang="en-US" sz="1150" dirty="0"/>
          </a:p>
        </p:txBody>
      </p:sp>
      <p:sp>
        <p:nvSpPr>
          <p:cNvPr id="51" name="Shape 49"/>
          <p:cNvSpPr/>
          <p:nvPr/>
        </p:nvSpPr>
        <p:spPr>
          <a:xfrm>
            <a:off x="6858000" y="4590288"/>
            <a:ext cx="2011680" cy="1005840"/>
          </a:xfrm>
          <a:prstGeom prst="roundRect">
            <a:avLst>
              <a:gd name="adj" fmla="val 7273"/>
            </a:avLst>
          </a:prstGeom>
          <a:solidFill>
            <a:srgbClr val="0A1520"/>
          </a:solidFill>
          <a:ln w="12700">
            <a:solidFill>
              <a:srgbClr val="243A52"/>
            </a:solidFill>
            <a:prstDash val="solid"/>
          </a:ln>
        </p:spPr>
      </p:sp>
      <p:sp>
        <p:nvSpPr>
          <p:cNvPr id="52" name="Text 50"/>
          <p:cNvSpPr/>
          <p:nvPr/>
        </p:nvSpPr>
        <p:spPr>
          <a:xfrm>
            <a:off x="6931152" y="4663440"/>
            <a:ext cx="1865376" cy="822960"/>
          </a:xfrm>
          <a:prstGeom prst="rect">
            <a:avLst/>
          </a:prstGeom>
          <a:noFill/>
          <a:ln/>
        </p:spPr>
        <p:txBody>
          <a:bodyPr wrap="square" rtlCol="0" anchor="ctr"/>
          <a:lstStyle/>
          <a:p>
            <a:pPr algn="ctr" indent="0" marL="0">
              <a:buNone/>
            </a:pPr>
            <a:endParaRPr lang="en-US" sz="1150" dirty="0"/>
          </a:p>
        </p:txBody>
      </p:sp>
      <p:sp>
        <p:nvSpPr>
          <p:cNvPr id="53" name="Shape 51"/>
          <p:cNvSpPr/>
          <p:nvPr/>
        </p:nvSpPr>
        <p:spPr>
          <a:xfrm>
            <a:off x="8961120" y="4590288"/>
            <a:ext cx="2286000" cy="1005840"/>
          </a:xfrm>
          <a:prstGeom prst="roundRect">
            <a:avLst>
              <a:gd name="adj" fmla="val 7273"/>
            </a:avLst>
          </a:prstGeom>
          <a:solidFill>
            <a:srgbClr val="0A1520"/>
          </a:solidFill>
          <a:ln w="12700">
            <a:solidFill>
              <a:srgbClr val="243A52"/>
            </a:solidFill>
            <a:prstDash val="solid"/>
          </a:ln>
        </p:spPr>
      </p:sp>
      <p:sp>
        <p:nvSpPr>
          <p:cNvPr id="54" name="Text 52"/>
          <p:cNvSpPr/>
          <p:nvPr/>
        </p:nvSpPr>
        <p:spPr>
          <a:xfrm>
            <a:off x="9034272" y="4663440"/>
            <a:ext cx="2139696" cy="822960"/>
          </a:xfrm>
          <a:prstGeom prst="rect">
            <a:avLst/>
          </a:prstGeom>
          <a:noFill/>
          <a:ln/>
        </p:spPr>
        <p:txBody>
          <a:bodyPr wrap="square" rtlCol="0" anchor="ctr"/>
          <a:lstStyle/>
          <a:p>
            <a:pPr algn="ctr" indent="0" marL="0">
              <a:buNone/>
            </a:pPr>
            <a:endParaRPr lang="en-US" sz="1150" dirty="0"/>
          </a:p>
        </p:txBody>
      </p:sp>
      <p:sp>
        <p:nvSpPr>
          <p:cNvPr id="55" name="Text 53"/>
          <p:cNvSpPr/>
          <p:nvPr/>
        </p:nvSpPr>
        <p:spPr>
          <a:xfrm>
            <a:off x="274320" y="5925312"/>
            <a:ext cx="11430000" cy="347472"/>
          </a:xfrm>
          <a:prstGeom prst="rect">
            <a:avLst/>
          </a:prstGeom>
          <a:noFill/>
          <a:ln/>
        </p:spPr>
        <p:txBody>
          <a:bodyPr wrap="square" rtlCol="0" anchor="ctr"/>
          <a:lstStyle/>
          <a:p>
            <a:pPr algn="ctr" indent="0" marL="0">
              <a:buNone/>
            </a:pPr>
            <a:r>
              <a:rPr lang="en-US" sz="1200" b="1" dirty="0">
                <a:solidFill>
                  <a:srgbClr val="FFB703"/>
                </a:solidFill>
                <a:latin typeface="Calibri" pitchFamily="34" charset="0"/>
                <a:ea typeface="Calibri" pitchFamily="34" charset="-122"/>
                <a:cs typeface="Calibri" pitchFamily="34" charset="-120"/>
              </a:rPr>
              <a:t>Copy this table into your science notebook before you begin.</a:t>
            </a:r>
            <a:endParaRPr lang="en-US" sz="1200" dirty="0"/>
          </a:p>
        </p:txBody>
      </p:sp>
      <p:sp>
        <p:nvSpPr>
          <p:cNvPr id="56" name="Shape 54"/>
          <p:cNvSpPr/>
          <p:nvPr/>
        </p:nvSpPr>
        <p:spPr>
          <a:xfrm>
            <a:off x="0" y="6629400"/>
            <a:ext cx="12192000" cy="228600"/>
          </a:xfrm>
          <a:prstGeom prst="rect">
            <a:avLst/>
          </a:prstGeom>
          <a:solidFill>
            <a:srgbClr val="162233"/>
          </a:solidFill>
          <a:ln/>
        </p:spPr>
      </p:sp>
      <p:sp>
        <p:nvSpPr>
          <p:cNvPr id="57" name="Text 5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19-02  ·  Investigation: Faster = More Energy?</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Procedure: Step by Step</a:t>
            </a:r>
            <a:endParaRPr lang="en-US" sz="1600" dirty="0"/>
          </a:p>
        </p:txBody>
      </p:sp>
      <p:sp>
        <p:nvSpPr>
          <p:cNvPr id="5" name="Shape 3"/>
          <p:cNvSpPr/>
          <p:nvPr/>
        </p:nvSpPr>
        <p:spPr>
          <a:xfrm>
            <a:off x="365760" y="749808"/>
            <a:ext cx="11430000" cy="1051560"/>
          </a:xfrm>
          <a:prstGeom prst="roundRect">
            <a:avLst>
              <a:gd name="adj" fmla="val 6957"/>
            </a:avLst>
          </a:prstGeom>
          <a:solidFill>
            <a:srgbClr val="1E2F45"/>
          </a:solidFill>
          <a:ln w="12700">
            <a:solidFill>
              <a:srgbClr val="4CC9F0"/>
            </a:solidFill>
            <a:prstDash val="solid"/>
          </a:ln>
        </p:spPr>
      </p:sp>
      <p:sp>
        <p:nvSpPr>
          <p:cNvPr id="6" name="Shape 4"/>
          <p:cNvSpPr/>
          <p:nvPr/>
        </p:nvSpPr>
        <p:spPr>
          <a:xfrm>
            <a:off x="457200" y="804672"/>
            <a:ext cx="475488" cy="475488"/>
          </a:xfrm>
          <a:prstGeom prst="ellipse">
            <a:avLst/>
          </a:prstGeom>
          <a:solidFill>
            <a:srgbClr val="4CC9F0"/>
          </a:solidFill>
          <a:ln w="12700">
            <a:solidFill>
              <a:srgbClr val="4CC9F0"/>
            </a:solidFill>
            <a:prstDash val="solid"/>
          </a:ln>
        </p:spPr>
      </p:sp>
      <p:sp>
        <p:nvSpPr>
          <p:cNvPr id="7" name="Text 5"/>
          <p:cNvSpPr/>
          <p:nvPr/>
        </p:nvSpPr>
        <p:spPr>
          <a:xfrm>
            <a:off x="457200" y="804672"/>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51560" y="804672"/>
            <a:ext cx="10515600" cy="9144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Set up your ramp on a flat surface. Place the cup 5 cm from the bottom of the ramp.</a:t>
            </a:r>
            <a:endParaRPr lang="en-US" sz="1250" dirty="0"/>
          </a:p>
        </p:txBody>
      </p:sp>
      <p:sp>
        <p:nvSpPr>
          <p:cNvPr id="9" name="Shape 7"/>
          <p:cNvSpPr/>
          <p:nvPr/>
        </p:nvSpPr>
        <p:spPr>
          <a:xfrm>
            <a:off x="365760" y="1892808"/>
            <a:ext cx="11430000" cy="1051560"/>
          </a:xfrm>
          <a:prstGeom prst="roundRect">
            <a:avLst>
              <a:gd name="adj" fmla="val 6957"/>
            </a:avLst>
          </a:prstGeom>
          <a:solidFill>
            <a:srgbClr val="1E2F45"/>
          </a:solidFill>
          <a:ln w="12700">
            <a:solidFill>
              <a:srgbClr val="FFB703"/>
            </a:solidFill>
            <a:prstDash val="solid"/>
          </a:ln>
        </p:spPr>
      </p:sp>
      <p:sp>
        <p:nvSpPr>
          <p:cNvPr id="10" name="Shape 8"/>
          <p:cNvSpPr/>
          <p:nvPr/>
        </p:nvSpPr>
        <p:spPr>
          <a:xfrm>
            <a:off x="457200" y="1947672"/>
            <a:ext cx="475488" cy="475488"/>
          </a:xfrm>
          <a:prstGeom prst="ellipse">
            <a:avLst/>
          </a:prstGeom>
          <a:solidFill>
            <a:srgbClr val="FFB703"/>
          </a:solidFill>
          <a:ln w="12700">
            <a:solidFill>
              <a:srgbClr val="FFB703"/>
            </a:solidFill>
            <a:prstDash val="solid"/>
          </a:ln>
        </p:spPr>
      </p:sp>
      <p:sp>
        <p:nvSpPr>
          <p:cNvPr id="11" name="Text 9"/>
          <p:cNvSpPr/>
          <p:nvPr/>
        </p:nvSpPr>
        <p:spPr>
          <a:xfrm>
            <a:off x="457200" y="1947672"/>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051560" y="1947672"/>
            <a:ext cx="10515600" cy="9144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Release the marble from the LOW position (5 cm). Measure how far the cup moved. Record in Trial 1.</a:t>
            </a:r>
            <a:endParaRPr lang="en-US" sz="1250" dirty="0"/>
          </a:p>
        </p:txBody>
      </p:sp>
      <p:sp>
        <p:nvSpPr>
          <p:cNvPr id="13" name="Shape 11"/>
          <p:cNvSpPr/>
          <p:nvPr/>
        </p:nvSpPr>
        <p:spPr>
          <a:xfrm>
            <a:off x="365760" y="3035808"/>
            <a:ext cx="11430000" cy="1051560"/>
          </a:xfrm>
          <a:prstGeom prst="roundRect">
            <a:avLst>
              <a:gd name="adj" fmla="val 6957"/>
            </a:avLst>
          </a:prstGeom>
          <a:solidFill>
            <a:srgbClr val="1E2F45"/>
          </a:solidFill>
          <a:ln w="12700">
            <a:solidFill>
              <a:srgbClr val="2DC653"/>
            </a:solidFill>
            <a:prstDash val="solid"/>
          </a:ln>
        </p:spPr>
      </p:sp>
      <p:sp>
        <p:nvSpPr>
          <p:cNvPr id="14" name="Shape 12"/>
          <p:cNvSpPr/>
          <p:nvPr/>
        </p:nvSpPr>
        <p:spPr>
          <a:xfrm>
            <a:off x="457200" y="3090672"/>
            <a:ext cx="475488" cy="475488"/>
          </a:xfrm>
          <a:prstGeom prst="ellipse">
            <a:avLst/>
          </a:prstGeom>
          <a:solidFill>
            <a:srgbClr val="2DC653"/>
          </a:solidFill>
          <a:ln w="12700">
            <a:solidFill>
              <a:srgbClr val="2DC653"/>
            </a:solidFill>
            <a:prstDash val="solid"/>
          </a:ln>
        </p:spPr>
      </p:sp>
      <p:sp>
        <p:nvSpPr>
          <p:cNvPr id="15" name="Text 13"/>
          <p:cNvSpPr/>
          <p:nvPr/>
        </p:nvSpPr>
        <p:spPr>
          <a:xfrm>
            <a:off x="457200" y="3090672"/>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051560" y="3090672"/>
            <a:ext cx="10515600" cy="9144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Reset the cup to its starting position. Repeat 2 more times for Trials 2 and 3.</a:t>
            </a:r>
            <a:endParaRPr lang="en-US" sz="1250" dirty="0"/>
          </a:p>
        </p:txBody>
      </p:sp>
      <p:sp>
        <p:nvSpPr>
          <p:cNvPr id="17" name="Shape 15"/>
          <p:cNvSpPr/>
          <p:nvPr/>
        </p:nvSpPr>
        <p:spPr>
          <a:xfrm>
            <a:off x="365760" y="4178808"/>
            <a:ext cx="11430000" cy="1051560"/>
          </a:xfrm>
          <a:prstGeom prst="roundRect">
            <a:avLst>
              <a:gd name="adj" fmla="val 6957"/>
            </a:avLst>
          </a:prstGeom>
          <a:solidFill>
            <a:srgbClr val="1E2F45"/>
          </a:solidFill>
          <a:ln w="12700">
            <a:solidFill>
              <a:srgbClr val="F4736A"/>
            </a:solidFill>
            <a:prstDash val="solid"/>
          </a:ln>
        </p:spPr>
      </p:sp>
      <p:sp>
        <p:nvSpPr>
          <p:cNvPr id="18" name="Shape 16"/>
          <p:cNvSpPr/>
          <p:nvPr/>
        </p:nvSpPr>
        <p:spPr>
          <a:xfrm>
            <a:off x="457200" y="4233672"/>
            <a:ext cx="475488" cy="475488"/>
          </a:xfrm>
          <a:prstGeom prst="ellipse">
            <a:avLst/>
          </a:prstGeom>
          <a:solidFill>
            <a:srgbClr val="F4736A"/>
          </a:solidFill>
          <a:ln w="12700">
            <a:solidFill>
              <a:srgbClr val="F4736A"/>
            </a:solidFill>
            <a:prstDash val="solid"/>
          </a:ln>
        </p:spPr>
      </p:sp>
      <p:sp>
        <p:nvSpPr>
          <p:cNvPr id="19" name="Text 17"/>
          <p:cNvSpPr/>
          <p:nvPr/>
        </p:nvSpPr>
        <p:spPr>
          <a:xfrm>
            <a:off x="457200" y="4233672"/>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1051560" y="4233672"/>
            <a:ext cx="10515600" cy="9144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Repeat steps 2-3 for each height: Medium, High, Extra High.</a:t>
            </a:r>
            <a:endParaRPr lang="en-US" sz="1250" dirty="0"/>
          </a:p>
        </p:txBody>
      </p:sp>
      <p:sp>
        <p:nvSpPr>
          <p:cNvPr id="21" name="Shape 19"/>
          <p:cNvSpPr/>
          <p:nvPr/>
        </p:nvSpPr>
        <p:spPr>
          <a:xfrm>
            <a:off x="365760" y="5321808"/>
            <a:ext cx="11430000" cy="1051560"/>
          </a:xfrm>
          <a:prstGeom prst="roundRect">
            <a:avLst>
              <a:gd name="adj" fmla="val 6957"/>
            </a:avLst>
          </a:prstGeom>
          <a:solidFill>
            <a:srgbClr val="1E2F45"/>
          </a:solidFill>
          <a:ln w="12700">
            <a:solidFill>
              <a:srgbClr val="0096C7"/>
            </a:solidFill>
            <a:prstDash val="solid"/>
          </a:ln>
        </p:spPr>
      </p:sp>
      <p:sp>
        <p:nvSpPr>
          <p:cNvPr id="22" name="Shape 20"/>
          <p:cNvSpPr/>
          <p:nvPr/>
        </p:nvSpPr>
        <p:spPr>
          <a:xfrm>
            <a:off x="457200" y="5376672"/>
            <a:ext cx="475488" cy="475488"/>
          </a:xfrm>
          <a:prstGeom prst="ellipse">
            <a:avLst/>
          </a:prstGeom>
          <a:solidFill>
            <a:srgbClr val="0096C7"/>
          </a:solidFill>
          <a:ln w="12700">
            <a:solidFill>
              <a:srgbClr val="0096C7"/>
            </a:solidFill>
            <a:prstDash val="solid"/>
          </a:ln>
        </p:spPr>
      </p:sp>
      <p:sp>
        <p:nvSpPr>
          <p:cNvPr id="23" name="Text 21"/>
          <p:cNvSpPr/>
          <p:nvPr/>
        </p:nvSpPr>
        <p:spPr>
          <a:xfrm>
            <a:off x="457200" y="5376672"/>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2"/>
          <p:cNvSpPr/>
          <p:nvPr/>
        </p:nvSpPr>
        <p:spPr>
          <a:xfrm>
            <a:off x="1051560" y="5376672"/>
            <a:ext cx="10515600" cy="9144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Calculate the AVERAGE for each height. Look for patterns in your data.</a:t>
            </a:r>
            <a:endParaRPr lang="en-US" sz="125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19-02  ·  Investigation: Faster = More Energy?</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Fair Test Reminders</a:t>
            </a:r>
            <a:endParaRPr lang="en-US" sz="1600" dirty="0"/>
          </a:p>
        </p:txBody>
      </p:sp>
      <p:sp>
        <p:nvSpPr>
          <p:cNvPr id="5" name="Shape 3"/>
          <p:cNvSpPr/>
          <p:nvPr/>
        </p:nvSpPr>
        <p:spPr>
          <a:xfrm>
            <a:off x="365760" y="749808"/>
            <a:ext cx="5394960" cy="5120640"/>
          </a:xfrm>
          <a:prstGeom prst="roundRect">
            <a:avLst>
              <a:gd name="adj" fmla="val 1429"/>
            </a:avLst>
          </a:prstGeom>
          <a:solidFill>
            <a:srgbClr val="1E2F45"/>
          </a:solidFill>
          <a:ln w="12700">
            <a:solidFill>
              <a:srgbClr val="2DC653"/>
            </a:solidFill>
            <a:prstDash val="solid"/>
          </a:ln>
        </p:spPr>
      </p:sp>
      <p:sp>
        <p:nvSpPr>
          <p:cNvPr id="6" name="Text 4"/>
          <p:cNvSpPr/>
          <p:nvPr/>
        </p:nvSpPr>
        <p:spPr>
          <a:xfrm>
            <a:off x="548640" y="822960"/>
            <a:ext cx="502920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To Keep It FAIR:</a:t>
            </a:r>
            <a:endParaRPr lang="en-US" sz="1300" dirty="0"/>
          </a:p>
        </p:txBody>
      </p:sp>
      <p:sp>
        <p:nvSpPr>
          <p:cNvPr id="7" name="Text 5"/>
          <p:cNvSpPr/>
          <p:nvPr/>
        </p:nvSpPr>
        <p:spPr>
          <a:xfrm>
            <a:off x="548640" y="1261872"/>
            <a:ext cx="5029200" cy="7498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Always reset the cup to the SAME starting spot</a:t>
            </a:r>
            <a:endParaRPr lang="en-US" sz="1200" dirty="0"/>
          </a:p>
        </p:txBody>
      </p:sp>
      <p:sp>
        <p:nvSpPr>
          <p:cNvPr id="8" name="Text 6"/>
          <p:cNvSpPr/>
          <p:nvPr/>
        </p:nvSpPr>
        <p:spPr>
          <a:xfrm>
            <a:off x="548640" y="2130552"/>
            <a:ext cx="5029200" cy="7498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Use the SAME marble for all trials</a:t>
            </a:r>
            <a:endParaRPr lang="en-US" sz="1200" dirty="0"/>
          </a:p>
        </p:txBody>
      </p:sp>
      <p:sp>
        <p:nvSpPr>
          <p:cNvPr id="9" name="Text 7"/>
          <p:cNvSpPr/>
          <p:nvPr/>
        </p:nvSpPr>
        <p:spPr>
          <a:xfrm>
            <a:off x="548640" y="2999232"/>
            <a:ext cx="5029200" cy="7498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Release the marble — don't push it</a:t>
            </a:r>
            <a:endParaRPr lang="en-US" sz="1200" dirty="0"/>
          </a:p>
        </p:txBody>
      </p:sp>
      <p:sp>
        <p:nvSpPr>
          <p:cNvPr id="10" name="Text 8"/>
          <p:cNvSpPr/>
          <p:nvPr/>
        </p:nvSpPr>
        <p:spPr>
          <a:xfrm>
            <a:off x="548640" y="3867912"/>
            <a:ext cx="5029200" cy="7498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Keep the ramp at the same angle</a:t>
            </a:r>
            <a:endParaRPr lang="en-US" sz="1200" dirty="0"/>
          </a:p>
        </p:txBody>
      </p:sp>
      <p:sp>
        <p:nvSpPr>
          <p:cNvPr id="11" name="Text 9"/>
          <p:cNvSpPr/>
          <p:nvPr/>
        </p:nvSpPr>
        <p:spPr>
          <a:xfrm>
            <a:off x="548640" y="4736592"/>
            <a:ext cx="5029200" cy="7498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Make sure the surface is flat and clear</a:t>
            </a:r>
            <a:endParaRPr lang="en-US" sz="1200" dirty="0"/>
          </a:p>
        </p:txBody>
      </p:sp>
      <p:sp>
        <p:nvSpPr>
          <p:cNvPr id="12" name="Shape 10"/>
          <p:cNvSpPr/>
          <p:nvPr/>
        </p:nvSpPr>
        <p:spPr>
          <a:xfrm>
            <a:off x="5943600" y="749808"/>
            <a:ext cx="5852160" cy="5120640"/>
          </a:xfrm>
          <a:prstGeom prst="roundRect">
            <a:avLst>
              <a:gd name="adj" fmla="val 1429"/>
            </a:avLst>
          </a:prstGeom>
          <a:solidFill>
            <a:srgbClr val="1E2F45"/>
          </a:solidFill>
          <a:ln w="12700">
            <a:solidFill>
              <a:srgbClr val="FFB703"/>
            </a:solidFill>
            <a:prstDash val="solid"/>
          </a:ln>
        </p:spPr>
      </p:sp>
      <p:sp>
        <p:nvSpPr>
          <p:cNvPr id="13" name="Text 11"/>
          <p:cNvSpPr/>
          <p:nvPr/>
        </p:nvSpPr>
        <p:spPr>
          <a:xfrm>
            <a:off x="6126480" y="822960"/>
            <a:ext cx="548640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Multiple Trials — Why?</a:t>
            </a:r>
            <a:endParaRPr lang="en-US" sz="1300" dirty="0"/>
          </a:p>
        </p:txBody>
      </p:sp>
      <p:sp>
        <p:nvSpPr>
          <p:cNvPr id="14" name="Text 12"/>
          <p:cNvSpPr/>
          <p:nvPr/>
        </p:nvSpPr>
        <p:spPr>
          <a:xfrm>
            <a:off x="6126480" y="1261872"/>
            <a:ext cx="5486400" cy="44348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One trial might have an error — the cup started crooked, a bump on the surface, etc.</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Multiple trials let us: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Average out random errors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See if results are consistent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Identify outliers (unusual results)</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Scientists ALWAYS repeat trials. One result is NOT enough!</a:t>
            </a:r>
            <a:endParaRPr lang="en-US" sz="12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19-02  ·  Investigation: Faster = More Energy?</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Analyze Your Data: What Patterns Do You See?</a:t>
            </a:r>
            <a:endParaRPr lang="en-US" sz="1600" dirty="0"/>
          </a:p>
        </p:txBody>
      </p:sp>
      <p:sp>
        <p:nvSpPr>
          <p:cNvPr id="5" name="Shape 3"/>
          <p:cNvSpPr/>
          <p:nvPr/>
        </p:nvSpPr>
        <p:spPr>
          <a:xfrm>
            <a:off x="365760" y="749808"/>
            <a:ext cx="5303520" cy="5029200"/>
          </a:xfrm>
          <a:prstGeom prst="roundRect">
            <a:avLst>
              <a:gd name="adj" fmla="val 1455"/>
            </a:avLst>
          </a:prstGeom>
          <a:solidFill>
            <a:srgbClr val="0A1520"/>
          </a:solidFill>
          <a:ln w="19050">
            <a:solidFill>
              <a:srgbClr val="4CC9F0"/>
            </a:solidFill>
            <a:prstDash val="dash"/>
          </a:ln>
        </p:spPr>
      </p:sp>
      <p:sp>
        <p:nvSpPr>
          <p:cNvPr id="6" name="Text 4"/>
          <p:cNvSpPr/>
          <p:nvPr/>
        </p:nvSpPr>
        <p:spPr>
          <a:xfrm>
            <a:off x="457200" y="859536"/>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5084064" cy="39776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"marble ramp investigation results bar chart cup displacement distance speed"</a:t>
            </a:r>
            <a:endParaRPr lang="en-US" sz="950" dirty="0"/>
          </a:p>
        </p:txBody>
      </p:sp>
      <p:sp>
        <p:nvSpPr>
          <p:cNvPr id="9" name="Text 7"/>
          <p:cNvSpPr/>
          <p:nvPr/>
        </p:nvSpPr>
        <p:spPr>
          <a:xfrm>
            <a:off x="365760" y="5815584"/>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Sample bar chart: cup displacement at different marble speeds</a:t>
            </a:r>
            <a:endParaRPr lang="en-US" sz="900" dirty="0"/>
          </a:p>
        </p:txBody>
      </p:sp>
      <p:sp>
        <p:nvSpPr>
          <p:cNvPr id="10" name="Shape 8"/>
          <p:cNvSpPr/>
          <p:nvPr/>
        </p:nvSpPr>
        <p:spPr>
          <a:xfrm>
            <a:off x="5852160" y="749808"/>
            <a:ext cx="5943600" cy="5029200"/>
          </a:xfrm>
          <a:prstGeom prst="roundRect">
            <a:avLst>
              <a:gd name="adj" fmla="val 1455"/>
            </a:avLst>
          </a:prstGeom>
          <a:solidFill>
            <a:srgbClr val="1E2F45"/>
          </a:solidFill>
          <a:ln w="12700">
            <a:solidFill>
              <a:srgbClr val="4CC9F0"/>
            </a:solidFill>
            <a:prstDash val="solid"/>
          </a:ln>
        </p:spPr>
      </p:sp>
      <p:sp>
        <p:nvSpPr>
          <p:cNvPr id="11" name="Text 9"/>
          <p:cNvSpPr/>
          <p:nvPr/>
        </p:nvSpPr>
        <p:spPr>
          <a:xfrm>
            <a:off x="6035040" y="822960"/>
            <a:ext cx="566928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Analysis Questions:</a:t>
            </a:r>
            <a:endParaRPr lang="en-US" sz="1300" dirty="0"/>
          </a:p>
        </p:txBody>
      </p:sp>
      <p:sp>
        <p:nvSpPr>
          <p:cNvPr id="12" name="Text 10"/>
          <p:cNvSpPr/>
          <p:nvPr/>
        </p:nvSpPr>
        <p:spPr>
          <a:xfrm>
            <a:off x="6035040" y="1261872"/>
            <a:ext cx="5669280" cy="7132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1. As height (speed) increased, the cup moved ___ (more/less/same).</a:t>
            </a:r>
            <a:endParaRPr lang="en-US" sz="1150" dirty="0"/>
          </a:p>
        </p:txBody>
      </p:sp>
      <p:sp>
        <p:nvSpPr>
          <p:cNvPr id="13" name="Text 11"/>
          <p:cNvSpPr/>
          <p:nvPr/>
        </p:nvSpPr>
        <p:spPr>
          <a:xfrm>
            <a:off x="6035040" y="2066544"/>
            <a:ext cx="5669280" cy="7132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2. The greatest cup movement happened at height ___.</a:t>
            </a:r>
            <a:endParaRPr lang="en-US" sz="1150" dirty="0"/>
          </a:p>
        </p:txBody>
      </p:sp>
      <p:sp>
        <p:nvSpPr>
          <p:cNvPr id="14" name="Text 12"/>
          <p:cNvSpPr/>
          <p:nvPr/>
        </p:nvSpPr>
        <p:spPr>
          <a:xfrm>
            <a:off x="6035040" y="2871216"/>
            <a:ext cx="5669280" cy="7132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3. Was there a consistent pattern across trials? How do you know?</a:t>
            </a:r>
            <a:endParaRPr lang="en-US" sz="1150" dirty="0"/>
          </a:p>
        </p:txBody>
      </p:sp>
      <p:sp>
        <p:nvSpPr>
          <p:cNvPr id="15" name="Text 13"/>
          <p:cNvSpPr/>
          <p:nvPr/>
        </p:nvSpPr>
        <p:spPr>
          <a:xfrm>
            <a:off x="6035040" y="3675888"/>
            <a:ext cx="5669280" cy="7132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4. Does your data support your prediction? Explain.</a:t>
            </a:r>
            <a:endParaRPr lang="en-US" sz="1150" dirty="0"/>
          </a:p>
        </p:txBody>
      </p:sp>
      <p:sp>
        <p:nvSpPr>
          <p:cNvPr id="16" name="Text 14"/>
          <p:cNvSpPr/>
          <p:nvPr/>
        </p:nvSpPr>
        <p:spPr>
          <a:xfrm>
            <a:off x="6035040" y="4480560"/>
            <a:ext cx="5669280" cy="7132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5. What does cup distance represent? (Hint: energy!)</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19-02  ·  Investigation: Faster = More Energy?</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Full CER: Claim + Evidence + Reasoning</a:t>
            </a:r>
            <a:endParaRPr lang="en-US" sz="1600" dirty="0"/>
          </a:p>
        </p:txBody>
      </p:sp>
      <p:sp>
        <p:nvSpPr>
          <p:cNvPr id="5" name="Shape 3"/>
          <p:cNvSpPr/>
          <p:nvPr/>
        </p:nvSpPr>
        <p:spPr>
          <a:xfrm>
            <a:off x="365760" y="749808"/>
            <a:ext cx="3566160" cy="5349240"/>
          </a:xfrm>
          <a:prstGeom prst="roundRect">
            <a:avLst>
              <a:gd name="adj" fmla="val 2564"/>
            </a:avLst>
          </a:prstGeom>
          <a:solidFill>
            <a:srgbClr val="0A3D8F"/>
          </a:solidFill>
          <a:ln w="19050">
            <a:solidFill>
              <a:srgbClr val="1A5FBD"/>
            </a:solidFill>
            <a:prstDash val="solid"/>
          </a:ln>
        </p:spPr>
      </p:sp>
      <p:sp>
        <p:nvSpPr>
          <p:cNvPr id="6" name="Shape 4"/>
          <p:cNvSpPr/>
          <p:nvPr/>
        </p:nvSpPr>
        <p:spPr>
          <a:xfrm>
            <a:off x="365760" y="749808"/>
            <a:ext cx="3566160" cy="347472"/>
          </a:xfrm>
          <a:prstGeom prst="rect">
            <a:avLst/>
          </a:prstGeom>
          <a:solidFill>
            <a:srgbClr val="1A5FBD"/>
          </a:solidFill>
          <a:ln w="12700">
            <a:solidFill>
              <a:srgbClr val="1A5FBD"/>
            </a:solidFill>
            <a:prstDash val="solid"/>
          </a:ln>
        </p:spPr>
      </p:sp>
      <p:sp>
        <p:nvSpPr>
          <p:cNvPr id="7" name="Text 5"/>
          <p:cNvSpPr/>
          <p:nvPr/>
        </p:nvSpPr>
        <p:spPr>
          <a:xfrm>
            <a:off x="457200" y="768096"/>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8" name="Text 6"/>
          <p:cNvSpPr/>
          <p:nvPr/>
        </p:nvSpPr>
        <p:spPr>
          <a:xfrm>
            <a:off x="502920" y="1152144"/>
            <a:ext cx="3291840" cy="48554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"I claim that as the speed of the marble increases, it transfers more energy to the cup, causing it to move farther."</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Revise or confirm your earlier prediction.</a:t>
            </a:r>
            <a:endParaRPr lang="en-US" sz="1150" dirty="0"/>
          </a:p>
        </p:txBody>
      </p:sp>
      <p:sp>
        <p:nvSpPr>
          <p:cNvPr id="9" name="Shape 7"/>
          <p:cNvSpPr/>
          <p:nvPr/>
        </p:nvSpPr>
        <p:spPr>
          <a:xfrm>
            <a:off x="4114800" y="749808"/>
            <a:ext cx="3566160" cy="5349240"/>
          </a:xfrm>
          <a:prstGeom prst="roundRect">
            <a:avLst>
              <a:gd name="adj" fmla="val 2564"/>
            </a:avLst>
          </a:prstGeom>
          <a:solidFill>
            <a:srgbClr val="145C35"/>
          </a:solidFill>
          <a:ln w="19050">
            <a:solidFill>
              <a:srgbClr val="228B50"/>
            </a:solidFill>
            <a:prstDash val="solid"/>
          </a:ln>
        </p:spPr>
      </p:sp>
      <p:sp>
        <p:nvSpPr>
          <p:cNvPr id="10" name="Shape 8"/>
          <p:cNvSpPr/>
          <p:nvPr/>
        </p:nvSpPr>
        <p:spPr>
          <a:xfrm>
            <a:off x="4114800" y="749808"/>
            <a:ext cx="3566160" cy="347472"/>
          </a:xfrm>
          <a:prstGeom prst="rect">
            <a:avLst/>
          </a:prstGeom>
          <a:solidFill>
            <a:srgbClr val="228B50"/>
          </a:solidFill>
          <a:ln w="12700">
            <a:solidFill>
              <a:srgbClr val="228B50"/>
            </a:solidFill>
            <a:prstDash val="solid"/>
          </a:ln>
        </p:spPr>
      </p:sp>
      <p:sp>
        <p:nvSpPr>
          <p:cNvPr id="11" name="Text 9"/>
          <p:cNvSpPr/>
          <p:nvPr/>
        </p:nvSpPr>
        <p:spPr>
          <a:xfrm>
            <a:off x="4206240" y="768096"/>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2" name="Text 10"/>
          <p:cNvSpPr/>
          <p:nvPr/>
        </p:nvSpPr>
        <p:spPr>
          <a:xfrm>
            <a:off x="4251960" y="1152144"/>
            <a:ext cx="3291840" cy="48554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Use YOUR data:</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"At 5 cm height, average cup movement = ___cm."</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"At 30 cm height, average cup movement = ___cm."</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"The pattern shows..."</a:t>
            </a:r>
            <a:endParaRPr lang="en-US" sz="1150" dirty="0"/>
          </a:p>
        </p:txBody>
      </p:sp>
      <p:sp>
        <p:nvSpPr>
          <p:cNvPr id="13" name="Shape 11"/>
          <p:cNvSpPr/>
          <p:nvPr/>
        </p:nvSpPr>
        <p:spPr>
          <a:xfrm>
            <a:off x="7863840" y="749808"/>
            <a:ext cx="3749040" cy="5349240"/>
          </a:xfrm>
          <a:prstGeom prst="roundRect">
            <a:avLst>
              <a:gd name="adj" fmla="val 2439"/>
            </a:avLst>
          </a:prstGeom>
          <a:solidFill>
            <a:srgbClr val="7A3200"/>
          </a:solidFill>
          <a:ln w="19050">
            <a:solidFill>
              <a:srgbClr val="B04A00"/>
            </a:solidFill>
            <a:prstDash val="solid"/>
          </a:ln>
        </p:spPr>
      </p:sp>
      <p:sp>
        <p:nvSpPr>
          <p:cNvPr id="14" name="Shape 12"/>
          <p:cNvSpPr/>
          <p:nvPr/>
        </p:nvSpPr>
        <p:spPr>
          <a:xfrm>
            <a:off x="7863840" y="749808"/>
            <a:ext cx="3749040" cy="347472"/>
          </a:xfrm>
          <a:prstGeom prst="rect">
            <a:avLst/>
          </a:prstGeom>
          <a:solidFill>
            <a:srgbClr val="B04A00"/>
          </a:solidFill>
          <a:ln w="12700">
            <a:solidFill>
              <a:srgbClr val="B04A00"/>
            </a:solidFill>
            <a:prstDash val="solid"/>
          </a:ln>
        </p:spPr>
      </p:sp>
      <p:sp>
        <p:nvSpPr>
          <p:cNvPr id="15" name="Text 13"/>
          <p:cNvSpPr/>
          <p:nvPr/>
        </p:nvSpPr>
        <p:spPr>
          <a:xfrm>
            <a:off x="7955280" y="768096"/>
            <a:ext cx="35661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6" name="Text 14"/>
          <p:cNvSpPr/>
          <p:nvPr/>
        </p:nvSpPr>
        <p:spPr>
          <a:xfrm>
            <a:off x="8001000" y="1152144"/>
            <a:ext cx="3474720" cy="48554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EXPLAIN the connection:</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"This evidence supports my claim because a faster marble has more kinetic energy, which is transferred to the cup on contact, pushing it farther. The greater the energy, the greater the force, and the farther the cup moves."</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19-02  ·  Investigation: Faster = More Energy?</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Scientific Discussion: Compare Results</a:t>
            </a:r>
            <a:endParaRPr lang="en-US" sz="1600" dirty="0"/>
          </a:p>
        </p:txBody>
      </p:sp>
      <p:sp>
        <p:nvSpPr>
          <p:cNvPr id="5" name="Shape 3"/>
          <p:cNvSpPr/>
          <p:nvPr/>
        </p:nvSpPr>
        <p:spPr>
          <a:xfrm>
            <a:off x="365760" y="749808"/>
            <a:ext cx="11430000" cy="2011680"/>
          </a:xfrm>
          <a:prstGeom prst="roundRect">
            <a:avLst>
              <a:gd name="adj" fmla="val 3636"/>
            </a:avLst>
          </a:prstGeom>
          <a:solidFill>
            <a:srgbClr val="162233"/>
          </a:solidFill>
          <a:ln w="12700">
            <a:solidFill>
              <a:srgbClr val="FFB703"/>
            </a:solidFill>
            <a:prstDash val="solid"/>
          </a:ln>
        </p:spPr>
      </p:sp>
      <p:sp>
        <p:nvSpPr>
          <p:cNvPr id="6" name="Text 4"/>
          <p:cNvSpPr/>
          <p:nvPr/>
        </p:nvSpPr>
        <p:spPr>
          <a:xfrm>
            <a:off x="530352" y="82296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Discuss with the class:</a:t>
            </a:r>
            <a:endParaRPr lang="en-US" sz="1300" dirty="0"/>
          </a:p>
        </p:txBody>
      </p:sp>
      <p:sp>
        <p:nvSpPr>
          <p:cNvPr id="7" name="Text 5"/>
          <p:cNvSpPr/>
          <p:nvPr/>
        </p:nvSpPr>
        <p:spPr>
          <a:xfrm>
            <a:off x="530352" y="1188720"/>
            <a:ext cx="11100816" cy="146304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Different groups may have gotten slightly different numbers. Why? Does that mean one group's data is wrong? How do scientists handle this — and what do we do when our results disagree with another group's?</a:t>
            </a:r>
            <a:endParaRPr lang="en-US" sz="1300" dirty="0"/>
          </a:p>
        </p:txBody>
      </p:sp>
      <p:sp>
        <p:nvSpPr>
          <p:cNvPr id="8" name="Shape 6"/>
          <p:cNvSpPr/>
          <p:nvPr/>
        </p:nvSpPr>
        <p:spPr>
          <a:xfrm>
            <a:off x="365760" y="2907792"/>
            <a:ext cx="11430000" cy="1298448"/>
          </a:xfrm>
          <a:prstGeom prst="roundRect">
            <a:avLst>
              <a:gd name="adj" fmla="val 5634"/>
            </a:avLst>
          </a:prstGeom>
          <a:solidFill>
            <a:srgbClr val="1E2F45"/>
          </a:solidFill>
          <a:ln w="12700">
            <a:solidFill>
              <a:srgbClr val="2DC653"/>
            </a:solidFill>
            <a:prstDash val="solid"/>
          </a:ln>
        </p:spPr>
      </p:sp>
      <p:sp>
        <p:nvSpPr>
          <p:cNvPr id="9" name="Text 7"/>
          <p:cNvSpPr/>
          <p:nvPr/>
        </p:nvSpPr>
        <p:spPr>
          <a:xfrm>
            <a:off x="548640" y="2971800"/>
            <a:ext cx="11155680" cy="329184"/>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Argumentation Starters:</a:t>
            </a:r>
            <a:endParaRPr lang="en-US" sz="1200" dirty="0"/>
          </a:p>
        </p:txBody>
      </p:sp>
      <p:sp>
        <p:nvSpPr>
          <p:cNvPr id="10" name="Text 8"/>
          <p:cNvSpPr/>
          <p:nvPr/>
        </p:nvSpPr>
        <p:spPr>
          <a:xfrm>
            <a:off x="548640" y="3337560"/>
            <a:ext cx="11155680" cy="749808"/>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"My data shows ___, which supports/contradicts the claim because ___."  "A possible source of error in our investigation was ___."  "To improve this experiment, we could ___."</a:t>
            </a:r>
            <a:endParaRPr lang="en-US" sz="120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19-02  ·  Investigation: Faster = More Energy?</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Check for Understanding</a:t>
            </a:r>
            <a:endParaRPr lang="en-US" sz="1600" dirty="0"/>
          </a:p>
        </p:txBody>
      </p:sp>
      <p:sp>
        <p:nvSpPr>
          <p:cNvPr id="5" name="Shape 3"/>
          <p:cNvSpPr/>
          <p:nvPr/>
        </p:nvSpPr>
        <p:spPr>
          <a:xfrm>
            <a:off x="365760" y="749808"/>
            <a:ext cx="11430000" cy="2697480"/>
          </a:xfrm>
          <a:prstGeom prst="roundRect">
            <a:avLst>
              <a:gd name="adj" fmla="val 2712"/>
            </a:avLst>
          </a:prstGeom>
          <a:solidFill>
            <a:srgbClr val="1E2F45"/>
          </a:solidFill>
          <a:ln w="12700">
            <a:solidFill>
              <a:srgbClr val="243A52"/>
            </a:solidFill>
            <a:prstDash val="solid"/>
          </a:ln>
        </p:spPr>
      </p:sp>
      <p:sp>
        <p:nvSpPr>
          <p:cNvPr id="6" name="Text 4"/>
          <p:cNvSpPr/>
          <p:nvPr/>
        </p:nvSpPr>
        <p:spPr>
          <a:xfrm>
            <a:off x="548640" y="822960"/>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 In the marble investigation, what does the distance the cup moved tell us?</a:t>
            </a:r>
            <a:endParaRPr lang="en-US" sz="1250" dirty="0"/>
          </a:p>
        </p:txBody>
      </p:sp>
      <p:sp>
        <p:nvSpPr>
          <p:cNvPr id="7" name="Text 5"/>
          <p:cNvSpPr/>
          <p:nvPr/>
        </p:nvSpPr>
        <p:spPr>
          <a:xfrm>
            <a:off x="731520" y="1371600"/>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How heavy the marble is</a:t>
            </a:r>
            <a:endParaRPr lang="en-US" sz="1150" dirty="0"/>
          </a:p>
        </p:txBody>
      </p:sp>
      <p:sp>
        <p:nvSpPr>
          <p:cNvPr id="8" name="Text 6"/>
          <p:cNvSpPr/>
          <p:nvPr/>
        </p:nvSpPr>
        <p:spPr>
          <a:xfrm>
            <a:off x="6400800" y="1371600"/>
            <a:ext cx="5486400" cy="420624"/>
          </a:xfrm>
          <a:prstGeom prst="rect">
            <a:avLst/>
          </a:prstGeom>
          <a:noFill/>
          <a:ln/>
        </p:spPr>
        <p:txBody>
          <a:bodyPr wrap="square" rtlCol="0" anchor="ctr"/>
          <a:lstStyle/>
          <a:p>
            <a:pPr indent="0" marL="0">
              <a:buNone/>
            </a:pPr>
            <a:r>
              <a:rPr lang="en-US" sz="1150" dirty="0">
                <a:solidFill>
                  <a:srgbClr val="2DC653"/>
                </a:solidFill>
                <a:latin typeface="Calibri" pitchFamily="34" charset="0"/>
                <a:ea typeface="Calibri" pitchFamily="34" charset="-122"/>
                <a:cs typeface="Calibri" pitchFamily="34" charset="-120"/>
              </a:rPr>
              <a:t>B. How much energy was transferred</a:t>
            </a:r>
            <a:endParaRPr lang="en-US" sz="1150" dirty="0"/>
          </a:p>
        </p:txBody>
      </p:sp>
      <p:sp>
        <p:nvSpPr>
          <p:cNvPr id="9" name="Text 7"/>
          <p:cNvSpPr/>
          <p:nvPr/>
        </p:nvSpPr>
        <p:spPr>
          <a:xfrm>
            <a:off x="731520" y="1847088"/>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 How far the ramp is from the floor</a:t>
            </a:r>
            <a:endParaRPr lang="en-US" sz="1150" dirty="0"/>
          </a:p>
        </p:txBody>
      </p:sp>
      <p:sp>
        <p:nvSpPr>
          <p:cNvPr id="10" name="Text 8"/>
          <p:cNvSpPr/>
          <p:nvPr/>
        </p:nvSpPr>
        <p:spPr>
          <a:xfrm>
            <a:off x="6400800" y="1847088"/>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D. The speed of the marble</a:t>
            </a:r>
            <a:endParaRPr lang="en-US" sz="1150" dirty="0"/>
          </a:p>
        </p:txBody>
      </p:sp>
      <p:sp>
        <p:nvSpPr>
          <p:cNvPr id="11" name="Text 9"/>
          <p:cNvSpPr/>
          <p:nvPr/>
        </p:nvSpPr>
        <p:spPr>
          <a:xfrm>
            <a:off x="9601200" y="3017520"/>
            <a:ext cx="2103120" cy="320040"/>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Answer: B</a:t>
            </a:r>
            <a:endParaRPr lang="en-US" sz="1000" dirty="0"/>
          </a:p>
        </p:txBody>
      </p:sp>
      <p:sp>
        <p:nvSpPr>
          <p:cNvPr id="12" name="Shape 10"/>
          <p:cNvSpPr/>
          <p:nvPr/>
        </p:nvSpPr>
        <p:spPr>
          <a:xfrm>
            <a:off x="365760" y="3630168"/>
            <a:ext cx="11430000" cy="2697480"/>
          </a:xfrm>
          <a:prstGeom prst="roundRect">
            <a:avLst>
              <a:gd name="adj" fmla="val 2712"/>
            </a:avLst>
          </a:prstGeom>
          <a:solidFill>
            <a:srgbClr val="1E2F45"/>
          </a:solidFill>
          <a:ln w="12700">
            <a:solidFill>
              <a:srgbClr val="243A52"/>
            </a:solidFill>
            <a:prstDash val="solid"/>
          </a:ln>
        </p:spPr>
      </p:sp>
      <p:sp>
        <p:nvSpPr>
          <p:cNvPr id="13" name="Text 11"/>
          <p:cNvSpPr/>
          <p:nvPr/>
        </p:nvSpPr>
        <p:spPr>
          <a:xfrm>
            <a:off x="548640" y="3703320"/>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2. Why is it important to run multiple trials in an investigation?</a:t>
            </a:r>
            <a:endParaRPr lang="en-US" sz="1250" dirty="0"/>
          </a:p>
        </p:txBody>
      </p:sp>
      <p:sp>
        <p:nvSpPr>
          <p:cNvPr id="14" name="Text 12"/>
          <p:cNvSpPr/>
          <p:nvPr/>
        </p:nvSpPr>
        <p:spPr>
          <a:xfrm>
            <a:off x="731520" y="4251960"/>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To use all available materials</a:t>
            </a:r>
            <a:endParaRPr lang="en-US" sz="1150" dirty="0"/>
          </a:p>
        </p:txBody>
      </p:sp>
      <p:sp>
        <p:nvSpPr>
          <p:cNvPr id="15" name="Text 13"/>
          <p:cNvSpPr/>
          <p:nvPr/>
        </p:nvSpPr>
        <p:spPr>
          <a:xfrm>
            <a:off x="6400800" y="4251960"/>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 To check if the equipment is new</a:t>
            </a:r>
            <a:endParaRPr lang="en-US" sz="1150" dirty="0"/>
          </a:p>
        </p:txBody>
      </p:sp>
      <p:sp>
        <p:nvSpPr>
          <p:cNvPr id="16" name="Text 14"/>
          <p:cNvSpPr/>
          <p:nvPr/>
        </p:nvSpPr>
        <p:spPr>
          <a:xfrm>
            <a:off x="731520" y="4727448"/>
            <a:ext cx="5486400" cy="420624"/>
          </a:xfrm>
          <a:prstGeom prst="rect">
            <a:avLst/>
          </a:prstGeom>
          <a:noFill/>
          <a:ln/>
        </p:spPr>
        <p:txBody>
          <a:bodyPr wrap="square" rtlCol="0" anchor="ctr"/>
          <a:lstStyle/>
          <a:p>
            <a:pPr indent="0" marL="0">
              <a:buNone/>
            </a:pPr>
            <a:r>
              <a:rPr lang="en-US" sz="1150" dirty="0">
                <a:solidFill>
                  <a:srgbClr val="2DC653"/>
                </a:solidFill>
                <a:latin typeface="Calibri" pitchFamily="34" charset="0"/>
                <a:ea typeface="Calibri" pitchFamily="34" charset="-122"/>
                <a:cs typeface="Calibri" pitchFamily="34" charset="-120"/>
              </a:rPr>
              <a:t>C. To average out errors and confirm patterns</a:t>
            </a:r>
            <a:endParaRPr lang="en-US" sz="1150" dirty="0"/>
          </a:p>
        </p:txBody>
      </p:sp>
      <p:sp>
        <p:nvSpPr>
          <p:cNvPr id="17" name="Text 15"/>
          <p:cNvSpPr/>
          <p:nvPr/>
        </p:nvSpPr>
        <p:spPr>
          <a:xfrm>
            <a:off x="6400800" y="4727448"/>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D. To satisfy the teacher</a:t>
            </a:r>
            <a:endParaRPr lang="en-US" sz="1150" dirty="0"/>
          </a:p>
        </p:txBody>
      </p:sp>
      <p:sp>
        <p:nvSpPr>
          <p:cNvPr id="18" name="Text 16"/>
          <p:cNvSpPr/>
          <p:nvPr/>
        </p:nvSpPr>
        <p:spPr>
          <a:xfrm>
            <a:off x="9601200" y="5897880"/>
            <a:ext cx="2103120" cy="320040"/>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Answer: C</a:t>
            </a:r>
            <a:endParaRPr lang="en-US" sz="10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19-02  ·  Investigation: Faster = More Energy?</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"Does a faster object really have more kinetic energy — and how do you know?"</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Investigation prediction (notebook)</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Completed data table with averages (notebook)</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Analysis questions answered (notebook)</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Full CER: Claim + Evidence + Reasoning (notebook)</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20-01: How Does Energy Move? — 4 forms of energy transfer</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19-02  ·  Investigation: Faster = More Energy?</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2026-07-14T00:31:42Z</dcterms:created>
  <dcterms:modified xsi:type="dcterms:W3CDTF">2026-07-14T00:31:42Z</dcterms:modified>
</cp:coreProperties>
</file>