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lesson connects to Florida specifically! Students will discover that the land beneath their feet is a treasure chest of natural resources. Start with: 'Did anyone eat food today? Where did the ingredients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3-4 minutes. Circulate — look for interesting examples (glass = quartz sand, desk = wood = trees, plastic = oil).
Facilitation: 'Share your most surprising material source. Could it have come from Florida?'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and talk: Does every place on Earth have the same resources? Predict — what makes Florida special?'
The phosphate fact is a hook — connect to food. Your breakfast cereal might owe something to Florida phosphate!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mineral to previous lesson (6.02)! Students already know about mineral properties. Now they're learning about USES.
'Phosphate is a mineral — can anyone name its properties? Hard or soft? What do you think its streak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'Fossil fuel' = 'fossil' + 'fuel.' What are fossils? Ancient living things. So fossil fuels = ancient living things turned into energy over millions of years.
Conservation practice: 'Name one thing you did TODAY that conserved a natural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layer. KEY QUESTION: 'Why are underground minerals nonrenewable while sunlight above is renewable?'
'I know phosphate is nonrenewable because... This shows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 Phosphate is nonrenewable but water is renewable. Why the difference? Time to form!
Real-world hook: 'Florida sand has silicon. The phone in your pocket likely has Florida sand in its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'Phosphate took longer to form than the age of dinosaurs — and we're using it up in decades!'
Evidence reasoning: 'I know phosphate is nonrenewable because it took 300+ million years to form. This shows that once we use it, it can't be replaced in any human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moment. The ground beneath Florida's farms and cities used to be the bottom of an ancient sea. That's why Florida has phosphate and Colorado doesn't!
Ask: 'If Florida was once a sea, what does that tell us about where to find other fossils?'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using phosphate as the example resource.
'At which step could conservation help the most? What's the evidence?'
Connect Step 4 to daily life: 'Every time you eat food grown with fertilizer, you're connected to Florida phosphate!'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Location matters! Florida's geology (ancient sea) gives it phosphate but not granite. Mountains have granite but not phosphate.
'I know Florida doesn't have granite because... This shows that different places have different resources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evidence MOST convinces you that Florida needs to protect its resources? What would change your mind?'
Look for: students connecting specific Florida resources (phosphate, aquifer) to the nonrenewable argument, not just abstract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justify their answers: 'What's your evidence? Why not option A?'
Check for: understanding that location = different resources (Q3 is the key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Part C, revisit your warm-up object list! You've already found the objects — now classify them.'
CER tip: The phosphate formation timeline (300 million years) and 75% of US production are powerful evidence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warm-up object lists! 'Any surprises? Did anything come from farther away than you expected?'
Exit ticket: 'Name ONE Florida resource and explain whether it is renewable or nonrenewable — and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Local Resources: What the Earth Gives Us</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What does the Earth give us right here — and why does location matter?</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4-ESS3-1 · Earth's Resources &amp; Human Use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what a natural resource is and give examples found in my local area.</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Classify natural resources as renewable or nonrenewable and explain the difference.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Explain why communities use local resources and why they sometimes need resources from other places.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 Science notebook   🖍️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Warm-Up: Resources Are All Around You</a:t>
            </a:r>
            <a:endParaRPr lang="en-US" sz="1600" dirty="0"/>
          </a:p>
        </p:txBody>
      </p:sp>
      <p:sp>
        <p:nvSpPr>
          <p:cNvPr id="5" name="Shape 3"/>
          <p:cNvSpPr/>
          <p:nvPr/>
        </p:nvSpPr>
        <p:spPr>
          <a:xfrm>
            <a:off x="365760" y="749808"/>
            <a:ext cx="1124712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749808"/>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207008"/>
            <a:ext cx="5943600" cy="4480560"/>
          </a:xfrm>
          <a:prstGeom prst="roundRect">
            <a:avLst>
              <a:gd name="adj" fmla="val 1633"/>
            </a:avLst>
          </a:prstGeom>
          <a:solidFill>
            <a:srgbClr val="1E2F45"/>
          </a:solidFill>
          <a:ln w="12700">
            <a:solidFill>
              <a:srgbClr val="FFB703"/>
            </a:solidFill>
            <a:prstDash val="solid"/>
          </a:ln>
        </p:spPr>
      </p:sp>
      <p:sp>
        <p:nvSpPr>
          <p:cNvPr id="8" name="Text 6"/>
          <p:cNvSpPr/>
          <p:nvPr/>
        </p:nvSpPr>
        <p:spPr>
          <a:xfrm>
            <a:off x="548640" y="1280160"/>
            <a:ext cx="5669280" cy="411480"/>
          </a:xfrm>
          <a:prstGeom prst="rect">
            <a:avLst/>
          </a:prstGeom>
          <a:noFill/>
          <a:ln/>
        </p:spPr>
        <p:txBody>
          <a:bodyPr wrap="square" rtlCol="0" anchor="ctr"/>
          <a:lstStyle/>
          <a:p>
            <a:pPr indent="0" marL="0">
              <a:buNone/>
            </a:pPr>
            <a:r>
              <a:rPr lang="en-US" sz="1400" b="1" dirty="0">
                <a:solidFill>
                  <a:srgbClr val="FFB703"/>
                </a:solidFill>
                <a:latin typeface="Calibri" pitchFamily="34" charset="0"/>
                <a:ea typeface="Calibri" pitchFamily="34" charset="-122"/>
                <a:cs typeface="Calibri" pitchFamily="34" charset="-120"/>
              </a:rPr>
              <a:t>Look around the room you're in right now.</a:t>
            </a:r>
            <a:endParaRPr lang="en-US" sz="1400" dirty="0"/>
          </a:p>
        </p:txBody>
      </p:sp>
      <p:sp>
        <p:nvSpPr>
          <p:cNvPr id="9" name="Text 7"/>
          <p:cNvSpPr/>
          <p:nvPr/>
        </p:nvSpPr>
        <p:spPr>
          <a:xfrm>
            <a:off x="548640" y="1737360"/>
            <a:ext cx="5669280" cy="374904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 your notebook, list 5 objects you can see.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For EACH object, try to answer:</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What material is it made from?</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Where did that material come from — the ground, a plant, the sun?</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"Have you ever thought about where materials in your home came from? Do you think they can all be found right here in Florida — or did some come from far away?"</a:t>
            </a:r>
            <a:endParaRPr lang="en-US" sz="1250" dirty="0"/>
          </a:p>
        </p:txBody>
      </p:sp>
      <p:sp>
        <p:nvSpPr>
          <p:cNvPr id="10" name="Shape 8"/>
          <p:cNvSpPr/>
          <p:nvPr/>
        </p:nvSpPr>
        <p:spPr>
          <a:xfrm>
            <a:off x="6492240" y="1207008"/>
            <a:ext cx="5577840" cy="4480560"/>
          </a:xfrm>
          <a:prstGeom prst="roundRect">
            <a:avLst>
              <a:gd name="adj" fmla="val 1633"/>
            </a:avLst>
          </a:prstGeom>
          <a:solidFill>
            <a:srgbClr val="0A1520"/>
          </a:solidFill>
          <a:ln w="19050">
            <a:solidFill>
              <a:srgbClr val="4CC9F0"/>
            </a:solidFill>
            <a:prstDash val="dash"/>
          </a:ln>
        </p:spPr>
      </p:sp>
      <p:sp>
        <p:nvSpPr>
          <p:cNvPr id="11" name="Text 9"/>
          <p:cNvSpPr/>
          <p:nvPr/>
        </p:nvSpPr>
        <p:spPr>
          <a:xfrm>
            <a:off x="6583680" y="1316736"/>
            <a:ext cx="53949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6583680" y="1755648"/>
            <a:ext cx="53949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6601968" y="2048256"/>
            <a:ext cx="5358384" cy="34290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landscape phosphate mine citrus grove solar panels natural resources"</a:t>
            </a:r>
            <a:endParaRPr lang="en-US" sz="950" dirty="0"/>
          </a:p>
        </p:txBody>
      </p:sp>
      <p:sp>
        <p:nvSpPr>
          <p:cNvPr id="14" name="Text 12"/>
          <p:cNvSpPr/>
          <p:nvPr/>
        </p:nvSpPr>
        <p:spPr>
          <a:xfrm>
            <a:off x="6492240" y="5724144"/>
            <a:ext cx="55778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is full of natural resources — above and below the ground</a:t>
            </a:r>
            <a:endParaRPr lang="en-US" sz="9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Prediction: Florida's Hidden Treasures</a:t>
            </a:r>
            <a:endParaRPr lang="en-US" sz="1600" dirty="0"/>
          </a:p>
        </p:txBody>
      </p:sp>
      <p:sp>
        <p:nvSpPr>
          <p:cNvPr id="5" name="Shape 3"/>
          <p:cNvSpPr/>
          <p:nvPr/>
        </p:nvSpPr>
        <p:spPr>
          <a:xfrm>
            <a:off x="365760" y="749808"/>
            <a:ext cx="11247120" cy="1005840"/>
          </a:xfrm>
          <a:prstGeom prst="roundRect">
            <a:avLst>
              <a:gd name="adj" fmla="val 7273"/>
            </a:avLst>
          </a:prstGeom>
          <a:solidFill>
            <a:srgbClr val="1E2F45"/>
          </a:solidFill>
          <a:ln w="12700">
            <a:solidFill>
              <a:srgbClr val="4CC9F0"/>
            </a:solidFill>
            <a:prstDash val="solid"/>
          </a:ln>
        </p:spPr>
      </p:sp>
      <p:sp>
        <p:nvSpPr>
          <p:cNvPr id="6" name="Text 4"/>
          <p:cNvSpPr/>
          <p:nvPr/>
        </p:nvSpPr>
        <p:spPr>
          <a:xfrm>
            <a:off x="548640" y="822960"/>
            <a:ext cx="10972800" cy="822960"/>
          </a:xfrm>
          <a:prstGeom prst="rect">
            <a:avLst/>
          </a:prstGeom>
          <a:noFill/>
          <a:ln/>
        </p:spPr>
        <p:txBody>
          <a:bodyPr wrap="square" rtlCol="0" anchor="ctr"/>
          <a:lstStyle/>
          <a:p>
            <a:pPr algn="ctr" indent="0" marL="0">
              <a:buNone/>
            </a:pPr>
            <a:r>
              <a:rPr lang="en-US" sz="1350" i="1" dirty="0">
                <a:solidFill>
                  <a:srgbClr val="4CC9F0"/>
                </a:solidFill>
                <a:latin typeface="Calibri" pitchFamily="34" charset="0"/>
                <a:ea typeface="Calibri" pitchFamily="34" charset="-122"/>
                <a:cs typeface="Calibri" pitchFamily="34" charset="-120"/>
              </a:rPr>
              <a:t>"Everything around you — your home, your food, your energy — came from somewhere on Earth. But where exactly? And does every place on Earth have the same resources?"</a:t>
            </a:r>
            <a:endParaRPr lang="en-US" sz="1350" dirty="0"/>
          </a:p>
        </p:txBody>
      </p:sp>
      <p:sp>
        <p:nvSpPr>
          <p:cNvPr id="7" name="Text 5"/>
          <p:cNvSpPr/>
          <p:nvPr/>
        </p:nvSpPr>
        <p:spPr>
          <a:xfrm>
            <a:off x="365760" y="1920240"/>
            <a:ext cx="1124712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 predict ___ because ___</a:t>
            </a:r>
            <a:endParaRPr lang="en-US" sz="1600" dirty="0"/>
          </a:p>
        </p:txBody>
      </p:sp>
      <p:sp>
        <p:nvSpPr>
          <p:cNvPr id="8" name="Shape 6"/>
          <p:cNvSpPr/>
          <p:nvPr/>
        </p:nvSpPr>
        <p:spPr>
          <a:xfrm>
            <a:off x="365760" y="2542032"/>
            <a:ext cx="11247120" cy="1005840"/>
          </a:xfrm>
          <a:prstGeom prst="roundRect">
            <a:avLst>
              <a:gd name="adj" fmla="val 7273"/>
            </a:avLst>
          </a:prstGeom>
          <a:solidFill>
            <a:srgbClr val="0A2030"/>
          </a:solidFill>
          <a:ln w="12700">
            <a:solidFill>
              <a:srgbClr val="FFB703"/>
            </a:solidFill>
            <a:prstDash val="solid"/>
          </a:ln>
        </p:spPr>
      </p:sp>
      <p:sp>
        <p:nvSpPr>
          <p:cNvPr id="9" name="Text 7"/>
          <p:cNvSpPr/>
          <p:nvPr/>
        </p:nvSpPr>
        <p:spPr>
          <a:xfrm>
            <a:off x="548640" y="2615184"/>
            <a:ext cx="10972800" cy="859536"/>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Mind-Blowing Fact 🤯  Florida produces about 75% of all the phosphate used in the entire United States! That phosphate gets turned into fertilizer — the nutrient boost that helps grow much of the food on your dinner plate!</a:t>
            </a:r>
            <a:endParaRPr lang="en-US" sz="1300" dirty="0"/>
          </a:p>
        </p:txBody>
      </p:sp>
      <p:sp>
        <p:nvSpPr>
          <p:cNvPr id="10" name="Shape 8"/>
          <p:cNvSpPr/>
          <p:nvPr/>
        </p:nvSpPr>
        <p:spPr>
          <a:xfrm>
            <a:off x="365760" y="3703320"/>
            <a:ext cx="5394960" cy="2423160"/>
          </a:xfrm>
          <a:prstGeom prst="roundRect">
            <a:avLst>
              <a:gd name="adj" fmla="val 3019"/>
            </a:avLst>
          </a:prstGeom>
          <a:solidFill>
            <a:srgbClr val="0A1520"/>
          </a:solidFill>
          <a:ln w="19050">
            <a:solidFill>
              <a:srgbClr val="4CC9F0"/>
            </a:solidFill>
            <a:prstDash val="dash"/>
          </a:ln>
        </p:spPr>
      </p:sp>
      <p:sp>
        <p:nvSpPr>
          <p:cNvPr id="11" name="Text 9"/>
          <p:cNvSpPr/>
          <p:nvPr/>
        </p:nvSpPr>
        <p:spPr>
          <a:xfrm>
            <a:off x="457200" y="3813048"/>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457200" y="4251960"/>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3" name="Text 11"/>
          <p:cNvSpPr/>
          <p:nvPr/>
        </p:nvSpPr>
        <p:spPr>
          <a:xfrm>
            <a:off x="475488" y="4544568"/>
            <a:ext cx="5175504" cy="1371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"phosphate mining Florida open pit aerial view central Florida Polk County"</a:t>
            </a:r>
            <a:endParaRPr lang="en-US" sz="950" dirty="0"/>
          </a:p>
        </p:txBody>
      </p:sp>
      <p:sp>
        <p:nvSpPr>
          <p:cNvPr id="14" name="Text 12"/>
          <p:cNvSpPr/>
          <p:nvPr/>
        </p:nvSpPr>
        <p:spPr>
          <a:xfrm>
            <a:off x="365760" y="616305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Phosphate mines in Central Florida</a:t>
            </a:r>
            <a:endParaRPr lang="en-US" sz="900" dirty="0"/>
          </a:p>
        </p:txBody>
      </p:sp>
      <p:sp>
        <p:nvSpPr>
          <p:cNvPr id="15" name="Shape 13"/>
          <p:cNvSpPr/>
          <p:nvPr/>
        </p:nvSpPr>
        <p:spPr>
          <a:xfrm>
            <a:off x="5943600" y="3703320"/>
            <a:ext cx="5760720" cy="2423160"/>
          </a:xfrm>
          <a:prstGeom prst="roundRect">
            <a:avLst>
              <a:gd name="adj" fmla="val 3019"/>
            </a:avLst>
          </a:prstGeom>
          <a:solidFill>
            <a:srgbClr val="0A1520"/>
          </a:solidFill>
          <a:ln w="19050">
            <a:solidFill>
              <a:srgbClr val="4CC9F0"/>
            </a:solidFill>
            <a:prstDash val="dash"/>
          </a:ln>
        </p:spPr>
      </p:sp>
      <p:sp>
        <p:nvSpPr>
          <p:cNvPr id="16" name="Text 14"/>
          <p:cNvSpPr/>
          <p:nvPr/>
        </p:nvSpPr>
        <p:spPr>
          <a:xfrm>
            <a:off x="6035040" y="3813048"/>
            <a:ext cx="55778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035040" y="4251960"/>
            <a:ext cx="55778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6053328" y="4544568"/>
            <a:ext cx="5541264" cy="13716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citrus orange grove agricultural land natural resources sunshine state"</a:t>
            </a:r>
            <a:endParaRPr lang="en-US" sz="950" dirty="0"/>
          </a:p>
        </p:txBody>
      </p:sp>
      <p:sp>
        <p:nvSpPr>
          <p:cNvPr id="19" name="Text 17"/>
          <p:cNvSpPr/>
          <p:nvPr/>
        </p:nvSpPr>
        <p:spPr>
          <a:xfrm>
            <a:off x="5943600" y="6163056"/>
            <a:ext cx="57607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agriculture — powered by sun, water, and phosphate fertilizer</a:t>
            </a:r>
            <a:endParaRPr lang="en-US" sz="9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1</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49808"/>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Natural Resource</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material found in nature that people use — like water, soil, wood, sunlight, and minerals.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Renewable Resource</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nature can replace in a short amount of time — like sunlight, wind, and water.</a:t>
            </a:r>
            <a:endParaRPr lang="en-US" sz="1050" dirty="0"/>
          </a:p>
        </p:txBody>
      </p:sp>
      <p:sp>
        <p:nvSpPr>
          <p:cNvPr id="13" name="Shape 11"/>
          <p:cNvSpPr/>
          <p:nvPr/>
        </p:nvSpPr>
        <p:spPr>
          <a:xfrm>
            <a:off x="365760" y="3200400"/>
            <a:ext cx="5394960" cy="1325880"/>
          </a:xfrm>
          <a:prstGeom prst="roundRect">
            <a:avLst>
              <a:gd name="adj" fmla="val 6897"/>
            </a:avLst>
          </a:prstGeom>
          <a:solidFill>
            <a:srgbClr val="1E2F45"/>
          </a:solidFill>
          <a:ln w="25400">
            <a:solidFill>
              <a:srgbClr val="F4736A"/>
            </a:solidFill>
            <a:prstDash val="solid"/>
          </a:ln>
        </p:spPr>
      </p:sp>
      <p:sp>
        <p:nvSpPr>
          <p:cNvPr id="14" name="Shape 12"/>
          <p:cNvSpPr/>
          <p:nvPr/>
        </p:nvSpPr>
        <p:spPr>
          <a:xfrm>
            <a:off x="365760" y="3200400"/>
            <a:ext cx="5394960" cy="347472"/>
          </a:xfrm>
          <a:prstGeom prst="roundRect">
            <a:avLst>
              <a:gd name="adj" fmla="val 21053"/>
            </a:avLst>
          </a:prstGeom>
          <a:solidFill>
            <a:srgbClr val="F4736A"/>
          </a:solidFill>
          <a:ln w="12700">
            <a:solidFill>
              <a:srgbClr val="F4736A"/>
            </a:solidFill>
            <a:prstDash val="solid"/>
          </a:ln>
        </p:spPr>
      </p:sp>
      <p:sp>
        <p:nvSpPr>
          <p:cNvPr id="15" name="Text 13"/>
          <p:cNvSpPr/>
          <p:nvPr/>
        </p:nvSpPr>
        <p:spPr>
          <a:xfrm>
            <a:off x="457200" y="3227832"/>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Nonrenewable Resource</a:t>
            </a:r>
            <a:endParaRPr lang="en-US" sz="1200" dirty="0"/>
          </a:p>
        </p:txBody>
      </p:sp>
      <p:sp>
        <p:nvSpPr>
          <p:cNvPr id="16" name="Text 14"/>
          <p:cNvSpPr/>
          <p:nvPr/>
        </p:nvSpPr>
        <p:spPr>
          <a:xfrm>
            <a:off x="475488" y="3602736"/>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resource that takes millions of years to form and can run out — like oil, coal, and most minerals.</a:t>
            </a:r>
            <a:endParaRPr lang="en-US" sz="1050" dirty="0"/>
          </a:p>
        </p:txBody>
      </p:sp>
      <p:sp>
        <p:nvSpPr>
          <p:cNvPr id="17" name="Shape 15"/>
          <p:cNvSpPr/>
          <p:nvPr/>
        </p:nvSpPr>
        <p:spPr>
          <a:xfrm>
            <a:off x="6035040" y="3200400"/>
            <a:ext cx="5577840" cy="1325880"/>
          </a:xfrm>
          <a:prstGeom prst="roundRect">
            <a:avLst>
              <a:gd name="adj" fmla="val 6897"/>
            </a:avLst>
          </a:prstGeom>
          <a:solidFill>
            <a:srgbClr val="1E2F45"/>
          </a:solidFill>
          <a:ln w="25400">
            <a:solidFill>
              <a:srgbClr val="FFB703"/>
            </a:solidFill>
            <a:prstDash val="solid"/>
          </a:ln>
        </p:spPr>
      </p:sp>
      <p:sp>
        <p:nvSpPr>
          <p:cNvPr id="18" name="Shape 16"/>
          <p:cNvSpPr/>
          <p:nvPr/>
        </p:nvSpPr>
        <p:spPr>
          <a:xfrm>
            <a:off x="6035040" y="3200400"/>
            <a:ext cx="5577840" cy="347472"/>
          </a:xfrm>
          <a:prstGeom prst="roundRect">
            <a:avLst>
              <a:gd name="adj" fmla="val 21053"/>
            </a:avLst>
          </a:prstGeom>
          <a:solidFill>
            <a:srgbClr val="FFB703"/>
          </a:solidFill>
          <a:ln w="12700">
            <a:solidFill>
              <a:srgbClr val="FFB703"/>
            </a:solidFill>
            <a:prstDash val="solid"/>
          </a:ln>
        </p:spPr>
      </p:sp>
      <p:sp>
        <p:nvSpPr>
          <p:cNvPr id="19" name="Text 17"/>
          <p:cNvSpPr/>
          <p:nvPr/>
        </p:nvSpPr>
        <p:spPr>
          <a:xfrm>
            <a:off x="6126480" y="3227832"/>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Mineral</a:t>
            </a:r>
            <a:endParaRPr lang="en-US" sz="1200" dirty="0"/>
          </a:p>
        </p:txBody>
      </p:sp>
      <p:sp>
        <p:nvSpPr>
          <p:cNvPr id="20" name="Text 18"/>
          <p:cNvSpPr/>
          <p:nvPr/>
        </p:nvSpPr>
        <p:spPr>
          <a:xfrm>
            <a:off x="6144768" y="3602736"/>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natural, nonliving solid material found in the Earth's crust — like limestone, phosphate, and silicon.</a:t>
            </a:r>
            <a:endParaRPr lang="en-US" sz="105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Vocabulary — Part 2</a:t>
            </a:r>
            <a:endParaRPr lang="en-US" sz="1600" dirty="0"/>
          </a:p>
        </p:txBody>
      </p:sp>
      <p:sp>
        <p:nvSpPr>
          <p:cNvPr id="5" name="Shape 3"/>
          <p:cNvSpPr/>
          <p:nvPr/>
        </p:nvSpPr>
        <p:spPr>
          <a:xfrm>
            <a:off x="365760" y="749808"/>
            <a:ext cx="5394960" cy="1325880"/>
          </a:xfrm>
          <a:prstGeom prst="roundRect">
            <a:avLst>
              <a:gd name="adj" fmla="val 6897"/>
            </a:avLst>
          </a:prstGeom>
          <a:solidFill>
            <a:srgbClr val="1E2F45"/>
          </a:solidFill>
          <a:ln w="25400">
            <a:solidFill>
              <a:srgbClr val="FFB703"/>
            </a:solidFill>
            <a:prstDash val="solid"/>
          </a:ln>
        </p:spPr>
      </p:sp>
      <p:sp>
        <p:nvSpPr>
          <p:cNvPr id="6" name="Shape 4"/>
          <p:cNvSpPr/>
          <p:nvPr/>
        </p:nvSpPr>
        <p:spPr>
          <a:xfrm>
            <a:off x="365760" y="749808"/>
            <a:ext cx="5394960" cy="347472"/>
          </a:xfrm>
          <a:prstGeom prst="roundRect">
            <a:avLst>
              <a:gd name="adj" fmla="val 21053"/>
            </a:avLst>
          </a:prstGeom>
          <a:solidFill>
            <a:srgbClr val="FFB703"/>
          </a:solidFill>
          <a:ln w="12700">
            <a:solidFill>
              <a:srgbClr val="FFB703"/>
            </a:solidFill>
            <a:prstDash val="solid"/>
          </a:ln>
        </p:spPr>
      </p:sp>
      <p:sp>
        <p:nvSpPr>
          <p:cNvPr id="7" name="Text 5"/>
          <p:cNvSpPr/>
          <p:nvPr/>
        </p:nvSpPr>
        <p:spPr>
          <a:xfrm>
            <a:off x="457200" y="777240"/>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Fossil Fuel</a:t>
            </a:r>
            <a:endParaRPr lang="en-US" sz="1200" dirty="0"/>
          </a:p>
        </p:txBody>
      </p:sp>
      <p:sp>
        <p:nvSpPr>
          <p:cNvPr id="8" name="Text 6"/>
          <p:cNvSpPr/>
          <p:nvPr/>
        </p:nvSpPr>
        <p:spPr>
          <a:xfrm>
            <a:off x="475488" y="1152144"/>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Fuel made from ancient plants and animals buried underground for hundreds of millions of years. Oil, coal, and natural gas are all fossil fuels.</a:t>
            </a:r>
            <a:endParaRPr lang="en-US" sz="1050" dirty="0"/>
          </a:p>
        </p:txBody>
      </p:sp>
      <p:sp>
        <p:nvSpPr>
          <p:cNvPr id="9" name="Shape 7"/>
          <p:cNvSpPr/>
          <p:nvPr/>
        </p:nvSpPr>
        <p:spPr>
          <a:xfrm>
            <a:off x="6035040" y="749808"/>
            <a:ext cx="557784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6035040" y="749808"/>
            <a:ext cx="557784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6126480" y="777240"/>
            <a:ext cx="5394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Conservation</a:t>
            </a:r>
            <a:endParaRPr lang="en-US" sz="1200" dirty="0"/>
          </a:p>
        </p:txBody>
      </p:sp>
      <p:sp>
        <p:nvSpPr>
          <p:cNvPr id="12" name="Text 10"/>
          <p:cNvSpPr/>
          <p:nvPr/>
        </p:nvSpPr>
        <p:spPr>
          <a:xfrm>
            <a:off x="6144768" y="1152144"/>
            <a:ext cx="53583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Using natural resources carefully and wisely so they don't run out and will still be available for future generations.</a:t>
            </a:r>
            <a:endParaRPr lang="en-US" sz="1050" dirty="0"/>
          </a:p>
        </p:txBody>
      </p:sp>
      <p:sp>
        <p:nvSpPr>
          <p:cNvPr id="13" name="Shape 11"/>
          <p:cNvSpPr/>
          <p:nvPr/>
        </p:nvSpPr>
        <p:spPr>
          <a:xfrm>
            <a:off x="365760" y="3017520"/>
            <a:ext cx="11247120" cy="1463040"/>
          </a:xfrm>
          <a:prstGeom prst="roundRect">
            <a:avLst>
              <a:gd name="adj" fmla="val 5000"/>
            </a:avLst>
          </a:prstGeom>
          <a:solidFill>
            <a:srgbClr val="1E2F45"/>
          </a:solidFill>
          <a:ln w="12700">
            <a:solidFill>
              <a:srgbClr val="FFB703"/>
            </a:solidFill>
            <a:prstDash val="solid"/>
          </a:ln>
        </p:spPr>
      </p:sp>
      <p:sp>
        <p:nvSpPr>
          <p:cNvPr id="14" name="Text 12"/>
          <p:cNvSpPr/>
          <p:nvPr/>
        </p:nvSpPr>
        <p:spPr>
          <a:xfrm>
            <a:off x="548640" y="3090672"/>
            <a:ext cx="109728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Discussion Question:</a:t>
            </a:r>
            <a:endParaRPr lang="en-US" sz="1300" dirty="0"/>
          </a:p>
        </p:txBody>
      </p:sp>
      <p:sp>
        <p:nvSpPr>
          <p:cNvPr id="15" name="Text 13"/>
          <p:cNvSpPr/>
          <p:nvPr/>
        </p:nvSpPr>
        <p:spPr>
          <a:xfrm>
            <a:off x="548640" y="3511296"/>
            <a:ext cx="10972800" cy="896112"/>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"If you used up all the sunlight today, would there be more tomorrow? What about all the oil underground — if we used it all up, could Earth make more quickly?"</a:t>
            </a:r>
            <a:endParaRPr lang="en-US" sz="13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Florida's Resources: Sky, Surface, Underground</a:t>
            </a:r>
            <a:endParaRPr lang="en-US" sz="1600" dirty="0"/>
          </a:p>
        </p:txBody>
      </p:sp>
      <p:sp>
        <p:nvSpPr>
          <p:cNvPr id="5" name="Shape 3"/>
          <p:cNvSpPr/>
          <p:nvPr/>
        </p:nvSpPr>
        <p:spPr>
          <a:xfrm>
            <a:off x="365760" y="749808"/>
            <a:ext cx="4389120" cy="5349240"/>
          </a:xfrm>
          <a:prstGeom prst="roundRect">
            <a:avLst>
              <a:gd name="adj" fmla="val 1667"/>
            </a:avLst>
          </a:prstGeom>
          <a:solidFill>
            <a:srgbClr val="0A1520"/>
          </a:solidFill>
          <a:ln w="19050">
            <a:solidFill>
              <a:srgbClr val="4CC9F0"/>
            </a:solidFill>
            <a:prstDash val="dash"/>
          </a:ln>
        </p:spPr>
      </p:sp>
      <p:sp>
        <p:nvSpPr>
          <p:cNvPr id="6" name="Text 4"/>
          <p:cNvSpPr/>
          <p:nvPr/>
        </p:nvSpPr>
        <p:spPr>
          <a:xfrm>
            <a:off x="457200" y="859536"/>
            <a:ext cx="4206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4206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4169664" cy="4297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cross-section geology diagram underground layers soil groundwater limestone phosphate"</a:t>
            </a:r>
            <a:endParaRPr lang="en-US" sz="950" dirty="0"/>
          </a:p>
        </p:txBody>
      </p:sp>
      <p:sp>
        <p:nvSpPr>
          <p:cNvPr id="9" name="Text 7"/>
          <p:cNvSpPr/>
          <p:nvPr/>
        </p:nvSpPr>
        <p:spPr>
          <a:xfrm>
            <a:off x="365760" y="6135624"/>
            <a:ext cx="4389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Earth's layers hold different resources at different depths</a:t>
            </a:r>
            <a:endParaRPr lang="en-US" sz="900" dirty="0"/>
          </a:p>
        </p:txBody>
      </p:sp>
      <p:sp>
        <p:nvSpPr>
          <p:cNvPr id="10" name="Shape 8"/>
          <p:cNvSpPr/>
          <p:nvPr/>
        </p:nvSpPr>
        <p:spPr>
          <a:xfrm>
            <a:off x="4937760" y="749808"/>
            <a:ext cx="6858000" cy="1508760"/>
          </a:xfrm>
          <a:prstGeom prst="roundRect">
            <a:avLst>
              <a:gd name="adj" fmla="val 4848"/>
            </a:avLst>
          </a:prstGeom>
          <a:solidFill>
            <a:srgbClr val="0A2030"/>
          </a:solidFill>
          <a:ln w="12700">
            <a:solidFill>
              <a:srgbClr val="FFB703"/>
            </a:solidFill>
            <a:prstDash val="solid"/>
          </a:ln>
        </p:spPr>
      </p:sp>
      <p:sp>
        <p:nvSpPr>
          <p:cNvPr id="11" name="Text 9"/>
          <p:cNvSpPr/>
          <p:nvPr/>
        </p:nvSpPr>
        <p:spPr>
          <a:xfrm>
            <a:off x="5120640" y="822960"/>
            <a:ext cx="658368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SKY: Solar Energy &amp; Wind</a:t>
            </a:r>
            <a:endParaRPr lang="en-US" sz="1300" dirty="0"/>
          </a:p>
        </p:txBody>
      </p:sp>
      <p:sp>
        <p:nvSpPr>
          <p:cNvPr id="12" name="Text 10"/>
          <p:cNvSpPr/>
          <p:nvPr/>
        </p:nvSpPr>
        <p:spPr>
          <a:xfrm>
            <a:off x="5120640" y="1234440"/>
            <a:ext cx="6583680" cy="9144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Florida's 230+ sunny days/year = massive solar potential. Renewable every single day!</a:t>
            </a:r>
            <a:endParaRPr lang="en-US" sz="1150" dirty="0"/>
          </a:p>
        </p:txBody>
      </p:sp>
      <p:sp>
        <p:nvSpPr>
          <p:cNvPr id="13" name="Shape 11"/>
          <p:cNvSpPr/>
          <p:nvPr/>
        </p:nvSpPr>
        <p:spPr>
          <a:xfrm>
            <a:off x="4937760" y="2395728"/>
            <a:ext cx="6858000" cy="1508760"/>
          </a:xfrm>
          <a:prstGeom prst="roundRect">
            <a:avLst>
              <a:gd name="adj" fmla="val 4848"/>
            </a:avLst>
          </a:prstGeom>
          <a:solidFill>
            <a:srgbClr val="0A2A1A"/>
          </a:solidFill>
          <a:ln w="12700">
            <a:solidFill>
              <a:srgbClr val="2DC653"/>
            </a:solidFill>
            <a:prstDash val="solid"/>
          </a:ln>
        </p:spPr>
      </p:sp>
      <p:sp>
        <p:nvSpPr>
          <p:cNvPr id="14" name="Text 12"/>
          <p:cNvSpPr/>
          <p:nvPr/>
        </p:nvSpPr>
        <p:spPr>
          <a:xfrm>
            <a:off x="5120640" y="2468880"/>
            <a:ext cx="6583680" cy="38404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SURFACE: Timber, Soil &amp; Water</a:t>
            </a:r>
            <a:endParaRPr lang="en-US" sz="1300" dirty="0"/>
          </a:p>
        </p:txBody>
      </p:sp>
      <p:sp>
        <p:nvSpPr>
          <p:cNvPr id="15" name="Text 13"/>
          <p:cNvSpPr/>
          <p:nvPr/>
        </p:nvSpPr>
        <p:spPr>
          <a:xfrm>
            <a:off x="5120640" y="2880360"/>
            <a:ext cx="6583680" cy="9144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Forests provide timber (renewable if managed). Rich soil for farming citrus &amp; crops. Rivers, lakes, and the Floridan Aquifer for water.</a:t>
            </a:r>
            <a:endParaRPr lang="en-US" sz="1150" dirty="0"/>
          </a:p>
        </p:txBody>
      </p:sp>
      <p:sp>
        <p:nvSpPr>
          <p:cNvPr id="16" name="Shape 14"/>
          <p:cNvSpPr/>
          <p:nvPr/>
        </p:nvSpPr>
        <p:spPr>
          <a:xfrm>
            <a:off x="4937760" y="4041648"/>
            <a:ext cx="6858000" cy="1234440"/>
          </a:xfrm>
          <a:prstGeom prst="roundRect">
            <a:avLst>
              <a:gd name="adj" fmla="val 5926"/>
            </a:avLst>
          </a:prstGeom>
          <a:solidFill>
            <a:srgbClr val="1A0A0A"/>
          </a:solidFill>
          <a:ln w="12700">
            <a:solidFill>
              <a:srgbClr val="F4736A"/>
            </a:solidFill>
            <a:prstDash val="solid"/>
          </a:ln>
        </p:spPr>
      </p:sp>
      <p:sp>
        <p:nvSpPr>
          <p:cNvPr id="17" name="Text 15"/>
          <p:cNvSpPr/>
          <p:nvPr/>
        </p:nvSpPr>
        <p:spPr>
          <a:xfrm>
            <a:off x="5120640" y="4114800"/>
            <a:ext cx="658368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UNDERGROUND: Minerals &amp; Fossil Fuels</a:t>
            </a:r>
            <a:endParaRPr lang="en-US" sz="1300" dirty="0"/>
          </a:p>
        </p:txBody>
      </p:sp>
      <p:sp>
        <p:nvSpPr>
          <p:cNvPr id="18" name="Text 16"/>
          <p:cNvSpPr/>
          <p:nvPr/>
        </p:nvSpPr>
        <p:spPr>
          <a:xfrm>
            <a:off x="5120640" y="4535424"/>
            <a:ext cx="6583680" cy="6583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Phosphate, limestone, silicon (nonrenewable). Ancient oil deposits (fossil fuel, nonrenewable).</a:t>
            </a:r>
            <a:endParaRPr lang="en-US" sz="1150" dirty="0"/>
          </a:p>
        </p:txBody>
      </p:sp>
      <p:sp>
        <p:nvSpPr>
          <p:cNvPr id="19" name="Shape 17"/>
          <p:cNvSpPr/>
          <p:nvPr/>
        </p:nvSpPr>
        <p:spPr>
          <a:xfrm>
            <a:off x="4937760" y="5413248"/>
            <a:ext cx="1554480" cy="256032"/>
          </a:xfrm>
          <a:prstGeom prst="roundRect">
            <a:avLst>
              <a:gd name="adj" fmla="val 50000"/>
            </a:avLst>
          </a:prstGeom>
          <a:solidFill>
            <a:srgbClr val="2DC653"/>
          </a:solidFill>
          <a:ln w="12700">
            <a:solidFill>
              <a:srgbClr val="2DC653"/>
            </a:solidFill>
            <a:prstDash val="solid"/>
          </a:ln>
        </p:spPr>
      </p:sp>
      <p:sp>
        <p:nvSpPr>
          <p:cNvPr id="20" name="Text 18"/>
          <p:cNvSpPr/>
          <p:nvPr/>
        </p:nvSpPr>
        <p:spPr>
          <a:xfrm>
            <a:off x="4937760" y="5413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RENEWABLE</a:t>
            </a:r>
            <a:endParaRPr lang="en-US" sz="900" dirty="0"/>
          </a:p>
        </p:txBody>
      </p:sp>
      <p:sp>
        <p:nvSpPr>
          <p:cNvPr id="21" name="Shape 19"/>
          <p:cNvSpPr/>
          <p:nvPr/>
        </p:nvSpPr>
        <p:spPr>
          <a:xfrm>
            <a:off x="6675120" y="5413248"/>
            <a:ext cx="1554480" cy="256032"/>
          </a:xfrm>
          <a:prstGeom prst="roundRect">
            <a:avLst>
              <a:gd name="adj" fmla="val 50000"/>
            </a:avLst>
          </a:prstGeom>
          <a:solidFill>
            <a:srgbClr val="2DC653"/>
          </a:solidFill>
          <a:ln w="12700">
            <a:solidFill>
              <a:srgbClr val="2DC653"/>
            </a:solidFill>
            <a:prstDash val="solid"/>
          </a:ln>
        </p:spPr>
      </p:sp>
      <p:sp>
        <p:nvSpPr>
          <p:cNvPr id="22" name="Text 20"/>
          <p:cNvSpPr/>
          <p:nvPr/>
        </p:nvSpPr>
        <p:spPr>
          <a:xfrm>
            <a:off x="6675120" y="5413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RENEWABLE</a:t>
            </a:r>
            <a:endParaRPr lang="en-US" sz="900" dirty="0"/>
          </a:p>
        </p:txBody>
      </p:sp>
      <p:sp>
        <p:nvSpPr>
          <p:cNvPr id="23" name="Shape 21"/>
          <p:cNvSpPr/>
          <p:nvPr/>
        </p:nvSpPr>
        <p:spPr>
          <a:xfrm>
            <a:off x="8412480" y="5413248"/>
            <a:ext cx="1554480" cy="256032"/>
          </a:xfrm>
          <a:prstGeom prst="roundRect">
            <a:avLst>
              <a:gd name="adj" fmla="val 50000"/>
            </a:avLst>
          </a:prstGeom>
          <a:solidFill>
            <a:srgbClr val="F4736A"/>
          </a:solidFill>
          <a:ln w="12700">
            <a:solidFill>
              <a:srgbClr val="F4736A"/>
            </a:solidFill>
            <a:prstDash val="solid"/>
          </a:ln>
        </p:spPr>
      </p:sp>
      <p:sp>
        <p:nvSpPr>
          <p:cNvPr id="24" name="Text 22"/>
          <p:cNvSpPr/>
          <p:nvPr/>
        </p:nvSpPr>
        <p:spPr>
          <a:xfrm>
            <a:off x="8412480" y="541324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NONRENEWABLE</a:t>
            </a:r>
            <a:endParaRPr lang="en-US" sz="9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Florida's Three Resource Categories</a:t>
            </a:r>
            <a:endParaRPr lang="en-US" sz="1600" dirty="0"/>
          </a:p>
        </p:txBody>
      </p:sp>
      <p:sp>
        <p:nvSpPr>
          <p:cNvPr id="5" name="Shape 3"/>
          <p:cNvSpPr/>
          <p:nvPr/>
        </p:nvSpPr>
        <p:spPr>
          <a:xfrm>
            <a:off x="365760" y="749808"/>
            <a:ext cx="3703320" cy="5349240"/>
          </a:xfrm>
          <a:prstGeom prst="roundRect">
            <a:avLst>
              <a:gd name="adj" fmla="val 1975"/>
            </a:avLst>
          </a:prstGeom>
          <a:solidFill>
            <a:srgbClr val="1E2F45"/>
          </a:solidFill>
          <a:ln w="12700">
            <a:solidFill>
              <a:srgbClr val="4CC9F0"/>
            </a:solidFill>
            <a:prstDash val="solid"/>
          </a:ln>
        </p:spPr>
      </p:sp>
      <p:sp>
        <p:nvSpPr>
          <p:cNvPr id="6" name="Text 4"/>
          <p:cNvSpPr/>
          <p:nvPr/>
        </p:nvSpPr>
        <p:spPr>
          <a:xfrm>
            <a:off x="502920" y="822960"/>
            <a:ext cx="3429000" cy="50292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Water Resources</a:t>
            </a:r>
            <a:endParaRPr lang="en-US" sz="1300" dirty="0"/>
          </a:p>
        </p:txBody>
      </p:sp>
      <p:sp>
        <p:nvSpPr>
          <p:cNvPr id="7" name="Shape 5"/>
          <p:cNvSpPr/>
          <p:nvPr/>
        </p:nvSpPr>
        <p:spPr>
          <a:xfrm>
            <a:off x="502920" y="1371600"/>
            <a:ext cx="1554480" cy="256032"/>
          </a:xfrm>
          <a:prstGeom prst="roundRect">
            <a:avLst>
              <a:gd name="adj" fmla="val 50000"/>
            </a:avLst>
          </a:prstGeom>
          <a:solidFill>
            <a:srgbClr val="2DC653"/>
          </a:solidFill>
          <a:ln w="12700">
            <a:solidFill>
              <a:srgbClr val="2DC653"/>
            </a:solidFill>
            <a:prstDash val="solid"/>
          </a:ln>
        </p:spPr>
      </p:sp>
      <p:sp>
        <p:nvSpPr>
          <p:cNvPr id="8" name="Text 6"/>
          <p:cNvSpPr/>
          <p:nvPr/>
        </p:nvSpPr>
        <p:spPr>
          <a:xfrm>
            <a:off x="50292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Renewable</a:t>
            </a:r>
            <a:endParaRPr lang="en-US" sz="900" dirty="0"/>
          </a:p>
        </p:txBody>
      </p:sp>
      <p:sp>
        <p:nvSpPr>
          <p:cNvPr id="9" name="Shape 7"/>
          <p:cNvSpPr/>
          <p:nvPr/>
        </p:nvSpPr>
        <p:spPr>
          <a:xfrm>
            <a:off x="548640" y="1691640"/>
            <a:ext cx="3337560" cy="1645920"/>
          </a:xfrm>
          <a:prstGeom prst="roundRect">
            <a:avLst>
              <a:gd name="adj" fmla="val 4444"/>
            </a:avLst>
          </a:prstGeom>
          <a:solidFill>
            <a:srgbClr val="0A1520"/>
          </a:solidFill>
          <a:ln w="19050">
            <a:solidFill>
              <a:srgbClr val="4CC9F0"/>
            </a:solidFill>
            <a:prstDash val="dash"/>
          </a:ln>
        </p:spPr>
      </p:sp>
      <p:sp>
        <p:nvSpPr>
          <p:cNvPr id="10" name="Text 8"/>
          <p:cNvSpPr/>
          <p:nvPr/>
        </p:nvSpPr>
        <p:spPr>
          <a:xfrm>
            <a:off x="64008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64008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2" name="Text 10"/>
          <p:cNvSpPr/>
          <p:nvPr/>
        </p:nvSpPr>
        <p:spPr>
          <a:xfrm>
            <a:off x="65836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"Floridan Aquifer map Florida underground water springs Silver Springs Ichetucknee"</a:t>
            </a:r>
            <a:endParaRPr lang="en-US" sz="950" dirty="0"/>
          </a:p>
        </p:txBody>
      </p:sp>
      <p:sp>
        <p:nvSpPr>
          <p:cNvPr id="13" name="Text 11"/>
          <p:cNvSpPr/>
          <p:nvPr/>
        </p:nvSpPr>
        <p:spPr>
          <a:xfrm>
            <a:off x="548640" y="340156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Rivers, lakes, and the Floridan Aquifer</a:t>
            </a:r>
            <a:endParaRPr lang="en-US" sz="1100" dirty="0"/>
          </a:p>
        </p:txBody>
      </p:sp>
      <p:sp>
        <p:nvSpPr>
          <p:cNvPr id="14" name="Text 12"/>
          <p:cNvSpPr/>
          <p:nvPr/>
        </p:nvSpPr>
        <p:spPr>
          <a:xfrm>
            <a:off x="548640" y="399592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Used for drinking, farming, and recreation</a:t>
            </a:r>
            <a:endParaRPr lang="en-US" sz="1100" dirty="0"/>
          </a:p>
        </p:txBody>
      </p:sp>
      <p:sp>
        <p:nvSpPr>
          <p:cNvPr id="15" name="Text 13"/>
          <p:cNvSpPr/>
          <p:nvPr/>
        </p:nvSpPr>
        <p:spPr>
          <a:xfrm>
            <a:off x="548640" y="459028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Renewable through the water cycle</a:t>
            </a:r>
            <a:endParaRPr lang="en-US" sz="1100" dirty="0"/>
          </a:p>
        </p:txBody>
      </p:sp>
      <p:sp>
        <p:nvSpPr>
          <p:cNvPr id="16" name="Text 14"/>
          <p:cNvSpPr/>
          <p:nvPr/>
        </p:nvSpPr>
        <p:spPr>
          <a:xfrm>
            <a:off x="548640" y="518464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Aquifer stores rain from THOUSANDS of years ago!</a:t>
            </a:r>
            <a:endParaRPr lang="en-US" sz="1100" dirty="0"/>
          </a:p>
        </p:txBody>
      </p:sp>
      <p:sp>
        <p:nvSpPr>
          <p:cNvPr id="17" name="Shape 15"/>
          <p:cNvSpPr/>
          <p:nvPr/>
        </p:nvSpPr>
        <p:spPr>
          <a:xfrm>
            <a:off x="4297680" y="749808"/>
            <a:ext cx="3703320" cy="5349240"/>
          </a:xfrm>
          <a:prstGeom prst="roundRect">
            <a:avLst>
              <a:gd name="adj" fmla="val 1975"/>
            </a:avLst>
          </a:prstGeom>
          <a:solidFill>
            <a:srgbClr val="1E2F45"/>
          </a:solidFill>
          <a:ln w="12700">
            <a:solidFill>
              <a:srgbClr val="FFB703"/>
            </a:solidFill>
            <a:prstDash val="solid"/>
          </a:ln>
        </p:spPr>
      </p:sp>
      <p:sp>
        <p:nvSpPr>
          <p:cNvPr id="18" name="Text 16"/>
          <p:cNvSpPr/>
          <p:nvPr/>
        </p:nvSpPr>
        <p:spPr>
          <a:xfrm>
            <a:off x="4434840" y="822960"/>
            <a:ext cx="3429000" cy="50292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Mineral Resources</a:t>
            </a:r>
            <a:endParaRPr lang="en-US" sz="1300" dirty="0"/>
          </a:p>
        </p:txBody>
      </p:sp>
      <p:sp>
        <p:nvSpPr>
          <p:cNvPr id="19" name="Shape 17"/>
          <p:cNvSpPr/>
          <p:nvPr/>
        </p:nvSpPr>
        <p:spPr>
          <a:xfrm>
            <a:off x="4434840" y="1371600"/>
            <a:ext cx="1554480" cy="256032"/>
          </a:xfrm>
          <a:prstGeom prst="roundRect">
            <a:avLst>
              <a:gd name="adj" fmla="val 50000"/>
            </a:avLst>
          </a:prstGeom>
          <a:solidFill>
            <a:srgbClr val="F4736A"/>
          </a:solidFill>
          <a:ln w="12700">
            <a:solidFill>
              <a:srgbClr val="F4736A"/>
            </a:solidFill>
            <a:prstDash val="solid"/>
          </a:ln>
        </p:spPr>
      </p:sp>
      <p:sp>
        <p:nvSpPr>
          <p:cNvPr id="20" name="Text 18"/>
          <p:cNvSpPr/>
          <p:nvPr/>
        </p:nvSpPr>
        <p:spPr>
          <a:xfrm>
            <a:off x="443484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Nonrenewable</a:t>
            </a:r>
            <a:endParaRPr lang="en-US" sz="900" dirty="0"/>
          </a:p>
        </p:txBody>
      </p:sp>
      <p:sp>
        <p:nvSpPr>
          <p:cNvPr id="21" name="Shape 19"/>
          <p:cNvSpPr/>
          <p:nvPr/>
        </p:nvSpPr>
        <p:spPr>
          <a:xfrm>
            <a:off x="4480560" y="1691640"/>
            <a:ext cx="3337560" cy="1645920"/>
          </a:xfrm>
          <a:prstGeom prst="roundRect">
            <a:avLst>
              <a:gd name="adj" fmla="val 4444"/>
            </a:avLst>
          </a:prstGeom>
          <a:solidFill>
            <a:srgbClr val="0A1520"/>
          </a:solidFill>
          <a:ln w="19050">
            <a:solidFill>
              <a:srgbClr val="4CC9F0"/>
            </a:solidFill>
            <a:prstDash val="dash"/>
          </a:ln>
        </p:spPr>
      </p:sp>
      <p:sp>
        <p:nvSpPr>
          <p:cNvPr id="22" name="Text 20"/>
          <p:cNvSpPr/>
          <p:nvPr/>
        </p:nvSpPr>
        <p:spPr>
          <a:xfrm>
            <a:off x="457200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457200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24" name="Text 22"/>
          <p:cNvSpPr/>
          <p:nvPr/>
        </p:nvSpPr>
        <p:spPr>
          <a:xfrm>
            <a:off x="459028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"phosphate rock mineral Florida mining industrial fertilizer production"</a:t>
            </a:r>
            <a:endParaRPr lang="en-US" sz="950" dirty="0"/>
          </a:p>
        </p:txBody>
      </p:sp>
      <p:sp>
        <p:nvSpPr>
          <p:cNvPr id="25" name="Text 23"/>
          <p:cNvSpPr/>
          <p:nvPr/>
        </p:nvSpPr>
        <p:spPr>
          <a:xfrm>
            <a:off x="4480560" y="340156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Phosphate: used in fertilizers for food crops</a:t>
            </a:r>
            <a:endParaRPr lang="en-US" sz="1100" dirty="0"/>
          </a:p>
        </p:txBody>
      </p:sp>
      <p:sp>
        <p:nvSpPr>
          <p:cNvPr id="26" name="Text 24"/>
          <p:cNvSpPr/>
          <p:nvPr/>
        </p:nvSpPr>
        <p:spPr>
          <a:xfrm>
            <a:off x="4480560" y="399592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Limestone: used in construction &amp; cement</a:t>
            </a:r>
            <a:endParaRPr lang="en-US" sz="1100" dirty="0"/>
          </a:p>
        </p:txBody>
      </p:sp>
      <p:sp>
        <p:nvSpPr>
          <p:cNvPr id="27" name="Text 25"/>
          <p:cNvSpPr/>
          <p:nvPr/>
        </p:nvSpPr>
        <p:spPr>
          <a:xfrm>
            <a:off x="4480560" y="459028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Silicon: found in Florida sand → makes computer chips &amp; solar panels!</a:t>
            </a:r>
            <a:endParaRPr lang="en-US" sz="1100" dirty="0"/>
          </a:p>
        </p:txBody>
      </p:sp>
      <p:sp>
        <p:nvSpPr>
          <p:cNvPr id="28" name="Shape 26"/>
          <p:cNvSpPr/>
          <p:nvPr/>
        </p:nvSpPr>
        <p:spPr>
          <a:xfrm>
            <a:off x="8229600" y="749808"/>
            <a:ext cx="3703320" cy="5349240"/>
          </a:xfrm>
          <a:prstGeom prst="roundRect">
            <a:avLst>
              <a:gd name="adj" fmla="val 1975"/>
            </a:avLst>
          </a:prstGeom>
          <a:solidFill>
            <a:srgbClr val="1E2F45"/>
          </a:solidFill>
          <a:ln w="12700">
            <a:solidFill>
              <a:srgbClr val="2DC653"/>
            </a:solidFill>
            <a:prstDash val="solid"/>
          </a:ln>
        </p:spPr>
      </p:sp>
      <p:sp>
        <p:nvSpPr>
          <p:cNvPr id="29" name="Text 27"/>
          <p:cNvSpPr/>
          <p:nvPr/>
        </p:nvSpPr>
        <p:spPr>
          <a:xfrm>
            <a:off x="8366760" y="822960"/>
            <a:ext cx="3429000" cy="50292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Energy Resources</a:t>
            </a:r>
            <a:endParaRPr lang="en-US" sz="1300" dirty="0"/>
          </a:p>
        </p:txBody>
      </p:sp>
      <p:sp>
        <p:nvSpPr>
          <p:cNvPr id="30" name="Shape 28"/>
          <p:cNvSpPr/>
          <p:nvPr/>
        </p:nvSpPr>
        <p:spPr>
          <a:xfrm>
            <a:off x="8366760" y="1371600"/>
            <a:ext cx="1554480" cy="256032"/>
          </a:xfrm>
          <a:prstGeom prst="roundRect">
            <a:avLst>
              <a:gd name="adj" fmla="val 50000"/>
            </a:avLst>
          </a:prstGeom>
          <a:solidFill>
            <a:srgbClr val="4CC9F0"/>
          </a:solidFill>
          <a:ln w="12700">
            <a:solidFill>
              <a:srgbClr val="4CC9F0"/>
            </a:solidFill>
            <a:prstDash val="solid"/>
          </a:ln>
        </p:spPr>
      </p:sp>
      <p:sp>
        <p:nvSpPr>
          <p:cNvPr id="31" name="Text 29"/>
          <p:cNvSpPr/>
          <p:nvPr/>
        </p:nvSpPr>
        <p:spPr>
          <a:xfrm>
            <a:off x="8366760" y="137160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Both!</a:t>
            </a:r>
            <a:endParaRPr lang="en-US" sz="900" dirty="0"/>
          </a:p>
        </p:txBody>
      </p:sp>
      <p:sp>
        <p:nvSpPr>
          <p:cNvPr id="32" name="Shape 30"/>
          <p:cNvSpPr/>
          <p:nvPr/>
        </p:nvSpPr>
        <p:spPr>
          <a:xfrm>
            <a:off x="8412480" y="1691640"/>
            <a:ext cx="3337560" cy="1645920"/>
          </a:xfrm>
          <a:prstGeom prst="roundRect">
            <a:avLst>
              <a:gd name="adj" fmla="val 4444"/>
            </a:avLst>
          </a:prstGeom>
          <a:solidFill>
            <a:srgbClr val="0A1520"/>
          </a:solidFill>
          <a:ln w="19050">
            <a:solidFill>
              <a:srgbClr val="4CC9F0"/>
            </a:solidFill>
            <a:prstDash val="dash"/>
          </a:ln>
        </p:spPr>
      </p:sp>
      <p:sp>
        <p:nvSpPr>
          <p:cNvPr id="33" name="Text 31"/>
          <p:cNvSpPr/>
          <p:nvPr/>
        </p:nvSpPr>
        <p:spPr>
          <a:xfrm>
            <a:off x="8503920" y="1801368"/>
            <a:ext cx="31546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4" name="Text 32"/>
          <p:cNvSpPr/>
          <p:nvPr/>
        </p:nvSpPr>
        <p:spPr>
          <a:xfrm>
            <a:off x="8503920" y="2240280"/>
            <a:ext cx="31546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35" name="Text 33"/>
          <p:cNvSpPr/>
          <p:nvPr/>
        </p:nvSpPr>
        <p:spPr>
          <a:xfrm>
            <a:off x="8522208" y="2532888"/>
            <a:ext cx="3118104" cy="5943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solar farm renewable energy sunshine state power generation aerial"</a:t>
            </a:r>
            <a:endParaRPr lang="en-US" sz="950" dirty="0"/>
          </a:p>
        </p:txBody>
      </p:sp>
      <p:sp>
        <p:nvSpPr>
          <p:cNvPr id="36" name="Text 34"/>
          <p:cNvSpPr/>
          <p:nvPr/>
        </p:nvSpPr>
        <p:spPr>
          <a:xfrm>
            <a:off x="8412480" y="340156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Sunlight &amp; wind = Renewable ♻️</a:t>
            </a:r>
            <a:endParaRPr lang="en-US" sz="1100" dirty="0"/>
          </a:p>
        </p:txBody>
      </p:sp>
      <p:sp>
        <p:nvSpPr>
          <p:cNvPr id="37" name="Text 35"/>
          <p:cNvSpPr/>
          <p:nvPr/>
        </p:nvSpPr>
        <p:spPr>
          <a:xfrm>
            <a:off x="8412480" y="399592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Oil = Nonrenewable ⛔ fossil fuel</a:t>
            </a:r>
            <a:endParaRPr lang="en-US" sz="1100" dirty="0"/>
          </a:p>
        </p:txBody>
      </p:sp>
      <p:sp>
        <p:nvSpPr>
          <p:cNvPr id="38" name="Text 36"/>
          <p:cNvSpPr/>
          <p:nvPr/>
        </p:nvSpPr>
        <p:spPr>
          <a:xfrm>
            <a:off x="8412480" y="459028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All used to power homes, vehicles, industry</a:t>
            </a:r>
            <a:endParaRPr lang="en-US" sz="1100" dirty="0"/>
          </a:p>
        </p:txBody>
      </p:sp>
      <p:sp>
        <p:nvSpPr>
          <p:cNvPr id="39" name="Text 37"/>
          <p:cNvSpPr/>
          <p:nvPr/>
        </p:nvSpPr>
        <p:spPr>
          <a:xfrm>
            <a:off x="8412480" y="5184648"/>
            <a:ext cx="338328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Florida's sun = huge solar energy advantage!</a:t>
            </a:r>
            <a:endParaRPr lang="en-US" sz="1100" dirty="0"/>
          </a:p>
        </p:txBody>
      </p:sp>
      <p:sp>
        <p:nvSpPr>
          <p:cNvPr id="40" name="Shape 38"/>
          <p:cNvSpPr/>
          <p:nvPr/>
        </p:nvSpPr>
        <p:spPr>
          <a:xfrm>
            <a:off x="0" y="6629400"/>
            <a:ext cx="12192000" cy="228600"/>
          </a:xfrm>
          <a:prstGeom prst="rect">
            <a:avLst/>
          </a:prstGeom>
          <a:solidFill>
            <a:srgbClr val="162233"/>
          </a:solidFill>
          <a:ln/>
        </p:spPr>
      </p:sp>
      <p:sp>
        <p:nvSpPr>
          <p:cNvPr id="41" name="Text 3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How Long Does It Take to Form?</a:t>
            </a:r>
            <a:endParaRPr lang="en-US" sz="1600" dirty="0"/>
          </a:p>
        </p:txBody>
      </p:sp>
      <p:sp>
        <p:nvSpPr>
          <p:cNvPr id="5" name="Text 3"/>
          <p:cNvSpPr/>
          <p:nvPr/>
        </p:nvSpPr>
        <p:spPr>
          <a:xfrm>
            <a:off x="365760" y="749808"/>
            <a:ext cx="112471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TIME difference between renewable and nonrenewable is enormous:</a:t>
            </a:r>
            <a:endParaRPr lang="en-US" sz="1400" dirty="0"/>
          </a:p>
        </p:txBody>
      </p:sp>
      <p:sp>
        <p:nvSpPr>
          <p:cNvPr id="6" name="Shape 4"/>
          <p:cNvSpPr/>
          <p:nvPr/>
        </p:nvSpPr>
        <p:spPr>
          <a:xfrm>
            <a:off x="365760" y="1371600"/>
            <a:ext cx="3474720" cy="713232"/>
          </a:xfrm>
          <a:prstGeom prst="roundRect">
            <a:avLst>
              <a:gd name="adj" fmla="val 10256"/>
            </a:avLst>
          </a:prstGeom>
          <a:solidFill>
            <a:srgbClr val="1E2F45"/>
          </a:solidFill>
          <a:ln w="12700">
            <a:solidFill>
              <a:srgbClr val="2DC653"/>
            </a:solidFill>
            <a:prstDash val="solid"/>
          </a:ln>
        </p:spPr>
      </p:sp>
      <p:sp>
        <p:nvSpPr>
          <p:cNvPr id="7" name="Text 5"/>
          <p:cNvSpPr/>
          <p:nvPr/>
        </p:nvSpPr>
        <p:spPr>
          <a:xfrm>
            <a:off x="502920" y="1444752"/>
            <a:ext cx="3246120" cy="56692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Sunlight</a:t>
            </a:r>
            <a:endParaRPr lang="en-US" sz="1200" dirty="0"/>
          </a:p>
        </p:txBody>
      </p:sp>
      <p:sp>
        <p:nvSpPr>
          <p:cNvPr id="8" name="Shape 6"/>
          <p:cNvSpPr/>
          <p:nvPr/>
        </p:nvSpPr>
        <p:spPr>
          <a:xfrm>
            <a:off x="4023360" y="1536192"/>
            <a:ext cx="731520" cy="384048"/>
          </a:xfrm>
          <a:prstGeom prst="rect">
            <a:avLst/>
          </a:prstGeom>
          <a:solidFill>
            <a:srgbClr val="2DC653"/>
          </a:solidFill>
          <a:ln w="12700">
            <a:solidFill>
              <a:srgbClr val="0D1B2A"/>
            </a:solidFill>
            <a:prstDash val="solid"/>
          </a:ln>
        </p:spPr>
      </p:sp>
      <p:sp>
        <p:nvSpPr>
          <p:cNvPr id="9" name="Text 7"/>
          <p:cNvSpPr/>
          <p:nvPr/>
        </p:nvSpPr>
        <p:spPr>
          <a:xfrm>
            <a:off x="4892040" y="1536192"/>
            <a:ext cx="6400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Always renewing</a:t>
            </a:r>
            <a:endParaRPr lang="en-US" sz="1100" dirty="0"/>
          </a:p>
        </p:txBody>
      </p:sp>
      <p:sp>
        <p:nvSpPr>
          <p:cNvPr id="10" name="Shape 8"/>
          <p:cNvSpPr/>
          <p:nvPr/>
        </p:nvSpPr>
        <p:spPr>
          <a:xfrm>
            <a:off x="365760" y="2212848"/>
            <a:ext cx="3474720" cy="713232"/>
          </a:xfrm>
          <a:prstGeom prst="roundRect">
            <a:avLst>
              <a:gd name="adj" fmla="val 10256"/>
            </a:avLst>
          </a:prstGeom>
          <a:solidFill>
            <a:srgbClr val="1E2F45"/>
          </a:solidFill>
          <a:ln w="12700">
            <a:solidFill>
              <a:srgbClr val="2DC653"/>
            </a:solidFill>
            <a:prstDash val="solid"/>
          </a:ln>
        </p:spPr>
      </p:sp>
      <p:sp>
        <p:nvSpPr>
          <p:cNvPr id="11" name="Text 9"/>
          <p:cNvSpPr/>
          <p:nvPr/>
        </p:nvSpPr>
        <p:spPr>
          <a:xfrm>
            <a:off x="502920" y="2286000"/>
            <a:ext cx="3246120" cy="56692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Wind</a:t>
            </a:r>
            <a:endParaRPr lang="en-US" sz="1200" dirty="0"/>
          </a:p>
        </p:txBody>
      </p:sp>
      <p:sp>
        <p:nvSpPr>
          <p:cNvPr id="12" name="Shape 10"/>
          <p:cNvSpPr/>
          <p:nvPr/>
        </p:nvSpPr>
        <p:spPr>
          <a:xfrm>
            <a:off x="4023360" y="2377440"/>
            <a:ext cx="731520" cy="384048"/>
          </a:xfrm>
          <a:prstGeom prst="rect">
            <a:avLst/>
          </a:prstGeom>
          <a:solidFill>
            <a:srgbClr val="2DC653"/>
          </a:solidFill>
          <a:ln w="12700">
            <a:solidFill>
              <a:srgbClr val="0D1B2A"/>
            </a:solidFill>
            <a:prstDash val="solid"/>
          </a:ln>
        </p:spPr>
      </p:sp>
      <p:sp>
        <p:nvSpPr>
          <p:cNvPr id="13" name="Text 11"/>
          <p:cNvSpPr/>
          <p:nvPr/>
        </p:nvSpPr>
        <p:spPr>
          <a:xfrm>
            <a:off x="4892040" y="2377440"/>
            <a:ext cx="6400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Always renewing</a:t>
            </a:r>
            <a:endParaRPr lang="en-US" sz="1100" dirty="0"/>
          </a:p>
        </p:txBody>
      </p:sp>
      <p:sp>
        <p:nvSpPr>
          <p:cNvPr id="14" name="Shape 12"/>
          <p:cNvSpPr/>
          <p:nvPr/>
        </p:nvSpPr>
        <p:spPr>
          <a:xfrm>
            <a:off x="365760" y="3054096"/>
            <a:ext cx="3474720" cy="713232"/>
          </a:xfrm>
          <a:prstGeom prst="roundRect">
            <a:avLst>
              <a:gd name="adj" fmla="val 10256"/>
            </a:avLst>
          </a:prstGeom>
          <a:solidFill>
            <a:srgbClr val="1E2F45"/>
          </a:solidFill>
          <a:ln w="12700">
            <a:solidFill>
              <a:srgbClr val="2DC653"/>
            </a:solidFill>
            <a:prstDash val="solid"/>
          </a:ln>
        </p:spPr>
      </p:sp>
      <p:sp>
        <p:nvSpPr>
          <p:cNvPr id="15" name="Text 13"/>
          <p:cNvSpPr/>
          <p:nvPr/>
        </p:nvSpPr>
        <p:spPr>
          <a:xfrm>
            <a:off x="502920" y="3127248"/>
            <a:ext cx="3246120" cy="56692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Fresh Water</a:t>
            </a:r>
            <a:endParaRPr lang="en-US" sz="1200" dirty="0"/>
          </a:p>
        </p:txBody>
      </p:sp>
      <p:sp>
        <p:nvSpPr>
          <p:cNvPr id="16" name="Shape 14"/>
          <p:cNvSpPr/>
          <p:nvPr/>
        </p:nvSpPr>
        <p:spPr>
          <a:xfrm>
            <a:off x="4023360" y="3218688"/>
            <a:ext cx="731520" cy="384048"/>
          </a:xfrm>
          <a:prstGeom prst="rect">
            <a:avLst/>
          </a:prstGeom>
          <a:solidFill>
            <a:srgbClr val="2DC653"/>
          </a:solidFill>
          <a:ln w="12700">
            <a:solidFill>
              <a:srgbClr val="0D1B2A"/>
            </a:solidFill>
            <a:prstDash val="solid"/>
          </a:ln>
        </p:spPr>
      </p:sp>
      <p:sp>
        <p:nvSpPr>
          <p:cNvPr id="17" name="Text 15"/>
          <p:cNvSpPr/>
          <p:nvPr/>
        </p:nvSpPr>
        <p:spPr>
          <a:xfrm>
            <a:off x="4892040" y="3218688"/>
            <a:ext cx="6400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Days–years (water cycle)</a:t>
            </a:r>
            <a:endParaRPr lang="en-US" sz="1100" dirty="0"/>
          </a:p>
        </p:txBody>
      </p:sp>
      <p:sp>
        <p:nvSpPr>
          <p:cNvPr id="18" name="Shape 16"/>
          <p:cNvSpPr/>
          <p:nvPr/>
        </p:nvSpPr>
        <p:spPr>
          <a:xfrm>
            <a:off x="365760" y="3895344"/>
            <a:ext cx="3474720" cy="713232"/>
          </a:xfrm>
          <a:prstGeom prst="roundRect">
            <a:avLst>
              <a:gd name="adj" fmla="val 10256"/>
            </a:avLst>
          </a:prstGeom>
          <a:solidFill>
            <a:srgbClr val="1E2F45"/>
          </a:solidFill>
          <a:ln w="12700">
            <a:solidFill>
              <a:srgbClr val="2DC653"/>
            </a:solidFill>
            <a:prstDash val="solid"/>
          </a:ln>
        </p:spPr>
      </p:sp>
      <p:sp>
        <p:nvSpPr>
          <p:cNvPr id="19" name="Text 17"/>
          <p:cNvSpPr/>
          <p:nvPr/>
        </p:nvSpPr>
        <p:spPr>
          <a:xfrm>
            <a:off x="502920" y="3968496"/>
            <a:ext cx="3246120" cy="56692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Timber / Trees</a:t>
            </a:r>
            <a:endParaRPr lang="en-US" sz="1200" dirty="0"/>
          </a:p>
        </p:txBody>
      </p:sp>
      <p:sp>
        <p:nvSpPr>
          <p:cNvPr id="20" name="Shape 18"/>
          <p:cNvSpPr/>
          <p:nvPr/>
        </p:nvSpPr>
        <p:spPr>
          <a:xfrm>
            <a:off x="4023360" y="4059936"/>
            <a:ext cx="731520" cy="384048"/>
          </a:xfrm>
          <a:prstGeom prst="rect">
            <a:avLst/>
          </a:prstGeom>
          <a:solidFill>
            <a:srgbClr val="2DC653"/>
          </a:solidFill>
          <a:ln w="12700">
            <a:solidFill>
              <a:srgbClr val="0D1B2A"/>
            </a:solidFill>
            <a:prstDash val="solid"/>
          </a:ln>
        </p:spPr>
      </p:sp>
      <p:sp>
        <p:nvSpPr>
          <p:cNvPr id="21" name="Text 19"/>
          <p:cNvSpPr/>
          <p:nvPr/>
        </p:nvSpPr>
        <p:spPr>
          <a:xfrm>
            <a:off x="4892040" y="4059936"/>
            <a:ext cx="6400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20–100 years to regrow</a:t>
            </a:r>
            <a:endParaRPr lang="en-US" sz="1100" dirty="0"/>
          </a:p>
        </p:txBody>
      </p:sp>
      <p:sp>
        <p:nvSpPr>
          <p:cNvPr id="22" name="Shape 20"/>
          <p:cNvSpPr/>
          <p:nvPr/>
        </p:nvSpPr>
        <p:spPr>
          <a:xfrm>
            <a:off x="365760" y="4736592"/>
            <a:ext cx="3474720" cy="713232"/>
          </a:xfrm>
          <a:prstGeom prst="roundRect">
            <a:avLst>
              <a:gd name="adj" fmla="val 10256"/>
            </a:avLst>
          </a:prstGeom>
          <a:solidFill>
            <a:srgbClr val="1E2F45"/>
          </a:solidFill>
          <a:ln w="12700">
            <a:solidFill>
              <a:srgbClr val="F4736A"/>
            </a:solidFill>
            <a:prstDash val="solid"/>
          </a:ln>
        </p:spPr>
      </p:sp>
      <p:sp>
        <p:nvSpPr>
          <p:cNvPr id="23" name="Text 21"/>
          <p:cNvSpPr/>
          <p:nvPr/>
        </p:nvSpPr>
        <p:spPr>
          <a:xfrm>
            <a:off x="502920" y="4809744"/>
            <a:ext cx="3246120" cy="56692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Limestone</a:t>
            </a:r>
            <a:endParaRPr lang="en-US" sz="1200" dirty="0"/>
          </a:p>
        </p:txBody>
      </p:sp>
      <p:sp>
        <p:nvSpPr>
          <p:cNvPr id="24" name="Shape 22"/>
          <p:cNvSpPr/>
          <p:nvPr/>
        </p:nvSpPr>
        <p:spPr>
          <a:xfrm>
            <a:off x="4023360" y="4901184"/>
            <a:ext cx="2926080" cy="384048"/>
          </a:xfrm>
          <a:prstGeom prst="rect">
            <a:avLst/>
          </a:prstGeom>
          <a:solidFill>
            <a:srgbClr val="F4736A"/>
          </a:solidFill>
          <a:ln w="12700">
            <a:solidFill>
              <a:srgbClr val="0D1B2A"/>
            </a:solidFill>
            <a:prstDash val="solid"/>
          </a:ln>
        </p:spPr>
      </p:sp>
      <p:sp>
        <p:nvSpPr>
          <p:cNvPr id="25" name="Text 23"/>
          <p:cNvSpPr/>
          <p:nvPr/>
        </p:nvSpPr>
        <p:spPr>
          <a:xfrm>
            <a:off x="7086600" y="4901184"/>
            <a:ext cx="420624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~10 million years to form</a:t>
            </a:r>
            <a:endParaRPr lang="en-US" sz="1100" dirty="0"/>
          </a:p>
        </p:txBody>
      </p:sp>
      <p:sp>
        <p:nvSpPr>
          <p:cNvPr id="26" name="Shape 24"/>
          <p:cNvSpPr/>
          <p:nvPr/>
        </p:nvSpPr>
        <p:spPr>
          <a:xfrm>
            <a:off x="365760" y="5577840"/>
            <a:ext cx="3474720" cy="713232"/>
          </a:xfrm>
          <a:prstGeom prst="roundRect">
            <a:avLst>
              <a:gd name="adj" fmla="val 10256"/>
            </a:avLst>
          </a:prstGeom>
          <a:solidFill>
            <a:srgbClr val="1E2F45"/>
          </a:solidFill>
          <a:ln w="12700">
            <a:solidFill>
              <a:srgbClr val="F4736A"/>
            </a:solidFill>
            <a:prstDash val="solid"/>
          </a:ln>
        </p:spPr>
      </p:sp>
      <p:sp>
        <p:nvSpPr>
          <p:cNvPr id="27" name="Text 25"/>
          <p:cNvSpPr/>
          <p:nvPr/>
        </p:nvSpPr>
        <p:spPr>
          <a:xfrm>
            <a:off x="502920" y="5650992"/>
            <a:ext cx="3246120" cy="56692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Phosphate / Oil</a:t>
            </a:r>
            <a:endParaRPr lang="en-US" sz="1200" dirty="0"/>
          </a:p>
        </p:txBody>
      </p:sp>
      <p:sp>
        <p:nvSpPr>
          <p:cNvPr id="28" name="Shape 26"/>
          <p:cNvSpPr/>
          <p:nvPr/>
        </p:nvSpPr>
        <p:spPr>
          <a:xfrm>
            <a:off x="4023360" y="5742432"/>
            <a:ext cx="7315200" cy="384048"/>
          </a:xfrm>
          <a:prstGeom prst="rect">
            <a:avLst/>
          </a:prstGeom>
          <a:solidFill>
            <a:srgbClr val="F4736A"/>
          </a:solidFill>
          <a:ln w="12700">
            <a:solidFill>
              <a:srgbClr val="0D1B2A"/>
            </a:solidFill>
            <a:prstDash val="solid"/>
          </a:ln>
        </p:spPr>
      </p:sp>
      <p:sp>
        <p:nvSpPr>
          <p:cNvPr id="29" name="Text 27"/>
          <p:cNvSpPr/>
          <p:nvPr/>
        </p:nvSpPr>
        <p:spPr>
          <a:xfrm>
            <a:off x="11475720" y="5742432"/>
            <a:ext cx="-18288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300+ million years to form</a:t>
            </a:r>
            <a:endParaRPr lang="en-US" sz="1100" dirty="0"/>
          </a:p>
        </p:txBody>
      </p:sp>
      <p:sp>
        <p:nvSpPr>
          <p:cNvPr id="30" name="Shape 28"/>
          <p:cNvSpPr/>
          <p:nvPr/>
        </p:nvSpPr>
        <p:spPr>
          <a:xfrm>
            <a:off x="365760" y="6492240"/>
            <a:ext cx="1554480" cy="256032"/>
          </a:xfrm>
          <a:prstGeom prst="roundRect">
            <a:avLst>
              <a:gd name="adj" fmla="val 50000"/>
            </a:avLst>
          </a:prstGeom>
          <a:solidFill>
            <a:srgbClr val="2DC653"/>
          </a:solidFill>
          <a:ln w="12700">
            <a:solidFill>
              <a:srgbClr val="2DC653"/>
            </a:solidFill>
            <a:prstDash val="solid"/>
          </a:ln>
        </p:spPr>
      </p:sp>
      <p:sp>
        <p:nvSpPr>
          <p:cNvPr id="31" name="Text 29"/>
          <p:cNvSpPr/>
          <p:nvPr/>
        </p:nvSpPr>
        <p:spPr>
          <a:xfrm>
            <a:off x="365760" y="64922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RENEWABLE</a:t>
            </a:r>
            <a:endParaRPr lang="en-US" sz="900" dirty="0"/>
          </a:p>
        </p:txBody>
      </p:sp>
      <p:sp>
        <p:nvSpPr>
          <p:cNvPr id="32" name="Shape 30"/>
          <p:cNvSpPr/>
          <p:nvPr/>
        </p:nvSpPr>
        <p:spPr>
          <a:xfrm>
            <a:off x="2103120" y="6492240"/>
            <a:ext cx="1554480" cy="256032"/>
          </a:xfrm>
          <a:prstGeom prst="roundRect">
            <a:avLst>
              <a:gd name="adj" fmla="val 50000"/>
            </a:avLst>
          </a:prstGeom>
          <a:solidFill>
            <a:srgbClr val="F4736A"/>
          </a:solidFill>
          <a:ln w="12700">
            <a:solidFill>
              <a:srgbClr val="F4736A"/>
            </a:solidFill>
            <a:prstDash val="solid"/>
          </a:ln>
        </p:spPr>
      </p:sp>
      <p:sp>
        <p:nvSpPr>
          <p:cNvPr id="33" name="Text 31"/>
          <p:cNvSpPr/>
          <p:nvPr/>
        </p:nvSpPr>
        <p:spPr>
          <a:xfrm>
            <a:off x="2103120" y="649224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NONRENEWABLE</a:t>
            </a:r>
            <a:endParaRPr lang="en-US" sz="900" dirty="0"/>
          </a:p>
        </p:txBody>
      </p:sp>
      <p:sp>
        <p:nvSpPr>
          <p:cNvPr id="34" name="Text 32"/>
          <p:cNvSpPr/>
          <p:nvPr/>
        </p:nvSpPr>
        <p:spPr>
          <a:xfrm>
            <a:off x="4023360" y="6492240"/>
            <a:ext cx="7955280" cy="292608"/>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Renewable resources refill quickly! Nonrenewable resources took longer than dinosaurs have existed to form →</a:t>
            </a:r>
            <a:endParaRPr lang="en-US" sz="1000" dirty="0"/>
          </a:p>
        </p:txBody>
      </p:sp>
      <p:sp>
        <p:nvSpPr>
          <p:cNvPr id="35" name="Shape 33"/>
          <p:cNvSpPr/>
          <p:nvPr/>
        </p:nvSpPr>
        <p:spPr>
          <a:xfrm>
            <a:off x="0" y="6629400"/>
            <a:ext cx="12192000" cy="228600"/>
          </a:xfrm>
          <a:prstGeom prst="rect">
            <a:avLst/>
          </a:prstGeom>
          <a:solidFill>
            <a:srgbClr val="162233"/>
          </a:solidFill>
          <a:ln/>
        </p:spPr>
      </p:sp>
      <p:sp>
        <p:nvSpPr>
          <p:cNvPr id="36" name="Text 3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Why Does Florida Have So Much Phosphate?</a:t>
            </a:r>
            <a:endParaRPr lang="en-US" sz="1600" dirty="0"/>
          </a:p>
        </p:txBody>
      </p:sp>
      <p:sp>
        <p:nvSpPr>
          <p:cNvPr id="5" name="Shape 3"/>
          <p:cNvSpPr/>
          <p:nvPr/>
        </p:nvSpPr>
        <p:spPr>
          <a:xfrm>
            <a:off x="365760" y="749808"/>
            <a:ext cx="11247120" cy="1097280"/>
          </a:xfrm>
          <a:prstGeom prst="roundRect">
            <a:avLst>
              <a:gd name="adj" fmla="val 6667"/>
            </a:avLst>
          </a:prstGeom>
          <a:solidFill>
            <a:srgbClr val="0A1520"/>
          </a:solidFill>
          <a:ln w="12700">
            <a:solidFill>
              <a:srgbClr val="4CC9F0"/>
            </a:solidFill>
            <a:prstDash val="solid"/>
          </a:ln>
        </p:spPr>
      </p:sp>
      <p:sp>
        <p:nvSpPr>
          <p:cNvPr id="6" name="Text 4"/>
          <p:cNvSpPr/>
          <p:nvPr/>
        </p:nvSpPr>
        <p:spPr>
          <a:xfrm>
            <a:off x="548640" y="822960"/>
            <a:ext cx="10972800" cy="914400"/>
          </a:xfrm>
          <a:prstGeom prst="rect">
            <a:avLst/>
          </a:prstGeom>
          <a:noFill/>
          <a:ln/>
        </p:spPr>
        <p:txBody>
          <a:bodyPr wrap="square" rtlCol="0" anchor="ctr"/>
          <a:lstStyle/>
          <a:p>
            <a:pPr algn="ctr" indent="0" marL="0">
              <a:buNone/>
            </a:pPr>
            <a:r>
              <a:rPr lang="en-US" sz="1400" i="1" dirty="0">
                <a:solidFill>
                  <a:srgbClr val="4CC9F0"/>
                </a:solidFill>
                <a:latin typeface="Calibri" pitchFamily="34" charset="0"/>
                <a:ea typeface="Calibri" pitchFamily="34" charset="-122"/>
                <a:cs typeface="Calibri" pitchFamily="34" charset="-120"/>
              </a:rPr>
              <a:t>Millions of years ago, Florida was completely covered by a warm, shallow sea...</a:t>
            </a:r>
            <a:endParaRPr lang="en-US" sz="1400" dirty="0"/>
          </a:p>
        </p:txBody>
      </p:sp>
      <p:sp>
        <p:nvSpPr>
          <p:cNvPr id="7" name="Shape 5"/>
          <p:cNvSpPr/>
          <p:nvPr/>
        </p:nvSpPr>
        <p:spPr>
          <a:xfrm>
            <a:off x="365760" y="1993392"/>
            <a:ext cx="5394960" cy="3200400"/>
          </a:xfrm>
          <a:prstGeom prst="roundRect">
            <a:avLst>
              <a:gd name="adj" fmla="val 2286"/>
            </a:avLst>
          </a:prstGeom>
          <a:solidFill>
            <a:srgbClr val="0A1520"/>
          </a:solidFill>
          <a:ln w="19050">
            <a:solidFill>
              <a:srgbClr val="4CC9F0"/>
            </a:solidFill>
            <a:prstDash val="dash"/>
          </a:ln>
        </p:spPr>
      </p:sp>
      <p:sp>
        <p:nvSpPr>
          <p:cNvPr id="8" name="Text 6"/>
          <p:cNvSpPr/>
          <p:nvPr/>
        </p:nvSpPr>
        <p:spPr>
          <a:xfrm>
            <a:off x="457200" y="2103120"/>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542032"/>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834640"/>
            <a:ext cx="5175504" cy="21488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"ancient shallow sea Florida Cretaceous period marine fossils prehistoric ocean"</a:t>
            </a:r>
            <a:endParaRPr lang="en-US" sz="950" dirty="0"/>
          </a:p>
        </p:txBody>
      </p:sp>
      <p:sp>
        <p:nvSpPr>
          <p:cNvPr id="11" name="Text 9"/>
          <p:cNvSpPr/>
          <p:nvPr/>
        </p:nvSpPr>
        <p:spPr>
          <a:xfrm>
            <a:off x="365760" y="5230368"/>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was once a warm, shallow sea teeming with life</a:t>
            </a:r>
            <a:endParaRPr lang="en-US" sz="900" dirty="0"/>
          </a:p>
        </p:txBody>
      </p:sp>
      <p:sp>
        <p:nvSpPr>
          <p:cNvPr id="12" name="Shape 10"/>
          <p:cNvSpPr/>
          <p:nvPr/>
        </p:nvSpPr>
        <p:spPr>
          <a:xfrm>
            <a:off x="5943600" y="1993392"/>
            <a:ext cx="6217920" cy="3200400"/>
          </a:xfrm>
          <a:prstGeom prst="roundRect">
            <a:avLst>
              <a:gd name="adj" fmla="val 2286"/>
            </a:avLst>
          </a:prstGeom>
          <a:solidFill>
            <a:srgbClr val="1E2F45"/>
          </a:solidFill>
          <a:ln w="12700">
            <a:solidFill>
              <a:srgbClr val="FFB703"/>
            </a:solidFill>
            <a:prstDash val="solid"/>
          </a:ln>
        </p:spPr>
      </p:sp>
      <p:sp>
        <p:nvSpPr>
          <p:cNvPr id="13" name="Text 11"/>
          <p:cNvSpPr/>
          <p:nvPr/>
        </p:nvSpPr>
        <p:spPr>
          <a:xfrm>
            <a:off x="6126480" y="2066544"/>
            <a:ext cx="5943600" cy="41148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 Story of Florida Phosphate:</a:t>
            </a:r>
            <a:endParaRPr lang="en-US" sz="1300" dirty="0"/>
          </a:p>
        </p:txBody>
      </p:sp>
      <p:sp>
        <p:nvSpPr>
          <p:cNvPr id="14" name="Text 12"/>
          <p:cNvSpPr/>
          <p:nvPr/>
        </p:nvSpPr>
        <p:spPr>
          <a:xfrm>
            <a:off x="6126480" y="2514600"/>
            <a:ext cx="5943600" cy="25786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Ancient sea creatures lived and died in shallow Florida waters for millions of years.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2. Their bones, teeth &amp; shells sank to the bottom and compressed into sediment.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3. Over millions of years, that sediment hardened into phosphate rock.</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4. Sea level fell — that ancient seafloor became FLORIDA. Loaded with phosphate!</a:t>
            </a:r>
            <a:endParaRPr lang="en-US" sz="1200" dirty="0"/>
          </a:p>
        </p:txBody>
      </p:sp>
      <p:sp>
        <p:nvSpPr>
          <p:cNvPr id="15" name="Shape 13"/>
          <p:cNvSpPr/>
          <p:nvPr/>
        </p:nvSpPr>
        <p:spPr>
          <a:xfrm>
            <a:off x="365760" y="5321808"/>
            <a:ext cx="11247120" cy="804672"/>
          </a:xfrm>
          <a:prstGeom prst="roundRect">
            <a:avLst>
              <a:gd name="adj" fmla="val 9091"/>
            </a:avLst>
          </a:prstGeom>
          <a:solidFill>
            <a:srgbClr val="1E2F45"/>
          </a:solidFill>
          <a:ln w="12700">
            <a:solidFill>
              <a:srgbClr val="2DC653"/>
            </a:solidFill>
            <a:prstDash val="solid"/>
          </a:ln>
        </p:spPr>
      </p:sp>
      <p:sp>
        <p:nvSpPr>
          <p:cNvPr id="16" name="Text 14"/>
          <p:cNvSpPr/>
          <p:nvPr/>
        </p:nvSpPr>
        <p:spPr>
          <a:xfrm>
            <a:off x="548640" y="5394960"/>
            <a:ext cx="10972800" cy="65836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Key Insight: Different places have different geology — and that means DIFFERENT natural resources! This is why we can't find granite in Florida (never had the right conditions), but phosphate is everywhere.</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From Earth to Your Community</a:t>
            </a:r>
            <a:endParaRPr lang="en-US" sz="1600" dirty="0"/>
          </a:p>
        </p:txBody>
      </p:sp>
      <p:sp>
        <p:nvSpPr>
          <p:cNvPr id="5" name="Text 3"/>
          <p:cNvSpPr/>
          <p:nvPr/>
        </p:nvSpPr>
        <p:spPr>
          <a:xfrm>
            <a:off x="365760" y="749808"/>
            <a:ext cx="11247120" cy="457200"/>
          </a:xfrm>
          <a:prstGeom prst="rect">
            <a:avLst/>
          </a:prstGeom>
          <a:noFill/>
          <a:ln/>
        </p:spPr>
        <p:txBody>
          <a:bodyPr wrap="square" rtlCol="0" anchor="ctr"/>
          <a:lstStyle/>
          <a:p>
            <a:pPr algn="ctr" indent="0" marL="0">
              <a:buNone/>
            </a:pPr>
            <a:r>
              <a:rPr lang="en-US" sz="1300" i="1" dirty="0">
                <a:solidFill>
                  <a:srgbClr val="B0C4D8"/>
                </a:solidFill>
                <a:latin typeface="Calibri" pitchFamily="34" charset="0"/>
                <a:ea typeface="Calibri" pitchFamily="34" charset="-122"/>
                <a:cs typeface="Calibri" pitchFamily="34" charset="-120"/>
              </a:rPr>
              <a:t>Natural resources don't magically appear in stores. Let's trace the 4-step journey:</a:t>
            </a:r>
            <a:endParaRPr lang="en-US" sz="1300" dirty="0"/>
          </a:p>
        </p:txBody>
      </p:sp>
      <p:sp>
        <p:nvSpPr>
          <p:cNvPr id="6" name="Shape 4"/>
          <p:cNvSpPr/>
          <p:nvPr/>
        </p:nvSpPr>
        <p:spPr>
          <a:xfrm>
            <a:off x="365760" y="1353312"/>
            <a:ext cx="5669280" cy="2267712"/>
          </a:xfrm>
          <a:prstGeom prst="roundRect">
            <a:avLst>
              <a:gd name="adj" fmla="val 3226"/>
            </a:avLst>
          </a:prstGeom>
          <a:solidFill>
            <a:srgbClr val="1E2F45"/>
          </a:solidFill>
          <a:ln w="12700">
            <a:solidFill>
              <a:srgbClr val="4CC9F0"/>
            </a:solidFill>
            <a:prstDash val="solid"/>
          </a:ln>
        </p:spPr>
      </p:sp>
      <p:sp>
        <p:nvSpPr>
          <p:cNvPr id="7" name="Shape 5"/>
          <p:cNvSpPr/>
          <p:nvPr/>
        </p:nvSpPr>
        <p:spPr>
          <a:xfrm>
            <a:off x="502920" y="1490472"/>
            <a:ext cx="1554480" cy="256032"/>
          </a:xfrm>
          <a:prstGeom prst="roundRect">
            <a:avLst>
              <a:gd name="adj" fmla="val 50000"/>
            </a:avLst>
          </a:prstGeom>
          <a:solidFill>
            <a:srgbClr val="4CC9F0"/>
          </a:solidFill>
          <a:ln w="12700">
            <a:solidFill>
              <a:srgbClr val="4CC9F0"/>
            </a:solidFill>
            <a:prstDash val="solid"/>
          </a:ln>
        </p:spPr>
      </p:sp>
      <p:sp>
        <p:nvSpPr>
          <p:cNvPr id="8" name="Text 6"/>
          <p:cNvSpPr/>
          <p:nvPr/>
        </p:nvSpPr>
        <p:spPr>
          <a:xfrm>
            <a:off x="502920" y="14904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86000" y="1444752"/>
            <a:ext cx="54864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2834640" y="1463040"/>
            <a:ext cx="3017520" cy="41148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Natural Formation</a:t>
            </a:r>
            <a:endParaRPr lang="en-US" sz="1300" dirty="0"/>
          </a:p>
        </p:txBody>
      </p:sp>
      <p:sp>
        <p:nvSpPr>
          <p:cNvPr id="11" name="Text 9"/>
          <p:cNvSpPr/>
          <p:nvPr/>
        </p:nvSpPr>
        <p:spPr>
          <a:xfrm>
            <a:off x="548640" y="1975104"/>
            <a:ext cx="5394960" cy="1554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Earth's processes create the resource — rain fills rivers, organisms decompose into fossil fuels, minerals crystallize in rock layers, sunlight pours from the sky daily.</a:t>
            </a:r>
            <a:endParaRPr lang="en-US" sz="1150" dirty="0"/>
          </a:p>
        </p:txBody>
      </p:sp>
      <p:sp>
        <p:nvSpPr>
          <p:cNvPr id="12" name="Shape 10"/>
          <p:cNvSpPr/>
          <p:nvPr/>
        </p:nvSpPr>
        <p:spPr>
          <a:xfrm>
            <a:off x="6309360" y="1353312"/>
            <a:ext cx="5669280" cy="2267712"/>
          </a:xfrm>
          <a:prstGeom prst="roundRect">
            <a:avLst>
              <a:gd name="adj" fmla="val 3226"/>
            </a:avLst>
          </a:prstGeom>
          <a:solidFill>
            <a:srgbClr val="1E2F45"/>
          </a:solidFill>
          <a:ln w="12700">
            <a:solidFill>
              <a:srgbClr val="2DC653"/>
            </a:solidFill>
            <a:prstDash val="solid"/>
          </a:ln>
        </p:spPr>
      </p:sp>
      <p:sp>
        <p:nvSpPr>
          <p:cNvPr id="13" name="Shape 11"/>
          <p:cNvSpPr/>
          <p:nvPr/>
        </p:nvSpPr>
        <p:spPr>
          <a:xfrm>
            <a:off x="6446520" y="1490472"/>
            <a:ext cx="1554480" cy="256032"/>
          </a:xfrm>
          <a:prstGeom prst="roundRect">
            <a:avLst>
              <a:gd name="adj" fmla="val 50000"/>
            </a:avLst>
          </a:prstGeom>
          <a:solidFill>
            <a:srgbClr val="2DC653"/>
          </a:solidFill>
          <a:ln w="12700">
            <a:solidFill>
              <a:srgbClr val="2DC653"/>
            </a:solidFill>
            <a:prstDash val="solid"/>
          </a:ln>
        </p:spPr>
      </p:sp>
      <p:sp>
        <p:nvSpPr>
          <p:cNvPr id="14" name="Text 12"/>
          <p:cNvSpPr/>
          <p:nvPr/>
        </p:nvSpPr>
        <p:spPr>
          <a:xfrm>
            <a:off x="6446520" y="149047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5" name="Text 13"/>
          <p:cNvSpPr/>
          <p:nvPr/>
        </p:nvSpPr>
        <p:spPr>
          <a:xfrm>
            <a:off x="8229600" y="1444752"/>
            <a:ext cx="54864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8778240" y="1463040"/>
            <a:ext cx="3017520" cy="41148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Discovery &amp; Extraction</a:t>
            </a:r>
            <a:endParaRPr lang="en-US" sz="1300" dirty="0"/>
          </a:p>
        </p:txBody>
      </p:sp>
      <p:sp>
        <p:nvSpPr>
          <p:cNvPr id="17" name="Text 15"/>
          <p:cNvSpPr/>
          <p:nvPr/>
        </p:nvSpPr>
        <p:spPr>
          <a:xfrm>
            <a:off x="6492240" y="1975104"/>
            <a:ext cx="5394960" cy="1554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People locate and collect it. Miners dig phosphate from open pits. Engineers drill wells for the Floridan Aquifer. Solar panels capture sunlight on rooftops.</a:t>
            </a:r>
            <a:endParaRPr lang="en-US" sz="1150" dirty="0"/>
          </a:p>
        </p:txBody>
      </p:sp>
      <p:sp>
        <p:nvSpPr>
          <p:cNvPr id="18" name="Shape 16"/>
          <p:cNvSpPr/>
          <p:nvPr/>
        </p:nvSpPr>
        <p:spPr>
          <a:xfrm>
            <a:off x="365760" y="3776472"/>
            <a:ext cx="5669280" cy="2267712"/>
          </a:xfrm>
          <a:prstGeom prst="roundRect">
            <a:avLst>
              <a:gd name="adj" fmla="val 3226"/>
            </a:avLst>
          </a:prstGeom>
          <a:solidFill>
            <a:srgbClr val="1E2F45"/>
          </a:solidFill>
          <a:ln w="12700">
            <a:solidFill>
              <a:srgbClr val="FFB703"/>
            </a:solidFill>
            <a:prstDash val="solid"/>
          </a:ln>
        </p:spPr>
      </p:sp>
      <p:sp>
        <p:nvSpPr>
          <p:cNvPr id="19" name="Shape 17"/>
          <p:cNvSpPr/>
          <p:nvPr/>
        </p:nvSpPr>
        <p:spPr>
          <a:xfrm>
            <a:off x="502920" y="3913632"/>
            <a:ext cx="1554480" cy="256032"/>
          </a:xfrm>
          <a:prstGeom prst="roundRect">
            <a:avLst>
              <a:gd name="adj" fmla="val 50000"/>
            </a:avLst>
          </a:prstGeom>
          <a:solidFill>
            <a:srgbClr val="FFB703"/>
          </a:solidFill>
          <a:ln w="12700">
            <a:solidFill>
              <a:srgbClr val="FFB703"/>
            </a:solidFill>
            <a:prstDash val="solid"/>
          </a:ln>
        </p:spPr>
      </p:sp>
      <p:sp>
        <p:nvSpPr>
          <p:cNvPr id="20" name="Text 18"/>
          <p:cNvSpPr/>
          <p:nvPr/>
        </p:nvSpPr>
        <p:spPr>
          <a:xfrm>
            <a:off x="502920" y="39136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21" name="Text 19"/>
          <p:cNvSpPr/>
          <p:nvPr/>
        </p:nvSpPr>
        <p:spPr>
          <a:xfrm>
            <a:off x="2286000" y="3867912"/>
            <a:ext cx="54864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2834640" y="3886200"/>
            <a:ext cx="3017520" cy="41148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Processing &amp; Refinement</a:t>
            </a:r>
            <a:endParaRPr lang="en-US" sz="1300" dirty="0"/>
          </a:p>
        </p:txBody>
      </p:sp>
      <p:sp>
        <p:nvSpPr>
          <p:cNvPr id="23" name="Text 21"/>
          <p:cNvSpPr/>
          <p:nvPr/>
        </p:nvSpPr>
        <p:spPr>
          <a:xfrm>
            <a:off x="548640" y="4398264"/>
            <a:ext cx="5394960" cy="1554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Raw materials become useful products. Phosphate rock → fertilizer. Limestone → cement for roads. Oil → gasoline and plastics at refineries.</a:t>
            </a:r>
            <a:endParaRPr lang="en-US" sz="1150" dirty="0"/>
          </a:p>
        </p:txBody>
      </p:sp>
      <p:sp>
        <p:nvSpPr>
          <p:cNvPr id="24" name="Shape 22"/>
          <p:cNvSpPr/>
          <p:nvPr/>
        </p:nvSpPr>
        <p:spPr>
          <a:xfrm>
            <a:off x="6309360" y="3776472"/>
            <a:ext cx="5669280" cy="2267712"/>
          </a:xfrm>
          <a:prstGeom prst="roundRect">
            <a:avLst>
              <a:gd name="adj" fmla="val 3226"/>
            </a:avLst>
          </a:prstGeom>
          <a:solidFill>
            <a:srgbClr val="1E2F45"/>
          </a:solidFill>
          <a:ln w="12700">
            <a:solidFill>
              <a:srgbClr val="F4736A"/>
            </a:solidFill>
            <a:prstDash val="solid"/>
          </a:ln>
        </p:spPr>
      </p:sp>
      <p:sp>
        <p:nvSpPr>
          <p:cNvPr id="25" name="Shape 23"/>
          <p:cNvSpPr/>
          <p:nvPr/>
        </p:nvSpPr>
        <p:spPr>
          <a:xfrm>
            <a:off x="6446520" y="3913632"/>
            <a:ext cx="1554480" cy="256032"/>
          </a:xfrm>
          <a:prstGeom prst="roundRect">
            <a:avLst>
              <a:gd name="adj" fmla="val 50000"/>
            </a:avLst>
          </a:prstGeom>
          <a:solidFill>
            <a:srgbClr val="F4736A"/>
          </a:solidFill>
          <a:ln w="12700">
            <a:solidFill>
              <a:srgbClr val="F4736A"/>
            </a:solidFill>
            <a:prstDash val="solid"/>
          </a:ln>
        </p:spPr>
      </p:sp>
      <p:sp>
        <p:nvSpPr>
          <p:cNvPr id="26" name="Text 24"/>
          <p:cNvSpPr/>
          <p:nvPr/>
        </p:nvSpPr>
        <p:spPr>
          <a:xfrm>
            <a:off x="6446520" y="39136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7" name="Text 25"/>
          <p:cNvSpPr/>
          <p:nvPr/>
        </p:nvSpPr>
        <p:spPr>
          <a:xfrm>
            <a:off x="8229600" y="3867912"/>
            <a:ext cx="54864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8778240" y="3886200"/>
            <a:ext cx="3017520" cy="41148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Distribution &amp; Use</a:t>
            </a:r>
            <a:endParaRPr lang="en-US" sz="1300" dirty="0"/>
          </a:p>
        </p:txBody>
      </p:sp>
      <p:sp>
        <p:nvSpPr>
          <p:cNvPr id="29" name="Text 27"/>
          <p:cNvSpPr/>
          <p:nvPr/>
        </p:nvSpPr>
        <p:spPr>
          <a:xfrm>
            <a:off x="6492240" y="4398264"/>
            <a:ext cx="5394960" cy="15544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Finished products travel by truck, ship, or pipeline. Fertilizer feeds Central Florida farms. Solar electricity powers Miami schools. This is where conservation MATTERS!</a:t>
            </a:r>
            <a:endParaRPr lang="en-US" sz="115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Local vs. Non-Local Resources</a:t>
            </a:r>
            <a:endParaRPr lang="en-US" sz="1600" dirty="0"/>
          </a:p>
        </p:txBody>
      </p:sp>
      <p:sp>
        <p:nvSpPr>
          <p:cNvPr id="5" name="Shape 3"/>
          <p:cNvSpPr/>
          <p:nvPr/>
        </p:nvSpPr>
        <p:spPr>
          <a:xfrm>
            <a:off x="365760" y="749808"/>
            <a:ext cx="11247120" cy="1005840"/>
          </a:xfrm>
          <a:prstGeom prst="roundRect">
            <a:avLst>
              <a:gd name="adj" fmla="val 7273"/>
            </a:avLst>
          </a:prstGeom>
          <a:solidFill>
            <a:srgbClr val="1E2F45"/>
          </a:solidFill>
          <a:ln w="12700">
            <a:solidFill>
              <a:srgbClr val="FFB703"/>
            </a:solidFill>
            <a:prstDash val="solid"/>
          </a:ln>
        </p:spPr>
      </p:sp>
      <p:sp>
        <p:nvSpPr>
          <p:cNvPr id="6" name="Text 4"/>
          <p:cNvSpPr/>
          <p:nvPr/>
        </p:nvSpPr>
        <p:spPr>
          <a:xfrm>
            <a:off x="548640" y="822960"/>
            <a:ext cx="10972800" cy="822960"/>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What About Resources Florida DOESN'T Have? Not every resource is found everywhere!</a:t>
            </a:r>
            <a:endParaRPr lang="en-US" sz="1400" dirty="0"/>
          </a:p>
        </p:txBody>
      </p:sp>
      <p:sp>
        <p:nvSpPr>
          <p:cNvPr id="7" name="Shape 5"/>
          <p:cNvSpPr/>
          <p:nvPr/>
        </p:nvSpPr>
        <p:spPr>
          <a:xfrm>
            <a:off x="365760" y="1901952"/>
            <a:ext cx="5212080" cy="3474720"/>
          </a:xfrm>
          <a:prstGeom prst="roundRect">
            <a:avLst>
              <a:gd name="adj" fmla="val 2105"/>
            </a:avLst>
          </a:prstGeom>
          <a:solidFill>
            <a:srgbClr val="0A1520"/>
          </a:solidFill>
          <a:ln w="19050">
            <a:solidFill>
              <a:srgbClr val="4CC9F0"/>
            </a:solidFill>
            <a:prstDash val="dash"/>
          </a:ln>
        </p:spPr>
      </p:sp>
      <p:sp>
        <p:nvSpPr>
          <p:cNvPr id="8" name="Text 6"/>
          <p:cNvSpPr/>
          <p:nvPr/>
        </p:nvSpPr>
        <p:spPr>
          <a:xfrm>
            <a:off x="457200" y="2011680"/>
            <a:ext cx="5029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2450592"/>
            <a:ext cx="50292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2743200"/>
            <a:ext cx="4992624" cy="24231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"granite countertop kitchen rock igneous feldspar quartz mica close up"</a:t>
            </a:r>
            <a:endParaRPr lang="en-US" sz="950" dirty="0"/>
          </a:p>
        </p:txBody>
      </p:sp>
      <p:sp>
        <p:nvSpPr>
          <p:cNvPr id="11" name="Text 9"/>
          <p:cNvSpPr/>
          <p:nvPr/>
        </p:nvSpPr>
        <p:spPr>
          <a:xfrm>
            <a:off x="365760" y="5413248"/>
            <a:ext cx="52120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Granite — beautiful, but NOT found in Florida!</a:t>
            </a:r>
            <a:endParaRPr lang="en-US" sz="900" dirty="0"/>
          </a:p>
        </p:txBody>
      </p:sp>
      <p:sp>
        <p:nvSpPr>
          <p:cNvPr id="12" name="Shape 10"/>
          <p:cNvSpPr/>
          <p:nvPr/>
        </p:nvSpPr>
        <p:spPr>
          <a:xfrm>
            <a:off x="5760720" y="1901952"/>
            <a:ext cx="6217920" cy="3474720"/>
          </a:xfrm>
          <a:prstGeom prst="roundRect">
            <a:avLst>
              <a:gd name="adj" fmla="val 2105"/>
            </a:avLst>
          </a:prstGeom>
          <a:solidFill>
            <a:srgbClr val="1E2F45"/>
          </a:solidFill>
          <a:ln w="12700">
            <a:solidFill>
              <a:srgbClr val="4CC9F0"/>
            </a:solidFill>
            <a:prstDash val="solid"/>
          </a:ln>
        </p:spPr>
      </p:sp>
      <p:sp>
        <p:nvSpPr>
          <p:cNvPr id="13" name="Text 11"/>
          <p:cNvSpPr/>
          <p:nvPr/>
        </p:nvSpPr>
        <p:spPr>
          <a:xfrm>
            <a:off x="5943600" y="1975104"/>
            <a:ext cx="5943600" cy="411480"/>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Why No Granite in Florida?</a:t>
            </a:r>
            <a:endParaRPr lang="en-US" sz="1400" dirty="0"/>
          </a:p>
        </p:txBody>
      </p:sp>
      <p:sp>
        <p:nvSpPr>
          <p:cNvPr id="14" name="Text 12"/>
          <p:cNvSpPr/>
          <p:nvPr/>
        </p:nvSpPr>
        <p:spPr>
          <a:xfrm>
            <a:off x="5943600" y="2423160"/>
            <a:ext cx="5943600" cy="2834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Granite forms when magma cools deep underground — under high pressure. Florida was always flat and near the surface, never compressed by tectonic forces that make granite.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If you want granite for a countertop in Florida, it must come from: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Georgia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North Carolina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Brazil or India</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why communities TRADE with each other — no single place has everything!</a:t>
            </a:r>
            <a:endParaRPr lang="en-US" sz="1200" dirty="0"/>
          </a:p>
        </p:txBody>
      </p:sp>
      <p:sp>
        <p:nvSpPr>
          <p:cNvPr id="15" name="Shape 13"/>
          <p:cNvSpPr/>
          <p:nvPr/>
        </p:nvSpPr>
        <p:spPr>
          <a:xfrm>
            <a:off x="365760" y="5504688"/>
            <a:ext cx="11247120" cy="640080"/>
          </a:xfrm>
          <a:prstGeom prst="roundRect">
            <a:avLst>
              <a:gd name="adj" fmla="val 11429"/>
            </a:avLst>
          </a:prstGeom>
          <a:solidFill>
            <a:srgbClr val="0A2030"/>
          </a:solidFill>
          <a:ln w="12700">
            <a:solidFill>
              <a:srgbClr val="2DC653"/>
            </a:solidFill>
            <a:prstDash val="solid"/>
          </a:ln>
        </p:spPr>
      </p:sp>
      <p:sp>
        <p:nvSpPr>
          <p:cNvPr id="16" name="Text 14"/>
          <p:cNvSpPr/>
          <p:nvPr/>
        </p:nvSpPr>
        <p:spPr>
          <a:xfrm>
            <a:off x="548640" y="5577840"/>
            <a:ext cx="10972800" cy="502920"/>
          </a:xfrm>
          <a:prstGeom prst="rect">
            <a:avLst/>
          </a:prstGeom>
          <a:noFill/>
          <a:ln/>
        </p:spPr>
        <p:txBody>
          <a:bodyPr wrap="square" rtlCol="0" anchor="ctr"/>
          <a:lstStyle/>
          <a:p>
            <a:pPr indent="0" marL="0">
              <a:buNone/>
            </a:pPr>
            <a:r>
              <a:rPr lang="en-US" sz="1150" i="1" dirty="0">
                <a:solidFill>
                  <a:srgbClr val="B0C4D8"/>
                </a:solidFill>
                <a:latin typeface="Calibri" pitchFamily="34" charset="0"/>
                <a:ea typeface="Calibri" pitchFamily="34" charset="-122"/>
                <a:cs typeface="Calibri" pitchFamily="34" charset="-120"/>
              </a:rPr>
              <a:t>Think Like a Scientist: 'Can you think of an object in your home that was probably made from a material that did NOT come from Florida? Where might it have come from?'</a:t>
            </a:r>
            <a:endParaRPr lang="en-US" sz="11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Evidence &amp; Reasoning Discussion</a:t>
            </a:r>
            <a:endParaRPr lang="en-US" sz="1600" dirty="0"/>
          </a:p>
        </p:txBody>
      </p:sp>
      <p:sp>
        <p:nvSpPr>
          <p:cNvPr id="5" name="Shape 3"/>
          <p:cNvSpPr/>
          <p:nvPr/>
        </p:nvSpPr>
        <p:spPr>
          <a:xfrm>
            <a:off x="365760" y="749808"/>
            <a:ext cx="11247120" cy="1828800"/>
          </a:xfrm>
          <a:prstGeom prst="roundRect">
            <a:avLst>
              <a:gd name="adj" fmla="val 4000"/>
            </a:avLst>
          </a:prstGeom>
          <a:solidFill>
            <a:srgbClr val="162233"/>
          </a:solidFill>
          <a:ln w="12700">
            <a:solidFill>
              <a:srgbClr val="FFB703"/>
            </a:solidFill>
            <a:prstDash val="solid"/>
          </a:ln>
        </p:spPr>
      </p:sp>
      <p:sp>
        <p:nvSpPr>
          <p:cNvPr id="6" name="Text 4"/>
          <p:cNvSpPr/>
          <p:nvPr/>
        </p:nvSpPr>
        <p:spPr>
          <a:xfrm>
            <a:off x="530352" y="82296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Evidence Frame Practice</a:t>
            </a:r>
            <a:endParaRPr lang="en-US" sz="1300" dirty="0"/>
          </a:p>
        </p:txBody>
      </p:sp>
      <p:sp>
        <p:nvSpPr>
          <p:cNvPr id="7" name="Text 5"/>
          <p:cNvSpPr/>
          <p:nvPr/>
        </p:nvSpPr>
        <p:spPr>
          <a:xfrm>
            <a:off x="530352" y="1188720"/>
            <a:ext cx="10917936" cy="1280160"/>
          </a:xfrm>
          <a:prstGeom prst="rect">
            <a:avLst/>
          </a:prstGeom>
          <a:noFill/>
          <a:ln/>
        </p:spPr>
        <p:txBody>
          <a:bodyPr wrap="square" rtlCol="0" anchor="t"/>
          <a:lstStyle/>
          <a:p>
            <a:pPr algn="l" indent="0" marL="0">
              <a:buNone/>
            </a:pPr>
            <a:r>
              <a:rPr lang="en-US" sz="1350" i="1" dirty="0">
                <a:solidFill>
                  <a:srgbClr val="FFFFFF"/>
                </a:solidFill>
                <a:latin typeface="Calibri" pitchFamily="34" charset="0"/>
                <a:ea typeface="Calibri" pitchFamily="34" charset="-122"/>
                <a:cs typeface="Calibri" pitchFamily="34" charset="-120"/>
              </a:rPr>
              <a:t>"I know protecting Florida's natural resources matters because ___. This shows ___. Therefore communities should ___."</a:t>
            </a:r>
            <a:endParaRPr lang="en-US" sz="1350" dirty="0"/>
          </a:p>
        </p:txBody>
      </p:sp>
      <p:sp>
        <p:nvSpPr>
          <p:cNvPr id="8" name="Shape 6"/>
          <p:cNvSpPr/>
          <p:nvPr/>
        </p:nvSpPr>
        <p:spPr>
          <a:xfrm>
            <a:off x="365760" y="2743200"/>
            <a:ext cx="5394960" cy="3154680"/>
          </a:xfrm>
          <a:prstGeom prst="roundRect">
            <a:avLst>
              <a:gd name="adj" fmla="val 2319"/>
            </a:avLst>
          </a:prstGeom>
          <a:solidFill>
            <a:srgbClr val="1E2F45"/>
          </a:solidFill>
          <a:ln w="12700">
            <a:solidFill>
              <a:srgbClr val="4CC9F0"/>
            </a:solidFill>
            <a:prstDash val="solid"/>
          </a:ln>
        </p:spPr>
      </p:sp>
      <p:sp>
        <p:nvSpPr>
          <p:cNvPr id="9" name="Text 7"/>
          <p:cNvSpPr/>
          <p:nvPr/>
        </p:nvSpPr>
        <p:spPr>
          <a:xfrm>
            <a:off x="548640" y="2816352"/>
            <a:ext cx="512064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Strong Evidence to Use:</a:t>
            </a:r>
            <a:endParaRPr lang="en-US" sz="1300" dirty="0"/>
          </a:p>
        </p:txBody>
      </p:sp>
      <p:sp>
        <p:nvSpPr>
          <p:cNvPr id="10" name="Text 8"/>
          <p:cNvSpPr/>
          <p:nvPr/>
        </p:nvSpPr>
        <p:spPr>
          <a:xfrm>
            <a:off x="548640" y="3246120"/>
            <a:ext cx="5120640" cy="2514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Phosphate takes 300+ million years to form — once it's gone, it's gone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The Floridan Aquifer holds water from thousands of years ago — overpumping shrinks it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Florida produces 75% of US phosphate — losing it affects the whole country's food supply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Different places have different resources — loss here can't just be replaced from elsewhere</a:t>
            </a:r>
            <a:endParaRPr lang="en-US" sz="1200" dirty="0"/>
          </a:p>
        </p:txBody>
      </p:sp>
      <p:sp>
        <p:nvSpPr>
          <p:cNvPr id="11" name="Shape 9"/>
          <p:cNvSpPr/>
          <p:nvPr/>
        </p:nvSpPr>
        <p:spPr>
          <a:xfrm>
            <a:off x="5943600" y="2743200"/>
            <a:ext cx="5760720" cy="3154680"/>
          </a:xfrm>
          <a:prstGeom prst="roundRect">
            <a:avLst>
              <a:gd name="adj" fmla="val 2319"/>
            </a:avLst>
          </a:prstGeom>
          <a:solidFill>
            <a:srgbClr val="1E2F45"/>
          </a:solidFill>
          <a:ln w="12700">
            <a:solidFill>
              <a:srgbClr val="FFB703"/>
            </a:solidFill>
            <a:prstDash val="solid"/>
          </a:ln>
        </p:spPr>
      </p:sp>
      <p:sp>
        <p:nvSpPr>
          <p:cNvPr id="12" name="Text 10"/>
          <p:cNvSpPr/>
          <p:nvPr/>
        </p:nvSpPr>
        <p:spPr>
          <a:xfrm>
            <a:off x="6126480" y="2816352"/>
            <a:ext cx="54864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Real-World Connection:</a:t>
            </a:r>
            <a:endParaRPr lang="en-US" sz="1300" dirty="0"/>
          </a:p>
        </p:txBody>
      </p:sp>
      <p:sp>
        <p:nvSpPr>
          <p:cNvPr id="13" name="Text 11"/>
          <p:cNvSpPr/>
          <p:nvPr/>
        </p:nvSpPr>
        <p:spPr>
          <a:xfrm>
            <a:off x="6126480" y="3246120"/>
            <a:ext cx="5486400" cy="2514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some parts of the world, aquifers are shrinking because more water is pumped out than rain puts back in.</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Phosphate deposits are being used up — scientists estimate we may run short in a few hundred years.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Conservation NOW protects future Floridians!</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  Quick Self-Check</a:t>
            </a:r>
            <a:endParaRPr lang="en-US" sz="1600" dirty="0"/>
          </a:p>
        </p:txBody>
      </p:sp>
      <p:sp>
        <p:nvSpPr>
          <p:cNvPr id="5" name="Shape 3"/>
          <p:cNvSpPr/>
          <p:nvPr/>
        </p:nvSpPr>
        <p:spPr>
          <a:xfrm>
            <a:off x="365760" y="749808"/>
            <a:ext cx="1124712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82296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What is a natural resource?</a:t>
            </a:r>
            <a:endParaRPr lang="en-US" sz="1300" dirty="0"/>
          </a:p>
        </p:txBody>
      </p:sp>
      <p:sp>
        <p:nvSpPr>
          <p:cNvPr id="7" name="Text 5"/>
          <p:cNvSpPr/>
          <p:nvPr/>
        </p:nvSpPr>
        <p:spPr>
          <a:xfrm>
            <a:off x="548640" y="123444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Something made in a factory from plastic   B. A material found in nature that people use ✓   C. Any food that grows in a garden</a:t>
            </a:r>
            <a:endParaRPr lang="en-US" sz="1100" dirty="0"/>
          </a:p>
        </p:txBody>
      </p:sp>
      <p:sp>
        <p:nvSpPr>
          <p:cNvPr id="8" name="Text 6"/>
          <p:cNvSpPr/>
          <p:nvPr/>
        </p:nvSpPr>
        <p:spPr>
          <a:xfrm>
            <a:off x="548640" y="166420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A material found in nature that people use. From water to minerals to sunlight — if it comes from nature and people use it, it's a natural resource!</a:t>
            </a:r>
            <a:endParaRPr lang="en-US" sz="1100" dirty="0"/>
          </a:p>
        </p:txBody>
      </p:sp>
      <p:sp>
        <p:nvSpPr>
          <p:cNvPr id="9" name="Shape 7"/>
          <p:cNvSpPr/>
          <p:nvPr/>
        </p:nvSpPr>
        <p:spPr>
          <a:xfrm>
            <a:off x="365760" y="2670048"/>
            <a:ext cx="11247120" cy="1783080"/>
          </a:xfrm>
          <a:prstGeom prst="roundRect">
            <a:avLst>
              <a:gd name="adj" fmla="val 4103"/>
            </a:avLst>
          </a:prstGeom>
          <a:solidFill>
            <a:srgbClr val="1E2F45"/>
          </a:solidFill>
          <a:ln w="12700">
            <a:solidFill>
              <a:srgbClr val="2DC653"/>
            </a:solidFill>
            <a:prstDash val="solid"/>
          </a:ln>
        </p:spPr>
      </p:sp>
      <p:sp>
        <p:nvSpPr>
          <p:cNvPr id="10" name="Text 8"/>
          <p:cNvSpPr/>
          <p:nvPr/>
        </p:nvSpPr>
        <p:spPr>
          <a:xfrm>
            <a:off x="548640" y="274320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Which is a RENEWABLE resource?</a:t>
            </a:r>
            <a:endParaRPr lang="en-US" sz="1300" dirty="0"/>
          </a:p>
        </p:txBody>
      </p:sp>
      <p:sp>
        <p:nvSpPr>
          <p:cNvPr id="11" name="Text 9"/>
          <p:cNvSpPr/>
          <p:nvPr/>
        </p:nvSpPr>
        <p:spPr>
          <a:xfrm>
            <a:off x="548640" y="315468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Oil (fossil fuel)   B. Phosphate (mineral)   C. Sunlight ✓</a:t>
            </a:r>
            <a:endParaRPr lang="en-US" sz="1100" dirty="0"/>
          </a:p>
        </p:txBody>
      </p:sp>
      <p:sp>
        <p:nvSpPr>
          <p:cNvPr id="12" name="Text 10"/>
          <p:cNvSpPr/>
          <p:nvPr/>
        </p:nvSpPr>
        <p:spPr>
          <a:xfrm>
            <a:off x="548640" y="358444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C — Sunlight renews every single day! Florida gets more of it than almost any other state.</a:t>
            </a:r>
            <a:endParaRPr lang="en-US" sz="1100" dirty="0"/>
          </a:p>
        </p:txBody>
      </p:sp>
      <p:sp>
        <p:nvSpPr>
          <p:cNvPr id="13" name="Shape 11"/>
          <p:cNvSpPr/>
          <p:nvPr/>
        </p:nvSpPr>
        <p:spPr>
          <a:xfrm>
            <a:off x="365760" y="4590288"/>
            <a:ext cx="11247120" cy="1783080"/>
          </a:xfrm>
          <a:prstGeom prst="roundRect">
            <a:avLst>
              <a:gd name="adj" fmla="val 4103"/>
            </a:avLst>
          </a:prstGeom>
          <a:solidFill>
            <a:srgbClr val="1E2F45"/>
          </a:solidFill>
          <a:ln w="12700">
            <a:solidFill>
              <a:srgbClr val="2DC653"/>
            </a:solidFill>
            <a:prstDash val="solid"/>
          </a:ln>
        </p:spPr>
      </p:sp>
      <p:sp>
        <p:nvSpPr>
          <p:cNvPr id="14" name="Text 12"/>
          <p:cNvSpPr/>
          <p:nvPr/>
        </p:nvSpPr>
        <p:spPr>
          <a:xfrm>
            <a:off x="548640" y="4663440"/>
            <a:ext cx="1097280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Why do communities sometimes need resources from other places?</a:t>
            </a:r>
            <a:endParaRPr lang="en-US" sz="1300" dirty="0"/>
          </a:p>
        </p:txBody>
      </p:sp>
      <p:sp>
        <p:nvSpPr>
          <p:cNvPr id="15" name="Text 13"/>
          <p:cNvSpPr/>
          <p:nvPr/>
        </p:nvSpPr>
        <p:spPr>
          <a:xfrm>
            <a:off x="548640" y="5074920"/>
            <a:ext cx="10972800" cy="38404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Resources from far away are always better quality   B. Not every resource is found in every location ✓   C. Local resources are too expensive to use</a:t>
            </a:r>
            <a:endParaRPr lang="en-US" sz="1100" dirty="0"/>
          </a:p>
        </p:txBody>
      </p:sp>
      <p:sp>
        <p:nvSpPr>
          <p:cNvPr id="16" name="Text 14"/>
          <p:cNvSpPr/>
          <p:nvPr/>
        </p:nvSpPr>
        <p:spPr>
          <a:xfrm>
            <a:off x="548640" y="5504688"/>
            <a:ext cx="10972800" cy="804672"/>
          </a:xfrm>
          <a:prstGeom prst="rect">
            <a:avLst/>
          </a:prstGeom>
          <a:noFill/>
          <a:ln/>
        </p:spPr>
        <p:txBody>
          <a:bodyPr wrap="square" rtlCol="0" anchor="ctr"/>
          <a:lstStyle/>
          <a:p>
            <a:pPr indent="0" marL="0">
              <a:buNone/>
            </a:pPr>
            <a:r>
              <a:rPr lang="en-US" sz="1100" i="1" dirty="0">
                <a:solidFill>
                  <a:srgbClr val="2DC653"/>
                </a:solidFill>
                <a:latin typeface="Calibri" pitchFamily="34" charset="0"/>
                <a:ea typeface="Calibri" pitchFamily="34" charset="-122"/>
                <a:cs typeface="Calibri" pitchFamily="34" charset="-120"/>
              </a:rPr>
              <a:t>Answer: B — Different places have different geology, climate, and history — so different resources. Florida has phosphate but NOT granite!</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Show What You Know</a:t>
            </a:r>
            <a:endParaRPr lang="en-US" sz="1600" dirty="0"/>
          </a:p>
        </p:txBody>
      </p:sp>
      <p:sp>
        <p:nvSpPr>
          <p:cNvPr id="5" name="Shape 3"/>
          <p:cNvSpPr/>
          <p:nvPr/>
        </p:nvSpPr>
        <p:spPr>
          <a:xfrm>
            <a:off x="365760" y="749808"/>
            <a:ext cx="3566160" cy="5394960"/>
          </a:xfrm>
          <a:prstGeom prst="roundRect">
            <a:avLst>
              <a:gd name="adj" fmla="val 2051"/>
            </a:avLst>
          </a:prstGeom>
          <a:solidFill>
            <a:srgbClr val="1E2F45"/>
          </a:solidFill>
          <a:ln w="12700">
            <a:solidFill>
              <a:srgbClr val="F4736A"/>
            </a:solidFill>
            <a:prstDash val="solid"/>
          </a:ln>
        </p:spPr>
      </p:sp>
      <p:sp>
        <p:nvSpPr>
          <p:cNvPr id="6" name="Text 4"/>
          <p:cNvSpPr/>
          <p:nvPr/>
        </p:nvSpPr>
        <p:spPr>
          <a:xfrm>
            <a:off x="502920" y="822960"/>
            <a:ext cx="3291840" cy="68580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Part A</a:t>
            </a:r>
            <a:endParaRPr lang="en-US" sz="1300" dirty="0"/>
          </a:p>
          <a:p>
            <a:pPr indent="0" marL="0">
              <a:buNone/>
            </a:pPr>
            <a:r>
              <a:rPr lang="en-US" sz="1300" b="1" dirty="0">
                <a:solidFill>
                  <a:srgbClr val="F4736A"/>
                </a:solidFill>
                <a:latin typeface="Calibri" pitchFamily="34" charset="0"/>
                <a:ea typeface="Calibri" pitchFamily="34" charset="-122"/>
                <a:cs typeface="Calibri" pitchFamily="34" charset="-120"/>
              </a:rPr>
              <a:t>Resource Layers</a:t>
            </a:r>
            <a:endParaRPr lang="en-US" sz="1300" dirty="0"/>
          </a:p>
        </p:txBody>
      </p:sp>
      <p:sp>
        <p:nvSpPr>
          <p:cNvPr id="7" name="Text 5"/>
          <p:cNvSpPr/>
          <p:nvPr/>
        </p:nvSpPr>
        <p:spPr>
          <a:xfrm>
            <a:off x="502920" y="1554480"/>
            <a:ext cx="329184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Word Bank: groundwater, limestone, phosphate, oil, solar energy, timber</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Underground water in rock/soil layers: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Gray layered rock used to make cement: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Orange-brown mineral for fertilizer: ___</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Fossil fuel in deepest rock layers: ___</a:t>
            </a:r>
            <a:endParaRPr lang="en-US" sz="1100" dirty="0"/>
          </a:p>
        </p:txBody>
      </p:sp>
      <p:sp>
        <p:nvSpPr>
          <p:cNvPr id="8" name="Shape 6"/>
          <p:cNvSpPr/>
          <p:nvPr/>
        </p:nvSpPr>
        <p:spPr>
          <a:xfrm>
            <a:off x="4069080" y="749808"/>
            <a:ext cx="3840480" cy="5394960"/>
          </a:xfrm>
          <a:prstGeom prst="roundRect">
            <a:avLst>
              <a:gd name="adj" fmla="val 1905"/>
            </a:avLst>
          </a:prstGeom>
          <a:solidFill>
            <a:srgbClr val="1E2F45"/>
          </a:solidFill>
          <a:ln w="12700">
            <a:solidFill>
              <a:srgbClr val="2DC653"/>
            </a:solidFill>
            <a:prstDash val="solid"/>
          </a:ln>
        </p:spPr>
      </p:sp>
      <p:sp>
        <p:nvSpPr>
          <p:cNvPr id="9" name="Text 7"/>
          <p:cNvSpPr/>
          <p:nvPr/>
        </p:nvSpPr>
        <p:spPr>
          <a:xfrm>
            <a:off x="4206240" y="822960"/>
            <a:ext cx="3566160" cy="68580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Part B</a:t>
            </a:r>
            <a:endParaRPr lang="en-US" sz="1300" dirty="0"/>
          </a:p>
          <a:p>
            <a:pPr indent="0" marL="0">
              <a:buNone/>
            </a:pPr>
            <a:r>
              <a:rPr lang="en-US" sz="1300" b="1" dirty="0">
                <a:solidFill>
                  <a:srgbClr val="2DC653"/>
                </a:solidFill>
                <a:latin typeface="Calibri" pitchFamily="34" charset="0"/>
                <a:ea typeface="Calibri" pitchFamily="34" charset="-122"/>
                <a:cs typeface="Calibri" pitchFamily="34" charset="-120"/>
              </a:rPr>
              <a:t>Short Answer</a:t>
            </a:r>
            <a:endParaRPr lang="en-US" sz="1300" dirty="0"/>
          </a:p>
        </p:txBody>
      </p:sp>
      <p:sp>
        <p:nvSpPr>
          <p:cNvPr id="10" name="Text 8"/>
          <p:cNvSpPr/>
          <p:nvPr/>
        </p:nvSpPr>
        <p:spPr>
          <a:xfrm>
            <a:off x="4206240" y="1554480"/>
            <a:ext cx="356616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Complete sentences + vocab!</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5. What's the difference between renewable and nonrenewable? One example of each.</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6. Name TWO Florida natural resources. How do people use each in daily life?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7. Florida doesn't have granite. A neighbor wants granite countertops. What does this show about local vs. non-local resources?</a:t>
            </a:r>
            <a:endParaRPr lang="en-US" sz="1100" dirty="0"/>
          </a:p>
        </p:txBody>
      </p:sp>
      <p:sp>
        <p:nvSpPr>
          <p:cNvPr id="11" name="Shape 9"/>
          <p:cNvSpPr/>
          <p:nvPr/>
        </p:nvSpPr>
        <p:spPr>
          <a:xfrm>
            <a:off x="8046720" y="749808"/>
            <a:ext cx="3931920" cy="5394960"/>
          </a:xfrm>
          <a:prstGeom prst="roundRect">
            <a:avLst>
              <a:gd name="adj" fmla="val 1860"/>
            </a:avLst>
          </a:prstGeom>
          <a:solidFill>
            <a:srgbClr val="1E2F45"/>
          </a:solidFill>
          <a:ln w="12700">
            <a:solidFill>
              <a:srgbClr val="4CC9F0"/>
            </a:solidFill>
            <a:prstDash val="solid"/>
          </a:ln>
        </p:spPr>
      </p:sp>
      <p:sp>
        <p:nvSpPr>
          <p:cNvPr id="12" name="Text 10"/>
          <p:cNvSpPr/>
          <p:nvPr/>
        </p:nvSpPr>
        <p:spPr>
          <a:xfrm>
            <a:off x="8183880" y="822960"/>
            <a:ext cx="3657600" cy="68580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Part C</a:t>
            </a:r>
            <a:endParaRPr lang="en-US" sz="1300" dirty="0"/>
          </a:p>
          <a:p>
            <a:pPr indent="0" marL="0">
              <a:buNone/>
            </a:pPr>
            <a:r>
              <a:rPr lang="en-US" sz="1300" b="1" dirty="0">
                <a:solidFill>
                  <a:srgbClr val="4CC9F0"/>
                </a:solidFill>
                <a:latin typeface="Calibri" pitchFamily="34" charset="0"/>
                <a:ea typeface="Calibri" pitchFamily="34" charset="-122"/>
                <a:cs typeface="Calibri" pitchFamily="34" charset="-120"/>
              </a:rPr>
              <a:t>List &amp; Classify</a:t>
            </a:r>
            <a:endParaRPr lang="en-US" sz="1300" dirty="0"/>
          </a:p>
        </p:txBody>
      </p:sp>
      <p:sp>
        <p:nvSpPr>
          <p:cNvPr id="13" name="Text 11"/>
          <p:cNvSpPr/>
          <p:nvPr/>
        </p:nvSpPr>
        <p:spPr>
          <a:xfrm>
            <a:off x="8183880" y="1554480"/>
            <a:ext cx="3657600" cy="42976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Look around your home/classroom.</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List 3 objects.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For each: What natural resource is it made from? Renewable or nonrenewable?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CER Response: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Make a claim about why protecting Florida's natural resources matters. Use 2 specific pieces of evidence from today's lesson.</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"Everything around you — your home, your food, your energy — came from somewhere on Earth. Where exactly? And does every place on Earth have the same resources?"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All four resource layer blanks filled in using the word bank.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Questions 5, 6 &amp; 7 in complete sentences with vocabulary words.</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3 objects listed with natural resource source + renewable/nonrenewable classification.</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Response — 2-3 sentences using 3+ vocab words.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 Claim about protecting Florida resources + 2 specific evidence pieces.</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8.01</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Modern Resources: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Exploring Earth's Wonders</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do modern explorers find resources in extreme environments — the deep ocean, the Arctic, and beyond?</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7.02  ·  Local Resources: What the Earth Gives Us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2026-07-13T19:54:27Z</dcterms:created>
  <dcterms:modified xsi:type="dcterms:W3CDTF">2026-07-13T19:54:27Z</dcterms:modified>
</cp:coreProperties>
</file>