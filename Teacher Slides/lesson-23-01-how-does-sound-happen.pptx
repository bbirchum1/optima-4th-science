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rubber band pluck or ruler on desk edge. Vocab + wave model + CER Stage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Chromebook or speaker handy, play high vs. low frequency sounds and ask students to identify differences. Tuning fork demo: touch fork to desk to feel vibration vs. hold in air for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In one sentence, explain why there is no sound in outer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How Does Sound Happen?</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What causes sound, and how does it travel to our ears?</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4-PS4-1 — Develop a model of waves to describe patterns in amplitude and frequency</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that sound is caused by vibrating objects.</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how vibrations travel as waves through matter.</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use wave models to compare sounds of different pitch and volume.</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pencil   rubber band (optional)</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Warm-Up: Feel the Vibration</a:t>
            </a:r>
            <a:endParaRPr lang="en-US" sz="1600" dirty="0"/>
          </a:p>
        </p:txBody>
      </p:sp>
      <p:sp>
        <p:nvSpPr>
          <p:cNvPr id="5" name="Shape 3"/>
          <p:cNvSpPr/>
          <p:nvPr/>
        </p:nvSpPr>
        <p:spPr>
          <a:xfrm>
            <a:off x="365760" y="749808"/>
            <a:ext cx="11430000" cy="1389888"/>
          </a:xfrm>
          <a:prstGeom prst="roundRect">
            <a:avLst>
              <a:gd name="adj" fmla="val 5263"/>
            </a:avLst>
          </a:prstGeom>
          <a:solidFill>
            <a:srgbClr val="1E2F45"/>
          </a:solidFill>
          <a:ln w="12700">
            <a:solidFill>
              <a:srgbClr val="FFB703"/>
            </a:solidFill>
            <a:prstDash val="solid"/>
          </a:ln>
        </p:spPr>
      </p:sp>
      <p:sp>
        <p:nvSpPr>
          <p:cNvPr id="6" name="Text 4"/>
          <p:cNvSpPr/>
          <p:nvPr/>
        </p:nvSpPr>
        <p:spPr>
          <a:xfrm>
            <a:off x="548640" y="804672"/>
            <a:ext cx="11155680" cy="12344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Place your fingers lightly on your throat and hum. Now speak. What do you feel?</a:t>
            </a:r>
            <a:endParaRPr lang="en-US" sz="1500" dirty="0"/>
          </a:p>
        </p:txBody>
      </p:sp>
      <p:sp>
        <p:nvSpPr>
          <p:cNvPr id="7" name="Shape 5"/>
          <p:cNvSpPr/>
          <p:nvPr/>
        </p:nvSpPr>
        <p:spPr>
          <a:xfrm>
            <a:off x="365760" y="2286000"/>
            <a:ext cx="5394960" cy="3657600"/>
          </a:xfrm>
          <a:prstGeom prst="roundRect">
            <a:avLst>
              <a:gd name="adj" fmla="val 2000"/>
            </a:avLst>
          </a:prstGeom>
          <a:solidFill>
            <a:srgbClr val="1E2F45"/>
          </a:solidFill>
          <a:ln w="12700">
            <a:solidFill>
              <a:srgbClr val="4CC9F0"/>
            </a:solidFill>
            <a:prstDash val="solid"/>
          </a:ln>
        </p:spPr>
      </p:sp>
      <p:sp>
        <p:nvSpPr>
          <p:cNvPr id="8" name="Text 6"/>
          <p:cNvSpPr/>
          <p:nvPr/>
        </p:nvSpPr>
        <p:spPr>
          <a:xfrm>
            <a:off x="548640" y="2359152"/>
            <a:ext cx="502920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In your notebook:</a:t>
            </a:r>
            <a:endParaRPr lang="en-US" sz="1300" dirty="0"/>
          </a:p>
        </p:txBody>
      </p:sp>
      <p:sp>
        <p:nvSpPr>
          <p:cNvPr id="9" name="Text 7"/>
          <p:cNvSpPr/>
          <p:nvPr/>
        </p:nvSpPr>
        <p:spPr>
          <a:xfrm>
            <a:off x="548640" y="2761488"/>
            <a:ext cx="5029200" cy="301752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 What do you feel in your throat?</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2. What happens when you stop humming?</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3. Evidence-based prediction:</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"I predict sound is caused by ___ because when I ___"</a:t>
            </a:r>
            <a:endParaRPr lang="en-US" sz="1250" dirty="0"/>
          </a:p>
        </p:txBody>
      </p:sp>
      <p:sp>
        <p:nvSpPr>
          <p:cNvPr id="10" name="Shape 8"/>
          <p:cNvSpPr/>
          <p:nvPr/>
        </p:nvSpPr>
        <p:spPr>
          <a:xfrm>
            <a:off x="5943600" y="2286000"/>
            <a:ext cx="5852160" cy="3657600"/>
          </a:xfrm>
          <a:prstGeom prst="roundRect">
            <a:avLst>
              <a:gd name="adj" fmla="val 2000"/>
            </a:avLst>
          </a:prstGeom>
          <a:solidFill>
            <a:srgbClr val="1E2F45"/>
          </a:solidFill>
          <a:ln w="12700">
            <a:solidFill>
              <a:srgbClr val="2DC653"/>
            </a:solidFill>
            <a:prstDash val="solid"/>
          </a:ln>
        </p:spPr>
      </p:sp>
      <p:sp>
        <p:nvSpPr>
          <p:cNvPr id="11" name="Text 9"/>
          <p:cNvSpPr/>
          <p:nvPr/>
        </p:nvSpPr>
        <p:spPr>
          <a:xfrm>
            <a:off x="6126480" y="2359152"/>
            <a:ext cx="54864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If you have a rubber band:</a:t>
            </a:r>
            <a:endParaRPr lang="en-US" sz="1200" dirty="0"/>
          </a:p>
        </p:txBody>
      </p:sp>
      <p:sp>
        <p:nvSpPr>
          <p:cNvPr id="12" name="Text 10"/>
          <p:cNvSpPr/>
          <p:nvPr/>
        </p:nvSpPr>
        <p:spPr>
          <a:xfrm>
            <a:off x="6126480" y="2761488"/>
            <a:ext cx="5486400" cy="30175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Stretch it between your fingers and pluck it.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Observe: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What do you see the rubber band do?</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What do you hear?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What happens when it stops moving?</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How are the motion and the sound connected?</a:t>
            </a:r>
            <a:endParaRPr lang="en-US" sz="12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Essential Question</a:t>
            </a:r>
            <a:endParaRPr lang="en-US" sz="1600" dirty="0"/>
          </a:p>
        </p:txBody>
      </p:sp>
      <p:sp>
        <p:nvSpPr>
          <p:cNvPr id="5" name="Shape 3"/>
          <p:cNvSpPr/>
          <p:nvPr/>
        </p:nvSpPr>
        <p:spPr>
          <a:xfrm>
            <a:off x="457200" y="749808"/>
            <a:ext cx="11247120" cy="1371600"/>
          </a:xfrm>
          <a:prstGeom prst="roundRect">
            <a:avLst>
              <a:gd name="adj" fmla="val 5333"/>
            </a:avLst>
          </a:prstGeom>
          <a:solidFill>
            <a:srgbClr val="162233"/>
          </a:solidFill>
          <a:ln w="12700">
            <a:solidFill>
              <a:srgbClr val="4CC9F0"/>
            </a:solidFill>
            <a:prstDash val="solid"/>
          </a:ln>
        </p:spPr>
      </p:sp>
      <p:sp>
        <p:nvSpPr>
          <p:cNvPr id="6" name="Text 4"/>
          <p:cNvSpPr/>
          <p:nvPr/>
        </p:nvSpPr>
        <p:spPr>
          <a:xfrm>
            <a:off x="640080" y="804672"/>
            <a:ext cx="10972800" cy="118872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What causes sound, and how does it travel as energy from a source to our ears?</a:t>
            </a:r>
            <a:endParaRPr lang="en-US" sz="2400" dirty="0"/>
          </a:p>
        </p:txBody>
      </p:sp>
      <p:sp>
        <p:nvSpPr>
          <p:cNvPr id="7" name="Shape 5"/>
          <p:cNvSpPr/>
          <p:nvPr/>
        </p:nvSpPr>
        <p:spPr>
          <a:xfrm>
            <a:off x="457200" y="2331720"/>
            <a:ext cx="11247120" cy="1143000"/>
          </a:xfrm>
          <a:prstGeom prst="roundRect">
            <a:avLst>
              <a:gd name="adj" fmla="val 6400"/>
            </a:avLst>
          </a:prstGeom>
          <a:solidFill>
            <a:srgbClr val="1E2F45"/>
          </a:solidFill>
          <a:ln w="12700">
            <a:solidFill>
              <a:srgbClr val="FFB703"/>
            </a:solidFill>
            <a:prstDash val="solid"/>
          </a:ln>
        </p:spPr>
      </p:sp>
      <p:sp>
        <p:nvSpPr>
          <p:cNvPr id="8" name="Text 6"/>
          <p:cNvSpPr/>
          <p:nvPr/>
        </p:nvSpPr>
        <p:spPr>
          <a:xfrm>
            <a:off x="640080" y="2487168"/>
            <a:ext cx="10972800" cy="822960"/>
          </a:xfrm>
          <a:prstGeom prst="rect">
            <a:avLst/>
          </a:prstGeom>
          <a:noFill/>
          <a:ln/>
        </p:spPr>
        <p:txBody>
          <a:bodyPr wrap="square" rtlCol="0" anchor="ctr"/>
          <a:lstStyle/>
          <a:p>
            <a:pPr indent="0" marL="0">
              <a:buNone/>
            </a:pPr>
            <a:r>
              <a:rPr lang="en-US" sz="1300" i="1" dirty="0">
                <a:solidFill>
                  <a:srgbClr val="B0C4D8"/>
                </a:solidFill>
                <a:latin typeface="Calibri" pitchFamily="34" charset="0"/>
                <a:ea typeface="Calibri" pitchFamily="34" charset="-122"/>
                <a:cs typeface="Calibri" pitchFamily="34" charset="-120"/>
              </a:rPr>
              <a:t>Prediction: "I predict sound is caused by ___ and travels by ___"</a:t>
            </a:r>
            <a:endParaRPr lang="en-US" sz="1300" dirty="0"/>
          </a:p>
        </p:txBody>
      </p:sp>
      <p:sp>
        <p:nvSpPr>
          <p:cNvPr id="9" name="Shape 7"/>
          <p:cNvSpPr/>
          <p:nvPr/>
        </p:nvSpPr>
        <p:spPr>
          <a:xfrm>
            <a:off x="0" y="6629400"/>
            <a:ext cx="12192000" cy="228600"/>
          </a:xfrm>
          <a:prstGeom prst="rect">
            <a:avLst/>
          </a:prstGeom>
          <a:solidFill>
            <a:srgbClr val="162233"/>
          </a:solidFill>
          <a:ln/>
        </p:spPr>
      </p:sp>
      <p:sp>
        <p:nvSpPr>
          <p:cNvPr id="10" name="Text 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Vocabulary: Sound and Waves</a:t>
            </a:r>
            <a:endParaRPr lang="en-US" sz="1600" dirty="0"/>
          </a:p>
        </p:txBody>
      </p:sp>
      <p:sp>
        <p:nvSpPr>
          <p:cNvPr id="5" name="Shape 3"/>
          <p:cNvSpPr/>
          <p:nvPr/>
        </p:nvSpPr>
        <p:spPr>
          <a:xfrm>
            <a:off x="274320" y="749808"/>
            <a:ext cx="365760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274320" y="749808"/>
            <a:ext cx="365760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36576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vibration</a:t>
            </a:r>
            <a:endParaRPr lang="en-US" sz="1200" dirty="0"/>
          </a:p>
        </p:txBody>
      </p:sp>
      <p:sp>
        <p:nvSpPr>
          <p:cNvPr id="8" name="Text 6"/>
          <p:cNvSpPr/>
          <p:nvPr/>
        </p:nvSpPr>
        <p:spPr>
          <a:xfrm>
            <a:off x="38404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rapid back-and-forth movement of an object. Vibrations are the cause of all sound.</a:t>
            </a:r>
            <a:endParaRPr lang="en-US" sz="1050" dirty="0"/>
          </a:p>
        </p:txBody>
      </p:sp>
      <p:sp>
        <p:nvSpPr>
          <p:cNvPr id="9" name="Shape 7"/>
          <p:cNvSpPr/>
          <p:nvPr/>
        </p:nvSpPr>
        <p:spPr>
          <a:xfrm>
            <a:off x="4069080" y="749808"/>
            <a:ext cx="3657600" cy="1325880"/>
          </a:xfrm>
          <a:prstGeom prst="roundRect">
            <a:avLst>
              <a:gd name="adj" fmla="val 6897"/>
            </a:avLst>
          </a:prstGeom>
          <a:solidFill>
            <a:srgbClr val="1E2F45"/>
          </a:solidFill>
          <a:ln w="25400">
            <a:solidFill>
              <a:srgbClr val="F4736A"/>
            </a:solidFill>
            <a:prstDash val="solid"/>
          </a:ln>
        </p:spPr>
      </p:sp>
      <p:sp>
        <p:nvSpPr>
          <p:cNvPr id="10" name="Shape 8"/>
          <p:cNvSpPr/>
          <p:nvPr/>
        </p:nvSpPr>
        <p:spPr>
          <a:xfrm>
            <a:off x="4069080" y="749808"/>
            <a:ext cx="3657600" cy="347472"/>
          </a:xfrm>
          <a:prstGeom prst="roundRect">
            <a:avLst>
              <a:gd name="adj" fmla="val 21053"/>
            </a:avLst>
          </a:prstGeom>
          <a:solidFill>
            <a:srgbClr val="F4736A"/>
          </a:solidFill>
          <a:ln w="12700">
            <a:solidFill>
              <a:srgbClr val="F4736A"/>
            </a:solidFill>
            <a:prstDash val="solid"/>
          </a:ln>
        </p:spPr>
      </p:sp>
      <p:sp>
        <p:nvSpPr>
          <p:cNvPr id="11" name="Text 9"/>
          <p:cNvSpPr/>
          <p:nvPr/>
        </p:nvSpPr>
        <p:spPr>
          <a:xfrm>
            <a:off x="416052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sound</a:t>
            </a:r>
            <a:endParaRPr lang="en-US" sz="1200" dirty="0"/>
          </a:p>
        </p:txBody>
      </p:sp>
      <p:sp>
        <p:nvSpPr>
          <p:cNvPr id="12" name="Text 10"/>
          <p:cNvSpPr/>
          <p:nvPr/>
        </p:nvSpPr>
        <p:spPr>
          <a:xfrm>
            <a:off x="417880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Energy that travels as waves of vibration through matter (solid, liquid, or gas).</a:t>
            </a:r>
            <a:endParaRPr lang="en-US" sz="1050" dirty="0"/>
          </a:p>
        </p:txBody>
      </p:sp>
      <p:sp>
        <p:nvSpPr>
          <p:cNvPr id="13" name="Shape 11"/>
          <p:cNvSpPr/>
          <p:nvPr/>
        </p:nvSpPr>
        <p:spPr>
          <a:xfrm>
            <a:off x="7863840" y="749808"/>
            <a:ext cx="365760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7863840" y="749808"/>
            <a:ext cx="365760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795528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wave</a:t>
            </a:r>
            <a:endParaRPr lang="en-US" sz="1200" dirty="0"/>
          </a:p>
        </p:txBody>
      </p:sp>
      <p:sp>
        <p:nvSpPr>
          <p:cNvPr id="16" name="Text 14"/>
          <p:cNvSpPr/>
          <p:nvPr/>
        </p:nvSpPr>
        <p:spPr>
          <a:xfrm>
            <a:off x="797356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repeating disturbance that transfers energy from place to place without moving matter.</a:t>
            </a:r>
            <a:endParaRPr lang="en-US" sz="1050" dirty="0"/>
          </a:p>
        </p:txBody>
      </p:sp>
      <p:sp>
        <p:nvSpPr>
          <p:cNvPr id="17" name="Shape 15"/>
          <p:cNvSpPr/>
          <p:nvPr/>
        </p:nvSpPr>
        <p:spPr>
          <a:xfrm>
            <a:off x="274320" y="2304288"/>
            <a:ext cx="3657600" cy="1325880"/>
          </a:xfrm>
          <a:prstGeom prst="roundRect">
            <a:avLst>
              <a:gd name="adj" fmla="val 6897"/>
            </a:avLst>
          </a:prstGeom>
          <a:solidFill>
            <a:srgbClr val="1E2F45"/>
          </a:solidFill>
          <a:ln w="25400">
            <a:solidFill>
              <a:srgbClr val="2DC653"/>
            </a:solidFill>
            <a:prstDash val="solid"/>
          </a:ln>
        </p:spPr>
      </p:sp>
      <p:sp>
        <p:nvSpPr>
          <p:cNvPr id="18" name="Shape 16"/>
          <p:cNvSpPr/>
          <p:nvPr/>
        </p:nvSpPr>
        <p:spPr>
          <a:xfrm>
            <a:off x="274320" y="2304288"/>
            <a:ext cx="3657600" cy="347472"/>
          </a:xfrm>
          <a:prstGeom prst="roundRect">
            <a:avLst>
              <a:gd name="adj" fmla="val 21053"/>
            </a:avLst>
          </a:prstGeom>
          <a:solidFill>
            <a:srgbClr val="2DC653"/>
          </a:solidFill>
          <a:ln w="12700">
            <a:solidFill>
              <a:srgbClr val="2DC653"/>
            </a:solidFill>
            <a:prstDash val="solid"/>
          </a:ln>
        </p:spPr>
      </p:sp>
      <p:sp>
        <p:nvSpPr>
          <p:cNvPr id="19" name="Text 17"/>
          <p:cNvSpPr/>
          <p:nvPr/>
        </p:nvSpPr>
        <p:spPr>
          <a:xfrm>
            <a:off x="365760" y="233172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device</a:t>
            </a:r>
            <a:endParaRPr lang="en-US" sz="1200" dirty="0"/>
          </a:p>
        </p:txBody>
      </p:sp>
      <p:sp>
        <p:nvSpPr>
          <p:cNvPr id="20" name="Text 18"/>
          <p:cNvSpPr/>
          <p:nvPr/>
        </p:nvSpPr>
        <p:spPr>
          <a:xfrm>
            <a:off x="384048" y="270662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tool or object that converts one form of energy to another (like a speaker or ear drum).</a:t>
            </a:r>
            <a:endParaRPr lang="en-US" sz="1050" dirty="0"/>
          </a:p>
        </p:txBody>
      </p:sp>
      <p:sp>
        <p:nvSpPr>
          <p:cNvPr id="21" name="Shape 19"/>
          <p:cNvSpPr/>
          <p:nvPr/>
        </p:nvSpPr>
        <p:spPr>
          <a:xfrm>
            <a:off x="4069080" y="2304288"/>
            <a:ext cx="3657600" cy="1325880"/>
          </a:xfrm>
          <a:prstGeom prst="roundRect">
            <a:avLst>
              <a:gd name="adj" fmla="val 6897"/>
            </a:avLst>
          </a:prstGeom>
          <a:solidFill>
            <a:srgbClr val="1E2F45"/>
          </a:solidFill>
          <a:ln w="25400">
            <a:solidFill>
              <a:srgbClr val="0096C7"/>
            </a:solidFill>
            <a:prstDash val="solid"/>
          </a:ln>
        </p:spPr>
      </p:sp>
      <p:sp>
        <p:nvSpPr>
          <p:cNvPr id="22" name="Shape 20"/>
          <p:cNvSpPr/>
          <p:nvPr/>
        </p:nvSpPr>
        <p:spPr>
          <a:xfrm>
            <a:off x="4069080" y="2304288"/>
            <a:ext cx="3657600" cy="347472"/>
          </a:xfrm>
          <a:prstGeom prst="roundRect">
            <a:avLst>
              <a:gd name="adj" fmla="val 21053"/>
            </a:avLst>
          </a:prstGeom>
          <a:solidFill>
            <a:srgbClr val="0096C7"/>
          </a:solidFill>
          <a:ln w="12700">
            <a:solidFill>
              <a:srgbClr val="0096C7"/>
            </a:solidFill>
            <a:prstDash val="solid"/>
          </a:ln>
        </p:spPr>
      </p:sp>
      <p:sp>
        <p:nvSpPr>
          <p:cNvPr id="23" name="Text 21"/>
          <p:cNvSpPr/>
          <p:nvPr/>
        </p:nvSpPr>
        <p:spPr>
          <a:xfrm>
            <a:off x="4160520" y="233172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frequency</a:t>
            </a:r>
            <a:endParaRPr lang="en-US" sz="1200" dirty="0"/>
          </a:p>
        </p:txBody>
      </p:sp>
      <p:sp>
        <p:nvSpPr>
          <p:cNvPr id="24" name="Text 22"/>
          <p:cNvSpPr/>
          <p:nvPr/>
        </p:nvSpPr>
        <p:spPr>
          <a:xfrm>
            <a:off x="4178808" y="270662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How many vibrations (cycles) happen per second. High frequency = high pitch sound.</a:t>
            </a:r>
            <a:endParaRPr lang="en-US" sz="1050" dirty="0"/>
          </a:p>
        </p:txBody>
      </p:sp>
      <p:sp>
        <p:nvSpPr>
          <p:cNvPr id="25" name="Shape 23"/>
          <p:cNvSpPr/>
          <p:nvPr/>
        </p:nvSpPr>
        <p:spPr>
          <a:xfrm>
            <a:off x="7863840" y="2304288"/>
            <a:ext cx="3657600" cy="1325880"/>
          </a:xfrm>
          <a:prstGeom prst="roundRect">
            <a:avLst>
              <a:gd name="adj" fmla="val 6897"/>
            </a:avLst>
          </a:prstGeom>
          <a:solidFill>
            <a:srgbClr val="1E2F45"/>
          </a:solidFill>
          <a:ln w="25400">
            <a:solidFill>
              <a:srgbClr val="F4736A"/>
            </a:solidFill>
            <a:prstDash val="solid"/>
          </a:ln>
        </p:spPr>
      </p:sp>
      <p:sp>
        <p:nvSpPr>
          <p:cNvPr id="26" name="Shape 24"/>
          <p:cNvSpPr/>
          <p:nvPr/>
        </p:nvSpPr>
        <p:spPr>
          <a:xfrm>
            <a:off x="7863840" y="2304288"/>
            <a:ext cx="3657600" cy="347472"/>
          </a:xfrm>
          <a:prstGeom prst="roundRect">
            <a:avLst>
              <a:gd name="adj" fmla="val 21053"/>
            </a:avLst>
          </a:prstGeom>
          <a:solidFill>
            <a:srgbClr val="F4736A"/>
          </a:solidFill>
          <a:ln w="12700">
            <a:solidFill>
              <a:srgbClr val="F4736A"/>
            </a:solidFill>
            <a:prstDash val="solid"/>
          </a:ln>
        </p:spPr>
      </p:sp>
      <p:sp>
        <p:nvSpPr>
          <p:cNvPr id="27" name="Text 25"/>
          <p:cNvSpPr/>
          <p:nvPr/>
        </p:nvSpPr>
        <p:spPr>
          <a:xfrm>
            <a:off x="7955280" y="233172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amplitude</a:t>
            </a:r>
            <a:endParaRPr lang="en-US" sz="1200" dirty="0"/>
          </a:p>
        </p:txBody>
      </p:sp>
      <p:sp>
        <p:nvSpPr>
          <p:cNvPr id="28" name="Text 26"/>
          <p:cNvSpPr/>
          <p:nvPr/>
        </p:nvSpPr>
        <p:spPr>
          <a:xfrm>
            <a:off x="7973568" y="270662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height of a sound wave. High amplitude = louder sound.</a:t>
            </a:r>
            <a:endParaRPr lang="en-US" sz="1050" dirty="0"/>
          </a:p>
        </p:txBody>
      </p:sp>
      <p:sp>
        <p:nvSpPr>
          <p:cNvPr id="29" name="Shape 27"/>
          <p:cNvSpPr/>
          <p:nvPr/>
        </p:nvSpPr>
        <p:spPr>
          <a:xfrm>
            <a:off x="0" y="6629400"/>
            <a:ext cx="12192000" cy="228600"/>
          </a:xfrm>
          <a:prstGeom prst="rect">
            <a:avLst/>
          </a:prstGeom>
          <a:solidFill>
            <a:srgbClr val="162233"/>
          </a:solidFill>
          <a:ln/>
        </p:spPr>
      </p:sp>
      <p:sp>
        <p:nvSpPr>
          <p:cNvPr id="30" name="Text 2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Sound Is Caused by Vibration</a:t>
            </a:r>
            <a:endParaRPr lang="en-US" sz="1600" dirty="0"/>
          </a:p>
        </p:txBody>
      </p:sp>
      <p:sp>
        <p:nvSpPr>
          <p:cNvPr id="5" name="Shape 3"/>
          <p:cNvSpPr/>
          <p:nvPr/>
        </p:nvSpPr>
        <p:spPr>
          <a:xfrm>
            <a:off x="365760" y="749808"/>
            <a:ext cx="11430000" cy="1115568"/>
          </a:xfrm>
          <a:prstGeom prst="roundRect">
            <a:avLst>
              <a:gd name="adj" fmla="val 6557"/>
            </a:avLst>
          </a:prstGeom>
          <a:solidFill>
            <a:srgbClr val="162233"/>
          </a:solidFill>
          <a:ln w="12700">
            <a:solidFill>
              <a:srgbClr val="4CC9F0"/>
            </a:solidFill>
            <a:prstDash val="solid"/>
          </a:ln>
        </p:spPr>
      </p:sp>
      <p:sp>
        <p:nvSpPr>
          <p:cNvPr id="6" name="Text 4"/>
          <p:cNvSpPr/>
          <p:nvPr/>
        </p:nvSpPr>
        <p:spPr>
          <a:xfrm>
            <a:off x="548640" y="804672"/>
            <a:ext cx="11155680" cy="96926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EVERY sound is caused by an object vibrating. The vibrating object pushes on nearby air molecules, creating pressure waves that travel to your ear.</a:t>
            </a:r>
            <a:endParaRPr lang="en-US" sz="1400" dirty="0"/>
          </a:p>
        </p:txBody>
      </p:sp>
      <p:sp>
        <p:nvSpPr>
          <p:cNvPr id="7" name="Shape 5"/>
          <p:cNvSpPr/>
          <p:nvPr/>
        </p:nvSpPr>
        <p:spPr>
          <a:xfrm>
            <a:off x="365760" y="2029968"/>
            <a:ext cx="5486400" cy="2011680"/>
          </a:xfrm>
          <a:prstGeom prst="roundRect">
            <a:avLst>
              <a:gd name="adj" fmla="val 3636"/>
            </a:avLst>
          </a:prstGeom>
          <a:solidFill>
            <a:srgbClr val="1E2F45"/>
          </a:solidFill>
          <a:ln w="12700">
            <a:solidFill>
              <a:srgbClr val="0096C7"/>
            </a:solidFill>
            <a:prstDash val="solid"/>
          </a:ln>
        </p:spPr>
      </p:sp>
      <p:sp>
        <p:nvSpPr>
          <p:cNvPr id="8" name="Text 6"/>
          <p:cNvSpPr/>
          <p:nvPr/>
        </p:nvSpPr>
        <p:spPr>
          <a:xfrm>
            <a:off x="502920" y="2121408"/>
            <a:ext cx="5212080" cy="41148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Guitar string</a:t>
            </a:r>
            <a:endParaRPr lang="en-US" sz="1300" dirty="0"/>
          </a:p>
        </p:txBody>
      </p:sp>
      <p:sp>
        <p:nvSpPr>
          <p:cNvPr id="9" name="Text 7"/>
          <p:cNvSpPr/>
          <p:nvPr/>
        </p:nvSpPr>
        <p:spPr>
          <a:xfrm>
            <a:off x="502920" y="2596896"/>
            <a:ext cx="5212080" cy="658368"/>
          </a:xfrm>
          <a:prstGeom prst="rect">
            <a:avLst/>
          </a:prstGeom>
          <a:noFill/>
          <a:ln/>
        </p:spPr>
        <p:txBody>
          <a:bodyPr wrap="square" rtlCol="0" anchor="ctr"/>
          <a:lstStyle/>
          <a:p>
            <a:pPr indent="0" marL="0">
              <a:buNone/>
            </a:pPr>
            <a:r>
              <a:rPr lang="en-US" sz="1100" dirty="0">
                <a:solidFill>
                  <a:srgbClr val="FFB703"/>
                </a:solidFill>
                <a:latin typeface="Calibri" pitchFamily="34" charset="0"/>
                <a:ea typeface="Calibri" pitchFamily="34" charset="-122"/>
                <a:cs typeface="Calibri" pitchFamily="34" charset="-120"/>
              </a:rPr>
              <a:t>Vibrates: String vibrates back and forth</a:t>
            </a:r>
            <a:endParaRPr lang="en-US" sz="1100" dirty="0"/>
          </a:p>
        </p:txBody>
      </p:sp>
      <p:sp>
        <p:nvSpPr>
          <p:cNvPr id="10" name="Text 8"/>
          <p:cNvSpPr/>
          <p:nvPr/>
        </p:nvSpPr>
        <p:spPr>
          <a:xfrm>
            <a:off x="502920" y="3291840"/>
            <a:ext cx="5212080" cy="5943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Result: Air pressure waves travel to ears</a:t>
            </a:r>
            <a:endParaRPr lang="en-US" sz="1100" dirty="0"/>
          </a:p>
        </p:txBody>
      </p:sp>
      <p:sp>
        <p:nvSpPr>
          <p:cNvPr id="11" name="Shape 9"/>
          <p:cNvSpPr/>
          <p:nvPr/>
        </p:nvSpPr>
        <p:spPr>
          <a:xfrm>
            <a:off x="6126480" y="2029968"/>
            <a:ext cx="5486400" cy="2011680"/>
          </a:xfrm>
          <a:prstGeom prst="roundRect">
            <a:avLst>
              <a:gd name="adj" fmla="val 3636"/>
            </a:avLst>
          </a:prstGeom>
          <a:solidFill>
            <a:srgbClr val="1E2F45"/>
          </a:solidFill>
          <a:ln w="12700">
            <a:solidFill>
              <a:srgbClr val="0096C7"/>
            </a:solidFill>
            <a:prstDash val="solid"/>
          </a:ln>
        </p:spPr>
      </p:sp>
      <p:sp>
        <p:nvSpPr>
          <p:cNvPr id="12" name="Text 10"/>
          <p:cNvSpPr/>
          <p:nvPr/>
        </p:nvSpPr>
        <p:spPr>
          <a:xfrm>
            <a:off x="6263640" y="2121408"/>
            <a:ext cx="5212080" cy="41148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Your vocal cords</a:t>
            </a:r>
            <a:endParaRPr lang="en-US" sz="1300" dirty="0"/>
          </a:p>
        </p:txBody>
      </p:sp>
      <p:sp>
        <p:nvSpPr>
          <p:cNvPr id="13" name="Text 11"/>
          <p:cNvSpPr/>
          <p:nvPr/>
        </p:nvSpPr>
        <p:spPr>
          <a:xfrm>
            <a:off x="6263640" y="2596896"/>
            <a:ext cx="5212080" cy="658368"/>
          </a:xfrm>
          <a:prstGeom prst="rect">
            <a:avLst/>
          </a:prstGeom>
          <a:noFill/>
          <a:ln/>
        </p:spPr>
        <p:txBody>
          <a:bodyPr wrap="square" rtlCol="0" anchor="ctr"/>
          <a:lstStyle/>
          <a:p>
            <a:pPr indent="0" marL="0">
              <a:buNone/>
            </a:pPr>
            <a:r>
              <a:rPr lang="en-US" sz="1100" dirty="0">
                <a:solidFill>
                  <a:srgbClr val="FFB703"/>
                </a:solidFill>
                <a:latin typeface="Calibri" pitchFamily="34" charset="0"/>
                <a:ea typeface="Calibri" pitchFamily="34" charset="-122"/>
                <a:cs typeface="Calibri" pitchFamily="34" charset="-120"/>
              </a:rPr>
              <a:t>Vibrates: Cords vibrate as air passes over them</a:t>
            </a:r>
            <a:endParaRPr lang="en-US" sz="1100" dirty="0"/>
          </a:p>
        </p:txBody>
      </p:sp>
      <p:sp>
        <p:nvSpPr>
          <p:cNvPr id="14" name="Text 12"/>
          <p:cNvSpPr/>
          <p:nvPr/>
        </p:nvSpPr>
        <p:spPr>
          <a:xfrm>
            <a:off x="6263640" y="3291840"/>
            <a:ext cx="5212080" cy="5943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Result: You produce words and music</a:t>
            </a:r>
            <a:endParaRPr lang="en-US" sz="1100" dirty="0"/>
          </a:p>
        </p:txBody>
      </p:sp>
      <p:sp>
        <p:nvSpPr>
          <p:cNvPr id="15" name="Shape 13"/>
          <p:cNvSpPr/>
          <p:nvPr/>
        </p:nvSpPr>
        <p:spPr>
          <a:xfrm>
            <a:off x="365760" y="4224528"/>
            <a:ext cx="5486400" cy="2011680"/>
          </a:xfrm>
          <a:prstGeom prst="roundRect">
            <a:avLst>
              <a:gd name="adj" fmla="val 3636"/>
            </a:avLst>
          </a:prstGeom>
          <a:solidFill>
            <a:srgbClr val="1E2F45"/>
          </a:solidFill>
          <a:ln w="12700">
            <a:solidFill>
              <a:srgbClr val="0096C7"/>
            </a:solidFill>
            <a:prstDash val="solid"/>
          </a:ln>
        </p:spPr>
      </p:sp>
      <p:sp>
        <p:nvSpPr>
          <p:cNvPr id="16" name="Text 14"/>
          <p:cNvSpPr/>
          <p:nvPr/>
        </p:nvSpPr>
        <p:spPr>
          <a:xfrm>
            <a:off x="502920" y="4315968"/>
            <a:ext cx="5212080" cy="41148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Speaker</a:t>
            </a:r>
            <a:endParaRPr lang="en-US" sz="1300" dirty="0"/>
          </a:p>
        </p:txBody>
      </p:sp>
      <p:sp>
        <p:nvSpPr>
          <p:cNvPr id="17" name="Text 15"/>
          <p:cNvSpPr/>
          <p:nvPr/>
        </p:nvSpPr>
        <p:spPr>
          <a:xfrm>
            <a:off x="502920" y="4791456"/>
            <a:ext cx="5212080" cy="658368"/>
          </a:xfrm>
          <a:prstGeom prst="rect">
            <a:avLst/>
          </a:prstGeom>
          <a:noFill/>
          <a:ln/>
        </p:spPr>
        <p:txBody>
          <a:bodyPr wrap="square" rtlCol="0" anchor="ctr"/>
          <a:lstStyle/>
          <a:p>
            <a:pPr indent="0" marL="0">
              <a:buNone/>
            </a:pPr>
            <a:r>
              <a:rPr lang="en-US" sz="1100" dirty="0">
                <a:solidFill>
                  <a:srgbClr val="FFB703"/>
                </a:solidFill>
                <a:latin typeface="Calibri" pitchFamily="34" charset="0"/>
                <a:ea typeface="Calibri" pitchFamily="34" charset="-122"/>
                <a:cs typeface="Calibri" pitchFamily="34" charset="-120"/>
              </a:rPr>
              <a:t>Vibrates: Cone vibrates rapidly</a:t>
            </a:r>
            <a:endParaRPr lang="en-US" sz="1100" dirty="0"/>
          </a:p>
        </p:txBody>
      </p:sp>
      <p:sp>
        <p:nvSpPr>
          <p:cNvPr id="18" name="Text 16"/>
          <p:cNvSpPr/>
          <p:nvPr/>
        </p:nvSpPr>
        <p:spPr>
          <a:xfrm>
            <a:off x="502920" y="5486400"/>
            <a:ext cx="5212080" cy="5943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Result: Creates sound waves in all directions</a:t>
            </a:r>
            <a:endParaRPr lang="en-US" sz="1100" dirty="0"/>
          </a:p>
        </p:txBody>
      </p:sp>
      <p:sp>
        <p:nvSpPr>
          <p:cNvPr id="19" name="Shape 17"/>
          <p:cNvSpPr/>
          <p:nvPr/>
        </p:nvSpPr>
        <p:spPr>
          <a:xfrm>
            <a:off x="6126480" y="4224528"/>
            <a:ext cx="5486400" cy="2011680"/>
          </a:xfrm>
          <a:prstGeom prst="roundRect">
            <a:avLst>
              <a:gd name="adj" fmla="val 3636"/>
            </a:avLst>
          </a:prstGeom>
          <a:solidFill>
            <a:srgbClr val="1E2F45"/>
          </a:solidFill>
          <a:ln w="12700">
            <a:solidFill>
              <a:srgbClr val="0096C7"/>
            </a:solidFill>
            <a:prstDash val="solid"/>
          </a:ln>
        </p:spPr>
      </p:sp>
      <p:sp>
        <p:nvSpPr>
          <p:cNvPr id="20" name="Text 18"/>
          <p:cNvSpPr/>
          <p:nvPr/>
        </p:nvSpPr>
        <p:spPr>
          <a:xfrm>
            <a:off x="6263640" y="4315968"/>
            <a:ext cx="5212080" cy="41148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Thunder</a:t>
            </a:r>
            <a:endParaRPr lang="en-US" sz="1300" dirty="0"/>
          </a:p>
        </p:txBody>
      </p:sp>
      <p:sp>
        <p:nvSpPr>
          <p:cNvPr id="21" name="Text 19"/>
          <p:cNvSpPr/>
          <p:nvPr/>
        </p:nvSpPr>
        <p:spPr>
          <a:xfrm>
            <a:off x="6263640" y="4791456"/>
            <a:ext cx="5212080" cy="658368"/>
          </a:xfrm>
          <a:prstGeom prst="rect">
            <a:avLst/>
          </a:prstGeom>
          <a:noFill/>
          <a:ln/>
        </p:spPr>
        <p:txBody>
          <a:bodyPr wrap="square" rtlCol="0" anchor="ctr"/>
          <a:lstStyle/>
          <a:p>
            <a:pPr indent="0" marL="0">
              <a:buNone/>
            </a:pPr>
            <a:r>
              <a:rPr lang="en-US" sz="1100" dirty="0">
                <a:solidFill>
                  <a:srgbClr val="FFB703"/>
                </a:solidFill>
                <a:latin typeface="Calibri" pitchFamily="34" charset="0"/>
                <a:ea typeface="Calibri" pitchFamily="34" charset="-122"/>
                <a:cs typeface="Calibri" pitchFamily="34" charset="-120"/>
              </a:rPr>
              <a:t>Vibrates: Air rapidly expands from lightning heat</a:t>
            </a:r>
            <a:endParaRPr lang="en-US" sz="1100" dirty="0"/>
          </a:p>
        </p:txBody>
      </p:sp>
      <p:sp>
        <p:nvSpPr>
          <p:cNvPr id="22" name="Text 20"/>
          <p:cNvSpPr/>
          <p:nvPr/>
        </p:nvSpPr>
        <p:spPr>
          <a:xfrm>
            <a:off x="6263640" y="5486400"/>
            <a:ext cx="5212080" cy="5943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Result: Huge pressure waves = loud boom</a:t>
            </a:r>
            <a:endParaRPr lang="en-US" sz="11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Sound Waves: Amplitude and Frequency</a:t>
            </a:r>
            <a:endParaRPr lang="en-US" sz="1600" dirty="0"/>
          </a:p>
        </p:txBody>
      </p:sp>
      <p:sp>
        <p:nvSpPr>
          <p:cNvPr id="5" name="Shape 3"/>
          <p:cNvSpPr/>
          <p:nvPr/>
        </p:nvSpPr>
        <p:spPr>
          <a:xfrm>
            <a:off x="365760" y="749808"/>
            <a:ext cx="11430000" cy="3657600"/>
          </a:xfrm>
          <a:prstGeom prst="roundRect">
            <a:avLst>
              <a:gd name="adj" fmla="val 2000"/>
            </a:avLst>
          </a:prstGeom>
          <a:solidFill>
            <a:srgbClr val="0A1520"/>
          </a:solidFill>
          <a:ln w="19050">
            <a:solidFill>
              <a:srgbClr val="4CC9F0"/>
            </a:solidFill>
            <a:prstDash val="dash"/>
          </a:ln>
        </p:spPr>
      </p:sp>
      <p:sp>
        <p:nvSpPr>
          <p:cNvPr id="6" name="Text 4"/>
          <p:cNvSpPr/>
          <p:nvPr/>
        </p:nvSpPr>
        <p:spPr>
          <a:xfrm>
            <a:off x="457200" y="859536"/>
            <a:ext cx="11247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11247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11210544" cy="26060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"sound wave diagram high low pitch frequency amplitude comparison loud quiet"</a:t>
            </a:r>
            <a:endParaRPr lang="en-US" sz="950" dirty="0"/>
          </a:p>
        </p:txBody>
      </p:sp>
      <p:sp>
        <p:nvSpPr>
          <p:cNvPr id="9" name="Text 7"/>
          <p:cNvSpPr/>
          <p:nvPr/>
        </p:nvSpPr>
        <p:spPr>
          <a:xfrm>
            <a:off x="365760" y="4443984"/>
            <a:ext cx="11430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Wave model showing: high frequency = high pitch, high amplitude = loud</a:t>
            </a:r>
            <a:endParaRPr lang="en-US" sz="900" dirty="0"/>
          </a:p>
        </p:txBody>
      </p:sp>
      <p:sp>
        <p:nvSpPr>
          <p:cNvPr id="10" name="Shape 8"/>
          <p:cNvSpPr/>
          <p:nvPr/>
        </p:nvSpPr>
        <p:spPr>
          <a:xfrm>
            <a:off x="365760" y="4572000"/>
            <a:ext cx="5394960" cy="1508760"/>
          </a:xfrm>
          <a:prstGeom prst="roundRect">
            <a:avLst>
              <a:gd name="adj" fmla="val 4848"/>
            </a:avLst>
          </a:prstGeom>
          <a:solidFill>
            <a:srgbClr val="1E2F45"/>
          </a:solidFill>
          <a:ln w="12700">
            <a:solidFill>
              <a:srgbClr val="4CC9F0"/>
            </a:solidFill>
            <a:prstDash val="solid"/>
          </a:ln>
        </p:spPr>
      </p:sp>
      <p:sp>
        <p:nvSpPr>
          <p:cNvPr id="11" name="Text 9"/>
          <p:cNvSpPr/>
          <p:nvPr/>
        </p:nvSpPr>
        <p:spPr>
          <a:xfrm>
            <a:off x="548640" y="4645152"/>
            <a:ext cx="502920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FREQUENCY = Pitch</a:t>
            </a:r>
            <a:endParaRPr lang="en-US" sz="1300" dirty="0"/>
          </a:p>
        </p:txBody>
      </p:sp>
      <p:sp>
        <p:nvSpPr>
          <p:cNvPr id="12" name="Text 10"/>
          <p:cNvSpPr/>
          <p:nvPr/>
        </p:nvSpPr>
        <p:spPr>
          <a:xfrm>
            <a:off x="548640" y="5047488"/>
            <a:ext cx="5029200" cy="9144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More vibrations/second = HIGHER pitch (think: a flute vs. a tuba).</a:t>
            </a:r>
            <a:endParaRPr lang="en-US" sz="1200" dirty="0"/>
          </a:p>
        </p:txBody>
      </p:sp>
      <p:sp>
        <p:nvSpPr>
          <p:cNvPr id="13" name="Shape 11"/>
          <p:cNvSpPr/>
          <p:nvPr/>
        </p:nvSpPr>
        <p:spPr>
          <a:xfrm>
            <a:off x="5943600" y="4572000"/>
            <a:ext cx="5852160" cy="1508760"/>
          </a:xfrm>
          <a:prstGeom prst="roundRect">
            <a:avLst>
              <a:gd name="adj" fmla="val 4848"/>
            </a:avLst>
          </a:prstGeom>
          <a:solidFill>
            <a:srgbClr val="1E2F45"/>
          </a:solidFill>
          <a:ln w="12700">
            <a:solidFill>
              <a:srgbClr val="FFB703"/>
            </a:solidFill>
            <a:prstDash val="solid"/>
          </a:ln>
        </p:spPr>
      </p:sp>
      <p:sp>
        <p:nvSpPr>
          <p:cNvPr id="14" name="Text 12"/>
          <p:cNvSpPr/>
          <p:nvPr/>
        </p:nvSpPr>
        <p:spPr>
          <a:xfrm>
            <a:off x="6126480" y="4645152"/>
            <a:ext cx="548640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AMPLITUDE = Loudness</a:t>
            </a:r>
            <a:endParaRPr lang="en-US" sz="1300" dirty="0"/>
          </a:p>
        </p:txBody>
      </p:sp>
      <p:sp>
        <p:nvSpPr>
          <p:cNvPr id="15" name="Text 13"/>
          <p:cNvSpPr/>
          <p:nvPr/>
        </p:nvSpPr>
        <p:spPr>
          <a:xfrm>
            <a:off x="6126480" y="5047488"/>
            <a:ext cx="5486400" cy="9144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Taller wave = LOUDER sound. Bigger vibrations = more energy = more volume.</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Sound Needs Matter to Travel</a:t>
            </a:r>
            <a:endParaRPr lang="en-US" sz="1600" dirty="0"/>
          </a:p>
        </p:txBody>
      </p:sp>
      <p:sp>
        <p:nvSpPr>
          <p:cNvPr id="5" name="Shape 3"/>
          <p:cNvSpPr/>
          <p:nvPr/>
        </p:nvSpPr>
        <p:spPr>
          <a:xfrm>
            <a:off x="365760" y="749808"/>
            <a:ext cx="530352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59536"/>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08406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"sound cannot travel space vacuum bell jar no air experiment"</a:t>
            </a:r>
            <a:endParaRPr lang="en-US" sz="950" dirty="0"/>
          </a:p>
        </p:txBody>
      </p:sp>
      <p:sp>
        <p:nvSpPr>
          <p:cNvPr id="9" name="Text 7"/>
          <p:cNvSpPr/>
          <p:nvPr/>
        </p:nvSpPr>
        <p:spPr>
          <a:xfrm>
            <a:off x="365760" y="5815584"/>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Bell in a vacuum jar: no air = no sound (classic demonstration)</a:t>
            </a:r>
            <a:endParaRPr lang="en-US" sz="900" dirty="0"/>
          </a:p>
        </p:txBody>
      </p:sp>
      <p:sp>
        <p:nvSpPr>
          <p:cNvPr id="10" name="Shape 8"/>
          <p:cNvSpPr/>
          <p:nvPr/>
        </p:nvSpPr>
        <p:spPr>
          <a:xfrm>
            <a:off x="5852160" y="749808"/>
            <a:ext cx="5943600" cy="5029200"/>
          </a:xfrm>
          <a:prstGeom prst="roundRect">
            <a:avLst>
              <a:gd name="adj" fmla="val 1455"/>
            </a:avLst>
          </a:prstGeom>
          <a:solidFill>
            <a:srgbClr val="1E2F45"/>
          </a:solidFill>
          <a:ln w="12700">
            <a:solidFill>
              <a:srgbClr val="F4736A"/>
            </a:solidFill>
            <a:prstDash val="solid"/>
          </a:ln>
        </p:spPr>
      </p:sp>
      <p:sp>
        <p:nvSpPr>
          <p:cNvPr id="11" name="Text 9"/>
          <p:cNvSpPr/>
          <p:nvPr/>
        </p:nvSpPr>
        <p:spPr>
          <a:xfrm>
            <a:off x="6035040" y="822960"/>
            <a:ext cx="566928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Key Evidence:</a:t>
            </a:r>
            <a:endParaRPr lang="en-US" sz="1300" dirty="0"/>
          </a:p>
        </p:txBody>
      </p:sp>
      <p:sp>
        <p:nvSpPr>
          <p:cNvPr id="12" name="Text 10"/>
          <p:cNvSpPr/>
          <p:nvPr/>
        </p:nvSpPr>
        <p:spPr>
          <a:xfrm>
            <a:off x="6035040" y="1234440"/>
            <a:ext cx="5669280" cy="44074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Sound travels through:</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Gases (air) — slower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Liquids (water) — faster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Solids (metal) — fastest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Sound CANNOT travel through:</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Empty space (vacuum)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No matter = no vibration = no sound</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is why space is SILENT — there is no matter to vibrate.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Connection: this is why astronauts need radios to communicate in space — light/radio waves can travel; sound waves cannot.</a:t>
            </a:r>
            <a:endParaRPr lang="en-US" sz="12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Scientific Discussion</a:t>
            </a:r>
            <a:endParaRPr lang="en-US" sz="1600" dirty="0"/>
          </a:p>
        </p:txBody>
      </p:sp>
      <p:sp>
        <p:nvSpPr>
          <p:cNvPr id="5" name="Shape 3"/>
          <p:cNvSpPr/>
          <p:nvPr/>
        </p:nvSpPr>
        <p:spPr>
          <a:xfrm>
            <a:off x="365760" y="749808"/>
            <a:ext cx="11430000" cy="2011680"/>
          </a:xfrm>
          <a:prstGeom prst="roundRect">
            <a:avLst>
              <a:gd name="adj" fmla="val 3636"/>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Discussion Question:</a:t>
            </a:r>
            <a:endParaRPr lang="en-US" sz="1300" dirty="0"/>
          </a:p>
        </p:txBody>
      </p:sp>
      <p:sp>
        <p:nvSpPr>
          <p:cNvPr id="7" name="Text 5"/>
          <p:cNvSpPr/>
          <p:nvPr/>
        </p:nvSpPr>
        <p:spPr>
          <a:xfrm>
            <a:off x="530352" y="1188720"/>
            <a:ext cx="11100816" cy="146304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You can hear a thunderstorm from miles away. You see the lightning first, then hear the thunder. What does this evidence tell you about how sound and light travel? How does this support or contradict your wave model?</a:t>
            </a:r>
            <a:endParaRPr lang="en-US" sz="1300" dirty="0"/>
          </a:p>
        </p:txBody>
      </p:sp>
      <p:sp>
        <p:nvSpPr>
          <p:cNvPr id="8" name="Shape 6"/>
          <p:cNvSpPr/>
          <p:nvPr/>
        </p:nvSpPr>
        <p:spPr>
          <a:xfrm>
            <a:off x="365760" y="2907792"/>
            <a:ext cx="11430000" cy="1298448"/>
          </a:xfrm>
          <a:prstGeom prst="roundRect">
            <a:avLst>
              <a:gd name="adj" fmla="val 5634"/>
            </a:avLst>
          </a:prstGeom>
          <a:solidFill>
            <a:srgbClr val="1E2F45"/>
          </a:solidFill>
          <a:ln w="12700">
            <a:solidFill>
              <a:srgbClr val="2DC653"/>
            </a:solidFill>
            <a:prstDash val="solid"/>
          </a:ln>
        </p:spPr>
      </p:sp>
      <p:sp>
        <p:nvSpPr>
          <p:cNvPr id="9" name="Text 7"/>
          <p:cNvSpPr/>
          <p:nvPr/>
        </p:nvSpPr>
        <p:spPr>
          <a:xfrm>
            <a:off x="548640" y="2971800"/>
            <a:ext cx="1115568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Argumentation Starters:</a:t>
            </a:r>
            <a:endParaRPr lang="en-US" sz="1200" dirty="0"/>
          </a:p>
        </p:txBody>
      </p:sp>
      <p:sp>
        <p:nvSpPr>
          <p:cNvPr id="10" name="Text 8"/>
          <p:cNvSpPr/>
          <p:nvPr/>
        </p:nvSpPr>
        <p:spPr>
          <a:xfrm>
            <a:off x="548640" y="3337560"/>
            <a:ext cx="11155680" cy="749808"/>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"This evidence shows that sound travels ___ because ___."  "Light arrives first because ___."  "This supports the wave model because ___."</a:t>
            </a:r>
            <a:endParaRPr lang="en-US" sz="12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CER Stage 2: Claim + Evidence — How Sound Travels</a:t>
            </a:r>
            <a:endParaRPr lang="en-US" sz="1600" dirty="0"/>
          </a:p>
        </p:txBody>
      </p:sp>
      <p:sp>
        <p:nvSpPr>
          <p:cNvPr id="5" name="Shape 3"/>
          <p:cNvSpPr/>
          <p:nvPr/>
        </p:nvSpPr>
        <p:spPr>
          <a:xfrm>
            <a:off x="365760" y="749808"/>
            <a:ext cx="5394960" cy="5349240"/>
          </a:xfrm>
          <a:prstGeom prst="roundRect">
            <a:avLst>
              <a:gd name="adj" fmla="val 1709"/>
            </a:avLst>
          </a:prstGeom>
          <a:solidFill>
            <a:srgbClr val="0A3D8F"/>
          </a:solidFill>
          <a:ln w="19050">
            <a:solidFill>
              <a:srgbClr val="1A5FBD"/>
            </a:solidFill>
            <a:prstDash val="solid"/>
          </a:ln>
        </p:spPr>
      </p:sp>
      <p:sp>
        <p:nvSpPr>
          <p:cNvPr id="6" name="Shape 4"/>
          <p:cNvSpPr/>
          <p:nvPr/>
        </p:nvSpPr>
        <p:spPr>
          <a:xfrm>
            <a:off x="365760" y="749808"/>
            <a:ext cx="5394960" cy="347472"/>
          </a:xfrm>
          <a:prstGeom prst="rect">
            <a:avLst/>
          </a:prstGeom>
          <a:solidFill>
            <a:srgbClr val="1A5FBD"/>
          </a:solidFill>
          <a:ln w="12700">
            <a:solidFill>
              <a:srgbClr val="1A5FBD"/>
            </a:solidFill>
            <a:prstDash val="solid"/>
          </a:ln>
        </p:spPr>
      </p:sp>
      <p:sp>
        <p:nvSpPr>
          <p:cNvPr id="7" name="Text 5"/>
          <p:cNvSpPr/>
          <p:nvPr/>
        </p:nvSpPr>
        <p:spPr>
          <a:xfrm>
            <a:off x="457200" y="768096"/>
            <a:ext cx="52120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8" name="Text 6"/>
          <p:cNvSpPr/>
          <p:nvPr/>
        </p:nvSpPr>
        <p:spPr>
          <a:xfrm>
            <a:off x="502920" y="1152144"/>
            <a:ext cx="51206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Write:</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"I claim that sound is caused by ___ and travels to our ears by ___."</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Your claim should answer both parts of the essential question.</a:t>
            </a:r>
            <a:endParaRPr lang="en-US" sz="1150" dirty="0"/>
          </a:p>
        </p:txBody>
      </p:sp>
      <p:sp>
        <p:nvSpPr>
          <p:cNvPr id="9" name="Shape 7"/>
          <p:cNvSpPr/>
          <p:nvPr/>
        </p:nvSpPr>
        <p:spPr>
          <a:xfrm>
            <a:off x="5943600" y="749808"/>
            <a:ext cx="5852160" cy="5349240"/>
          </a:xfrm>
          <a:prstGeom prst="roundRect">
            <a:avLst>
              <a:gd name="adj" fmla="val 1709"/>
            </a:avLst>
          </a:prstGeom>
          <a:solidFill>
            <a:srgbClr val="145C35"/>
          </a:solidFill>
          <a:ln w="19050">
            <a:solidFill>
              <a:srgbClr val="228B50"/>
            </a:solidFill>
            <a:prstDash val="solid"/>
          </a:ln>
        </p:spPr>
      </p:sp>
      <p:sp>
        <p:nvSpPr>
          <p:cNvPr id="10" name="Shape 8"/>
          <p:cNvSpPr/>
          <p:nvPr/>
        </p:nvSpPr>
        <p:spPr>
          <a:xfrm>
            <a:off x="5943600" y="749808"/>
            <a:ext cx="5852160" cy="347472"/>
          </a:xfrm>
          <a:prstGeom prst="rect">
            <a:avLst/>
          </a:prstGeom>
          <a:solidFill>
            <a:srgbClr val="228B50"/>
          </a:solidFill>
          <a:ln w="12700">
            <a:solidFill>
              <a:srgbClr val="228B50"/>
            </a:solidFill>
            <a:prstDash val="solid"/>
          </a:ln>
        </p:spPr>
      </p:sp>
      <p:sp>
        <p:nvSpPr>
          <p:cNvPr id="11" name="Text 9"/>
          <p:cNvSpPr/>
          <p:nvPr/>
        </p:nvSpPr>
        <p:spPr>
          <a:xfrm>
            <a:off x="6035040" y="768096"/>
            <a:ext cx="5669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2" name="Text 10"/>
          <p:cNvSpPr/>
          <p:nvPr/>
        </p:nvSpPr>
        <p:spPr>
          <a:xfrm>
            <a:off x="6080760" y="1152144"/>
            <a:ext cx="55778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Write 2 pieces of evidence:</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1. From the warm-up: "When I hummed, I felt ___ in my throat, which shows ___"</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2. From the vacuum demonstration: "Sound cannot travel through empty space because ___"</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Evidence should be observable facts.</a:t>
            </a:r>
            <a:endParaRPr lang="en-US" sz="115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Check for Understanding</a:t>
            </a:r>
            <a:endParaRPr lang="en-US" sz="1600" dirty="0"/>
          </a:p>
        </p:txBody>
      </p:sp>
      <p:sp>
        <p:nvSpPr>
          <p:cNvPr id="5" name="Shape 3"/>
          <p:cNvSpPr/>
          <p:nvPr/>
        </p:nvSpPr>
        <p:spPr>
          <a:xfrm>
            <a:off x="365760" y="749808"/>
            <a:ext cx="11430000" cy="2697480"/>
          </a:xfrm>
          <a:prstGeom prst="roundRect">
            <a:avLst>
              <a:gd name="adj" fmla="val 2712"/>
            </a:avLst>
          </a:prstGeom>
          <a:solidFill>
            <a:srgbClr val="1E2F45"/>
          </a:solidFill>
          <a:ln w="12700">
            <a:solidFill>
              <a:srgbClr val="243A52"/>
            </a:solidFill>
            <a:prstDash val="solid"/>
          </a:ln>
        </p:spPr>
      </p:sp>
      <p:sp>
        <p:nvSpPr>
          <p:cNvPr id="6" name="Text 4"/>
          <p:cNvSpPr/>
          <p:nvPr/>
        </p:nvSpPr>
        <p:spPr>
          <a:xfrm>
            <a:off x="548640" y="82296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What causes sound to be produced?</a:t>
            </a:r>
            <a:endParaRPr lang="en-US" sz="1250" dirty="0"/>
          </a:p>
        </p:txBody>
      </p:sp>
      <p:sp>
        <p:nvSpPr>
          <p:cNvPr id="7" name="Text 5"/>
          <p:cNvSpPr/>
          <p:nvPr/>
        </p:nvSpPr>
        <p:spPr>
          <a:xfrm>
            <a:off x="731520" y="137160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An object moving quickly</a:t>
            </a:r>
            <a:endParaRPr lang="en-US" sz="1150" dirty="0"/>
          </a:p>
        </p:txBody>
      </p:sp>
      <p:sp>
        <p:nvSpPr>
          <p:cNvPr id="8" name="Text 6"/>
          <p:cNvSpPr/>
          <p:nvPr/>
        </p:nvSpPr>
        <p:spPr>
          <a:xfrm>
            <a:off x="6400800" y="1371600"/>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B. An object vibrating back and forth</a:t>
            </a:r>
            <a:endParaRPr lang="en-US" sz="1150" dirty="0"/>
          </a:p>
        </p:txBody>
      </p:sp>
      <p:sp>
        <p:nvSpPr>
          <p:cNvPr id="9" name="Text 7"/>
          <p:cNvSpPr/>
          <p:nvPr/>
        </p:nvSpPr>
        <p:spPr>
          <a:xfrm>
            <a:off x="73152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Two objects touching each other</a:t>
            </a:r>
            <a:endParaRPr lang="en-US" sz="1150" dirty="0"/>
          </a:p>
        </p:txBody>
      </p:sp>
      <p:sp>
        <p:nvSpPr>
          <p:cNvPr id="10" name="Text 8"/>
          <p:cNvSpPr/>
          <p:nvPr/>
        </p:nvSpPr>
        <p:spPr>
          <a:xfrm>
            <a:off x="640080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Light waves hitting an object</a:t>
            </a:r>
            <a:endParaRPr lang="en-US" sz="1150" dirty="0"/>
          </a:p>
        </p:txBody>
      </p:sp>
      <p:sp>
        <p:nvSpPr>
          <p:cNvPr id="11" name="Text 9"/>
          <p:cNvSpPr/>
          <p:nvPr/>
        </p:nvSpPr>
        <p:spPr>
          <a:xfrm>
            <a:off x="9601200" y="301752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B</a:t>
            </a:r>
            <a:endParaRPr lang="en-US" sz="1000" dirty="0"/>
          </a:p>
        </p:txBody>
      </p:sp>
      <p:sp>
        <p:nvSpPr>
          <p:cNvPr id="12" name="Shape 10"/>
          <p:cNvSpPr/>
          <p:nvPr/>
        </p:nvSpPr>
        <p:spPr>
          <a:xfrm>
            <a:off x="365760" y="3630168"/>
            <a:ext cx="11430000" cy="2697480"/>
          </a:xfrm>
          <a:prstGeom prst="roundRect">
            <a:avLst>
              <a:gd name="adj" fmla="val 2712"/>
            </a:avLst>
          </a:prstGeom>
          <a:solidFill>
            <a:srgbClr val="1E2F45"/>
          </a:solidFill>
          <a:ln w="12700">
            <a:solidFill>
              <a:srgbClr val="243A52"/>
            </a:solidFill>
            <a:prstDash val="solid"/>
          </a:ln>
        </p:spPr>
      </p:sp>
      <p:sp>
        <p:nvSpPr>
          <p:cNvPr id="13" name="Text 11"/>
          <p:cNvSpPr/>
          <p:nvPr/>
        </p:nvSpPr>
        <p:spPr>
          <a:xfrm>
            <a:off x="548640" y="370332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A sound wave with HIGH AMPLITUDE will produce:</a:t>
            </a:r>
            <a:endParaRPr lang="en-US" sz="1250" dirty="0"/>
          </a:p>
        </p:txBody>
      </p:sp>
      <p:sp>
        <p:nvSpPr>
          <p:cNvPr id="14" name="Text 12"/>
          <p:cNvSpPr/>
          <p:nvPr/>
        </p:nvSpPr>
        <p:spPr>
          <a:xfrm>
            <a:off x="73152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A higher pitch sound</a:t>
            </a:r>
            <a:endParaRPr lang="en-US" sz="1150" dirty="0"/>
          </a:p>
        </p:txBody>
      </p:sp>
      <p:sp>
        <p:nvSpPr>
          <p:cNvPr id="15" name="Text 13"/>
          <p:cNvSpPr/>
          <p:nvPr/>
        </p:nvSpPr>
        <p:spPr>
          <a:xfrm>
            <a:off x="640080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A lower pitch sound</a:t>
            </a:r>
            <a:endParaRPr lang="en-US" sz="1150" dirty="0"/>
          </a:p>
        </p:txBody>
      </p:sp>
      <p:sp>
        <p:nvSpPr>
          <p:cNvPr id="16" name="Text 14"/>
          <p:cNvSpPr/>
          <p:nvPr/>
        </p:nvSpPr>
        <p:spPr>
          <a:xfrm>
            <a:off x="731520" y="4727448"/>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C. A louder sound</a:t>
            </a:r>
            <a:endParaRPr lang="en-US" sz="1150" dirty="0"/>
          </a:p>
        </p:txBody>
      </p:sp>
      <p:sp>
        <p:nvSpPr>
          <p:cNvPr id="17" name="Text 15"/>
          <p:cNvSpPr/>
          <p:nvPr/>
        </p:nvSpPr>
        <p:spPr>
          <a:xfrm>
            <a:off x="6400800" y="472744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A faster sound</a:t>
            </a:r>
            <a:endParaRPr lang="en-US" sz="1150" dirty="0"/>
          </a:p>
        </p:txBody>
      </p:sp>
      <p:sp>
        <p:nvSpPr>
          <p:cNvPr id="18" name="Text 16"/>
          <p:cNvSpPr/>
          <p:nvPr/>
        </p:nvSpPr>
        <p:spPr>
          <a:xfrm>
            <a:off x="9601200" y="589788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C</a:t>
            </a:r>
            <a:endParaRPr lang="en-US" sz="10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"What causes sound, and how does it travel as energy from a source to our ears?"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Warm-up vibration observations + prediction (notebook)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Sound wave diagram labeled with frequency and amplitude (notebook)</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Stage 2: Claim + Evidence for how sound travels (notebook)</a:t>
            </a:r>
            <a:endParaRPr lang="en-US" sz="1100" dirty="0"/>
          </a:p>
        </p:txBody>
      </p:sp>
      <p:sp>
        <p:nvSpPr>
          <p:cNvPr id="13" name="Shape 11"/>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4" name="Text 12"/>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5" name="Text 13"/>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23-02: Moving Air and Water — Wind turbines and water wheels</a:t>
            </a:r>
            <a:endParaRPr lang="en-US" sz="1200" dirty="0"/>
          </a:p>
        </p:txBody>
      </p:sp>
      <p:sp>
        <p:nvSpPr>
          <p:cNvPr id="16" name="Shape 14"/>
          <p:cNvSpPr/>
          <p:nvPr/>
        </p:nvSpPr>
        <p:spPr>
          <a:xfrm>
            <a:off x="0" y="5047488"/>
            <a:ext cx="12192000" cy="45720"/>
          </a:xfrm>
          <a:prstGeom prst="rect">
            <a:avLst/>
          </a:prstGeom>
          <a:solidFill>
            <a:srgbClr val="4CC9F0"/>
          </a:solidFill>
          <a:ln/>
        </p:spPr>
      </p:sp>
      <p:sp>
        <p:nvSpPr>
          <p:cNvPr id="17" name="Text 15"/>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23-01  ·  How Does Sound Happen?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2026-07-14T00:36:11Z</dcterms:created>
  <dcterms:modified xsi:type="dcterms:W3CDTF">2026-07-14T00:36:11Z</dcterms:modified>
</cp:coreProperties>
</file>