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ENGINEERING DESIGN lesson — the culminating lesson for Module 16. Use the full engineering design cycle: Define Problem → Research → Brainstorm → Build → Test → Improve. Each beat gets its own slide moment. The key skill: compare → choose →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Take a class vote on favorite idea BEFORE any discussion. Then ask: What would you need to KNOW to make a better choice? The point is that engineers do not just pick favorites — they define what best means first. The vote will likely shift after they learn about criteria and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notice that BOTH criteria and constraints are needed before you can compare solutions. Without criteria, you don't know what 'better" means. Without constraints, you don't know what's actually possible. Engineers define BOTH before touching any solution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Ask students to pair-share criteria and constraints. Listen for: criteria that are MEASURABLE (not just 'it should be good') and constraints that are REAL LIMITS (not just preferences). Measurable criteria: 'powers X% of electricity.' Real constraints: 'must cost less than $Y' or 'must fit in Z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cycle explicitly. Emphasize step 6 (revise) — the cycle doesn't end at 'test.' It loops back. Engineers rarely build the first idea they think of. Most real designs go through dozens of revisions. Ask: 'What's something you've revised before — maybe a drawing, a story, or an idea for something? What made you revise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tool: decision matrix. Walk through the matrix structure: solutions across the top, criteria down the side, scores in the cells. The WINNER is not the one that's perfect — it's the one that best balances all criteria. Then the revision note shows how to fix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Tampa Bay desalination is a perfect example: it took decades to get right, involved massive amounts of research and revision, and is now producing 25 million gallons of fresh water daily. Engineering isn't fast — it's iterative and evidence-based."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matrix row by row. Ask: "Which solution wins overall? But what's its weakness? What could we do to fix that weakness?" This leads directly into Step 5 — the revision. The matrix shows that picking a winner isn't the end — it's the beginning of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MOMENT: The revision combines ideas rather than starting over. This is real engineering — rarely does the best solution come from ONE idea in isolation. Ask: 'Why is a REVISED combined solution often better than either original idea alone?' Because each solution addresses different criteria; the combination covers more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"Pick one engineering challenge from the diagram. Why does the REVISION combine ideas instead of picking just one? What problem does the combined version solve that the single solutions didn't?" Key insight: each single solution addresses ONE criterion well but misses others. The revision addresses multiple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revision step (Step 4) is the most important — look for students who just pick a winner without revising. Push: 'What"s the GAP in your winning solution? What didn't it score well on? How could you fix that gap?" The revision should address the weakness, not just restate why the winner is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notice how the evidence is SPECIFIC (refers to actual solutions and scores from the matrix). The reasoning explains the WHY clearly: comparison reveals information you can't get from looking at one solution in isolation. This is sophisticated scientific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culminating CER for Module 16 and for Q2. The answer should be a confident DISAGREE with specific references to the engineering design process. Strong reasoning: first ideas are based on incomplete information; comparison reveals gaps; revision fixes those gaps. The 'smartest scientist' still doesn't know everything before starting — they learn by comparing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Q2, emphasize the word REVISE — students often confuse 'combining' with 'starting over.' Revision means improving the chosen design, not abandoning it. For Q3, ask: "What does comparison reveal that looking at one solution doesn't?" Answer: it shows RELATIVE strengths and weaknesses."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Part B, watch for the word 'evaluate" in Q2 — it's required. For the Explore matrix, the REVISION sentence is the most important part — it shows engineering thinking beyond just choosing. For the Evidence Argument, both pieces of evidence should reference specific examples from today"s lesson, not vague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'In one sentence, what is the difference between criteria and constraints?' This is the foundational vocabulary for all engineering thinking going forward. Make sure students have it before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personal connection is powerful: students iterate ALL THE TIME (revising writing, improving at sports, getting better at games) — they just don't call it engineering. Ask: 'What would happen if you tried ONCE and gave up? Is that how engineers work?' Connect the growth mindset language they know to the engineering design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study perfectly illustrates the whole engineering design cycle. Criterion: provide enough fresh water to Tampa Bay. Constraint: had to work in salt water; had to be affordable to operate. Revision: redesigned membranes to resist algae clogging; improved energy efficiency. Ask: 'If the engineers had given up after the first failure, would Tampa Bay have its water plant?' No — iteration was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model for the student assignment — shows exactly how to set up criteria, compare three solutions, choose a winner, and then revise it by combining. Point out: the revision COMBINES all three solutions but allocates different levels of emphasis. That's real engineering — not either/or but a weighted combination."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'zooming out" moment — engineering thinking isn't just for engineers. A doctor comparing treatments is doing the same thing as an engineer comparing designs. Ask: "Which of these careers interests you? How would you use criteria, constraints, and revision in it?' This connects the academic skill to real futures."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Engineering: Improve a Resource Solution</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Compare, Choose, and Revise — Thinking Like an Engineer</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4-ESS3-1 / 3-5-ETS1 — Compare solutions using criteria &amp; constraints; revise</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List criteria and constraints for a resource problem</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Compare two or more solutions using the criteria and constraints</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Choose one solution and revise it to make it stronger</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Science notebook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Warm-Up: The Engineer's Job — More Than One Solution</a:t>
            </a:r>
            <a:endParaRPr lang="en-US" sz="1600" dirty="0"/>
          </a:p>
        </p:txBody>
      </p:sp>
      <p:sp>
        <p:nvSpPr>
          <p:cNvPr id="5" name="Shape 3"/>
          <p:cNvSpPr/>
          <p:nvPr/>
        </p:nvSpPr>
        <p:spPr>
          <a:xfrm>
            <a:off x="365760" y="749808"/>
            <a:ext cx="11247120" cy="749808"/>
          </a:xfrm>
          <a:prstGeom prst="roundRect">
            <a:avLst>
              <a:gd name="adj" fmla="val 9756"/>
            </a:avLst>
          </a:prstGeom>
          <a:solidFill>
            <a:srgbClr val="1E2F45"/>
          </a:solidFill>
          <a:ln w="12700">
            <a:solidFill>
              <a:srgbClr val="FFB703"/>
            </a:solidFill>
            <a:prstDash val="solid"/>
          </a:ln>
        </p:spPr>
      </p:sp>
      <p:sp>
        <p:nvSpPr>
          <p:cNvPr id="6" name="Text 4"/>
          <p:cNvSpPr/>
          <p:nvPr/>
        </p:nvSpPr>
        <p:spPr>
          <a:xfrm>
            <a:off x="548640" y="822960"/>
            <a:ext cx="10972800" cy="58521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Florida city needs more clean drinking water. Engineers have 3 ideas on the table:</a:t>
            </a:r>
            <a:endParaRPr lang="en-US" sz="1300" dirty="0"/>
          </a:p>
        </p:txBody>
      </p:sp>
      <p:sp>
        <p:nvSpPr>
          <p:cNvPr id="7" name="Shape 5"/>
          <p:cNvSpPr/>
          <p:nvPr/>
        </p:nvSpPr>
        <p:spPr>
          <a:xfrm>
            <a:off x="365760" y="1609344"/>
            <a:ext cx="3566160" cy="2359152"/>
          </a:xfrm>
          <a:prstGeom prst="roundRect">
            <a:avLst>
              <a:gd name="adj" fmla="val 3101"/>
            </a:avLst>
          </a:prstGeom>
          <a:solidFill>
            <a:srgbClr val="1E2F45"/>
          </a:solidFill>
          <a:ln w="12700">
            <a:solidFill>
              <a:srgbClr val="4CC9F0"/>
            </a:solidFill>
            <a:prstDash val="solid"/>
          </a:ln>
        </p:spPr>
      </p:sp>
      <p:sp>
        <p:nvSpPr>
          <p:cNvPr id="8" name="Text 6"/>
          <p:cNvSpPr/>
          <p:nvPr/>
        </p:nvSpPr>
        <p:spPr>
          <a:xfrm>
            <a:off x="548640" y="1682496"/>
            <a:ext cx="3200400" cy="402336"/>
          </a:xfrm>
          <a:prstGeom prst="rect">
            <a:avLst/>
          </a:prstGeom>
          <a:noFill/>
          <a:ln/>
        </p:spPr>
        <p:txBody>
          <a:bodyPr wrap="square" rtlCol="0" anchor="ctr"/>
          <a:lstStyle/>
          <a:p>
            <a:pPr algn="ctr" indent="0" marL="0">
              <a:buNone/>
            </a:pPr>
            <a:r>
              <a:rPr lang="en-US" sz="2200" b="1" dirty="0">
                <a:solidFill>
                  <a:srgbClr val="4CC9F0"/>
                </a:solidFill>
                <a:latin typeface="Calibri" pitchFamily="34" charset="0"/>
                <a:ea typeface="Calibri" pitchFamily="34" charset="-122"/>
                <a:cs typeface="Calibri" pitchFamily="34" charset="-120"/>
              </a:rPr>
              <a:t>Idea A</a:t>
            </a:r>
            <a:endParaRPr lang="en-US" sz="2200" dirty="0"/>
          </a:p>
        </p:txBody>
      </p:sp>
      <p:sp>
        <p:nvSpPr>
          <p:cNvPr id="9" name="Text 7"/>
          <p:cNvSpPr/>
          <p:nvPr/>
        </p:nvSpPr>
        <p:spPr>
          <a:xfrm>
            <a:off x="548640" y="2121408"/>
            <a:ext cx="320040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Drill Deeper Wells</a:t>
            </a:r>
            <a:endParaRPr lang="en-US" sz="1300" dirty="0"/>
          </a:p>
        </p:txBody>
      </p:sp>
      <p:sp>
        <p:nvSpPr>
          <p:cNvPr id="10" name="Text 8"/>
          <p:cNvSpPr/>
          <p:nvPr/>
        </p:nvSpPr>
        <p:spPr>
          <a:xfrm>
            <a:off x="548640" y="2542032"/>
            <a:ext cx="3200400" cy="1261872"/>
          </a:xfrm>
          <a:prstGeom prst="rect">
            <a:avLst/>
          </a:prstGeom>
          <a:noFill/>
          <a:ln/>
        </p:spPr>
        <p:txBody>
          <a:bodyPr wrap="square" rtlCol="0" anchor="ctr"/>
          <a:lstStyle/>
          <a:p>
            <a:pPr algn="ctr" indent="0" marL="0">
              <a:buNone/>
            </a:pPr>
            <a:r>
              <a:rPr lang="en-US" sz="1150" dirty="0">
                <a:solidFill>
                  <a:srgbClr val="B0C4D8"/>
                </a:solidFill>
                <a:latin typeface="Calibri" pitchFamily="34" charset="0"/>
                <a:ea typeface="Calibri" pitchFamily="34" charset="-122"/>
                <a:cs typeface="Calibri" pitchFamily="34" charset="-120"/>
              </a:rPr>
              <a:t>Access more groundwater from the aquifer</a:t>
            </a:r>
            <a:endParaRPr lang="en-US" sz="1150" dirty="0"/>
          </a:p>
        </p:txBody>
      </p:sp>
      <p:sp>
        <p:nvSpPr>
          <p:cNvPr id="11" name="Shape 9"/>
          <p:cNvSpPr/>
          <p:nvPr/>
        </p:nvSpPr>
        <p:spPr>
          <a:xfrm>
            <a:off x="4114800" y="1609344"/>
            <a:ext cx="3566160" cy="2359152"/>
          </a:xfrm>
          <a:prstGeom prst="roundRect">
            <a:avLst>
              <a:gd name="adj" fmla="val 3101"/>
            </a:avLst>
          </a:prstGeom>
          <a:solidFill>
            <a:srgbClr val="1E2F45"/>
          </a:solidFill>
          <a:ln w="12700">
            <a:solidFill>
              <a:srgbClr val="2DC653"/>
            </a:solidFill>
            <a:prstDash val="solid"/>
          </a:ln>
        </p:spPr>
      </p:sp>
      <p:sp>
        <p:nvSpPr>
          <p:cNvPr id="12" name="Text 10"/>
          <p:cNvSpPr/>
          <p:nvPr/>
        </p:nvSpPr>
        <p:spPr>
          <a:xfrm>
            <a:off x="4297680" y="1682496"/>
            <a:ext cx="3200400" cy="402336"/>
          </a:xfrm>
          <a:prstGeom prst="rect">
            <a:avLst/>
          </a:prstGeom>
          <a:noFill/>
          <a:ln/>
        </p:spPr>
        <p:txBody>
          <a:bodyPr wrap="square" rtlCol="0" anchor="ctr"/>
          <a:lstStyle/>
          <a:p>
            <a:pPr algn="ctr" indent="0" marL="0">
              <a:buNone/>
            </a:pPr>
            <a:r>
              <a:rPr lang="en-US" sz="2200" b="1" dirty="0">
                <a:solidFill>
                  <a:srgbClr val="2DC653"/>
                </a:solidFill>
                <a:latin typeface="Calibri" pitchFamily="34" charset="0"/>
                <a:ea typeface="Calibri" pitchFamily="34" charset="-122"/>
                <a:cs typeface="Calibri" pitchFamily="34" charset="-120"/>
              </a:rPr>
              <a:t>Idea B</a:t>
            </a:r>
            <a:endParaRPr lang="en-US" sz="2200" dirty="0"/>
          </a:p>
        </p:txBody>
      </p:sp>
      <p:sp>
        <p:nvSpPr>
          <p:cNvPr id="13" name="Text 11"/>
          <p:cNvSpPr/>
          <p:nvPr/>
        </p:nvSpPr>
        <p:spPr>
          <a:xfrm>
            <a:off x="4297680" y="2121408"/>
            <a:ext cx="320040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Desalination Plant</a:t>
            </a:r>
            <a:endParaRPr lang="en-US" sz="1300" dirty="0"/>
          </a:p>
        </p:txBody>
      </p:sp>
      <p:sp>
        <p:nvSpPr>
          <p:cNvPr id="14" name="Text 12"/>
          <p:cNvSpPr/>
          <p:nvPr/>
        </p:nvSpPr>
        <p:spPr>
          <a:xfrm>
            <a:off x="4297680" y="2542032"/>
            <a:ext cx="3200400" cy="1261872"/>
          </a:xfrm>
          <a:prstGeom prst="rect">
            <a:avLst/>
          </a:prstGeom>
          <a:noFill/>
          <a:ln/>
        </p:spPr>
        <p:txBody>
          <a:bodyPr wrap="square" rtlCol="0" anchor="ctr"/>
          <a:lstStyle/>
          <a:p>
            <a:pPr algn="ctr" indent="0" marL="0">
              <a:buNone/>
            </a:pPr>
            <a:r>
              <a:rPr lang="en-US" sz="1150" dirty="0">
                <a:solidFill>
                  <a:srgbClr val="B0C4D8"/>
                </a:solidFill>
                <a:latin typeface="Calibri" pitchFamily="34" charset="0"/>
                <a:ea typeface="Calibri" pitchFamily="34" charset="-122"/>
                <a:cs typeface="Calibri" pitchFamily="34" charset="-120"/>
              </a:rPr>
              <a:t>Remove salt from seawater to make it drinkable</a:t>
            </a:r>
            <a:endParaRPr lang="en-US" sz="1150" dirty="0"/>
          </a:p>
        </p:txBody>
      </p:sp>
      <p:sp>
        <p:nvSpPr>
          <p:cNvPr id="15" name="Shape 13"/>
          <p:cNvSpPr/>
          <p:nvPr/>
        </p:nvSpPr>
        <p:spPr>
          <a:xfrm>
            <a:off x="7863840" y="1609344"/>
            <a:ext cx="3566160" cy="2359152"/>
          </a:xfrm>
          <a:prstGeom prst="roundRect">
            <a:avLst>
              <a:gd name="adj" fmla="val 3101"/>
            </a:avLst>
          </a:prstGeom>
          <a:solidFill>
            <a:srgbClr val="1E2F45"/>
          </a:solidFill>
          <a:ln w="12700">
            <a:solidFill>
              <a:srgbClr val="FFB703"/>
            </a:solidFill>
            <a:prstDash val="solid"/>
          </a:ln>
        </p:spPr>
      </p:sp>
      <p:sp>
        <p:nvSpPr>
          <p:cNvPr id="16" name="Text 14"/>
          <p:cNvSpPr/>
          <p:nvPr/>
        </p:nvSpPr>
        <p:spPr>
          <a:xfrm>
            <a:off x="8046720" y="1682496"/>
            <a:ext cx="3200400" cy="402336"/>
          </a:xfrm>
          <a:prstGeom prst="rect">
            <a:avLst/>
          </a:prstGeom>
          <a:noFill/>
          <a:ln/>
        </p:spPr>
        <p:txBody>
          <a:bodyPr wrap="square" rtlCol="0" anchor="ctr"/>
          <a:lstStyle/>
          <a:p>
            <a:pPr algn="ctr" indent="0" marL="0">
              <a:buNone/>
            </a:pPr>
            <a:r>
              <a:rPr lang="en-US" sz="2200" b="1" dirty="0">
                <a:solidFill>
                  <a:srgbClr val="FFB703"/>
                </a:solidFill>
                <a:latin typeface="Calibri" pitchFamily="34" charset="0"/>
                <a:ea typeface="Calibri" pitchFamily="34" charset="-122"/>
                <a:cs typeface="Calibri" pitchFamily="34" charset="-120"/>
              </a:rPr>
              <a:t>Idea C</a:t>
            </a:r>
            <a:endParaRPr lang="en-US" sz="2200" dirty="0"/>
          </a:p>
        </p:txBody>
      </p:sp>
      <p:sp>
        <p:nvSpPr>
          <p:cNvPr id="17" name="Text 15"/>
          <p:cNvSpPr/>
          <p:nvPr/>
        </p:nvSpPr>
        <p:spPr>
          <a:xfrm>
            <a:off x="8046720" y="2121408"/>
            <a:ext cx="320040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Water-Use Rules</a:t>
            </a:r>
            <a:endParaRPr lang="en-US" sz="1300" dirty="0"/>
          </a:p>
        </p:txBody>
      </p:sp>
      <p:sp>
        <p:nvSpPr>
          <p:cNvPr id="18" name="Text 16"/>
          <p:cNvSpPr/>
          <p:nvPr/>
        </p:nvSpPr>
        <p:spPr>
          <a:xfrm>
            <a:off x="8046720" y="2542032"/>
            <a:ext cx="3200400" cy="1261872"/>
          </a:xfrm>
          <a:prstGeom prst="rect">
            <a:avLst/>
          </a:prstGeom>
          <a:noFill/>
          <a:ln/>
        </p:spPr>
        <p:txBody>
          <a:bodyPr wrap="square" rtlCol="0" anchor="ctr"/>
          <a:lstStyle/>
          <a:p>
            <a:pPr algn="ctr" indent="0" marL="0">
              <a:buNone/>
            </a:pPr>
            <a:r>
              <a:rPr lang="en-US" sz="1150" dirty="0">
                <a:solidFill>
                  <a:srgbClr val="B0C4D8"/>
                </a:solidFill>
                <a:latin typeface="Calibri" pitchFamily="34" charset="0"/>
                <a:ea typeface="Calibri" pitchFamily="34" charset="-122"/>
                <a:cs typeface="Calibri" pitchFamily="34" charset="-120"/>
              </a:rPr>
              <a:t>Cut citywide water use by 20% through conservation</a:t>
            </a:r>
            <a:endParaRPr lang="en-US" sz="1150" dirty="0"/>
          </a:p>
        </p:txBody>
      </p:sp>
      <p:sp>
        <p:nvSpPr>
          <p:cNvPr id="19" name="Shape 17"/>
          <p:cNvSpPr/>
          <p:nvPr/>
        </p:nvSpPr>
        <p:spPr>
          <a:xfrm>
            <a:off x="365760" y="4059936"/>
            <a:ext cx="11247120" cy="347472"/>
          </a:xfrm>
          <a:prstGeom prst="roundRect">
            <a:avLst>
              <a:gd name="adj" fmla="val 23684"/>
            </a:avLst>
          </a:prstGeom>
          <a:solidFill>
            <a:srgbClr val="E09200"/>
          </a:solidFill>
          <a:ln w="19050">
            <a:solidFill>
              <a:srgbClr val="FFB703"/>
            </a:solidFill>
            <a:prstDash val="solid"/>
          </a:ln>
        </p:spPr>
      </p:sp>
      <p:sp>
        <p:nvSpPr>
          <p:cNvPr id="20" name="Text 18"/>
          <p:cNvSpPr/>
          <p:nvPr/>
        </p:nvSpPr>
        <p:spPr>
          <a:xfrm>
            <a:off x="365760" y="4059936"/>
            <a:ext cx="112471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21" name="Shape 19"/>
          <p:cNvSpPr/>
          <p:nvPr/>
        </p:nvSpPr>
        <p:spPr>
          <a:xfrm>
            <a:off x="365760" y="4462272"/>
            <a:ext cx="11247120" cy="914400"/>
          </a:xfrm>
          <a:prstGeom prst="roundRect">
            <a:avLst>
              <a:gd name="adj" fmla="val 8000"/>
            </a:avLst>
          </a:prstGeom>
          <a:solidFill>
            <a:srgbClr val="162233"/>
          </a:solidFill>
          <a:ln w="12700">
            <a:solidFill>
              <a:srgbClr val="FFB703"/>
            </a:solidFill>
            <a:prstDash val="solid"/>
          </a:ln>
        </p:spPr>
      </p:sp>
      <p:sp>
        <p:nvSpPr>
          <p:cNvPr id="22" name="Text 20"/>
          <p:cNvSpPr/>
          <p:nvPr/>
        </p:nvSpPr>
        <p:spPr>
          <a:xfrm>
            <a:off x="548640" y="4535424"/>
            <a:ext cx="10972800" cy="713232"/>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"Which idea sounds best to you? But — what would you NEED TO KNOW to choose? What COULD GO WRONG with each one?"</a:t>
            </a:r>
            <a:endParaRPr lang="en-US" sz="12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Evidence-Based Prediction — Define BEFORE You Choose</a:t>
            </a:r>
            <a:endParaRPr lang="en-US" sz="1600" dirty="0"/>
          </a:p>
        </p:txBody>
      </p:sp>
      <p:sp>
        <p:nvSpPr>
          <p:cNvPr id="5" name="Shape 3"/>
          <p:cNvSpPr/>
          <p:nvPr/>
        </p:nvSpPr>
        <p:spPr>
          <a:xfrm>
            <a:off x="365760" y="749808"/>
            <a:ext cx="11247120" cy="658368"/>
          </a:xfrm>
          <a:prstGeom prst="roundRect">
            <a:avLst>
              <a:gd name="adj" fmla="val 11111"/>
            </a:avLst>
          </a:prstGeom>
          <a:solidFill>
            <a:srgbClr val="162233"/>
          </a:solidFill>
          <a:ln w="12700">
            <a:solidFill>
              <a:srgbClr val="4CC9F0"/>
            </a:solidFill>
            <a:prstDash val="solid"/>
          </a:ln>
        </p:spPr>
      </p:sp>
      <p:sp>
        <p:nvSpPr>
          <p:cNvPr id="6" name="Text 4"/>
          <p:cNvSpPr/>
          <p:nvPr/>
        </p:nvSpPr>
        <p:spPr>
          <a:xfrm>
            <a:off x="548640" y="822960"/>
            <a:ext cx="10972800" cy="512064"/>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Before engineers compare solutions — they define what SUCCESS looks like.</a:t>
            </a:r>
            <a:endParaRPr lang="en-US" sz="1400" dirty="0"/>
          </a:p>
        </p:txBody>
      </p:sp>
      <p:sp>
        <p:nvSpPr>
          <p:cNvPr id="7" name="Shape 5"/>
          <p:cNvSpPr/>
          <p:nvPr/>
        </p:nvSpPr>
        <p:spPr>
          <a:xfrm>
            <a:off x="365760" y="1536192"/>
            <a:ext cx="11247120" cy="1207008"/>
          </a:xfrm>
          <a:prstGeom prst="roundRect">
            <a:avLst>
              <a:gd name="adj" fmla="val 6061"/>
            </a:avLst>
          </a:prstGeom>
          <a:solidFill>
            <a:srgbClr val="1E2F45"/>
          </a:solidFill>
          <a:ln w="12700">
            <a:solidFill>
              <a:srgbClr val="FFB703"/>
            </a:solidFill>
            <a:prstDash val="solid"/>
          </a:ln>
        </p:spPr>
      </p:sp>
      <p:sp>
        <p:nvSpPr>
          <p:cNvPr id="8" name="Text 6"/>
          <p:cNvSpPr/>
          <p:nvPr/>
        </p:nvSpPr>
        <p:spPr>
          <a:xfrm>
            <a:off x="548640" y="1609344"/>
            <a:ext cx="10972800" cy="310896"/>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Write in your notebook:</a:t>
            </a:r>
            <a:endParaRPr lang="en-US" sz="1200" dirty="0"/>
          </a:p>
        </p:txBody>
      </p:sp>
      <p:sp>
        <p:nvSpPr>
          <p:cNvPr id="9" name="Text 7"/>
          <p:cNvSpPr/>
          <p:nvPr/>
        </p:nvSpPr>
        <p:spPr>
          <a:xfrm>
            <a:off x="548640" y="1956816"/>
            <a:ext cx="10972800" cy="694944"/>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"For the water problem: I predict a good solution MUST ___ (criterion). One thing that can't change about the solution is ___ (constraint). I predict Idea ___ scores highest because ___."</a:t>
            </a:r>
            <a:endParaRPr lang="en-US" sz="1300" dirty="0"/>
          </a:p>
        </p:txBody>
      </p:sp>
      <p:sp>
        <p:nvSpPr>
          <p:cNvPr id="10" name="Shape 8"/>
          <p:cNvSpPr/>
          <p:nvPr/>
        </p:nvSpPr>
        <p:spPr>
          <a:xfrm>
            <a:off x="365760" y="2871216"/>
            <a:ext cx="5394960" cy="1901952"/>
          </a:xfrm>
          <a:prstGeom prst="roundRect">
            <a:avLst>
              <a:gd name="adj" fmla="val 3846"/>
            </a:avLst>
          </a:prstGeom>
          <a:solidFill>
            <a:srgbClr val="1E2F45"/>
          </a:solidFill>
          <a:ln w="12700">
            <a:solidFill>
              <a:srgbClr val="2DC653"/>
            </a:solidFill>
            <a:prstDash val="solid"/>
          </a:ln>
        </p:spPr>
      </p:sp>
      <p:sp>
        <p:nvSpPr>
          <p:cNvPr id="11" name="Text 9"/>
          <p:cNvSpPr/>
          <p:nvPr/>
        </p:nvSpPr>
        <p:spPr>
          <a:xfrm>
            <a:off x="548640" y="2944368"/>
            <a:ext cx="502920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Criteria = GOALS ✅</a:t>
            </a:r>
            <a:endParaRPr lang="en-US" sz="1300" dirty="0"/>
          </a:p>
        </p:txBody>
      </p:sp>
      <p:sp>
        <p:nvSpPr>
          <p:cNvPr id="12" name="Text 10"/>
          <p:cNvSpPr/>
          <p:nvPr/>
        </p:nvSpPr>
        <p:spPr>
          <a:xfrm>
            <a:off x="548640" y="3328416"/>
            <a:ext cx="5029200" cy="12984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What a GOOD solution needs to DO:</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'Provide enough water for 10,000 people'</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'Cost less than $50 million'</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'Don't pollute the aquifer'</a:t>
            </a:r>
            <a:endParaRPr lang="en-US" sz="1150" dirty="0"/>
          </a:p>
        </p:txBody>
      </p:sp>
      <p:sp>
        <p:nvSpPr>
          <p:cNvPr id="13" name="Shape 11"/>
          <p:cNvSpPr/>
          <p:nvPr/>
        </p:nvSpPr>
        <p:spPr>
          <a:xfrm>
            <a:off x="6035040" y="2871216"/>
            <a:ext cx="5394960" cy="1901952"/>
          </a:xfrm>
          <a:prstGeom prst="roundRect">
            <a:avLst>
              <a:gd name="adj" fmla="val 3846"/>
            </a:avLst>
          </a:prstGeom>
          <a:solidFill>
            <a:srgbClr val="1E2F45"/>
          </a:solidFill>
          <a:ln w="12700">
            <a:solidFill>
              <a:srgbClr val="F4736A"/>
            </a:solidFill>
            <a:prstDash val="solid"/>
          </a:ln>
        </p:spPr>
      </p:sp>
      <p:sp>
        <p:nvSpPr>
          <p:cNvPr id="14" name="Text 12"/>
          <p:cNvSpPr/>
          <p:nvPr/>
        </p:nvSpPr>
        <p:spPr>
          <a:xfrm>
            <a:off x="6217920" y="2944368"/>
            <a:ext cx="5029200" cy="34747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Constraints = LIMITS 🚫</a:t>
            </a:r>
            <a:endParaRPr lang="en-US" sz="1300" dirty="0"/>
          </a:p>
        </p:txBody>
      </p:sp>
      <p:sp>
        <p:nvSpPr>
          <p:cNvPr id="15" name="Text 13"/>
          <p:cNvSpPr/>
          <p:nvPr/>
        </p:nvSpPr>
        <p:spPr>
          <a:xfrm>
            <a:off x="6217920" y="3328416"/>
            <a:ext cx="5029200" cy="129844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What CAN'T change — fixed limits: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'Must finish in 3 years'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'Can't use new land'</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'Must follow Florida water laws'</a:t>
            </a:r>
            <a:endParaRPr lang="en-US" sz="1150" dirty="0"/>
          </a:p>
        </p:txBody>
      </p:sp>
      <p:sp>
        <p:nvSpPr>
          <p:cNvPr id="16" name="Shape 14"/>
          <p:cNvSpPr/>
          <p:nvPr/>
        </p:nvSpPr>
        <p:spPr>
          <a:xfrm>
            <a:off x="365760" y="4901184"/>
            <a:ext cx="11247120" cy="640080"/>
          </a:xfrm>
          <a:prstGeom prst="roundRect">
            <a:avLst>
              <a:gd name="adj" fmla="val 11429"/>
            </a:avLst>
          </a:prstGeom>
          <a:solidFill>
            <a:srgbClr val="162233"/>
          </a:solidFill>
          <a:ln w="12700">
            <a:solidFill>
              <a:srgbClr val="4CC9F0"/>
            </a:solidFill>
            <a:prstDash val="solid"/>
          </a:ln>
        </p:spPr>
      </p:sp>
      <p:sp>
        <p:nvSpPr>
          <p:cNvPr id="17" name="Text 15"/>
          <p:cNvSpPr/>
          <p:nvPr/>
        </p:nvSpPr>
        <p:spPr>
          <a:xfrm>
            <a:off x="548640" y="4974336"/>
            <a:ext cx="10972800" cy="493776"/>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Defining criteria and constraints FIRST is what separates engineering thinking from just guessing.</a:t>
            </a:r>
            <a:endParaRPr lang="en-US" sz="12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Part 1 of 2</a:t>
            </a:r>
            <a:endParaRPr lang="en-US" sz="1600" dirty="0"/>
          </a:p>
        </p:txBody>
      </p:sp>
      <p:sp>
        <p:nvSpPr>
          <p:cNvPr id="5" name="Shape 3"/>
          <p:cNvSpPr/>
          <p:nvPr/>
        </p:nvSpPr>
        <p:spPr>
          <a:xfrm>
            <a:off x="365760" y="804672"/>
            <a:ext cx="3566160" cy="1325880"/>
          </a:xfrm>
          <a:prstGeom prst="roundRect">
            <a:avLst>
              <a:gd name="adj" fmla="val 6897"/>
            </a:avLst>
          </a:prstGeom>
          <a:solidFill>
            <a:srgbClr val="1E2F45"/>
          </a:solidFill>
          <a:ln w="25400">
            <a:solidFill>
              <a:srgbClr val="2DC653"/>
            </a:solidFill>
            <a:prstDash val="solid"/>
          </a:ln>
        </p:spPr>
      </p:sp>
      <p:sp>
        <p:nvSpPr>
          <p:cNvPr id="6" name="Shape 4"/>
          <p:cNvSpPr/>
          <p:nvPr/>
        </p:nvSpPr>
        <p:spPr>
          <a:xfrm>
            <a:off x="365760" y="804672"/>
            <a:ext cx="3566160" cy="347472"/>
          </a:xfrm>
          <a:prstGeom prst="roundRect">
            <a:avLst>
              <a:gd name="adj" fmla="val 21053"/>
            </a:avLst>
          </a:prstGeom>
          <a:solidFill>
            <a:srgbClr val="2DC653"/>
          </a:solidFill>
          <a:ln w="12700">
            <a:solidFill>
              <a:srgbClr val="2DC653"/>
            </a:solidFill>
            <a:prstDash val="solid"/>
          </a:ln>
        </p:spPr>
      </p:sp>
      <p:sp>
        <p:nvSpPr>
          <p:cNvPr id="7" name="Text 5"/>
          <p:cNvSpPr/>
          <p:nvPr/>
        </p:nvSpPr>
        <p:spPr>
          <a:xfrm>
            <a:off x="45720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Criteria</a:t>
            </a:r>
            <a:endParaRPr lang="en-US" sz="1200" dirty="0"/>
          </a:p>
        </p:txBody>
      </p:sp>
      <p:sp>
        <p:nvSpPr>
          <p:cNvPr id="8" name="Text 6"/>
          <p:cNvSpPr/>
          <p:nvPr/>
        </p:nvSpPr>
        <p:spPr>
          <a:xfrm>
            <a:off x="47548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What a good solution needs to do — your goals. 'Safe drinking water' and 'low cost' could be criteria.</a:t>
            </a:r>
            <a:endParaRPr lang="en-US" sz="1050" dirty="0"/>
          </a:p>
        </p:txBody>
      </p:sp>
      <p:sp>
        <p:nvSpPr>
          <p:cNvPr id="9" name="Shape 7"/>
          <p:cNvSpPr/>
          <p:nvPr/>
        </p:nvSpPr>
        <p:spPr>
          <a:xfrm>
            <a:off x="4114800" y="804672"/>
            <a:ext cx="3566160" cy="1325880"/>
          </a:xfrm>
          <a:prstGeom prst="roundRect">
            <a:avLst>
              <a:gd name="adj" fmla="val 6897"/>
            </a:avLst>
          </a:prstGeom>
          <a:solidFill>
            <a:srgbClr val="1E2F45"/>
          </a:solidFill>
          <a:ln w="25400">
            <a:solidFill>
              <a:srgbClr val="F4736A"/>
            </a:solidFill>
            <a:prstDash val="solid"/>
          </a:ln>
        </p:spPr>
      </p:sp>
      <p:sp>
        <p:nvSpPr>
          <p:cNvPr id="10" name="Shape 8"/>
          <p:cNvSpPr/>
          <p:nvPr/>
        </p:nvSpPr>
        <p:spPr>
          <a:xfrm>
            <a:off x="4114800" y="804672"/>
            <a:ext cx="3566160" cy="347472"/>
          </a:xfrm>
          <a:prstGeom prst="roundRect">
            <a:avLst>
              <a:gd name="adj" fmla="val 21053"/>
            </a:avLst>
          </a:prstGeom>
          <a:solidFill>
            <a:srgbClr val="F4736A"/>
          </a:solidFill>
          <a:ln w="12700">
            <a:solidFill>
              <a:srgbClr val="F4736A"/>
            </a:solidFill>
            <a:prstDash val="solid"/>
          </a:ln>
        </p:spPr>
      </p:sp>
      <p:sp>
        <p:nvSpPr>
          <p:cNvPr id="11" name="Text 9"/>
          <p:cNvSpPr/>
          <p:nvPr/>
        </p:nvSpPr>
        <p:spPr>
          <a:xfrm>
            <a:off x="420624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Constraint</a:t>
            </a:r>
            <a:endParaRPr lang="en-US" sz="1200" dirty="0"/>
          </a:p>
        </p:txBody>
      </p:sp>
      <p:sp>
        <p:nvSpPr>
          <p:cNvPr id="12" name="Text 10"/>
          <p:cNvSpPr/>
          <p:nvPr/>
        </p:nvSpPr>
        <p:spPr>
          <a:xfrm>
            <a:off x="422452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limit on what you can do. 'Has to fit in this budget' or 'must not pollute the aquifer' are constraints.</a:t>
            </a:r>
            <a:endParaRPr lang="en-US" sz="1050" dirty="0"/>
          </a:p>
        </p:txBody>
      </p:sp>
      <p:sp>
        <p:nvSpPr>
          <p:cNvPr id="13" name="Shape 11"/>
          <p:cNvSpPr/>
          <p:nvPr/>
        </p:nvSpPr>
        <p:spPr>
          <a:xfrm>
            <a:off x="7863840" y="804672"/>
            <a:ext cx="3566160" cy="1325880"/>
          </a:xfrm>
          <a:prstGeom prst="roundRect">
            <a:avLst>
              <a:gd name="adj" fmla="val 6897"/>
            </a:avLst>
          </a:prstGeom>
          <a:solidFill>
            <a:srgbClr val="1E2F45"/>
          </a:solidFill>
          <a:ln w="25400">
            <a:solidFill>
              <a:srgbClr val="FFB703"/>
            </a:solidFill>
            <a:prstDash val="solid"/>
          </a:ln>
        </p:spPr>
      </p:sp>
      <p:sp>
        <p:nvSpPr>
          <p:cNvPr id="14" name="Shape 12"/>
          <p:cNvSpPr/>
          <p:nvPr/>
        </p:nvSpPr>
        <p:spPr>
          <a:xfrm>
            <a:off x="7863840" y="804672"/>
            <a:ext cx="3566160" cy="347472"/>
          </a:xfrm>
          <a:prstGeom prst="roundRect">
            <a:avLst>
              <a:gd name="adj" fmla="val 21053"/>
            </a:avLst>
          </a:prstGeom>
          <a:solidFill>
            <a:srgbClr val="FFB703"/>
          </a:solidFill>
          <a:ln w="12700">
            <a:solidFill>
              <a:srgbClr val="FFB703"/>
            </a:solidFill>
            <a:prstDash val="solid"/>
          </a:ln>
        </p:spPr>
      </p:sp>
      <p:sp>
        <p:nvSpPr>
          <p:cNvPr id="15" name="Text 13"/>
          <p:cNvSpPr/>
          <p:nvPr/>
        </p:nvSpPr>
        <p:spPr>
          <a:xfrm>
            <a:off x="7955280" y="83210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Evaluate</a:t>
            </a:r>
            <a:endParaRPr lang="en-US" sz="1200" dirty="0"/>
          </a:p>
        </p:txBody>
      </p:sp>
      <p:sp>
        <p:nvSpPr>
          <p:cNvPr id="16" name="Text 14"/>
          <p:cNvSpPr/>
          <p:nvPr/>
        </p:nvSpPr>
        <p:spPr>
          <a:xfrm>
            <a:off x="7973568" y="120700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To judge how well something meets criteria — usually by comparing it side by side with other options.</a:t>
            </a:r>
            <a:endParaRPr lang="en-US" sz="1050" dirty="0"/>
          </a:p>
        </p:txBody>
      </p:sp>
      <p:sp>
        <p:nvSpPr>
          <p:cNvPr id="17" name="Shape 15"/>
          <p:cNvSpPr/>
          <p:nvPr/>
        </p:nvSpPr>
        <p:spPr>
          <a:xfrm>
            <a:off x="365760" y="2304288"/>
            <a:ext cx="3566160" cy="1325880"/>
          </a:xfrm>
          <a:prstGeom prst="roundRect">
            <a:avLst>
              <a:gd name="adj" fmla="val 6897"/>
            </a:avLst>
          </a:prstGeom>
          <a:solidFill>
            <a:srgbClr val="1E2F45"/>
          </a:solidFill>
          <a:ln w="25400">
            <a:solidFill>
              <a:srgbClr val="4CC9F0"/>
            </a:solidFill>
            <a:prstDash val="solid"/>
          </a:ln>
        </p:spPr>
      </p:sp>
      <p:sp>
        <p:nvSpPr>
          <p:cNvPr id="18" name="Shape 16"/>
          <p:cNvSpPr/>
          <p:nvPr/>
        </p:nvSpPr>
        <p:spPr>
          <a:xfrm>
            <a:off x="365760" y="2304288"/>
            <a:ext cx="3566160" cy="347472"/>
          </a:xfrm>
          <a:prstGeom prst="roundRect">
            <a:avLst>
              <a:gd name="adj" fmla="val 21053"/>
            </a:avLst>
          </a:prstGeom>
          <a:solidFill>
            <a:srgbClr val="4CC9F0"/>
          </a:solidFill>
          <a:ln w="12700">
            <a:solidFill>
              <a:srgbClr val="4CC9F0"/>
            </a:solidFill>
            <a:prstDash val="solid"/>
          </a:ln>
        </p:spPr>
      </p:sp>
      <p:sp>
        <p:nvSpPr>
          <p:cNvPr id="19" name="Text 17"/>
          <p:cNvSpPr/>
          <p:nvPr/>
        </p:nvSpPr>
        <p:spPr>
          <a:xfrm>
            <a:off x="457200" y="2331720"/>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Design</a:t>
            </a:r>
            <a:endParaRPr lang="en-US" sz="1200" dirty="0"/>
          </a:p>
        </p:txBody>
      </p:sp>
      <p:sp>
        <p:nvSpPr>
          <p:cNvPr id="20" name="Text 18"/>
          <p:cNvSpPr/>
          <p:nvPr/>
        </p:nvSpPr>
        <p:spPr>
          <a:xfrm>
            <a:off x="475488" y="2706624"/>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plan or model for a solution. Designs change as engineers learn what works and what doesn't.</a:t>
            </a:r>
            <a:endParaRPr lang="en-US" sz="1050" dirty="0"/>
          </a:p>
        </p:txBody>
      </p:sp>
      <p:sp>
        <p:nvSpPr>
          <p:cNvPr id="21" name="Shape 19"/>
          <p:cNvSpPr/>
          <p:nvPr/>
        </p:nvSpPr>
        <p:spPr>
          <a:xfrm>
            <a:off x="4114800" y="2304288"/>
            <a:ext cx="7406640" cy="1325880"/>
          </a:xfrm>
          <a:prstGeom prst="roundRect">
            <a:avLst>
              <a:gd name="adj" fmla="val 5517"/>
            </a:avLst>
          </a:prstGeom>
          <a:solidFill>
            <a:srgbClr val="162233"/>
          </a:solidFill>
          <a:ln w="12700">
            <a:solidFill>
              <a:srgbClr val="FFB703"/>
            </a:solidFill>
            <a:prstDash val="solid"/>
          </a:ln>
        </p:spPr>
      </p:sp>
      <p:sp>
        <p:nvSpPr>
          <p:cNvPr id="22" name="Text 20"/>
          <p:cNvSpPr/>
          <p:nvPr/>
        </p:nvSpPr>
        <p:spPr>
          <a:xfrm>
            <a:off x="4297680" y="2377440"/>
            <a:ext cx="7040880" cy="329184"/>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How Criteria &amp; Constraints Work Together:</a:t>
            </a:r>
            <a:endParaRPr lang="en-US" sz="1200" dirty="0"/>
          </a:p>
        </p:txBody>
      </p:sp>
      <p:sp>
        <p:nvSpPr>
          <p:cNvPr id="23" name="Text 21"/>
          <p:cNvSpPr/>
          <p:nvPr/>
        </p:nvSpPr>
        <p:spPr>
          <a:xfrm>
            <a:off x="4297680" y="2743200"/>
            <a:ext cx="7040880" cy="7680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Imagine designing a solar farm for your school.</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CRITERION: Must power at least 50% of the school's electricity needs.</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CONSTRAINT: Must fit on the school rooftop (can't use new land).</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Without BOTH, you cannot evaluate whether your design is good enough.</a:t>
            </a:r>
            <a:endParaRPr lang="en-US" sz="1100" dirty="0"/>
          </a:p>
        </p:txBody>
      </p:sp>
      <p:sp>
        <p:nvSpPr>
          <p:cNvPr id="24" name="Shape 22"/>
          <p:cNvSpPr/>
          <p:nvPr/>
        </p:nvSpPr>
        <p:spPr>
          <a:xfrm>
            <a:off x="365760" y="3767328"/>
            <a:ext cx="11247120" cy="1280160"/>
          </a:xfrm>
          <a:prstGeom prst="roundRect">
            <a:avLst>
              <a:gd name="adj" fmla="val 5714"/>
            </a:avLst>
          </a:prstGeom>
          <a:solidFill>
            <a:srgbClr val="162233"/>
          </a:solidFill>
          <a:ln w="12700">
            <a:solidFill>
              <a:srgbClr val="FFB703"/>
            </a:solidFill>
            <a:prstDash val="solid"/>
          </a:ln>
        </p:spPr>
      </p:sp>
      <p:sp>
        <p:nvSpPr>
          <p:cNvPr id="25" name="Text 23"/>
          <p:cNvSpPr/>
          <p:nvPr/>
        </p:nvSpPr>
        <p:spPr>
          <a:xfrm>
            <a:off x="530352" y="3840480"/>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Stop &amp; Think:</a:t>
            </a:r>
            <a:endParaRPr lang="en-US" sz="1300" dirty="0"/>
          </a:p>
        </p:txBody>
      </p:sp>
      <p:sp>
        <p:nvSpPr>
          <p:cNvPr id="26" name="Text 24"/>
          <p:cNvSpPr/>
          <p:nvPr/>
        </p:nvSpPr>
        <p:spPr>
          <a:xfrm>
            <a:off x="530352" y="4206240"/>
            <a:ext cx="10917936" cy="73152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"Imagine you're asked to design a solar farm for your school. Name ONE criterion (a goal) and ONE constraint (a limit) you'd have to think about."</a:t>
            </a:r>
            <a:endParaRPr lang="en-US" sz="1200" dirty="0"/>
          </a:p>
        </p:txBody>
      </p:sp>
      <p:sp>
        <p:nvSpPr>
          <p:cNvPr id="27" name="Shape 25"/>
          <p:cNvSpPr/>
          <p:nvPr/>
        </p:nvSpPr>
        <p:spPr>
          <a:xfrm>
            <a:off x="0" y="6629400"/>
            <a:ext cx="12192000" cy="228600"/>
          </a:xfrm>
          <a:prstGeom prst="rect">
            <a:avLst/>
          </a:prstGeom>
          <a:solidFill>
            <a:srgbClr val="162233"/>
          </a:solidFill>
          <a:ln/>
        </p:spPr>
      </p:sp>
      <p:sp>
        <p:nvSpPr>
          <p:cNvPr id="28" name="Text 2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Part 2 of 2</a:t>
            </a:r>
            <a:endParaRPr lang="en-US" sz="1600" dirty="0"/>
          </a:p>
        </p:txBody>
      </p:sp>
      <p:sp>
        <p:nvSpPr>
          <p:cNvPr id="5" name="Shape 3"/>
          <p:cNvSpPr/>
          <p:nvPr/>
        </p:nvSpPr>
        <p:spPr>
          <a:xfrm>
            <a:off x="365760" y="804672"/>
            <a:ext cx="53949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804672"/>
            <a:ext cx="53949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832104"/>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Solution</a:t>
            </a:r>
            <a:endParaRPr lang="en-US" sz="1200" dirty="0"/>
          </a:p>
        </p:txBody>
      </p:sp>
      <p:sp>
        <p:nvSpPr>
          <p:cNvPr id="8" name="Text 6"/>
          <p:cNvSpPr/>
          <p:nvPr/>
        </p:nvSpPr>
        <p:spPr>
          <a:xfrm>
            <a:off x="475488" y="1207008"/>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An idea or design that solves part of a problem. Most resource problems have several possible solutions — compare them to choose.</a:t>
            </a:r>
            <a:endParaRPr lang="en-US" sz="1050" dirty="0"/>
          </a:p>
        </p:txBody>
      </p:sp>
      <p:sp>
        <p:nvSpPr>
          <p:cNvPr id="9" name="Shape 7"/>
          <p:cNvSpPr/>
          <p:nvPr/>
        </p:nvSpPr>
        <p:spPr>
          <a:xfrm>
            <a:off x="6035040" y="804672"/>
            <a:ext cx="5394960" cy="1325880"/>
          </a:xfrm>
          <a:prstGeom prst="roundRect">
            <a:avLst>
              <a:gd name="adj" fmla="val 6897"/>
            </a:avLst>
          </a:prstGeom>
          <a:solidFill>
            <a:srgbClr val="1E2F45"/>
          </a:solidFill>
          <a:ln w="25400">
            <a:solidFill>
              <a:srgbClr val="FFB703"/>
            </a:solidFill>
            <a:prstDash val="solid"/>
          </a:ln>
        </p:spPr>
      </p:sp>
      <p:sp>
        <p:nvSpPr>
          <p:cNvPr id="10" name="Shape 8"/>
          <p:cNvSpPr/>
          <p:nvPr/>
        </p:nvSpPr>
        <p:spPr>
          <a:xfrm>
            <a:off x="6035040" y="804672"/>
            <a:ext cx="5394960" cy="347472"/>
          </a:xfrm>
          <a:prstGeom prst="roundRect">
            <a:avLst>
              <a:gd name="adj" fmla="val 21053"/>
            </a:avLst>
          </a:prstGeom>
          <a:solidFill>
            <a:srgbClr val="FFB703"/>
          </a:solidFill>
          <a:ln w="12700">
            <a:solidFill>
              <a:srgbClr val="FFB703"/>
            </a:solidFill>
            <a:prstDash val="solid"/>
          </a:ln>
        </p:spPr>
      </p:sp>
      <p:sp>
        <p:nvSpPr>
          <p:cNvPr id="11" name="Text 9"/>
          <p:cNvSpPr/>
          <p:nvPr/>
        </p:nvSpPr>
        <p:spPr>
          <a:xfrm>
            <a:off x="6126480" y="832104"/>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Revise</a:t>
            </a:r>
            <a:endParaRPr lang="en-US" sz="1200" dirty="0"/>
          </a:p>
        </p:txBody>
      </p:sp>
      <p:sp>
        <p:nvSpPr>
          <p:cNvPr id="12" name="Text 10"/>
          <p:cNvSpPr/>
          <p:nvPr/>
        </p:nvSpPr>
        <p:spPr>
          <a:xfrm>
            <a:off x="6144768" y="1207008"/>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To change and improve something based on what you've learned. Engineers revise their designs over and over.</a:t>
            </a:r>
            <a:endParaRPr lang="en-US" sz="1050" dirty="0"/>
          </a:p>
        </p:txBody>
      </p:sp>
      <p:sp>
        <p:nvSpPr>
          <p:cNvPr id="13" name="Shape 11"/>
          <p:cNvSpPr/>
          <p:nvPr/>
        </p:nvSpPr>
        <p:spPr>
          <a:xfrm>
            <a:off x="365760" y="2304288"/>
            <a:ext cx="11247120" cy="2359152"/>
          </a:xfrm>
          <a:prstGeom prst="roundRect">
            <a:avLst>
              <a:gd name="adj" fmla="val 3101"/>
            </a:avLst>
          </a:prstGeom>
          <a:solidFill>
            <a:srgbClr val="162233"/>
          </a:solidFill>
          <a:ln w="12700">
            <a:solidFill>
              <a:srgbClr val="2DC653"/>
            </a:solidFill>
            <a:prstDash val="solid"/>
          </a:ln>
        </p:spPr>
      </p:sp>
      <p:sp>
        <p:nvSpPr>
          <p:cNvPr id="14" name="Text 12"/>
          <p:cNvSpPr/>
          <p:nvPr/>
        </p:nvSpPr>
        <p:spPr>
          <a:xfrm>
            <a:off x="548640" y="2377440"/>
            <a:ext cx="10972800" cy="329184"/>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The Engineering Design Cycle:</a:t>
            </a:r>
            <a:endParaRPr lang="en-US" sz="1300" dirty="0"/>
          </a:p>
        </p:txBody>
      </p:sp>
      <p:sp>
        <p:nvSpPr>
          <p:cNvPr id="15" name="Shape 13"/>
          <p:cNvSpPr/>
          <p:nvPr/>
        </p:nvSpPr>
        <p:spPr>
          <a:xfrm>
            <a:off x="457200" y="2761488"/>
            <a:ext cx="1719072" cy="1719072"/>
          </a:xfrm>
          <a:prstGeom prst="roundRect">
            <a:avLst>
              <a:gd name="adj" fmla="val 4255"/>
            </a:avLst>
          </a:prstGeom>
          <a:solidFill>
            <a:srgbClr val="1E2F45"/>
          </a:solidFill>
          <a:ln w="12700">
            <a:solidFill>
              <a:srgbClr val="4CC9F0"/>
            </a:solidFill>
            <a:prstDash val="solid"/>
          </a:ln>
        </p:spPr>
      </p:sp>
      <p:sp>
        <p:nvSpPr>
          <p:cNvPr id="16" name="Text 14"/>
          <p:cNvSpPr/>
          <p:nvPr/>
        </p:nvSpPr>
        <p:spPr>
          <a:xfrm>
            <a:off x="457200" y="2834640"/>
            <a:ext cx="1719072" cy="438912"/>
          </a:xfrm>
          <a:prstGeom prst="rect">
            <a:avLst/>
          </a:prstGeom>
          <a:noFill/>
          <a:ln/>
        </p:spPr>
        <p:txBody>
          <a:bodyPr wrap="square" rtlCol="0" anchor="ctr"/>
          <a:lstStyle/>
          <a:p>
            <a:pPr algn="ctr" indent="0" marL="0">
              <a:buNone/>
            </a:pPr>
            <a:r>
              <a:rPr lang="en-US" sz="2000" b="1" dirty="0">
                <a:solidFill>
                  <a:srgbClr val="4CC9F0"/>
                </a:solidFill>
                <a:latin typeface="Calibri" pitchFamily="34" charset="0"/>
                <a:ea typeface="Calibri" pitchFamily="34" charset="-122"/>
                <a:cs typeface="Calibri" pitchFamily="34" charset="-120"/>
              </a:rPr>
              <a:t>1</a:t>
            </a:r>
            <a:endParaRPr lang="en-US" sz="2000" dirty="0"/>
          </a:p>
        </p:txBody>
      </p:sp>
      <p:sp>
        <p:nvSpPr>
          <p:cNvPr id="17" name="Text 15"/>
          <p:cNvSpPr/>
          <p:nvPr/>
        </p:nvSpPr>
        <p:spPr>
          <a:xfrm>
            <a:off x="457200" y="3310128"/>
            <a:ext cx="1719072" cy="1042416"/>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Define Problem</a:t>
            </a:r>
            <a:endParaRPr lang="en-US" sz="1000" dirty="0"/>
          </a:p>
        </p:txBody>
      </p:sp>
      <p:sp>
        <p:nvSpPr>
          <p:cNvPr id="18" name="Text 16"/>
          <p:cNvSpPr/>
          <p:nvPr/>
        </p:nvSpPr>
        <p:spPr>
          <a:xfrm>
            <a:off x="2176272" y="3200400"/>
            <a:ext cx="201168" cy="804672"/>
          </a:xfrm>
          <a:prstGeom prst="rect">
            <a:avLst/>
          </a:prstGeom>
          <a:noFill/>
          <a:ln/>
        </p:spPr>
        <p:txBody>
          <a:bodyPr wrap="square" rtlCol="0" anchor="ctr"/>
          <a:lstStyle/>
          <a:p>
            <a:pPr algn="ctr" indent="0" marL="0">
              <a:buNone/>
            </a:pPr>
            <a:r>
              <a:rPr lang="en-US" sz="1600" dirty="0">
                <a:solidFill>
                  <a:srgbClr val="4CC9F0"/>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2331720" y="2761488"/>
            <a:ext cx="1719072" cy="1719072"/>
          </a:xfrm>
          <a:prstGeom prst="roundRect">
            <a:avLst>
              <a:gd name="adj" fmla="val 4255"/>
            </a:avLst>
          </a:prstGeom>
          <a:solidFill>
            <a:srgbClr val="1E2F45"/>
          </a:solidFill>
          <a:ln w="12700">
            <a:solidFill>
              <a:srgbClr val="4CC9F0"/>
            </a:solidFill>
            <a:prstDash val="solid"/>
          </a:ln>
        </p:spPr>
      </p:sp>
      <p:sp>
        <p:nvSpPr>
          <p:cNvPr id="20" name="Text 18"/>
          <p:cNvSpPr/>
          <p:nvPr/>
        </p:nvSpPr>
        <p:spPr>
          <a:xfrm>
            <a:off x="2331720" y="2834640"/>
            <a:ext cx="1719072" cy="438912"/>
          </a:xfrm>
          <a:prstGeom prst="rect">
            <a:avLst/>
          </a:prstGeom>
          <a:noFill/>
          <a:ln/>
        </p:spPr>
        <p:txBody>
          <a:bodyPr wrap="square" rtlCol="0" anchor="ctr"/>
          <a:lstStyle/>
          <a:p>
            <a:pPr algn="ctr" indent="0" marL="0">
              <a:buNone/>
            </a:pPr>
            <a:r>
              <a:rPr lang="en-US" sz="2000" b="1" dirty="0">
                <a:solidFill>
                  <a:srgbClr val="4CC9F0"/>
                </a:solidFill>
                <a:latin typeface="Calibri" pitchFamily="34" charset="0"/>
                <a:ea typeface="Calibri" pitchFamily="34" charset="-122"/>
                <a:cs typeface="Calibri" pitchFamily="34" charset="-120"/>
              </a:rPr>
              <a:t>2</a:t>
            </a:r>
            <a:endParaRPr lang="en-US" sz="2000" dirty="0"/>
          </a:p>
        </p:txBody>
      </p:sp>
      <p:sp>
        <p:nvSpPr>
          <p:cNvPr id="21" name="Text 19"/>
          <p:cNvSpPr/>
          <p:nvPr/>
        </p:nvSpPr>
        <p:spPr>
          <a:xfrm>
            <a:off x="2331720" y="3310128"/>
            <a:ext cx="1719072" cy="1042416"/>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Research</a:t>
            </a:r>
            <a:endParaRPr lang="en-US" sz="1000" dirty="0"/>
          </a:p>
        </p:txBody>
      </p:sp>
      <p:sp>
        <p:nvSpPr>
          <p:cNvPr id="22" name="Text 20"/>
          <p:cNvSpPr/>
          <p:nvPr/>
        </p:nvSpPr>
        <p:spPr>
          <a:xfrm>
            <a:off x="4050792" y="3200400"/>
            <a:ext cx="201168" cy="804672"/>
          </a:xfrm>
          <a:prstGeom prst="rect">
            <a:avLst/>
          </a:prstGeom>
          <a:noFill/>
          <a:ln/>
        </p:spPr>
        <p:txBody>
          <a:bodyPr wrap="square" rtlCol="0" anchor="ctr"/>
          <a:lstStyle/>
          <a:p>
            <a:pPr algn="ctr" indent="0" marL="0">
              <a:buNone/>
            </a:pPr>
            <a:r>
              <a:rPr lang="en-US" sz="1600" dirty="0">
                <a:solidFill>
                  <a:srgbClr val="4CC9F0"/>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4206240" y="2761488"/>
            <a:ext cx="1719072" cy="1719072"/>
          </a:xfrm>
          <a:prstGeom prst="roundRect">
            <a:avLst>
              <a:gd name="adj" fmla="val 4255"/>
            </a:avLst>
          </a:prstGeom>
          <a:solidFill>
            <a:srgbClr val="1E2F45"/>
          </a:solidFill>
          <a:ln w="12700">
            <a:solidFill>
              <a:srgbClr val="4CC9F0"/>
            </a:solidFill>
            <a:prstDash val="solid"/>
          </a:ln>
        </p:spPr>
      </p:sp>
      <p:sp>
        <p:nvSpPr>
          <p:cNvPr id="24" name="Text 22"/>
          <p:cNvSpPr/>
          <p:nvPr/>
        </p:nvSpPr>
        <p:spPr>
          <a:xfrm>
            <a:off x="4206240" y="2834640"/>
            <a:ext cx="1719072" cy="438912"/>
          </a:xfrm>
          <a:prstGeom prst="rect">
            <a:avLst/>
          </a:prstGeom>
          <a:noFill/>
          <a:ln/>
        </p:spPr>
        <p:txBody>
          <a:bodyPr wrap="square" rtlCol="0" anchor="ctr"/>
          <a:lstStyle/>
          <a:p>
            <a:pPr algn="ctr" indent="0" marL="0">
              <a:buNone/>
            </a:pPr>
            <a:r>
              <a:rPr lang="en-US" sz="2000" b="1" dirty="0">
                <a:solidFill>
                  <a:srgbClr val="4CC9F0"/>
                </a:solidFill>
                <a:latin typeface="Calibri" pitchFamily="34" charset="0"/>
                <a:ea typeface="Calibri" pitchFamily="34" charset="-122"/>
                <a:cs typeface="Calibri" pitchFamily="34" charset="-120"/>
              </a:rPr>
              <a:t>3</a:t>
            </a:r>
            <a:endParaRPr lang="en-US" sz="2000" dirty="0"/>
          </a:p>
        </p:txBody>
      </p:sp>
      <p:sp>
        <p:nvSpPr>
          <p:cNvPr id="25" name="Text 23"/>
          <p:cNvSpPr/>
          <p:nvPr/>
        </p:nvSpPr>
        <p:spPr>
          <a:xfrm>
            <a:off x="4206240" y="3310128"/>
            <a:ext cx="1719072" cy="1042416"/>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Brainstorm</a:t>
            </a:r>
            <a:endParaRPr lang="en-US" sz="1000" dirty="0"/>
          </a:p>
        </p:txBody>
      </p:sp>
      <p:sp>
        <p:nvSpPr>
          <p:cNvPr id="26" name="Text 24"/>
          <p:cNvSpPr/>
          <p:nvPr/>
        </p:nvSpPr>
        <p:spPr>
          <a:xfrm>
            <a:off x="5925312" y="3200400"/>
            <a:ext cx="201168" cy="804672"/>
          </a:xfrm>
          <a:prstGeom prst="rect">
            <a:avLst/>
          </a:prstGeom>
          <a:noFill/>
          <a:ln/>
        </p:spPr>
        <p:txBody>
          <a:bodyPr wrap="square" rtlCol="0" anchor="ctr"/>
          <a:lstStyle/>
          <a:p>
            <a:pPr algn="ctr" indent="0" marL="0">
              <a:buNone/>
            </a:pPr>
            <a:r>
              <a:rPr lang="en-US" sz="1600" dirty="0">
                <a:solidFill>
                  <a:srgbClr val="4CC9F0"/>
                </a:solidFill>
                <a:latin typeface="Calibri" pitchFamily="34" charset="0"/>
                <a:ea typeface="Calibri" pitchFamily="34" charset="-122"/>
                <a:cs typeface="Calibri" pitchFamily="34" charset="-120"/>
              </a:rPr>
              <a:t>→</a:t>
            </a:r>
            <a:endParaRPr lang="en-US" sz="1600" dirty="0"/>
          </a:p>
        </p:txBody>
      </p:sp>
      <p:sp>
        <p:nvSpPr>
          <p:cNvPr id="27" name="Shape 25"/>
          <p:cNvSpPr/>
          <p:nvPr/>
        </p:nvSpPr>
        <p:spPr>
          <a:xfrm>
            <a:off x="6080760" y="2761488"/>
            <a:ext cx="1719072" cy="1719072"/>
          </a:xfrm>
          <a:prstGeom prst="roundRect">
            <a:avLst>
              <a:gd name="adj" fmla="val 4255"/>
            </a:avLst>
          </a:prstGeom>
          <a:solidFill>
            <a:srgbClr val="1E2F45"/>
          </a:solidFill>
          <a:ln w="12700">
            <a:solidFill>
              <a:srgbClr val="4CC9F0"/>
            </a:solidFill>
            <a:prstDash val="solid"/>
          </a:ln>
        </p:spPr>
      </p:sp>
      <p:sp>
        <p:nvSpPr>
          <p:cNvPr id="28" name="Text 26"/>
          <p:cNvSpPr/>
          <p:nvPr/>
        </p:nvSpPr>
        <p:spPr>
          <a:xfrm>
            <a:off x="6080760" y="2834640"/>
            <a:ext cx="1719072" cy="438912"/>
          </a:xfrm>
          <a:prstGeom prst="rect">
            <a:avLst/>
          </a:prstGeom>
          <a:noFill/>
          <a:ln/>
        </p:spPr>
        <p:txBody>
          <a:bodyPr wrap="square" rtlCol="0" anchor="ctr"/>
          <a:lstStyle/>
          <a:p>
            <a:pPr algn="ctr" indent="0" marL="0">
              <a:buNone/>
            </a:pPr>
            <a:r>
              <a:rPr lang="en-US" sz="2000" b="1" dirty="0">
                <a:solidFill>
                  <a:srgbClr val="4CC9F0"/>
                </a:solidFill>
                <a:latin typeface="Calibri" pitchFamily="34" charset="0"/>
                <a:ea typeface="Calibri" pitchFamily="34" charset="-122"/>
                <a:cs typeface="Calibri" pitchFamily="34" charset="-120"/>
              </a:rPr>
              <a:t>4</a:t>
            </a:r>
            <a:endParaRPr lang="en-US" sz="2000" dirty="0"/>
          </a:p>
        </p:txBody>
      </p:sp>
      <p:sp>
        <p:nvSpPr>
          <p:cNvPr id="29" name="Text 27"/>
          <p:cNvSpPr/>
          <p:nvPr/>
        </p:nvSpPr>
        <p:spPr>
          <a:xfrm>
            <a:off x="6080760" y="3310128"/>
            <a:ext cx="1719072" cy="1042416"/>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Build/Plan</a:t>
            </a:r>
            <a:endParaRPr lang="en-US" sz="1000" dirty="0"/>
          </a:p>
        </p:txBody>
      </p:sp>
      <p:sp>
        <p:nvSpPr>
          <p:cNvPr id="30" name="Text 28"/>
          <p:cNvSpPr/>
          <p:nvPr/>
        </p:nvSpPr>
        <p:spPr>
          <a:xfrm>
            <a:off x="7799832" y="3200400"/>
            <a:ext cx="201168" cy="804672"/>
          </a:xfrm>
          <a:prstGeom prst="rect">
            <a:avLst/>
          </a:prstGeom>
          <a:noFill/>
          <a:ln/>
        </p:spPr>
        <p:txBody>
          <a:bodyPr wrap="square" rtlCol="0" anchor="ctr"/>
          <a:lstStyle/>
          <a:p>
            <a:pPr algn="ctr" indent="0" marL="0">
              <a:buNone/>
            </a:pPr>
            <a:r>
              <a:rPr lang="en-US" sz="1600" dirty="0">
                <a:solidFill>
                  <a:srgbClr val="4CC9F0"/>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7955280" y="2761488"/>
            <a:ext cx="1719072" cy="1719072"/>
          </a:xfrm>
          <a:prstGeom prst="roundRect">
            <a:avLst>
              <a:gd name="adj" fmla="val 4255"/>
            </a:avLst>
          </a:prstGeom>
          <a:solidFill>
            <a:srgbClr val="1E2F45"/>
          </a:solidFill>
          <a:ln w="12700">
            <a:solidFill>
              <a:srgbClr val="4CC9F0"/>
            </a:solidFill>
            <a:prstDash val="solid"/>
          </a:ln>
        </p:spPr>
      </p:sp>
      <p:sp>
        <p:nvSpPr>
          <p:cNvPr id="32" name="Text 30"/>
          <p:cNvSpPr/>
          <p:nvPr/>
        </p:nvSpPr>
        <p:spPr>
          <a:xfrm>
            <a:off x="7955280" y="2834640"/>
            <a:ext cx="1719072" cy="438912"/>
          </a:xfrm>
          <a:prstGeom prst="rect">
            <a:avLst/>
          </a:prstGeom>
          <a:noFill/>
          <a:ln/>
        </p:spPr>
        <p:txBody>
          <a:bodyPr wrap="square" rtlCol="0" anchor="ctr"/>
          <a:lstStyle/>
          <a:p>
            <a:pPr algn="ctr" indent="0" marL="0">
              <a:buNone/>
            </a:pPr>
            <a:r>
              <a:rPr lang="en-US" sz="2000" b="1" dirty="0">
                <a:solidFill>
                  <a:srgbClr val="4CC9F0"/>
                </a:solidFill>
                <a:latin typeface="Calibri" pitchFamily="34" charset="0"/>
                <a:ea typeface="Calibri" pitchFamily="34" charset="-122"/>
                <a:cs typeface="Calibri" pitchFamily="34" charset="-120"/>
              </a:rPr>
              <a:t>5</a:t>
            </a:r>
            <a:endParaRPr lang="en-US" sz="2000" dirty="0"/>
          </a:p>
        </p:txBody>
      </p:sp>
      <p:sp>
        <p:nvSpPr>
          <p:cNvPr id="33" name="Text 31"/>
          <p:cNvSpPr/>
          <p:nvPr/>
        </p:nvSpPr>
        <p:spPr>
          <a:xfrm>
            <a:off x="7955280" y="3310128"/>
            <a:ext cx="1719072" cy="1042416"/>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Test/Evaluate</a:t>
            </a:r>
            <a:endParaRPr lang="en-US" sz="1000" dirty="0"/>
          </a:p>
        </p:txBody>
      </p:sp>
      <p:sp>
        <p:nvSpPr>
          <p:cNvPr id="34" name="Text 32"/>
          <p:cNvSpPr/>
          <p:nvPr/>
        </p:nvSpPr>
        <p:spPr>
          <a:xfrm>
            <a:off x="9674352" y="3200400"/>
            <a:ext cx="201168" cy="804672"/>
          </a:xfrm>
          <a:prstGeom prst="rect">
            <a:avLst/>
          </a:prstGeom>
          <a:noFill/>
          <a:ln/>
        </p:spPr>
        <p:txBody>
          <a:bodyPr wrap="square" rtlCol="0" anchor="ctr"/>
          <a:lstStyle/>
          <a:p>
            <a:pPr algn="ctr" indent="0" marL="0">
              <a:buNone/>
            </a:pPr>
            <a:r>
              <a:rPr lang="en-US" sz="1600" dirty="0">
                <a:solidFill>
                  <a:srgbClr val="4CC9F0"/>
                </a:solidFill>
                <a:latin typeface="Calibri" pitchFamily="34" charset="0"/>
                <a:ea typeface="Calibri" pitchFamily="34" charset="-122"/>
                <a:cs typeface="Calibri" pitchFamily="34" charset="-120"/>
              </a:rPr>
              <a:t>→</a:t>
            </a:r>
            <a:endParaRPr lang="en-US" sz="1600" dirty="0"/>
          </a:p>
        </p:txBody>
      </p:sp>
      <p:sp>
        <p:nvSpPr>
          <p:cNvPr id="35" name="Shape 33"/>
          <p:cNvSpPr/>
          <p:nvPr/>
        </p:nvSpPr>
        <p:spPr>
          <a:xfrm>
            <a:off x="9829800" y="2761488"/>
            <a:ext cx="1719072" cy="1719072"/>
          </a:xfrm>
          <a:prstGeom prst="roundRect">
            <a:avLst>
              <a:gd name="adj" fmla="val 4255"/>
            </a:avLst>
          </a:prstGeom>
          <a:solidFill>
            <a:srgbClr val="1E2F45"/>
          </a:solidFill>
          <a:ln w="12700">
            <a:solidFill>
              <a:srgbClr val="4CC9F0"/>
            </a:solidFill>
            <a:prstDash val="solid"/>
          </a:ln>
        </p:spPr>
      </p:sp>
      <p:sp>
        <p:nvSpPr>
          <p:cNvPr id="36" name="Text 34"/>
          <p:cNvSpPr/>
          <p:nvPr/>
        </p:nvSpPr>
        <p:spPr>
          <a:xfrm>
            <a:off x="9829800" y="2834640"/>
            <a:ext cx="1719072" cy="438912"/>
          </a:xfrm>
          <a:prstGeom prst="rect">
            <a:avLst/>
          </a:prstGeom>
          <a:noFill/>
          <a:ln/>
        </p:spPr>
        <p:txBody>
          <a:bodyPr wrap="square" rtlCol="0" anchor="ctr"/>
          <a:lstStyle/>
          <a:p>
            <a:pPr algn="ctr" indent="0" marL="0">
              <a:buNone/>
            </a:pPr>
            <a:r>
              <a:rPr lang="en-US" sz="2000" b="1" dirty="0">
                <a:solidFill>
                  <a:srgbClr val="4CC9F0"/>
                </a:solidFill>
                <a:latin typeface="Calibri" pitchFamily="34" charset="0"/>
                <a:ea typeface="Calibri" pitchFamily="34" charset="-122"/>
                <a:cs typeface="Calibri" pitchFamily="34" charset="-120"/>
              </a:rPr>
              <a:t>6</a:t>
            </a:r>
            <a:endParaRPr lang="en-US" sz="2000" dirty="0"/>
          </a:p>
        </p:txBody>
      </p:sp>
      <p:sp>
        <p:nvSpPr>
          <p:cNvPr id="37" name="Text 35"/>
          <p:cNvSpPr/>
          <p:nvPr/>
        </p:nvSpPr>
        <p:spPr>
          <a:xfrm>
            <a:off x="9829800" y="3310128"/>
            <a:ext cx="1719072" cy="1042416"/>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Improve/Revise</a:t>
            </a:r>
            <a:endParaRPr lang="en-US" sz="1000" dirty="0"/>
          </a:p>
        </p:txBody>
      </p:sp>
      <p:sp>
        <p:nvSpPr>
          <p:cNvPr id="38" name="Shape 36"/>
          <p:cNvSpPr/>
          <p:nvPr/>
        </p:nvSpPr>
        <p:spPr>
          <a:xfrm>
            <a:off x="365760" y="4608576"/>
            <a:ext cx="11247120" cy="658368"/>
          </a:xfrm>
          <a:prstGeom prst="roundRect">
            <a:avLst>
              <a:gd name="adj" fmla="val 11111"/>
            </a:avLst>
          </a:prstGeom>
          <a:solidFill>
            <a:srgbClr val="0A1A0A"/>
          </a:solidFill>
          <a:ln w="12700">
            <a:solidFill>
              <a:srgbClr val="2DC653"/>
            </a:solidFill>
            <a:prstDash val="solid"/>
          </a:ln>
        </p:spPr>
      </p:sp>
      <p:sp>
        <p:nvSpPr>
          <p:cNvPr id="39" name="Text 37"/>
          <p:cNvSpPr/>
          <p:nvPr/>
        </p:nvSpPr>
        <p:spPr>
          <a:xfrm>
            <a:off x="548640" y="4681728"/>
            <a:ext cx="10972800" cy="512064"/>
          </a:xfrm>
          <a:prstGeom prst="rect">
            <a:avLst/>
          </a:prstGeom>
          <a:noFill/>
          <a:ln/>
        </p:spPr>
        <p:txBody>
          <a:bodyPr wrap="square" rtlCol="0" anchor="ctr"/>
          <a:lstStyle/>
          <a:p>
            <a:pPr indent="0" marL="0">
              <a:buNone/>
            </a:pPr>
            <a:r>
              <a:rPr lang="en-US" sz="1150" dirty="0">
                <a:solidFill>
                  <a:srgbClr val="2DC653"/>
                </a:solidFill>
                <a:latin typeface="Calibri" pitchFamily="34" charset="0"/>
                <a:ea typeface="Calibri" pitchFamily="34" charset="-122"/>
                <a:cs typeface="Calibri" pitchFamily="34" charset="-120"/>
              </a:rPr>
              <a:t>⚠️ Common Misconception: Real engineering is about finding ONE perfect idea. It's really about comparing several decent ideas, choosing the best fit, and then IMPROVING it. Revision is the whole point.</a:t>
            </a:r>
            <a:endParaRPr lang="en-US" sz="1150" dirty="0"/>
          </a:p>
        </p:txBody>
      </p:sp>
      <p:sp>
        <p:nvSpPr>
          <p:cNvPr id="40" name="Shape 38"/>
          <p:cNvSpPr/>
          <p:nvPr/>
        </p:nvSpPr>
        <p:spPr>
          <a:xfrm>
            <a:off x="0" y="6629400"/>
            <a:ext cx="12192000" cy="228600"/>
          </a:xfrm>
          <a:prstGeom prst="rect">
            <a:avLst/>
          </a:prstGeom>
          <a:solidFill>
            <a:srgbClr val="162233"/>
          </a:solidFill>
          <a:ln/>
        </p:spPr>
      </p:sp>
      <p:sp>
        <p:nvSpPr>
          <p:cNvPr id="41" name="Text 3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Decision Matrix — Comparing Solutions Side by Side</a:t>
            </a:r>
            <a:endParaRPr lang="en-US" sz="1600" dirty="0"/>
          </a:p>
        </p:txBody>
      </p:sp>
      <p:sp>
        <p:nvSpPr>
          <p:cNvPr id="5" name="Shape 3"/>
          <p:cNvSpPr/>
          <p:nvPr/>
        </p:nvSpPr>
        <p:spPr>
          <a:xfrm>
            <a:off x="365760" y="749808"/>
            <a:ext cx="11247120" cy="4279392"/>
          </a:xfrm>
          <a:prstGeom prst="roundRect">
            <a:avLst>
              <a:gd name="adj" fmla="val 1709"/>
            </a:avLst>
          </a:prstGeom>
          <a:solidFill>
            <a:srgbClr val="0A1520"/>
          </a:solidFill>
          <a:ln w="19050">
            <a:solidFill>
              <a:srgbClr val="4CC9F0"/>
            </a:solidFill>
            <a:prstDash val="dash"/>
          </a:ln>
        </p:spPr>
      </p:sp>
      <p:sp>
        <p:nvSpPr>
          <p:cNvPr id="6" name="Text 4"/>
          <p:cNvSpPr/>
          <p:nvPr/>
        </p:nvSpPr>
        <p:spPr>
          <a:xfrm>
            <a:off x="457200" y="859536"/>
            <a:ext cx="11064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110642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11027664" cy="322783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"engineering decision matrix water solutions criteria constraints star ratings compare choose revise table"</a:t>
            </a:r>
            <a:endParaRPr lang="en-US" sz="950" dirty="0"/>
          </a:p>
        </p:txBody>
      </p:sp>
      <p:sp>
        <p:nvSpPr>
          <p:cNvPr id="9" name="Text 7"/>
          <p:cNvSpPr/>
          <p:nvPr/>
        </p:nvSpPr>
        <p:spPr>
          <a:xfrm>
            <a:off x="365760" y="5065776"/>
            <a:ext cx="112471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Engineering decision matrix — Florida water solutions scored against criteria</a:t>
            </a:r>
            <a:endParaRPr lang="en-US" sz="900" dirty="0"/>
          </a:p>
        </p:txBody>
      </p:sp>
      <p:sp>
        <p:nvSpPr>
          <p:cNvPr id="10" name="Shape 8"/>
          <p:cNvSpPr/>
          <p:nvPr/>
        </p:nvSpPr>
        <p:spPr>
          <a:xfrm>
            <a:off x="365760" y="5157216"/>
            <a:ext cx="11247120" cy="749808"/>
          </a:xfrm>
          <a:prstGeom prst="roundRect">
            <a:avLst>
              <a:gd name="adj" fmla="val 9756"/>
            </a:avLst>
          </a:prstGeom>
          <a:solidFill>
            <a:srgbClr val="162233"/>
          </a:solidFill>
          <a:ln w="12700">
            <a:solidFill>
              <a:srgbClr val="4CC9F0"/>
            </a:solidFill>
            <a:prstDash val="solid"/>
          </a:ln>
        </p:spPr>
      </p:sp>
      <p:sp>
        <p:nvSpPr>
          <p:cNvPr id="11" name="Text 9"/>
          <p:cNvSpPr/>
          <p:nvPr/>
        </p:nvSpPr>
        <p:spPr>
          <a:xfrm>
            <a:off x="548640" y="5230368"/>
            <a:ext cx="10972800" cy="585216"/>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 Observe &amp; Reason: The water-use rules solution wins — but scored low on 'enough water.' What's the REVISION suggested? Why does combining ideas often work better than picking just one?</a:t>
            </a:r>
            <a:endParaRPr lang="en-US" sz="115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Engineering Step 1-2: Define the Problem + Research</a:t>
            </a:r>
            <a:endParaRPr lang="en-US" sz="1600" dirty="0"/>
          </a:p>
        </p:txBody>
      </p:sp>
      <p:sp>
        <p:nvSpPr>
          <p:cNvPr id="5" name="Shape 3"/>
          <p:cNvSpPr/>
          <p:nvPr/>
        </p:nvSpPr>
        <p:spPr>
          <a:xfrm>
            <a:off x="365760" y="749808"/>
            <a:ext cx="5394960" cy="2852928"/>
          </a:xfrm>
          <a:prstGeom prst="roundRect">
            <a:avLst>
              <a:gd name="adj" fmla="val 2564"/>
            </a:avLst>
          </a:prstGeom>
          <a:solidFill>
            <a:srgbClr val="1E2F45"/>
          </a:solidFill>
          <a:ln w="12700">
            <a:solidFill>
              <a:srgbClr val="2DC653"/>
            </a:solidFill>
            <a:prstDash val="solid"/>
          </a:ln>
        </p:spPr>
      </p:sp>
      <p:sp>
        <p:nvSpPr>
          <p:cNvPr id="6" name="Shape 4"/>
          <p:cNvSpPr/>
          <p:nvPr/>
        </p:nvSpPr>
        <p:spPr>
          <a:xfrm>
            <a:off x="502920" y="822960"/>
            <a:ext cx="1554480" cy="256032"/>
          </a:xfrm>
          <a:prstGeom prst="roundRect">
            <a:avLst>
              <a:gd name="adj" fmla="val 50000"/>
            </a:avLst>
          </a:prstGeom>
          <a:solidFill>
            <a:srgbClr val="1A8C3A"/>
          </a:solidFill>
          <a:ln w="12700">
            <a:solidFill>
              <a:srgbClr val="1A8C3A"/>
            </a:solidFill>
            <a:prstDash val="solid"/>
          </a:ln>
        </p:spPr>
      </p:sp>
      <p:sp>
        <p:nvSpPr>
          <p:cNvPr id="7" name="Text 5"/>
          <p:cNvSpPr/>
          <p:nvPr/>
        </p:nvSpPr>
        <p:spPr>
          <a:xfrm>
            <a:off x="502920" y="82296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 Define</a:t>
            </a:r>
            <a:endParaRPr lang="en-US" sz="900" dirty="0"/>
          </a:p>
        </p:txBody>
      </p:sp>
      <p:sp>
        <p:nvSpPr>
          <p:cNvPr id="8" name="Text 6"/>
          <p:cNvSpPr/>
          <p:nvPr/>
        </p:nvSpPr>
        <p:spPr>
          <a:xfrm>
            <a:off x="548640" y="1170432"/>
            <a:ext cx="5029200" cy="38404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Define the Problem</a:t>
            </a:r>
            <a:endParaRPr lang="en-US" sz="1400" dirty="0"/>
          </a:p>
        </p:txBody>
      </p:sp>
      <p:sp>
        <p:nvSpPr>
          <p:cNvPr id="9" name="Text 7"/>
          <p:cNvSpPr/>
          <p:nvPr/>
        </p:nvSpPr>
        <p:spPr>
          <a:xfrm>
            <a:off x="548640" y="1591056"/>
            <a:ext cx="5029200" cy="188366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Write the problem in ONE sentence:</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'Florida coastal city X needs to increase fresh water supply by 25% within 3 years without exceeding a $30M budget.'</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Then list:</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CRITERIA (2-3 goals)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CONSTRAINTS (2 limits)</a:t>
            </a:r>
            <a:endParaRPr lang="en-US" sz="1150" dirty="0"/>
          </a:p>
        </p:txBody>
      </p:sp>
      <p:sp>
        <p:nvSpPr>
          <p:cNvPr id="10" name="Shape 8"/>
          <p:cNvSpPr/>
          <p:nvPr/>
        </p:nvSpPr>
        <p:spPr>
          <a:xfrm>
            <a:off x="6035040" y="749808"/>
            <a:ext cx="5394960" cy="2852928"/>
          </a:xfrm>
          <a:prstGeom prst="roundRect">
            <a:avLst>
              <a:gd name="adj" fmla="val 2564"/>
            </a:avLst>
          </a:prstGeom>
          <a:solidFill>
            <a:srgbClr val="1E2F45"/>
          </a:solidFill>
          <a:ln w="12700">
            <a:solidFill>
              <a:srgbClr val="FFB703"/>
            </a:solidFill>
            <a:prstDash val="solid"/>
          </a:ln>
        </p:spPr>
      </p:sp>
      <p:sp>
        <p:nvSpPr>
          <p:cNvPr id="11" name="Shape 9"/>
          <p:cNvSpPr/>
          <p:nvPr/>
        </p:nvSpPr>
        <p:spPr>
          <a:xfrm>
            <a:off x="6172200" y="822960"/>
            <a:ext cx="1554480" cy="256032"/>
          </a:xfrm>
          <a:prstGeom prst="roundRect">
            <a:avLst>
              <a:gd name="adj" fmla="val 50000"/>
            </a:avLst>
          </a:prstGeom>
          <a:solidFill>
            <a:srgbClr val="E09200"/>
          </a:solidFill>
          <a:ln w="12700">
            <a:solidFill>
              <a:srgbClr val="E09200"/>
            </a:solidFill>
            <a:prstDash val="solid"/>
          </a:ln>
        </p:spPr>
      </p:sp>
      <p:sp>
        <p:nvSpPr>
          <p:cNvPr id="12" name="Text 10"/>
          <p:cNvSpPr/>
          <p:nvPr/>
        </p:nvSpPr>
        <p:spPr>
          <a:xfrm>
            <a:off x="6172200" y="82296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 Research</a:t>
            </a:r>
            <a:endParaRPr lang="en-US" sz="900" dirty="0"/>
          </a:p>
        </p:txBody>
      </p:sp>
      <p:sp>
        <p:nvSpPr>
          <p:cNvPr id="13" name="Text 11"/>
          <p:cNvSpPr/>
          <p:nvPr/>
        </p:nvSpPr>
        <p:spPr>
          <a:xfrm>
            <a:off x="6217920" y="1170432"/>
            <a:ext cx="5029200" cy="384048"/>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Research Existing Solutions</a:t>
            </a:r>
            <a:endParaRPr lang="en-US" sz="1400" dirty="0"/>
          </a:p>
        </p:txBody>
      </p:sp>
      <p:sp>
        <p:nvSpPr>
          <p:cNvPr id="14" name="Text 12"/>
          <p:cNvSpPr/>
          <p:nvPr/>
        </p:nvSpPr>
        <p:spPr>
          <a:xfrm>
            <a:off x="6217920" y="1591056"/>
            <a:ext cx="5029200" cy="188366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Before inventing something new, find out:</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Has someone already solved this problem?</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What worked? What failed?</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What does the data say about costs?</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Florida example: Tampa Bay's desalination plant — 20+ years to get right, 25 million gallons/day.</a:t>
            </a:r>
            <a:endParaRPr lang="en-US" sz="1150" dirty="0"/>
          </a:p>
        </p:txBody>
      </p:sp>
      <p:sp>
        <p:nvSpPr>
          <p:cNvPr id="15" name="Shape 13"/>
          <p:cNvSpPr/>
          <p:nvPr/>
        </p:nvSpPr>
        <p:spPr>
          <a:xfrm>
            <a:off x="365760" y="3730752"/>
            <a:ext cx="11247120" cy="1865376"/>
          </a:xfrm>
          <a:prstGeom prst="roundRect">
            <a:avLst>
              <a:gd name="adj" fmla="val 3922"/>
            </a:avLst>
          </a:prstGeom>
          <a:solidFill>
            <a:srgbClr val="0A1520"/>
          </a:solidFill>
          <a:ln w="19050">
            <a:solidFill>
              <a:srgbClr val="4CC9F0"/>
            </a:solidFill>
            <a:prstDash val="dash"/>
          </a:ln>
        </p:spPr>
      </p:sp>
      <p:sp>
        <p:nvSpPr>
          <p:cNvPr id="16" name="Text 14"/>
          <p:cNvSpPr/>
          <p:nvPr/>
        </p:nvSpPr>
        <p:spPr>
          <a:xfrm>
            <a:off x="457200" y="3840480"/>
            <a:ext cx="110642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457200" y="4279392"/>
            <a:ext cx="110642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8" name="Text 16"/>
          <p:cNvSpPr/>
          <p:nvPr/>
        </p:nvSpPr>
        <p:spPr>
          <a:xfrm>
            <a:off x="475488" y="4572000"/>
            <a:ext cx="11027664" cy="813816"/>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"Tampa Bay desalination plant Florida fresh water engineering large scale water treatment facility"</a:t>
            </a:r>
            <a:endParaRPr lang="en-US" sz="950" dirty="0"/>
          </a:p>
        </p:txBody>
      </p:sp>
      <p:sp>
        <p:nvSpPr>
          <p:cNvPr id="19" name="Text 17"/>
          <p:cNvSpPr/>
          <p:nvPr/>
        </p:nvSpPr>
        <p:spPr>
          <a:xfrm>
            <a:off x="365760" y="5632704"/>
            <a:ext cx="112471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Tampa Bay desalination plant — one of North America's largest, took 20+ years of engineering</a:t>
            </a:r>
            <a:endParaRPr lang="en-US" sz="9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Engineering Step 3-4: Brainstorm Solutions + Compare</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Now we have the criteria and constraints — let's compare solutions using a decision matrix.</a:t>
            </a:r>
            <a:endParaRPr lang="en-US" sz="1200" dirty="0"/>
          </a:p>
        </p:txBody>
      </p:sp>
      <p:sp>
        <p:nvSpPr>
          <p:cNvPr id="6" name="Shape 4"/>
          <p:cNvSpPr/>
          <p:nvPr/>
        </p:nvSpPr>
        <p:spPr>
          <a:xfrm>
            <a:off x="365760" y="1097280"/>
            <a:ext cx="3200400" cy="475488"/>
          </a:xfrm>
          <a:prstGeom prst="roundRect">
            <a:avLst>
              <a:gd name="adj" fmla="val 15385"/>
            </a:avLst>
          </a:prstGeom>
          <a:solidFill>
            <a:srgbClr val="243A52"/>
          </a:solidFill>
          <a:ln w="12700">
            <a:solidFill>
              <a:srgbClr val="8899AA"/>
            </a:solidFill>
            <a:prstDash val="solid"/>
          </a:ln>
        </p:spPr>
      </p:sp>
      <p:sp>
        <p:nvSpPr>
          <p:cNvPr id="7" name="Text 5"/>
          <p:cNvSpPr/>
          <p:nvPr/>
        </p:nvSpPr>
        <p:spPr>
          <a:xfrm>
            <a:off x="548640" y="1170432"/>
            <a:ext cx="2834640" cy="329184"/>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CRITERION</a:t>
            </a:r>
            <a:endParaRPr lang="en-US" sz="1100" dirty="0"/>
          </a:p>
        </p:txBody>
      </p:sp>
      <p:sp>
        <p:nvSpPr>
          <p:cNvPr id="8" name="Shape 6"/>
          <p:cNvSpPr/>
          <p:nvPr/>
        </p:nvSpPr>
        <p:spPr>
          <a:xfrm>
            <a:off x="3749040" y="1097280"/>
            <a:ext cx="2468880" cy="475488"/>
          </a:xfrm>
          <a:prstGeom prst="roundRect">
            <a:avLst>
              <a:gd name="adj" fmla="val 15385"/>
            </a:avLst>
          </a:prstGeom>
          <a:solidFill>
            <a:srgbClr val="0A3D8F"/>
          </a:solidFill>
          <a:ln w="12700">
            <a:solidFill>
              <a:srgbClr val="1A5FBD"/>
            </a:solidFill>
            <a:prstDash val="solid"/>
          </a:ln>
        </p:spPr>
      </p:sp>
      <p:sp>
        <p:nvSpPr>
          <p:cNvPr id="9" name="Text 7"/>
          <p:cNvSpPr/>
          <p:nvPr/>
        </p:nvSpPr>
        <p:spPr>
          <a:xfrm>
            <a:off x="3840480" y="1170432"/>
            <a:ext cx="2286000"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Solution A: Deeper Wells</a:t>
            </a:r>
            <a:endParaRPr lang="en-US" sz="950" dirty="0"/>
          </a:p>
        </p:txBody>
      </p:sp>
      <p:sp>
        <p:nvSpPr>
          <p:cNvPr id="10" name="Shape 8"/>
          <p:cNvSpPr/>
          <p:nvPr/>
        </p:nvSpPr>
        <p:spPr>
          <a:xfrm>
            <a:off x="6400800" y="1097280"/>
            <a:ext cx="2468880" cy="475488"/>
          </a:xfrm>
          <a:prstGeom prst="roundRect">
            <a:avLst>
              <a:gd name="adj" fmla="val 15385"/>
            </a:avLst>
          </a:prstGeom>
          <a:solidFill>
            <a:srgbClr val="0A3D8F"/>
          </a:solidFill>
          <a:ln w="12700">
            <a:solidFill>
              <a:srgbClr val="1A5FBD"/>
            </a:solidFill>
            <a:prstDash val="solid"/>
          </a:ln>
        </p:spPr>
      </p:sp>
      <p:sp>
        <p:nvSpPr>
          <p:cNvPr id="11" name="Text 9"/>
          <p:cNvSpPr/>
          <p:nvPr/>
        </p:nvSpPr>
        <p:spPr>
          <a:xfrm>
            <a:off x="6492240" y="1170432"/>
            <a:ext cx="2286000"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Solution B: Desalination</a:t>
            </a:r>
            <a:endParaRPr lang="en-US" sz="950" dirty="0"/>
          </a:p>
        </p:txBody>
      </p:sp>
      <p:sp>
        <p:nvSpPr>
          <p:cNvPr id="12" name="Shape 10"/>
          <p:cNvSpPr/>
          <p:nvPr/>
        </p:nvSpPr>
        <p:spPr>
          <a:xfrm>
            <a:off x="9052560" y="1097280"/>
            <a:ext cx="2468880" cy="475488"/>
          </a:xfrm>
          <a:prstGeom prst="roundRect">
            <a:avLst>
              <a:gd name="adj" fmla="val 15385"/>
            </a:avLst>
          </a:prstGeom>
          <a:solidFill>
            <a:srgbClr val="0A3D8F"/>
          </a:solidFill>
          <a:ln w="12700">
            <a:solidFill>
              <a:srgbClr val="1A5FBD"/>
            </a:solidFill>
            <a:prstDash val="solid"/>
          </a:ln>
        </p:spPr>
      </p:sp>
      <p:sp>
        <p:nvSpPr>
          <p:cNvPr id="13" name="Text 11"/>
          <p:cNvSpPr/>
          <p:nvPr/>
        </p:nvSpPr>
        <p:spPr>
          <a:xfrm>
            <a:off x="9144000" y="1170432"/>
            <a:ext cx="2286000"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Solution C: Water Rules</a:t>
            </a:r>
            <a:endParaRPr lang="en-US" sz="950" dirty="0"/>
          </a:p>
        </p:txBody>
      </p:sp>
      <p:sp>
        <p:nvSpPr>
          <p:cNvPr id="14" name="Shape 12"/>
          <p:cNvSpPr/>
          <p:nvPr/>
        </p:nvSpPr>
        <p:spPr>
          <a:xfrm>
            <a:off x="365760" y="1682496"/>
            <a:ext cx="3200400" cy="713232"/>
          </a:xfrm>
          <a:prstGeom prst="roundRect">
            <a:avLst>
              <a:gd name="adj" fmla="val 10256"/>
            </a:avLst>
          </a:prstGeom>
          <a:solidFill>
            <a:srgbClr val="1E2F45"/>
          </a:solidFill>
          <a:ln w="12700">
            <a:solidFill>
              <a:srgbClr val="2DC653"/>
            </a:solidFill>
            <a:prstDash val="solid"/>
          </a:ln>
        </p:spPr>
      </p:sp>
      <p:sp>
        <p:nvSpPr>
          <p:cNvPr id="15" name="Text 13"/>
          <p:cNvSpPr/>
          <p:nvPr/>
        </p:nvSpPr>
        <p:spPr>
          <a:xfrm>
            <a:off x="548640" y="1755648"/>
            <a:ext cx="2834640" cy="566928"/>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Enough water?</a:t>
            </a:r>
            <a:endParaRPr lang="en-US" sz="1200" dirty="0"/>
          </a:p>
        </p:txBody>
      </p:sp>
      <p:sp>
        <p:nvSpPr>
          <p:cNvPr id="16" name="Shape 14"/>
          <p:cNvSpPr/>
          <p:nvPr/>
        </p:nvSpPr>
        <p:spPr>
          <a:xfrm>
            <a:off x="3749040" y="1682496"/>
            <a:ext cx="2468880" cy="713232"/>
          </a:xfrm>
          <a:prstGeom prst="roundRect">
            <a:avLst>
              <a:gd name="adj" fmla="val 10256"/>
            </a:avLst>
          </a:prstGeom>
          <a:solidFill>
            <a:srgbClr val="1A3A1A"/>
          </a:solidFill>
          <a:ln w="12700">
            <a:solidFill>
              <a:srgbClr val="2DC653"/>
            </a:solidFill>
            <a:prstDash val="solid"/>
          </a:ln>
        </p:spPr>
      </p:sp>
      <p:sp>
        <p:nvSpPr>
          <p:cNvPr id="17" name="Text 15"/>
          <p:cNvSpPr/>
          <p:nvPr/>
        </p:nvSpPr>
        <p:spPr>
          <a:xfrm>
            <a:off x="3840480" y="1828800"/>
            <a:ext cx="2286000" cy="420624"/>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6400800" y="1682496"/>
            <a:ext cx="2468880" cy="713232"/>
          </a:xfrm>
          <a:prstGeom prst="roundRect">
            <a:avLst>
              <a:gd name="adj" fmla="val 10256"/>
            </a:avLst>
          </a:prstGeom>
          <a:solidFill>
            <a:srgbClr val="1A3A1A"/>
          </a:solidFill>
          <a:ln w="12700">
            <a:solidFill>
              <a:srgbClr val="2DC653"/>
            </a:solidFill>
            <a:prstDash val="solid"/>
          </a:ln>
        </p:spPr>
      </p:sp>
      <p:sp>
        <p:nvSpPr>
          <p:cNvPr id="19" name="Text 17"/>
          <p:cNvSpPr/>
          <p:nvPr/>
        </p:nvSpPr>
        <p:spPr>
          <a:xfrm>
            <a:off x="6492240" y="1828800"/>
            <a:ext cx="2286000" cy="420624"/>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9052560" y="1682496"/>
            <a:ext cx="2468880" cy="713232"/>
          </a:xfrm>
          <a:prstGeom prst="roundRect">
            <a:avLst>
              <a:gd name="adj" fmla="val 10256"/>
            </a:avLst>
          </a:prstGeom>
          <a:solidFill>
            <a:srgbClr val="2A2A0A"/>
          </a:solidFill>
          <a:ln w="12700">
            <a:solidFill>
              <a:srgbClr val="FFB703"/>
            </a:solidFill>
            <a:prstDash val="solid"/>
          </a:ln>
        </p:spPr>
      </p:sp>
      <p:sp>
        <p:nvSpPr>
          <p:cNvPr id="21" name="Text 19"/>
          <p:cNvSpPr/>
          <p:nvPr/>
        </p:nvSpPr>
        <p:spPr>
          <a:xfrm>
            <a:off x="9144000" y="1828800"/>
            <a:ext cx="2286000" cy="420624"/>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365760" y="2487168"/>
            <a:ext cx="3200400" cy="713232"/>
          </a:xfrm>
          <a:prstGeom prst="roundRect">
            <a:avLst>
              <a:gd name="adj" fmla="val 10256"/>
            </a:avLst>
          </a:prstGeom>
          <a:solidFill>
            <a:srgbClr val="1E2F45"/>
          </a:solidFill>
          <a:ln w="12700">
            <a:solidFill>
              <a:srgbClr val="4CC9F0"/>
            </a:solidFill>
            <a:prstDash val="solid"/>
          </a:ln>
        </p:spPr>
      </p:sp>
      <p:sp>
        <p:nvSpPr>
          <p:cNvPr id="23" name="Text 21"/>
          <p:cNvSpPr/>
          <p:nvPr/>
        </p:nvSpPr>
        <p:spPr>
          <a:xfrm>
            <a:off x="548640" y="2560320"/>
            <a:ext cx="2834640" cy="56692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Low env. cost?</a:t>
            </a:r>
            <a:endParaRPr lang="en-US" sz="1200" dirty="0"/>
          </a:p>
        </p:txBody>
      </p:sp>
      <p:sp>
        <p:nvSpPr>
          <p:cNvPr id="24" name="Shape 22"/>
          <p:cNvSpPr/>
          <p:nvPr/>
        </p:nvSpPr>
        <p:spPr>
          <a:xfrm>
            <a:off x="3749040" y="2487168"/>
            <a:ext cx="2468880" cy="713232"/>
          </a:xfrm>
          <a:prstGeom prst="roundRect">
            <a:avLst>
              <a:gd name="adj" fmla="val 10256"/>
            </a:avLst>
          </a:prstGeom>
          <a:solidFill>
            <a:srgbClr val="3A1A1A"/>
          </a:solidFill>
          <a:ln w="12700">
            <a:solidFill>
              <a:srgbClr val="F4736A"/>
            </a:solidFill>
            <a:prstDash val="solid"/>
          </a:ln>
        </p:spPr>
      </p:sp>
      <p:sp>
        <p:nvSpPr>
          <p:cNvPr id="25" name="Text 23"/>
          <p:cNvSpPr/>
          <p:nvPr/>
        </p:nvSpPr>
        <p:spPr>
          <a:xfrm>
            <a:off x="3840480" y="2633472"/>
            <a:ext cx="2286000" cy="420624"/>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6400800" y="2487168"/>
            <a:ext cx="2468880" cy="713232"/>
          </a:xfrm>
          <a:prstGeom prst="roundRect">
            <a:avLst>
              <a:gd name="adj" fmla="val 10256"/>
            </a:avLst>
          </a:prstGeom>
          <a:solidFill>
            <a:srgbClr val="2A2A0A"/>
          </a:solidFill>
          <a:ln w="12700">
            <a:solidFill>
              <a:srgbClr val="FFB703"/>
            </a:solidFill>
            <a:prstDash val="solid"/>
          </a:ln>
        </p:spPr>
      </p:sp>
      <p:sp>
        <p:nvSpPr>
          <p:cNvPr id="27" name="Text 25"/>
          <p:cNvSpPr/>
          <p:nvPr/>
        </p:nvSpPr>
        <p:spPr>
          <a:xfrm>
            <a:off x="6492240" y="2633472"/>
            <a:ext cx="2286000" cy="420624"/>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9052560" y="2487168"/>
            <a:ext cx="2468880" cy="713232"/>
          </a:xfrm>
          <a:prstGeom prst="roundRect">
            <a:avLst>
              <a:gd name="adj" fmla="val 10256"/>
            </a:avLst>
          </a:prstGeom>
          <a:solidFill>
            <a:srgbClr val="1A3A1A"/>
          </a:solidFill>
          <a:ln w="12700">
            <a:solidFill>
              <a:srgbClr val="2DC653"/>
            </a:solidFill>
            <a:prstDash val="solid"/>
          </a:ln>
        </p:spPr>
      </p:sp>
      <p:sp>
        <p:nvSpPr>
          <p:cNvPr id="29" name="Text 27"/>
          <p:cNvSpPr/>
          <p:nvPr/>
        </p:nvSpPr>
        <p:spPr>
          <a:xfrm>
            <a:off x="9144000" y="2633472"/>
            <a:ext cx="2286000" cy="420624"/>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365760" y="3291840"/>
            <a:ext cx="3200400" cy="713232"/>
          </a:xfrm>
          <a:prstGeom prst="roundRect">
            <a:avLst>
              <a:gd name="adj" fmla="val 10256"/>
            </a:avLst>
          </a:prstGeom>
          <a:solidFill>
            <a:srgbClr val="1E2F45"/>
          </a:solidFill>
          <a:ln w="12700">
            <a:solidFill>
              <a:srgbClr val="FFB703"/>
            </a:solidFill>
            <a:prstDash val="solid"/>
          </a:ln>
        </p:spPr>
      </p:sp>
      <p:sp>
        <p:nvSpPr>
          <p:cNvPr id="31" name="Text 29"/>
          <p:cNvSpPr/>
          <p:nvPr/>
        </p:nvSpPr>
        <p:spPr>
          <a:xfrm>
            <a:off x="548640" y="3364992"/>
            <a:ext cx="2834640" cy="566928"/>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Low money cost?</a:t>
            </a:r>
            <a:endParaRPr lang="en-US" sz="1200" dirty="0"/>
          </a:p>
        </p:txBody>
      </p:sp>
      <p:sp>
        <p:nvSpPr>
          <p:cNvPr id="32" name="Shape 30"/>
          <p:cNvSpPr/>
          <p:nvPr/>
        </p:nvSpPr>
        <p:spPr>
          <a:xfrm>
            <a:off x="3749040" y="3291840"/>
            <a:ext cx="2468880" cy="713232"/>
          </a:xfrm>
          <a:prstGeom prst="roundRect">
            <a:avLst>
              <a:gd name="adj" fmla="val 10256"/>
            </a:avLst>
          </a:prstGeom>
          <a:solidFill>
            <a:srgbClr val="2A2A0A"/>
          </a:solidFill>
          <a:ln w="12700">
            <a:solidFill>
              <a:srgbClr val="FFB703"/>
            </a:solidFill>
            <a:prstDash val="solid"/>
          </a:ln>
        </p:spPr>
      </p:sp>
      <p:sp>
        <p:nvSpPr>
          <p:cNvPr id="33" name="Text 31"/>
          <p:cNvSpPr/>
          <p:nvPr/>
        </p:nvSpPr>
        <p:spPr>
          <a:xfrm>
            <a:off x="3840480" y="3438144"/>
            <a:ext cx="2286000" cy="420624"/>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34" name="Shape 32"/>
          <p:cNvSpPr/>
          <p:nvPr/>
        </p:nvSpPr>
        <p:spPr>
          <a:xfrm>
            <a:off x="6400800" y="3291840"/>
            <a:ext cx="2468880" cy="713232"/>
          </a:xfrm>
          <a:prstGeom prst="roundRect">
            <a:avLst>
              <a:gd name="adj" fmla="val 10256"/>
            </a:avLst>
          </a:prstGeom>
          <a:solidFill>
            <a:srgbClr val="3A1A1A"/>
          </a:solidFill>
          <a:ln w="12700">
            <a:solidFill>
              <a:srgbClr val="F4736A"/>
            </a:solidFill>
            <a:prstDash val="solid"/>
          </a:ln>
        </p:spPr>
      </p:sp>
      <p:sp>
        <p:nvSpPr>
          <p:cNvPr id="35" name="Text 33"/>
          <p:cNvSpPr/>
          <p:nvPr/>
        </p:nvSpPr>
        <p:spPr>
          <a:xfrm>
            <a:off x="6492240" y="3438144"/>
            <a:ext cx="2286000" cy="420624"/>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9052560" y="3291840"/>
            <a:ext cx="2468880" cy="713232"/>
          </a:xfrm>
          <a:prstGeom prst="roundRect">
            <a:avLst>
              <a:gd name="adj" fmla="val 10256"/>
            </a:avLst>
          </a:prstGeom>
          <a:solidFill>
            <a:srgbClr val="1A3A1A"/>
          </a:solidFill>
          <a:ln w="12700">
            <a:solidFill>
              <a:srgbClr val="2DC653"/>
            </a:solidFill>
            <a:prstDash val="solid"/>
          </a:ln>
        </p:spPr>
      </p:sp>
      <p:sp>
        <p:nvSpPr>
          <p:cNvPr id="37" name="Text 35"/>
          <p:cNvSpPr/>
          <p:nvPr/>
        </p:nvSpPr>
        <p:spPr>
          <a:xfrm>
            <a:off x="9144000" y="3438144"/>
            <a:ext cx="2286000" cy="420624"/>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38" name="Shape 36"/>
          <p:cNvSpPr/>
          <p:nvPr/>
        </p:nvSpPr>
        <p:spPr>
          <a:xfrm>
            <a:off x="365760" y="4096512"/>
            <a:ext cx="3200400" cy="566928"/>
          </a:xfrm>
          <a:prstGeom prst="roundRect">
            <a:avLst>
              <a:gd name="adj" fmla="val 12903"/>
            </a:avLst>
          </a:prstGeom>
          <a:solidFill>
            <a:srgbClr val="243A52"/>
          </a:solidFill>
          <a:ln w="12700">
            <a:solidFill>
              <a:srgbClr val="4CC9F0"/>
            </a:solidFill>
            <a:prstDash val="solid"/>
          </a:ln>
        </p:spPr>
      </p:sp>
      <p:sp>
        <p:nvSpPr>
          <p:cNvPr id="39" name="Text 37"/>
          <p:cNvSpPr/>
          <p:nvPr/>
        </p:nvSpPr>
        <p:spPr>
          <a:xfrm>
            <a:off x="548640" y="4187952"/>
            <a:ext cx="283464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TOTAL</a:t>
            </a:r>
            <a:endParaRPr lang="en-US" sz="1200" dirty="0"/>
          </a:p>
        </p:txBody>
      </p:sp>
      <p:sp>
        <p:nvSpPr>
          <p:cNvPr id="40" name="Shape 38"/>
          <p:cNvSpPr/>
          <p:nvPr/>
        </p:nvSpPr>
        <p:spPr>
          <a:xfrm>
            <a:off x="3749040" y="4096512"/>
            <a:ext cx="2468880" cy="566928"/>
          </a:xfrm>
          <a:prstGeom prst="roundRect">
            <a:avLst>
              <a:gd name="adj" fmla="val 12903"/>
            </a:avLst>
          </a:prstGeom>
          <a:solidFill>
            <a:srgbClr val="1E2F45"/>
          </a:solidFill>
          <a:ln w="12700">
            <a:solidFill>
              <a:srgbClr val="8899AA"/>
            </a:solidFill>
            <a:prstDash val="solid"/>
          </a:ln>
        </p:spPr>
      </p:sp>
      <p:sp>
        <p:nvSpPr>
          <p:cNvPr id="41" name="Text 39"/>
          <p:cNvSpPr/>
          <p:nvPr/>
        </p:nvSpPr>
        <p:spPr>
          <a:xfrm>
            <a:off x="3840480" y="4187952"/>
            <a:ext cx="2286000" cy="384048"/>
          </a:xfrm>
          <a:prstGeom prst="rect">
            <a:avLst/>
          </a:prstGeom>
          <a:noFill/>
          <a:ln/>
        </p:spPr>
        <p:txBody>
          <a:bodyPr wrap="square" rtlCol="0" anchor="ctr"/>
          <a:lstStyle/>
          <a:p>
            <a:pPr algn="ctr" indent="0" marL="0">
              <a:buNone/>
            </a:pPr>
            <a:r>
              <a:rPr lang="en-US" sz="1200" dirty="0">
                <a:solidFill>
                  <a:srgbClr val="B0C4D8"/>
                </a:solidFill>
                <a:latin typeface="Calibri" pitchFamily="34" charset="0"/>
                <a:ea typeface="Calibri" pitchFamily="34" charset="-122"/>
                <a:cs typeface="Calibri" pitchFamily="34" charset="-120"/>
              </a:rPr>
              <a:t>6 </a:t>
            </a:r>
            <a:endParaRPr lang="en-US" sz="1200" dirty="0"/>
          </a:p>
        </p:txBody>
      </p:sp>
      <p:sp>
        <p:nvSpPr>
          <p:cNvPr id="42" name="Shape 40"/>
          <p:cNvSpPr/>
          <p:nvPr/>
        </p:nvSpPr>
        <p:spPr>
          <a:xfrm>
            <a:off x="6400800" y="4096512"/>
            <a:ext cx="2468880" cy="566928"/>
          </a:xfrm>
          <a:prstGeom prst="roundRect">
            <a:avLst>
              <a:gd name="adj" fmla="val 12903"/>
            </a:avLst>
          </a:prstGeom>
          <a:solidFill>
            <a:srgbClr val="1E2F45"/>
          </a:solidFill>
          <a:ln w="12700">
            <a:solidFill>
              <a:srgbClr val="8899AA"/>
            </a:solidFill>
            <a:prstDash val="solid"/>
          </a:ln>
        </p:spPr>
      </p:sp>
      <p:sp>
        <p:nvSpPr>
          <p:cNvPr id="43" name="Text 41"/>
          <p:cNvSpPr/>
          <p:nvPr/>
        </p:nvSpPr>
        <p:spPr>
          <a:xfrm>
            <a:off x="6492240" y="4187952"/>
            <a:ext cx="2286000" cy="384048"/>
          </a:xfrm>
          <a:prstGeom prst="rect">
            <a:avLst/>
          </a:prstGeom>
          <a:noFill/>
          <a:ln/>
        </p:spPr>
        <p:txBody>
          <a:bodyPr wrap="square" rtlCol="0" anchor="ctr"/>
          <a:lstStyle/>
          <a:p>
            <a:pPr algn="ctr" indent="0" marL="0">
              <a:buNone/>
            </a:pPr>
            <a:r>
              <a:rPr lang="en-US" sz="1200" dirty="0">
                <a:solidFill>
                  <a:srgbClr val="B0C4D8"/>
                </a:solidFill>
                <a:latin typeface="Calibri" pitchFamily="34" charset="0"/>
                <a:ea typeface="Calibri" pitchFamily="34" charset="-122"/>
                <a:cs typeface="Calibri" pitchFamily="34" charset="-120"/>
              </a:rPr>
              <a:t>6 </a:t>
            </a:r>
            <a:endParaRPr lang="en-US" sz="1200" dirty="0"/>
          </a:p>
        </p:txBody>
      </p:sp>
      <p:sp>
        <p:nvSpPr>
          <p:cNvPr id="44" name="Shape 42"/>
          <p:cNvSpPr/>
          <p:nvPr/>
        </p:nvSpPr>
        <p:spPr>
          <a:xfrm>
            <a:off x="9052560" y="4096512"/>
            <a:ext cx="2468880" cy="566928"/>
          </a:xfrm>
          <a:prstGeom prst="roundRect">
            <a:avLst>
              <a:gd name="adj" fmla="val 12903"/>
            </a:avLst>
          </a:prstGeom>
          <a:solidFill>
            <a:srgbClr val="1A3A1A"/>
          </a:solidFill>
          <a:ln w="12700">
            <a:solidFill>
              <a:srgbClr val="2DC653"/>
            </a:solidFill>
            <a:prstDash val="solid"/>
          </a:ln>
        </p:spPr>
      </p:sp>
      <p:sp>
        <p:nvSpPr>
          <p:cNvPr id="45" name="Text 43"/>
          <p:cNvSpPr/>
          <p:nvPr/>
        </p:nvSpPr>
        <p:spPr>
          <a:xfrm>
            <a:off x="9144000" y="4187952"/>
            <a:ext cx="2286000" cy="384048"/>
          </a:xfrm>
          <a:prstGeom prst="rect">
            <a:avLst/>
          </a:prstGeom>
          <a:noFill/>
          <a:ln/>
        </p:spPr>
        <p:txBody>
          <a:bodyPr wrap="square" rtlCol="0" anchor="ctr"/>
          <a:lstStyle/>
          <a:p>
            <a:pPr algn="ctr" indent="0" marL="0">
              <a:buNone/>
            </a:pPr>
            <a:r>
              <a:rPr lang="en-US" sz="1200" b="1" dirty="0">
                <a:solidFill>
                  <a:srgbClr val="2DC653"/>
                </a:solidFill>
                <a:latin typeface="Calibri" pitchFamily="34" charset="0"/>
                <a:ea typeface="Calibri" pitchFamily="34" charset="-122"/>
                <a:cs typeface="Calibri" pitchFamily="34" charset="-120"/>
              </a:rPr>
              <a:t>8 🏆 WINNER</a:t>
            </a:r>
            <a:endParaRPr lang="en-US" sz="1200" dirty="0"/>
          </a:p>
        </p:txBody>
      </p:sp>
      <p:sp>
        <p:nvSpPr>
          <p:cNvPr id="46" name="Shape 44"/>
          <p:cNvSpPr/>
          <p:nvPr/>
        </p:nvSpPr>
        <p:spPr>
          <a:xfrm>
            <a:off x="365760" y="4791456"/>
            <a:ext cx="11247120" cy="658368"/>
          </a:xfrm>
          <a:prstGeom prst="roundRect">
            <a:avLst>
              <a:gd name="adj" fmla="val 11111"/>
            </a:avLst>
          </a:prstGeom>
          <a:solidFill>
            <a:srgbClr val="0A1A0A"/>
          </a:solidFill>
          <a:ln w="12700">
            <a:solidFill>
              <a:srgbClr val="FFB703"/>
            </a:solidFill>
            <a:prstDash val="solid"/>
          </a:ln>
        </p:spPr>
      </p:sp>
      <p:sp>
        <p:nvSpPr>
          <p:cNvPr id="47" name="Text 45"/>
          <p:cNvSpPr/>
          <p:nvPr/>
        </p:nvSpPr>
        <p:spPr>
          <a:xfrm>
            <a:off x="548640" y="4864608"/>
            <a:ext cx="10972800" cy="512064"/>
          </a:xfrm>
          <a:prstGeom prst="rect">
            <a:avLst/>
          </a:prstGeom>
          <a:noFill/>
          <a:ln/>
        </p:spPr>
        <p:txBody>
          <a:bodyPr wrap="square" rtlCol="0" anchor="ctr"/>
          <a:lstStyle/>
          <a:p>
            <a:pPr indent="0" marL="0">
              <a:buNone/>
            </a:pPr>
            <a:r>
              <a:rPr lang="en-US" sz="1150" dirty="0">
                <a:solidFill>
                  <a:srgbClr val="FFB703"/>
                </a:solidFill>
                <a:latin typeface="Calibri" pitchFamily="34" charset="0"/>
                <a:ea typeface="Calibri" pitchFamily="34" charset="-122"/>
                <a:cs typeface="Calibri" pitchFamily="34" charset="-120"/>
              </a:rPr>
              <a:t>But Solution C scored LOW on 'enough water' — so we need to REVISE it. Combining with recycled-water systems could fix that gap!</a:t>
            </a:r>
            <a:endParaRPr lang="en-US" sz="1150" dirty="0"/>
          </a:p>
        </p:txBody>
      </p:sp>
      <p:sp>
        <p:nvSpPr>
          <p:cNvPr id="48" name="Shape 46"/>
          <p:cNvSpPr/>
          <p:nvPr/>
        </p:nvSpPr>
        <p:spPr>
          <a:xfrm>
            <a:off x="0" y="6629400"/>
            <a:ext cx="12192000" cy="228600"/>
          </a:xfrm>
          <a:prstGeom prst="rect">
            <a:avLst/>
          </a:prstGeom>
          <a:solidFill>
            <a:srgbClr val="162233"/>
          </a:solidFill>
          <a:ln/>
        </p:spPr>
      </p:sp>
      <p:sp>
        <p:nvSpPr>
          <p:cNvPr id="49" name="Text 4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Engineering Step 5-6: Choose the Winner + REVISE</a:t>
            </a:r>
            <a:endParaRPr lang="en-US" sz="1600" dirty="0"/>
          </a:p>
        </p:txBody>
      </p:sp>
      <p:sp>
        <p:nvSpPr>
          <p:cNvPr id="5" name="Shape 3"/>
          <p:cNvSpPr/>
          <p:nvPr/>
        </p:nvSpPr>
        <p:spPr>
          <a:xfrm>
            <a:off x="365760" y="749808"/>
            <a:ext cx="11247120" cy="621792"/>
          </a:xfrm>
          <a:prstGeom prst="roundRect">
            <a:avLst>
              <a:gd name="adj" fmla="val 11765"/>
            </a:avLst>
          </a:prstGeom>
          <a:solidFill>
            <a:srgbClr val="1E2F45"/>
          </a:solidFill>
          <a:ln w="12700">
            <a:solidFill>
              <a:srgbClr val="2DC653"/>
            </a:solidFill>
            <a:prstDash val="solid"/>
          </a:ln>
        </p:spPr>
      </p:sp>
      <p:sp>
        <p:nvSpPr>
          <p:cNvPr id="6" name="Text 4"/>
          <p:cNvSpPr/>
          <p:nvPr/>
        </p:nvSpPr>
        <p:spPr>
          <a:xfrm>
            <a:off x="548640" y="822960"/>
            <a:ext cx="10972800" cy="475488"/>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Winner: Solution C (Water-Use Rules) — best balance of environmental cost + money cost</a:t>
            </a:r>
            <a:endParaRPr lang="en-US" sz="1300" dirty="0"/>
          </a:p>
        </p:txBody>
      </p:sp>
      <p:sp>
        <p:nvSpPr>
          <p:cNvPr id="7" name="Shape 5"/>
          <p:cNvSpPr/>
          <p:nvPr/>
        </p:nvSpPr>
        <p:spPr>
          <a:xfrm>
            <a:off x="365760" y="1499616"/>
            <a:ext cx="5394960" cy="2633472"/>
          </a:xfrm>
          <a:prstGeom prst="roundRect">
            <a:avLst>
              <a:gd name="adj" fmla="val 2778"/>
            </a:avLst>
          </a:prstGeom>
          <a:solidFill>
            <a:srgbClr val="1E2F45"/>
          </a:solidFill>
          <a:ln w="12700">
            <a:solidFill>
              <a:srgbClr val="2DC653"/>
            </a:solidFill>
            <a:prstDash val="solid"/>
          </a:ln>
        </p:spPr>
      </p:sp>
      <p:sp>
        <p:nvSpPr>
          <p:cNvPr id="8" name="Text 6"/>
          <p:cNvSpPr/>
          <p:nvPr/>
        </p:nvSpPr>
        <p:spPr>
          <a:xfrm>
            <a:off x="548640" y="1572768"/>
            <a:ext cx="502920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What the Winner Does Well</a:t>
            </a:r>
            <a:endParaRPr lang="en-US" sz="1300" dirty="0"/>
          </a:p>
        </p:txBody>
      </p:sp>
      <p:sp>
        <p:nvSpPr>
          <p:cNvPr id="9" name="Text 7"/>
          <p:cNvSpPr/>
          <p:nvPr/>
        </p:nvSpPr>
        <p:spPr>
          <a:xfrm>
            <a:off x="548640" y="1956816"/>
            <a:ext cx="5029200" cy="202996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Very low environmental cost (no new drilling, no new plant)</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Very low money cost (rules are cheap to implement)</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Can be done quickly</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Gets community involved in the solution</a:t>
            </a:r>
            <a:endParaRPr lang="en-US" sz="1200" dirty="0"/>
          </a:p>
        </p:txBody>
      </p:sp>
      <p:sp>
        <p:nvSpPr>
          <p:cNvPr id="10" name="Shape 8"/>
          <p:cNvSpPr/>
          <p:nvPr/>
        </p:nvSpPr>
        <p:spPr>
          <a:xfrm>
            <a:off x="6035040" y="1499616"/>
            <a:ext cx="5394960" cy="2633472"/>
          </a:xfrm>
          <a:prstGeom prst="roundRect">
            <a:avLst>
              <a:gd name="adj" fmla="val 2778"/>
            </a:avLst>
          </a:prstGeom>
          <a:solidFill>
            <a:srgbClr val="1E2F45"/>
          </a:solidFill>
          <a:ln w="12700">
            <a:solidFill>
              <a:srgbClr val="F4736A"/>
            </a:solidFill>
            <a:prstDash val="solid"/>
          </a:ln>
        </p:spPr>
      </p:sp>
      <p:sp>
        <p:nvSpPr>
          <p:cNvPr id="11" name="Text 9"/>
          <p:cNvSpPr/>
          <p:nvPr/>
        </p:nvSpPr>
        <p:spPr>
          <a:xfrm>
            <a:off x="6217920" y="1572768"/>
            <a:ext cx="5029200" cy="34747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The Gap — What Needs Revision</a:t>
            </a:r>
            <a:endParaRPr lang="en-US" sz="1300" dirty="0"/>
          </a:p>
        </p:txBody>
      </p:sp>
      <p:sp>
        <p:nvSpPr>
          <p:cNvPr id="12" name="Text 10"/>
          <p:cNvSpPr/>
          <p:nvPr/>
        </p:nvSpPr>
        <p:spPr>
          <a:xfrm>
            <a:off x="6217920" y="1956816"/>
            <a:ext cx="5029200" cy="2029968"/>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Scored only 2 stars on 'enough water'</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Conservation alone might not produce 25% MORE water — it just uses less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City might still fall short if population grows</a:t>
            </a:r>
            <a:endParaRPr lang="en-US" sz="1200" dirty="0"/>
          </a:p>
        </p:txBody>
      </p:sp>
      <p:sp>
        <p:nvSpPr>
          <p:cNvPr id="13" name="Shape 11"/>
          <p:cNvSpPr/>
          <p:nvPr/>
        </p:nvSpPr>
        <p:spPr>
          <a:xfrm>
            <a:off x="365760" y="4261104"/>
            <a:ext cx="11247120" cy="1536192"/>
          </a:xfrm>
          <a:prstGeom prst="roundRect">
            <a:avLst>
              <a:gd name="adj" fmla="val 4762"/>
            </a:avLst>
          </a:prstGeom>
          <a:solidFill>
            <a:srgbClr val="0A1A1A"/>
          </a:solidFill>
          <a:ln w="12700">
            <a:solidFill>
              <a:srgbClr val="4CC9F0"/>
            </a:solidFill>
            <a:prstDash val="solid"/>
          </a:ln>
        </p:spPr>
      </p:sp>
      <p:sp>
        <p:nvSpPr>
          <p:cNvPr id="14" name="Text 12"/>
          <p:cNvSpPr/>
          <p:nvPr/>
        </p:nvSpPr>
        <p:spPr>
          <a:xfrm>
            <a:off x="548640" y="4334256"/>
            <a:ext cx="10972800" cy="384048"/>
          </a:xfrm>
          <a:prstGeom prst="rect">
            <a:avLst/>
          </a:prstGeom>
          <a:noFill/>
          <a:ln/>
        </p:spPr>
        <p:txBody>
          <a:bodyPr wrap="square" rtlCol="0" anchor="ctr"/>
          <a:lstStyle/>
          <a:p>
            <a:pPr indent="0" marL="0">
              <a:buNone/>
            </a:pPr>
            <a:r>
              <a:rPr lang="en-US" sz="1400" b="1" dirty="0">
                <a:solidFill>
                  <a:srgbClr val="4CC9F0"/>
                </a:solidFill>
                <a:latin typeface="Calibri" pitchFamily="34" charset="0"/>
                <a:ea typeface="Calibri" pitchFamily="34" charset="-122"/>
                <a:cs typeface="Calibri" pitchFamily="34" charset="-120"/>
              </a:rPr>
              <a:t>🔁 The REVISION: Combine Solution C + Recycled Water Systems</a:t>
            </a:r>
            <a:endParaRPr lang="en-US" sz="1400" dirty="0"/>
          </a:p>
        </p:txBody>
      </p:sp>
      <p:sp>
        <p:nvSpPr>
          <p:cNvPr id="15" name="Text 13"/>
          <p:cNvSpPr/>
          <p:nvPr/>
        </p:nvSpPr>
        <p:spPr>
          <a:xfrm>
            <a:off x="548640" y="4754880"/>
            <a:ext cx="10972800" cy="9144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Add: Wastewater recycling — treat used water and reuse it for irrigation and industry. This doesn't require new groundwater or expensive seawater processing. Combined with conservation rules, it now meets the 'enough water' criterion.</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Result: A STRONGER design that covers all three criteria.</a:t>
            </a:r>
            <a:endParaRPr lang="en-US" sz="11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Four Florida Engineering Challenges</a:t>
            </a:r>
            <a:endParaRPr lang="en-US" sz="1600" dirty="0"/>
          </a:p>
        </p:txBody>
      </p:sp>
      <p:sp>
        <p:nvSpPr>
          <p:cNvPr id="5" name="Shape 3"/>
          <p:cNvSpPr/>
          <p:nvPr/>
        </p:nvSpPr>
        <p:spPr>
          <a:xfrm>
            <a:off x="365760" y="749808"/>
            <a:ext cx="5486400" cy="2633472"/>
          </a:xfrm>
          <a:prstGeom prst="roundRect">
            <a:avLst>
              <a:gd name="adj" fmla="val 2778"/>
            </a:avLst>
          </a:prstGeom>
          <a:solidFill>
            <a:srgbClr val="1E2F45"/>
          </a:solidFill>
          <a:ln w="12700">
            <a:solidFill>
              <a:srgbClr val="4CC9F0"/>
            </a:solidFill>
            <a:prstDash val="solid"/>
          </a:ln>
        </p:spPr>
      </p:sp>
      <p:sp>
        <p:nvSpPr>
          <p:cNvPr id="6" name="Text 4"/>
          <p:cNvSpPr/>
          <p:nvPr/>
        </p:nvSpPr>
        <p:spPr>
          <a:xfrm>
            <a:off x="548640" y="841248"/>
            <a:ext cx="5120640" cy="36576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City Water Needs</a:t>
            </a:r>
            <a:endParaRPr lang="en-US" sz="1300" dirty="0"/>
          </a:p>
        </p:txBody>
      </p:sp>
      <p:sp>
        <p:nvSpPr>
          <p:cNvPr id="7" name="Text 5"/>
          <p:cNvSpPr/>
          <p:nvPr/>
        </p:nvSpPr>
        <p:spPr>
          <a:xfrm>
            <a:off x="548640" y="1243584"/>
            <a:ext cx="5120640" cy="34747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Goal: Provide enough fresh water</a:t>
            </a:r>
            <a:endParaRPr lang="en-US" sz="1050" dirty="0"/>
          </a:p>
        </p:txBody>
      </p:sp>
      <p:sp>
        <p:nvSpPr>
          <p:cNvPr id="8" name="Text 6"/>
          <p:cNvSpPr/>
          <p:nvPr/>
        </p:nvSpPr>
        <p:spPr>
          <a:xfrm>
            <a:off x="548640" y="1627632"/>
            <a:ext cx="512064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 Deeper aquifer wells  |  B: Desalination plant</a:t>
            </a:r>
            <a:endParaRPr lang="en-US" sz="1050" dirty="0"/>
          </a:p>
        </p:txBody>
      </p:sp>
      <p:sp>
        <p:nvSpPr>
          <p:cNvPr id="9" name="Text 7"/>
          <p:cNvSpPr/>
          <p:nvPr/>
        </p:nvSpPr>
        <p:spPr>
          <a:xfrm>
            <a:off x="548640" y="2048256"/>
            <a:ext cx="5120640" cy="1170432"/>
          </a:xfrm>
          <a:prstGeom prst="rect">
            <a:avLst/>
          </a:prstGeom>
          <a:noFill/>
          <a:ln/>
        </p:spPr>
        <p:txBody>
          <a:bodyPr wrap="square" rtlCol="0" anchor="ctr"/>
          <a:lstStyle/>
          <a:p>
            <a:pPr indent="0" marL="0">
              <a:buNone/>
            </a:pPr>
            <a:r>
              <a:rPr lang="en-US" sz="1050" dirty="0">
                <a:solidFill>
                  <a:srgbClr val="4CC9F0"/>
                </a:solidFill>
                <a:latin typeface="Calibri" pitchFamily="34" charset="0"/>
                <a:ea typeface="Calibri" pitchFamily="34" charset="-122"/>
                <a:cs typeface="Calibri" pitchFamily="34" charset="-120"/>
              </a:rPr>
              <a:t>🔁 Revision: Combine conservation rules + recycled water</a:t>
            </a:r>
            <a:endParaRPr lang="en-US" sz="1050" dirty="0"/>
          </a:p>
        </p:txBody>
      </p:sp>
      <p:sp>
        <p:nvSpPr>
          <p:cNvPr id="10" name="Shape 8"/>
          <p:cNvSpPr/>
          <p:nvPr/>
        </p:nvSpPr>
        <p:spPr>
          <a:xfrm>
            <a:off x="6126480" y="749808"/>
            <a:ext cx="5486400" cy="2633472"/>
          </a:xfrm>
          <a:prstGeom prst="roundRect">
            <a:avLst>
              <a:gd name="adj" fmla="val 2778"/>
            </a:avLst>
          </a:prstGeom>
          <a:solidFill>
            <a:srgbClr val="1E2F45"/>
          </a:solidFill>
          <a:ln w="12700">
            <a:solidFill>
              <a:srgbClr val="FFB703"/>
            </a:solidFill>
            <a:prstDash val="solid"/>
          </a:ln>
        </p:spPr>
      </p:sp>
      <p:sp>
        <p:nvSpPr>
          <p:cNvPr id="11" name="Text 9"/>
          <p:cNvSpPr/>
          <p:nvPr/>
        </p:nvSpPr>
        <p:spPr>
          <a:xfrm>
            <a:off x="6309360" y="841248"/>
            <a:ext cx="5120640" cy="36576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Clean Electricity</a:t>
            </a:r>
            <a:endParaRPr lang="en-US" sz="1300" dirty="0"/>
          </a:p>
        </p:txBody>
      </p:sp>
      <p:sp>
        <p:nvSpPr>
          <p:cNvPr id="12" name="Text 10"/>
          <p:cNvSpPr/>
          <p:nvPr/>
        </p:nvSpPr>
        <p:spPr>
          <a:xfrm>
            <a:off x="6309360" y="1243584"/>
            <a:ext cx="5120640" cy="34747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Goal: Power city without air pollution</a:t>
            </a:r>
            <a:endParaRPr lang="en-US" sz="1050" dirty="0"/>
          </a:p>
        </p:txBody>
      </p:sp>
      <p:sp>
        <p:nvSpPr>
          <p:cNvPr id="13" name="Text 11"/>
          <p:cNvSpPr/>
          <p:nvPr/>
        </p:nvSpPr>
        <p:spPr>
          <a:xfrm>
            <a:off x="6309360" y="1627632"/>
            <a:ext cx="512064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 New solar farm on open land  |  B: Rooftop solar on buildings</a:t>
            </a:r>
            <a:endParaRPr lang="en-US" sz="1050" dirty="0"/>
          </a:p>
        </p:txBody>
      </p:sp>
      <p:sp>
        <p:nvSpPr>
          <p:cNvPr id="14" name="Text 12"/>
          <p:cNvSpPr/>
          <p:nvPr/>
        </p:nvSpPr>
        <p:spPr>
          <a:xfrm>
            <a:off x="6309360" y="2048256"/>
            <a:ext cx="5120640" cy="1170432"/>
          </a:xfrm>
          <a:prstGeom prst="rect">
            <a:avLst/>
          </a:prstGeom>
          <a:noFill/>
          <a:ln/>
        </p:spPr>
        <p:txBody>
          <a:bodyPr wrap="square" rtlCol="0" anchor="ctr"/>
          <a:lstStyle/>
          <a:p>
            <a:pPr indent="0" marL="0">
              <a:buNone/>
            </a:pPr>
            <a:r>
              <a:rPr lang="en-US" sz="1050" dirty="0">
                <a:solidFill>
                  <a:srgbClr val="4CC9F0"/>
                </a:solidFill>
                <a:latin typeface="Calibri" pitchFamily="34" charset="0"/>
                <a:ea typeface="Calibri" pitchFamily="34" charset="-122"/>
                <a:cs typeface="Calibri" pitchFamily="34" charset="-120"/>
              </a:rPr>
              <a:t>🔁 Revision: Combine both: build on rooftops first, then brownfields</a:t>
            </a:r>
            <a:endParaRPr lang="en-US" sz="1050" dirty="0"/>
          </a:p>
        </p:txBody>
      </p:sp>
      <p:sp>
        <p:nvSpPr>
          <p:cNvPr id="15" name="Shape 13"/>
          <p:cNvSpPr/>
          <p:nvPr/>
        </p:nvSpPr>
        <p:spPr>
          <a:xfrm>
            <a:off x="365760" y="3566160"/>
            <a:ext cx="5486400" cy="2633472"/>
          </a:xfrm>
          <a:prstGeom prst="roundRect">
            <a:avLst>
              <a:gd name="adj" fmla="val 2778"/>
            </a:avLst>
          </a:prstGeom>
          <a:solidFill>
            <a:srgbClr val="1E2F45"/>
          </a:solidFill>
          <a:ln w="12700">
            <a:solidFill>
              <a:srgbClr val="2DC653"/>
            </a:solidFill>
            <a:prstDash val="solid"/>
          </a:ln>
        </p:spPr>
      </p:sp>
      <p:sp>
        <p:nvSpPr>
          <p:cNvPr id="16" name="Text 14"/>
          <p:cNvSpPr/>
          <p:nvPr/>
        </p:nvSpPr>
        <p:spPr>
          <a:xfrm>
            <a:off x="548640" y="3657600"/>
            <a:ext cx="5120640" cy="36576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 Coastal Erosion</a:t>
            </a:r>
            <a:endParaRPr lang="en-US" sz="1300" dirty="0"/>
          </a:p>
        </p:txBody>
      </p:sp>
      <p:sp>
        <p:nvSpPr>
          <p:cNvPr id="17" name="Text 15"/>
          <p:cNvSpPr/>
          <p:nvPr/>
        </p:nvSpPr>
        <p:spPr>
          <a:xfrm>
            <a:off x="548640" y="4059936"/>
            <a:ext cx="5120640" cy="34747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Goal: Protect coast from wave erosion</a:t>
            </a:r>
            <a:endParaRPr lang="en-US" sz="1050" dirty="0"/>
          </a:p>
        </p:txBody>
      </p:sp>
      <p:sp>
        <p:nvSpPr>
          <p:cNvPr id="18" name="Text 16"/>
          <p:cNvSpPr/>
          <p:nvPr/>
        </p:nvSpPr>
        <p:spPr>
          <a:xfrm>
            <a:off x="548640" y="4443984"/>
            <a:ext cx="512064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 Build concrete seawall  |  B: Restore mangrove forests</a:t>
            </a:r>
            <a:endParaRPr lang="en-US" sz="1050" dirty="0"/>
          </a:p>
        </p:txBody>
      </p:sp>
      <p:sp>
        <p:nvSpPr>
          <p:cNvPr id="19" name="Text 17"/>
          <p:cNvSpPr/>
          <p:nvPr/>
        </p:nvSpPr>
        <p:spPr>
          <a:xfrm>
            <a:off x="548640" y="4864608"/>
            <a:ext cx="5120640" cy="1170432"/>
          </a:xfrm>
          <a:prstGeom prst="rect">
            <a:avLst/>
          </a:prstGeom>
          <a:noFill/>
          <a:ln/>
        </p:spPr>
        <p:txBody>
          <a:bodyPr wrap="square" rtlCol="0" anchor="ctr"/>
          <a:lstStyle/>
          <a:p>
            <a:pPr indent="0" marL="0">
              <a:buNone/>
            </a:pPr>
            <a:r>
              <a:rPr lang="en-US" sz="1050" dirty="0">
                <a:solidFill>
                  <a:srgbClr val="4CC9F0"/>
                </a:solidFill>
                <a:latin typeface="Calibri" pitchFamily="34" charset="0"/>
                <a:ea typeface="Calibri" pitchFamily="34" charset="-122"/>
                <a:cs typeface="Calibri" pitchFamily="34" charset="-120"/>
              </a:rPr>
              <a:t>🔁 Revision: Combine: living shoreline (mangroves + strategic walls)</a:t>
            </a:r>
            <a:endParaRPr lang="en-US" sz="1050" dirty="0"/>
          </a:p>
        </p:txBody>
      </p:sp>
      <p:sp>
        <p:nvSpPr>
          <p:cNvPr id="20" name="Shape 18"/>
          <p:cNvSpPr/>
          <p:nvPr/>
        </p:nvSpPr>
        <p:spPr>
          <a:xfrm>
            <a:off x="6126480" y="3566160"/>
            <a:ext cx="5486400" cy="2633472"/>
          </a:xfrm>
          <a:prstGeom prst="roundRect">
            <a:avLst>
              <a:gd name="adj" fmla="val 2778"/>
            </a:avLst>
          </a:prstGeom>
          <a:solidFill>
            <a:srgbClr val="1E2F45"/>
          </a:solidFill>
          <a:ln w="12700">
            <a:solidFill>
              <a:srgbClr val="F4736A"/>
            </a:solidFill>
            <a:prstDash val="solid"/>
          </a:ln>
        </p:spPr>
      </p:sp>
      <p:sp>
        <p:nvSpPr>
          <p:cNvPr id="21" name="Text 19"/>
          <p:cNvSpPr/>
          <p:nvPr/>
        </p:nvSpPr>
        <p:spPr>
          <a:xfrm>
            <a:off x="6309360" y="3657600"/>
            <a:ext cx="5120640" cy="365760"/>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Plastic Waste</a:t>
            </a:r>
            <a:endParaRPr lang="en-US" sz="1300" dirty="0"/>
          </a:p>
        </p:txBody>
      </p:sp>
      <p:sp>
        <p:nvSpPr>
          <p:cNvPr id="22" name="Text 20"/>
          <p:cNvSpPr/>
          <p:nvPr/>
        </p:nvSpPr>
        <p:spPr>
          <a:xfrm>
            <a:off x="6309360" y="4059936"/>
            <a:ext cx="5120640" cy="347472"/>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Goal: Reduce plastic in Florida waterways</a:t>
            </a:r>
            <a:endParaRPr lang="en-US" sz="1050" dirty="0"/>
          </a:p>
        </p:txBody>
      </p:sp>
      <p:sp>
        <p:nvSpPr>
          <p:cNvPr id="23" name="Text 21"/>
          <p:cNvSpPr/>
          <p:nvPr/>
        </p:nvSpPr>
        <p:spPr>
          <a:xfrm>
            <a:off x="6309360" y="4443984"/>
            <a:ext cx="5120640" cy="38404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 Ban single-use plastics  |  B: Better waterway cleanup</a:t>
            </a:r>
            <a:endParaRPr lang="en-US" sz="1050" dirty="0"/>
          </a:p>
        </p:txBody>
      </p:sp>
      <p:sp>
        <p:nvSpPr>
          <p:cNvPr id="24" name="Text 22"/>
          <p:cNvSpPr/>
          <p:nvPr/>
        </p:nvSpPr>
        <p:spPr>
          <a:xfrm>
            <a:off x="6309360" y="4864608"/>
            <a:ext cx="5120640" cy="1170432"/>
          </a:xfrm>
          <a:prstGeom prst="rect">
            <a:avLst/>
          </a:prstGeom>
          <a:noFill/>
          <a:ln/>
        </p:spPr>
        <p:txBody>
          <a:bodyPr wrap="square" rtlCol="0" anchor="ctr"/>
          <a:lstStyle/>
          <a:p>
            <a:pPr indent="0" marL="0">
              <a:buNone/>
            </a:pPr>
            <a:r>
              <a:rPr lang="en-US" sz="1050" dirty="0">
                <a:solidFill>
                  <a:srgbClr val="4CC9F0"/>
                </a:solidFill>
                <a:latin typeface="Calibri" pitchFamily="34" charset="0"/>
                <a:ea typeface="Calibri" pitchFamily="34" charset="-122"/>
                <a:cs typeface="Calibri" pitchFamily="34" charset="-120"/>
              </a:rPr>
              <a:t>🔁 Revision: Combine ban + cleanup + community education</a:t>
            </a:r>
            <a:endParaRPr lang="en-US" sz="105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Explore: Build a Decision Matrix</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Pick ONE engineering challenge. Compare 2 solutions. Choose and revise the winner.</a:t>
            </a:r>
            <a:endParaRPr lang="en-US" sz="1200" dirty="0"/>
          </a:p>
        </p:txBody>
      </p:sp>
      <p:sp>
        <p:nvSpPr>
          <p:cNvPr id="6" name="Shape 4"/>
          <p:cNvSpPr/>
          <p:nvPr/>
        </p:nvSpPr>
        <p:spPr>
          <a:xfrm>
            <a:off x="365760" y="1115568"/>
            <a:ext cx="11247120" cy="1188720"/>
          </a:xfrm>
          <a:prstGeom prst="roundRect">
            <a:avLst>
              <a:gd name="adj" fmla="val 6154"/>
            </a:avLst>
          </a:prstGeom>
          <a:solidFill>
            <a:srgbClr val="1E2F45"/>
          </a:solidFill>
          <a:ln w="12700">
            <a:solidFill>
              <a:srgbClr val="2DC653"/>
            </a:solidFill>
            <a:prstDash val="solid"/>
          </a:ln>
        </p:spPr>
      </p:sp>
      <p:sp>
        <p:nvSpPr>
          <p:cNvPr id="7" name="Shape 5"/>
          <p:cNvSpPr/>
          <p:nvPr/>
        </p:nvSpPr>
        <p:spPr>
          <a:xfrm>
            <a:off x="502920" y="1188720"/>
            <a:ext cx="1554480" cy="256032"/>
          </a:xfrm>
          <a:prstGeom prst="roundRect">
            <a:avLst>
              <a:gd name="adj" fmla="val 50000"/>
            </a:avLst>
          </a:prstGeom>
          <a:solidFill>
            <a:srgbClr val="1A8C3A"/>
          </a:solidFill>
          <a:ln w="12700">
            <a:solidFill>
              <a:srgbClr val="1A8C3A"/>
            </a:solidFill>
            <a:prstDash val="solid"/>
          </a:ln>
        </p:spPr>
      </p:sp>
      <p:sp>
        <p:nvSpPr>
          <p:cNvPr id="8" name="Text 6"/>
          <p:cNvSpPr/>
          <p:nvPr/>
        </p:nvSpPr>
        <p:spPr>
          <a:xfrm>
            <a:off x="502920" y="11887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a:t>
            </a:r>
            <a:endParaRPr lang="en-US" sz="900" dirty="0"/>
          </a:p>
        </p:txBody>
      </p:sp>
      <p:sp>
        <p:nvSpPr>
          <p:cNvPr id="9" name="Text 7"/>
          <p:cNvSpPr/>
          <p:nvPr/>
        </p:nvSpPr>
        <p:spPr>
          <a:xfrm>
            <a:off x="2240280" y="1188720"/>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Define the problem</a:t>
            </a:r>
            <a:endParaRPr lang="en-US" sz="1300" dirty="0"/>
          </a:p>
        </p:txBody>
      </p:sp>
      <p:sp>
        <p:nvSpPr>
          <p:cNvPr id="10" name="Text 8"/>
          <p:cNvSpPr/>
          <p:nvPr/>
        </p:nvSpPr>
        <p:spPr>
          <a:xfrm>
            <a:off x="2240280" y="1554480"/>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Write the engineering problem in one sentence. Then list 2 CRITERIA (goals) and 1 CONSTRAINT (a limit).</a:t>
            </a:r>
            <a:endParaRPr lang="en-US" sz="1150" dirty="0"/>
          </a:p>
        </p:txBody>
      </p:sp>
      <p:sp>
        <p:nvSpPr>
          <p:cNvPr id="11" name="Shape 9"/>
          <p:cNvSpPr/>
          <p:nvPr/>
        </p:nvSpPr>
        <p:spPr>
          <a:xfrm>
            <a:off x="365760" y="2414016"/>
            <a:ext cx="11247120" cy="1188720"/>
          </a:xfrm>
          <a:prstGeom prst="roundRect">
            <a:avLst>
              <a:gd name="adj" fmla="val 6154"/>
            </a:avLst>
          </a:prstGeom>
          <a:solidFill>
            <a:srgbClr val="1E2F45"/>
          </a:solidFill>
          <a:ln w="12700">
            <a:solidFill>
              <a:srgbClr val="2DC653"/>
            </a:solidFill>
            <a:prstDash val="solid"/>
          </a:ln>
        </p:spPr>
      </p:sp>
      <p:sp>
        <p:nvSpPr>
          <p:cNvPr id="12" name="Shape 10"/>
          <p:cNvSpPr/>
          <p:nvPr/>
        </p:nvSpPr>
        <p:spPr>
          <a:xfrm>
            <a:off x="502920" y="2487168"/>
            <a:ext cx="1554480" cy="256032"/>
          </a:xfrm>
          <a:prstGeom prst="roundRect">
            <a:avLst>
              <a:gd name="adj" fmla="val 50000"/>
            </a:avLst>
          </a:prstGeom>
          <a:solidFill>
            <a:srgbClr val="1A8C3A"/>
          </a:solidFill>
          <a:ln w="12700">
            <a:solidFill>
              <a:srgbClr val="1A8C3A"/>
            </a:solidFill>
            <a:prstDash val="solid"/>
          </a:ln>
        </p:spPr>
      </p:sp>
      <p:sp>
        <p:nvSpPr>
          <p:cNvPr id="13" name="Text 11"/>
          <p:cNvSpPr/>
          <p:nvPr/>
        </p:nvSpPr>
        <p:spPr>
          <a:xfrm>
            <a:off x="502920" y="24871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a:t>
            </a:r>
            <a:endParaRPr lang="en-US" sz="900" dirty="0"/>
          </a:p>
        </p:txBody>
      </p:sp>
      <p:sp>
        <p:nvSpPr>
          <p:cNvPr id="14" name="Text 12"/>
          <p:cNvSpPr/>
          <p:nvPr/>
        </p:nvSpPr>
        <p:spPr>
          <a:xfrm>
            <a:off x="2240280" y="2487168"/>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Name two solutions</a:t>
            </a:r>
            <a:endParaRPr lang="en-US" sz="1300" dirty="0"/>
          </a:p>
        </p:txBody>
      </p:sp>
      <p:sp>
        <p:nvSpPr>
          <p:cNvPr id="15" name="Text 13"/>
          <p:cNvSpPr/>
          <p:nvPr/>
        </p:nvSpPr>
        <p:spPr>
          <a:xfrm>
            <a:off x="2240280" y="2852928"/>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Write the names of TWO possible solutions. Don't choose yet — just name them.</a:t>
            </a:r>
            <a:endParaRPr lang="en-US" sz="1150" dirty="0"/>
          </a:p>
        </p:txBody>
      </p:sp>
      <p:sp>
        <p:nvSpPr>
          <p:cNvPr id="16" name="Shape 14"/>
          <p:cNvSpPr/>
          <p:nvPr/>
        </p:nvSpPr>
        <p:spPr>
          <a:xfrm>
            <a:off x="365760" y="3712464"/>
            <a:ext cx="11247120" cy="1188720"/>
          </a:xfrm>
          <a:prstGeom prst="roundRect">
            <a:avLst>
              <a:gd name="adj" fmla="val 6154"/>
            </a:avLst>
          </a:prstGeom>
          <a:solidFill>
            <a:srgbClr val="1E2F45"/>
          </a:solidFill>
          <a:ln w="12700">
            <a:solidFill>
              <a:srgbClr val="2DC653"/>
            </a:solidFill>
            <a:prstDash val="solid"/>
          </a:ln>
        </p:spPr>
      </p:sp>
      <p:sp>
        <p:nvSpPr>
          <p:cNvPr id="17" name="Shape 15"/>
          <p:cNvSpPr/>
          <p:nvPr/>
        </p:nvSpPr>
        <p:spPr>
          <a:xfrm>
            <a:off x="502920" y="3785616"/>
            <a:ext cx="1554480" cy="256032"/>
          </a:xfrm>
          <a:prstGeom prst="roundRect">
            <a:avLst>
              <a:gd name="adj" fmla="val 50000"/>
            </a:avLst>
          </a:prstGeom>
          <a:solidFill>
            <a:srgbClr val="1A8C3A"/>
          </a:solidFill>
          <a:ln w="12700">
            <a:solidFill>
              <a:srgbClr val="1A8C3A"/>
            </a:solidFill>
            <a:prstDash val="solid"/>
          </a:ln>
        </p:spPr>
      </p:sp>
      <p:sp>
        <p:nvSpPr>
          <p:cNvPr id="18" name="Text 16"/>
          <p:cNvSpPr/>
          <p:nvPr/>
        </p:nvSpPr>
        <p:spPr>
          <a:xfrm>
            <a:off x="502920" y="378561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a:t>
            </a:r>
            <a:endParaRPr lang="en-US" sz="900" dirty="0"/>
          </a:p>
        </p:txBody>
      </p:sp>
      <p:sp>
        <p:nvSpPr>
          <p:cNvPr id="19" name="Text 17"/>
          <p:cNvSpPr/>
          <p:nvPr/>
        </p:nvSpPr>
        <p:spPr>
          <a:xfrm>
            <a:off x="2240280" y="3785616"/>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Score each solution</a:t>
            </a:r>
            <a:endParaRPr lang="en-US" sz="1300" dirty="0"/>
          </a:p>
        </p:txBody>
      </p:sp>
      <p:sp>
        <p:nvSpPr>
          <p:cNvPr id="20" name="Text 18"/>
          <p:cNvSpPr/>
          <p:nvPr/>
        </p:nvSpPr>
        <p:spPr>
          <a:xfrm>
            <a:off x="2240280" y="4151376"/>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Draw a small table: 2 solutions across top, 2 criteria down the side. Score each cell: ⭐ (poor), ⭐⭐ (OK), ⭐⭐⭐ (great). Count the totals.</a:t>
            </a:r>
            <a:endParaRPr lang="en-US" sz="1150" dirty="0"/>
          </a:p>
        </p:txBody>
      </p:sp>
      <p:sp>
        <p:nvSpPr>
          <p:cNvPr id="21" name="Shape 19"/>
          <p:cNvSpPr/>
          <p:nvPr/>
        </p:nvSpPr>
        <p:spPr>
          <a:xfrm>
            <a:off x="365760" y="5010912"/>
            <a:ext cx="11247120" cy="1188720"/>
          </a:xfrm>
          <a:prstGeom prst="roundRect">
            <a:avLst>
              <a:gd name="adj" fmla="val 6154"/>
            </a:avLst>
          </a:prstGeom>
          <a:solidFill>
            <a:srgbClr val="1E2F45"/>
          </a:solidFill>
          <a:ln w="12700">
            <a:solidFill>
              <a:srgbClr val="2DC653"/>
            </a:solidFill>
            <a:prstDash val="solid"/>
          </a:ln>
        </p:spPr>
      </p:sp>
      <p:sp>
        <p:nvSpPr>
          <p:cNvPr id="22" name="Shape 20"/>
          <p:cNvSpPr/>
          <p:nvPr/>
        </p:nvSpPr>
        <p:spPr>
          <a:xfrm>
            <a:off x="502920" y="5084064"/>
            <a:ext cx="1554480" cy="256032"/>
          </a:xfrm>
          <a:prstGeom prst="roundRect">
            <a:avLst>
              <a:gd name="adj" fmla="val 50000"/>
            </a:avLst>
          </a:prstGeom>
          <a:solidFill>
            <a:srgbClr val="1A8C3A"/>
          </a:solidFill>
          <a:ln w="12700">
            <a:solidFill>
              <a:srgbClr val="1A8C3A"/>
            </a:solidFill>
            <a:prstDash val="solid"/>
          </a:ln>
        </p:spPr>
      </p:sp>
      <p:sp>
        <p:nvSpPr>
          <p:cNvPr id="23" name="Text 21"/>
          <p:cNvSpPr/>
          <p:nvPr/>
        </p:nvSpPr>
        <p:spPr>
          <a:xfrm>
            <a:off x="502920" y="508406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a:t>
            </a:r>
            <a:endParaRPr lang="en-US" sz="900" dirty="0"/>
          </a:p>
        </p:txBody>
      </p:sp>
      <p:sp>
        <p:nvSpPr>
          <p:cNvPr id="24" name="Text 22"/>
          <p:cNvSpPr/>
          <p:nvPr/>
        </p:nvSpPr>
        <p:spPr>
          <a:xfrm>
            <a:off x="2240280" y="5084064"/>
            <a:ext cx="91440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Choose and revise</a:t>
            </a:r>
            <a:endParaRPr lang="en-US" sz="1300" dirty="0"/>
          </a:p>
        </p:txBody>
      </p:sp>
      <p:sp>
        <p:nvSpPr>
          <p:cNvPr id="25" name="Text 23"/>
          <p:cNvSpPr/>
          <p:nvPr/>
        </p:nvSpPr>
        <p:spPr>
          <a:xfrm>
            <a:off x="2240280" y="5449824"/>
            <a:ext cx="9144000" cy="6583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Pick the higher-scoring solution. Write ONE revision sentence: 'I could make this solution stronger by ___.' (Combine ideas? Add a protection strategy? Test small first?)</a:t>
            </a:r>
            <a:endParaRPr lang="en-US" sz="115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Practice — Teacher Models First</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4CC9F0"/>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 Why is it better to compare multiple solutions before choosing one for a resource problem?</a:t>
            </a:r>
            <a:endParaRPr lang="en-US" sz="1300" dirty="0"/>
          </a:p>
        </p:txBody>
      </p:sp>
      <p:sp>
        <p:nvSpPr>
          <p:cNvPr id="7" name="Shape 5"/>
          <p:cNvSpPr/>
          <p:nvPr/>
        </p:nvSpPr>
        <p:spPr>
          <a:xfrm>
            <a:off x="365760" y="1463040"/>
            <a:ext cx="3566160" cy="3749040"/>
          </a:xfrm>
          <a:prstGeom prst="roundRect">
            <a:avLst>
              <a:gd name="adj" fmla="val 2564"/>
            </a:avLst>
          </a:prstGeom>
          <a:solidFill>
            <a:srgbClr val="0A3D8F"/>
          </a:solidFill>
          <a:ln w="19050">
            <a:solidFill>
              <a:srgbClr val="1A5FBD"/>
            </a:solidFill>
            <a:prstDash val="solid"/>
          </a:ln>
        </p:spPr>
      </p:sp>
      <p:sp>
        <p:nvSpPr>
          <p:cNvPr id="8" name="Shape 6"/>
          <p:cNvSpPr/>
          <p:nvPr/>
        </p:nvSpPr>
        <p:spPr>
          <a:xfrm>
            <a:off x="365760" y="1463040"/>
            <a:ext cx="3566160" cy="347472"/>
          </a:xfrm>
          <a:prstGeom prst="rect">
            <a:avLst/>
          </a:prstGeom>
          <a:solidFill>
            <a:srgbClr val="1A5FBD"/>
          </a:solidFill>
          <a:ln w="12700">
            <a:solidFill>
              <a:srgbClr val="1A5FBD"/>
            </a:solidFill>
            <a:prstDash val="solid"/>
          </a:ln>
        </p:spPr>
      </p:sp>
      <p:sp>
        <p:nvSpPr>
          <p:cNvPr id="9" name="Text 7"/>
          <p:cNvSpPr/>
          <p:nvPr/>
        </p:nvSpPr>
        <p:spPr>
          <a:xfrm>
            <a:off x="45720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865376"/>
            <a:ext cx="3291840" cy="3255264"/>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Comparing multiple solutions is better because it shows which solution best meets the criteria and constraints — AND reveals gaps that can be fixed through revision.</a:t>
            </a:r>
            <a:endParaRPr lang="en-US" sz="1200" dirty="0"/>
          </a:p>
        </p:txBody>
      </p:sp>
      <p:sp>
        <p:nvSpPr>
          <p:cNvPr id="11" name="Shape 9"/>
          <p:cNvSpPr/>
          <p:nvPr/>
        </p:nvSpPr>
        <p:spPr>
          <a:xfrm>
            <a:off x="4114800" y="1463040"/>
            <a:ext cx="3566160" cy="3749040"/>
          </a:xfrm>
          <a:prstGeom prst="roundRect">
            <a:avLst>
              <a:gd name="adj" fmla="val 2564"/>
            </a:avLst>
          </a:prstGeom>
          <a:solidFill>
            <a:srgbClr val="145C35"/>
          </a:solidFill>
          <a:ln w="19050">
            <a:solidFill>
              <a:srgbClr val="228B50"/>
            </a:solidFill>
            <a:prstDash val="solid"/>
          </a:ln>
        </p:spPr>
      </p:sp>
      <p:sp>
        <p:nvSpPr>
          <p:cNvPr id="12" name="Shape 10"/>
          <p:cNvSpPr/>
          <p:nvPr/>
        </p:nvSpPr>
        <p:spPr>
          <a:xfrm>
            <a:off x="4114800" y="1463040"/>
            <a:ext cx="3566160" cy="347472"/>
          </a:xfrm>
          <a:prstGeom prst="rect">
            <a:avLst/>
          </a:prstGeom>
          <a:solidFill>
            <a:srgbClr val="228B50"/>
          </a:solidFill>
          <a:ln w="12700">
            <a:solidFill>
              <a:srgbClr val="228B50"/>
            </a:solidFill>
            <a:prstDash val="solid"/>
          </a:ln>
        </p:spPr>
      </p:sp>
      <p:sp>
        <p:nvSpPr>
          <p:cNvPr id="13" name="Text 11"/>
          <p:cNvSpPr/>
          <p:nvPr/>
        </p:nvSpPr>
        <p:spPr>
          <a:xfrm>
            <a:off x="420624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865376"/>
            <a:ext cx="3291840" cy="32552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In the Florida water decision matrix, Solution A (deeper wells) had the highest water supply score but lowest environmental cost score. Solution C (water rules) won overall — but only by being combined with recycled water to fix its 'enough water' gap.</a:t>
            </a:r>
            <a:endParaRPr lang="en-US" sz="1150" dirty="0"/>
          </a:p>
        </p:txBody>
      </p:sp>
      <p:sp>
        <p:nvSpPr>
          <p:cNvPr id="15" name="Shape 13"/>
          <p:cNvSpPr/>
          <p:nvPr/>
        </p:nvSpPr>
        <p:spPr>
          <a:xfrm>
            <a:off x="7863840" y="1463040"/>
            <a:ext cx="3749040" cy="3749040"/>
          </a:xfrm>
          <a:prstGeom prst="roundRect">
            <a:avLst>
              <a:gd name="adj" fmla="val 2439"/>
            </a:avLst>
          </a:prstGeom>
          <a:solidFill>
            <a:srgbClr val="7A3200"/>
          </a:solidFill>
          <a:ln w="19050">
            <a:solidFill>
              <a:srgbClr val="B04A00"/>
            </a:solidFill>
            <a:prstDash val="solid"/>
          </a:ln>
        </p:spPr>
      </p:sp>
      <p:sp>
        <p:nvSpPr>
          <p:cNvPr id="16" name="Shape 14"/>
          <p:cNvSpPr/>
          <p:nvPr/>
        </p:nvSpPr>
        <p:spPr>
          <a:xfrm>
            <a:off x="7863840" y="1463040"/>
            <a:ext cx="3749040" cy="347472"/>
          </a:xfrm>
          <a:prstGeom prst="rect">
            <a:avLst/>
          </a:prstGeom>
          <a:solidFill>
            <a:srgbClr val="B04A00"/>
          </a:solidFill>
          <a:ln w="12700">
            <a:solidFill>
              <a:srgbClr val="B04A00"/>
            </a:solidFill>
            <a:prstDash val="solid"/>
          </a:ln>
        </p:spPr>
      </p:sp>
      <p:sp>
        <p:nvSpPr>
          <p:cNvPr id="17" name="Text 15"/>
          <p:cNvSpPr/>
          <p:nvPr/>
        </p:nvSpPr>
        <p:spPr>
          <a:xfrm>
            <a:off x="7955280" y="1481328"/>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865376"/>
            <a:ext cx="3474720" cy="3255264"/>
          </a:xfrm>
          <a:prstGeom prst="rect">
            <a:avLst/>
          </a:prstGeom>
          <a:noFill/>
          <a:ln/>
        </p:spPr>
        <p:txBody>
          <a:bodyPr wrap="square"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Without comparing all three solutions, we might have picked Solution A (most water) without seeing its environmental cost problem, or Solution C without noticing its 'enough water' gap. The comparison revealed BOTH the winner AND the revision needed. That's why engineers compare before choosing — and why they always revise afterward.</a:t>
            </a:r>
            <a:endParaRPr lang="en-US" sz="105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CER Practice — Your Turn (Independent)</a:t>
            </a:r>
            <a:endParaRPr lang="en-US" sz="1600" dirty="0"/>
          </a:p>
        </p:txBody>
      </p:sp>
      <p:sp>
        <p:nvSpPr>
          <p:cNvPr id="5" name="Shape 3"/>
          <p:cNvSpPr/>
          <p:nvPr/>
        </p:nvSpPr>
        <p:spPr>
          <a:xfrm>
            <a:off x="365760" y="749808"/>
            <a:ext cx="11247120" cy="585216"/>
          </a:xfrm>
          <a:prstGeom prst="roundRect">
            <a:avLst>
              <a:gd name="adj" fmla="val 12500"/>
            </a:avLst>
          </a:prstGeom>
          <a:solidFill>
            <a:srgbClr val="162233"/>
          </a:solidFill>
          <a:ln w="12700">
            <a:solidFill>
              <a:srgbClr val="FFB703"/>
            </a:solidFill>
            <a:prstDash val="solid"/>
          </a:ln>
        </p:spPr>
      </p:sp>
      <p:sp>
        <p:nvSpPr>
          <p:cNvPr id="6" name="Text 4"/>
          <p:cNvSpPr/>
          <p:nvPr/>
        </p:nvSpPr>
        <p:spPr>
          <a:xfrm>
            <a:off x="548640" y="804672"/>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 If we just pick the smartest scientist's first idea, we'll always get the best solution. Agree or disagree?</a:t>
            </a:r>
            <a:endParaRPr lang="en-US" sz="1300" dirty="0"/>
          </a:p>
        </p:txBody>
      </p:sp>
      <p:sp>
        <p:nvSpPr>
          <p:cNvPr id="7" name="Shape 5"/>
          <p:cNvSpPr/>
          <p:nvPr/>
        </p:nvSpPr>
        <p:spPr>
          <a:xfrm>
            <a:off x="365760" y="1463040"/>
            <a:ext cx="3566160" cy="3657600"/>
          </a:xfrm>
          <a:prstGeom prst="roundRect">
            <a:avLst>
              <a:gd name="adj" fmla="val 2564"/>
            </a:avLst>
          </a:prstGeom>
          <a:solidFill>
            <a:srgbClr val="0A3D8F"/>
          </a:solidFill>
          <a:ln w="19050">
            <a:solidFill>
              <a:srgbClr val="1A5FBD"/>
            </a:solidFill>
            <a:prstDash val="solid"/>
          </a:ln>
        </p:spPr>
      </p:sp>
      <p:sp>
        <p:nvSpPr>
          <p:cNvPr id="8" name="Shape 6"/>
          <p:cNvSpPr/>
          <p:nvPr/>
        </p:nvSpPr>
        <p:spPr>
          <a:xfrm>
            <a:off x="365760" y="1463040"/>
            <a:ext cx="3566160" cy="347472"/>
          </a:xfrm>
          <a:prstGeom prst="rect">
            <a:avLst/>
          </a:prstGeom>
          <a:solidFill>
            <a:srgbClr val="1A5FBD"/>
          </a:solidFill>
          <a:ln w="12700">
            <a:solidFill>
              <a:srgbClr val="1A5FBD"/>
            </a:solidFill>
            <a:prstDash val="solid"/>
          </a:ln>
        </p:spPr>
      </p:sp>
      <p:sp>
        <p:nvSpPr>
          <p:cNvPr id="9" name="Text 7"/>
          <p:cNvSpPr/>
          <p:nvPr/>
        </p:nvSpPr>
        <p:spPr>
          <a:xfrm>
            <a:off x="45720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10" name="Text 8"/>
          <p:cNvSpPr/>
          <p:nvPr/>
        </p:nvSpPr>
        <p:spPr>
          <a:xfrm>
            <a:off x="502920" y="1865376"/>
            <a:ext cx="3291840" cy="3163824"/>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Take a clear position. (Strong answer: DISAGREE — and explain why.)</a:t>
            </a:r>
            <a:endParaRPr lang="en-US" sz="1200" dirty="0"/>
          </a:p>
        </p:txBody>
      </p:sp>
      <p:sp>
        <p:nvSpPr>
          <p:cNvPr id="11" name="Shape 9"/>
          <p:cNvSpPr/>
          <p:nvPr/>
        </p:nvSpPr>
        <p:spPr>
          <a:xfrm>
            <a:off x="4114800" y="1463040"/>
            <a:ext cx="3566160" cy="3657600"/>
          </a:xfrm>
          <a:prstGeom prst="roundRect">
            <a:avLst>
              <a:gd name="adj" fmla="val 2564"/>
            </a:avLst>
          </a:prstGeom>
          <a:solidFill>
            <a:srgbClr val="145C35"/>
          </a:solidFill>
          <a:ln w="19050">
            <a:solidFill>
              <a:srgbClr val="228B50"/>
            </a:solidFill>
            <a:prstDash val="solid"/>
          </a:ln>
        </p:spPr>
      </p:sp>
      <p:sp>
        <p:nvSpPr>
          <p:cNvPr id="12" name="Shape 10"/>
          <p:cNvSpPr/>
          <p:nvPr/>
        </p:nvSpPr>
        <p:spPr>
          <a:xfrm>
            <a:off x="4114800" y="1463040"/>
            <a:ext cx="3566160" cy="347472"/>
          </a:xfrm>
          <a:prstGeom prst="rect">
            <a:avLst/>
          </a:prstGeom>
          <a:solidFill>
            <a:srgbClr val="228B50"/>
          </a:solidFill>
          <a:ln w="12700">
            <a:solidFill>
              <a:srgbClr val="228B50"/>
            </a:solidFill>
            <a:prstDash val="solid"/>
          </a:ln>
        </p:spPr>
      </p:sp>
      <p:sp>
        <p:nvSpPr>
          <p:cNvPr id="13" name="Text 11"/>
          <p:cNvSpPr/>
          <p:nvPr/>
        </p:nvSpPr>
        <p:spPr>
          <a:xfrm>
            <a:off x="4206240" y="1481328"/>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4" name="Text 12"/>
          <p:cNvSpPr/>
          <p:nvPr/>
        </p:nvSpPr>
        <p:spPr>
          <a:xfrm>
            <a:off x="4251960" y="1865376"/>
            <a:ext cx="3291840" cy="3163824"/>
          </a:xfrm>
          <a:prstGeom prst="rect">
            <a:avLst/>
          </a:prstGeom>
          <a:noFill/>
          <a:ln/>
        </p:spPr>
        <p:txBody>
          <a:bodyPr wrap="square" rtlCol="0" anchor="t"/>
          <a:lstStyle/>
          <a:p>
            <a:pPr algn="l" indent="0" marL="0">
              <a:buNone/>
            </a:pPr>
            <a:r>
              <a:rPr lang="en-US" sz="1150" i="1" dirty="0">
                <a:solidFill>
                  <a:srgbClr val="FFFFFF"/>
                </a:solidFill>
                <a:latin typeface="Calibri" pitchFamily="34" charset="0"/>
                <a:ea typeface="Calibri" pitchFamily="34" charset="-122"/>
                <a:cs typeface="Calibri" pitchFamily="34" charset="-120"/>
              </a:rPr>
              <a:t>Use at least TWO specific examples from today's lesson — the water matrix, Tampa Bay desalination, or the engineering challenges. Reference criteria, constraints, or revision.</a:t>
            </a:r>
            <a:endParaRPr lang="en-US" sz="1150" dirty="0"/>
          </a:p>
        </p:txBody>
      </p:sp>
      <p:sp>
        <p:nvSpPr>
          <p:cNvPr id="15" name="Shape 13"/>
          <p:cNvSpPr/>
          <p:nvPr/>
        </p:nvSpPr>
        <p:spPr>
          <a:xfrm>
            <a:off x="7863840" y="1463040"/>
            <a:ext cx="3749040" cy="3657600"/>
          </a:xfrm>
          <a:prstGeom prst="roundRect">
            <a:avLst>
              <a:gd name="adj" fmla="val 2500"/>
            </a:avLst>
          </a:prstGeom>
          <a:solidFill>
            <a:srgbClr val="7A3200"/>
          </a:solidFill>
          <a:ln w="19050">
            <a:solidFill>
              <a:srgbClr val="B04A00"/>
            </a:solidFill>
            <a:prstDash val="solid"/>
          </a:ln>
        </p:spPr>
      </p:sp>
      <p:sp>
        <p:nvSpPr>
          <p:cNvPr id="16" name="Shape 14"/>
          <p:cNvSpPr/>
          <p:nvPr/>
        </p:nvSpPr>
        <p:spPr>
          <a:xfrm>
            <a:off x="7863840" y="1463040"/>
            <a:ext cx="3749040" cy="347472"/>
          </a:xfrm>
          <a:prstGeom prst="rect">
            <a:avLst/>
          </a:prstGeom>
          <a:solidFill>
            <a:srgbClr val="B04A00"/>
          </a:solidFill>
          <a:ln w="12700">
            <a:solidFill>
              <a:srgbClr val="B04A00"/>
            </a:solidFill>
            <a:prstDash val="solid"/>
          </a:ln>
        </p:spPr>
      </p:sp>
      <p:sp>
        <p:nvSpPr>
          <p:cNvPr id="17" name="Text 15"/>
          <p:cNvSpPr/>
          <p:nvPr/>
        </p:nvSpPr>
        <p:spPr>
          <a:xfrm>
            <a:off x="7955280" y="1481328"/>
            <a:ext cx="356616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8" name="Text 16"/>
          <p:cNvSpPr/>
          <p:nvPr/>
        </p:nvSpPr>
        <p:spPr>
          <a:xfrm>
            <a:off x="8001000" y="1865376"/>
            <a:ext cx="3474720" cy="3163824"/>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Explain WHY comparing and revising leads to better solutions than one first idea. What does the comparison reveal? What does revision fix? Be specific.</a:t>
            </a:r>
            <a:endParaRPr lang="en-US" sz="1100" dirty="0"/>
          </a:p>
        </p:txBody>
      </p:sp>
      <p:sp>
        <p:nvSpPr>
          <p:cNvPr id="19" name="Shape 17"/>
          <p:cNvSpPr/>
          <p:nvPr/>
        </p:nvSpPr>
        <p:spPr>
          <a:xfrm>
            <a:off x="365760" y="5248656"/>
            <a:ext cx="11247120" cy="658368"/>
          </a:xfrm>
          <a:prstGeom prst="roundRect">
            <a:avLst>
              <a:gd name="adj" fmla="val 11111"/>
            </a:avLst>
          </a:prstGeom>
          <a:solidFill>
            <a:srgbClr val="1A1A2A"/>
          </a:solidFill>
          <a:ln w="12700">
            <a:solidFill>
              <a:srgbClr val="B0C4D8"/>
            </a:solidFill>
            <a:prstDash val="solid"/>
          </a:ln>
        </p:spPr>
      </p:sp>
      <p:sp>
        <p:nvSpPr>
          <p:cNvPr id="20" name="Text 18"/>
          <p:cNvSpPr/>
          <p:nvPr/>
        </p:nvSpPr>
        <p:spPr>
          <a:xfrm>
            <a:off x="548640" y="5321808"/>
            <a:ext cx="10972800" cy="512064"/>
          </a:xfrm>
          <a:prstGeom prst="rect">
            <a:avLst/>
          </a:prstGeom>
          <a:noFill/>
          <a:ln/>
        </p:spPr>
        <p:txBody>
          <a:bodyPr wrap="square" rtlCol="0" anchor="ctr"/>
          <a:lstStyle/>
          <a:p>
            <a:pPr indent="0" marL="0">
              <a:buNone/>
            </a:pPr>
            <a:r>
              <a:rPr lang="en-US" sz="1100" i="1" dirty="0">
                <a:solidFill>
                  <a:srgbClr val="B0C4D8"/>
                </a:solidFill>
                <a:latin typeface="Calibri" pitchFamily="34" charset="0"/>
                <a:ea typeface="Calibri" pitchFamily="34" charset="-122"/>
                <a:cs typeface="Calibri" pitchFamily="34" charset="-120"/>
              </a:rPr>
              <a:t>💡 Engineers rarely build the first idea they think of. Most real designs go through dozens of revisions before they're used.</a:t>
            </a:r>
            <a:endParaRPr lang="en-US" sz="11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Self-Check — Discuss Together</a:t>
            </a:r>
            <a:endParaRPr lang="en-US" sz="1600" dirty="0"/>
          </a:p>
        </p:txBody>
      </p:sp>
      <p:sp>
        <p:nvSpPr>
          <p:cNvPr id="5" name="Shape 3"/>
          <p:cNvSpPr/>
          <p:nvPr/>
        </p:nvSpPr>
        <p:spPr>
          <a:xfrm>
            <a:off x="365760" y="713232"/>
            <a:ext cx="11247120" cy="1810512"/>
          </a:xfrm>
          <a:prstGeom prst="roundRect">
            <a:avLst>
              <a:gd name="adj" fmla="val 4040"/>
            </a:avLst>
          </a:prstGeom>
          <a:solidFill>
            <a:srgbClr val="1E2F45"/>
          </a:solidFill>
          <a:ln w="12700">
            <a:solidFill>
              <a:srgbClr val="4CC9F0"/>
            </a:solidFill>
            <a:prstDash val="solid"/>
          </a:ln>
        </p:spPr>
      </p:sp>
      <p:sp>
        <p:nvSpPr>
          <p:cNvPr id="6" name="Text 4"/>
          <p:cNvSpPr/>
          <p:nvPr/>
        </p:nvSpPr>
        <p:spPr>
          <a:xfrm>
            <a:off x="548640" y="786384"/>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Q1: What's the difference between a CRITERION and a CONSTRAINT?</a:t>
            </a:r>
            <a:endParaRPr lang="en-US" sz="1200" dirty="0"/>
          </a:p>
        </p:txBody>
      </p:sp>
      <p:sp>
        <p:nvSpPr>
          <p:cNvPr id="7" name="Text 5"/>
          <p:cNvSpPr/>
          <p:nvPr/>
        </p:nvSpPr>
        <p:spPr>
          <a:xfrm>
            <a:off x="731520" y="1170432"/>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There is no difference</a:t>
            </a:r>
            <a:endParaRPr lang="en-US" sz="1100" dirty="0"/>
          </a:p>
        </p:txBody>
      </p:sp>
      <p:sp>
        <p:nvSpPr>
          <p:cNvPr id="8" name="Text 6"/>
          <p:cNvSpPr/>
          <p:nvPr/>
        </p:nvSpPr>
        <p:spPr>
          <a:xfrm>
            <a:off x="731520" y="1472184"/>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B) A criterion is a goal; a constraint is a limit ✅</a:t>
            </a:r>
            <a:endParaRPr lang="en-US" sz="1100" dirty="0"/>
          </a:p>
        </p:txBody>
      </p:sp>
      <p:sp>
        <p:nvSpPr>
          <p:cNvPr id="9" name="Text 7"/>
          <p:cNvSpPr/>
          <p:nvPr/>
        </p:nvSpPr>
        <p:spPr>
          <a:xfrm>
            <a:off x="731520" y="1773936"/>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A criterion is cost; a constraint is the benefit</a:t>
            </a:r>
            <a:endParaRPr lang="en-US" sz="1100" dirty="0"/>
          </a:p>
        </p:txBody>
      </p:sp>
      <p:sp>
        <p:nvSpPr>
          <p:cNvPr id="10" name="Text 8"/>
          <p:cNvSpPr/>
          <p:nvPr/>
        </p:nvSpPr>
        <p:spPr>
          <a:xfrm>
            <a:off x="548640" y="2103120"/>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B — criteria = goals, constraints = limits.</a:t>
            </a:r>
            <a:endParaRPr lang="en-US" sz="1000" dirty="0"/>
          </a:p>
        </p:txBody>
      </p:sp>
      <p:sp>
        <p:nvSpPr>
          <p:cNvPr id="11" name="Shape 9"/>
          <p:cNvSpPr/>
          <p:nvPr/>
        </p:nvSpPr>
        <p:spPr>
          <a:xfrm>
            <a:off x="365760" y="2651760"/>
            <a:ext cx="11247120" cy="1810512"/>
          </a:xfrm>
          <a:prstGeom prst="roundRect">
            <a:avLst>
              <a:gd name="adj" fmla="val 4040"/>
            </a:avLst>
          </a:prstGeom>
          <a:solidFill>
            <a:srgbClr val="1E2F45"/>
          </a:solidFill>
          <a:ln w="12700">
            <a:solidFill>
              <a:srgbClr val="4CC9F0"/>
            </a:solidFill>
            <a:prstDash val="solid"/>
          </a:ln>
        </p:spPr>
      </p:sp>
      <p:sp>
        <p:nvSpPr>
          <p:cNvPr id="12" name="Text 10"/>
          <p:cNvSpPr/>
          <p:nvPr/>
        </p:nvSpPr>
        <p:spPr>
          <a:xfrm>
            <a:off x="548640" y="272491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Q2: An engineer compares 3 solutions, picks one, then adds parts from another. This is called:</a:t>
            </a:r>
            <a:endParaRPr lang="en-US" sz="1200" dirty="0"/>
          </a:p>
        </p:txBody>
      </p:sp>
      <p:sp>
        <p:nvSpPr>
          <p:cNvPr id="13" name="Text 11"/>
          <p:cNvSpPr/>
          <p:nvPr/>
        </p:nvSpPr>
        <p:spPr>
          <a:xfrm>
            <a:off x="731520" y="3108960"/>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Defining the problem</a:t>
            </a:r>
            <a:endParaRPr lang="en-US" sz="1100" dirty="0"/>
          </a:p>
        </p:txBody>
      </p:sp>
      <p:sp>
        <p:nvSpPr>
          <p:cNvPr id="14" name="Text 12"/>
          <p:cNvSpPr/>
          <p:nvPr/>
        </p:nvSpPr>
        <p:spPr>
          <a:xfrm>
            <a:off x="731520" y="3410712"/>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B) Setting a constraint</a:t>
            </a:r>
            <a:endParaRPr lang="en-US" sz="1100" dirty="0"/>
          </a:p>
        </p:txBody>
      </p:sp>
      <p:sp>
        <p:nvSpPr>
          <p:cNvPr id="15" name="Text 13"/>
          <p:cNvSpPr/>
          <p:nvPr/>
        </p:nvSpPr>
        <p:spPr>
          <a:xfrm>
            <a:off x="731520" y="3712464"/>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C) Revising the design ✅</a:t>
            </a:r>
            <a:endParaRPr lang="en-US" sz="1100" dirty="0"/>
          </a:p>
        </p:txBody>
      </p:sp>
      <p:sp>
        <p:nvSpPr>
          <p:cNvPr id="16" name="Text 14"/>
          <p:cNvSpPr/>
          <p:nvPr/>
        </p:nvSpPr>
        <p:spPr>
          <a:xfrm>
            <a:off x="548640" y="4041648"/>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C — engineers revise by combining and improving ideas.</a:t>
            </a:r>
            <a:endParaRPr lang="en-US" sz="1000" dirty="0"/>
          </a:p>
        </p:txBody>
      </p:sp>
      <p:sp>
        <p:nvSpPr>
          <p:cNvPr id="17" name="Shape 15"/>
          <p:cNvSpPr/>
          <p:nvPr/>
        </p:nvSpPr>
        <p:spPr>
          <a:xfrm>
            <a:off x="365760" y="4590288"/>
            <a:ext cx="11247120" cy="1810512"/>
          </a:xfrm>
          <a:prstGeom prst="roundRect">
            <a:avLst>
              <a:gd name="adj" fmla="val 4040"/>
            </a:avLst>
          </a:prstGeom>
          <a:solidFill>
            <a:srgbClr val="1E2F45"/>
          </a:solidFill>
          <a:ln w="12700">
            <a:solidFill>
              <a:srgbClr val="4CC9F0"/>
            </a:solidFill>
            <a:prstDash val="solid"/>
          </a:ln>
        </p:spPr>
      </p:sp>
      <p:sp>
        <p:nvSpPr>
          <p:cNvPr id="18" name="Text 16"/>
          <p:cNvSpPr/>
          <p:nvPr/>
        </p:nvSpPr>
        <p:spPr>
          <a:xfrm>
            <a:off x="548640" y="4663440"/>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Q3: Why compare at least TWO solutions before choosing?</a:t>
            </a:r>
            <a:endParaRPr lang="en-US" sz="1200" dirty="0"/>
          </a:p>
        </p:txBody>
      </p:sp>
      <p:sp>
        <p:nvSpPr>
          <p:cNvPr id="19" name="Text 17"/>
          <p:cNvSpPr/>
          <p:nvPr/>
        </p:nvSpPr>
        <p:spPr>
          <a:xfrm>
            <a:off x="731520" y="5047488"/>
            <a:ext cx="10789920" cy="274320"/>
          </a:xfrm>
          <a:prstGeom prst="rect">
            <a:avLst/>
          </a:prstGeom>
          <a:noFill/>
          <a:ln/>
        </p:spPr>
        <p:txBody>
          <a:bodyPr wrap="square" rtlCol="0" anchor="ctr"/>
          <a:lstStyle/>
          <a:p>
            <a:pPr indent="0" marL="0">
              <a:buNone/>
            </a:pPr>
            <a:r>
              <a:rPr lang="en-US" sz="1100" dirty="0">
                <a:solidFill>
                  <a:srgbClr val="2DC653"/>
                </a:solidFill>
                <a:latin typeface="Calibri" pitchFamily="34" charset="0"/>
                <a:ea typeface="Calibri" pitchFamily="34" charset="-122"/>
                <a:cs typeface="Calibri" pitchFamily="34" charset="-120"/>
              </a:rPr>
              <a:t>A) To see which best meets criteria and constraints ✅</a:t>
            </a:r>
            <a:endParaRPr lang="en-US" sz="1100" dirty="0"/>
          </a:p>
        </p:txBody>
      </p:sp>
      <p:sp>
        <p:nvSpPr>
          <p:cNvPr id="20" name="Text 18"/>
          <p:cNvSpPr/>
          <p:nvPr/>
        </p:nvSpPr>
        <p:spPr>
          <a:xfrm>
            <a:off x="731520" y="5349240"/>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B) To spend more money</a:t>
            </a:r>
            <a:endParaRPr lang="en-US" sz="1100" dirty="0"/>
          </a:p>
        </p:txBody>
      </p:sp>
      <p:sp>
        <p:nvSpPr>
          <p:cNvPr id="21" name="Text 19"/>
          <p:cNvSpPr/>
          <p:nvPr/>
        </p:nvSpPr>
        <p:spPr>
          <a:xfrm>
            <a:off x="731520" y="5650992"/>
            <a:ext cx="1078992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To finish faster</a:t>
            </a:r>
            <a:endParaRPr lang="en-US" sz="1100" dirty="0"/>
          </a:p>
        </p:txBody>
      </p:sp>
      <p:sp>
        <p:nvSpPr>
          <p:cNvPr id="22" name="Text 20"/>
          <p:cNvSpPr/>
          <p:nvPr/>
        </p:nvSpPr>
        <p:spPr>
          <a:xfrm>
            <a:off x="548640" y="5980176"/>
            <a:ext cx="10972800" cy="256032"/>
          </a:xfrm>
          <a:prstGeom prst="rect">
            <a:avLst/>
          </a:prstGeom>
          <a:noFill/>
          <a:ln/>
        </p:spPr>
        <p:txBody>
          <a:bodyPr wrap="square" rtlCol="0" anchor="ctr"/>
          <a:lstStyle/>
          <a:p>
            <a:pPr indent="0" marL="0">
              <a:buNone/>
            </a:pPr>
            <a:r>
              <a:rPr lang="en-US" sz="1000" i="1" dirty="0">
                <a:solidFill>
                  <a:srgbClr val="8899AA"/>
                </a:solidFill>
                <a:latin typeface="Calibri" pitchFamily="34" charset="0"/>
                <a:ea typeface="Calibri" pitchFamily="34" charset="-122"/>
                <a:cs typeface="Calibri" pitchFamily="34" charset="-120"/>
              </a:rPr>
              <a:t>→ A — comparison reveals the best fit AND shows where to revise.</a:t>
            </a:r>
            <a:endParaRPr lang="en-US" sz="10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Assignment Preview — What to Turn In</a:t>
            </a:r>
            <a:endParaRPr lang="en-US" sz="1600" dirty="0"/>
          </a:p>
        </p:txBody>
      </p:sp>
      <p:sp>
        <p:nvSpPr>
          <p:cNvPr id="5" name="Text 3"/>
          <p:cNvSpPr/>
          <p:nvPr/>
        </p:nvSpPr>
        <p:spPr>
          <a:xfrm>
            <a:off x="365760" y="713232"/>
            <a:ext cx="11247120" cy="329184"/>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Your decision matrix from the Explore activity is the centerpiece of this assignment.</a:t>
            </a:r>
            <a:endParaRPr lang="en-US" sz="1200" dirty="0"/>
          </a:p>
        </p:txBody>
      </p:sp>
      <p:sp>
        <p:nvSpPr>
          <p:cNvPr id="6" name="Shape 4"/>
          <p:cNvSpPr/>
          <p:nvPr/>
        </p:nvSpPr>
        <p:spPr>
          <a:xfrm>
            <a:off x="365760" y="1115568"/>
            <a:ext cx="11247120" cy="1207008"/>
          </a:xfrm>
          <a:prstGeom prst="roundRect">
            <a:avLst>
              <a:gd name="adj" fmla="val 6061"/>
            </a:avLst>
          </a:prstGeom>
          <a:solidFill>
            <a:srgbClr val="1E2F45"/>
          </a:solidFill>
          <a:ln w="12700">
            <a:solidFill>
              <a:srgbClr val="FFB703"/>
            </a:solidFill>
            <a:prstDash val="solid"/>
          </a:ln>
        </p:spPr>
      </p:sp>
      <p:sp>
        <p:nvSpPr>
          <p:cNvPr id="7" name="Shape 5"/>
          <p:cNvSpPr/>
          <p:nvPr/>
        </p:nvSpPr>
        <p:spPr>
          <a:xfrm>
            <a:off x="502920" y="1225296"/>
            <a:ext cx="1554480" cy="256032"/>
          </a:xfrm>
          <a:prstGeom prst="roundRect">
            <a:avLst>
              <a:gd name="adj" fmla="val 50000"/>
            </a:avLst>
          </a:prstGeom>
          <a:solidFill>
            <a:srgbClr val="E09200"/>
          </a:solidFill>
          <a:ln w="12700">
            <a:solidFill>
              <a:srgbClr val="E09200"/>
            </a:solidFill>
            <a:prstDash val="solid"/>
          </a:ln>
        </p:spPr>
      </p:sp>
      <p:sp>
        <p:nvSpPr>
          <p:cNvPr id="8" name="Text 6"/>
          <p:cNvSpPr/>
          <p:nvPr/>
        </p:nvSpPr>
        <p:spPr>
          <a:xfrm>
            <a:off x="502920" y="12252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A — Match the Word</a:t>
            </a:r>
            <a:endParaRPr lang="en-US" sz="900" dirty="0"/>
          </a:p>
        </p:txBody>
      </p:sp>
      <p:sp>
        <p:nvSpPr>
          <p:cNvPr id="9" name="Text 7"/>
          <p:cNvSpPr/>
          <p:nvPr/>
        </p:nvSpPr>
        <p:spPr>
          <a:xfrm>
            <a:off x="2240280" y="1225296"/>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Criteria, Constraint, Solution, Revise — 4 blanks</a:t>
            </a:r>
            <a:endParaRPr lang="en-US" sz="1200" dirty="0"/>
          </a:p>
        </p:txBody>
      </p:sp>
      <p:sp>
        <p:nvSpPr>
          <p:cNvPr id="10" name="Shape 8"/>
          <p:cNvSpPr/>
          <p:nvPr/>
        </p:nvSpPr>
        <p:spPr>
          <a:xfrm>
            <a:off x="9784080" y="1225296"/>
            <a:ext cx="1554480" cy="256032"/>
          </a:xfrm>
          <a:prstGeom prst="roundRect">
            <a:avLst>
              <a:gd name="adj" fmla="val 50000"/>
            </a:avLst>
          </a:prstGeom>
          <a:solidFill>
            <a:srgbClr val="243A52"/>
          </a:solidFill>
          <a:ln w="12700">
            <a:solidFill>
              <a:srgbClr val="243A52"/>
            </a:solidFill>
            <a:prstDash val="solid"/>
          </a:ln>
        </p:spPr>
      </p:sp>
      <p:sp>
        <p:nvSpPr>
          <p:cNvPr id="11" name="Text 9"/>
          <p:cNvSpPr/>
          <p:nvPr/>
        </p:nvSpPr>
        <p:spPr>
          <a:xfrm>
            <a:off x="9784080" y="1225296"/>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4-5</a:t>
            </a:r>
            <a:endParaRPr lang="en-US" sz="900" dirty="0"/>
          </a:p>
        </p:txBody>
      </p:sp>
      <p:sp>
        <p:nvSpPr>
          <p:cNvPr id="12" name="Shape 10"/>
          <p:cNvSpPr/>
          <p:nvPr/>
        </p:nvSpPr>
        <p:spPr>
          <a:xfrm>
            <a:off x="365760" y="2450592"/>
            <a:ext cx="11247120" cy="1207008"/>
          </a:xfrm>
          <a:prstGeom prst="roundRect">
            <a:avLst>
              <a:gd name="adj" fmla="val 6061"/>
            </a:avLst>
          </a:prstGeom>
          <a:solidFill>
            <a:srgbClr val="1E2F45"/>
          </a:solidFill>
          <a:ln w="12700">
            <a:solidFill>
              <a:srgbClr val="FFB703"/>
            </a:solidFill>
            <a:prstDash val="solid"/>
          </a:ln>
        </p:spPr>
      </p:sp>
      <p:sp>
        <p:nvSpPr>
          <p:cNvPr id="13" name="Shape 11"/>
          <p:cNvSpPr/>
          <p:nvPr/>
        </p:nvSpPr>
        <p:spPr>
          <a:xfrm>
            <a:off x="502920" y="2560320"/>
            <a:ext cx="1554480" cy="256032"/>
          </a:xfrm>
          <a:prstGeom prst="roundRect">
            <a:avLst>
              <a:gd name="adj" fmla="val 50000"/>
            </a:avLst>
          </a:prstGeom>
          <a:solidFill>
            <a:srgbClr val="E09200"/>
          </a:solidFill>
          <a:ln w="12700">
            <a:solidFill>
              <a:srgbClr val="E09200"/>
            </a:solidFill>
            <a:prstDash val="solid"/>
          </a:ln>
        </p:spPr>
      </p:sp>
      <p:sp>
        <p:nvSpPr>
          <p:cNvPr id="14" name="Text 12"/>
          <p:cNvSpPr/>
          <p:nvPr/>
        </p:nvSpPr>
        <p:spPr>
          <a:xfrm>
            <a:off x="502920" y="25603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 B — Short Answer</a:t>
            </a:r>
            <a:endParaRPr lang="en-US" sz="900" dirty="0"/>
          </a:p>
        </p:txBody>
      </p:sp>
      <p:sp>
        <p:nvSpPr>
          <p:cNvPr id="15" name="Text 13"/>
          <p:cNvSpPr/>
          <p:nvPr/>
        </p:nvSpPr>
        <p:spPr>
          <a:xfrm>
            <a:off x="2240280" y="2560320"/>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One criterion + one constraint for a FL challenge; explain WHY engineers compare solutions (use 'evaluate'); explain why revision is important with an example</a:t>
            </a:r>
            <a:endParaRPr lang="en-US" sz="1200" dirty="0"/>
          </a:p>
        </p:txBody>
      </p:sp>
      <p:sp>
        <p:nvSpPr>
          <p:cNvPr id="16" name="Shape 14"/>
          <p:cNvSpPr/>
          <p:nvPr/>
        </p:nvSpPr>
        <p:spPr>
          <a:xfrm>
            <a:off x="9784080" y="2560320"/>
            <a:ext cx="1554480" cy="256032"/>
          </a:xfrm>
          <a:prstGeom prst="roundRect">
            <a:avLst>
              <a:gd name="adj" fmla="val 50000"/>
            </a:avLst>
          </a:prstGeom>
          <a:solidFill>
            <a:srgbClr val="243A52"/>
          </a:solidFill>
          <a:ln w="12700">
            <a:solidFill>
              <a:srgbClr val="243A52"/>
            </a:solidFill>
            <a:prstDash val="solid"/>
          </a:ln>
        </p:spPr>
      </p:sp>
      <p:sp>
        <p:nvSpPr>
          <p:cNvPr id="17" name="Text 15"/>
          <p:cNvSpPr/>
          <p:nvPr/>
        </p:nvSpPr>
        <p:spPr>
          <a:xfrm>
            <a:off x="9784080" y="2560320"/>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6-11</a:t>
            </a:r>
            <a:endParaRPr lang="en-US" sz="900" dirty="0"/>
          </a:p>
        </p:txBody>
      </p:sp>
      <p:sp>
        <p:nvSpPr>
          <p:cNvPr id="18" name="Shape 16"/>
          <p:cNvSpPr/>
          <p:nvPr/>
        </p:nvSpPr>
        <p:spPr>
          <a:xfrm>
            <a:off x="365760" y="3785616"/>
            <a:ext cx="11247120" cy="1207008"/>
          </a:xfrm>
          <a:prstGeom prst="roundRect">
            <a:avLst>
              <a:gd name="adj" fmla="val 6061"/>
            </a:avLst>
          </a:prstGeom>
          <a:solidFill>
            <a:srgbClr val="1E2F45"/>
          </a:solidFill>
          <a:ln w="12700">
            <a:solidFill>
              <a:srgbClr val="FFB703"/>
            </a:solidFill>
            <a:prstDash val="solid"/>
          </a:ln>
        </p:spPr>
      </p:sp>
      <p:sp>
        <p:nvSpPr>
          <p:cNvPr id="19" name="Shape 17"/>
          <p:cNvSpPr/>
          <p:nvPr/>
        </p:nvSpPr>
        <p:spPr>
          <a:xfrm>
            <a:off x="502920" y="3895344"/>
            <a:ext cx="1554480" cy="256032"/>
          </a:xfrm>
          <a:prstGeom prst="roundRect">
            <a:avLst>
              <a:gd name="adj" fmla="val 50000"/>
            </a:avLst>
          </a:prstGeom>
          <a:solidFill>
            <a:srgbClr val="E09200"/>
          </a:solidFill>
          <a:ln w="12700">
            <a:solidFill>
              <a:srgbClr val="E09200"/>
            </a:solidFill>
            <a:prstDash val="solid"/>
          </a:ln>
        </p:spPr>
      </p:sp>
      <p:sp>
        <p:nvSpPr>
          <p:cNvPr id="20" name="Text 18"/>
          <p:cNvSpPr/>
          <p:nvPr/>
        </p:nvSpPr>
        <p:spPr>
          <a:xfrm>
            <a:off x="502920" y="389534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Explore: Decision Matrix</a:t>
            </a:r>
            <a:endParaRPr lang="en-US" sz="900" dirty="0"/>
          </a:p>
        </p:txBody>
      </p:sp>
      <p:sp>
        <p:nvSpPr>
          <p:cNvPr id="21" name="Text 19"/>
          <p:cNvSpPr/>
          <p:nvPr/>
        </p:nvSpPr>
        <p:spPr>
          <a:xfrm>
            <a:off x="2240280" y="3895344"/>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Your completed matrix — problem defined, 2 solutions scored against 2 criteria, winner chosen, 1 revision sentence with 'This could be stronger by ___'</a:t>
            </a:r>
            <a:endParaRPr lang="en-US" sz="1200" dirty="0"/>
          </a:p>
        </p:txBody>
      </p:sp>
      <p:sp>
        <p:nvSpPr>
          <p:cNvPr id="22" name="Shape 20"/>
          <p:cNvSpPr/>
          <p:nvPr/>
        </p:nvSpPr>
        <p:spPr>
          <a:xfrm>
            <a:off x="9784080" y="3895344"/>
            <a:ext cx="1554480" cy="256032"/>
          </a:xfrm>
          <a:prstGeom prst="roundRect">
            <a:avLst>
              <a:gd name="adj" fmla="val 50000"/>
            </a:avLst>
          </a:prstGeom>
          <a:solidFill>
            <a:srgbClr val="243A52"/>
          </a:solidFill>
          <a:ln w="12700">
            <a:solidFill>
              <a:srgbClr val="243A52"/>
            </a:solidFill>
            <a:prstDash val="solid"/>
          </a:ln>
        </p:spPr>
      </p:sp>
      <p:sp>
        <p:nvSpPr>
          <p:cNvPr id="23" name="Text 21"/>
          <p:cNvSpPr/>
          <p:nvPr/>
        </p:nvSpPr>
        <p:spPr>
          <a:xfrm>
            <a:off x="9784080" y="3895344"/>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 11</a:t>
            </a:r>
            <a:endParaRPr lang="en-US" sz="900" dirty="0"/>
          </a:p>
        </p:txBody>
      </p:sp>
      <p:sp>
        <p:nvSpPr>
          <p:cNvPr id="24" name="Shape 22"/>
          <p:cNvSpPr/>
          <p:nvPr/>
        </p:nvSpPr>
        <p:spPr>
          <a:xfrm>
            <a:off x="365760" y="5120640"/>
            <a:ext cx="11247120" cy="1207008"/>
          </a:xfrm>
          <a:prstGeom prst="roundRect">
            <a:avLst>
              <a:gd name="adj" fmla="val 6061"/>
            </a:avLst>
          </a:prstGeom>
          <a:solidFill>
            <a:srgbClr val="1E2F45"/>
          </a:solidFill>
          <a:ln w="12700">
            <a:solidFill>
              <a:srgbClr val="FFB703"/>
            </a:solidFill>
            <a:prstDash val="solid"/>
          </a:ln>
        </p:spPr>
      </p:sp>
      <p:sp>
        <p:nvSpPr>
          <p:cNvPr id="25" name="Shape 23"/>
          <p:cNvSpPr/>
          <p:nvPr/>
        </p:nvSpPr>
        <p:spPr>
          <a:xfrm>
            <a:off x="502920" y="5230368"/>
            <a:ext cx="1554480" cy="256032"/>
          </a:xfrm>
          <a:prstGeom prst="roundRect">
            <a:avLst>
              <a:gd name="adj" fmla="val 50000"/>
            </a:avLst>
          </a:prstGeom>
          <a:solidFill>
            <a:srgbClr val="E09200"/>
          </a:solidFill>
          <a:ln w="12700">
            <a:solidFill>
              <a:srgbClr val="E09200"/>
            </a:solidFill>
            <a:prstDash val="solid"/>
          </a:ln>
        </p:spPr>
      </p:sp>
      <p:sp>
        <p:nvSpPr>
          <p:cNvPr id="26" name="Text 24"/>
          <p:cNvSpPr/>
          <p:nvPr/>
        </p:nvSpPr>
        <p:spPr>
          <a:xfrm>
            <a:off x="502920" y="52303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Evidence Argument</a:t>
            </a:r>
            <a:endParaRPr lang="en-US" sz="900" dirty="0"/>
          </a:p>
        </p:txBody>
      </p:sp>
      <p:sp>
        <p:nvSpPr>
          <p:cNvPr id="27" name="Text 25"/>
          <p:cNvSpPr/>
          <p:nvPr/>
        </p:nvSpPr>
        <p:spPr>
          <a:xfrm>
            <a:off x="2240280" y="5230368"/>
            <a:ext cx="7315200" cy="53035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Respond to: 'Just pick the smartest scientist's first idea.' Disagree with 2 pieces of evidence.</a:t>
            </a:r>
            <a:endParaRPr lang="en-US" sz="1200" dirty="0"/>
          </a:p>
        </p:txBody>
      </p:sp>
      <p:sp>
        <p:nvSpPr>
          <p:cNvPr id="28" name="Shape 26"/>
          <p:cNvSpPr/>
          <p:nvPr/>
        </p:nvSpPr>
        <p:spPr>
          <a:xfrm>
            <a:off x="9784080" y="5230368"/>
            <a:ext cx="1554480" cy="256032"/>
          </a:xfrm>
          <a:prstGeom prst="roundRect">
            <a:avLst>
              <a:gd name="adj" fmla="val 50000"/>
            </a:avLst>
          </a:prstGeom>
          <a:solidFill>
            <a:srgbClr val="243A52"/>
          </a:solidFill>
          <a:ln w="12700">
            <a:solidFill>
              <a:srgbClr val="243A52"/>
            </a:solidFill>
            <a:prstDash val="solid"/>
          </a:ln>
        </p:spPr>
      </p:sp>
      <p:sp>
        <p:nvSpPr>
          <p:cNvPr id="29" name="Text 27"/>
          <p:cNvSpPr/>
          <p:nvPr/>
        </p:nvSpPr>
        <p:spPr>
          <a:xfrm>
            <a:off x="9784080" y="5230368"/>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Slides 12-13</a:t>
            </a:r>
            <a:endParaRPr lang="en-US" sz="900" dirty="0"/>
          </a:p>
        </p:txBody>
      </p:sp>
      <p:sp>
        <p:nvSpPr>
          <p:cNvPr id="30" name="Shape 28"/>
          <p:cNvSpPr/>
          <p:nvPr/>
        </p:nvSpPr>
        <p:spPr>
          <a:xfrm>
            <a:off x="0" y="6629400"/>
            <a:ext cx="12192000" cy="228600"/>
          </a:xfrm>
          <a:prstGeom prst="rect">
            <a:avLst/>
          </a:prstGeom>
          <a:solidFill>
            <a:srgbClr val="162233"/>
          </a:solidFill>
          <a:ln/>
        </p:spPr>
      </p:sp>
      <p:sp>
        <p:nvSpPr>
          <p:cNvPr id="31" name="Text 2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can we compare different solutions for using resources — and pick the best one to revise and improve?"</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All 4 vocab blanks (Criteria, Constraint, Solution, Revise)</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Q5-7 using lesson vocabulary including 'evaluate'</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Decision Matrix: Problem + 2 solutions + 2 criteria + scores + winner + revision sentence</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Evidence Argument: Disagree with 'first idea is best' using 2 specific examples</a:t>
            </a:r>
            <a:endParaRPr lang="en-US" sz="1100" dirty="0"/>
          </a:p>
        </p:txBody>
      </p:sp>
      <p:sp>
        <p:nvSpPr>
          <p:cNvPr id="14" name="Shape 12"/>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5" name="Text 13"/>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6" name="Text 14"/>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Module 16 complete! Next up: Q3 begins — reviewing key concepts from Q2 and building on ecosystem and resources connections.</a:t>
            </a:r>
            <a:endParaRPr lang="en-US" sz="1200" dirty="0"/>
          </a:p>
        </p:txBody>
      </p:sp>
      <p:sp>
        <p:nvSpPr>
          <p:cNvPr id="17" name="Shape 15"/>
          <p:cNvSpPr/>
          <p:nvPr/>
        </p:nvSpPr>
        <p:spPr>
          <a:xfrm>
            <a:off x="0" y="5047488"/>
            <a:ext cx="12192000" cy="45720"/>
          </a:xfrm>
          <a:prstGeom prst="rect">
            <a:avLst/>
          </a:prstGeom>
          <a:solidFill>
            <a:srgbClr val="4CC9F0"/>
          </a:solidFill>
          <a:ln/>
        </p:spPr>
      </p:sp>
      <p:sp>
        <p:nvSpPr>
          <p:cNvPr id="18" name="Text 16"/>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Iteration: Engineering Never Really Stops</a:t>
            </a:r>
            <a:endParaRPr lang="en-US" sz="1600" dirty="0"/>
          </a:p>
        </p:txBody>
      </p:sp>
      <p:sp>
        <p:nvSpPr>
          <p:cNvPr id="5" name="Shape 3"/>
          <p:cNvSpPr/>
          <p:nvPr/>
        </p:nvSpPr>
        <p:spPr>
          <a:xfrm>
            <a:off x="365760" y="749808"/>
            <a:ext cx="7132320" cy="3639312"/>
          </a:xfrm>
          <a:prstGeom prst="roundRect">
            <a:avLst>
              <a:gd name="adj" fmla="val 2010"/>
            </a:avLst>
          </a:prstGeom>
          <a:solidFill>
            <a:srgbClr val="1A0A05"/>
          </a:solidFill>
          <a:ln w="12700">
            <a:solidFill>
              <a:srgbClr val="F4736A"/>
            </a:solidFill>
            <a:prstDash val="solid"/>
          </a:ln>
        </p:spPr>
      </p:sp>
      <p:sp>
        <p:nvSpPr>
          <p:cNvPr id="6" name="Text 4"/>
          <p:cNvSpPr/>
          <p:nvPr/>
        </p:nvSpPr>
        <p:spPr>
          <a:xfrm>
            <a:off x="548640" y="822960"/>
            <a:ext cx="6766560" cy="384048"/>
          </a:xfrm>
          <a:prstGeom prst="rect">
            <a:avLst/>
          </a:prstGeom>
          <a:noFill/>
          <a:ln/>
        </p:spPr>
        <p:txBody>
          <a:bodyPr wrap="square" rtlCol="0" anchor="ctr"/>
          <a:lstStyle/>
          <a:p>
            <a:pPr indent="0" marL="0">
              <a:buNone/>
            </a:pPr>
            <a:r>
              <a:rPr lang="en-US" sz="1600" b="1" dirty="0">
                <a:solidFill>
                  <a:srgbClr val="F4736A"/>
                </a:solidFill>
                <a:latin typeface="Calibri" pitchFamily="34" charset="0"/>
                <a:ea typeface="Calibri" pitchFamily="34" charset="-122"/>
                <a:cs typeface="Calibri" pitchFamily="34" charset="-120"/>
              </a:rPr>
              <a:t>🛠️ What Is Iteration?</a:t>
            </a:r>
            <a:endParaRPr lang="en-US" sz="1600" dirty="0"/>
          </a:p>
        </p:txBody>
      </p:sp>
      <p:sp>
        <p:nvSpPr>
          <p:cNvPr id="7" name="Text 5"/>
          <p:cNvSpPr/>
          <p:nvPr/>
        </p:nvSpPr>
        <p:spPr>
          <a:xfrm>
            <a:off x="548640" y="1261872"/>
            <a:ext cx="6766560" cy="2962656"/>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Iteration means doing something AGAIN with improvements each time. Engineers build a small test, see what worked and what didn't, then revise and try again. That cycle — test → learn → revise → test again — is how real solutions get built.</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The first version is almost NEVER the final one.</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Examples: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Tampa Bay desalination: 20+ years of iterations before it worked reliably</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Florida solar panels: efficiency improved from ~10% to 22%+ over 30 years of iterating</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 Electric cars: first ones lasted 100 miles; now up to 400+ miles per charge</a:t>
            </a:r>
            <a:endParaRPr lang="en-US" sz="1200" dirty="0"/>
          </a:p>
        </p:txBody>
      </p:sp>
      <p:sp>
        <p:nvSpPr>
          <p:cNvPr id="8" name="Shape 6"/>
          <p:cNvSpPr/>
          <p:nvPr/>
        </p:nvSpPr>
        <p:spPr>
          <a:xfrm>
            <a:off x="7863840" y="749808"/>
            <a:ext cx="3749040" cy="3639312"/>
          </a:xfrm>
          <a:prstGeom prst="roundRect">
            <a:avLst>
              <a:gd name="adj" fmla="val 2010"/>
            </a:avLst>
          </a:prstGeom>
          <a:solidFill>
            <a:srgbClr val="1E2F45"/>
          </a:solidFill>
          <a:ln w="12700">
            <a:solidFill>
              <a:srgbClr val="FFB703"/>
            </a:solidFill>
            <a:prstDash val="solid"/>
          </a:ln>
        </p:spPr>
      </p:sp>
      <p:sp>
        <p:nvSpPr>
          <p:cNvPr id="9" name="Text 7"/>
          <p:cNvSpPr/>
          <p:nvPr/>
        </p:nvSpPr>
        <p:spPr>
          <a:xfrm>
            <a:off x="8046720" y="822960"/>
            <a:ext cx="338328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How Many Revisions?</a:t>
            </a:r>
            <a:endParaRPr lang="en-US" sz="1300" dirty="0"/>
          </a:p>
        </p:txBody>
      </p:sp>
      <p:sp>
        <p:nvSpPr>
          <p:cNvPr id="10" name="Text 8"/>
          <p:cNvSpPr/>
          <p:nvPr/>
        </p:nvSpPr>
        <p:spPr>
          <a:xfrm>
            <a:off x="8046720" y="1207008"/>
            <a:ext cx="3383280" cy="29992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Engineers rarely build the first idea they think of.</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Most real designs go through DOZENS — sometimes HUNDREDS — of revisions before they're used.</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A bridge, a power plant, even a school playground all started as rough sketches that got revised many, many times.</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'Getting it right' means going through the cycle many times — not having a brilliant flash of insight once.</a:t>
            </a:r>
            <a:endParaRPr lang="en-US" sz="1150" dirty="0"/>
          </a:p>
        </p:txBody>
      </p:sp>
      <p:sp>
        <p:nvSpPr>
          <p:cNvPr id="11" name="Shape 9"/>
          <p:cNvSpPr/>
          <p:nvPr/>
        </p:nvSpPr>
        <p:spPr>
          <a:xfrm>
            <a:off x="365760" y="4517136"/>
            <a:ext cx="11247120" cy="1298448"/>
          </a:xfrm>
          <a:prstGeom prst="roundRect">
            <a:avLst>
              <a:gd name="adj" fmla="val 5634"/>
            </a:avLst>
          </a:prstGeom>
          <a:solidFill>
            <a:srgbClr val="162233"/>
          </a:solidFill>
          <a:ln w="12700">
            <a:solidFill>
              <a:srgbClr val="FFB703"/>
            </a:solidFill>
            <a:prstDash val="solid"/>
          </a:ln>
        </p:spPr>
      </p:sp>
      <p:sp>
        <p:nvSpPr>
          <p:cNvPr id="12" name="Text 10"/>
          <p:cNvSpPr/>
          <p:nvPr/>
        </p:nvSpPr>
        <p:spPr>
          <a:xfrm>
            <a:off x="530352" y="4590288"/>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Discuss:</a:t>
            </a:r>
            <a:endParaRPr lang="en-US" sz="1300" dirty="0"/>
          </a:p>
        </p:txBody>
      </p:sp>
      <p:sp>
        <p:nvSpPr>
          <p:cNvPr id="13" name="Text 11"/>
          <p:cNvSpPr/>
          <p:nvPr/>
        </p:nvSpPr>
        <p:spPr>
          <a:xfrm>
            <a:off x="530352" y="4956048"/>
            <a:ext cx="10917936" cy="749808"/>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Think of something you've improved over time — a skill, a drawing, a game strategy. What's ONE revision you made that actually worked? How did you know it was an improvement?</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Case Study: Tampa Bay Desalination — 20 Years of Engineering</a:t>
            </a:r>
            <a:endParaRPr lang="en-US" sz="1600" dirty="0"/>
          </a:p>
        </p:txBody>
      </p:sp>
      <p:sp>
        <p:nvSpPr>
          <p:cNvPr id="5" name="Shape 3"/>
          <p:cNvSpPr/>
          <p:nvPr/>
        </p:nvSpPr>
        <p:spPr>
          <a:xfrm>
            <a:off x="365760" y="749808"/>
            <a:ext cx="5303520" cy="4096512"/>
          </a:xfrm>
          <a:prstGeom prst="roundRect">
            <a:avLst>
              <a:gd name="adj" fmla="val 1786"/>
            </a:avLst>
          </a:prstGeom>
          <a:solidFill>
            <a:srgbClr val="0A1520"/>
          </a:solidFill>
          <a:ln w="19050">
            <a:solidFill>
              <a:srgbClr val="4CC9F0"/>
            </a:solidFill>
            <a:prstDash val="dash"/>
          </a:ln>
        </p:spPr>
      </p:sp>
      <p:sp>
        <p:nvSpPr>
          <p:cNvPr id="6" name="Text 4"/>
          <p:cNvSpPr/>
          <p:nvPr/>
        </p:nvSpPr>
        <p:spPr>
          <a:xfrm>
            <a:off x="457200" y="859536"/>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084064" cy="3044952"/>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"Tampa Bay desalination plant Florida water treatment facility engineering large scale infrastructure"</a:t>
            </a:r>
            <a:endParaRPr lang="en-US" sz="950" dirty="0"/>
          </a:p>
        </p:txBody>
      </p:sp>
      <p:sp>
        <p:nvSpPr>
          <p:cNvPr id="9" name="Text 7"/>
          <p:cNvSpPr/>
          <p:nvPr/>
        </p:nvSpPr>
        <p:spPr>
          <a:xfrm>
            <a:off x="365760" y="4882896"/>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Tampa Bay Seawater Desalination Facility — 25 million gallons of fresh water per day</a:t>
            </a:r>
            <a:endParaRPr lang="en-US" sz="900" dirty="0"/>
          </a:p>
        </p:txBody>
      </p:sp>
      <p:sp>
        <p:nvSpPr>
          <p:cNvPr id="10" name="Shape 8"/>
          <p:cNvSpPr/>
          <p:nvPr/>
        </p:nvSpPr>
        <p:spPr>
          <a:xfrm>
            <a:off x="5852160" y="749808"/>
            <a:ext cx="5760720" cy="1664208"/>
          </a:xfrm>
          <a:prstGeom prst="roundRect">
            <a:avLst>
              <a:gd name="adj" fmla="val 4396"/>
            </a:avLst>
          </a:prstGeom>
          <a:solidFill>
            <a:srgbClr val="1E2F45"/>
          </a:solidFill>
          <a:ln w="12700">
            <a:solidFill>
              <a:srgbClr val="4CC9F0"/>
            </a:solidFill>
            <a:prstDash val="solid"/>
          </a:ln>
        </p:spPr>
      </p:sp>
      <p:sp>
        <p:nvSpPr>
          <p:cNvPr id="11" name="Text 9"/>
          <p:cNvSpPr/>
          <p:nvPr/>
        </p:nvSpPr>
        <p:spPr>
          <a:xfrm>
            <a:off x="6035040" y="822960"/>
            <a:ext cx="5394960" cy="329184"/>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The Numbers:</a:t>
            </a:r>
            <a:endParaRPr lang="en-US" sz="1200" dirty="0"/>
          </a:p>
        </p:txBody>
      </p:sp>
      <p:sp>
        <p:nvSpPr>
          <p:cNvPr id="12" name="Text 10"/>
          <p:cNvSpPr/>
          <p:nvPr/>
        </p:nvSpPr>
        <p:spPr>
          <a:xfrm>
            <a:off x="6035040" y="1188720"/>
            <a:ext cx="5394960" cy="1115568"/>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 25 million gallons of fresh water PER DAY</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Serves ~10% of Tampa Bay area's water needs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Cost: ~$158 million to build</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One of North America's largest desalination plants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Took 20+ years from idea to reliable operation</a:t>
            </a:r>
            <a:endParaRPr lang="en-US" sz="1150" dirty="0"/>
          </a:p>
        </p:txBody>
      </p:sp>
      <p:sp>
        <p:nvSpPr>
          <p:cNvPr id="13" name="Shape 11"/>
          <p:cNvSpPr/>
          <p:nvPr/>
        </p:nvSpPr>
        <p:spPr>
          <a:xfrm>
            <a:off x="5852160" y="2542032"/>
            <a:ext cx="5760720" cy="1627632"/>
          </a:xfrm>
          <a:prstGeom prst="roundRect">
            <a:avLst>
              <a:gd name="adj" fmla="val 4494"/>
            </a:avLst>
          </a:prstGeom>
          <a:solidFill>
            <a:srgbClr val="1E2F45"/>
          </a:solidFill>
          <a:ln w="12700">
            <a:solidFill>
              <a:srgbClr val="FFB703"/>
            </a:solidFill>
            <a:prstDash val="solid"/>
          </a:ln>
        </p:spPr>
      </p:sp>
      <p:sp>
        <p:nvSpPr>
          <p:cNvPr id="14" name="Text 12"/>
          <p:cNvSpPr/>
          <p:nvPr/>
        </p:nvSpPr>
        <p:spPr>
          <a:xfrm>
            <a:off x="6035040" y="2615184"/>
            <a:ext cx="539496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What Went Wrong (and had to be fixed):</a:t>
            </a:r>
            <a:endParaRPr lang="en-US" sz="1200" dirty="0"/>
          </a:p>
        </p:txBody>
      </p:sp>
      <p:sp>
        <p:nvSpPr>
          <p:cNvPr id="15" name="Text 13"/>
          <p:cNvSpPr/>
          <p:nvPr/>
        </p:nvSpPr>
        <p:spPr>
          <a:xfrm>
            <a:off x="6035040" y="2999232"/>
            <a:ext cx="5394960" cy="104241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Early design: membranes clogged with algae → needed complete redesign</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First operator: went bankrupt mid-construction → needed new contractor</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Energy use: original design too costly → improved membrane technology cut energy use by 30%</a:t>
            </a:r>
            <a:endParaRPr lang="en-US" sz="1100" dirty="0"/>
          </a:p>
        </p:txBody>
      </p:sp>
      <p:sp>
        <p:nvSpPr>
          <p:cNvPr id="16" name="Shape 14"/>
          <p:cNvSpPr/>
          <p:nvPr/>
        </p:nvSpPr>
        <p:spPr>
          <a:xfrm>
            <a:off x="5852160" y="4297680"/>
            <a:ext cx="5760720" cy="548640"/>
          </a:xfrm>
          <a:prstGeom prst="roundRect">
            <a:avLst>
              <a:gd name="adj" fmla="val 13333"/>
            </a:avLst>
          </a:prstGeom>
          <a:solidFill>
            <a:srgbClr val="0A1A0A"/>
          </a:solidFill>
          <a:ln w="12700">
            <a:solidFill>
              <a:srgbClr val="2DC653"/>
            </a:solidFill>
            <a:prstDash val="solid"/>
          </a:ln>
        </p:spPr>
      </p:sp>
      <p:sp>
        <p:nvSpPr>
          <p:cNvPr id="17" name="Text 15"/>
          <p:cNvSpPr/>
          <p:nvPr/>
        </p:nvSpPr>
        <p:spPr>
          <a:xfrm>
            <a:off x="6035040" y="4370832"/>
            <a:ext cx="5394960" cy="402336"/>
          </a:xfrm>
          <a:prstGeom prst="rect">
            <a:avLst/>
          </a:prstGeom>
          <a:noFill/>
          <a:ln/>
        </p:spPr>
        <p:txBody>
          <a:bodyPr wrap="square" rtlCol="0" anchor="ctr"/>
          <a:lstStyle/>
          <a:p>
            <a:pPr indent="0" marL="0">
              <a:buNone/>
            </a:pPr>
            <a:r>
              <a:rPr lang="en-US" sz="1150" i="1" dirty="0">
                <a:solidFill>
                  <a:srgbClr val="2DC653"/>
                </a:solidFill>
                <a:latin typeface="Calibri" pitchFamily="34" charset="0"/>
                <a:ea typeface="Calibri" pitchFamily="34" charset="-122"/>
                <a:cs typeface="Calibri" pitchFamily="34" charset="-120"/>
              </a:rPr>
              <a:t>Each failure → revision → improvement. That's iteration in action.</a:t>
            </a:r>
            <a:endParaRPr lang="en-US" sz="1150" dirty="0"/>
          </a:p>
        </p:txBody>
      </p:sp>
      <p:sp>
        <p:nvSpPr>
          <p:cNvPr id="18" name="Shape 16"/>
          <p:cNvSpPr/>
          <p:nvPr/>
        </p:nvSpPr>
        <p:spPr>
          <a:xfrm>
            <a:off x="365760" y="4974336"/>
            <a:ext cx="11247120" cy="932688"/>
          </a:xfrm>
          <a:prstGeom prst="roundRect">
            <a:avLst>
              <a:gd name="adj" fmla="val 7843"/>
            </a:avLst>
          </a:prstGeom>
          <a:solidFill>
            <a:srgbClr val="162233"/>
          </a:solidFill>
          <a:ln w="12700">
            <a:solidFill>
              <a:srgbClr val="FFB703"/>
            </a:solidFill>
            <a:prstDash val="solid"/>
          </a:ln>
        </p:spPr>
      </p:sp>
      <p:sp>
        <p:nvSpPr>
          <p:cNvPr id="19" name="Text 17"/>
          <p:cNvSpPr/>
          <p:nvPr/>
        </p:nvSpPr>
        <p:spPr>
          <a:xfrm>
            <a:off x="530352" y="5047488"/>
            <a:ext cx="1091793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Engineering Analysis:</a:t>
            </a:r>
            <a:endParaRPr lang="en-US" sz="1300" dirty="0"/>
          </a:p>
        </p:txBody>
      </p:sp>
      <p:sp>
        <p:nvSpPr>
          <p:cNvPr id="20" name="Text 18"/>
          <p:cNvSpPr/>
          <p:nvPr/>
        </p:nvSpPr>
        <p:spPr>
          <a:xfrm>
            <a:off x="530352" y="5413248"/>
            <a:ext cx="10917936" cy="384048"/>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What was the CRITERION that drove this project? What CONSTRAINT forced the redesign? What REVISION fixed the biggest problem?</a:t>
            </a:r>
            <a:endParaRPr lang="en-US" sz="12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Engineering Challenge: Plastic Waste in Florida Waterways</a:t>
            </a:r>
            <a:endParaRPr lang="en-US" sz="1600" dirty="0"/>
          </a:p>
        </p:txBody>
      </p:sp>
      <p:sp>
        <p:nvSpPr>
          <p:cNvPr id="5" name="Shape 3"/>
          <p:cNvSpPr/>
          <p:nvPr/>
        </p:nvSpPr>
        <p:spPr>
          <a:xfrm>
            <a:off x="365760" y="749808"/>
            <a:ext cx="11247120" cy="658368"/>
          </a:xfrm>
          <a:prstGeom prst="roundRect">
            <a:avLst>
              <a:gd name="adj" fmla="val 11111"/>
            </a:avLst>
          </a:prstGeom>
          <a:solidFill>
            <a:srgbClr val="1E2F45"/>
          </a:solidFill>
          <a:ln w="12700">
            <a:solidFill>
              <a:srgbClr val="F4736A"/>
            </a:solidFill>
            <a:prstDash val="solid"/>
          </a:ln>
        </p:spPr>
      </p:sp>
      <p:sp>
        <p:nvSpPr>
          <p:cNvPr id="6" name="Text 4"/>
          <p:cNvSpPr/>
          <p:nvPr/>
        </p:nvSpPr>
        <p:spPr>
          <a:xfrm>
            <a:off x="548640" y="822960"/>
            <a:ext cx="10972800" cy="51206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Florida's waterways face a serious plastic pollution problem. Engineers are working on solutions.</a:t>
            </a:r>
            <a:endParaRPr lang="en-US" sz="1300" dirty="0"/>
          </a:p>
        </p:txBody>
      </p:sp>
      <p:sp>
        <p:nvSpPr>
          <p:cNvPr id="7" name="Shape 5"/>
          <p:cNvSpPr/>
          <p:nvPr/>
        </p:nvSpPr>
        <p:spPr>
          <a:xfrm>
            <a:off x="365760" y="1536192"/>
            <a:ext cx="3566160" cy="3858768"/>
          </a:xfrm>
          <a:prstGeom prst="roundRect">
            <a:avLst>
              <a:gd name="adj" fmla="val 2051"/>
            </a:avLst>
          </a:prstGeom>
          <a:solidFill>
            <a:srgbClr val="1E2F45"/>
          </a:solidFill>
          <a:ln w="12700">
            <a:solidFill>
              <a:srgbClr val="2DC653"/>
            </a:solidFill>
            <a:prstDash val="solid"/>
          </a:ln>
        </p:spPr>
      </p:sp>
      <p:sp>
        <p:nvSpPr>
          <p:cNvPr id="8" name="Text 6"/>
          <p:cNvSpPr/>
          <p:nvPr/>
        </p:nvSpPr>
        <p:spPr>
          <a:xfrm>
            <a:off x="548640" y="1609344"/>
            <a:ext cx="320040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Criteria + Constraints</a:t>
            </a:r>
            <a:endParaRPr lang="en-US" sz="1200" dirty="0"/>
          </a:p>
        </p:txBody>
      </p:sp>
      <p:sp>
        <p:nvSpPr>
          <p:cNvPr id="9" name="Text 7"/>
          <p:cNvSpPr/>
          <p:nvPr/>
        </p:nvSpPr>
        <p:spPr>
          <a:xfrm>
            <a:off x="548640" y="1993392"/>
            <a:ext cx="3200400" cy="3236976"/>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CRITERIA:</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Reduce plastic reaching waterways by 50%</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Must work at local AND county scale</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Must be affordable for municipalities</a:t>
            </a:r>
            <a:endParaRPr lang="en-US" sz="1150" dirty="0"/>
          </a:p>
          <a:p>
            <a:pPr indent="0" marL="0">
              <a:buNone/>
            </a:pP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CONSTRAINTS: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Can't ban all plastic (medical use, food safety)</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Must be implementable within 5 years</a:t>
            </a:r>
            <a:endParaRPr lang="en-US" sz="1150" dirty="0"/>
          </a:p>
          <a:p>
            <a:pPr indent="0" marL="0">
              <a:buNone/>
            </a:pPr>
            <a:r>
              <a:rPr lang="en-US" sz="1150" dirty="0">
                <a:solidFill>
                  <a:srgbClr val="B0C4D8"/>
                </a:solidFill>
                <a:latin typeface="Calibri" pitchFamily="34" charset="0"/>
                <a:ea typeface="Calibri" pitchFamily="34" charset="-122"/>
                <a:cs typeface="Calibri" pitchFamily="34" charset="-120"/>
              </a:rPr>
              <a:t>• Budget under $2M for pilot</a:t>
            </a:r>
            <a:endParaRPr lang="en-US" sz="1150" dirty="0"/>
          </a:p>
        </p:txBody>
      </p:sp>
      <p:sp>
        <p:nvSpPr>
          <p:cNvPr id="10" name="Shape 8"/>
          <p:cNvSpPr/>
          <p:nvPr/>
        </p:nvSpPr>
        <p:spPr>
          <a:xfrm>
            <a:off x="4114800" y="1536192"/>
            <a:ext cx="3566160" cy="3858768"/>
          </a:xfrm>
          <a:prstGeom prst="roundRect">
            <a:avLst>
              <a:gd name="adj" fmla="val 2051"/>
            </a:avLst>
          </a:prstGeom>
          <a:solidFill>
            <a:srgbClr val="1E2F45"/>
          </a:solidFill>
          <a:ln w="12700">
            <a:solidFill>
              <a:srgbClr val="FFB703"/>
            </a:solidFill>
            <a:prstDash val="solid"/>
          </a:ln>
        </p:spPr>
      </p:sp>
      <p:sp>
        <p:nvSpPr>
          <p:cNvPr id="11" name="Text 9"/>
          <p:cNvSpPr/>
          <p:nvPr/>
        </p:nvSpPr>
        <p:spPr>
          <a:xfrm>
            <a:off x="4297680" y="1609344"/>
            <a:ext cx="32004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Compare Solutions</a:t>
            </a:r>
            <a:endParaRPr lang="en-US" sz="1200" dirty="0"/>
          </a:p>
        </p:txBody>
      </p:sp>
      <p:sp>
        <p:nvSpPr>
          <p:cNvPr id="12" name="Text 10"/>
          <p:cNvSpPr/>
          <p:nvPr/>
        </p:nvSpPr>
        <p:spPr>
          <a:xfrm>
            <a:off x="4297680" y="1993392"/>
            <a:ext cx="3200400" cy="323697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Solution A: Plastic bag ban</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High env. impact reduction</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Low cost</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Some public resistance</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Solution B: Waterway cleanup robots</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Removes existing plastic</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High cost, ongoing</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Doesn't stop new plastic</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Solution C: Community education program</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Low cost</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Long-term behavior change</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Slow results</a:t>
            </a:r>
            <a:endParaRPr lang="en-US" sz="1100" dirty="0"/>
          </a:p>
        </p:txBody>
      </p:sp>
      <p:sp>
        <p:nvSpPr>
          <p:cNvPr id="13" name="Shape 11"/>
          <p:cNvSpPr/>
          <p:nvPr/>
        </p:nvSpPr>
        <p:spPr>
          <a:xfrm>
            <a:off x="7863840" y="1536192"/>
            <a:ext cx="3749040" cy="3858768"/>
          </a:xfrm>
          <a:prstGeom prst="roundRect">
            <a:avLst>
              <a:gd name="adj" fmla="val 1951"/>
            </a:avLst>
          </a:prstGeom>
          <a:solidFill>
            <a:srgbClr val="1E2F45"/>
          </a:solidFill>
          <a:ln w="12700">
            <a:solidFill>
              <a:srgbClr val="4CC9F0"/>
            </a:solidFill>
            <a:prstDash val="solid"/>
          </a:ln>
        </p:spPr>
      </p:sp>
      <p:sp>
        <p:nvSpPr>
          <p:cNvPr id="14" name="Text 12"/>
          <p:cNvSpPr/>
          <p:nvPr/>
        </p:nvSpPr>
        <p:spPr>
          <a:xfrm>
            <a:off x="8046720" y="1609344"/>
            <a:ext cx="338328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Revision + CER Setup</a:t>
            </a:r>
            <a:endParaRPr lang="en-US" sz="1200" dirty="0"/>
          </a:p>
        </p:txBody>
      </p:sp>
      <p:sp>
        <p:nvSpPr>
          <p:cNvPr id="15" name="Text 13"/>
          <p:cNvSpPr/>
          <p:nvPr/>
        </p:nvSpPr>
        <p:spPr>
          <a:xfrm>
            <a:off x="8046720" y="1993392"/>
            <a:ext cx="3383280" cy="323697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Winner: COMBINE A + C</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Bag ban prevents new plastic (fast win)</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Education changes behavior (long term)</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Add robots at key waterway entry points (targeted cleanup)</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This revised solution addresses all three criteria:</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50%+ reduction (ban + education)</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Works at multiple scales</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 Affordable phase-in</a:t>
            </a:r>
            <a:endParaRPr lang="en-US" sz="1100" dirty="0"/>
          </a:p>
          <a:p>
            <a:pPr indent="0" marL="0">
              <a:buNone/>
            </a:pP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Write your CER: Why is the combined solution better than any single solution alone?</a:t>
            </a:r>
            <a:endParaRPr lang="en-US" sz="11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Engineering Thinking — It's Everywhere</a:t>
            </a:r>
            <a:endParaRPr lang="en-US" sz="1600" dirty="0"/>
          </a:p>
        </p:txBody>
      </p:sp>
      <p:sp>
        <p:nvSpPr>
          <p:cNvPr id="5" name="Shape 3"/>
          <p:cNvSpPr/>
          <p:nvPr/>
        </p:nvSpPr>
        <p:spPr>
          <a:xfrm>
            <a:off x="365760" y="749808"/>
            <a:ext cx="11247120" cy="621792"/>
          </a:xfrm>
          <a:prstGeom prst="roundRect">
            <a:avLst>
              <a:gd name="adj" fmla="val 11765"/>
            </a:avLst>
          </a:prstGeom>
          <a:solidFill>
            <a:srgbClr val="1E2F45"/>
          </a:solidFill>
          <a:ln w="12700">
            <a:solidFill>
              <a:srgbClr val="FFB703"/>
            </a:solidFill>
            <a:prstDash val="solid"/>
          </a:ln>
        </p:spPr>
      </p:sp>
      <p:sp>
        <p:nvSpPr>
          <p:cNvPr id="6" name="Text 4"/>
          <p:cNvSpPr/>
          <p:nvPr/>
        </p:nvSpPr>
        <p:spPr>
          <a:xfrm>
            <a:off x="548640" y="822960"/>
            <a:ext cx="10972800" cy="47548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same skills — criteria, constraints, comparing, revising — show up in many careers and every day life.</a:t>
            </a:r>
            <a:endParaRPr lang="en-US" sz="1300" dirty="0"/>
          </a:p>
        </p:txBody>
      </p:sp>
      <p:sp>
        <p:nvSpPr>
          <p:cNvPr id="7" name="Shape 5"/>
          <p:cNvSpPr/>
          <p:nvPr/>
        </p:nvSpPr>
        <p:spPr>
          <a:xfrm>
            <a:off x="365760" y="1499616"/>
            <a:ext cx="5486400" cy="1536192"/>
          </a:xfrm>
          <a:prstGeom prst="roundRect">
            <a:avLst>
              <a:gd name="adj" fmla="val 4762"/>
            </a:avLst>
          </a:prstGeom>
          <a:solidFill>
            <a:srgbClr val="1E2F45"/>
          </a:solidFill>
          <a:ln w="12700">
            <a:solidFill>
              <a:srgbClr val="4CC9F0"/>
            </a:solidFill>
            <a:prstDash val="solid"/>
          </a:ln>
        </p:spPr>
      </p:sp>
      <p:sp>
        <p:nvSpPr>
          <p:cNvPr id="8" name="Text 6"/>
          <p:cNvSpPr/>
          <p:nvPr/>
        </p:nvSpPr>
        <p:spPr>
          <a:xfrm>
            <a:off x="548640" y="1591056"/>
            <a:ext cx="512064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Civil Engineer</a:t>
            </a:r>
            <a:endParaRPr lang="en-US" sz="1300" dirty="0"/>
          </a:p>
        </p:txBody>
      </p:sp>
      <p:sp>
        <p:nvSpPr>
          <p:cNvPr id="9" name="Text 7"/>
          <p:cNvSpPr/>
          <p:nvPr/>
        </p:nvSpPr>
        <p:spPr>
          <a:xfrm>
            <a:off x="548640" y="2011680"/>
            <a:ext cx="5120640" cy="8961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Designs bridges, roads, water systems using decision matrices and safety criteria</a:t>
            </a:r>
            <a:endParaRPr lang="en-US" sz="1100" dirty="0"/>
          </a:p>
        </p:txBody>
      </p:sp>
      <p:sp>
        <p:nvSpPr>
          <p:cNvPr id="10" name="Shape 8"/>
          <p:cNvSpPr/>
          <p:nvPr/>
        </p:nvSpPr>
        <p:spPr>
          <a:xfrm>
            <a:off x="6126480" y="1499616"/>
            <a:ext cx="5486400" cy="1536192"/>
          </a:xfrm>
          <a:prstGeom prst="roundRect">
            <a:avLst>
              <a:gd name="adj" fmla="val 4762"/>
            </a:avLst>
          </a:prstGeom>
          <a:solidFill>
            <a:srgbClr val="1E2F45"/>
          </a:solidFill>
          <a:ln w="12700">
            <a:solidFill>
              <a:srgbClr val="2DC653"/>
            </a:solidFill>
            <a:prstDash val="solid"/>
          </a:ln>
        </p:spPr>
      </p:sp>
      <p:sp>
        <p:nvSpPr>
          <p:cNvPr id="11" name="Text 9"/>
          <p:cNvSpPr/>
          <p:nvPr/>
        </p:nvSpPr>
        <p:spPr>
          <a:xfrm>
            <a:off x="6309360" y="1591056"/>
            <a:ext cx="512064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Environmental Engineer</a:t>
            </a:r>
            <a:endParaRPr lang="en-US" sz="1300" dirty="0"/>
          </a:p>
        </p:txBody>
      </p:sp>
      <p:sp>
        <p:nvSpPr>
          <p:cNvPr id="12" name="Text 10"/>
          <p:cNvSpPr/>
          <p:nvPr/>
        </p:nvSpPr>
        <p:spPr>
          <a:xfrm>
            <a:off x="6309360" y="2011680"/>
            <a:ext cx="5120640" cy="8961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Designs pollution solutions — compares cleanup methods against cost and effectiveness criteria</a:t>
            </a:r>
            <a:endParaRPr lang="en-US" sz="1100" dirty="0"/>
          </a:p>
        </p:txBody>
      </p:sp>
      <p:sp>
        <p:nvSpPr>
          <p:cNvPr id="13" name="Shape 11"/>
          <p:cNvSpPr/>
          <p:nvPr/>
        </p:nvSpPr>
        <p:spPr>
          <a:xfrm>
            <a:off x="365760" y="3163824"/>
            <a:ext cx="5486400" cy="1536192"/>
          </a:xfrm>
          <a:prstGeom prst="roundRect">
            <a:avLst>
              <a:gd name="adj" fmla="val 4762"/>
            </a:avLst>
          </a:prstGeom>
          <a:solidFill>
            <a:srgbClr val="1E2F45"/>
          </a:solidFill>
          <a:ln w="12700">
            <a:solidFill>
              <a:srgbClr val="FFB703"/>
            </a:solidFill>
            <a:prstDash val="solid"/>
          </a:ln>
        </p:spPr>
      </p:sp>
      <p:sp>
        <p:nvSpPr>
          <p:cNvPr id="14" name="Text 12"/>
          <p:cNvSpPr/>
          <p:nvPr/>
        </p:nvSpPr>
        <p:spPr>
          <a:xfrm>
            <a:off x="548640" y="3255264"/>
            <a:ext cx="512064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Doctor</a:t>
            </a:r>
            <a:endParaRPr lang="en-US" sz="1300" dirty="0"/>
          </a:p>
        </p:txBody>
      </p:sp>
      <p:sp>
        <p:nvSpPr>
          <p:cNvPr id="15" name="Text 13"/>
          <p:cNvSpPr/>
          <p:nvPr/>
        </p:nvSpPr>
        <p:spPr>
          <a:xfrm>
            <a:off x="548640" y="3675888"/>
            <a:ext cx="5120640" cy="8961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Compares treatment options against criteria (effectiveness, side effects, cost) and revises based on patient response</a:t>
            </a:r>
            <a:endParaRPr lang="en-US" sz="1100" dirty="0"/>
          </a:p>
        </p:txBody>
      </p:sp>
      <p:sp>
        <p:nvSpPr>
          <p:cNvPr id="16" name="Shape 14"/>
          <p:cNvSpPr/>
          <p:nvPr/>
        </p:nvSpPr>
        <p:spPr>
          <a:xfrm>
            <a:off x="6126480" y="3163824"/>
            <a:ext cx="5486400" cy="1536192"/>
          </a:xfrm>
          <a:prstGeom prst="roundRect">
            <a:avLst>
              <a:gd name="adj" fmla="val 4762"/>
            </a:avLst>
          </a:prstGeom>
          <a:solidFill>
            <a:srgbClr val="1E2F45"/>
          </a:solidFill>
          <a:ln w="12700">
            <a:solidFill>
              <a:srgbClr val="4CC9F0"/>
            </a:solidFill>
            <a:prstDash val="solid"/>
          </a:ln>
        </p:spPr>
      </p:sp>
      <p:sp>
        <p:nvSpPr>
          <p:cNvPr id="17" name="Text 15"/>
          <p:cNvSpPr/>
          <p:nvPr/>
        </p:nvSpPr>
        <p:spPr>
          <a:xfrm>
            <a:off x="6309360" y="3255264"/>
            <a:ext cx="512064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Chef</a:t>
            </a:r>
            <a:endParaRPr lang="en-US" sz="1300" dirty="0"/>
          </a:p>
        </p:txBody>
      </p:sp>
      <p:sp>
        <p:nvSpPr>
          <p:cNvPr id="18" name="Text 16"/>
          <p:cNvSpPr/>
          <p:nvPr/>
        </p:nvSpPr>
        <p:spPr>
          <a:xfrm>
            <a:off x="6309360" y="3675888"/>
            <a:ext cx="5120640" cy="8961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Compares ingredient combinations, revises recipes based on tasting — iteration in a kitchen</a:t>
            </a:r>
            <a:endParaRPr lang="en-US" sz="1100" dirty="0"/>
          </a:p>
        </p:txBody>
      </p:sp>
      <p:sp>
        <p:nvSpPr>
          <p:cNvPr id="19" name="Shape 17"/>
          <p:cNvSpPr/>
          <p:nvPr/>
        </p:nvSpPr>
        <p:spPr>
          <a:xfrm>
            <a:off x="365760" y="4828032"/>
            <a:ext cx="5486400" cy="1536192"/>
          </a:xfrm>
          <a:prstGeom prst="roundRect">
            <a:avLst>
              <a:gd name="adj" fmla="val 4762"/>
            </a:avLst>
          </a:prstGeom>
          <a:solidFill>
            <a:srgbClr val="1E2F45"/>
          </a:solidFill>
          <a:ln w="12700">
            <a:solidFill>
              <a:srgbClr val="2DC653"/>
            </a:solidFill>
            <a:prstDash val="solid"/>
          </a:ln>
        </p:spPr>
      </p:sp>
      <p:sp>
        <p:nvSpPr>
          <p:cNvPr id="20" name="Text 18"/>
          <p:cNvSpPr/>
          <p:nvPr/>
        </p:nvSpPr>
        <p:spPr>
          <a:xfrm>
            <a:off x="548640" y="4919472"/>
            <a:ext cx="512064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Game Designer</a:t>
            </a:r>
            <a:endParaRPr lang="en-US" sz="1300" dirty="0"/>
          </a:p>
        </p:txBody>
      </p:sp>
      <p:sp>
        <p:nvSpPr>
          <p:cNvPr id="21" name="Text 19"/>
          <p:cNvSpPr/>
          <p:nvPr/>
        </p:nvSpPr>
        <p:spPr>
          <a:xfrm>
            <a:off x="548640" y="5340096"/>
            <a:ext cx="5120640" cy="8961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Compares game mechanics, tests them with players, revises based on feedback — same design cycle</a:t>
            </a:r>
            <a:endParaRPr lang="en-US" sz="1100" dirty="0"/>
          </a:p>
        </p:txBody>
      </p:sp>
      <p:sp>
        <p:nvSpPr>
          <p:cNvPr id="22" name="Shape 20"/>
          <p:cNvSpPr/>
          <p:nvPr/>
        </p:nvSpPr>
        <p:spPr>
          <a:xfrm>
            <a:off x="6126480" y="4828032"/>
            <a:ext cx="5486400" cy="1536192"/>
          </a:xfrm>
          <a:prstGeom prst="roundRect">
            <a:avLst>
              <a:gd name="adj" fmla="val 4762"/>
            </a:avLst>
          </a:prstGeom>
          <a:solidFill>
            <a:srgbClr val="1E2F45"/>
          </a:solidFill>
          <a:ln w="12700">
            <a:solidFill>
              <a:srgbClr val="FFB703"/>
            </a:solidFill>
            <a:prstDash val="solid"/>
          </a:ln>
        </p:spPr>
      </p:sp>
      <p:sp>
        <p:nvSpPr>
          <p:cNvPr id="23" name="Text 21"/>
          <p:cNvSpPr/>
          <p:nvPr/>
        </p:nvSpPr>
        <p:spPr>
          <a:xfrm>
            <a:off x="6309360" y="4919472"/>
            <a:ext cx="512064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City Planner</a:t>
            </a:r>
            <a:endParaRPr lang="en-US" sz="1300" dirty="0"/>
          </a:p>
        </p:txBody>
      </p:sp>
      <p:sp>
        <p:nvSpPr>
          <p:cNvPr id="24" name="Text 22"/>
          <p:cNvSpPr/>
          <p:nvPr/>
        </p:nvSpPr>
        <p:spPr>
          <a:xfrm>
            <a:off x="6309360" y="5340096"/>
            <a:ext cx="5120640" cy="89611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Compares development options against criteria (housing need, environmental cost, community wishes) before approving projects</a:t>
            </a:r>
            <a:endParaRPr lang="en-US" sz="1100" dirty="0"/>
          </a:p>
        </p:txBody>
      </p:sp>
      <p:sp>
        <p:nvSpPr>
          <p:cNvPr id="25" name="Shape 23"/>
          <p:cNvSpPr/>
          <p:nvPr/>
        </p:nvSpPr>
        <p:spPr>
          <a:xfrm>
            <a:off x="0" y="6629400"/>
            <a:ext cx="12192000" cy="228600"/>
          </a:xfrm>
          <a:prstGeom prst="rect">
            <a:avLst/>
          </a:prstGeom>
          <a:solidFill>
            <a:srgbClr val="162233"/>
          </a:solidFill>
          <a:ln/>
        </p:spPr>
      </p:sp>
      <p:sp>
        <p:nvSpPr>
          <p:cNvPr id="26" name="Text 2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16.02  ·  Engineering: Improve a Resource Solution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2026-07-13T20:38:13Z</dcterms:created>
  <dcterms:modified xsi:type="dcterms:W3CDTF">2026-07-13T20:38:13Z</dcterms:modified>
</cp:coreProperties>
</file>