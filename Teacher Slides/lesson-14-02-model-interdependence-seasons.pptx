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MODELING lesson — students will build a model, then revise it after new information. Sequence: initial model → investigation → revised model + explanation of what changed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Ask for volunteers to share their lists. Build a class list on the board. The key insight: in Florida in January, there are LOTS of connections still happening (food chains are active). In Maine, many connections are broken or paused. This sets up 'interdependence is affected by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4-5 minutes. Circulate — look at what students draw for the migration arrow between the circles. Many will leave it out. After the lesson, they'll add it. This is the key revision opportunity. Do NOT correct them now — just observe."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For food energy, trace the chain aloud: Sun → grass → worm → robin. Ask: what happens to the robin's food energy when the robin flies south in winter? Does the energy disappear? (No — it becomes part of the new ecosystem wherever the robin goes.) This connects to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question: 'If you were a small bird in Maine, what could you do to survive freezing winter? Would you have to do the same thing in Florida?' Connect migration and hibernation as TWO different strategies for the same problem: not enough food energy in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Point out the food-energy arrows in each half. Common connection: seeds to birds (exists in both). Florida-only: insects still active → birds can eat them. Maine-only: stored body fat → hibernating bear (no external food source). This shows how interdependence CHANGES with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concept: Interdependence doesn't stop at the borders of one region. Florida's wetlands support animals that spend most of their lives in other regions. This is a SYSTEMS idea — the food energy in Florida becomes the food energy for birds in Maine in summer."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culminating concept. Ask: 'A robin in your Florida yard eats a worm. The worm got energy from soil and plants. Where did the energy start?' (Sun.) Build the full chain aloud. Then ask: when the robin flies north, does the energy go with it? (YES — that's how regions are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to conservation. The mind-blow fact is that Florida is a critical link in CONTINENT-WIDE food webs. If Florida's wetlands disappear, the impact ripples through ecosystems all the way to Canada. Ask: does this change how you think about protecting Florida's natural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and specifically look for: (1) food-energy arrows going in the right direction (plant → animal, not backwards); (2) the MIGRATION arrow between circles — many students will struggle with this. Ask: how do the two regions stay connected even in winter? (Through animals that move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model: walk through each panel. Highlight how the REASONING links seasonal change + interdependence + food energy — three vocab words working together. This is the complexity we want by Week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minutes independent. Then share. Key: both Florida and Maine black bears are the same species — the difference is the SEASONAL CHANGE in their region and how that affects food availability. Hibernation is a survival strategy for when food energy is not accessible in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modeling lesson. The 'explain what changed' sentence is the most important part — it shows scientific thinking: I revised my model based on new evidence. Ask 2-3 students to share what they changed and WHY. Model the language: 'I originally thought ___ but now I know ___ because ___.'"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to check comprehension. For Q3, trace the full chain with students: Sun → plant → worm → robin. Then ask: when the robin migrates, does the energy go with it? Yes — this is how regions are LINKED."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Part C is their REVISED model (not the initial one) — the one they updated on Slide 13. The migration arrow between circles is the most important part. Make sure students have drawn it before they submit."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'Name ONE animal that migrates TO Florida and ONE reason it comes here.' Check understanding of migration + food energy connection before dismissing.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Florida connection depends on cold weather elsewhere? Key: migrating ducks NEED Maine to be cold. Manatees NEED Florida springs to stay warm. Neither can exist without the other region's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to the 'What if seasons shift?' question in the lesson. Ask: if you were a scientist studying whether Florida birds are getting out of sync with their food supply, what data would you collect? Over how many years? This is a great entry point into discussing why long-term scientific observations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for students to review and choose their evidence. Remind them: strong CERs use SPECIFIC vocabulary (seasonal change, interdependence, food energy, migration) and cite specific facts from the lesson (not vague general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'so what" moment for the lesson. Interdependence isn't just a science concept — it's a reason why conservation in Florida matters for the rest of the continent. Ask: 'Does a bird that spends most of its life in Canada care about what Florida does with its wetlands?' (Yes — because Florida is where it survives every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Model: Interdependence Across Seasons</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How Florida Plants &amp; Animals Depend on Each Other — and on the Seasons</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SC.4.L.17.1 — Describe Florida seasonal changes and compare to other regions</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Describe how Florida seasons affect plants and animals here</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Compare Florida seasonal changes to another region's</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Build a model showing how living things depend on each other across seasons</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Science notebook   Colored pencils</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14.02  ·  Model: Interdependence Across Seasons</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Warm-Up: Two Winters — Same Month, Different Worlds</a:t>
            </a:r>
            <a:endParaRPr lang="en-US" sz="1600" dirty="0"/>
          </a:p>
        </p:txBody>
      </p:sp>
      <p:sp>
        <p:nvSpPr>
          <p:cNvPr id="5" name="Shape 3"/>
          <p:cNvSpPr/>
          <p:nvPr/>
        </p:nvSpPr>
        <p:spPr>
          <a:xfrm>
            <a:off x="365760" y="749808"/>
            <a:ext cx="11247120" cy="1051560"/>
          </a:xfrm>
          <a:prstGeom prst="roundRect">
            <a:avLst>
              <a:gd name="adj" fmla="val 6957"/>
            </a:avLst>
          </a:prstGeom>
          <a:solidFill>
            <a:srgbClr val="1E2F45"/>
          </a:solidFill>
          <a:ln w="12700">
            <a:solidFill>
              <a:srgbClr val="FFB703"/>
            </a:solidFill>
            <a:prstDash val="solid"/>
          </a:ln>
        </p:spPr>
      </p:sp>
      <p:sp>
        <p:nvSpPr>
          <p:cNvPr id="6" name="Text 4"/>
          <p:cNvSpPr/>
          <p:nvPr/>
        </p:nvSpPr>
        <p:spPr>
          <a:xfrm>
            <a:off x="548640" y="822960"/>
            <a:ext cx="10972800" cy="43891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It's January. Jot 3 things you might see outside in FLORIDA, then 3 things in MAINE.</a:t>
            </a:r>
            <a:endParaRPr lang="en-US" sz="1400" dirty="0"/>
          </a:p>
        </p:txBody>
      </p:sp>
      <p:sp>
        <p:nvSpPr>
          <p:cNvPr id="7" name="Text 5"/>
          <p:cNvSpPr/>
          <p:nvPr/>
        </p:nvSpPr>
        <p:spPr>
          <a:xfrm>
            <a:off x="548640" y="1298448"/>
            <a:ext cx="10972800" cy="347472"/>
          </a:xfrm>
          <a:prstGeom prst="rect">
            <a:avLst/>
          </a:prstGeom>
          <a:noFill/>
          <a:ln/>
        </p:spPr>
        <p:txBody>
          <a:bodyPr wrap="square" rtlCol="0" anchor="ctr"/>
          <a:lstStyle/>
          <a:p>
            <a:pPr indent="0" marL="0">
              <a:buNone/>
            </a:pPr>
            <a:r>
              <a:rPr lang="en-US" sz="1200" i="1" dirty="0">
                <a:solidFill>
                  <a:srgbClr val="B0C4D8"/>
                </a:solidFill>
                <a:latin typeface="Calibri" pitchFamily="34" charset="0"/>
                <a:ea typeface="Calibri" pitchFamily="34" charset="-122"/>
                <a:cs typeface="Calibri" pitchFamily="34" charset="-120"/>
              </a:rPr>
              <a:t>Be specific — plants, animals, weather.</a:t>
            </a:r>
            <a:endParaRPr lang="en-US" sz="1200" dirty="0"/>
          </a:p>
        </p:txBody>
      </p:sp>
      <p:sp>
        <p:nvSpPr>
          <p:cNvPr id="8" name="Shape 6"/>
          <p:cNvSpPr/>
          <p:nvPr/>
        </p:nvSpPr>
        <p:spPr>
          <a:xfrm>
            <a:off x="365760" y="1920240"/>
            <a:ext cx="5394960" cy="2542032"/>
          </a:xfrm>
          <a:prstGeom prst="roundRect">
            <a:avLst>
              <a:gd name="adj" fmla="val 2878"/>
            </a:avLst>
          </a:prstGeom>
          <a:solidFill>
            <a:srgbClr val="1E2F45"/>
          </a:solidFill>
          <a:ln w="12700">
            <a:solidFill>
              <a:srgbClr val="2DC653"/>
            </a:solidFill>
            <a:prstDash val="solid"/>
          </a:ln>
        </p:spPr>
      </p:sp>
      <p:sp>
        <p:nvSpPr>
          <p:cNvPr id="9" name="Text 7"/>
          <p:cNvSpPr/>
          <p:nvPr/>
        </p:nvSpPr>
        <p:spPr>
          <a:xfrm>
            <a:off x="548640" y="1993392"/>
            <a:ext cx="5029200" cy="347472"/>
          </a:xfrm>
          <a:prstGeom prst="rect">
            <a:avLst/>
          </a:prstGeom>
          <a:noFill/>
          <a:ln/>
        </p:spPr>
        <p:txBody>
          <a:bodyPr wrap="square" rtlCol="0" anchor="ctr"/>
          <a:lstStyle/>
          <a:p>
            <a:pPr indent="0" marL="0">
              <a:buNone/>
            </a:pPr>
            <a:r>
              <a:rPr lang="en-US" sz="1400" b="1" dirty="0">
                <a:solidFill>
                  <a:srgbClr val="2DC653"/>
                </a:solidFill>
                <a:latin typeface="Calibri" pitchFamily="34" charset="0"/>
                <a:ea typeface="Calibri" pitchFamily="34" charset="-122"/>
                <a:cs typeface="Calibri" pitchFamily="34" charset="-120"/>
              </a:rPr>
              <a:t>🌴 January in FLORIDA</a:t>
            </a:r>
            <a:endParaRPr lang="en-US" sz="1400" dirty="0"/>
          </a:p>
        </p:txBody>
      </p:sp>
      <p:sp>
        <p:nvSpPr>
          <p:cNvPr id="10" name="Text 8"/>
          <p:cNvSpPr/>
          <p:nvPr/>
        </p:nvSpPr>
        <p:spPr>
          <a:xfrm>
            <a:off x="548640" y="2377440"/>
            <a:ext cx="5029200" cy="192024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Green grass, palm trees with leaves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Songbirds singing</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Lizards on fences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Manatees in warm springs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Mild temperatures</a:t>
            </a:r>
            <a:endParaRPr lang="en-US" sz="1200" dirty="0"/>
          </a:p>
        </p:txBody>
      </p:sp>
      <p:sp>
        <p:nvSpPr>
          <p:cNvPr id="11" name="Shape 9"/>
          <p:cNvSpPr/>
          <p:nvPr/>
        </p:nvSpPr>
        <p:spPr>
          <a:xfrm>
            <a:off x="6035040" y="1920240"/>
            <a:ext cx="5394960" cy="2542032"/>
          </a:xfrm>
          <a:prstGeom prst="roundRect">
            <a:avLst>
              <a:gd name="adj" fmla="val 2878"/>
            </a:avLst>
          </a:prstGeom>
          <a:solidFill>
            <a:srgbClr val="1E2F45"/>
          </a:solidFill>
          <a:ln w="12700">
            <a:solidFill>
              <a:srgbClr val="4CC9F0"/>
            </a:solidFill>
            <a:prstDash val="solid"/>
          </a:ln>
        </p:spPr>
      </p:sp>
      <p:sp>
        <p:nvSpPr>
          <p:cNvPr id="12" name="Text 10"/>
          <p:cNvSpPr/>
          <p:nvPr/>
        </p:nvSpPr>
        <p:spPr>
          <a:xfrm>
            <a:off x="6217920" y="1993392"/>
            <a:ext cx="5029200" cy="347472"/>
          </a:xfrm>
          <a:prstGeom prst="rect">
            <a:avLst/>
          </a:prstGeom>
          <a:noFill/>
          <a:ln/>
        </p:spPr>
        <p:txBody>
          <a:bodyPr wrap="square" rtlCol="0" anchor="ctr"/>
          <a:lstStyle/>
          <a:p>
            <a:pPr indent="0" marL="0">
              <a:buNone/>
            </a:pPr>
            <a:r>
              <a:rPr lang="en-US" sz="1400" b="1" dirty="0">
                <a:solidFill>
                  <a:srgbClr val="4CC9F0"/>
                </a:solidFill>
                <a:latin typeface="Calibri" pitchFamily="34" charset="0"/>
                <a:ea typeface="Calibri" pitchFamily="34" charset="-122"/>
                <a:cs typeface="Calibri" pitchFamily="34" charset="-120"/>
              </a:rPr>
              <a:t>❄️ January in MAINE</a:t>
            </a:r>
            <a:endParaRPr lang="en-US" sz="1400" dirty="0"/>
          </a:p>
        </p:txBody>
      </p:sp>
      <p:sp>
        <p:nvSpPr>
          <p:cNvPr id="13" name="Text 11"/>
          <p:cNvSpPr/>
          <p:nvPr/>
        </p:nvSpPr>
        <p:spPr>
          <a:xfrm>
            <a:off x="6217920" y="2377440"/>
            <a:ext cx="5029200" cy="192024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Snow on the ground, bare trees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Frozen ponds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Bear sleeping in a den</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Very few animals visible</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Below-freezing temperatures</a:t>
            </a:r>
            <a:endParaRPr lang="en-US" sz="1200" dirty="0"/>
          </a:p>
        </p:txBody>
      </p:sp>
      <p:sp>
        <p:nvSpPr>
          <p:cNvPr id="14" name="Shape 12"/>
          <p:cNvSpPr/>
          <p:nvPr/>
        </p:nvSpPr>
        <p:spPr>
          <a:xfrm>
            <a:off x="365760" y="4572000"/>
            <a:ext cx="11247120" cy="347472"/>
          </a:xfrm>
          <a:prstGeom prst="roundRect">
            <a:avLst>
              <a:gd name="adj" fmla="val 23684"/>
            </a:avLst>
          </a:prstGeom>
          <a:solidFill>
            <a:srgbClr val="E09200"/>
          </a:solidFill>
          <a:ln w="19050">
            <a:solidFill>
              <a:srgbClr val="FFB703"/>
            </a:solidFill>
            <a:prstDash val="solid"/>
          </a:ln>
        </p:spPr>
      </p:sp>
      <p:sp>
        <p:nvSpPr>
          <p:cNvPr id="15" name="Text 13"/>
          <p:cNvSpPr/>
          <p:nvPr/>
        </p:nvSpPr>
        <p:spPr>
          <a:xfrm>
            <a:off x="365760" y="4572000"/>
            <a:ext cx="1124712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Notice &amp; Wonder</a:t>
            </a:r>
            <a:endParaRPr lang="en-US" sz="1200" dirty="0"/>
          </a:p>
        </p:txBody>
      </p:sp>
      <p:sp>
        <p:nvSpPr>
          <p:cNvPr id="16" name="Text 14"/>
          <p:cNvSpPr/>
          <p:nvPr/>
        </p:nvSpPr>
        <p:spPr>
          <a:xfrm>
            <a:off x="365760" y="4974336"/>
            <a:ext cx="11247120" cy="749808"/>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"In Florida, life stays pretty active even in winter. In Maine, much of it slows or hides. What does that mean for the animals that live in each place?"</a:t>
            </a:r>
            <a:endParaRPr lang="en-US" sz="120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14.02  ·  Model: Interdependence Across Seasons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Build Your INITIAL Model — Before We Learn</a:t>
            </a:r>
            <a:endParaRPr lang="en-US" sz="1600" dirty="0"/>
          </a:p>
        </p:txBody>
      </p:sp>
      <p:sp>
        <p:nvSpPr>
          <p:cNvPr id="5" name="Shape 3"/>
          <p:cNvSpPr/>
          <p:nvPr/>
        </p:nvSpPr>
        <p:spPr>
          <a:xfrm>
            <a:off x="365760" y="749808"/>
            <a:ext cx="11247120" cy="621792"/>
          </a:xfrm>
          <a:prstGeom prst="roundRect">
            <a:avLst>
              <a:gd name="adj" fmla="val 11765"/>
            </a:avLst>
          </a:prstGeom>
          <a:solidFill>
            <a:srgbClr val="162233"/>
          </a:solidFill>
          <a:ln w="12700">
            <a:solidFill>
              <a:srgbClr val="FFB703"/>
            </a:solidFill>
            <a:prstDash val="solid"/>
          </a:ln>
        </p:spPr>
      </p:sp>
      <p:sp>
        <p:nvSpPr>
          <p:cNvPr id="6" name="Text 4"/>
          <p:cNvSpPr/>
          <p:nvPr/>
        </p:nvSpPr>
        <p:spPr>
          <a:xfrm>
            <a:off x="548640" y="822960"/>
            <a:ext cx="1097280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Before the lesson: draw what you already THINK you know. You'll revise it at the end.</a:t>
            </a:r>
            <a:endParaRPr lang="en-US" sz="1300" dirty="0"/>
          </a:p>
        </p:txBody>
      </p:sp>
      <p:sp>
        <p:nvSpPr>
          <p:cNvPr id="7" name="Shape 5"/>
          <p:cNvSpPr/>
          <p:nvPr/>
        </p:nvSpPr>
        <p:spPr>
          <a:xfrm>
            <a:off x="365760" y="1517904"/>
            <a:ext cx="11247120" cy="3858768"/>
          </a:xfrm>
          <a:prstGeom prst="roundRect">
            <a:avLst>
              <a:gd name="adj" fmla="val 1896"/>
            </a:avLst>
          </a:prstGeom>
          <a:solidFill>
            <a:srgbClr val="1E2F45"/>
          </a:solidFill>
          <a:ln w="12700">
            <a:solidFill>
              <a:srgbClr val="FFB703"/>
            </a:solidFill>
            <a:prstDash val="solid"/>
          </a:ln>
        </p:spPr>
      </p:sp>
      <p:sp>
        <p:nvSpPr>
          <p:cNvPr id="8" name="Text 6"/>
          <p:cNvSpPr/>
          <p:nvPr/>
        </p:nvSpPr>
        <p:spPr>
          <a:xfrm>
            <a:off x="548640" y="1591056"/>
            <a:ext cx="10972800"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In your notebook, draw TWO circles side by side:</a:t>
            </a:r>
            <a:endParaRPr lang="en-US" sz="1300" dirty="0"/>
          </a:p>
        </p:txBody>
      </p:sp>
      <p:sp>
        <p:nvSpPr>
          <p:cNvPr id="9" name="Text 7"/>
          <p:cNvSpPr/>
          <p:nvPr/>
        </p:nvSpPr>
        <p:spPr>
          <a:xfrm>
            <a:off x="731520" y="1993392"/>
            <a:ext cx="10789920" cy="585216"/>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1. Label one circle FLORIDA and one circle MAINE (or another cold region)</a:t>
            </a:r>
            <a:endParaRPr lang="en-US" sz="1200" dirty="0"/>
          </a:p>
        </p:txBody>
      </p:sp>
      <p:sp>
        <p:nvSpPr>
          <p:cNvPr id="10" name="Text 8"/>
          <p:cNvSpPr/>
          <p:nvPr/>
        </p:nvSpPr>
        <p:spPr>
          <a:xfrm>
            <a:off x="731520" y="2651760"/>
            <a:ext cx="10789920" cy="585216"/>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2. Inside each circle: draw ONE plant, ONE animal, and ONE weather element for January</a:t>
            </a:r>
            <a:endParaRPr lang="en-US" sz="1200" dirty="0"/>
          </a:p>
        </p:txBody>
      </p:sp>
      <p:sp>
        <p:nvSpPr>
          <p:cNvPr id="11" name="Text 9"/>
          <p:cNvSpPr/>
          <p:nvPr/>
        </p:nvSpPr>
        <p:spPr>
          <a:xfrm>
            <a:off x="731520" y="3310128"/>
            <a:ext cx="10789920" cy="585216"/>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3. Add a food-energy ARROW in each circle (from plant to animal)</a:t>
            </a:r>
            <a:endParaRPr lang="en-US" sz="1200" dirty="0"/>
          </a:p>
        </p:txBody>
      </p:sp>
      <p:sp>
        <p:nvSpPr>
          <p:cNvPr id="12" name="Text 10"/>
          <p:cNvSpPr/>
          <p:nvPr/>
        </p:nvSpPr>
        <p:spPr>
          <a:xfrm>
            <a:off x="731520" y="3968496"/>
            <a:ext cx="10789920" cy="585216"/>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4. Between the two circles: draw a MIGRATION arrow if you think animals move between them</a:t>
            </a:r>
            <a:endParaRPr lang="en-US" sz="1200" dirty="0"/>
          </a:p>
        </p:txBody>
      </p:sp>
      <p:sp>
        <p:nvSpPr>
          <p:cNvPr id="13" name="Text 11"/>
          <p:cNvSpPr/>
          <p:nvPr/>
        </p:nvSpPr>
        <p:spPr>
          <a:xfrm>
            <a:off x="548640" y="4663440"/>
            <a:ext cx="10972800" cy="585216"/>
          </a:xfrm>
          <a:prstGeom prst="rect">
            <a:avLst/>
          </a:prstGeom>
          <a:noFill/>
          <a:ln/>
        </p:spPr>
        <p:txBody>
          <a:bodyPr wrap="square" rtlCol="0" anchor="ctr"/>
          <a:lstStyle/>
          <a:p>
            <a:pPr indent="0" marL="0">
              <a:buNone/>
            </a:pPr>
            <a:r>
              <a:rPr lang="en-US" sz="1150" i="1" dirty="0">
                <a:solidFill>
                  <a:srgbClr val="FFB703"/>
                </a:solidFill>
                <a:latin typeface="Calibri" pitchFamily="34" charset="0"/>
                <a:ea typeface="Calibri" pitchFamily="34" charset="-122"/>
                <a:cs typeface="Calibri" pitchFamily="34" charset="-120"/>
              </a:rPr>
              <a:t>📌 This is your INITIAL model. Don't worry if you're not sure — draw your best guess now. We'll come back to revise it on the last slide.</a:t>
            </a:r>
            <a:endParaRPr lang="en-US" sz="115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14.02  ·  Model: Interdependence Across Seasons</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Part 1 of 2</a:t>
            </a:r>
            <a:endParaRPr lang="en-US" sz="1600" dirty="0"/>
          </a:p>
        </p:txBody>
      </p:sp>
      <p:sp>
        <p:nvSpPr>
          <p:cNvPr id="5" name="Shape 3"/>
          <p:cNvSpPr/>
          <p:nvPr/>
        </p:nvSpPr>
        <p:spPr>
          <a:xfrm>
            <a:off x="365760" y="804672"/>
            <a:ext cx="3566160" cy="1325880"/>
          </a:xfrm>
          <a:prstGeom prst="roundRect">
            <a:avLst>
              <a:gd name="adj" fmla="val 6897"/>
            </a:avLst>
          </a:prstGeom>
          <a:solidFill>
            <a:srgbClr val="1E2F45"/>
          </a:solidFill>
          <a:ln w="25400">
            <a:solidFill>
              <a:srgbClr val="4CC9F0"/>
            </a:solidFill>
            <a:prstDash val="solid"/>
          </a:ln>
        </p:spPr>
      </p:sp>
      <p:sp>
        <p:nvSpPr>
          <p:cNvPr id="6" name="Shape 4"/>
          <p:cNvSpPr/>
          <p:nvPr/>
        </p:nvSpPr>
        <p:spPr>
          <a:xfrm>
            <a:off x="365760" y="804672"/>
            <a:ext cx="3566160" cy="347472"/>
          </a:xfrm>
          <a:prstGeom prst="roundRect">
            <a:avLst>
              <a:gd name="adj" fmla="val 21053"/>
            </a:avLst>
          </a:prstGeom>
          <a:solidFill>
            <a:srgbClr val="4CC9F0"/>
          </a:solidFill>
          <a:ln w="12700">
            <a:solidFill>
              <a:srgbClr val="4CC9F0"/>
            </a:solidFill>
            <a:prstDash val="solid"/>
          </a:ln>
        </p:spPr>
      </p:sp>
      <p:sp>
        <p:nvSpPr>
          <p:cNvPr id="7" name="Text 5"/>
          <p:cNvSpPr/>
          <p:nvPr/>
        </p:nvSpPr>
        <p:spPr>
          <a:xfrm>
            <a:off x="457200" y="832104"/>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Seasonal Change</a:t>
            </a:r>
            <a:endParaRPr lang="en-US" sz="1200" dirty="0"/>
          </a:p>
        </p:txBody>
      </p:sp>
      <p:sp>
        <p:nvSpPr>
          <p:cNvPr id="8" name="Text 6"/>
          <p:cNvSpPr/>
          <p:nvPr/>
        </p:nvSpPr>
        <p:spPr>
          <a:xfrm>
            <a:off x="475488" y="1207008"/>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How temperature, daylight, and weather change across the year — and how living things change with them.</a:t>
            </a:r>
            <a:endParaRPr lang="en-US" sz="1050" dirty="0"/>
          </a:p>
        </p:txBody>
      </p:sp>
      <p:sp>
        <p:nvSpPr>
          <p:cNvPr id="9" name="Shape 7"/>
          <p:cNvSpPr/>
          <p:nvPr/>
        </p:nvSpPr>
        <p:spPr>
          <a:xfrm>
            <a:off x="4114800" y="804672"/>
            <a:ext cx="3566160" cy="1325880"/>
          </a:xfrm>
          <a:prstGeom prst="roundRect">
            <a:avLst>
              <a:gd name="adj" fmla="val 6897"/>
            </a:avLst>
          </a:prstGeom>
          <a:solidFill>
            <a:srgbClr val="1E2F45"/>
          </a:solidFill>
          <a:ln w="25400">
            <a:solidFill>
              <a:srgbClr val="2DC653"/>
            </a:solidFill>
            <a:prstDash val="solid"/>
          </a:ln>
        </p:spPr>
      </p:sp>
      <p:sp>
        <p:nvSpPr>
          <p:cNvPr id="10" name="Shape 8"/>
          <p:cNvSpPr/>
          <p:nvPr/>
        </p:nvSpPr>
        <p:spPr>
          <a:xfrm>
            <a:off x="4114800" y="804672"/>
            <a:ext cx="3566160" cy="347472"/>
          </a:xfrm>
          <a:prstGeom prst="roundRect">
            <a:avLst>
              <a:gd name="adj" fmla="val 21053"/>
            </a:avLst>
          </a:prstGeom>
          <a:solidFill>
            <a:srgbClr val="2DC653"/>
          </a:solidFill>
          <a:ln w="12700">
            <a:solidFill>
              <a:srgbClr val="2DC653"/>
            </a:solidFill>
            <a:prstDash val="solid"/>
          </a:ln>
        </p:spPr>
      </p:sp>
      <p:sp>
        <p:nvSpPr>
          <p:cNvPr id="11" name="Text 9"/>
          <p:cNvSpPr/>
          <p:nvPr/>
        </p:nvSpPr>
        <p:spPr>
          <a:xfrm>
            <a:off x="4206240" y="832104"/>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Interdependence</a:t>
            </a:r>
            <a:endParaRPr lang="en-US" sz="1200" dirty="0"/>
          </a:p>
        </p:txBody>
      </p:sp>
      <p:sp>
        <p:nvSpPr>
          <p:cNvPr id="12" name="Text 10"/>
          <p:cNvSpPr/>
          <p:nvPr/>
        </p:nvSpPr>
        <p:spPr>
          <a:xfrm>
            <a:off x="4224528" y="1207008"/>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When two or more living things need each other to live well. Birds need insects for food; flowers need bees for pollination.</a:t>
            </a:r>
            <a:endParaRPr lang="en-US" sz="1050" dirty="0"/>
          </a:p>
        </p:txBody>
      </p:sp>
      <p:sp>
        <p:nvSpPr>
          <p:cNvPr id="13" name="Shape 11"/>
          <p:cNvSpPr/>
          <p:nvPr/>
        </p:nvSpPr>
        <p:spPr>
          <a:xfrm>
            <a:off x="7863840" y="804672"/>
            <a:ext cx="3566160" cy="1325880"/>
          </a:xfrm>
          <a:prstGeom prst="roundRect">
            <a:avLst>
              <a:gd name="adj" fmla="val 6897"/>
            </a:avLst>
          </a:prstGeom>
          <a:solidFill>
            <a:srgbClr val="1E2F45"/>
          </a:solidFill>
          <a:ln w="25400">
            <a:solidFill>
              <a:srgbClr val="FFB703"/>
            </a:solidFill>
            <a:prstDash val="solid"/>
          </a:ln>
        </p:spPr>
      </p:sp>
      <p:sp>
        <p:nvSpPr>
          <p:cNvPr id="14" name="Shape 12"/>
          <p:cNvSpPr/>
          <p:nvPr/>
        </p:nvSpPr>
        <p:spPr>
          <a:xfrm>
            <a:off x="7863840" y="804672"/>
            <a:ext cx="3566160" cy="347472"/>
          </a:xfrm>
          <a:prstGeom prst="roundRect">
            <a:avLst>
              <a:gd name="adj" fmla="val 21053"/>
            </a:avLst>
          </a:prstGeom>
          <a:solidFill>
            <a:srgbClr val="FFB703"/>
          </a:solidFill>
          <a:ln w="12700">
            <a:solidFill>
              <a:srgbClr val="FFB703"/>
            </a:solidFill>
            <a:prstDash val="solid"/>
          </a:ln>
        </p:spPr>
      </p:sp>
      <p:sp>
        <p:nvSpPr>
          <p:cNvPr id="15" name="Text 13"/>
          <p:cNvSpPr/>
          <p:nvPr/>
        </p:nvSpPr>
        <p:spPr>
          <a:xfrm>
            <a:off x="7955280" y="832104"/>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Region</a:t>
            </a:r>
            <a:endParaRPr lang="en-US" sz="1200" dirty="0"/>
          </a:p>
        </p:txBody>
      </p:sp>
      <p:sp>
        <p:nvSpPr>
          <p:cNvPr id="16" name="Text 14"/>
          <p:cNvSpPr/>
          <p:nvPr/>
        </p:nvSpPr>
        <p:spPr>
          <a:xfrm>
            <a:off x="7973568" y="1207008"/>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large area with its own climate, plants, and animals — like Florida, the desert Southwest, or New England.</a:t>
            </a:r>
            <a:endParaRPr lang="en-US" sz="1050" dirty="0"/>
          </a:p>
        </p:txBody>
      </p:sp>
      <p:sp>
        <p:nvSpPr>
          <p:cNvPr id="17" name="Shape 15"/>
          <p:cNvSpPr/>
          <p:nvPr/>
        </p:nvSpPr>
        <p:spPr>
          <a:xfrm>
            <a:off x="365760" y="2304288"/>
            <a:ext cx="3566160" cy="1325880"/>
          </a:xfrm>
          <a:prstGeom prst="roundRect">
            <a:avLst>
              <a:gd name="adj" fmla="val 6897"/>
            </a:avLst>
          </a:prstGeom>
          <a:solidFill>
            <a:srgbClr val="1E2F45"/>
          </a:solidFill>
          <a:ln w="25400">
            <a:solidFill>
              <a:srgbClr val="F4736A"/>
            </a:solidFill>
            <a:prstDash val="solid"/>
          </a:ln>
        </p:spPr>
      </p:sp>
      <p:sp>
        <p:nvSpPr>
          <p:cNvPr id="18" name="Shape 16"/>
          <p:cNvSpPr/>
          <p:nvPr/>
        </p:nvSpPr>
        <p:spPr>
          <a:xfrm>
            <a:off x="365760" y="2304288"/>
            <a:ext cx="3566160" cy="347472"/>
          </a:xfrm>
          <a:prstGeom prst="roundRect">
            <a:avLst>
              <a:gd name="adj" fmla="val 21053"/>
            </a:avLst>
          </a:prstGeom>
          <a:solidFill>
            <a:srgbClr val="F4736A"/>
          </a:solidFill>
          <a:ln w="12700">
            <a:solidFill>
              <a:srgbClr val="F4736A"/>
            </a:solidFill>
            <a:prstDash val="solid"/>
          </a:ln>
        </p:spPr>
      </p:sp>
      <p:sp>
        <p:nvSpPr>
          <p:cNvPr id="19" name="Text 17"/>
          <p:cNvSpPr/>
          <p:nvPr/>
        </p:nvSpPr>
        <p:spPr>
          <a:xfrm>
            <a:off x="457200" y="2331720"/>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Food Energy</a:t>
            </a:r>
            <a:endParaRPr lang="en-US" sz="1200" dirty="0"/>
          </a:p>
        </p:txBody>
      </p:sp>
      <p:sp>
        <p:nvSpPr>
          <p:cNvPr id="20" name="Text 18"/>
          <p:cNvSpPr/>
          <p:nvPr/>
        </p:nvSpPr>
        <p:spPr>
          <a:xfrm>
            <a:off x="475488" y="2706624"/>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energy stored in food. When an animal eats a plant or another animal, the food's energy gets passed to it.</a:t>
            </a:r>
            <a:endParaRPr lang="en-US" sz="1050" dirty="0"/>
          </a:p>
        </p:txBody>
      </p:sp>
      <p:sp>
        <p:nvSpPr>
          <p:cNvPr id="21" name="Shape 19"/>
          <p:cNvSpPr/>
          <p:nvPr/>
        </p:nvSpPr>
        <p:spPr>
          <a:xfrm>
            <a:off x="4114800" y="2304288"/>
            <a:ext cx="7406640" cy="1325880"/>
          </a:xfrm>
          <a:prstGeom prst="roundRect">
            <a:avLst>
              <a:gd name="adj" fmla="val 5517"/>
            </a:avLst>
          </a:prstGeom>
          <a:solidFill>
            <a:srgbClr val="162233"/>
          </a:solidFill>
          <a:ln w="12700">
            <a:solidFill>
              <a:srgbClr val="4CC9F0"/>
            </a:solidFill>
            <a:prstDash val="solid"/>
          </a:ln>
        </p:spPr>
      </p:sp>
      <p:sp>
        <p:nvSpPr>
          <p:cNvPr id="22" name="Text 20"/>
          <p:cNvSpPr/>
          <p:nvPr/>
        </p:nvSpPr>
        <p:spPr>
          <a:xfrm>
            <a:off x="4297680" y="2377440"/>
            <a:ext cx="7040880" cy="1097280"/>
          </a:xfrm>
          <a:prstGeom prst="rect">
            <a:avLst/>
          </a:prstGeom>
          <a:noFill/>
          <a:ln/>
        </p:spPr>
        <p:txBody>
          <a:bodyPr wrap="square"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 Food energy starts with the SUN — plants capture it, animals eat plants, other animals eat those animals. Every food chain leads back to the sun.</a:t>
            </a:r>
            <a:endParaRPr lang="en-US" sz="1250" dirty="0"/>
          </a:p>
        </p:txBody>
      </p:sp>
      <p:sp>
        <p:nvSpPr>
          <p:cNvPr id="23" name="Shape 21"/>
          <p:cNvSpPr/>
          <p:nvPr/>
        </p:nvSpPr>
        <p:spPr>
          <a:xfrm>
            <a:off x="365760" y="3767328"/>
            <a:ext cx="11247120" cy="1280160"/>
          </a:xfrm>
          <a:prstGeom prst="roundRect">
            <a:avLst>
              <a:gd name="adj" fmla="val 5714"/>
            </a:avLst>
          </a:prstGeom>
          <a:solidFill>
            <a:srgbClr val="162233"/>
          </a:solidFill>
          <a:ln w="12700">
            <a:solidFill>
              <a:srgbClr val="FFB703"/>
            </a:solidFill>
            <a:prstDash val="solid"/>
          </a:ln>
        </p:spPr>
      </p:sp>
      <p:sp>
        <p:nvSpPr>
          <p:cNvPr id="24" name="Text 22"/>
          <p:cNvSpPr/>
          <p:nvPr/>
        </p:nvSpPr>
        <p:spPr>
          <a:xfrm>
            <a:off x="530352" y="3840480"/>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Discussion:</a:t>
            </a:r>
            <a:endParaRPr lang="en-US" sz="1300" dirty="0"/>
          </a:p>
        </p:txBody>
      </p:sp>
      <p:sp>
        <p:nvSpPr>
          <p:cNvPr id="25" name="Text 23"/>
          <p:cNvSpPr/>
          <p:nvPr/>
        </p:nvSpPr>
        <p:spPr>
          <a:xfrm>
            <a:off x="530352" y="4206240"/>
            <a:ext cx="10917936" cy="731520"/>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"Think about a Florida robin eating a worm. The worm got energy from soil and plants. Where did the energy originally come from? Trace it all the way back."</a:t>
            </a:r>
            <a:endParaRPr lang="en-US" sz="1200" dirty="0"/>
          </a:p>
        </p:txBody>
      </p:sp>
      <p:sp>
        <p:nvSpPr>
          <p:cNvPr id="26" name="Shape 24"/>
          <p:cNvSpPr/>
          <p:nvPr/>
        </p:nvSpPr>
        <p:spPr>
          <a:xfrm>
            <a:off x="0" y="6629400"/>
            <a:ext cx="12192000" cy="228600"/>
          </a:xfrm>
          <a:prstGeom prst="rect">
            <a:avLst/>
          </a:prstGeom>
          <a:solidFill>
            <a:srgbClr val="162233"/>
          </a:solidFill>
          <a:ln/>
        </p:spPr>
      </p:sp>
      <p:sp>
        <p:nvSpPr>
          <p:cNvPr id="27" name="Text 2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14.02  ·  Model: Interdependence Across Seasons</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Part 2 of 2</a:t>
            </a:r>
            <a:endParaRPr lang="en-US" sz="1600" dirty="0"/>
          </a:p>
        </p:txBody>
      </p:sp>
      <p:sp>
        <p:nvSpPr>
          <p:cNvPr id="5" name="Shape 3"/>
          <p:cNvSpPr/>
          <p:nvPr/>
        </p:nvSpPr>
        <p:spPr>
          <a:xfrm>
            <a:off x="365760" y="804672"/>
            <a:ext cx="5394960" cy="1325880"/>
          </a:xfrm>
          <a:prstGeom prst="roundRect">
            <a:avLst>
              <a:gd name="adj" fmla="val 6897"/>
            </a:avLst>
          </a:prstGeom>
          <a:solidFill>
            <a:srgbClr val="1E2F45"/>
          </a:solidFill>
          <a:ln w="25400">
            <a:solidFill>
              <a:srgbClr val="4CC9F0"/>
            </a:solidFill>
            <a:prstDash val="solid"/>
          </a:ln>
        </p:spPr>
      </p:sp>
      <p:sp>
        <p:nvSpPr>
          <p:cNvPr id="6" name="Shape 4"/>
          <p:cNvSpPr/>
          <p:nvPr/>
        </p:nvSpPr>
        <p:spPr>
          <a:xfrm>
            <a:off x="365760" y="804672"/>
            <a:ext cx="5394960" cy="347472"/>
          </a:xfrm>
          <a:prstGeom prst="roundRect">
            <a:avLst>
              <a:gd name="adj" fmla="val 21053"/>
            </a:avLst>
          </a:prstGeom>
          <a:solidFill>
            <a:srgbClr val="4CC9F0"/>
          </a:solidFill>
          <a:ln w="12700">
            <a:solidFill>
              <a:srgbClr val="4CC9F0"/>
            </a:solidFill>
            <a:prstDash val="solid"/>
          </a:ln>
        </p:spPr>
      </p:sp>
      <p:sp>
        <p:nvSpPr>
          <p:cNvPr id="7" name="Text 5"/>
          <p:cNvSpPr/>
          <p:nvPr/>
        </p:nvSpPr>
        <p:spPr>
          <a:xfrm>
            <a:off x="457200" y="832104"/>
            <a:ext cx="5212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Migration</a:t>
            </a:r>
            <a:endParaRPr lang="en-US" sz="1200" dirty="0"/>
          </a:p>
        </p:txBody>
      </p:sp>
      <p:sp>
        <p:nvSpPr>
          <p:cNvPr id="8" name="Text 6"/>
          <p:cNvSpPr/>
          <p:nvPr/>
        </p:nvSpPr>
        <p:spPr>
          <a:xfrm>
            <a:off x="475488" y="1207008"/>
            <a:ext cx="51755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When animals travel between regions to follow food, warmth, or safe places to raise young. Florida hosts many migrating birds every winter.</a:t>
            </a:r>
            <a:endParaRPr lang="en-US" sz="1050" dirty="0"/>
          </a:p>
        </p:txBody>
      </p:sp>
      <p:sp>
        <p:nvSpPr>
          <p:cNvPr id="9" name="Shape 7"/>
          <p:cNvSpPr/>
          <p:nvPr/>
        </p:nvSpPr>
        <p:spPr>
          <a:xfrm>
            <a:off x="6035040" y="804672"/>
            <a:ext cx="5394960" cy="1325880"/>
          </a:xfrm>
          <a:prstGeom prst="roundRect">
            <a:avLst>
              <a:gd name="adj" fmla="val 6897"/>
            </a:avLst>
          </a:prstGeom>
          <a:solidFill>
            <a:srgbClr val="1E2F45"/>
          </a:solidFill>
          <a:ln w="25400">
            <a:solidFill>
              <a:srgbClr val="FFB703"/>
            </a:solidFill>
            <a:prstDash val="solid"/>
          </a:ln>
        </p:spPr>
      </p:sp>
      <p:sp>
        <p:nvSpPr>
          <p:cNvPr id="10" name="Shape 8"/>
          <p:cNvSpPr/>
          <p:nvPr/>
        </p:nvSpPr>
        <p:spPr>
          <a:xfrm>
            <a:off x="6035040" y="804672"/>
            <a:ext cx="5394960" cy="347472"/>
          </a:xfrm>
          <a:prstGeom prst="roundRect">
            <a:avLst>
              <a:gd name="adj" fmla="val 21053"/>
            </a:avLst>
          </a:prstGeom>
          <a:solidFill>
            <a:srgbClr val="FFB703"/>
          </a:solidFill>
          <a:ln w="12700">
            <a:solidFill>
              <a:srgbClr val="FFB703"/>
            </a:solidFill>
            <a:prstDash val="solid"/>
          </a:ln>
        </p:spPr>
      </p:sp>
      <p:sp>
        <p:nvSpPr>
          <p:cNvPr id="11" name="Text 9"/>
          <p:cNvSpPr/>
          <p:nvPr/>
        </p:nvSpPr>
        <p:spPr>
          <a:xfrm>
            <a:off x="6126480" y="832104"/>
            <a:ext cx="5212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Hibernation</a:t>
            </a:r>
            <a:endParaRPr lang="en-US" sz="1200" dirty="0"/>
          </a:p>
        </p:txBody>
      </p:sp>
      <p:sp>
        <p:nvSpPr>
          <p:cNvPr id="12" name="Text 10"/>
          <p:cNvSpPr/>
          <p:nvPr/>
        </p:nvSpPr>
        <p:spPr>
          <a:xfrm>
            <a:off x="6144768" y="1207008"/>
            <a:ext cx="51755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deep, sleep-like state some animals enter in cold months to save energy when food is scarce. Florida's mild winters mean most animals here don't need to hibernate.</a:t>
            </a:r>
            <a:endParaRPr lang="en-US" sz="1050" dirty="0"/>
          </a:p>
        </p:txBody>
      </p:sp>
      <p:sp>
        <p:nvSpPr>
          <p:cNvPr id="13" name="Shape 11"/>
          <p:cNvSpPr/>
          <p:nvPr/>
        </p:nvSpPr>
        <p:spPr>
          <a:xfrm>
            <a:off x="365760" y="2286000"/>
            <a:ext cx="11247120" cy="1261872"/>
          </a:xfrm>
          <a:prstGeom prst="roundRect">
            <a:avLst>
              <a:gd name="adj" fmla="val 5797"/>
            </a:avLst>
          </a:prstGeom>
          <a:solidFill>
            <a:srgbClr val="162233"/>
          </a:solidFill>
          <a:ln w="12700">
            <a:solidFill>
              <a:srgbClr val="F4736A"/>
            </a:solidFill>
            <a:prstDash val="solid"/>
          </a:ln>
        </p:spPr>
      </p:sp>
      <p:sp>
        <p:nvSpPr>
          <p:cNvPr id="14" name="Text 12"/>
          <p:cNvSpPr/>
          <p:nvPr/>
        </p:nvSpPr>
        <p:spPr>
          <a:xfrm>
            <a:off x="548640" y="2359152"/>
            <a:ext cx="10972800" cy="347472"/>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 Common Misconception: 'Florida doesn't have seasons.'</a:t>
            </a:r>
            <a:endParaRPr lang="en-US" sz="1300" dirty="0"/>
          </a:p>
        </p:txBody>
      </p:sp>
      <p:sp>
        <p:nvSpPr>
          <p:cNvPr id="15" name="Text 13"/>
          <p:cNvSpPr/>
          <p:nvPr/>
        </p:nvSpPr>
        <p:spPr>
          <a:xfrm>
            <a:off x="548640" y="2743200"/>
            <a:ext cx="10972800" cy="65836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Florida absolutely has seasons — they're just MILDER. Daylight gets shorter in winter and longer in summer here too. Plants flower and fruit at different times. Many migrating birds time their visits to Florida's wet/dry seasons.</a:t>
            </a:r>
            <a:endParaRPr lang="en-US" sz="1200" dirty="0"/>
          </a:p>
        </p:txBody>
      </p:sp>
      <p:sp>
        <p:nvSpPr>
          <p:cNvPr id="16" name="Shape 14"/>
          <p:cNvSpPr/>
          <p:nvPr/>
        </p:nvSpPr>
        <p:spPr>
          <a:xfrm>
            <a:off x="365760" y="3694176"/>
            <a:ext cx="5394960" cy="1828800"/>
          </a:xfrm>
          <a:prstGeom prst="roundRect">
            <a:avLst>
              <a:gd name="adj" fmla="val 4000"/>
            </a:avLst>
          </a:prstGeom>
          <a:solidFill>
            <a:srgbClr val="1E2F45"/>
          </a:solidFill>
          <a:ln w="12700">
            <a:solidFill>
              <a:srgbClr val="2DC653"/>
            </a:solidFill>
            <a:prstDash val="solid"/>
          </a:ln>
        </p:spPr>
      </p:sp>
      <p:sp>
        <p:nvSpPr>
          <p:cNvPr id="17" name="Text 15"/>
          <p:cNvSpPr/>
          <p:nvPr/>
        </p:nvSpPr>
        <p:spPr>
          <a:xfrm>
            <a:off x="548640" y="3767328"/>
            <a:ext cx="5029200" cy="329184"/>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Florida Winter Response:</a:t>
            </a:r>
            <a:endParaRPr lang="en-US" sz="1200" dirty="0"/>
          </a:p>
        </p:txBody>
      </p:sp>
      <p:sp>
        <p:nvSpPr>
          <p:cNvPr id="18" name="Text 16"/>
          <p:cNvSpPr/>
          <p:nvPr/>
        </p:nvSpPr>
        <p:spPr>
          <a:xfrm>
            <a:off x="548640" y="4133088"/>
            <a:ext cx="5029200" cy="126187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 Most plants keep growing (slower)</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Many animals stay active</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Becomes a winter home for migrating birds</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Most Florida animals DON'T hibernate</a:t>
            </a:r>
            <a:endParaRPr lang="en-US" sz="1150" dirty="0"/>
          </a:p>
        </p:txBody>
      </p:sp>
      <p:sp>
        <p:nvSpPr>
          <p:cNvPr id="19" name="Shape 17"/>
          <p:cNvSpPr/>
          <p:nvPr/>
        </p:nvSpPr>
        <p:spPr>
          <a:xfrm>
            <a:off x="6035040" y="3694176"/>
            <a:ext cx="5394960" cy="1828800"/>
          </a:xfrm>
          <a:prstGeom prst="roundRect">
            <a:avLst>
              <a:gd name="adj" fmla="val 4000"/>
            </a:avLst>
          </a:prstGeom>
          <a:solidFill>
            <a:srgbClr val="1E2F45"/>
          </a:solidFill>
          <a:ln w="12700">
            <a:solidFill>
              <a:srgbClr val="4CC9F0"/>
            </a:solidFill>
            <a:prstDash val="solid"/>
          </a:ln>
        </p:spPr>
      </p:sp>
      <p:sp>
        <p:nvSpPr>
          <p:cNvPr id="20" name="Text 18"/>
          <p:cNvSpPr/>
          <p:nvPr/>
        </p:nvSpPr>
        <p:spPr>
          <a:xfrm>
            <a:off x="6217920" y="3767328"/>
            <a:ext cx="5029200" cy="329184"/>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Maine Winter Response:</a:t>
            </a:r>
            <a:endParaRPr lang="en-US" sz="1200" dirty="0"/>
          </a:p>
        </p:txBody>
      </p:sp>
      <p:sp>
        <p:nvSpPr>
          <p:cNvPr id="21" name="Text 19"/>
          <p:cNvSpPr/>
          <p:nvPr/>
        </p:nvSpPr>
        <p:spPr>
          <a:xfrm>
            <a:off x="6217920" y="4133088"/>
            <a:ext cx="5029200" cy="126187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 Many trees drop leaves (save energy)</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Some animals hibernate (bears, chipmunks)</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Other animals migrate SOUTH to Florida</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Food chains shrink dramatically</a:t>
            </a:r>
            <a:endParaRPr lang="en-US" sz="1150" dirty="0"/>
          </a:p>
        </p:txBody>
      </p:sp>
      <p:sp>
        <p:nvSpPr>
          <p:cNvPr id="22" name="Shape 20"/>
          <p:cNvSpPr/>
          <p:nvPr/>
        </p:nvSpPr>
        <p:spPr>
          <a:xfrm>
            <a:off x="0" y="6629400"/>
            <a:ext cx="12192000" cy="228600"/>
          </a:xfrm>
          <a:prstGeom prst="rect">
            <a:avLst/>
          </a:prstGeom>
          <a:solidFill>
            <a:srgbClr val="162233"/>
          </a:solidFill>
          <a:ln/>
        </p:spPr>
      </p:sp>
      <p:sp>
        <p:nvSpPr>
          <p:cNvPr id="23" name="Text 2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14.02  ·  Model: Interdependence Across Seasons</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Core Content: Same Month, Two Regions</a:t>
            </a:r>
            <a:endParaRPr lang="en-US" sz="1600" dirty="0"/>
          </a:p>
        </p:txBody>
      </p:sp>
      <p:sp>
        <p:nvSpPr>
          <p:cNvPr id="5" name="Shape 3"/>
          <p:cNvSpPr/>
          <p:nvPr/>
        </p:nvSpPr>
        <p:spPr>
          <a:xfrm>
            <a:off x="365760" y="749808"/>
            <a:ext cx="11247120" cy="4279392"/>
          </a:xfrm>
          <a:prstGeom prst="roundRect">
            <a:avLst>
              <a:gd name="adj" fmla="val 1709"/>
            </a:avLst>
          </a:prstGeom>
          <a:solidFill>
            <a:srgbClr val="0A1520"/>
          </a:solidFill>
          <a:ln w="19050">
            <a:solidFill>
              <a:srgbClr val="4CC9F0"/>
            </a:solidFill>
            <a:prstDash val="dash"/>
          </a:ln>
        </p:spPr>
      </p:sp>
      <p:sp>
        <p:nvSpPr>
          <p:cNvPr id="6" name="Text 4"/>
          <p:cNvSpPr/>
          <p:nvPr/>
        </p:nvSpPr>
        <p:spPr>
          <a:xfrm>
            <a:off x="457200" y="859536"/>
            <a:ext cx="110642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110642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11027664" cy="3227832"/>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"Florida winter January green palm trees birds manatees vs Maine winter snow frozen pond bear hibernating"</a:t>
            </a:r>
            <a:endParaRPr lang="en-US" sz="950" dirty="0"/>
          </a:p>
        </p:txBody>
      </p:sp>
      <p:sp>
        <p:nvSpPr>
          <p:cNvPr id="9" name="Text 7"/>
          <p:cNvSpPr/>
          <p:nvPr/>
        </p:nvSpPr>
        <p:spPr>
          <a:xfrm>
            <a:off x="365760" y="5065776"/>
            <a:ext cx="112471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January in Florida (left) vs. January in Maine (right) — same month, different worlds</a:t>
            </a:r>
            <a:endParaRPr lang="en-US" sz="900" dirty="0"/>
          </a:p>
        </p:txBody>
      </p:sp>
      <p:sp>
        <p:nvSpPr>
          <p:cNvPr id="10" name="Shape 8"/>
          <p:cNvSpPr/>
          <p:nvPr/>
        </p:nvSpPr>
        <p:spPr>
          <a:xfrm>
            <a:off x="365760" y="5157216"/>
            <a:ext cx="11247120" cy="749808"/>
          </a:xfrm>
          <a:prstGeom prst="roundRect">
            <a:avLst>
              <a:gd name="adj" fmla="val 9756"/>
            </a:avLst>
          </a:prstGeom>
          <a:solidFill>
            <a:srgbClr val="162233"/>
          </a:solidFill>
          <a:ln w="12700">
            <a:solidFill>
              <a:srgbClr val="4CC9F0"/>
            </a:solidFill>
            <a:prstDash val="solid"/>
          </a:ln>
        </p:spPr>
      </p:sp>
      <p:sp>
        <p:nvSpPr>
          <p:cNvPr id="11" name="Text 9"/>
          <p:cNvSpPr/>
          <p:nvPr/>
        </p:nvSpPr>
        <p:spPr>
          <a:xfrm>
            <a:off x="548640" y="5230368"/>
            <a:ext cx="10972800" cy="585216"/>
          </a:xfrm>
          <a:prstGeom prst="rect">
            <a:avLst/>
          </a:prstGeom>
          <a:noFill/>
          <a:ln/>
        </p:spPr>
        <p:txBody>
          <a:bodyPr wrap="square"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 Observe &amp; Reason: Pick one connection (food-energy arrow) that shows up in BOTH regions. Pick one that only shows up in one. What does that tell you about interdependence?</a:t>
            </a:r>
            <a:endParaRPr lang="en-US" sz="1150" dirty="0"/>
          </a:p>
        </p:txBody>
      </p:sp>
      <p:sp>
        <p:nvSpPr>
          <p:cNvPr id="12" name="Shape 10"/>
          <p:cNvSpPr/>
          <p:nvPr/>
        </p:nvSpPr>
        <p:spPr>
          <a:xfrm>
            <a:off x="0" y="6629400"/>
            <a:ext cx="12192000" cy="228600"/>
          </a:xfrm>
          <a:prstGeom prst="rect">
            <a:avLst/>
          </a:prstGeom>
          <a:solidFill>
            <a:srgbClr val="162233"/>
          </a:solidFill>
          <a:ln/>
        </p:spPr>
      </p:sp>
      <p:sp>
        <p:nvSpPr>
          <p:cNvPr id="13" name="Text 1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14.02  ·  Model: Interdependence Across Seasons</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Migration: How Regions Are Connected</a:t>
            </a:r>
            <a:endParaRPr lang="en-US" sz="1600" dirty="0"/>
          </a:p>
        </p:txBody>
      </p:sp>
      <p:sp>
        <p:nvSpPr>
          <p:cNvPr id="5" name="Shape 3"/>
          <p:cNvSpPr/>
          <p:nvPr/>
        </p:nvSpPr>
        <p:spPr>
          <a:xfrm>
            <a:off x="365760" y="749808"/>
            <a:ext cx="5303520" cy="4206240"/>
          </a:xfrm>
          <a:prstGeom prst="roundRect">
            <a:avLst>
              <a:gd name="adj" fmla="val 1739"/>
            </a:avLst>
          </a:prstGeom>
          <a:solidFill>
            <a:srgbClr val="0A1520"/>
          </a:solidFill>
          <a:ln w="19050">
            <a:solidFill>
              <a:srgbClr val="4CC9F0"/>
            </a:solidFill>
            <a:prstDash val="dash"/>
          </a:ln>
        </p:spPr>
      </p:sp>
      <p:sp>
        <p:nvSpPr>
          <p:cNvPr id="6" name="Text 4"/>
          <p:cNvSpPr/>
          <p:nvPr/>
        </p:nvSpPr>
        <p:spPr>
          <a:xfrm>
            <a:off x="457200" y="859536"/>
            <a:ext cx="51206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51206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5084064" cy="315468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"bird migration map North America flyway Florida winter habitat ducks geese"</a:t>
            </a:r>
            <a:endParaRPr lang="en-US" sz="950" dirty="0"/>
          </a:p>
        </p:txBody>
      </p:sp>
      <p:sp>
        <p:nvSpPr>
          <p:cNvPr id="9" name="Text 7"/>
          <p:cNvSpPr/>
          <p:nvPr/>
        </p:nvSpPr>
        <p:spPr>
          <a:xfrm>
            <a:off x="365760" y="4992624"/>
            <a:ext cx="53035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Migration routes — birds travel thousands of miles to reach Florida's wetlands</a:t>
            </a:r>
            <a:endParaRPr lang="en-US" sz="900" dirty="0"/>
          </a:p>
        </p:txBody>
      </p:sp>
      <p:sp>
        <p:nvSpPr>
          <p:cNvPr id="10" name="Shape 8"/>
          <p:cNvSpPr/>
          <p:nvPr/>
        </p:nvSpPr>
        <p:spPr>
          <a:xfrm>
            <a:off x="5852160" y="749808"/>
            <a:ext cx="5760720" cy="1993392"/>
          </a:xfrm>
          <a:prstGeom prst="roundRect">
            <a:avLst>
              <a:gd name="adj" fmla="val 3670"/>
            </a:avLst>
          </a:prstGeom>
          <a:solidFill>
            <a:srgbClr val="1E2F45"/>
          </a:solidFill>
          <a:ln w="12700">
            <a:solidFill>
              <a:srgbClr val="4CC9F0"/>
            </a:solidFill>
            <a:prstDash val="solid"/>
          </a:ln>
        </p:spPr>
      </p:sp>
      <p:sp>
        <p:nvSpPr>
          <p:cNvPr id="11" name="Text 9"/>
          <p:cNvSpPr/>
          <p:nvPr/>
        </p:nvSpPr>
        <p:spPr>
          <a:xfrm>
            <a:off x="6035040" y="822960"/>
            <a:ext cx="5394960" cy="347472"/>
          </a:xfrm>
          <a:prstGeom prst="rect">
            <a:avLst/>
          </a:prstGeom>
          <a:noFill/>
          <a:ln/>
        </p:spPr>
        <p:txBody>
          <a:bodyPr wrap="square" rtlCol="0" anchor="ctr"/>
          <a:lstStyle/>
          <a:p>
            <a:pPr indent="0" marL="0">
              <a:buNone/>
            </a:pPr>
            <a:r>
              <a:rPr lang="en-US" sz="1400" b="1" dirty="0">
                <a:solidFill>
                  <a:srgbClr val="4CC9F0"/>
                </a:solidFill>
                <a:latin typeface="Calibri" pitchFamily="34" charset="0"/>
                <a:ea typeface="Calibri" pitchFamily="34" charset="-122"/>
                <a:cs typeface="Calibri" pitchFamily="34" charset="-120"/>
              </a:rPr>
              <a:t>🦆 5 Million Ducks &amp; Geese</a:t>
            </a:r>
            <a:endParaRPr lang="en-US" sz="1400" dirty="0"/>
          </a:p>
        </p:txBody>
      </p:sp>
      <p:sp>
        <p:nvSpPr>
          <p:cNvPr id="12" name="Text 10"/>
          <p:cNvSpPr/>
          <p:nvPr/>
        </p:nvSpPr>
        <p:spPr>
          <a:xfrm>
            <a:off x="6035040" y="1207008"/>
            <a:ext cx="5394960" cy="1426464"/>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In ONE winter, over 5 million ducks and geese migrate through Florida. That's more birds than there are people in many states.</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Wetlands here feed birds that spend their summers all the way up in Canada.</a:t>
            </a:r>
            <a:endParaRPr lang="en-US" sz="1200" dirty="0"/>
          </a:p>
        </p:txBody>
      </p:sp>
      <p:sp>
        <p:nvSpPr>
          <p:cNvPr id="13" name="Shape 11"/>
          <p:cNvSpPr/>
          <p:nvPr/>
        </p:nvSpPr>
        <p:spPr>
          <a:xfrm>
            <a:off x="5852160" y="2871216"/>
            <a:ext cx="5760720" cy="1993392"/>
          </a:xfrm>
          <a:prstGeom prst="roundRect">
            <a:avLst>
              <a:gd name="adj" fmla="val 3670"/>
            </a:avLst>
          </a:prstGeom>
          <a:solidFill>
            <a:srgbClr val="1E2F45"/>
          </a:solidFill>
          <a:ln w="12700">
            <a:solidFill>
              <a:srgbClr val="FFB703"/>
            </a:solidFill>
            <a:prstDash val="solid"/>
          </a:ln>
        </p:spPr>
      </p:sp>
      <p:sp>
        <p:nvSpPr>
          <p:cNvPr id="14" name="Text 12"/>
          <p:cNvSpPr/>
          <p:nvPr/>
        </p:nvSpPr>
        <p:spPr>
          <a:xfrm>
            <a:off x="6035040" y="2944368"/>
            <a:ext cx="5394960"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Manatee Winter Clusters</a:t>
            </a:r>
            <a:endParaRPr lang="en-US" sz="1300" dirty="0"/>
          </a:p>
        </p:txBody>
      </p:sp>
      <p:sp>
        <p:nvSpPr>
          <p:cNvPr id="15" name="Text 13"/>
          <p:cNvSpPr/>
          <p:nvPr/>
        </p:nvSpPr>
        <p:spPr>
          <a:xfrm>
            <a:off x="6035040" y="3328416"/>
            <a:ext cx="5394960" cy="142646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In a cold snap, manatees crowd into Florida's natural springs by the HUNDREDS. Without those warm spots, the population would crash every winter.</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Conservation work has focused on protecting these springs — so many manatees depend on them at once.</a:t>
            </a:r>
            <a:endParaRPr lang="en-US" sz="1150" dirty="0"/>
          </a:p>
        </p:txBody>
      </p:sp>
      <p:sp>
        <p:nvSpPr>
          <p:cNvPr id="16" name="Shape 14"/>
          <p:cNvSpPr/>
          <p:nvPr/>
        </p:nvSpPr>
        <p:spPr>
          <a:xfrm>
            <a:off x="365760" y="5084064"/>
            <a:ext cx="11247120" cy="841248"/>
          </a:xfrm>
          <a:prstGeom prst="roundRect">
            <a:avLst>
              <a:gd name="adj" fmla="val 8696"/>
            </a:avLst>
          </a:prstGeom>
          <a:solidFill>
            <a:srgbClr val="162233"/>
          </a:solidFill>
          <a:ln w="12700">
            <a:solidFill>
              <a:srgbClr val="FFB703"/>
            </a:solidFill>
            <a:prstDash val="solid"/>
          </a:ln>
        </p:spPr>
      </p:sp>
      <p:sp>
        <p:nvSpPr>
          <p:cNvPr id="17" name="Text 15"/>
          <p:cNvSpPr/>
          <p:nvPr/>
        </p:nvSpPr>
        <p:spPr>
          <a:xfrm>
            <a:off x="530352" y="5157216"/>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Discussion:</a:t>
            </a:r>
            <a:endParaRPr lang="en-US" sz="1300" dirty="0"/>
          </a:p>
        </p:txBody>
      </p:sp>
      <p:sp>
        <p:nvSpPr>
          <p:cNvPr id="18" name="Text 16"/>
          <p:cNvSpPr/>
          <p:nvPr/>
        </p:nvSpPr>
        <p:spPr>
          <a:xfrm>
            <a:off x="530352" y="5522976"/>
            <a:ext cx="10917936" cy="292608"/>
          </a:xfrm>
          <a:prstGeom prst="rect">
            <a:avLst/>
          </a:prstGeom>
          <a:noFill/>
          <a:ln/>
        </p:spPr>
        <p:txBody>
          <a:bodyPr wrap="square" rtlCol="0" anchor="t"/>
          <a:lstStyle/>
          <a:p>
            <a:pPr algn="l" indent="0" marL="0">
              <a:buNone/>
            </a:pPr>
            <a:r>
              <a:rPr lang="en-US" sz="1150" i="1" dirty="0">
                <a:solidFill>
                  <a:srgbClr val="FFFFFF"/>
                </a:solidFill>
                <a:latin typeface="Calibri" pitchFamily="34" charset="0"/>
                <a:ea typeface="Calibri" pitchFamily="34" charset="-122"/>
                <a:cs typeface="Calibri" pitchFamily="34" charset="-120"/>
              </a:rPr>
              <a:t>Pick one Florida connection that depends on COLD weather elsewhere. What does that tell you about how regions are linked?</a:t>
            </a:r>
            <a:endParaRPr lang="en-US" sz="115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14.02  ·  Model: Interdependence Across Seasons</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How Food Energy Flows Between Regions</a:t>
            </a:r>
            <a:endParaRPr lang="en-US" sz="1600" dirty="0"/>
          </a:p>
        </p:txBody>
      </p:sp>
      <p:sp>
        <p:nvSpPr>
          <p:cNvPr id="5" name="Shape 3"/>
          <p:cNvSpPr/>
          <p:nvPr/>
        </p:nvSpPr>
        <p:spPr>
          <a:xfrm>
            <a:off x="365760" y="749808"/>
            <a:ext cx="11247120" cy="1481328"/>
          </a:xfrm>
          <a:prstGeom prst="roundRect">
            <a:avLst>
              <a:gd name="adj" fmla="val 4938"/>
            </a:avLst>
          </a:prstGeom>
          <a:solidFill>
            <a:srgbClr val="1E2F45"/>
          </a:solidFill>
          <a:ln w="12700">
            <a:solidFill>
              <a:srgbClr val="4CC9F0"/>
            </a:solidFill>
            <a:prstDash val="solid"/>
          </a:ln>
        </p:spPr>
      </p:sp>
      <p:sp>
        <p:nvSpPr>
          <p:cNvPr id="6" name="Text 4"/>
          <p:cNvSpPr/>
          <p:nvPr/>
        </p:nvSpPr>
        <p:spPr>
          <a:xfrm>
            <a:off x="548640" y="822960"/>
            <a:ext cx="10972800" cy="475488"/>
          </a:xfrm>
          <a:prstGeom prst="rect">
            <a:avLst/>
          </a:prstGeom>
          <a:noFill/>
          <a:ln/>
        </p:spPr>
        <p:txBody>
          <a:bodyPr wrap="square" rtlCol="0" anchor="ctr"/>
          <a:lstStyle/>
          <a:p>
            <a:pPr algn="ctr" indent="0" marL="0">
              <a:buNone/>
            </a:pPr>
            <a:r>
              <a:rPr lang="en-US" sz="1400" b="1" dirty="0">
                <a:solidFill>
                  <a:srgbClr val="4CC9F0"/>
                </a:solidFill>
                <a:latin typeface="Calibri" pitchFamily="34" charset="0"/>
                <a:ea typeface="Calibri" pitchFamily="34" charset="-122"/>
                <a:cs typeface="Calibri" pitchFamily="34" charset="-120"/>
              </a:rPr>
              <a:t>☀️ Sun → Florida Plant → Florida Insect → Migrating Bird → Maine Summer Ecosystem</a:t>
            </a:r>
            <a:endParaRPr lang="en-US" sz="1400" dirty="0"/>
          </a:p>
        </p:txBody>
      </p:sp>
      <p:sp>
        <p:nvSpPr>
          <p:cNvPr id="7" name="Text 5"/>
          <p:cNvSpPr/>
          <p:nvPr/>
        </p:nvSpPr>
        <p:spPr>
          <a:xfrm>
            <a:off x="548640" y="1335024"/>
            <a:ext cx="10972800" cy="74980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When a robin eats a Florida worm and then flies to Maine, it carries that food energy north. The energy that started in a Florida plant powers the bird all the way to its summer nesting ground.</a:t>
            </a:r>
            <a:endParaRPr lang="en-US" sz="1200" dirty="0"/>
          </a:p>
        </p:txBody>
      </p:sp>
      <p:sp>
        <p:nvSpPr>
          <p:cNvPr id="8" name="Shape 6"/>
          <p:cNvSpPr/>
          <p:nvPr/>
        </p:nvSpPr>
        <p:spPr>
          <a:xfrm>
            <a:off x="365760" y="2359152"/>
            <a:ext cx="11247120" cy="2834640"/>
          </a:xfrm>
          <a:prstGeom prst="roundRect">
            <a:avLst>
              <a:gd name="adj" fmla="val 2581"/>
            </a:avLst>
          </a:prstGeom>
          <a:solidFill>
            <a:srgbClr val="0A1520"/>
          </a:solidFill>
          <a:ln w="19050">
            <a:solidFill>
              <a:srgbClr val="4CC9F0"/>
            </a:solidFill>
            <a:prstDash val="dash"/>
          </a:ln>
        </p:spPr>
      </p:sp>
      <p:sp>
        <p:nvSpPr>
          <p:cNvPr id="9" name="Text 7"/>
          <p:cNvSpPr/>
          <p:nvPr/>
        </p:nvSpPr>
        <p:spPr>
          <a:xfrm>
            <a:off x="457200" y="2468880"/>
            <a:ext cx="110642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457200" y="2907792"/>
            <a:ext cx="110642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1" name="Text 9"/>
          <p:cNvSpPr/>
          <p:nvPr/>
        </p:nvSpPr>
        <p:spPr>
          <a:xfrm>
            <a:off x="475488" y="3200400"/>
            <a:ext cx="11027664" cy="178308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"food energy chain migration Florida plants insects birds seasonal interdependence diagram arrows"</a:t>
            </a:r>
            <a:endParaRPr lang="en-US" sz="950" dirty="0"/>
          </a:p>
        </p:txBody>
      </p:sp>
      <p:sp>
        <p:nvSpPr>
          <p:cNvPr id="12" name="Text 10"/>
          <p:cNvSpPr/>
          <p:nvPr/>
        </p:nvSpPr>
        <p:spPr>
          <a:xfrm>
            <a:off x="365760" y="5230368"/>
            <a:ext cx="112471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Food energy flowing from Florida to other regions via migrating animals</a:t>
            </a:r>
            <a:endParaRPr lang="en-US" sz="900" dirty="0"/>
          </a:p>
        </p:txBody>
      </p:sp>
      <p:sp>
        <p:nvSpPr>
          <p:cNvPr id="13" name="Shape 11"/>
          <p:cNvSpPr/>
          <p:nvPr/>
        </p:nvSpPr>
        <p:spPr>
          <a:xfrm>
            <a:off x="365760" y="5303520"/>
            <a:ext cx="11247120" cy="621792"/>
          </a:xfrm>
          <a:prstGeom prst="roundRect">
            <a:avLst>
              <a:gd name="adj" fmla="val 11765"/>
            </a:avLst>
          </a:prstGeom>
          <a:solidFill>
            <a:srgbClr val="1A0A05"/>
          </a:solidFill>
          <a:ln w="12700">
            <a:solidFill>
              <a:srgbClr val="FFB703"/>
            </a:solidFill>
            <a:prstDash val="solid"/>
          </a:ln>
        </p:spPr>
      </p:sp>
      <p:sp>
        <p:nvSpPr>
          <p:cNvPr id="14" name="Text 12"/>
          <p:cNvSpPr/>
          <p:nvPr/>
        </p:nvSpPr>
        <p:spPr>
          <a:xfrm>
            <a:off x="548640" y="5376672"/>
            <a:ext cx="10972800" cy="475488"/>
          </a:xfrm>
          <a:prstGeom prst="rect">
            <a:avLst/>
          </a:prstGeom>
          <a:noFill/>
          <a:ln/>
        </p:spPr>
        <p:txBody>
          <a:bodyPr wrap="square" rtlCol="0" anchor="ctr"/>
          <a:lstStyle/>
          <a:p>
            <a:pPr indent="0" marL="0">
              <a:buNone/>
            </a:pPr>
            <a:r>
              <a:rPr lang="en-US" sz="1100" dirty="0">
                <a:solidFill>
                  <a:srgbClr val="FFB703"/>
                </a:solidFill>
                <a:latin typeface="Calibri" pitchFamily="34" charset="0"/>
                <a:ea typeface="Calibri" pitchFamily="34" charset="-122"/>
                <a:cs typeface="Calibri" pitchFamily="34" charset="-120"/>
              </a:rPr>
              <a:t>⭐ KEY CONCEPT: Plants and animals depend on each other AND on the seasons. Every animal's energy came from a plant — and the seasons determine where that food is available.</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14.02  ·  Model: Interdependence Across Seasons</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Mind-Blow: The Same Robin in TWO Yards</a:t>
            </a:r>
            <a:endParaRPr lang="en-US" sz="1600" dirty="0"/>
          </a:p>
        </p:txBody>
      </p:sp>
      <p:sp>
        <p:nvSpPr>
          <p:cNvPr id="5" name="Shape 3"/>
          <p:cNvSpPr/>
          <p:nvPr/>
        </p:nvSpPr>
        <p:spPr>
          <a:xfrm>
            <a:off x="365760" y="749808"/>
            <a:ext cx="11247120" cy="2084832"/>
          </a:xfrm>
          <a:prstGeom prst="roundRect">
            <a:avLst>
              <a:gd name="adj" fmla="val 3509"/>
            </a:avLst>
          </a:prstGeom>
          <a:solidFill>
            <a:srgbClr val="1A0A05"/>
          </a:solidFill>
          <a:ln w="12700">
            <a:solidFill>
              <a:srgbClr val="F4736A"/>
            </a:solidFill>
            <a:prstDash val="solid"/>
          </a:ln>
        </p:spPr>
      </p:sp>
      <p:sp>
        <p:nvSpPr>
          <p:cNvPr id="6" name="Text 4"/>
          <p:cNvSpPr/>
          <p:nvPr/>
        </p:nvSpPr>
        <p:spPr>
          <a:xfrm>
            <a:off x="548640" y="822960"/>
            <a:ext cx="10972800" cy="475488"/>
          </a:xfrm>
          <a:prstGeom prst="rect">
            <a:avLst/>
          </a:prstGeom>
          <a:noFill/>
          <a:ln/>
        </p:spPr>
        <p:txBody>
          <a:bodyPr wrap="square" rtlCol="0" anchor="ctr"/>
          <a:lstStyle/>
          <a:p>
            <a:pPr indent="0" marL="0">
              <a:buNone/>
            </a:pPr>
            <a:r>
              <a:rPr lang="en-US" sz="1500" b="1" dirty="0">
                <a:solidFill>
                  <a:srgbClr val="F4736A"/>
                </a:solidFill>
                <a:latin typeface="Calibri" pitchFamily="34" charset="0"/>
                <a:ea typeface="Calibri" pitchFamily="34" charset="-122"/>
                <a:cs typeface="Calibri" pitchFamily="34" charset="-120"/>
              </a:rPr>
              <a:t>🐦 A robin you see hopping in a Maine yard in summer might be THE SAME BIRD you see in a Florida yard in winter.</a:t>
            </a:r>
            <a:endParaRPr lang="en-US" sz="1500" dirty="0"/>
          </a:p>
        </p:txBody>
      </p:sp>
      <p:sp>
        <p:nvSpPr>
          <p:cNvPr id="7" name="Text 5"/>
          <p:cNvSpPr/>
          <p:nvPr/>
        </p:nvSpPr>
        <p:spPr>
          <a:xfrm>
            <a:off x="548640" y="1335024"/>
            <a:ext cx="10972800" cy="1353312"/>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Its yearly migration is over 1,000 miles long. The same individual bird lives in two completely different ecosystems in the same year — carrying food energy back and forth between them.</a:t>
            </a:r>
            <a:endParaRPr lang="en-US" sz="1300" dirty="0"/>
          </a:p>
        </p:txBody>
      </p:sp>
      <p:sp>
        <p:nvSpPr>
          <p:cNvPr id="8" name="Shape 6"/>
          <p:cNvSpPr/>
          <p:nvPr/>
        </p:nvSpPr>
        <p:spPr>
          <a:xfrm>
            <a:off x="365760" y="2962656"/>
            <a:ext cx="11247120" cy="1444752"/>
          </a:xfrm>
          <a:prstGeom prst="roundRect">
            <a:avLst>
              <a:gd name="adj" fmla="val 5063"/>
            </a:avLst>
          </a:prstGeom>
          <a:solidFill>
            <a:srgbClr val="1E2F45"/>
          </a:solidFill>
          <a:ln w="12700">
            <a:solidFill>
              <a:srgbClr val="FFB703"/>
            </a:solidFill>
            <a:prstDash val="solid"/>
          </a:ln>
        </p:spPr>
      </p:sp>
      <p:sp>
        <p:nvSpPr>
          <p:cNvPr id="9" name="Text 7"/>
          <p:cNvSpPr/>
          <p:nvPr/>
        </p:nvSpPr>
        <p:spPr>
          <a:xfrm>
            <a:off x="548640" y="3035808"/>
            <a:ext cx="10972800"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Go Deeper: What happens if seasons start to SHIFT?</a:t>
            </a:r>
            <a:endParaRPr lang="en-US" sz="1300" dirty="0"/>
          </a:p>
        </p:txBody>
      </p:sp>
      <p:sp>
        <p:nvSpPr>
          <p:cNvPr id="10" name="Text 8"/>
          <p:cNvSpPr/>
          <p:nvPr/>
        </p:nvSpPr>
        <p:spPr>
          <a:xfrm>
            <a:off x="548640" y="3419856"/>
            <a:ext cx="10972800" cy="877824"/>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Florida's seasonal patterns are slowly changing — winters are getting milder, hurricane season is shifting. Some species that depend on cold cues to migrate or flower can get OUT OF SYNC. Scientists watch wildflower bloom dates and bird arrival dates closely. Small changes in timing can break interdependence connections.</a:t>
            </a:r>
            <a:endParaRPr lang="en-US" sz="1200" dirty="0"/>
          </a:p>
        </p:txBody>
      </p:sp>
      <p:sp>
        <p:nvSpPr>
          <p:cNvPr id="11" name="Shape 9"/>
          <p:cNvSpPr/>
          <p:nvPr/>
        </p:nvSpPr>
        <p:spPr>
          <a:xfrm>
            <a:off x="365760" y="4553712"/>
            <a:ext cx="11247120" cy="1371600"/>
          </a:xfrm>
          <a:prstGeom prst="roundRect">
            <a:avLst>
              <a:gd name="adj" fmla="val 5333"/>
            </a:avLst>
          </a:prstGeom>
          <a:solidFill>
            <a:srgbClr val="162233"/>
          </a:solidFill>
          <a:ln w="12700">
            <a:solidFill>
              <a:srgbClr val="FFB703"/>
            </a:solidFill>
            <a:prstDash val="solid"/>
          </a:ln>
        </p:spPr>
      </p:sp>
      <p:sp>
        <p:nvSpPr>
          <p:cNvPr id="12" name="Text 10"/>
          <p:cNvSpPr/>
          <p:nvPr/>
        </p:nvSpPr>
        <p:spPr>
          <a:xfrm>
            <a:off x="530352" y="4626864"/>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Think About It:</a:t>
            </a:r>
            <a:endParaRPr lang="en-US" sz="1300" dirty="0"/>
          </a:p>
        </p:txBody>
      </p:sp>
      <p:sp>
        <p:nvSpPr>
          <p:cNvPr id="13" name="Text 11"/>
          <p:cNvSpPr/>
          <p:nvPr/>
        </p:nvSpPr>
        <p:spPr>
          <a:xfrm>
            <a:off x="530352" y="4992624"/>
            <a:ext cx="10917936" cy="822960"/>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Florida sticks out into warm ocean water. When ice and snow cover food sources up north, Florida's wetlands still have food. What would happen to migrating birds if Florida's wetlands disappeared?</a:t>
            </a:r>
            <a:endParaRPr lang="en-US" sz="12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14.02  ·  Model: Interdependence Across Seasons</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Explore: Build a Seasonal Model</a:t>
            </a:r>
            <a:endParaRPr lang="en-US" sz="1600" dirty="0"/>
          </a:p>
        </p:txBody>
      </p:sp>
      <p:sp>
        <p:nvSpPr>
          <p:cNvPr id="5" name="Text 3"/>
          <p:cNvSpPr/>
          <p:nvPr/>
        </p:nvSpPr>
        <p:spPr>
          <a:xfrm>
            <a:off x="365760" y="713232"/>
            <a:ext cx="11247120" cy="329184"/>
          </a:xfrm>
          <a:prstGeom prst="rect">
            <a:avLst/>
          </a:prstGeom>
          <a:noFill/>
          <a:ln/>
        </p:spPr>
        <p:txBody>
          <a:bodyPr wrap="square" rtlCol="0" anchor="ctr"/>
          <a:lstStyle/>
          <a:p>
            <a:pPr indent="0" marL="0">
              <a:buNone/>
            </a:pPr>
            <a:r>
              <a:rPr lang="en-US" sz="1200" i="1" dirty="0">
                <a:solidFill>
                  <a:srgbClr val="B0C4D8"/>
                </a:solidFill>
                <a:latin typeface="Calibri" pitchFamily="34" charset="0"/>
                <a:ea typeface="Calibri" pitchFamily="34" charset="-122"/>
                <a:cs typeface="Calibri" pitchFamily="34" charset="-120"/>
              </a:rPr>
              <a:t>Compare Florida and one other region in the SAME season — show how they're connected.</a:t>
            </a:r>
            <a:endParaRPr lang="en-US" sz="1200" dirty="0"/>
          </a:p>
        </p:txBody>
      </p:sp>
      <p:sp>
        <p:nvSpPr>
          <p:cNvPr id="6" name="Shape 4"/>
          <p:cNvSpPr/>
          <p:nvPr/>
        </p:nvSpPr>
        <p:spPr>
          <a:xfrm>
            <a:off x="365760" y="1115568"/>
            <a:ext cx="11247120" cy="1188720"/>
          </a:xfrm>
          <a:prstGeom prst="roundRect">
            <a:avLst>
              <a:gd name="adj" fmla="val 6154"/>
            </a:avLst>
          </a:prstGeom>
          <a:solidFill>
            <a:srgbClr val="1E2F45"/>
          </a:solidFill>
          <a:ln w="12700">
            <a:solidFill>
              <a:srgbClr val="2DC653"/>
            </a:solidFill>
            <a:prstDash val="solid"/>
          </a:ln>
        </p:spPr>
      </p:sp>
      <p:sp>
        <p:nvSpPr>
          <p:cNvPr id="7" name="Shape 5"/>
          <p:cNvSpPr/>
          <p:nvPr/>
        </p:nvSpPr>
        <p:spPr>
          <a:xfrm>
            <a:off x="502920" y="1188720"/>
            <a:ext cx="1554480" cy="256032"/>
          </a:xfrm>
          <a:prstGeom prst="roundRect">
            <a:avLst>
              <a:gd name="adj" fmla="val 50000"/>
            </a:avLst>
          </a:prstGeom>
          <a:solidFill>
            <a:srgbClr val="1A8C3A"/>
          </a:solidFill>
          <a:ln w="12700">
            <a:solidFill>
              <a:srgbClr val="1A8C3A"/>
            </a:solidFill>
            <a:prstDash val="solid"/>
          </a:ln>
        </p:spPr>
      </p:sp>
      <p:sp>
        <p:nvSpPr>
          <p:cNvPr id="8" name="Text 6"/>
          <p:cNvSpPr/>
          <p:nvPr/>
        </p:nvSpPr>
        <p:spPr>
          <a:xfrm>
            <a:off x="502920" y="118872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a:t>
            </a:r>
            <a:endParaRPr lang="en-US" sz="900" dirty="0"/>
          </a:p>
        </p:txBody>
      </p:sp>
      <p:sp>
        <p:nvSpPr>
          <p:cNvPr id="9" name="Text 7"/>
          <p:cNvSpPr/>
          <p:nvPr/>
        </p:nvSpPr>
        <p:spPr>
          <a:xfrm>
            <a:off x="2240280" y="1188720"/>
            <a:ext cx="9144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Choose your two regions</a:t>
            </a:r>
            <a:endParaRPr lang="en-US" sz="1300" dirty="0"/>
          </a:p>
        </p:txBody>
      </p:sp>
      <p:sp>
        <p:nvSpPr>
          <p:cNvPr id="10" name="Text 8"/>
          <p:cNvSpPr/>
          <p:nvPr/>
        </p:nvSpPr>
        <p:spPr>
          <a:xfrm>
            <a:off x="2240280" y="1554480"/>
            <a:ext cx="9144000" cy="6583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Draw two big circles side by side. Label one FLORIDA and one with your region (Maine, Colorado, desert Southwest). Pick ONE season for both.</a:t>
            </a:r>
            <a:endParaRPr lang="en-US" sz="1150" dirty="0"/>
          </a:p>
        </p:txBody>
      </p:sp>
      <p:sp>
        <p:nvSpPr>
          <p:cNvPr id="11" name="Shape 9"/>
          <p:cNvSpPr/>
          <p:nvPr/>
        </p:nvSpPr>
        <p:spPr>
          <a:xfrm>
            <a:off x="365760" y="2414016"/>
            <a:ext cx="11247120" cy="1188720"/>
          </a:xfrm>
          <a:prstGeom prst="roundRect">
            <a:avLst>
              <a:gd name="adj" fmla="val 6154"/>
            </a:avLst>
          </a:prstGeom>
          <a:solidFill>
            <a:srgbClr val="1E2F45"/>
          </a:solidFill>
          <a:ln w="12700">
            <a:solidFill>
              <a:srgbClr val="2DC653"/>
            </a:solidFill>
            <a:prstDash val="solid"/>
          </a:ln>
        </p:spPr>
      </p:sp>
      <p:sp>
        <p:nvSpPr>
          <p:cNvPr id="12" name="Shape 10"/>
          <p:cNvSpPr/>
          <p:nvPr/>
        </p:nvSpPr>
        <p:spPr>
          <a:xfrm>
            <a:off x="502920" y="2487168"/>
            <a:ext cx="1554480" cy="256032"/>
          </a:xfrm>
          <a:prstGeom prst="roundRect">
            <a:avLst>
              <a:gd name="adj" fmla="val 50000"/>
            </a:avLst>
          </a:prstGeom>
          <a:solidFill>
            <a:srgbClr val="1A8C3A"/>
          </a:solidFill>
          <a:ln w="12700">
            <a:solidFill>
              <a:srgbClr val="1A8C3A"/>
            </a:solidFill>
            <a:prstDash val="solid"/>
          </a:ln>
        </p:spPr>
      </p:sp>
      <p:sp>
        <p:nvSpPr>
          <p:cNvPr id="13" name="Text 11"/>
          <p:cNvSpPr/>
          <p:nvPr/>
        </p:nvSpPr>
        <p:spPr>
          <a:xfrm>
            <a:off x="502920" y="248716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14" name="Text 12"/>
          <p:cNvSpPr/>
          <p:nvPr/>
        </p:nvSpPr>
        <p:spPr>
          <a:xfrm>
            <a:off x="2240280" y="2487168"/>
            <a:ext cx="9144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Draw three things in each region</a:t>
            </a:r>
            <a:endParaRPr lang="en-US" sz="1300" dirty="0"/>
          </a:p>
        </p:txBody>
      </p:sp>
      <p:sp>
        <p:nvSpPr>
          <p:cNvPr id="15" name="Text 13"/>
          <p:cNvSpPr/>
          <p:nvPr/>
        </p:nvSpPr>
        <p:spPr>
          <a:xfrm>
            <a:off x="2240280" y="2852928"/>
            <a:ext cx="9144000" cy="6583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In each circle: ONE plant + ONE animal + ONE weather element. Make the season the same in both circles, but show how each region looks at that time.</a:t>
            </a:r>
            <a:endParaRPr lang="en-US" sz="1150" dirty="0"/>
          </a:p>
        </p:txBody>
      </p:sp>
      <p:sp>
        <p:nvSpPr>
          <p:cNvPr id="16" name="Shape 14"/>
          <p:cNvSpPr/>
          <p:nvPr/>
        </p:nvSpPr>
        <p:spPr>
          <a:xfrm>
            <a:off x="365760" y="3712464"/>
            <a:ext cx="11247120" cy="1188720"/>
          </a:xfrm>
          <a:prstGeom prst="roundRect">
            <a:avLst>
              <a:gd name="adj" fmla="val 6154"/>
            </a:avLst>
          </a:prstGeom>
          <a:solidFill>
            <a:srgbClr val="1E2F45"/>
          </a:solidFill>
          <a:ln w="12700">
            <a:solidFill>
              <a:srgbClr val="2DC653"/>
            </a:solidFill>
            <a:prstDash val="solid"/>
          </a:ln>
        </p:spPr>
      </p:sp>
      <p:sp>
        <p:nvSpPr>
          <p:cNvPr id="17" name="Shape 15"/>
          <p:cNvSpPr/>
          <p:nvPr/>
        </p:nvSpPr>
        <p:spPr>
          <a:xfrm>
            <a:off x="502920" y="3785616"/>
            <a:ext cx="1554480" cy="256032"/>
          </a:xfrm>
          <a:prstGeom prst="roundRect">
            <a:avLst>
              <a:gd name="adj" fmla="val 50000"/>
            </a:avLst>
          </a:prstGeom>
          <a:solidFill>
            <a:srgbClr val="1A8C3A"/>
          </a:solidFill>
          <a:ln w="12700">
            <a:solidFill>
              <a:srgbClr val="1A8C3A"/>
            </a:solidFill>
            <a:prstDash val="solid"/>
          </a:ln>
        </p:spPr>
      </p:sp>
      <p:sp>
        <p:nvSpPr>
          <p:cNvPr id="18" name="Text 16"/>
          <p:cNvSpPr/>
          <p:nvPr/>
        </p:nvSpPr>
        <p:spPr>
          <a:xfrm>
            <a:off x="502920" y="378561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19" name="Text 17"/>
          <p:cNvSpPr/>
          <p:nvPr/>
        </p:nvSpPr>
        <p:spPr>
          <a:xfrm>
            <a:off x="2240280" y="3785616"/>
            <a:ext cx="9144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Add food-energy arrows</a:t>
            </a:r>
            <a:endParaRPr lang="en-US" sz="1300" dirty="0"/>
          </a:p>
        </p:txBody>
      </p:sp>
      <p:sp>
        <p:nvSpPr>
          <p:cNvPr id="20" name="Text 18"/>
          <p:cNvSpPr/>
          <p:nvPr/>
        </p:nvSpPr>
        <p:spPr>
          <a:xfrm>
            <a:off x="2240280" y="4151376"/>
            <a:ext cx="9144000" cy="6583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In each circle: one arrow showing where an animal's food energy comes from (label it 'food energy'). Between circles: one migration arrow connecting the two regions.</a:t>
            </a:r>
            <a:endParaRPr lang="en-US" sz="1150" dirty="0"/>
          </a:p>
        </p:txBody>
      </p:sp>
      <p:sp>
        <p:nvSpPr>
          <p:cNvPr id="21" name="Shape 19"/>
          <p:cNvSpPr/>
          <p:nvPr/>
        </p:nvSpPr>
        <p:spPr>
          <a:xfrm>
            <a:off x="365760" y="5010912"/>
            <a:ext cx="11247120" cy="1188720"/>
          </a:xfrm>
          <a:prstGeom prst="roundRect">
            <a:avLst>
              <a:gd name="adj" fmla="val 6154"/>
            </a:avLst>
          </a:prstGeom>
          <a:solidFill>
            <a:srgbClr val="1E2F45"/>
          </a:solidFill>
          <a:ln w="12700">
            <a:solidFill>
              <a:srgbClr val="2DC653"/>
            </a:solidFill>
            <a:prstDash val="solid"/>
          </a:ln>
        </p:spPr>
      </p:sp>
      <p:sp>
        <p:nvSpPr>
          <p:cNvPr id="22" name="Shape 20"/>
          <p:cNvSpPr/>
          <p:nvPr/>
        </p:nvSpPr>
        <p:spPr>
          <a:xfrm>
            <a:off x="502920" y="5084064"/>
            <a:ext cx="1554480" cy="256032"/>
          </a:xfrm>
          <a:prstGeom prst="roundRect">
            <a:avLst>
              <a:gd name="adj" fmla="val 50000"/>
            </a:avLst>
          </a:prstGeom>
          <a:solidFill>
            <a:srgbClr val="1A8C3A"/>
          </a:solidFill>
          <a:ln w="12700">
            <a:solidFill>
              <a:srgbClr val="1A8C3A"/>
            </a:solidFill>
            <a:prstDash val="solid"/>
          </a:ln>
        </p:spPr>
      </p:sp>
      <p:sp>
        <p:nvSpPr>
          <p:cNvPr id="23" name="Text 21"/>
          <p:cNvSpPr/>
          <p:nvPr/>
        </p:nvSpPr>
        <p:spPr>
          <a:xfrm>
            <a:off x="502920" y="5084064"/>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24" name="Text 22"/>
          <p:cNvSpPr/>
          <p:nvPr/>
        </p:nvSpPr>
        <p:spPr>
          <a:xfrm>
            <a:off x="2240280" y="5084064"/>
            <a:ext cx="9144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Compare with evidence</a:t>
            </a:r>
            <a:endParaRPr lang="en-US" sz="1300" dirty="0"/>
          </a:p>
        </p:txBody>
      </p:sp>
      <p:sp>
        <p:nvSpPr>
          <p:cNvPr id="25" name="Text 23"/>
          <p:cNvSpPr/>
          <p:nvPr/>
        </p:nvSpPr>
        <p:spPr>
          <a:xfrm>
            <a:off x="2240280" y="5449824"/>
            <a:ext cx="9144000" cy="6583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Write 2 sentences: (1) 'These regions are alike because…' and (2) 'These regions are different because…' Use evidence from your drawings.</a:t>
            </a:r>
            <a:endParaRPr lang="en-US" sz="1150" dirty="0"/>
          </a:p>
        </p:txBody>
      </p:sp>
      <p:sp>
        <p:nvSpPr>
          <p:cNvPr id="26" name="Shape 24"/>
          <p:cNvSpPr/>
          <p:nvPr/>
        </p:nvSpPr>
        <p:spPr>
          <a:xfrm>
            <a:off x="0" y="6629400"/>
            <a:ext cx="12192000" cy="228600"/>
          </a:xfrm>
          <a:prstGeom prst="rect">
            <a:avLst/>
          </a:prstGeom>
          <a:solidFill>
            <a:srgbClr val="162233"/>
          </a:solidFill>
          <a:ln/>
        </p:spPr>
      </p:sp>
      <p:sp>
        <p:nvSpPr>
          <p:cNvPr id="27" name="Text 2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14.02  ·  Model: Interdependence Across Seasons</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CER Practice — Teacher Models First</a:t>
            </a:r>
            <a:endParaRPr lang="en-US" sz="1600" dirty="0"/>
          </a:p>
        </p:txBody>
      </p:sp>
      <p:sp>
        <p:nvSpPr>
          <p:cNvPr id="5" name="Shape 3"/>
          <p:cNvSpPr/>
          <p:nvPr/>
        </p:nvSpPr>
        <p:spPr>
          <a:xfrm>
            <a:off x="365760" y="749808"/>
            <a:ext cx="11247120" cy="585216"/>
          </a:xfrm>
          <a:prstGeom prst="roundRect">
            <a:avLst>
              <a:gd name="adj" fmla="val 12500"/>
            </a:avLst>
          </a:prstGeom>
          <a:solidFill>
            <a:srgbClr val="162233"/>
          </a:solidFill>
          <a:ln w="12700">
            <a:solidFill>
              <a:srgbClr val="4CC9F0"/>
            </a:solidFill>
            <a:prstDash val="solid"/>
          </a:ln>
        </p:spPr>
      </p:sp>
      <p:sp>
        <p:nvSpPr>
          <p:cNvPr id="6" name="Text 4"/>
          <p:cNvSpPr/>
          <p:nvPr/>
        </p:nvSpPr>
        <p:spPr>
          <a:xfrm>
            <a:off x="548640" y="804672"/>
            <a:ext cx="1097280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 Why is Florida such an important winter home for animals from colder regions?</a:t>
            </a:r>
            <a:endParaRPr lang="en-US" sz="1300" dirty="0"/>
          </a:p>
        </p:txBody>
      </p:sp>
      <p:sp>
        <p:nvSpPr>
          <p:cNvPr id="7" name="Shape 5"/>
          <p:cNvSpPr/>
          <p:nvPr/>
        </p:nvSpPr>
        <p:spPr>
          <a:xfrm>
            <a:off x="365760" y="1463040"/>
            <a:ext cx="3566160" cy="3749040"/>
          </a:xfrm>
          <a:prstGeom prst="roundRect">
            <a:avLst>
              <a:gd name="adj" fmla="val 2564"/>
            </a:avLst>
          </a:prstGeom>
          <a:solidFill>
            <a:srgbClr val="0A3D8F"/>
          </a:solidFill>
          <a:ln w="19050">
            <a:solidFill>
              <a:srgbClr val="1A5FBD"/>
            </a:solidFill>
            <a:prstDash val="solid"/>
          </a:ln>
        </p:spPr>
      </p:sp>
      <p:sp>
        <p:nvSpPr>
          <p:cNvPr id="8" name="Shape 6"/>
          <p:cNvSpPr/>
          <p:nvPr/>
        </p:nvSpPr>
        <p:spPr>
          <a:xfrm>
            <a:off x="365760" y="1463040"/>
            <a:ext cx="3566160" cy="347472"/>
          </a:xfrm>
          <a:prstGeom prst="rect">
            <a:avLst/>
          </a:prstGeom>
          <a:solidFill>
            <a:srgbClr val="1A5FBD"/>
          </a:solidFill>
          <a:ln w="12700">
            <a:solidFill>
              <a:srgbClr val="1A5FBD"/>
            </a:solidFill>
            <a:prstDash val="solid"/>
          </a:ln>
        </p:spPr>
      </p:sp>
      <p:sp>
        <p:nvSpPr>
          <p:cNvPr id="9" name="Text 7"/>
          <p:cNvSpPr/>
          <p:nvPr/>
        </p:nvSpPr>
        <p:spPr>
          <a:xfrm>
            <a:off x="457200" y="148132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0" name="Text 8"/>
          <p:cNvSpPr/>
          <p:nvPr/>
        </p:nvSpPr>
        <p:spPr>
          <a:xfrm>
            <a:off x="502920" y="1865376"/>
            <a:ext cx="3291840" cy="3255264"/>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Florida is a critical winter home because its mild climate keeps food available when other regions' food is frozen or scarce.</a:t>
            </a:r>
            <a:endParaRPr lang="en-US" sz="1200" dirty="0"/>
          </a:p>
        </p:txBody>
      </p:sp>
      <p:sp>
        <p:nvSpPr>
          <p:cNvPr id="11" name="Shape 9"/>
          <p:cNvSpPr/>
          <p:nvPr/>
        </p:nvSpPr>
        <p:spPr>
          <a:xfrm>
            <a:off x="4114800" y="1463040"/>
            <a:ext cx="3566160" cy="3749040"/>
          </a:xfrm>
          <a:prstGeom prst="roundRect">
            <a:avLst>
              <a:gd name="adj" fmla="val 2564"/>
            </a:avLst>
          </a:prstGeom>
          <a:solidFill>
            <a:srgbClr val="145C35"/>
          </a:solidFill>
          <a:ln w="19050">
            <a:solidFill>
              <a:srgbClr val="228B50"/>
            </a:solidFill>
            <a:prstDash val="solid"/>
          </a:ln>
        </p:spPr>
      </p:sp>
      <p:sp>
        <p:nvSpPr>
          <p:cNvPr id="12" name="Shape 10"/>
          <p:cNvSpPr/>
          <p:nvPr/>
        </p:nvSpPr>
        <p:spPr>
          <a:xfrm>
            <a:off x="4114800" y="1463040"/>
            <a:ext cx="3566160" cy="347472"/>
          </a:xfrm>
          <a:prstGeom prst="rect">
            <a:avLst/>
          </a:prstGeom>
          <a:solidFill>
            <a:srgbClr val="228B50"/>
          </a:solidFill>
          <a:ln w="12700">
            <a:solidFill>
              <a:srgbClr val="228B50"/>
            </a:solidFill>
            <a:prstDash val="solid"/>
          </a:ln>
        </p:spPr>
      </p:sp>
      <p:sp>
        <p:nvSpPr>
          <p:cNvPr id="13" name="Text 11"/>
          <p:cNvSpPr/>
          <p:nvPr/>
        </p:nvSpPr>
        <p:spPr>
          <a:xfrm>
            <a:off x="4206240" y="148132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4" name="Text 12"/>
          <p:cNvSpPr/>
          <p:nvPr/>
        </p:nvSpPr>
        <p:spPr>
          <a:xfrm>
            <a:off x="4251960" y="1865376"/>
            <a:ext cx="3291840" cy="3255264"/>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Over 5 million ducks and geese migrate through Florida each winter. Manatees crowd into Florida springs in cold snaps. Florida wetlands have food when northern wetlands are frozen.</a:t>
            </a:r>
            <a:endParaRPr lang="en-US" sz="1200" dirty="0"/>
          </a:p>
        </p:txBody>
      </p:sp>
      <p:sp>
        <p:nvSpPr>
          <p:cNvPr id="15" name="Shape 13"/>
          <p:cNvSpPr/>
          <p:nvPr/>
        </p:nvSpPr>
        <p:spPr>
          <a:xfrm>
            <a:off x="7863840" y="1463040"/>
            <a:ext cx="3749040" cy="3749040"/>
          </a:xfrm>
          <a:prstGeom prst="roundRect">
            <a:avLst>
              <a:gd name="adj" fmla="val 2439"/>
            </a:avLst>
          </a:prstGeom>
          <a:solidFill>
            <a:srgbClr val="7A3200"/>
          </a:solidFill>
          <a:ln w="19050">
            <a:solidFill>
              <a:srgbClr val="B04A00"/>
            </a:solidFill>
            <a:prstDash val="solid"/>
          </a:ln>
        </p:spPr>
      </p:sp>
      <p:sp>
        <p:nvSpPr>
          <p:cNvPr id="16" name="Shape 14"/>
          <p:cNvSpPr/>
          <p:nvPr/>
        </p:nvSpPr>
        <p:spPr>
          <a:xfrm>
            <a:off x="7863840" y="1463040"/>
            <a:ext cx="3749040" cy="347472"/>
          </a:xfrm>
          <a:prstGeom prst="rect">
            <a:avLst/>
          </a:prstGeom>
          <a:solidFill>
            <a:srgbClr val="B04A00"/>
          </a:solidFill>
          <a:ln w="12700">
            <a:solidFill>
              <a:srgbClr val="B04A00"/>
            </a:solidFill>
            <a:prstDash val="solid"/>
          </a:ln>
        </p:spPr>
      </p:sp>
      <p:sp>
        <p:nvSpPr>
          <p:cNvPr id="17" name="Text 15"/>
          <p:cNvSpPr/>
          <p:nvPr/>
        </p:nvSpPr>
        <p:spPr>
          <a:xfrm>
            <a:off x="7955280" y="1481328"/>
            <a:ext cx="356616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8" name="Text 16"/>
          <p:cNvSpPr/>
          <p:nvPr/>
        </p:nvSpPr>
        <p:spPr>
          <a:xfrm>
            <a:off x="8001000" y="1865376"/>
            <a:ext cx="3474720" cy="3255264"/>
          </a:xfrm>
          <a:prstGeom prst="rect">
            <a:avLst/>
          </a:prstGeom>
          <a:noFill/>
          <a:ln/>
        </p:spPr>
        <p:txBody>
          <a:bodyPr wrap="square"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Animals need food energy to survive. When seasonal change freezes food sources in northern regions, animals must find food somewhere else — and Florida's mild seasons keep food available year-round. The two regions are connected through migration and food energy.</a:t>
            </a:r>
            <a:endParaRPr lang="en-US" sz="11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14.02  ·  Model: Interdependence Across Seasons</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CER Practice — Your Turn (Independent)</a:t>
            </a:r>
            <a:endParaRPr lang="en-US" sz="1600" dirty="0"/>
          </a:p>
        </p:txBody>
      </p:sp>
      <p:sp>
        <p:nvSpPr>
          <p:cNvPr id="5" name="Shape 3"/>
          <p:cNvSpPr/>
          <p:nvPr/>
        </p:nvSpPr>
        <p:spPr>
          <a:xfrm>
            <a:off x="365760" y="749808"/>
            <a:ext cx="11247120" cy="585216"/>
          </a:xfrm>
          <a:prstGeom prst="roundRect">
            <a:avLst>
              <a:gd name="adj" fmla="val 12500"/>
            </a:avLst>
          </a:prstGeom>
          <a:solidFill>
            <a:srgbClr val="162233"/>
          </a:solidFill>
          <a:ln w="12700">
            <a:solidFill>
              <a:srgbClr val="FFB703"/>
            </a:solidFill>
            <a:prstDash val="solid"/>
          </a:ln>
        </p:spPr>
      </p:sp>
      <p:sp>
        <p:nvSpPr>
          <p:cNvPr id="6" name="Text 4"/>
          <p:cNvSpPr/>
          <p:nvPr/>
        </p:nvSpPr>
        <p:spPr>
          <a:xfrm>
            <a:off x="548640" y="804672"/>
            <a:ext cx="1097280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 A Florida bear stays active all winter. A Maine bear hibernates. Why the difference?</a:t>
            </a:r>
            <a:endParaRPr lang="en-US" sz="1300" dirty="0"/>
          </a:p>
        </p:txBody>
      </p:sp>
      <p:sp>
        <p:nvSpPr>
          <p:cNvPr id="7" name="Shape 5"/>
          <p:cNvSpPr/>
          <p:nvPr/>
        </p:nvSpPr>
        <p:spPr>
          <a:xfrm>
            <a:off x="365760" y="1463040"/>
            <a:ext cx="3566160" cy="3657600"/>
          </a:xfrm>
          <a:prstGeom prst="roundRect">
            <a:avLst>
              <a:gd name="adj" fmla="val 2564"/>
            </a:avLst>
          </a:prstGeom>
          <a:solidFill>
            <a:srgbClr val="0A3D8F"/>
          </a:solidFill>
          <a:ln w="19050">
            <a:solidFill>
              <a:srgbClr val="1A5FBD"/>
            </a:solidFill>
            <a:prstDash val="solid"/>
          </a:ln>
        </p:spPr>
      </p:sp>
      <p:sp>
        <p:nvSpPr>
          <p:cNvPr id="8" name="Shape 6"/>
          <p:cNvSpPr/>
          <p:nvPr/>
        </p:nvSpPr>
        <p:spPr>
          <a:xfrm>
            <a:off x="365760" y="1463040"/>
            <a:ext cx="3566160" cy="347472"/>
          </a:xfrm>
          <a:prstGeom prst="rect">
            <a:avLst/>
          </a:prstGeom>
          <a:solidFill>
            <a:srgbClr val="1A5FBD"/>
          </a:solidFill>
          <a:ln w="12700">
            <a:solidFill>
              <a:srgbClr val="1A5FBD"/>
            </a:solidFill>
            <a:prstDash val="solid"/>
          </a:ln>
        </p:spPr>
      </p:sp>
      <p:sp>
        <p:nvSpPr>
          <p:cNvPr id="9" name="Text 7"/>
          <p:cNvSpPr/>
          <p:nvPr/>
        </p:nvSpPr>
        <p:spPr>
          <a:xfrm>
            <a:off x="457200" y="148132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0" name="Text 8"/>
          <p:cNvSpPr/>
          <p:nvPr/>
        </p:nvSpPr>
        <p:spPr>
          <a:xfrm>
            <a:off x="502920" y="1865376"/>
            <a:ext cx="3291840" cy="3163824"/>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Write your claim — answer the question directly in one sentence.</a:t>
            </a:r>
            <a:endParaRPr lang="en-US" sz="1200" dirty="0"/>
          </a:p>
        </p:txBody>
      </p:sp>
      <p:sp>
        <p:nvSpPr>
          <p:cNvPr id="11" name="Shape 9"/>
          <p:cNvSpPr/>
          <p:nvPr/>
        </p:nvSpPr>
        <p:spPr>
          <a:xfrm>
            <a:off x="4114800" y="1463040"/>
            <a:ext cx="3566160" cy="3657600"/>
          </a:xfrm>
          <a:prstGeom prst="roundRect">
            <a:avLst>
              <a:gd name="adj" fmla="val 2564"/>
            </a:avLst>
          </a:prstGeom>
          <a:solidFill>
            <a:srgbClr val="145C35"/>
          </a:solidFill>
          <a:ln w="19050">
            <a:solidFill>
              <a:srgbClr val="228B50"/>
            </a:solidFill>
            <a:prstDash val="solid"/>
          </a:ln>
        </p:spPr>
      </p:sp>
      <p:sp>
        <p:nvSpPr>
          <p:cNvPr id="12" name="Shape 10"/>
          <p:cNvSpPr/>
          <p:nvPr/>
        </p:nvSpPr>
        <p:spPr>
          <a:xfrm>
            <a:off x="4114800" y="1463040"/>
            <a:ext cx="3566160" cy="347472"/>
          </a:xfrm>
          <a:prstGeom prst="rect">
            <a:avLst/>
          </a:prstGeom>
          <a:solidFill>
            <a:srgbClr val="228B50"/>
          </a:solidFill>
          <a:ln w="12700">
            <a:solidFill>
              <a:srgbClr val="228B50"/>
            </a:solidFill>
            <a:prstDash val="solid"/>
          </a:ln>
        </p:spPr>
      </p:sp>
      <p:sp>
        <p:nvSpPr>
          <p:cNvPr id="13" name="Text 11"/>
          <p:cNvSpPr/>
          <p:nvPr/>
        </p:nvSpPr>
        <p:spPr>
          <a:xfrm>
            <a:off x="4206240" y="148132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4" name="Text 12"/>
          <p:cNvSpPr/>
          <p:nvPr/>
        </p:nvSpPr>
        <p:spPr>
          <a:xfrm>
            <a:off x="4251960" y="1865376"/>
            <a:ext cx="3291840" cy="3163824"/>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Use specific information from the lesson about hibernation, seasonal change, and food availability.</a:t>
            </a:r>
            <a:endParaRPr lang="en-US" sz="1200" dirty="0"/>
          </a:p>
        </p:txBody>
      </p:sp>
      <p:sp>
        <p:nvSpPr>
          <p:cNvPr id="15" name="Shape 13"/>
          <p:cNvSpPr/>
          <p:nvPr/>
        </p:nvSpPr>
        <p:spPr>
          <a:xfrm>
            <a:off x="7863840" y="1463040"/>
            <a:ext cx="3749040" cy="3657600"/>
          </a:xfrm>
          <a:prstGeom prst="roundRect">
            <a:avLst>
              <a:gd name="adj" fmla="val 2500"/>
            </a:avLst>
          </a:prstGeom>
          <a:solidFill>
            <a:srgbClr val="7A3200"/>
          </a:solidFill>
          <a:ln w="19050">
            <a:solidFill>
              <a:srgbClr val="B04A00"/>
            </a:solidFill>
            <a:prstDash val="solid"/>
          </a:ln>
        </p:spPr>
      </p:sp>
      <p:sp>
        <p:nvSpPr>
          <p:cNvPr id="16" name="Shape 14"/>
          <p:cNvSpPr/>
          <p:nvPr/>
        </p:nvSpPr>
        <p:spPr>
          <a:xfrm>
            <a:off x="7863840" y="1463040"/>
            <a:ext cx="3749040" cy="347472"/>
          </a:xfrm>
          <a:prstGeom prst="rect">
            <a:avLst/>
          </a:prstGeom>
          <a:solidFill>
            <a:srgbClr val="B04A00"/>
          </a:solidFill>
          <a:ln w="12700">
            <a:solidFill>
              <a:srgbClr val="B04A00"/>
            </a:solidFill>
            <a:prstDash val="solid"/>
          </a:ln>
        </p:spPr>
      </p:sp>
      <p:sp>
        <p:nvSpPr>
          <p:cNvPr id="17" name="Text 15"/>
          <p:cNvSpPr/>
          <p:nvPr/>
        </p:nvSpPr>
        <p:spPr>
          <a:xfrm>
            <a:off x="7955280" y="1481328"/>
            <a:ext cx="356616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8" name="Text 16"/>
          <p:cNvSpPr/>
          <p:nvPr/>
        </p:nvSpPr>
        <p:spPr>
          <a:xfrm>
            <a:off x="8001000" y="1865376"/>
            <a:ext cx="3474720" cy="3163824"/>
          </a:xfrm>
          <a:prstGeom prst="rect">
            <a:avLst/>
          </a:prstGeom>
          <a:noFill/>
          <a:ln/>
        </p:spPr>
        <p:txBody>
          <a:bodyPr wrap="square" rtlCol="0" anchor="t"/>
          <a:lstStyle/>
          <a:p>
            <a:pPr algn="l" indent="0" marL="0">
              <a:buNone/>
            </a:pPr>
            <a:r>
              <a:rPr lang="en-US" sz="1100" i="1" dirty="0">
                <a:solidFill>
                  <a:srgbClr val="FFFFFF"/>
                </a:solidFill>
                <a:latin typeface="Calibri" pitchFamily="34" charset="0"/>
                <a:ea typeface="Calibri" pitchFamily="34" charset="-122"/>
                <a:cs typeface="Calibri" pitchFamily="34" charset="-120"/>
              </a:rPr>
              <a:t>Explain why the evidence supports your claim — connect food energy, seasonal change, and survival strategy.</a:t>
            </a:r>
            <a:endParaRPr lang="en-US" sz="1100" dirty="0"/>
          </a:p>
        </p:txBody>
      </p:sp>
      <p:sp>
        <p:nvSpPr>
          <p:cNvPr id="19" name="Shape 17"/>
          <p:cNvSpPr/>
          <p:nvPr/>
        </p:nvSpPr>
        <p:spPr>
          <a:xfrm>
            <a:off x="365760" y="5248656"/>
            <a:ext cx="11247120" cy="658368"/>
          </a:xfrm>
          <a:prstGeom prst="roundRect">
            <a:avLst>
              <a:gd name="adj" fmla="val 11111"/>
            </a:avLst>
          </a:prstGeom>
          <a:solidFill>
            <a:srgbClr val="1A1A2A"/>
          </a:solidFill>
          <a:ln w="12700">
            <a:solidFill>
              <a:srgbClr val="B0C4D8"/>
            </a:solidFill>
            <a:prstDash val="solid"/>
          </a:ln>
        </p:spPr>
      </p:sp>
      <p:sp>
        <p:nvSpPr>
          <p:cNvPr id="20" name="Text 18"/>
          <p:cNvSpPr/>
          <p:nvPr/>
        </p:nvSpPr>
        <p:spPr>
          <a:xfrm>
            <a:off x="548640" y="5321808"/>
            <a:ext cx="10972800" cy="512064"/>
          </a:xfrm>
          <a:prstGeom prst="rect">
            <a:avLst/>
          </a:prstGeom>
          <a:noFill/>
          <a:ln/>
        </p:spPr>
        <p:txBody>
          <a:bodyPr wrap="square" rtlCol="0" anchor="ctr"/>
          <a:lstStyle/>
          <a:p>
            <a:pPr indent="0" marL="0">
              <a:buNone/>
            </a:pPr>
            <a:r>
              <a:rPr lang="en-US" sz="1100" i="1" dirty="0">
                <a:solidFill>
                  <a:srgbClr val="B0C4D8"/>
                </a:solidFill>
                <a:latin typeface="Calibri" pitchFamily="34" charset="0"/>
                <a:ea typeface="Calibri" pitchFamily="34" charset="-122"/>
                <a:cs typeface="Calibri" pitchFamily="34" charset="-120"/>
              </a:rPr>
              <a:t>💡 Hint: Same species. Different region. Different seasonal change. Different food availability. So... different survival strategy?</a:t>
            </a:r>
            <a:endParaRPr lang="en-US" sz="110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14.02  ·  Model: Interdependence Across Seasons</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Revise Your Model — Add What You've Learned</a:t>
            </a:r>
            <a:endParaRPr lang="en-US" sz="1600" dirty="0"/>
          </a:p>
        </p:txBody>
      </p:sp>
      <p:sp>
        <p:nvSpPr>
          <p:cNvPr id="5" name="Shape 3"/>
          <p:cNvSpPr/>
          <p:nvPr/>
        </p:nvSpPr>
        <p:spPr>
          <a:xfrm>
            <a:off x="365760" y="749808"/>
            <a:ext cx="11247120" cy="749808"/>
          </a:xfrm>
          <a:prstGeom prst="roundRect">
            <a:avLst>
              <a:gd name="adj" fmla="val 9756"/>
            </a:avLst>
          </a:prstGeom>
          <a:solidFill>
            <a:srgbClr val="162233"/>
          </a:solidFill>
          <a:ln w="12700">
            <a:solidFill>
              <a:srgbClr val="4CC9F0"/>
            </a:solidFill>
            <a:prstDash val="solid"/>
          </a:ln>
        </p:spPr>
      </p:sp>
      <p:sp>
        <p:nvSpPr>
          <p:cNvPr id="6" name="Text 4"/>
          <p:cNvSpPr/>
          <p:nvPr/>
        </p:nvSpPr>
        <p:spPr>
          <a:xfrm>
            <a:off x="548640" y="822960"/>
            <a:ext cx="10972800" cy="585216"/>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Go back to your INITIAL model from Slide 3. Now revise it with what you've learned.</a:t>
            </a:r>
            <a:endParaRPr lang="en-US" sz="1400" dirty="0"/>
          </a:p>
        </p:txBody>
      </p:sp>
      <p:sp>
        <p:nvSpPr>
          <p:cNvPr id="7" name="Shape 5"/>
          <p:cNvSpPr/>
          <p:nvPr/>
        </p:nvSpPr>
        <p:spPr>
          <a:xfrm>
            <a:off x="365760" y="1664208"/>
            <a:ext cx="11247120" cy="1024128"/>
          </a:xfrm>
          <a:prstGeom prst="roundRect">
            <a:avLst>
              <a:gd name="adj" fmla="val 7143"/>
            </a:avLst>
          </a:prstGeom>
          <a:solidFill>
            <a:srgbClr val="1E2F45"/>
          </a:solidFill>
          <a:ln w="12700">
            <a:solidFill>
              <a:srgbClr val="4CC9F0"/>
            </a:solidFill>
            <a:prstDash val="solid"/>
          </a:ln>
        </p:spPr>
      </p:sp>
      <p:sp>
        <p:nvSpPr>
          <p:cNvPr id="8" name="Text 6"/>
          <p:cNvSpPr/>
          <p:nvPr/>
        </p:nvSpPr>
        <p:spPr>
          <a:xfrm>
            <a:off x="548640" y="1737360"/>
            <a:ext cx="10972800" cy="329184"/>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ADD a migration arrow:</a:t>
            </a:r>
            <a:endParaRPr lang="en-US" sz="1300" dirty="0"/>
          </a:p>
        </p:txBody>
      </p:sp>
      <p:sp>
        <p:nvSpPr>
          <p:cNvPr id="9" name="Text 7"/>
          <p:cNvSpPr/>
          <p:nvPr/>
        </p:nvSpPr>
        <p:spPr>
          <a:xfrm>
            <a:off x="731520" y="2103120"/>
            <a:ext cx="10789920" cy="43891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between your two regions showing animals moving from the cold region to Florida (and back in spring)</a:t>
            </a:r>
            <a:endParaRPr lang="en-US" sz="1200" dirty="0"/>
          </a:p>
        </p:txBody>
      </p:sp>
      <p:sp>
        <p:nvSpPr>
          <p:cNvPr id="10" name="Shape 8"/>
          <p:cNvSpPr/>
          <p:nvPr/>
        </p:nvSpPr>
        <p:spPr>
          <a:xfrm>
            <a:off x="365760" y="2798064"/>
            <a:ext cx="11247120" cy="1024128"/>
          </a:xfrm>
          <a:prstGeom prst="roundRect">
            <a:avLst>
              <a:gd name="adj" fmla="val 7143"/>
            </a:avLst>
          </a:prstGeom>
          <a:solidFill>
            <a:srgbClr val="1E2F45"/>
          </a:solidFill>
          <a:ln w="12700">
            <a:solidFill>
              <a:srgbClr val="4CC9F0"/>
            </a:solidFill>
            <a:prstDash val="solid"/>
          </a:ln>
        </p:spPr>
      </p:sp>
      <p:sp>
        <p:nvSpPr>
          <p:cNvPr id="11" name="Text 9"/>
          <p:cNvSpPr/>
          <p:nvPr/>
        </p:nvSpPr>
        <p:spPr>
          <a:xfrm>
            <a:off x="548640" y="2871216"/>
            <a:ext cx="10972800" cy="329184"/>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LABEL your food-energy arrows:</a:t>
            </a:r>
            <a:endParaRPr lang="en-US" sz="1300" dirty="0"/>
          </a:p>
        </p:txBody>
      </p:sp>
      <p:sp>
        <p:nvSpPr>
          <p:cNvPr id="12" name="Text 10"/>
          <p:cNvSpPr/>
          <p:nvPr/>
        </p:nvSpPr>
        <p:spPr>
          <a:xfrm>
            <a:off x="731520" y="3236976"/>
            <a:ext cx="10789920" cy="43891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make sure each arrow is clear about what is being eaten and where the energy is going</a:t>
            </a:r>
            <a:endParaRPr lang="en-US" sz="1200" dirty="0"/>
          </a:p>
        </p:txBody>
      </p:sp>
      <p:sp>
        <p:nvSpPr>
          <p:cNvPr id="13" name="Shape 11"/>
          <p:cNvSpPr/>
          <p:nvPr/>
        </p:nvSpPr>
        <p:spPr>
          <a:xfrm>
            <a:off x="365760" y="3931920"/>
            <a:ext cx="11247120" cy="1024128"/>
          </a:xfrm>
          <a:prstGeom prst="roundRect">
            <a:avLst>
              <a:gd name="adj" fmla="val 7143"/>
            </a:avLst>
          </a:prstGeom>
          <a:solidFill>
            <a:srgbClr val="1E2F45"/>
          </a:solidFill>
          <a:ln w="12700">
            <a:solidFill>
              <a:srgbClr val="4CC9F0"/>
            </a:solidFill>
            <a:prstDash val="solid"/>
          </a:ln>
        </p:spPr>
      </p:sp>
      <p:sp>
        <p:nvSpPr>
          <p:cNvPr id="14" name="Text 12"/>
          <p:cNvSpPr/>
          <p:nvPr/>
        </p:nvSpPr>
        <p:spPr>
          <a:xfrm>
            <a:off x="548640" y="4005072"/>
            <a:ext cx="10972800" cy="329184"/>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ADD one word to each circle:</a:t>
            </a:r>
            <a:endParaRPr lang="en-US" sz="1300" dirty="0"/>
          </a:p>
        </p:txBody>
      </p:sp>
      <p:sp>
        <p:nvSpPr>
          <p:cNvPr id="15" name="Text 13"/>
          <p:cNvSpPr/>
          <p:nvPr/>
        </p:nvSpPr>
        <p:spPr>
          <a:xfrm>
            <a:off x="731520" y="4370832"/>
            <a:ext cx="10789920" cy="43891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write either 'hibernation,' 'migration,' or 'active' to show what the main survival strategy is in that region in that season</a:t>
            </a:r>
            <a:endParaRPr lang="en-US" sz="1200" dirty="0"/>
          </a:p>
        </p:txBody>
      </p:sp>
      <p:sp>
        <p:nvSpPr>
          <p:cNvPr id="16" name="Shape 14"/>
          <p:cNvSpPr/>
          <p:nvPr/>
        </p:nvSpPr>
        <p:spPr>
          <a:xfrm>
            <a:off x="365760" y="5065776"/>
            <a:ext cx="11247120" cy="1024128"/>
          </a:xfrm>
          <a:prstGeom prst="roundRect">
            <a:avLst>
              <a:gd name="adj" fmla="val 7143"/>
            </a:avLst>
          </a:prstGeom>
          <a:solidFill>
            <a:srgbClr val="1E2F45"/>
          </a:solidFill>
          <a:ln w="12700">
            <a:solidFill>
              <a:srgbClr val="4CC9F0"/>
            </a:solidFill>
            <a:prstDash val="solid"/>
          </a:ln>
        </p:spPr>
      </p:sp>
      <p:sp>
        <p:nvSpPr>
          <p:cNvPr id="17" name="Text 15"/>
          <p:cNvSpPr/>
          <p:nvPr/>
        </p:nvSpPr>
        <p:spPr>
          <a:xfrm>
            <a:off x="548640" y="5138928"/>
            <a:ext cx="10972800" cy="329184"/>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EXPLAIN what changed:</a:t>
            </a:r>
            <a:endParaRPr lang="en-US" sz="1300" dirty="0"/>
          </a:p>
        </p:txBody>
      </p:sp>
      <p:sp>
        <p:nvSpPr>
          <p:cNvPr id="18" name="Text 16"/>
          <p:cNvSpPr/>
          <p:nvPr/>
        </p:nvSpPr>
        <p:spPr>
          <a:xfrm>
            <a:off x="731520" y="5504688"/>
            <a:ext cx="10789920" cy="43891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under your model, write 1-2 sentences: 'I changed my model by ___. I made this change because ___.</a:t>
            </a:r>
            <a:endParaRPr lang="en-US" sz="12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14.02  ·  Model: Interdependence Across Seasons</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Self-Check — Discuss Together</a:t>
            </a:r>
            <a:endParaRPr lang="en-US" sz="1600" dirty="0"/>
          </a:p>
        </p:txBody>
      </p:sp>
      <p:sp>
        <p:nvSpPr>
          <p:cNvPr id="5" name="Shape 3"/>
          <p:cNvSpPr/>
          <p:nvPr/>
        </p:nvSpPr>
        <p:spPr>
          <a:xfrm>
            <a:off x="365760" y="713232"/>
            <a:ext cx="11247120" cy="1810512"/>
          </a:xfrm>
          <a:prstGeom prst="roundRect">
            <a:avLst>
              <a:gd name="adj" fmla="val 4040"/>
            </a:avLst>
          </a:prstGeom>
          <a:solidFill>
            <a:srgbClr val="1E2F45"/>
          </a:solidFill>
          <a:ln w="12700">
            <a:solidFill>
              <a:srgbClr val="4CC9F0"/>
            </a:solidFill>
            <a:prstDash val="solid"/>
          </a:ln>
        </p:spPr>
      </p:sp>
      <p:sp>
        <p:nvSpPr>
          <p:cNvPr id="6" name="Text 4"/>
          <p:cNvSpPr/>
          <p:nvPr/>
        </p:nvSpPr>
        <p:spPr>
          <a:xfrm>
            <a:off x="548640" y="786384"/>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Q1: Florida's winter is milder than Maine's. Why do ducks migrate from Maine to Florida?</a:t>
            </a:r>
            <a:endParaRPr lang="en-US" sz="1200" dirty="0"/>
          </a:p>
        </p:txBody>
      </p:sp>
      <p:sp>
        <p:nvSpPr>
          <p:cNvPr id="7" name="Text 5"/>
          <p:cNvSpPr/>
          <p:nvPr/>
        </p:nvSpPr>
        <p:spPr>
          <a:xfrm>
            <a:off x="731520" y="1170432"/>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Florida has more roads</a:t>
            </a:r>
            <a:endParaRPr lang="en-US" sz="1100" dirty="0"/>
          </a:p>
        </p:txBody>
      </p:sp>
      <p:sp>
        <p:nvSpPr>
          <p:cNvPr id="8" name="Text 6"/>
          <p:cNvSpPr/>
          <p:nvPr/>
        </p:nvSpPr>
        <p:spPr>
          <a:xfrm>
            <a:off x="731520" y="1472184"/>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B) Ducks like beaches</a:t>
            </a:r>
            <a:endParaRPr lang="en-US" sz="1100" dirty="0"/>
          </a:p>
        </p:txBody>
      </p:sp>
      <p:sp>
        <p:nvSpPr>
          <p:cNvPr id="9" name="Text 7"/>
          <p:cNvSpPr/>
          <p:nvPr/>
        </p:nvSpPr>
        <p:spPr>
          <a:xfrm>
            <a:off x="731520" y="1773936"/>
            <a:ext cx="10789920" cy="274320"/>
          </a:xfrm>
          <a:prstGeom prst="rect">
            <a:avLst/>
          </a:prstGeom>
          <a:noFill/>
          <a:ln/>
        </p:spPr>
        <p:txBody>
          <a:bodyPr wrap="square" rtlCol="0" anchor="ctr"/>
          <a:lstStyle/>
          <a:p>
            <a:pPr indent="0" marL="0">
              <a:buNone/>
            </a:pPr>
            <a:r>
              <a:rPr lang="en-US" sz="1100" dirty="0">
                <a:solidFill>
                  <a:srgbClr val="2DC653"/>
                </a:solidFill>
                <a:latin typeface="Calibri" pitchFamily="34" charset="0"/>
                <a:ea typeface="Calibri" pitchFamily="34" charset="-122"/>
                <a:cs typeface="Calibri" pitchFamily="34" charset="-120"/>
              </a:rPr>
              <a:t>C) Florida wetlands still have food and unfrozen water in winter ✅</a:t>
            </a:r>
            <a:endParaRPr lang="en-US" sz="1100" dirty="0"/>
          </a:p>
        </p:txBody>
      </p:sp>
      <p:sp>
        <p:nvSpPr>
          <p:cNvPr id="10" name="Text 8"/>
          <p:cNvSpPr/>
          <p:nvPr/>
        </p:nvSpPr>
        <p:spPr>
          <a:xfrm>
            <a:off x="548640" y="2103120"/>
            <a:ext cx="10972800" cy="256032"/>
          </a:xfrm>
          <a:prstGeom prst="rect">
            <a:avLst/>
          </a:prstGeom>
          <a:noFill/>
          <a:ln/>
        </p:spPr>
        <p:txBody>
          <a:bodyPr wrap="square" rtlCol="0" anchor="ctr"/>
          <a:lstStyle/>
          <a:p>
            <a:pPr indent="0" marL="0">
              <a:buNone/>
            </a:pPr>
            <a:r>
              <a:rPr lang="en-US" sz="1000" i="1" dirty="0">
                <a:solidFill>
                  <a:srgbClr val="8899AA"/>
                </a:solidFill>
                <a:latin typeface="Calibri" pitchFamily="34" charset="0"/>
                <a:ea typeface="Calibri" pitchFamily="34" charset="-122"/>
                <a:cs typeface="Calibri" pitchFamily="34" charset="-120"/>
              </a:rPr>
              <a:t>→ C — migration is about food energy, not preference.</a:t>
            </a:r>
            <a:endParaRPr lang="en-US" sz="1000" dirty="0"/>
          </a:p>
        </p:txBody>
      </p:sp>
      <p:sp>
        <p:nvSpPr>
          <p:cNvPr id="11" name="Shape 9"/>
          <p:cNvSpPr/>
          <p:nvPr/>
        </p:nvSpPr>
        <p:spPr>
          <a:xfrm>
            <a:off x="365760" y="2651760"/>
            <a:ext cx="11247120" cy="1810512"/>
          </a:xfrm>
          <a:prstGeom prst="roundRect">
            <a:avLst>
              <a:gd name="adj" fmla="val 4040"/>
            </a:avLst>
          </a:prstGeom>
          <a:solidFill>
            <a:srgbClr val="1E2F45"/>
          </a:solidFill>
          <a:ln w="12700">
            <a:solidFill>
              <a:srgbClr val="4CC9F0"/>
            </a:solidFill>
            <a:prstDash val="solid"/>
          </a:ln>
        </p:spPr>
      </p:sp>
      <p:sp>
        <p:nvSpPr>
          <p:cNvPr id="12" name="Text 10"/>
          <p:cNvSpPr/>
          <p:nvPr/>
        </p:nvSpPr>
        <p:spPr>
          <a:xfrm>
            <a:off x="548640" y="272491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Q2: A Maine bear hibernates. A Florida bear doesn't. Why?</a:t>
            </a:r>
            <a:endParaRPr lang="en-US" sz="1200" dirty="0"/>
          </a:p>
        </p:txBody>
      </p:sp>
      <p:sp>
        <p:nvSpPr>
          <p:cNvPr id="13" name="Text 11"/>
          <p:cNvSpPr/>
          <p:nvPr/>
        </p:nvSpPr>
        <p:spPr>
          <a:xfrm>
            <a:off x="731520" y="3108960"/>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Florida bears are different species</a:t>
            </a:r>
            <a:endParaRPr lang="en-US" sz="1100" dirty="0"/>
          </a:p>
        </p:txBody>
      </p:sp>
      <p:sp>
        <p:nvSpPr>
          <p:cNvPr id="14" name="Text 12"/>
          <p:cNvSpPr/>
          <p:nvPr/>
        </p:nvSpPr>
        <p:spPr>
          <a:xfrm>
            <a:off x="731520" y="3410712"/>
            <a:ext cx="10789920" cy="274320"/>
          </a:xfrm>
          <a:prstGeom prst="rect">
            <a:avLst/>
          </a:prstGeom>
          <a:noFill/>
          <a:ln/>
        </p:spPr>
        <p:txBody>
          <a:bodyPr wrap="square" rtlCol="0" anchor="ctr"/>
          <a:lstStyle/>
          <a:p>
            <a:pPr indent="0" marL="0">
              <a:buNone/>
            </a:pPr>
            <a:r>
              <a:rPr lang="en-US" sz="1100" dirty="0">
                <a:solidFill>
                  <a:srgbClr val="2DC653"/>
                </a:solidFill>
                <a:latin typeface="Calibri" pitchFamily="34" charset="0"/>
                <a:ea typeface="Calibri" pitchFamily="34" charset="-122"/>
                <a:cs typeface="Calibri" pitchFamily="34" charset="-120"/>
              </a:rPr>
              <a:t>B) Florida winters are mild enough that food stays available ✅</a:t>
            </a:r>
            <a:endParaRPr lang="en-US" sz="1100" dirty="0"/>
          </a:p>
        </p:txBody>
      </p:sp>
      <p:sp>
        <p:nvSpPr>
          <p:cNvPr id="15" name="Text 13"/>
          <p:cNvSpPr/>
          <p:nvPr/>
        </p:nvSpPr>
        <p:spPr>
          <a:xfrm>
            <a:off x="731520" y="3712464"/>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C) Florida bears are smaller</a:t>
            </a:r>
            <a:endParaRPr lang="en-US" sz="1100" dirty="0"/>
          </a:p>
        </p:txBody>
      </p:sp>
      <p:sp>
        <p:nvSpPr>
          <p:cNvPr id="16" name="Text 14"/>
          <p:cNvSpPr/>
          <p:nvPr/>
        </p:nvSpPr>
        <p:spPr>
          <a:xfrm>
            <a:off x="548640" y="4041648"/>
            <a:ext cx="10972800" cy="256032"/>
          </a:xfrm>
          <a:prstGeom prst="rect">
            <a:avLst/>
          </a:prstGeom>
          <a:noFill/>
          <a:ln/>
        </p:spPr>
        <p:txBody>
          <a:bodyPr wrap="square" rtlCol="0" anchor="ctr"/>
          <a:lstStyle/>
          <a:p>
            <a:pPr indent="0" marL="0">
              <a:buNone/>
            </a:pPr>
            <a:r>
              <a:rPr lang="en-US" sz="1000" i="1" dirty="0">
                <a:solidFill>
                  <a:srgbClr val="8899AA"/>
                </a:solidFill>
                <a:latin typeface="Calibri" pitchFamily="34" charset="0"/>
                <a:ea typeface="Calibri" pitchFamily="34" charset="-122"/>
                <a:cs typeface="Calibri" pitchFamily="34" charset="-120"/>
              </a:rPr>
              <a:t>→ B — food availability determines hibernation need.</a:t>
            </a:r>
            <a:endParaRPr lang="en-US" sz="1000" dirty="0"/>
          </a:p>
        </p:txBody>
      </p:sp>
      <p:sp>
        <p:nvSpPr>
          <p:cNvPr id="17" name="Shape 15"/>
          <p:cNvSpPr/>
          <p:nvPr/>
        </p:nvSpPr>
        <p:spPr>
          <a:xfrm>
            <a:off x="365760" y="4590288"/>
            <a:ext cx="11247120" cy="1810512"/>
          </a:xfrm>
          <a:prstGeom prst="roundRect">
            <a:avLst>
              <a:gd name="adj" fmla="val 4040"/>
            </a:avLst>
          </a:prstGeom>
          <a:solidFill>
            <a:srgbClr val="1E2F45"/>
          </a:solidFill>
          <a:ln w="12700">
            <a:solidFill>
              <a:srgbClr val="4CC9F0"/>
            </a:solidFill>
            <a:prstDash val="solid"/>
          </a:ln>
        </p:spPr>
      </p:sp>
      <p:sp>
        <p:nvSpPr>
          <p:cNvPr id="18" name="Text 16"/>
          <p:cNvSpPr/>
          <p:nvPr/>
        </p:nvSpPr>
        <p:spPr>
          <a:xfrm>
            <a:off x="548640" y="4663440"/>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Q3: A robin eats a worm. The worm got energy from plants. Where did the energy START?</a:t>
            </a:r>
            <a:endParaRPr lang="en-US" sz="1200" dirty="0"/>
          </a:p>
        </p:txBody>
      </p:sp>
      <p:sp>
        <p:nvSpPr>
          <p:cNvPr id="19" name="Text 17"/>
          <p:cNvSpPr/>
          <p:nvPr/>
        </p:nvSpPr>
        <p:spPr>
          <a:xfrm>
            <a:off x="731520" y="5047488"/>
            <a:ext cx="10789920" cy="274320"/>
          </a:xfrm>
          <a:prstGeom prst="rect">
            <a:avLst/>
          </a:prstGeom>
          <a:noFill/>
          <a:ln/>
        </p:spPr>
        <p:txBody>
          <a:bodyPr wrap="square" rtlCol="0" anchor="ctr"/>
          <a:lstStyle/>
          <a:p>
            <a:pPr indent="0" marL="0">
              <a:buNone/>
            </a:pPr>
            <a:r>
              <a:rPr lang="en-US" sz="1100" dirty="0">
                <a:solidFill>
                  <a:srgbClr val="2DC653"/>
                </a:solidFill>
                <a:latin typeface="Calibri" pitchFamily="34" charset="0"/>
                <a:ea typeface="Calibri" pitchFamily="34" charset="-122"/>
                <a:cs typeface="Calibri" pitchFamily="34" charset="-120"/>
              </a:rPr>
              <a:t>A) The Sun — plants captured it, worm ate plants, robin ate worm ✅</a:t>
            </a:r>
            <a:endParaRPr lang="en-US" sz="1100" dirty="0"/>
          </a:p>
        </p:txBody>
      </p:sp>
      <p:sp>
        <p:nvSpPr>
          <p:cNvPr id="20" name="Text 18"/>
          <p:cNvSpPr/>
          <p:nvPr/>
        </p:nvSpPr>
        <p:spPr>
          <a:xfrm>
            <a:off x="731520" y="5349240"/>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B) The worm</a:t>
            </a:r>
            <a:endParaRPr lang="en-US" sz="1100" dirty="0"/>
          </a:p>
        </p:txBody>
      </p:sp>
      <p:sp>
        <p:nvSpPr>
          <p:cNvPr id="21" name="Text 19"/>
          <p:cNvSpPr/>
          <p:nvPr/>
        </p:nvSpPr>
        <p:spPr>
          <a:xfrm>
            <a:off x="731520" y="5650992"/>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C) The robin</a:t>
            </a:r>
            <a:endParaRPr lang="en-US" sz="1100" dirty="0"/>
          </a:p>
        </p:txBody>
      </p:sp>
      <p:sp>
        <p:nvSpPr>
          <p:cNvPr id="22" name="Text 20"/>
          <p:cNvSpPr/>
          <p:nvPr/>
        </p:nvSpPr>
        <p:spPr>
          <a:xfrm>
            <a:off x="548640" y="5980176"/>
            <a:ext cx="10972800" cy="256032"/>
          </a:xfrm>
          <a:prstGeom prst="rect">
            <a:avLst/>
          </a:prstGeom>
          <a:noFill/>
          <a:ln/>
        </p:spPr>
        <p:txBody>
          <a:bodyPr wrap="square" rtlCol="0" anchor="ctr"/>
          <a:lstStyle/>
          <a:p>
            <a:pPr indent="0" marL="0">
              <a:buNone/>
            </a:pPr>
            <a:r>
              <a:rPr lang="en-US" sz="1000" i="1" dirty="0">
                <a:solidFill>
                  <a:srgbClr val="8899AA"/>
                </a:solidFill>
                <a:latin typeface="Calibri" pitchFamily="34" charset="0"/>
                <a:ea typeface="Calibri" pitchFamily="34" charset="-122"/>
                <a:cs typeface="Calibri" pitchFamily="34" charset="-120"/>
              </a:rPr>
              <a:t>→ A — all food energy traces back to the Sun.</a:t>
            </a:r>
            <a:endParaRPr lang="en-US" sz="1000" dirty="0"/>
          </a:p>
        </p:txBody>
      </p:sp>
      <p:sp>
        <p:nvSpPr>
          <p:cNvPr id="23" name="Shape 21"/>
          <p:cNvSpPr/>
          <p:nvPr/>
        </p:nvSpPr>
        <p:spPr>
          <a:xfrm>
            <a:off x="0" y="6629400"/>
            <a:ext cx="12192000" cy="228600"/>
          </a:xfrm>
          <a:prstGeom prst="rect">
            <a:avLst/>
          </a:prstGeom>
          <a:solidFill>
            <a:srgbClr val="162233"/>
          </a:solidFill>
          <a:ln/>
        </p:spPr>
      </p:sp>
      <p:sp>
        <p:nvSpPr>
          <p:cNvPr id="24" name="Text 2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14.02  ·  Model: Interdependence Across Seasons</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Assignment Preview — What to Turn In</a:t>
            </a:r>
            <a:endParaRPr lang="en-US" sz="1600" dirty="0"/>
          </a:p>
        </p:txBody>
      </p:sp>
      <p:sp>
        <p:nvSpPr>
          <p:cNvPr id="5" name="Text 3"/>
          <p:cNvSpPr/>
          <p:nvPr/>
        </p:nvSpPr>
        <p:spPr>
          <a:xfrm>
            <a:off x="365760" y="713232"/>
            <a:ext cx="11247120" cy="329184"/>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Everything in this assignment was practiced today — especially your models!</a:t>
            </a:r>
            <a:endParaRPr lang="en-US" sz="1200" dirty="0"/>
          </a:p>
        </p:txBody>
      </p:sp>
      <p:sp>
        <p:nvSpPr>
          <p:cNvPr id="6" name="Shape 4"/>
          <p:cNvSpPr/>
          <p:nvPr/>
        </p:nvSpPr>
        <p:spPr>
          <a:xfrm>
            <a:off x="365760" y="1115568"/>
            <a:ext cx="11247120" cy="1207008"/>
          </a:xfrm>
          <a:prstGeom prst="roundRect">
            <a:avLst>
              <a:gd name="adj" fmla="val 6061"/>
            </a:avLst>
          </a:prstGeom>
          <a:solidFill>
            <a:srgbClr val="1E2F45"/>
          </a:solidFill>
          <a:ln w="12700">
            <a:solidFill>
              <a:srgbClr val="FFB703"/>
            </a:solidFill>
            <a:prstDash val="solid"/>
          </a:ln>
        </p:spPr>
      </p:sp>
      <p:sp>
        <p:nvSpPr>
          <p:cNvPr id="7" name="Shape 5"/>
          <p:cNvSpPr/>
          <p:nvPr/>
        </p:nvSpPr>
        <p:spPr>
          <a:xfrm>
            <a:off x="502920" y="1225296"/>
            <a:ext cx="1554480" cy="256032"/>
          </a:xfrm>
          <a:prstGeom prst="roundRect">
            <a:avLst>
              <a:gd name="adj" fmla="val 50000"/>
            </a:avLst>
          </a:prstGeom>
          <a:solidFill>
            <a:srgbClr val="E09200"/>
          </a:solidFill>
          <a:ln w="12700">
            <a:solidFill>
              <a:srgbClr val="E09200"/>
            </a:solidFill>
            <a:prstDash val="solid"/>
          </a:ln>
        </p:spPr>
      </p:sp>
      <p:sp>
        <p:nvSpPr>
          <p:cNvPr id="8" name="Text 6"/>
          <p:cNvSpPr/>
          <p:nvPr/>
        </p:nvSpPr>
        <p:spPr>
          <a:xfrm>
            <a:off x="502920" y="122529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 A — Match the Word</a:t>
            </a:r>
            <a:endParaRPr lang="en-US" sz="900" dirty="0"/>
          </a:p>
        </p:txBody>
      </p:sp>
      <p:sp>
        <p:nvSpPr>
          <p:cNvPr id="9" name="Text 7"/>
          <p:cNvSpPr/>
          <p:nvPr/>
        </p:nvSpPr>
        <p:spPr>
          <a:xfrm>
            <a:off x="2240280" y="1225296"/>
            <a:ext cx="7315200" cy="53035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Seasonal change, Interdependence, Region, Food energy — 4 blanks</a:t>
            </a:r>
            <a:endParaRPr lang="en-US" sz="1200" dirty="0"/>
          </a:p>
        </p:txBody>
      </p:sp>
      <p:sp>
        <p:nvSpPr>
          <p:cNvPr id="10" name="Shape 8"/>
          <p:cNvSpPr/>
          <p:nvPr/>
        </p:nvSpPr>
        <p:spPr>
          <a:xfrm>
            <a:off x="9784080" y="1225296"/>
            <a:ext cx="1554480" cy="256032"/>
          </a:xfrm>
          <a:prstGeom prst="roundRect">
            <a:avLst>
              <a:gd name="adj" fmla="val 50000"/>
            </a:avLst>
          </a:prstGeom>
          <a:solidFill>
            <a:srgbClr val="243A52"/>
          </a:solidFill>
          <a:ln w="12700">
            <a:solidFill>
              <a:srgbClr val="243A52"/>
            </a:solidFill>
            <a:prstDash val="solid"/>
          </a:ln>
        </p:spPr>
      </p:sp>
      <p:sp>
        <p:nvSpPr>
          <p:cNvPr id="11" name="Text 9"/>
          <p:cNvSpPr/>
          <p:nvPr/>
        </p:nvSpPr>
        <p:spPr>
          <a:xfrm>
            <a:off x="9784080" y="122529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Slides 4-5</a:t>
            </a:r>
            <a:endParaRPr lang="en-US" sz="900" dirty="0"/>
          </a:p>
        </p:txBody>
      </p:sp>
      <p:sp>
        <p:nvSpPr>
          <p:cNvPr id="12" name="Shape 10"/>
          <p:cNvSpPr/>
          <p:nvPr/>
        </p:nvSpPr>
        <p:spPr>
          <a:xfrm>
            <a:off x="365760" y="2450592"/>
            <a:ext cx="11247120" cy="1207008"/>
          </a:xfrm>
          <a:prstGeom prst="roundRect">
            <a:avLst>
              <a:gd name="adj" fmla="val 6061"/>
            </a:avLst>
          </a:prstGeom>
          <a:solidFill>
            <a:srgbClr val="1E2F45"/>
          </a:solidFill>
          <a:ln w="12700">
            <a:solidFill>
              <a:srgbClr val="FFB703"/>
            </a:solidFill>
            <a:prstDash val="solid"/>
          </a:ln>
        </p:spPr>
      </p:sp>
      <p:sp>
        <p:nvSpPr>
          <p:cNvPr id="13" name="Shape 11"/>
          <p:cNvSpPr/>
          <p:nvPr/>
        </p:nvSpPr>
        <p:spPr>
          <a:xfrm>
            <a:off x="502920" y="2560320"/>
            <a:ext cx="1554480" cy="256032"/>
          </a:xfrm>
          <a:prstGeom prst="roundRect">
            <a:avLst>
              <a:gd name="adj" fmla="val 50000"/>
            </a:avLst>
          </a:prstGeom>
          <a:solidFill>
            <a:srgbClr val="E09200"/>
          </a:solidFill>
          <a:ln w="12700">
            <a:solidFill>
              <a:srgbClr val="E09200"/>
            </a:solidFill>
            <a:prstDash val="solid"/>
          </a:ln>
        </p:spPr>
      </p:sp>
      <p:sp>
        <p:nvSpPr>
          <p:cNvPr id="14" name="Text 12"/>
          <p:cNvSpPr/>
          <p:nvPr/>
        </p:nvSpPr>
        <p:spPr>
          <a:xfrm>
            <a:off x="502920" y="256032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 B — Short Answer (Q5-7)</a:t>
            </a:r>
            <a:endParaRPr lang="en-US" sz="900" dirty="0"/>
          </a:p>
        </p:txBody>
      </p:sp>
      <p:sp>
        <p:nvSpPr>
          <p:cNvPr id="15" name="Text 13"/>
          <p:cNvSpPr/>
          <p:nvPr/>
        </p:nvSpPr>
        <p:spPr>
          <a:xfrm>
            <a:off x="2240280" y="2560320"/>
            <a:ext cx="7315200" cy="53035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Pick a seasonal connection; compare Florida/cold region winter; explain why Florida matters for migrating animals</a:t>
            </a:r>
            <a:endParaRPr lang="en-US" sz="1200" dirty="0"/>
          </a:p>
        </p:txBody>
      </p:sp>
      <p:sp>
        <p:nvSpPr>
          <p:cNvPr id="16" name="Shape 14"/>
          <p:cNvSpPr/>
          <p:nvPr/>
        </p:nvSpPr>
        <p:spPr>
          <a:xfrm>
            <a:off x="9784080" y="2560320"/>
            <a:ext cx="1554480" cy="256032"/>
          </a:xfrm>
          <a:prstGeom prst="roundRect">
            <a:avLst>
              <a:gd name="adj" fmla="val 50000"/>
            </a:avLst>
          </a:prstGeom>
          <a:solidFill>
            <a:srgbClr val="243A52"/>
          </a:solidFill>
          <a:ln w="12700">
            <a:solidFill>
              <a:srgbClr val="243A52"/>
            </a:solidFill>
            <a:prstDash val="solid"/>
          </a:ln>
        </p:spPr>
      </p:sp>
      <p:sp>
        <p:nvSpPr>
          <p:cNvPr id="17" name="Text 15"/>
          <p:cNvSpPr/>
          <p:nvPr/>
        </p:nvSpPr>
        <p:spPr>
          <a:xfrm>
            <a:off x="9784080" y="256032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Slides 6-8</a:t>
            </a:r>
            <a:endParaRPr lang="en-US" sz="900" dirty="0"/>
          </a:p>
        </p:txBody>
      </p:sp>
      <p:sp>
        <p:nvSpPr>
          <p:cNvPr id="18" name="Shape 16"/>
          <p:cNvSpPr/>
          <p:nvPr/>
        </p:nvSpPr>
        <p:spPr>
          <a:xfrm>
            <a:off x="365760" y="3785616"/>
            <a:ext cx="11247120" cy="1207008"/>
          </a:xfrm>
          <a:prstGeom prst="roundRect">
            <a:avLst>
              <a:gd name="adj" fmla="val 6061"/>
            </a:avLst>
          </a:prstGeom>
          <a:solidFill>
            <a:srgbClr val="1E2F45"/>
          </a:solidFill>
          <a:ln w="12700">
            <a:solidFill>
              <a:srgbClr val="FFB703"/>
            </a:solidFill>
            <a:prstDash val="solid"/>
          </a:ln>
        </p:spPr>
      </p:sp>
      <p:sp>
        <p:nvSpPr>
          <p:cNvPr id="19" name="Shape 17"/>
          <p:cNvSpPr/>
          <p:nvPr/>
        </p:nvSpPr>
        <p:spPr>
          <a:xfrm>
            <a:off x="502920" y="3895344"/>
            <a:ext cx="1554480" cy="256032"/>
          </a:xfrm>
          <a:prstGeom prst="roundRect">
            <a:avLst>
              <a:gd name="adj" fmla="val 50000"/>
            </a:avLst>
          </a:prstGeom>
          <a:solidFill>
            <a:srgbClr val="E09200"/>
          </a:solidFill>
          <a:ln w="12700">
            <a:solidFill>
              <a:srgbClr val="E09200"/>
            </a:solidFill>
            <a:prstDash val="solid"/>
          </a:ln>
        </p:spPr>
      </p:sp>
      <p:sp>
        <p:nvSpPr>
          <p:cNvPr id="20" name="Text 18"/>
          <p:cNvSpPr/>
          <p:nvPr/>
        </p:nvSpPr>
        <p:spPr>
          <a:xfrm>
            <a:off x="502920" y="3895344"/>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 C — Two-Region Model</a:t>
            </a:r>
            <a:endParaRPr lang="en-US" sz="900" dirty="0"/>
          </a:p>
        </p:txBody>
      </p:sp>
      <p:sp>
        <p:nvSpPr>
          <p:cNvPr id="21" name="Text 19"/>
          <p:cNvSpPr/>
          <p:nvPr/>
        </p:nvSpPr>
        <p:spPr>
          <a:xfrm>
            <a:off x="2240280" y="3895344"/>
            <a:ext cx="7315200" cy="53035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Draw Florida + one other region in the same season. Include: food-energy arrows in each circle + ONE migration arrow between them.</a:t>
            </a:r>
            <a:endParaRPr lang="en-US" sz="1200" dirty="0"/>
          </a:p>
        </p:txBody>
      </p:sp>
      <p:sp>
        <p:nvSpPr>
          <p:cNvPr id="22" name="Shape 20"/>
          <p:cNvSpPr/>
          <p:nvPr/>
        </p:nvSpPr>
        <p:spPr>
          <a:xfrm>
            <a:off x="9784080" y="3895344"/>
            <a:ext cx="1554480" cy="256032"/>
          </a:xfrm>
          <a:prstGeom prst="roundRect">
            <a:avLst>
              <a:gd name="adj" fmla="val 50000"/>
            </a:avLst>
          </a:prstGeom>
          <a:solidFill>
            <a:srgbClr val="243A52"/>
          </a:solidFill>
          <a:ln w="12700">
            <a:solidFill>
              <a:srgbClr val="243A52"/>
            </a:solidFill>
            <a:prstDash val="solid"/>
          </a:ln>
        </p:spPr>
      </p:sp>
      <p:sp>
        <p:nvSpPr>
          <p:cNvPr id="23" name="Text 21"/>
          <p:cNvSpPr/>
          <p:nvPr/>
        </p:nvSpPr>
        <p:spPr>
          <a:xfrm>
            <a:off x="9784080" y="3895344"/>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Slides 10 &amp; 13</a:t>
            </a:r>
            <a:endParaRPr lang="en-US" sz="900" dirty="0"/>
          </a:p>
        </p:txBody>
      </p:sp>
      <p:sp>
        <p:nvSpPr>
          <p:cNvPr id="24" name="Shape 22"/>
          <p:cNvSpPr/>
          <p:nvPr/>
        </p:nvSpPr>
        <p:spPr>
          <a:xfrm>
            <a:off x="365760" y="5120640"/>
            <a:ext cx="11247120" cy="1207008"/>
          </a:xfrm>
          <a:prstGeom prst="roundRect">
            <a:avLst>
              <a:gd name="adj" fmla="val 6061"/>
            </a:avLst>
          </a:prstGeom>
          <a:solidFill>
            <a:srgbClr val="1E2F45"/>
          </a:solidFill>
          <a:ln w="12700">
            <a:solidFill>
              <a:srgbClr val="FFB703"/>
            </a:solidFill>
            <a:prstDash val="solid"/>
          </a:ln>
        </p:spPr>
      </p:sp>
      <p:sp>
        <p:nvSpPr>
          <p:cNvPr id="25" name="Shape 23"/>
          <p:cNvSpPr/>
          <p:nvPr/>
        </p:nvSpPr>
        <p:spPr>
          <a:xfrm>
            <a:off x="502920" y="5230368"/>
            <a:ext cx="1554480" cy="256032"/>
          </a:xfrm>
          <a:prstGeom prst="roundRect">
            <a:avLst>
              <a:gd name="adj" fmla="val 50000"/>
            </a:avLst>
          </a:prstGeom>
          <a:solidFill>
            <a:srgbClr val="E09200"/>
          </a:solidFill>
          <a:ln w="12700">
            <a:solidFill>
              <a:srgbClr val="E09200"/>
            </a:solidFill>
            <a:prstDash val="solid"/>
          </a:ln>
        </p:spPr>
      </p:sp>
      <p:sp>
        <p:nvSpPr>
          <p:cNvPr id="26" name="Text 24"/>
          <p:cNvSpPr/>
          <p:nvPr/>
        </p:nvSpPr>
        <p:spPr>
          <a:xfrm>
            <a:off x="502920" y="523036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Key Question Response</a:t>
            </a:r>
            <a:endParaRPr lang="en-US" sz="900" dirty="0"/>
          </a:p>
        </p:txBody>
      </p:sp>
      <p:sp>
        <p:nvSpPr>
          <p:cNvPr id="27" name="Text 25"/>
          <p:cNvSpPr/>
          <p:nvPr/>
        </p:nvSpPr>
        <p:spPr>
          <a:xfrm>
            <a:off x="2240280" y="5230368"/>
            <a:ext cx="7315200" cy="53035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'How do Florida plants and animals depend on each other — and on the seasons?' 2-3 sentences using 3 vocab words.</a:t>
            </a:r>
            <a:endParaRPr lang="en-US" sz="1200" dirty="0"/>
          </a:p>
        </p:txBody>
      </p:sp>
      <p:sp>
        <p:nvSpPr>
          <p:cNvPr id="28" name="Shape 26"/>
          <p:cNvSpPr/>
          <p:nvPr/>
        </p:nvSpPr>
        <p:spPr>
          <a:xfrm>
            <a:off x="9784080" y="5230368"/>
            <a:ext cx="1554480" cy="256032"/>
          </a:xfrm>
          <a:prstGeom prst="roundRect">
            <a:avLst>
              <a:gd name="adj" fmla="val 50000"/>
            </a:avLst>
          </a:prstGeom>
          <a:solidFill>
            <a:srgbClr val="243A52"/>
          </a:solidFill>
          <a:ln w="12700">
            <a:solidFill>
              <a:srgbClr val="243A52"/>
            </a:solidFill>
            <a:prstDash val="solid"/>
          </a:ln>
        </p:spPr>
      </p:sp>
      <p:sp>
        <p:nvSpPr>
          <p:cNvPr id="29" name="Text 27"/>
          <p:cNvSpPr/>
          <p:nvPr/>
        </p:nvSpPr>
        <p:spPr>
          <a:xfrm>
            <a:off x="9784080" y="523036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All lesson slides</a:t>
            </a:r>
            <a:endParaRPr lang="en-US" sz="900" dirty="0"/>
          </a:p>
        </p:txBody>
      </p:sp>
      <p:sp>
        <p:nvSpPr>
          <p:cNvPr id="30" name="Shape 28"/>
          <p:cNvSpPr/>
          <p:nvPr/>
        </p:nvSpPr>
        <p:spPr>
          <a:xfrm>
            <a:off x="0" y="6629400"/>
            <a:ext cx="12192000" cy="228600"/>
          </a:xfrm>
          <a:prstGeom prst="rect">
            <a:avLst/>
          </a:prstGeom>
          <a:solidFill>
            <a:srgbClr val="162233"/>
          </a:solidFill>
          <a:ln/>
        </p:spPr>
      </p:sp>
      <p:sp>
        <p:nvSpPr>
          <p:cNvPr id="31" name="Text 2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14.02  ·  Model: Interdependence Across Seasons</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"How do Florida plants and animals depend on each other — and on the seasons — to survive?"</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A: All 4 vocab blanks filled in</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B: Q5-7 answered in complete sentences using lesson vocabulary</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C: Two-region model — food-energy arrows in BOTH circles + migration arrow between them</a:t>
            </a:r>
            <a:endParaRPr lang="en-US" sz="1100" dirty="0"/>
          </a:p>
        </p:txBody>
      </p:sp>
      <p:sp>
        <p:nvSpPr>
          <p:cNvPr id="13" name="Text 11"/>
          <p:cNvSpPr/>
          <p:nvPr/>
        </p:nvSpPr>
        <p:spPr>
          <a:xfrm>
            <a:off x="548640" y="3785616"/>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Key Question Response: 2-3 sentences using 3 vocabulary words from the lesson</a:t>
            </a:r>
            <a:endParaRPr lang="en-US" sz="1100" dirty="0"/>
          </a:p>
        </p:txBody>
      </p:sp>
      <p:sp>
        <p:nvSpPr>
          <p:cNvPr id="14" name="Shape 12"/>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5" name="Text 13"/>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6" name="Text 14"/>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Lesson 15.01 — Renewable and Nonrenewable Resources</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How do people use Earth's resources — and which ones will run out?</a:t>
            </a:r>
            <a:endParaRPr lang="en-US" sz="1200" dirty="0"/>
          </a:p>
        </p:txBody>
      </p:sp>
      <p:sp>
        <p:nvSpPr>
          <p:cNvPr id="17" name="Shape 15"/>
          <p:cNvSpPr/>
          <p:nvPr/>
        </p:nvSpPr>
        <p:spPr>
          <a:xfrm>
            <a:off x="0" y="5047488"/>
            <a:ext cx="12192000" cy="45720"/>
          </a:xfrm>
          <a:prstGeom prst="rect">
            <a:avLst/>
          </a:prstGeom>
          <a:solidFill>
            <a:srgbClr val="4CC9F0"/>
          </a:solidFill>
          <a:ln/>
        </p:spPr>
      </p:sp>
      <p:sp>
        <p:nvSpPr>
          <p:cNvPr id="18" name="Text 16"/>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14.02  ·  Model: Interdependence Across Seasons</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Florida Seasonal Stories — Four Connections</a:t>
            </a:r>
            <a:endParaRPr lang="en-US" sz="1600" dirty="0"/>
          </a:p>
        </p:txBody>
      </p:sp>
      <p:sp>
        <p:nvSpPr>
          <p:cNvPr id="5" name="Shape 3"/>
          <p:cNvSpPr/>
          <p:nvPr/>
        </p:nvSpPr>
        <p:spPr>
          <a:xfrm>
            <a:off x="365760" y="749808"/>
            <a:ext cx="5486400" cy="2633472"/>
          </a:xfrm>
          <a:prstGeom prst="roundRect">
            <a:avLst>
              <a:gd name="adj" fmla="val 2778"/>
            </a:avLst>
          </a:prstGeom>
          <a:solidFill>
            <a:srgbClr val="1E2F45"/>
          </a:solidFill>
          <a:ln w="12700">
            <a:solidFill>
              <a:srgbClr val="4CC9F0"/>
            </a:solidFill>
            <a:prstDash val="solid"/>
          </a:ln>
        </p:spPr>
      </p:sp>
      <p:sp>
        <p:nvSpPr>
          <p:cNvPr id="6" name="Text 4"/>
          <p:cNvSpPr/>
          <p:nvPr/>
        </p:nvSpPr>
        <p:spPr>
          <a:xfrm>
            <a:off x="548640" y="841248"/>
            <a:ext cx="5120640" cy="384048"/>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Migrating Ducks — Winter</a:t>
            </a:r>
            <a:endParaRPr lang="en-US" sz="1300" dirty="0"/>
          </a:p>
        </p:txBody>
      </p:sp>
      <p:sp>
        <p:nvSpPr>
          <p:cNvPr id="7" name="Shape 5"/>
          <p:cNvSpPr/>
          <p:nvPr/>
        </p:nvSpPr>
        <p:spPr>
          <a:xfrm>
            <a:off x="548640" y="1280160"/>
            <a:ext cx="1554480" cy="256032"/>
          </a:xfrm>
          <a:prstGeom prst="roundRect">
            <a:avLst>
              <a:gd name="adj" fmla="val 50000"/>
            </a:avLst>
          </a:prstGeom>
          <a:solidFill>
            <a:srgbClr val="4CC9F0"/>
          </a:solidFill>
          <a:ln w="12700">
            <a:solidFill>
              <a:srgbClr val="4CC9F0"/>
            </a:solidFill>
            <a:prstDash val="solid"/>
          </a:ln>
        </p:spPr>
      </p:sp>
      <p:sp>
        <p:nvSpPr>
          <p:cNvPr id="8" name="Text 6"/>
          <p:cNvSpPr/>
          <p:nvPr/>
        </p:nvSpPr>
        <p:spPr>
          <a:xfrm>
            <a:off x="548640" y="128016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Nov–Feb</a:t>
            </a:r>
            <a:endParaRPr lang="en-US" sz="900" dirty="0"/>
          </a:p>
        </p:txBody>
      </p:sp>
      <p:sp>
        <p:nvSpPr>
          <p:cNvPr id="9" name="Text 7"/>
          <p:cNvSpPr/>
          <p:nvPr/>
        </p:nvSpPr>
        <p:spPr>
          <a:xfrm>
            <a:off x="548640" y="1664208"/>
            <a:ext cx="5120640" cy="1170432"/>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Over 5 million ducks and geese migrate through Florida each winter. Maine and Canadian wetlands freeze — Florida's wetlands stay open and full of food energy.</a:t>
            </a:r>
            <a:endParaRPr lang="en-US" sz="1050" dirty="0"/>
          </a:p>
        </p:txBody>
      </p:sp>
      <p:sp>
        <p:nvSpPr>
          <p:cNvPr id="10" name="Text 8"/>
          <p:cNvSpPr/>
          <p:nvPr/>
        </p:nvSpPr>
        <p:spPr>
          <a:xfrm>
            <a:off x="548640" y="2852928"/>
            <a:ext cx="5120640" cy="384048"/>
          </a:xfrm>
          <a:prstGeom prst="rect">
            <a:avLst/>
          </a:prstGeom>
          <a:noFill/>
          <a:ln/>
        </p:spPr>
        <p:txBody>
          <a:bodyPr wrap="square" rtlCol="0" anchor="ctr"/>
          <a:lstStyle/>
          <a:p>
            <a:pPr indent="0" marL="0">
              <a:buNone/>
            </a:pPr>
            <a:r>
              <a:rPr lang="en-US" sz="1000" i="1" dirty="0">
                <a:solidFill>
                  <a:srgbClr val="4CC9F0"/>
                </a:solidFill>
                <a:latin typeface="Calibri" pitchFamily="34" charset="0"/>
                <a:ea typeface="Calibri" pitchFamily="34" charset="-122"/>
                <a:cs typeface="Calibri" pitchFamily="34" charset="-120"/>
              </a:rPr>
              <a:t>→ Cold elsewhere → Florida benefits</a:t>
            </a:r>
            <a:endParaRPr lang="en-US" sz="1000" dirty="0"/>
          </a:p>
        </p:txBody>
      </p:sp>
      <p:sp>
        <p:nvSpPr>
          <p:cNvPr id="11" name="Shape 9"/>
          <p:cNvSpPr/>
          <p:nvPr/>
        </p:nvSpPr>
        <p:spPr>
          <a:xfrm>
            <a:off x="6126480" y="749808"/>
            <a:ext cx="5486400" cy="2633472"/>
          </a:xfrm>
          <a:prstGeom prst="roundRect">
            <a:avLst>
              <a:gd name="adj" fmla="val 2778"/>
            </a:avLst>
          </a:prstGeom>
          <a:solidFill>
            <a:srgbClr val="1E2F45"/>
          </a:solidFill>
          <a:ln w="12700">
            <a:solidFill>
              <a:srgbClr val="FFB703"/>
            </a:solidFill>
            <a:prstDash val="solid"/>
          </a:ln>
        </p:spPr>
      </p:sp>
      <p:sp>
        <p:nvSpPr>
          <p:cNvPr id="12" name="Text 10"/>
          <p:cNvSpPr/>
          <p:nvPr/>
        </p:nvSpPr>
        <p:spPr>
          <a:xfrm>
            <a:off x="6309360" y="841248"/>
            <a:ext cx="5120640" cy="384048"/>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Manatee Winter Clusters — Cold Snaps</a:t>
            </a:r>
            <a:endParaRPr lang="en-US" sz="1300" dirty="0"/>
          </a:p>
        </p:txBody>
      </p:sp>
      <p:sp>
        <p:nvSpPr>
          <p:cNvPr id="13" name="Shape 11"/>
          <p:cNvSpPr/>
          <p:nvPr/>
        </p:nvSpPr>
        <p:spPr>
          <a:xfrm>
            <a:off x="6309360" y="1280160"/>
            <a:ext cx="1554480" cy="256032"/>
          </a:xfrm>
          <a:prstGeom prst="roundRect">
            <a:avLst>
              <a:gd name="adj" fmla="val 50000"/>
            </a:avLst>
          </a:prstGeom>
          <a:solidFill>
            <a:srgbClr val="FFB703"/>
          </a:solidFill>
          <a:ln w="12700">
            <a:solidFill>
              <a:srgbClr val="FFB703"/>
            </a:solidFill>
            <a:prstDash val="solid"/>
          </a:ln>
        </p:spPr>
      </p:sp>
      <p:sp>
        <p:nvSpPr>
          <p:cNvPr id="14" name="Text 12"/>
          <p:cNvSpPr/>
          <p:nvPr/>
        </p:nvSpPr>
        <p:spPr>
          <a:xfrm>
            <a:off x="6309360" y="128016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Dec–Feb</a:t>
            </a:r>
            <a:endParaRPr lang="en-US" sz="900" dirty="0"/>
          </a:p>
        </p:txBody>
      </p:sp>
      <p:sp>
        <p:nvSpPr>
          <p:cNvPr id="15" name="Text 13"/>
          <p:cNvSpPr/>
          <p:nvPr/>
        </p:nvSpPr>
        <p:spPr>
          <a:xfrm>
            <a:off x="6309360" y="1664208"/>
            <a:ext cx="5120640" cy="1170432"/>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In cold snaps, manatees crowd into natural springs by the hundreds. Springs stay ~72°F year-round. Without these warm spots, manatee populations would crash every winter.</a:t>
            </a:r>
            <a:endParaRPr lang="en-US" sz="1050" dirty="0"/>
          </a:p>
        </p:txBody>
      </p:sp>
      <p:sp>
        <p:nvSpPr>
          <p:cNvPr id="16" name="Text 14"/>
          <p:cNvSpPr/>
          <p:nvPr/>
        </p:nvSpPr>
        <p:spPr>
          <a:xfrm>
            <a:off x="6309360" y="2852928"/>
            <a:ext cx="5120640" cy="384048"/>
          </a:xfrm>
          <a:prstGeom prst="rect">
            <a:avLst/>
          </a:prstGeom>
          <a:noFill/>
          <a:ln/>
        </p:spPr>
        <p:txBody>
          <a:bodyPr wrap="square" rtlCol="0" anchor="ctr"/>
          <a:lstStyle/>
          <a:p>
            <a:pPr indent="0" marL="0">
              <a:buNone/>
            </a:pPr>
            <a:r>
              <a:rPr lang="en-US" sz="1000" i="1" dirty="0">
                <a:solidFill>
                  <a:srgbClr val="FFB703"/>
                </a:solidFill>
                <a:latin typeface="Calibri" pitchFamily="34" charset="0"/>
                <a:ea typeface="Calibri" pitchFamily="34" charset="-122"/>
                <a:cs typeface="Calibri" pitchFamily="34" charset="-120"/>
              </a:rPr>
              <a:t>→ Florida uniqueness</a:t>
            </a:r>
            <a:endParaRPr lang="en-US" sz="1000" dirty="0"/>
          </a:p>
        </p:txBody>
      </p:sp>
      <p:sp>
        <p:nvSpPr>
          <p:cNvPr id="17" name="Shape 15"/>
          <p:cNvSpPr/>
          <p:nvPr/>
        </p:nvSpPr>
        <p:spPr>
          <a:xfrm>
            <a:off x="365760" y="3566160"/>
            <a:ext cx="5486400" cy="2633472"/>
          </a:xfrm>
          <a:prstGeom prst="roundRect">
            <a:avLst>
              <a:gd name="adj" fmla="val 2778"/>
            </a:avLst>
          </a:prstGeom>
          <a:solidFill>
            <a:srgbClr val="1E2F45"/>
          </a:solidFill>
          <a:ln w="12700">
            <a:solidFill>
              <a:srgbClr val="2DC653"/>
            </a:solidFill>
            <a:prstDash val="solid"/>
          </a:ln>
        </p:spPr>
      </p:sp>
      <p:sp>
        <p:nvSpPr>
          <p:cNvPr id="18" name="Text 16"/>
          <p:cNvSpPr/>
          <p:nvPr/>
        </p:nvSpPr>
        <p:spPr>
          <a:xfrm>
            <a:off x="548640" y="3657600"/>
            <a:ext cx="5120640" cy="384048"/>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Citrus Harvest — Winter/Spring</a:t>
            </a:r>
            <a:endParaRPr lang="en-US" sz="1300" dirty="0"/>
          </a:p>
        </p:txBody>
      </p:sp>
      <p:sp>
        <p:nvSpPr>
          <p:cNvPr id="19" name="Shape 17"/>
          <p:cNvSpPr/>
          <p:nvPr/>
        </p:nvSpPr>
        <p:spPr>
          <a:xfrm>
            <a:off x="548640" y="4096512"/>
            <a:ext cx="1554480" cy="256032"/>
          </a:xfrm>
          <a:prstGeom prst="roundRect">
            <a:avLst>
              <a:gd name="adj" fmla="val 50000"/>
            </a:avLst>
          </a:prstGeom>
          <a:solidFill>
            <a:srgbClr val="2DC653"/>
          </a:solidFill>
          <a:ln w="12700">
            <a:solidFill>
              <a:srgbClr val="2DC653"/>
            </a:solidFill>
            <a:prstDash val="solid"/>
          </a:ln>
        </p:spPr>
      </p:sp>
      <p:sp>
        <p:nvSpPr>
          <p:cNvPr id="20" name="Text 18"/>
          <p:cNvSpPr/>
          <p:nvPr/>
        </p:nvSpPr>
        <p:spPr>
          <a:xfrm>
            <a:off x="548640" y="409651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Nov–Apr</a:t>
            </a:r>
            <a:endParaRPr lang="en-US" sz="900" dirty="0"/>
          </a:p>
        </p:txBody>
      </p:sp>
      <p:sp>
        <p:nvSpPr>
          <p:cNvPr id="21" name="Text 19"/>
          <p:cNvSpPr/>
          <p:nvPr/>
        </p:nvSpPr>
        <p:spPr>
          <a:xfrm>
            <a:off x="548640" y="4480560"/>
            <a:ext cx="5120640" cy="1170432"/>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Florida's mild winters allow citrus to ripen. The food energy from Florida oranges reaches grocery stores across the country — Florida's seasonal advantage feeds people nationwide.</a:t>
            </a:r>
            <a:endParaRPr lang="en-US" sz="1050" dirty="0"/>
          </a:p>
        </p:txBody>
      </p:sp>
      <p:sp>
        <p:nvSpPr>
          <p:cNvPr id="22" name="Text 20"/>
          <p:cNvSpPr/>
          <p:nvPr/>
        </p:nvSpPr>
        <p:spPr>
          <a:xfrm>
            <a:off x="548640" y="5669280"/>
            <a:ext cx="5120640" cy="384048"/>
          </a:xfrm>
          <a:prstGeom prst="rect">
            <a:avLst/>
          </a:prstGeom>
          <a:noFill/>
          <a:ln/>
        </p:spPr>
        <p:txBody>
          <a:bodyPr wrap="square" rtlCol="0" anchor="ctr"/>
          <a:lstStyle/>
          <a:p>
            <a:pPr indent="0" marL="0">
              <a:buNone/>
            </a:pPr>
            <a:r>
              <a:rPr lang="en-US" sz="1000" i="1" dirty="0">
                <a:solidFill>
                  <a:srgbClr val="2DC653"/>
                </a:solidFill>
                <a:latin typeface="Calibri" pitchFamily="34" charset="0"/>
                <a:ea typeface="Calibri" pitchFamily="34" charset="-122"/>
                <a:cs typeface="Calibri" pitchFamily="34" charset="-120"/>
              </a:rPr>
              <a:t>→ Seasonal product → interdependence</a:t>
            </a:r>
            <a:endParaRPr lang="en-US" sz="1000" dirty="0"/>
          </a:p>
        </p:txBody>
      </p:sp>
      <p:sp>
        <p:nvSpPr>
          <p:cNvPr id="23" name="Shape 21"/>
          <p:cNvSpPr/>
          <p:nvPr/>
        </p:nvSpPr>
        <p:spPr>
          <a:xfrm>
            <a:off x="6126480" y="3566160"/>
            <a:ext cx="5486400" cy="2633472"/>
          </a:xfrm>
          <a:prstGeom prst="roundRect">
            <a:avLst>
              <a:gd name="adj" fmla="val 2778"/>
            </a:avLst>
          </a:prstGeom>
          <a:solidFill>
            <a:srgbClr val="1E2F45"/>
          </a:solidFill>
          <a:ln w="12700">
            <a:solidFill>
              <a:srgbClr val="F4736A"/>
            </a:solidFill>
            <a:prstDash val="solid"/>
          </a:ln>
        </p:spPr>
      </p:sp>
      <p:sp>
        <p:nvSpPr>
          <p:cNvPr id="24" name="Text 22"/>
          <p:cNvSpPr/>
          <p:nvPr/>
        </p:nvSpPr>
        <p:spPr>
          <a:xfrm>
            <a:off x="6309360" y="3657600"/>
            <a:ext cx="5120640" cy="384048"/>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 Sea Turtle Nesting — Summer</a:t>
            </a:r>
            <a:endParaRPr lang="en-US" sz="1300" dirty="0"/>
          </a:p>
        </p:txBody>
      </p:sp>
      <p:sp>
        <p:nvSpPr>
          <p:cNvPr id="25" name="Shape 23"/>
          <p:cNvSpPr/>
          <p:nvPr/>
        </p:nvSpPr>
        <p:spPr>
          <a:xfrm>
            <a:off x="6309360" y="4096512"/>
            <a:ext cx="1554480" cy="256032"/>
          </a:xfrm>
          <a:prstGeom prst="roundRect">
            <a:avLst>
              <a:gd name="adj" fmla="val 50000"/>
            </a:avLst>
          </a:prstGeom>
          <a:solidFill>
            <a:srgbClr val="F4736A"/>
          </a:solidFill>
          <a:ln w="12700">
            <a:solidFill>
              <a:srgbClr val="F4736A"/>
            </a:solidFill>
            <a:prstDash val="solid"/>
          </a:ln>
        </p:spPr>
      </p:sp>
      <p:sp>
        <p:nvSpPr>
          <p:cNvPr id="26" name="Text 24"/>
          <p:cNvSpPr/>
          <p:nvPr/>
        </p:nvSpPr>
        <p:spPr>
          <a:xfrm>
            <a:off x="6309360" y="409651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May–Oct</a:t>
            </a:r>
            <a:endParaRPr lang="en-US" sz="900" dirty="0"/>
          </a:p>
        </p:txBody>
      </p:sp>
      <p:sp>
        <p:nvSpPr>
          <p:cNvPr id="27" name="Text 25"/>
          <p:cNvSpPr/>
          <p:nvPr/>
        </p:nvSpPr>
        <p:spPr>
          <a:xfrm>
            <a:off x="6309360" y="4480560"/>
            <a:ext cx="5120640" cy="1170432"/>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Florida hosts the largest loggerhead sea turtle nesting in the Western Hemisphere. Warm summer beaches trigger nesting. Protection of these beaches is critical — every adult took 30 years to get there.</a:t>
            </a:r>
            <a:endParaRPr lang="en-US" sz="1050" dirty="0"/>
          </a:p>
        </p:txBody>
      </p:sp>
      <p:sp>
        <p:nvSpPr>
          <p:cNvPr id="28" name="Text 26"/>
          <p:cNvSpPr/>
          <p:nvPr/>
        </p:nvSpPr>
        <p:spPr>
          <a:xfrm>
            <a:off x="6309360" y="5669280"/>
            <a:ext cx="5120640" cy="384048"/>
          </a:xfrm>
          <a:prstGeom prst="rect">
            <a:avLst/>
          </a:prstGeom>
          <a:noFill/>
          <a:ln/>
        </p:spPr>
        <p:txBody>
          <a:bodyPr wrap="square" rtlCol="0" anchor="ctr"/>
          <a:lstStyle/>
          <a:p>
            <a:pPr indent="0" marL="0">
              <a:buNone/>
            </a:pPr>
            <a:r>
              <a:rPr lang="en-US" sz="1000" i="1" dirty="0">
                <a:solidFill>
                  <a:srgbClr val="F4736A"/>
                </a:solidFill>
                <a:latin typeface="Calibri" pitchFamily="34" charset="0"/>
                <a:ea typeface="Calibri" pitchFamily="34" charset="-122"/>
                <a:cs typeface="Calibri" pitchFamily="34" charset="-120"/>
              </a:rPr>
              <a:t>→ Florida summer = nesting window</a:t>
            </a:r>
            <a:endParaRPr lang="en-US" sz="1000" dirty="0"/>
          </a:p>
        </p:txBody>
      </p:sp>
      <p:sp>
        <p:nvSpPr>
          <p:cNvPr id="29" name="Shape 27"/>
          <p:cNvSpPr/>
          <p:nvPr/>
        </p:nvSpPr>
        <p:spPr>
          <a:xfrm>
            <a:off x="0" y="6629400"/>
            <a:ext cx="12192000" cy="228600"/>
          </a:xfrm>
          <a:prstGeom prst="rect">
            <a:avLst/>
          </a:prstGeom>
          <a:solidFill>
            <a:srgbClr val="162233"/>
          </a:solidFill>
          <a:ln/>
        </p:spPr>
      </p:sp>
      <p:sp>
        <p:nvSpPr>
          <p:cNvPr id="30" name="Text 2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14.02  ·  Model: Interdependence Across Seasons</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Go Deeper: What Happens When Seasons Start to Shift?</a:t>
            </a:r>
            <a:endParaRPr lang="en-US" sz="1600" dirty="0"/>
          </a:p>
        </p:txBody>
      </p:sp>
      <p:sp>
        <p:nvSpPr>
          <p:cNvPr id="5" name="Shape 3"/>
          <p:cNvSpPr/>
          <p:nvPr/>
        </p:nvSpPr>
        <p:spPr>
          <a:xfrm>
            <a:off x="365760" y="749808"/>
            <a:ext cx="7132320" cy="4663440"/>
          </a:xfrm>
          <a:prstGeom prst="roundRect">
            <a:avLst>
              <a:gd name="adj" fmla="val 1569"/>
            </a:avLst>
          </a:prstGeom>
          <a:solidFill>
            <a:srgbClr val="1A0A05"/>
          </a:solidFill>
          <a:ln w="12700">
            <a:solidFill>
              <a:srgbClr val="F4736A"/>
            </a:solidFill>
            <a:prstDash val="solid"/>
          </a:ln>
        </p:spPr>
      </p:sp>
      <p:sp>
        <p:nvSpPr>
          <p:cNvPr id="6" name="Text 4"/>
          <p:cNvSpPr/>
          <p:nvPr/>
        </p:nvSpPr>
        <p:spPr>
          <a:xfrm>
            <a:off x="548640" y="822960"/>
            <a:ext cx="6766560" cy="512064"/>
          </a:xfrm>
          <a:prstGeom prst="rect">
            <a:avLst/>
          </a:prstGeom>
          <a:noFill/>
          <a:ln/>
        </p:spPr>
        <p:txBody>
          <a:bodyPr wrap="square" rtlCol="0" anchor="ctr"/>
          <a:lstStyle/>
          <a:p>
            <a:pPr indent="0" marL="0">
              <a:buNone/>
            </a:pPr>
            <a:r>
              <a:rPr lang="en-US" sz="1400" b="1" dirty="0">
                <a:solidFill>
                  <a:srgbClr val="F4736A"/>
                </a:solidFill>
                <a:latin typeface="Calibri" pitchFamily="34" charset="0"/>
                <a:ea typeface="Calibri" pitchFamily="34" charset="-122"/>
                <a:cs typeface="Calibri" pitchFamily="34" charset="-120"/>
              </a:rPr>
              <a:t>⚠️ Small Changes in Timing Can Break Interdependence Connections</a:t>
            </a:r>
            <a:endParaRPr lang="en-US" sz="1400" dirty="0"/>
          </a:p>
        </p:txBody>
      </p:sp>
      <p:sp>
        <p:nvSpPr>
          <p:cNvPr id="7" name="Text 5"/>
          <p:cNvSpPr/>
          <p:nvPr/>
        </p:nvSpPr>
        <p:spPr>
          <a:xfrm>
            <a:off x="548640" y="1371600"/>
            <a:ext cx="6766560" cy="3877056"/>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Florida's seasonal patterns are slowly changing — winters are getting milder, hurricane season is shifting. Scientists track these changes carefully:</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Birds that migrate based on TEMPERATURE CUES might arrive before their insect food is ready</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Plants that flower based on DAYLIGHT LENGTH might bloom before their pollinators are active</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Sea turtles that nest based on WATER TEMPERATURE might begin earlier — and hatch when sand temperatures are extreme</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Every interdependence connection depends on TIMING. If the seasons shift even a few weeks, the connections that took thousands of years to evolve can get out of sync.</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Scientists call this 'phenological mismatch' — when two species that depend on each other are no longer in sync.</a:t>
            </a:r>
            <a:endParaRPr lang="en-US" sz="1150" dirty="0"/>
          </a:p>
        </p:txBody>
      </p:sp>
      <p:sp>
        <p:nvSpPr>
          <p:cNvPr id="8" name="Shape 6"/>
          <p:cNvSpPr/>
          <p:nvPr/>
        </p:nvSpPr>
        <p:spPr>
          <a:xfrm>
            <a:off x="7863840" y="749808"/>
            <a:ext cx="3749040" cy="4663440"/>
          </a:xfrm>
          <a:prstGeom prst="roundRect">
            <a:avLst>
              <a:gd name="adj" fmla="val 1951"/>
            </a:avLst>
          </a:prstGeom>
          <a:solidFill>
            <a:srgbClr val="1E2F45"/>
          </a:solidFill>
          <a:ln w="12700">
            <a:solidFill>
              <a:srgbClr val="FFB703"/>
            </a:solidFill>
            <a:prstDash val="solid"/>
          </a:ln>
        </p:spPr>
      </p:sp>
      <p:sp>
        <p:nvSpPr>
          <p:cNvPr id="9" name="Text 7"/>
          <p:cNvSpPr/>
          <p:nvPr/>
        </p:nvSpPr>
        <p:spPr>
          <a:xfrm>
            <a:off x="8046720" y="822960"/>
            <a:ext cx="338328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 What Scientists Measure:</a:t>
            </a:r>
            <a:endParaRPr lang="en-US" sz="1200" dirty="0"/>
          </a:p>
        </p:txBody>
      </p:sp>
      <p:sp>
        <p:nvSpPr>
          <p:cNvPr id="10" name="Text 8"/>
          <p:cNvSpPr/>
          <p:nvPr/>
        </p:nvSpPr>
        <p:spPr>
          <a:xfrm>
            <a:off x="8046720" y="1207008"/>
            <a:ext cx="3383280" cy="3986784"/>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Wildflower bloom dates</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Bird arrival dates</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Sea turtle nesting start dates</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First freeze dates</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Last frost dates</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These long-term records show whether interdependence connections are staying in sync or drifting apart.</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This is why long-term data collection matters — changes happen slowly over decades, but show up in the data.</a:t>
            </a:r>
            <a:endParaRPr lang="en-US" sz="1150" dirty="0"/>
          </a:p>
        </p:txBody>
      </p:sp>
      <p:sp>
        <p:nvSpPr>
          <p:cNvPr id="11" name="Shape 9"/>
          <p:cNvSpPr/>
          <p:nvPr/>
        </p:nvSpPr>
        <p:spPr>
          <a:xfrm>
            <a:off x="0" y="6629400"/>
            <a:ext cx="12192000" cy="228600"/>
          </a:xfrm>
          <a:prstGeom prst="rect">
            <a:avLst/>
          </a:prstGeom>
          <a:solidFill>
            <a:srgbClr val="162233"/>
          </a:solidFill>
          <a:ln/>
        </p:spPr>
      </p:sp>
      <p:sp>
        <p:nvSpPr>
          <p:cNvPr id="12" name="Text 1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14.02  ·  Model: Interdependence Across Seasons</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CER Preparation — Review Key Evidence</a:t>
            </a:r>
            <a:endParaRPr lang="en-US" sz="1600" dirty="0"/>
          </a:p>
        </p:txBody>
      </p:sp>
      <p:sp>
        <p:nvSpPr>
          <p:cNvPr id="5" name="Shape 3"/>
          <p:cNvSpPr/>
          <p:nvPr/>
        </p:nvSpPr>
        <p:spPr>
          <a:xfrm>
            <a:off x="365760" y="749808"/>
            <a:ext cx="11247120" cy="585216"/>
          </a:xfrm>
          <a:prstGeom prst="roundRect">
            <a:avLst>
              <a:gd name="adj" fmla="val 12500"/>
            </a:avLst>
          </a:prstGeom>
          <a:solidFill>
            <a:srgbClr val="162233"/>
          </a:solidFill>
          <a:ln w="12700">
            <a:solidFill>
              <a:srgbClr val="4CC9F0"/>
            </a:solidFill>
            <a:prstDash val="solid"/>
          </a:ln>
        </p:spPr>
      </p:sp>
      <p:sp>
        <p:nvSpPr>
          <p:cNvPr id="6" name="Text 4"/>
          <p:cNvSpPr/>
          <p:nvPr/>
        </p:nvSpPr>
        <p:spPr>
          <a:xfrm>
            <a:off x="548640" y="822960"/>
            <a:ext cx="10972800" cy="43891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Before you write your CER — review the key facts and vocabulary you'll need:</a:t>
            </a:r>
            <a:endParaRPr lang="en-US" sz="1300" dirty="0"/>
          </a:p>
        </p:txBody>
      </p:sp>
      <p:sp>
        <p:nvSpPr>
          <p:cNvPr id="7" name="Shape 5"/>
          <p:cNvSpPr/>
          <p:nvPr/>
        </p:nvSpPr>
        <p:spPr>
          <a:xfrm>
            <a:off x="365760" y="1463040"/>
            <a:ext cx="11247120" cy="841248"/>
          </a:xfrm>
          <a:prstGeom prst="roundRect">
            <a:avLst>
              <a:gd name="adj" fmla="val 8696"/>
            </a:avLst>
          </a:prstGeom>
          <a:solidFill>
            <a:srgbClr val="1E2F45"/>
          </a:solidFill>
          <a:ln w="12700">
            <a:solidFill>
              <a:srgbClr val="4CC9F0"/>
            </a:solidFill>
            <a:prstDash val="solid"/>
          </a:ln>
        </p:spPr>
      </p:sp>
      <p:sp>
        <p:nvSpPr>
          <p:cNvPr id="8" name="Text 6"/>
          <p:cNvSpPr/>
          <p:nvPr/>
        </p:nvSpPr>
        <p:spPr>
          <a:xfrm>
            <a:off x="548640" y="1536192"/>
            <a:ext cx="10972800" cy="676656"/>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  Seasonal change: Florida's winters are MILD (plants keep growing, animals stay active). Maine's winters are COLD (plants die back, animals hibernate or migrate).</a:t>
            </a:r>
            <a:endParaRPr lang="en-US" sz="1150" dirty="0"/>
          </a:p>
        </p:txBody>
      </p:sp>
      <p:sp>
        <p:nvSpPr>
          <p:cNvPr id="9" name="Shape 7"/>
          <p:cNvSpPr/>
          <p:nvPr/>
        </p:nvSpPr>
        <p:spPr>
          <a:xfrm>
            <a:off x="365760" y="2414016"/>
            <a:ext cx="11247120" cy="841248"/>
          </a:xfrm>
          <a:prstGeom prst="roundRect">
            <a:avLst>
              <a:gd name="adj" fmla="val 8696"/>
            </a:avLst>
          </a:prstGeom>
          <a:solidFill>
            <a:srgbClr val="1E2F45"/>
          </a:solidFill>
          <a:ln w="12700">
            <a:solidFill>
              <a:srgbClr val="FFB703"/>
            </a:solidFill>
            <a:prstDash val="solid"/>
          </a:ln>
        </p:spPr>
      </p:sp>
      <p:sp>
        <p:nvSpPr>
          <p:cNvPr id="10" name="Text 8"/>
          <p:cNvSpPr/>
          <p:nvPr/>
        </p:nvSpPr>
        <p:spPr>
          <a:xfrm>
            <a:off x="548640" y="2487168"/>
            <a:ext cx="10972800" cy="676656"/>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  Migration: 5 million+ ducks migrate to Florida in winter because Florida wetlands have food energy when northern ones freeze.</a:t>
            </a:r>
            <a:endParaRPr lang="en-US" sz="1150" dirty="0"/>
          </a:p>
        </p:txBody>
      </p:sp>
      <p:sp>
        <p:nvSpPr>
          <p:cNvPr id="11" name="Shape 9"/>
          <p:cNvSpPr/>
          <p:nvPr/>
        </p:nvSpPr>
        <p:spPr>
          <a:xfrm>
            <a:off x="365760" y="3364992"/>
            <a:ext cx="11247120" cy="841248"/>
          </a:xfrm>
          <a:prstGeom prst="roundRect">
            <a:avLst>
              <a:gd name="adj" fmla="val 8696"/>
            </a:avLst>
          </a:prstGeom>
          <a:solidFill>
            <a:srgbClr val="1E2F45"/>
          </a:solidFill>
          <a:ln w="12700">
            <a:solidFill>
              <a:srgbClr val="4CC9F0"/>
            </a:solidFill>
            <a:prstDash val="solid"/>
          </a:ln>
        </p:spPr>
      </p:sp>
      <p:sp>
        <p:nvSpPr>
          <p:cNvPr id="12" name="Text 10"/>
          <p:cNvSpPr/>
          <p:nvPr/>
        </p:nvSpPr>
        <p:spPr>
          <a:xfrm>
            <a:off x="548640" y="3438144"/>
            <a:ext cx="10972800" cy="676656"/>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  Hibernation: Maine bears hibernate (food disappears). Florida bears stay active (food stays available). Same species, different strategy — because different seasonal change.</a:t>
            </a:r>
            <a:endParaRPr lang="en-US" sz="1150" dirty="0"/>
          </a:p>
        </p:txBody>
      </p:sp>
      <p:sp>
        <p:nvSpPr>
          <p:cNvPr id="13" name="Shape 11"/>
          <p:cNvSpPr/>
          <p:nvPr/>
        </p:nvSpPr>
        <p:spPr>
          <a:xfrm>
            <a:off x="365760" y="4315968"/>
            <a:ext cx="11247120" cy="841248"/>
          </a:xfrm>
          <a:prstGeom prst="roundRect">
            <a:avLst>
              <a:gd name="adj" fmla="val 8696"/>
            </a:avLst>
          </a:prstGeom>
          <a:solidFill>
            <a:srgbClr val="1E2F45"/>
          </a:solidFill>
          <a:ln w="12700">
            <a:solidFill>
              <a:srgbClr val="FFB703"/>
            </a:solidFill>
            <a:prstDash val="solid"/>
          </a:ln>
        </p:spPr>
      </p:sp>
      <p:sp>
        <p:nvSpPr>
          <p:cNvPr id="14" name="Text 12"/>
          <p:cNvSpPr/>
          <p:nvPr/>
        </p:nvSpPr>
        <p:spPr>
          <a:xfrm>
            <a:off x="548640" y="4389120"/>
            <a:ext cx="10972800" cy="676656"/>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  Food energy always starts with the SUN → plants capture it → animals eat plants → other animals eat those animals. Every food chain leads back to the sun.</a:t>
            </a:r>
            <a:endParaRPr lang="en-US" sz="1150" dirty="0"/>
          </a:p>
        </p:txBody>
      </p:sp>
      <p:sp>
        <p:nvSpPr>
          <p:cNvPr id="15" name="Shape 13"/>
          <p:cNvSpPr/>
          <p:nvPr/>
        </p:nvSpPr>
        <p:spPr>
          <a:xfrm>
            <a:off x="365760" y="5266944"/>
            <a:ext cx="11247120" cy="841248"/>
          </a:xfrm>
          <a:prstGeom prst="roundRect">
            <a:avLst>
              <a:gd name="adj" fmla="val 8696"/>
            </a:avLst>
          </a:prstGeom>
          <a:solidFill>
            <a:srgbClr val="1E2F45"/>
          </a:solidFill>
          <a:ln w="12700">
            <a:solidFill>
              <a:srgbClr val="4CC9F0"/>
            </a:solidFill>
            <a:prstDash val="solid"/>
          </a:ln>
        </p:spPr>
      </p:sp>
      <p:sp>
        <p:nvSpPr>
          <p:cNvPr id="16" name="Text 14"/>
          <p:cNvSpPr/>
          <p:nvPr/>
        </p:nvSpPr>
        <p:spPr>
          <a:xfrm>
            <a:off x="548640" y="5340096"/>
            <a:ext cx="10972800" cy="676656"/>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  Interdependence links regions: a robin in Florida in winter might be the same bird as in Maine in summer. The two regions are connected through the animal's migration.</a:t>
            </a:r>
            <a:endParaRPr lang="en-US" sz="115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14.02  ·  Model: Interdependence Across Seasons</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Discussion: What Would Florida Lose?</a:t>
            </a:r>
            <a:endParaRPr lang="en-US" sz="1600" dirty="0"/>
          </a:p>
        </p:txBody>
      </p:sp>
      <p:sp>
        <p:nvSpPr>
          <p:cNvPr id="5" name="Shape 3"/>
          <p:cNvSpPr/>
          <p:nvPr/>
        </p:nvSpPr>
        <p:spPr>
          <a:xfrm>
            <a:off x="365760" y="749808"/>
            <a:ext cx="5303520" cy="4370832"/>
          </a:xfrm>
          <a:prstGeom prst="roundRect">
            <a:avLst>
              <a:gd name="adj" fmla="val 1674"/>
            </a:avLst>
          </a:prstGeom>
          <a:solidFill>
            <a:srgbClr val="0A1520"/>
          </a:solidFill>
          <a:ln w="19050">
            <a:solidFill>
              <a:srgbClr val="4CC9F0"/>
            </a:solidFill>
            <a:prstDash val="dash"/>
          </a:ln>
        </p:spPr>
      </p:sp>
      <p:sp>
        <p:nvSpPr>
          <p:cNvPr id="6" name="Text 4"/>
          <p:cNvSpPr/>
          <p:nvPr/>
        </p:nvSpPr>
        <p:spPr>
          <a:xfrm>
            <a:off x="457200" y="859536"/>
            <a:ext cx="51206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51206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5084064" cy="3319272"/>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"Florida wetlands birds ducks winter habitat conservation value ecosystem services"</a:t>
            </a:r>
            <a:endParaRPr lang="en-US" sz="950" dirty="0"/>
          </a:p>
        </p:txBody>
      </p:sp>
      <p:sp>
        <p:nvSpPr>
          <p:cNvPr id="9" name="Text 7"/>
          <p:cNvSpPr/>
          <p:nvPr/>
        </p:nvSpPr>
        <p:spPr>
          <a:xfrm>
            <a:off x="365760" y="5157216"/>
            <a:ext cx="53035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Florida wetlands — home to millions of wintering birds from across North America</a:t>
            </a:r>
            <a:endParaRPr lang="en-US" sz="900" dirty="0"/>
          </a:p>
        </p:txBody>
      </p:sp>
      <p:sp>
        <p:nvSpPr>
          <p:cNvPr id="10" name="Shape 8"/>
          <p:cNvSpPr/>
          <p:nvPr/>
        </p:nvSpPr>
        <p:spPr>
          <a:xfrm>
            <a:off x="5852160" y="749808"/>
            <a:ext cx="5760720" cy="2084832"/>
          </a:xfrm>
          <a:prstGeom prst="roundRect">
            <a:avLst>
              <a:gd name="adj" fmla="val 3509"/>
            </a:avLst>
          </a:prstGeom>
          <a:solidFill>
            <a:srgbClr val="1E2F45"/>
          </a:solidFill>
          <a:ln w="12700">
            <a:solidFill>
              <a:srgbClr val="FFB703"/>
            </a:solidFill>
            <a:prstDash val="solid"/>
          </a:ln>
        </p:spPr>
      </p:sp>
      <p:sp>
        <p:nvSpPr>
          <p:cNvPr id="11" name="Text 9"/>
          <p:cNvSpPr/>
          <p:nvPr/>
        </p:nvSpPr>
        <p:spPr>
          <a:xfrm>
            <a:off x="6035040" y="822960"/>
            <a:ext cx="5394960" cy="329184"/>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Thought Experiment:</a:t>
            </a:r>
            <a:endParaRPr lang="en-US" sz="1300" dirty="0"/>
          </a:p>
        </p:txBody>
      </p:sp>
      <p:sp>
        <p:nvSpPr>
          <p:cNvPr id="12" name="Text 10"/>
          <p:cNvSpPr/>
          <p:nvPr/>
        </p:nvSpPr>
        <p:spPr>
          <a:xfrm>
            <a:off x="6035040" y="1188720"/>
            <a:ext cx="5394960" cy="148132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If Florida's wetlands were drained and developed...</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What would happen to the 5 million migrating ducks? What would happen to the food chains in Maine and Canada that depend on those ducks returning healthy in spring?</a:t>
            </a:r>
            <a:endParaRPr lang="en-US" sz="1200" dirty="0"/>
          </a:p>
        </p:txBody>
      </p:sp>
      <p:sp>
        <p:nvSpPr>
          <p:cNvPr id="13" name="Shape 11"/>
          <p:cNvSpPr/>
          <p:nvPr/>
        </p:nvSpPr>
        <p:spPr>
          <a:xfrm>
            <a:off x="5852160" y="2962656"/>
            <a:ext cx="5760720" cy="2157984"/>
          </a:xfrm>
          <a:prstGeom prst="roundRect">
            <a:avLst>
              <a:gd name="adj" fmla="val 3390"/>
            </a:avLst>
          </a:prstGeom>
          <a:solidFill>
            <a:srgbClr val="1E2F45"/>
          </a:solidFill>
          <a:ln w="12700">
            <a:solidFill>
              <a:srgbClr val="2DC653"/>
            </a:solidFill>
            <a:prstDash val="solid"/>
          </a:ln>
        </p:spPr>
      </p:sp>
      <p:sp>
        <p:nvSpPr>
          <p:cNvPr id="14" name="Text 12"/>
          <p:cNvSpPr/>
          <p:nvPr/>
        </p:nvSpPr>
        <p:spPr>
          <a:xfrm>
            <a:off x="6035040" y="3035808"/>
            <a:ext cx="5394960" cy="347472"/>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Florida as a 'Keystone Region':</a:t>
            </a:r>
            <a:endParaRPr lang="en-US" sz="1300" dirty="0"/>
          </a:p>
        </p:txBody>
      </p:sp>
      <p:sp>
        <p:nvSpPr>
          <p:cNvPr id="15" name="Text 13"/>
          <p:cNvSpPr/>
          <p:nvPr/>
        </p:nvSpPr>
        <p:spPr>
          <a:xfrm>
            <a:off x="6035040" y="3419856"/>
            <a:ext cx="5394960" cy="153619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Florida sticks out into warm ocean water — making it a critical LINK in continent-wide food webs. Birds that travel between Canada and South America almost HAVE to pass through Florida.</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Losing Florida's wetlands wouldn't just affect Florida — it would ripple through ecosystems all the way to Canada.</a:t>
            </a:r>
            <a:endParaRPr lang="en-US" sz="1150" dirty="0"/>
          </a:p>
        </p:txBody>
      </p:sp>
      <p:sp>
        <p:nvSpPr>
          <p:cNvPr id="16" name="Shape 14"/>
          <p:cNvSpPr/>
          <p:nvPr/>
        </p:nvSpPr>
        <p:spPr>
          <a:xfrm>
            <a:off x="365760" y="5248656"/>
            <a:ext cx="11247120" cy="658368"/>
          </a:xfrm>
          <a:prstGeom prst="roundRect">
            <a:avLst>
              <a:gd name="adj" fmla="val 11111"/>
            </a:avLst>
          </a:prstGeom>
          <a:solidFill>
            <a:srgbClr val="162233"/>
          </a:solidFill>
          <a:ln w="12700">
            <a:solidFill>
              <a:srgbClr val="FFB703"/>
            </a:solidFill>
            <a:prstDash val="solid"/>
          </a:ln>
        </p:spPr>
      </p:sp>
      <p:sp>
        <p:nvSpPr>
          <p:cNvPr id="17" name="Text 15"/>
          <p:cNvSpPr/>
          <p:nvPr/>
        </p:nvSpPr>
        <p:spPr>
          <a:xfrm>
            <a:off x="530352" y="5321808"/>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Exit Discussion:</a:t>
            </a:r>
            <a:endParaRPr lang="en-US" sz="1300" dirty="0"/>
          </a:p>
        </p:txBody>
      </p:sp>
      <p:sp>
        <p:nvSpPr>
          <p:cNvPr id="18" name="Text 16"/>
          <p:cNvSpPr/>
          <p:nvPr/>
        </p:nvSpPr>
        <p:spPr>
          <a:xfrm>
            <a:off x="530352" y="5687568"/>
            <a:ext cx="10917936" cy="109728"/>
          </a:xfrm>
          <a:prstGeom prst="rect">
            <a:avLst/>
          </a:prstGeom>
          <a:noFill/>
          <a:ln/>
        </p:spPr>
        <p:txBody>
          <a:bodyPr wrap="square" rtlCol="0" anchor="t"/>
          <a:lstStyle/>
          <a:p>
            <a:pPr algn="l" indent="0" marL="0">
              <a:buNone/>
            </a:pPr>
            <a:r>
              <a:rPr lang="en-US" sz="1100" i="1" dirty="0">
                <a:solidFill>
                  <a:srgbClr val="FFFFFF"/>
                </a:solidFill>
                <a:latin typeface="Calibri" pitchFamily="34" charset="0"/>
                <a:ea typeface="Calibri" pitchFamily="34" charset="-122"/>
                <a:cs typeface="Calibri" pitchFamily="34" charset="-120"/>
              </a:rPr>
              <a:t>Does this change how you think about protecting Florida's natural areas? Use the word interdependence in your answer.</a:t>
            </a:r>
            <a:endParaRPr lang="en-US" sz="11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14.02  ·  Model: Interdependence Across Seasons</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2026-07-13T20:38:07Z</dcterms:created>
  <dcterms:modified xsi:type="dcterms:W3CDTF">2026-07-13T20:38:07Z</dcterms:modified>
</cp:coreProperties>
</file>