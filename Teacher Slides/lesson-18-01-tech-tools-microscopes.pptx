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arc: fingerprint warm-up → vocab → how microscopes work → limitations → CER with image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 have hand lenses, let students look at their own fingertip. Ask: what can a hand lens show that our naked eye cannot?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to each part as you explain. Ask: why do you think we need TWO lenses instead of one?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Exit: In one sentence, explain why knowing a tool's LIMITATIONS is just as important as knowing what it can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85800"/>
            <a:ext cx="8503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Tools: Microscopes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48640" y="208483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tools like microscopes extend what scientists can observe?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487168"/>
            <a:ext cx="4937760" cy="475488"/>
          </a:xfrm>
          <a:prstGeom prst="roundRect">
            <a:avLst>
              <a:gd name="adj" fmla="val 15385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487168"/>
            <a:ext cx="4754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4-PS4-2 | NOS — Science tools extend human senses to enable new observations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9235440" y="411480"/>
            <a:ext cx="2651760" cy="2651760"/>
          </a:xfrm>
          <a:prstGeom prst="ellipse">
            <a:avLst/>
          </a:prstGeom>
          <a:solidFill>
            <a:srgbClr val="162233"/>
          </a:solidFill>
          <a:ln w="25400">
            <a:solidFill>
              <a:srgbClr val="4CC9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0" y="100584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0" dirty="0">
                <a:solidFill>
                  <a:srgbClr val="000000"/>
                </a:solidFill>
              </a:rPr>
              <a:t>🔬</a:t>
            </a:r>
            <a:endParaRPr lang="en-US" sz="6800" dirty="0"/>
          </a:p>
        </p:txBody>
      </p:sp>
      <p:sp>
        <p:nvSpPr>
          <p:cNvPr id="9" name="Shape 7"/>
          <p:cNvSpPr/>
          <p:nvPr/>
        </p:nvSpPr>
        <p:spPr>
          <a:xfrm>
            <a:off x="548640" y="3127248"/>
            <a:ext cx="7406640" cy="1645920"/>
          </a:xfrm>
          <a:prstGeom prst="roundRect">
            <a:avLst>
              <a:gd name="adj" fmla="val 4444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182112"/>
            <a:ext cx="7132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Learning Goals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529584"/>
            <a:ext cx="7040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explain how a microscope extends our ability to observe small things.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3867912"/>
            <a:ext cx="7040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describe the limitations of tools and why limitations matter in science.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4206240"/>
            <a:ext cx="7040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use evidence from microscope images to make a scientific claim.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956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need: Science notebook   pencil   hand lens (optional)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6" name="Text 14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18-01  ·  Tech Tools: Microscopes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Warm-Up: Look Closely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5029200" cy="5029200"/>
          </a:xfrm>
          <a:prstGeom prst="roundRect">
            <a:avLst>
              <a:gd name="adj" fmla="val 1455"/>
            </a:avLst>
          </a:prstGeom>
          <a:solidFill>
            <a:srgbClr val="0A1520"/>
          </a:solidFill>
          <a:ln w="19050">
            <a:solidFill>
              <a:srgbClr val="4CC9F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261872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554480"/>
            <a:ext cx="4809744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Suggested search: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"human fingerprint close up macro photograph ridges"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577900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photograph of a fingerprint showing ridge detail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577840" y="713232"/>
            <a:ext cx="6217920" cy="5029200"/>
          </a:xfrm>
          <a:prstGeom prst="roundRect">
            <a:avLst>
              <a:gd name="adj" fmla="val 1455"/>
            </a:avLst>
          </a:prstGeom>
          <a:solidFill>
            <a:srgbClr val="1E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0" y="777240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see?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760720" y="1188720"/>
            <a:ext cx="5943600" cy="4434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this image carefully. In your notebook: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1. Write 3 observations (what you SEE)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2. Write 1 question you have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predict: what tool was used to capture this image? How do you know?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prediction: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predict this image was made using ___ because I can see ___"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4" name="Text 12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18-01  ·  Tech Tools: Microscopes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Question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1247120" cy="1371600"/>
          </a:xfrm>
          <a:prstGeom prst="roundRect">
            <a:avLst>
              <a:gd name="adj" fmla="val 5333"/>
            </a:avLst>
          </a:prstGeom>
          <a:solidFill>
            <a:srgbClr val="162233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04672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science tools extend what we can observe — and why do their limitations matter?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1E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48716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prediction: "I think tools matter in science because ___"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0" name="Text 8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18-01  ·  Tech Tools: Microscopes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Vocabulary: Microscopic Tools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4CC9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749808"/>
            <a:ext cx="3657600" cy="347472"/>
          </a:xfrm>
          <a:prstGeom prst="roundRect">
            <a:avLst>
              <a:gd name="adj" fmla="val 21053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77724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microscope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" y="1152144"/>
            <a:ext cx="343814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that uses lenses to magnify objects too small for the naked eye to see clearly.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069080" y="749808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F4736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69080" y="749808"/>
            <a:ext cx="3657600" cy="347472"/>
          </a:xfrm>
          <a:prstGeom prst="roundRect">
            <a:avLst>
              <a:gd name="adj" fmla="val 21053"/>
            </a:avLst>
          </a:prstGeom>
          <a:solidFill>
            <a:srgbClr val="F4736A"/>
          </a:solidFill>
          <a:ln w="12700">
            <a:solidFill>
              <a:srgbClr val="F473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60520" y="77724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lens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78808" y="1152144"/>
            <a:ext cx="343814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magnifying glass — a single curved lens that makes objects appear larger.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863840" y="749808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FFB70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63840" y="749808"/>
            <a:ext cx="3657600" cy="347472"/>
          </a:xfrm>
          <a:prstGeom prst="roundRect">
            <a:avLst>
              <a:gd name="adj" fmla="val 21053"/>
            </a:avLst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0" y="77724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magnify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973568" y="1152144"/>
            <a:ext cx="343814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 something appear larger than it really is, using a lens or tool.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304288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2DC6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304288"/>
            <a:ext cx="3657600" cy="347472"/>
          </a:xfrm>
          <a:prstGeom prst="roundRect">
            <a:avLst>
              <a:gd name="adj" fmla="val 21053"/>
            </a:avLst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33172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4048" y="2706624"/>
            <a:ext cx="343814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a tool cannot do well — every tool has limits on what it can show.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069080" y="2304288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0096C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69080" y="2304288"/>
            <a:ext cx="3657600" cy="347472"/>
          </a:xfrm>
          <a:prstGeom prst="roundRect">
            <a:avLst>
              <a:gd name="adj" fmla="val 21053"/>
            </a:avLst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60520" y="233172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78808" y="2706624"/>
            <a:ext cx="343814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use your senses or tools to gather information about something.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863840" y="2304288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F4736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63840" y="2304288"/>
            <a:ext cx="3657600" cy="347472"/>
          </a:xfrm>
          <a:prstGeom prst="roundRect">
            <a:avLst>
              <a:gd name="adj" fmla="val 21053"/>
            </a:avLst>
          </a:prstGeom>
          <a:solidFill>
            <a:srgbClr val="F4736A"/>
          </a:solidFill>
          <a:ln w="12700">
            <a:solidFill>
              <a:srgbClr val="F4736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55280" y="233172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973568" y="2706624"/>
            <a:ext cx="343814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part of something that provides more precise information.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0" name="Text 28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18-01  ·  Tech Tools: Microscopes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Microscopes Work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5029200" cy="5303520"/>
          </a:xfrm>
          <a:prstGeom prst="roundRect">
            <a:avLst>
              <a:gd name="adj" fmla="val 1455"/>
            </a:avLst>
          </a:prstGeom>
          <a:solidFill>
            <a:srgbClr val="0A1520"/>
          </a:solidFill>
          <a:ln w="19050">
            <a:solidFill>
              <a:srgbClr val="4CC9F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261872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554480"/>
            <a:ext cx="4809744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Suggested search: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"compound light microscope diagram labeled parts objective eyepiece"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605332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diagram of a compound microscope showing key parts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577840" y="713232"/>
            <a:ext cx="6217920" cy="5303520"/>
          </a:xfrm>
          <a:prstGeom prst="roundRect">
            <a:avLst>
              <a:gd name="adj" fmla="val 1379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0" y="777240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Ideas: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760720" y="1207008"/>
            <a:ext cx="5943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Uses TWO lenses — an objective (near the specimen) and an eyepiece (at the top)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760720" y="2121408"/>
            <a:ext cx="5943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Light passes THROUGH the specimen to create an image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760720" y="3035808"/>
            <a:ext cx="5943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Can magnify 40x to 400x or more — making tiny things visible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760720" y="3950208"/>
            <a:ext cx="5943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Scientists use them to observe cells, bacteria, crystals, insects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760720" y="4864608"/>
            <a:ext cx="5943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Must be used carefully — too much light or wrong focus = blurry image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8" name="Text 16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18-01  ·  Tech Tools: Microscopes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Microscopes Reveal?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3657600" cy="4114800"/>
          </a:xfrm>
          <a:prstGeom prst="roundRect">
            <a:avLst>
              <a:gd name="adj" fmla="val 2000"/>
            </a:avLst>
          </a:prstGeom>
          <a:solidFill>
            <a:srgbClr val="0A1520"/>
          </a:solidFill>
          <a:ln w="19050">
            <a:solidFill>
              <a:srgbClr val="4CC9F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859536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591056"/>
            <a:ext cx="3438144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Suggested search: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"plant cell microscope image chloroplasts labeled 400x"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490118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leaf cells at 400x magnification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49834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Cells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97680" y="749808"/>
            <a:ext cx="3657600" cy="4114800"/>
          </a:xfrm>
          <a:prstGeom prst="roundRect">
            <a:avLst>
              <a:gd name="adj" fmla="val 2000"/>
            </a:avLst>
          </a:prstGeom>
          <a:solidFill>
            <a:srgbClr val="0A1520"/>
          </a:solidFill>
          <a:ln w="19050">
            <a:solidFill>
              <a:srgbClr val="4CC9F0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4389120" y="859536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389120" y="129844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407408" y="1591056"/>
            <a:ext cx="3438144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Suggested search: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"table salt sodium chloride microscope crystal structure close up"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297680" y="490118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 crystals under a light microscope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297680" y="49834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 Crystals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229600" y="749808"/>
            <a:ext cx="3657600" cy="4114800"/>
          </a:xfrm>
          <a:prstGeom prst="roundRect">
            <a:avLst>
              <a:gd name="adj" fmla="val 2000"/>
            </a:avLst>
          </a:prstGeom>
          <a:solidFill>
            <a:srgbClr val="0A1520"/>
          </a:solidFill>
          <a:ln w="19050">
            <a:solidFill>
              <a:srgbClr val="4CC9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8321040" y="859536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321040" y="129844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339328" y="1591056"/>
            <a:ext cx="3438144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Suggested search: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"butterfly wing scales microscope photo iridescent"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229600" y="490118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Butterfly wing scales — microscope view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29600" y="49834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Insect Wing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5504688"/>
            <a:ext cx="11430000" cy="685800"/>
          </a:xfrm>
          <a:prstGeom prst="roundRect">
            <a:avLst>
              <a:gd name="adj" fmla="val 10667"/>
            </a:avLst>
          </a:prstGeom>
          <a:solidFill>
            <a:srgbClr val="1E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5559552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notebook: pick ONE image and write — what detail can you see that you could NOT see with your naked eye? Why does that detail matter?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26" name="Text 24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18-01  ·  Tech Tools: Microscopes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Has Limitations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1430000" cy="658368"/>
          </a:xfrm>
          <a:prstGeom prst="roundRect">
            <a:avLst>
              <a:gd name="adj" fmla="val 11111"/>
            </a:avLst>
          </a:prstGeom>
          <a:solidFill>
            <a:srgbClr val="162233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04672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limitation is something a tool CANNOT do well. Knowing limitations helps scientists choose the right tool.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3749040" cy="4572000"/>
          </a:xfrm>
          <a:prstGeom prst="roundRect">
            <a:avLst>
              <a:gd name="adj" fmla="val 1951"/>
            </a:avLst>
          </a:prstGeom>
          <a:solidFill>
            <a:srgbClr val="1E2F45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7276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Lens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029968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Portable, easy to use, no power needed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374904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2x-10x magnification — can't see cells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0" y="1508760"/>
            <a:ext cx="3749040" cy="4572000"/>
          </a:xfrm>
          <a:prstGeom prst="roundRect">
            <a:avLst>
              <a:gd name="adj" fmla="val 1951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0" y="157276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Microscope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34840" y="2029968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see cells (40x-400x), shows color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434840" y="374904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see viruses or detailed cell structures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0" y="1508760"/>
            <a:ext cx="3749040" cy="4572000"/>
          </a:xfrm>
          <a:prstGeom prst="roundRect">
            <a:avLst>
              <a:gd name="adj" fmla="val 1951"/>
            </a:avLst>
          </a:prstGeom>
          <a:solidFill>
            <a:srgbClr val="1E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157276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 Microscope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66760" y="2029968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2,000,000x — can see viruses and atoms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366760" y="374904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Massive, expensive, cannot show living things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20" name="Text 18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18-01  ·  Tech Tools: Microscopes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Discussion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1430000" cy="2011680"/>
          </a:xfrm>
          <a:prstGeom prst="roundRect">
            <a:avLst>
              <a:gd name="adj" fmla="val 3636"/>
            </a:avLst>
          </a:prstGeom>
          <a:solidFill>
            <a:srgbClr val="16223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822960"/>
            <a:ext cx="11100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Question: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0352" y="1188720"/>
            <a:ext cx="11100816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scientist wants to study the structure of a flu virus to understand how it infects cells. Which microscope should she use? Why? What are the tradeoffs?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Justify your answer using evidence about tool limitations.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880360"/>
            <a:ext cx="11430000" cy="1325880"/>
          </a:xfrm>
          <a:prstGeom prst="roundRect">
            <a:avLst>
              <a:gd name="adj" fmla="val 5517"/>
            </a:avLst>
          </a:prstGeom>
          <a:solidFill>
            <a:srgbClr val="1E2F45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944368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Argumentation Starters: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31012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"She should use ___ because the evidence shows it can ___."  "The limitation of a light microscope is ___, which means it cannot ___."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2" name="Text 10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18-01  ·  Tech Tools: Microscopes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 Stage 2: Claim + Evidence — Tool Choice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5394960" cy="5349240"/>
          </a:xfrm>
          <a:prstGeom prst="roundRect">
            <a:avLst>
              <a:gd name="adj" fmla="val 1709"/>
            </a:avLst>
          </a:prstGeom>
          <a:solidFill>
            <a:srgbClr val="0A3D8F"/>
          </a:solidFill>
          <a:ln w="19050">
            <a:solidFill>
              <a:srgbClr val="1A5FB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749808"/>
            <a:ext cx="5394960" cy="347472"/>
          </a:xfrm>
          <a:prstGeom prst="rect">
            <a:avLst/>
          </a:prstGeom>
          <a:solidFill>
            <a:srgbClr val="1A5FBD"/>
          </a:solidFill>
          <a:ln w="12700">
            <a:solidFill>
              <a:srgbClr val="1A5F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768096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CLAIM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152144"/>
            <a:ext cx="5120640" cy="4855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Write: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claim that [tool] is the best choice for observing [object] because ___."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claim that microscopes extend scientists' ability to observe by ___"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943600" y="749808"/>
            <a:ext cx="5852160" cy="5349240"/>
          </a:xfrm>
          <a:prstGeom prst="roundRect">
            <a:avLst>
              <a:gd name="adj" fmla="val 1709"/>
            </a:avLst>
          </a:prstGeom>
          <a:solidFill>
            <a:srgbClr val="145C35"/>
          </a:solidFill>
          <a:ln w="19050">
            <a:solidFill>
              <a:srgbClr val="228B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0" y="749808"/>
            <a:ext cx="5852160" cy="347472"/>
          </a:xfrm>
          <a:prstGeom prst="rect">
            <a:avLst/>
          </a:prstGeom>
          <a:solidFill>
            <a:srgbClr val="228B50"/>
          </a:solidFill>
          <a:ln w="12700">
            <a:solidFill>
              <a:srgbClr val="228B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768096"/>
            <a:ext cx="5669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EVIDENCE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80760" y="1152144"/>
            <a:ext cx="5577840" cy="4855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2 pieces of evidence: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"The data shows that [tool] can magnify up to ___..."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"The limitation of [tool] is ___, which means ___"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specific — include magnification levels or specific capabilities.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4" name="Text 12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18-01  ·  Tech Tools: Microscopes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CER: Reasoning Coming Next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3566160" cy="5349240"/>
          </a:xfrm>
          <a:prstGeom prst="roundRect">
            <a:avLst>
              <a:gd name="adj" fmla="val 2564"/>
            </a:avLst>
          </a:prstGeom>
          <a:solidFill>
            <a:srgbClr val="0A3D8F"/>
          </a:solidFill>
          <a:ln w="19050">
            <a:solidFill>
              <a:srgbClr val="1A5FB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749808"/>
            <a:ext cx="3566160" cy="347472"/>
          </a:xfrm>
          <a:prstGeom prst="rect">
            <a:avLst/>
          </a:prstGeom>
          <a:solidFill>
            <a:srgbClr val="1A5FBD"/>
          </a:solidFill>
          <a:ln w="12700">
            <a:solidFill>
              <a:srgbClr val="1A5F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768096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CLAIM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152144"/>
            <a:ext cx="3291840" cy="4855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claim that [tool] is best for [task] because ___.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14800" y="749808"/>
            <a:ext cx="3566160" cy="5349240"/>
          </a:xfrm>
          <a:prstGeom prst="roundRect">
            <a:avLst>
              <a:gd name="adj" fmla="val 2564"/>
            </a:avLst>
          </a:prstGeom>
          <a:solidFill>
            <a:srgbClr val="145C35"/>
          </a:solidFill>
          <a:ln w="19050">
            <a:solidFill>
              <a:srgbClr val="228B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0" y="749808"/>
            <a:ext cx="3566160" cy="347472"/>
          </a:xfrm>
          <a:prstGeom prst="rect">
            <a:avLst/>
          </a:prstGeom>
          <a:solidFill>
            <a:srgbClr val="228B50"/>
          </a:solidFill>
          <a:ln w="12700">
            <a:solidFill>
              <a:srgbClr val="228B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768096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EVIDENCE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51960" y="1152144"/>
            <a:ext cx="3291840" cy="4855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from the tool comparison chart...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863840" y="749808"/>
            <a:ext cx="3749040" cy="5349240"/>
          </a:xfrm>
          <a:prstGeom prst="roundRect">
            <a:avLst>
              <a:gd name="adj" fmla="val 2439"/>
            </a:avLst>
          </a:prstGeom>
          <a:solidFill>
            <a:srgbClr val="1A1A2A"/>
          </a:solidFill>
          <a:ln w="19050">
            <a:solidFill>
              <a:srgbClr val="3A3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0" y="841248"/>
            <a:ext cx="3566160" cy="5166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REASONING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3A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next!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6" name="Text 14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18-01  ·  Tech Tools: Microscopes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for Understanding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1430000" cy="2697480"/>
          </a:xfrm>
          <a:prstGeom prst="roundRect">
            <a:avLst>
              <a:gd name="adj" fmla="val 2712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2296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 student wants to observe the cells inside a leaf. Which tool is BEST?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Hand lens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0" y="1371600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Light microscope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31520" y="1847088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Telescope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0" y="1847088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Ruler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601200" y="30175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B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3630168"/>
            <a:ext cx="11430000" cy="2697480"/>
          </a:xfrm>
          <a:prstGeom prst="roundRect">
            <a:avLst>
              <a:gd name="adj" fmla="val 2712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0332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 limitation of a light microscope is that it: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31520" y="4251960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Cannot magnify objects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00800" y="4251960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Requires electricity to run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31520" y="4727448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Cannot show viruses or atoms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00800" y="4727448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Only works outdoors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601200" y="58978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C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20" name="Text 18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18-01  ·  Tech Tools: Microscopes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 Reflect + Closing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1247120" cy="1417320"/>
          </a:xfrm>
          <a:prstGeom prst="roundRect">
            <a:avLst>
              <a:gd name="adj" fmla="val 5161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04672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Essential Question Response — Write in your science notebook: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170432"/>
            <a:ext cx="1097280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do science tools extend what we can observe — and why do their limitations matter?"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2–3 sentences using vocab words from today.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304288"/>
            <a:ext cx="7315200" cy="2560320"/>
          </a:xfrm>
          <a:prstGeom prst="roundRect">
            <a:avLst>
              <a:gd name="adj" fmla="val 2857"/>
            </a:avLst>
          </a:prstGeom>
          <a:solidFill>
            <a:srgbClr val="1E2F45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359152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What to Turn In: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743200"/>
            <a:ext cx="7040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Warm-up observations + evidence-based prediction (notebook)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090672"/>
            <a:ext cx="7040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Tool limitation comparison notes (notebook)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438144"/>
            <a:ext cx="7040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CER Stage 2: Claim + Evidence for tool choice (notebook)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863840" y="2304288"/>
            <a:ext cx="3931920" cy="2560320"/>
          </a:xfrm>
          <a:prstGeom prst="roundRect">
            <a:avLst>
              <a:gd name="adj" fmla="val 2857"/>
            </a:avLst>
          </a:prstGeom>
          <a:solidFill>
            <a:srgbClr val="1A1A3A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01000" y="235915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🔜  Coming Next: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01000" y="274320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18-02: Tech Tools — Telescopes and seeing the distant universe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5047488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5120640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work today, scientists! See you next time.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9" name="Text 17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18-01  ·  Tech Tools: Microscopes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2026-07-14T00:26:52Z</dcterms:created>
  <dcterms:modified xsi:type="dcterms:W3CDTF">2026-07-14T00:26:52Z</dcterms:modified>
</cp:coreProperties>
</file>