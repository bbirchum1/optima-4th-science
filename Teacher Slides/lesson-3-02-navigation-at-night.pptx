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3.02 — CER scaffold is fully removed this lesson. Students get blank lines only. They've practiced 4 times! Use evidence frames as needed but push toward independence. Stars are a new topic; moon phases connect directly to Lesson 3.01.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 minutes to draw. Ask 2-3 students to share. Write ideas on board. Don't confirm yet. Ask: 'What makes you say the stars would help?' / 'Do you know the name of any star that stays in one place?' / 'Does anyone have a different idea about what you'd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predictions on board. Return at end. Ask: 'What makes a star useful for navigation vs. not useful?' / 'Why might a star that DOESN'T move be more valuable than one that does?' Polaris light-years fact: that light is from 1592 — Shakespeare was alive when that light started its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previous learning. Ask: 'How is a star pattern useful for navigation — like the sun pattern we studied?' / 'Why would a star that BARELY MOVES be better than one that moves across the sky?' Ask: 'Does anyone already know where Polaris is in the 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Moon phase prediction connects to Lesson 3.01. Ask: 'If you saw a waxing crescent moon and you knew the cycle was 29.5 days, what could you calculate?' (About 4 days since new moon.) / 'How many moon cycles could help a sailor know they'd been at sea for 2 months?' Ask: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Lesson 2.01: Earth's rotation is the CAUSE of stars appearing to move. Ask: 'Which star pattern gives the strongest evidence for finding north? What makes it reliable?' / 'Why can early explorers' sky observations be correct even though they didn't know Earth was spinning?' / 'Does anyone have different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PREDICTION first. Then reveal diagram. Ask: 'Why do sailors need to know TWO different constellations that point to Polaris (Big Dipper AND Cassiopeia) instead of just one?' (Answer: in winter, Big Dipper is lower on horizon — you need a backup.) Ask: 'What would an explorer in the Southern Hemisphere use instead of Polaris?'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three tools do you think was most important?' / 'Why is using all three better than just one?' / 'For the Southern Hemisphere question: Southern Cross points toward the South Celestial Pole — same idea as Polaris but for the south.' Ask: 'What evidence supports that the Southern Cross works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PREDICTION first (about 15 days from new to full moon). Then reveal timeline. Ask: 'Does your prediction match?' / 'If a sailor knows the cycle is 29.5 days and they see a third-quarter moon, how long until the next new moon?' (About 7 days.) / 'How many full moons would a 3-month voyage have?' Scientific argumentation: 'What evidence from the diagram supports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Ask: 'Navigating by stars only works when the sky is clear. What do you think sailors did when clouds blocked the stars for several nights in a row?' (Dead reckoning: track direction + speed + time.) / 'Which of these 4 steps would you find hardest?' / 'What would you need to practice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argumentation for all 3 questions: 'What evidence supports that?' / 'Does anyone have different evidence?' / 'What would change your mind?' Q1: Polaris lines up with Earth's rotation axis. Q2: Southern Cross points toward South Celestial Pole — same mechanism, different hemisphere. Q3: redundancy — if one method is blocked (clouds, horizon), others still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time without sentence starters. Give 4-5 minutes for students to write independently. Then share out. Ask: 'How is your claim specific — does it name a particular star or pattern?' / 'What evidence from the lesson did you use?' / 'How does your reasoning connect the evidence to your claim?' Celebrate: 'You just did CER independently — that's scientific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is Polynesian wayfinding considered one of the greatest achievements in human history?' / 'How does memorizing 200 stars compare to what you would have to do?' / 'The Southern Cross flags: what does it mean that a constellation became a national symbol?' Connect to diverse navigation traditions from world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Thumbs up/down before reveal. Q1: Polaris lines up with Earth's rotation axis — connect back to Lesson 2.01. Q2: Have a student draw the Big Dipper on the board — is that a constellation? Q3: connect back to Lesson 3.01 lunar cycle. Ask: 'Does anyone want to revise their answer after hearing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requirements. Every part was practiced: Part A = Slides 6+7, Part B = Slides 8+10, Part C = Slides 7+9, CER = Slide 12. Remind students the CER has NO hints — they're ready! Submit photo, typed, or video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board predictions. Celebrate accurate ones! Ask: 'Compare your warm-up night sky sketch to your star map assignment. What changed?' Ask 2-3 students to share their CER responses. Celebrate: 'You just navigated an entire lesson using only evidence and reasoning. That's what real scientists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Navigation at Night: Reading the Sky</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Q1 · Unit 3 · Earth &amp; Space Science</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1-ESS1-1 — Patterns of the Sun, Moon &amp; Stars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identify key stars and constellations that explorers used to navigate at night.</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how the North Star (Polaris) helps travelers find which direction is north.</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describe how the moon's changing phases helped early explorers track time and direction.</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ENGAGE — Sailing Across an Ocean with No GPS, No Phone, No Map</a:t>
            </a:r>
            <a:endParaRPr lang="en-US" sz="1600" dirty="0"/>
          </a:p>
        </p:txBody>
      </p:sp>
      <p:sp>
        <p:nvSpPr>
          <p:cNvPr id="5" name="Shape 3"/>
          <p:cNvSpPr/>
          <p:nvPr/>
        </p:nvSpPr>
        <p:spPr>
          <a:xfrm>
            <a:off x="365760" y="685800"/>
            <a:ext cx="11430000" cy="347472"/>
          </a:xfrm>
          <a:prstGeom prst="roundRect">
            <a:avLst>
              <a:gd name="adj" fmla="val 23684"/>
            </a:avLst>
          </a:prstGeom>
          <a:solidFill>
            <a:srgbClr val="E09200"/>
          </a:solidFill>
          <a:ln w="19050">
            <a:solidFill>
              <a:srgbClr val="FFB703"/>
            </a:solidFill>
            <a:prstDash val="solid"/>
          </a:ln>
        </p:spPr>
      </p:sp>
      <p:sp>
        <p:nvSpPr>
          <p:cNvPr id="6" name="Text 4"/>
          <p:cNvSpPr/>
          <p:nvPr/>
        </p:nvSpPr>
        <p:spPr>
          <a:xfrm>
            <a:off x="365760" y="685800"/>
            <a:ext cx="1143000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7" name="Shape 5"/>
          <p:cNvSpPr/>
          <p:nvPr/>
        </p:nvSpPr>
        <p:spPr>
          <a:xfrm>
            <a:off x="365760" y="1143000"/>
            <a:ext cx="5303520" cy="4114800"/>
          </a:xfrm>
          <a:prstGeom prst="roundRect">
            <a:avLst>
              <a:gd name="adj" fmla="val 1778"/>
            </a:avLst>
          </a:prstGeom>
          <a:solidFill>
            <a:srgbClr val="0A1520"/>
          </a:solidFill>
          <a:ln w="19050">
            <a:solidFill>
              <a:srgbClr val="4CC9F0"/>
            </a:solidFill>
            <a:prstDash val="dash"/>
          </a:ln>
        </p:spPr>
      </p:sp>
      <p:sp>
        <p:nvSpPr>
          <p:cNvPr id="8" name="Text 6"/>
          <p:cNvSpPr/>
          <p:nvPr/>
        </p:nvSpPr>
        <p:spPr>
          <a:xfrm>
            <a:off x="457200" y="1252728"/>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1691640"/>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1984248"/>
            <a:ext cx="5084064" cy="3063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"night sky stars Milky Way galaxy ocean horizon sailing ship stars navigation"</a:t>
            </a:r>
            <a:endParaRPr lang="en-US" sz="950" dirty="0"/>
          </a:p>
        </p:txBody>
      </p:sp>
      <p:sp>
        <p:nvSpPr>
          <p:cNvPr id="11" name="Text 9"/>
          <p:cNvSpPr/>
          <p:nvPr/>
        </p:nvSpPr>
        <p:spPr>
          <a:xfrm>
            <a:off x="365760" y="5294376"/>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 clear night sky over the ocean — the navigator's only map</a:t>
            </a:r>
            <a:endParaRPr lang="en-US" sz="900" dirty="0"/>
          </a:p>
        </p:txBody>
      </p:sp>
      <p:sp>
        <p:nvSpPr>
          <p:cNvPr id="12" name="Shape 10"/>
          <p:cNvSpPr/>
          <p:nvPr/>
        </p:nvSpPr>
        <p:spPr>
          <a:xfrm>
            <a:off x="5943600" y="1143000"/>
            <a:ext cx="5943600" cy="4114800"/>
          </a:xfrm>
          <a:prstGeom prst="roundRect">
            <a:avLst>
              <a:gd name="adj" fmla="val 1778"/>
            </a:avLst>
          </a:prstGeom>
          <a:solidFill>
            <a:srgbClr val="1E2F45"/>
          </a:solidFill>
          <a:ln w="12700">
            <a:solidFill>
              <a:srgbClr val="FFB703"/>
            </a:solidFill>
            <a:prstDash val="solid"/>
          </a:ln>
        </p:spPr>
      </p:sp>
      <p:sp>
        <p:nvSpPr>
          <p:cNvPr id="13" name="Text 11"/>
          <p:cNvSpPr/>
          <p:nvPr/>
        </p:nvSpPr>
        <p:spPr>
          <a:xfrm>
            <a:off x="6126480" y="1234440"/>
            <a:ext cx="5577840" cy="347472"/>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Essential Question:</a:t>
            </a:r>
            <a:endParaRPr lang="en-US" sz="1100" dirty="0"/>
          </a:p>
        </p:txBody>
      </p:sp>
      <p:sp>
        <p:nvSpPr>
          <p:cNvPr id="14" name="Text 12"/>
          <p:cNvSpPr/>
          <p:nvPr/>
        </p:nvSpPr>
        <p:spPr>
          <a:xfrm>
            <a:off x="6126480" y="1609344"/>
            <a:ext cx="5577840" cy="150876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"Long before GPS or phones existed, brave explorers sailed across entire oceans. How did they know where they were going — and how did the sky above them help?"</a:t>
            </a:r>
            <a:endParaRPr lang="en-US" sz="1200" dirty="0"/>
          </a:p>
        </p:txBody>
      </p:sp>
      <p:sp>
        <p:nvSpPr>
          <p:cNvPr id="15" name="Text 13"/>
          <p:cNvSpPr/>
          <p:nvPr/>
        </p:nvSpPr>
        <p:spPr>
          <a:xfrm>
            <a:off x="6126480" y="3154680"/>
            <a:ext cx="5577840" cy="19659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In your science notebook: Draw the night sky as best you can — stars, moon, anything you know. What would you look for if you were lost at sea with no technology?</a:t>
            </a:r>
            <a:endParaRPr lang="en-US" sz="11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ENGAGE — Your Prediction</a:t>
            </a:r>
            <a:endParaRPr lang="en-US" sz="1600" dirty="0"/>
          </a:p>
        </p:txBody>
      </p:sp>
      <p:sp>
        <p:nvSpPr>
          <p:cNvPr id="5" name="Shape 3"/>
          <p:cNvSpPr/>
          <p:nvPr/>
        </p:nvSpPr>
        <p:spPr>
          <a:xfrm>
            <a:off x="365760" y="713232"/>
            <a:ext cx="11430000" cy="1371600"/>
          </a:xfrm>
          <a:prstGeom prst="roundRect">
            <a:avLst>
              <a:gd name="adj" fmla="val 5333"/>
            </a:avLst>
          </a:prstGeom>
          <a:solidFill>
            <a:srgbClr val="1E2F45"/>
          </a:solidFill>
          <a:ln w="12700">
            <a:solidFill>
              <a:srgbClr val="FFB703"/>
            </a:solidFill>
            <a:prstDash val="solid"/>
          </a:ln>
        </p:spPr>
      </p:sp>
      <p:sp>
        <p:nvSpPr>
          <p:cNvPr id="6" name="Text 4"/>
          <p:cNvSpPr/>
          <p:nvPr/>
        </p:nvSpPr>
        <p:spPr>
          <a:xfrm>
            <a:off x="548640" y="777240"/>
            <a:ext cx="10972800" cy="320040"/>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Essential Question:</a:t>
            </a:r>
            <a:endParaRPr lang="en-US" sz="1100" dirty="0"/>
          </a:p>
        </p:txBody>
      </p:sp>
      <p:sp>
        <p:nvSpPr>
          <p:cNvPr id="7" name="Text 5"/>
          <p:cNvSpPr/>
          <p:nvPr/>
        </p:nvSpPr>
        <p:spPr>
          <a:xfrm>
            <a:off x="548640" y="1115568"/>
            <a:ext cx="10972800" cy="82296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"Long before GPS or phones existed, brave explorers sailed across entire oceans. How did they know where they were going — and how did the sky above them help?"</a:t>
            </a:r>
            <a:endParaRPr lang="en-US" sz="1200" dirty="0"/>
          </a:p>
        </p:txBody>
      </p:sp>
      <p:sp>
        <p:nvSpPr>
          <p:cNvPr id="8" name="Shape 6"/>
          <p:cNvSpPr/>
          <p:nvPr/>
        </p:nvSpPr>
        <p:spPr>
          <a:xfrm>
            <a:off x="365760" y="2212848"/>
            <a:ext cx="7132320" cy="3291840"/>
          </a:xfrm>
          <a:prstGeom prst="roundRect">
            <a:avLst>
              <a:gd name="adj" fmla="val 2222"/>
            </a:avLst>
          </a:prstGeom>
          <a:solidFill>
            <a:srgbClr val="132040"/>
          </a:solidFill>
          <a:ln w="12700">
            <a:solidFill>
              <a:srgbClr val="4CC9F0"/>
            </a:solidFill>
            <a:prstDash val="solid"/>
          </a:ln>
        </p:spPr>
      </p:sp>
      <p:sp>
        <p:nvSpPr>
          <p:cNvPr id="9" name="Text 7"/>
          <p:cNvSpPr/>
          <p:nvPr/>
        </p:nvSpPr>
        <p:spPr>
          <a:xfrm>
            <a:off x="548640" y="2304288"/>
            <a:ext cx="676656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Make an Evidence-Based Prediction</a:t>
            </a:r>
            <a:endParaRPr lang="en-US" sz="1300" dirty="0"/>
          </a:p>
        </p:txBody>
      </p:sp>
      <p:sp>
        <p:nvSpPr>
          <p:cNvPr id="10" name="Text 8"/>
          <p:cNvSpPr/>
          <p:nvPr/>
        </p:nvSpPr>
        <p:spPr>
          <a:xfrm>
            <a:off x="548640" y="2679192"/>
            <a:ext cx="6766560" cy="269748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Write in your notebook:</a:t>
            </a:r>
            <a:endParaRPr lang="en-US" sz="1250" dirty="0"/>
          </a:p>
          <a:p>
            <a:pPr indent="0" marL="0">
              <a:buNone/>
            </a:pPr>
            <a:endParaRPr lang="en-US" sz="1250" dirty="0"/>
          </a:p>
          <a:p>
            <a:pPr indent="0" marL="0">
              <a:buNone/>
            </a:pPr>
            <a:r>
              <a:rPr lang="en-US" sz="1250" i="1" dirty="0">
                <a:solidFill>
                  <a:srgbClr val="FFFFFF"/>
                </a:solidFill>
                <a:latin typeface="Calibri" pitchFamily="34" charset="0"/>
                <a:ea typeface="Calibri" pitchFamily="34" charset="-122"/>
                <a:cs typeface="Calibri" pitchFamily="34" charset="-120"/>
              </a:rPr>
              <a:t>"I predict that navigators used stars by ___.</a:t>
            </a:r>
            <a:endParaRPr lang="en-US" sz="1250" dirty="0"/>
          </a:p>
          <a:p>
            <a:pPr indent="0" marL="0">
              <a:buNone/>
            </a:pPr>
            <a:endParaRPr lang="en-US" sz="1250" dirty="0"/>
          </a:p>
          <a:p>
            <a:pPr indent="0" marL="0">
              <a:buNone/>
            </a:pPr>
            <a:r>
              <a:rPr lang="en-US" sz="1250" i="1" dirty="0">
                <a:solidFill>
                  <a:srgbClr val="FFFFFF"/>
                </a:solidFill>
                <a:latin typeface="Calibri" pitchFamily="34" charset="0"/>
                <a:ea typeface="Calibri" pitchFamily="34" charset="-122"/>
                <a:cs typeface="Calibri" pitchFamily="34" charset="-120"/>
              </a:rPr>
              <a:t>I predict that Polaris (the North Star) is useful because ___."</a:t>
            </a:r>
            <a:endParaRPr lang="en-US" sz="1250" dirty="0"/>
          </a:p>
        </p:txBody>
      </p:sp>
      <p:sp>
        <p:nvSpPr>
          <p:cNvPr id="11" name="Shape 9"/>
          <p:cNvSpPr/>
          <p:nvPr/>
        </p:nvSpPr>
        <p:spPr>
          <a:xfrm>
            <a:off x="7680960" y="2212848"/>
            <a:ext cx="4206240" cy="3291840"/>
          </a:xfrm>
          <a:prstGeom prst="roundRect">
            <a:avLst>
              <a:gd name="adj" fmla="val 2222"/>
            </a:avLst>
          </a:prstGeom>
          <a:solidFill>
            <a:srgbClr val="1E2F45"/>
          </a:solidFill>
          <a:ln w="12700">
            <a:solidFill>
              <a:srgbClr val="2DC653"/>
            </a:solidFill>
            <a:prstDash val="solid"/>
          </a:ln>
        </p:spPr>
      </p:sp>
      <p:sp>
        <p:nvSpPr>
          <p:cNvPr id="12" name="Text 10"/>
          <p:cNvSpPr/>
          <p:nvPr/>
        </p:nvSpPr>
        <p:spPr>
          <a:xfrm>
            <a:off x="7863840" y="2304288"/>
            <a:ext cx="3840480" cy="347472"/>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Mind-Blowing Fact!</a:t>
            </a:r>
            <a:endParaRPr lang="en-US" sz="1100" dirty="0"/>
          </a:p>
        </p:txBody>
      </p:sp>
      <p:sp>
        <p:nvSpPr>
          <p:cNvPr id="13" name="Text 11"/>
          <p:cNvSpPr/>
          <p:nvPr/>
        </p:nvSpPr>
        <p:spPr>
          <a:xfrm>
            <a:off x="7863840" y="2670048"/>
            <a:ext cx="3840480" cy="2743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 North Star, Polaris, is about 433 light-years away from Earth. The light you see when you look at it tonight actually LEFT that star 433 years ago! Yet sailors trusted it to guide ships across entire oceans.</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VOCABULARY — Night Sky Words: Set 1</a:t>
            </a:r>
            <a:endParaRPr lang="en-US" sz="1600" dirty="0"/>
          </a:p>
        </p:txBody>
      </p:sp>
      <p:sp>
        <p:nvSpPr>
          <p:cNvPr id="5" name="Shape 3"/>
          <p:cNvSpPr/>
          <p:nvPr/>
        </p:nvSpPr>
        <p:spPr>
          <a:xfrm>
            <a:off x="365760" y="713232"/>
            <a:ext cx="35661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13232"/>
            <a:ext cx="35661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4066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Navigate</a:t>
            </a:r>
            <a:endParaRPr lang="en-US" sz="1200" dirty="0"/>
          </a:p>
        </p:txBody>
      </p:sp>
      <p:sp>
        <p:nvSpPr>
          <p:cNvPr id="8" name="Text 6"/>
          <p:cNvSpPr/>
          <p:nvPr/>
        </p:nvSpPr>
        <p:spPr>
          <a:xfrm>
            <a:off x="475488" y="111556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find the way to a place, often by using tools like maps, compasses, or the stars.</a:t>
            </a:r>
            <a:endParaRPr lang="en-US" sz="1050" dirty="0"/>
          </a:p>
        </p:txBody>
      </p:sp>
      <p:sp>
        <p:nvSpPr>
          <p:cNvPr id="9" name="Shape 7"/>
          <p:cNvSpPr/>
          <p:nvPr/>
        </p:nvSpPr>
        <p:spPr>
          <a:xfrm>
            <a:off x="4114800" y="713232"/>
            <a:ext cx="356616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4114800" y="713232"/>
            <a:ext cx="356616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4206240" y="74066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Constellation</a:t>
            </a:r>
            <a:endParaRPr lang="en-US" sz="1200" dirty="0"/>
          </a:p>
        </p:txBody>
      </p:sp>
      <p:sp>
        <p:nvSpPr>
          <p:cNvPr id="12" name="Text 10"/>
          <p:cNvSpPr/>
          <p:nvPr/>
        </p:nvSpPr>
        <p:spPr>
          <a:xfrm>
            <a:off x="4224528" y="111556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group of stars that forms a pattern or picture in the night sky, like a hunter or a bear.</a:t>
            </a:r>
            <a:endParaRPr lang="en-US" sz="1050" dirty="0"/>
          </a:p>
        </p:txBody>
      </p:sp>
      <p:sp>
        <p:nvSpPr>
          <p:cNvPr id="13" name="Shape 11"/>
          <p:cNvSpPr/>
          <p:nvPr/>
        </p:nvSpPr>
        <p:spPr>
          <a:xfrm>
            <a:off x="7863840" y="713232"/>
            <a:ext cx="397764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7863840" y="713232"/>
            <a:ext cx="397764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7955280" y="740664"/>
            <a:ext cx="37947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Polaris</a:t>
            </a:r>
            <a:endParaRPr lang="en-US" sz="1200" dirty="0"/>
          </a:p>
        </p:txBody>
      </p:sp>
      <p:sp>
        <p:nvSpPr>
          <p:cNvPr id="16" name="Text 14"/>
          <p:cNvSpPr/>
          <p:nvPr/>
        </p:nvSpPr>
        <p:spPr>
          <a:xfrm>
            <a:off x="7973568" y="1115568"/>
            <a:ext cx="37581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North Star — a star that stays almost perfectly still in our sky and always points north. Also called the 'North Star.'</a:t>
            </a:r>
            <a:endParaRPr lang="en-US" sz="1050" dirty="0"/>
          </a:p>
        </p:txBody>
      </p:sp>
      <p:sp>
        <p:nvSpPr>
          <p:cNvPr id="17" name="Shape 15"/>
          <p:cNvSpPr/>
          <p:nvPr/>
        </p:nvSpPr>
        <p:spPr>
          <a:xfrm>
            <a:off x="365760" y="2304288"/>
            <a:ext cx="11430000" cy="2468880"/>
          </a:xfrm>
          <a:prstGeom prst="roundRect">
            <a:avLst>
              <a:gd name="adj" fmla="val 2963"/>
            </a:avLst>
          </a:prstGeom>
          <a:solidFill>
            <a:srgbClr val="162233"/>
          </a:solidFill>
          <a:ln w="12700">
            <a:solidFill>
              <a:srgbClr val="4CC9F0"/>
            </a:solidFill>
            <a:prstDash val="solid"/>
          </a:ln>
        </p:spPr>
      </p:sp>
      <p:sp>
        <p:nvSpPr>
          <p:cNvPr id="18" name="Text 16"/>
          <p:cNvSpPr/>
          <p:nvPr/>
        </p:nvSpPr>
        <p:spPr>
          <a:xfrm>
            <a:off x="530352" y="2377440"/>
            <a:ext cx="11100816"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Connect to Lesson 2.02</a:t>
            </a:r>
            <a:endParaRPr lang="en-US" sz="1300" dirty="0"/>
          </a:p>
        </p:txBody>
      </p:sp>
      <p:sp>
        <p:nvSpPr>
          <p:cNvPr id="19" name="Text 17"/>
          <p:cNvSpPr/>
          <p:nvPr/>
        </p:nvSpPr>
        <p:spPr>
          <a:xfrm>
            <a:off x="530352" y="2743200"/>
            <a:ext cx="11100816" cy="192024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In Lesson 2.02, we learned that the sun's PATTERN made it a reliable navigation tool. Stars follow patterns too!</a:t>
            </a:r>
            <a:endParaRPr lang="en-US" sz="1200" dirty="0"/>
          </a:p>
          <a:p>
            <a:pPr algn="l" indent="0" marL="0">
              <a:buNone/>
            </a:pPr>
            <a:endParaRPr lang="en-US" sz="1200" dirty="0"/>
          </a:p>
          <a:p>
            <a:pPr algn="l" indent="0" marL="0">
              <a:buNone/>
            </a:pPr>
            <a:r>
              <a:rPr lang="en-US" sz="1200" i="1" dirty="0">
                <a:solidFill>
                  <a:srgbClr val="FFFFFF"/>
                </a:solidFill>
                <a:latin typeface="Calibri" pitchFamily="34" charset="0"/>
                <a:ea typeface="Calibri" pitchFamily="34" charset="-122"/>
                <a:cs typeface="Calibri" pitchFamily="34" charset="-120"/>
              </a:rPr>
              <a:t>Predict: If Polaris always stays in the same position in the sky, where in the sky do you think it is? Write: "I predict Polaris is located ___ because ___."</a:t>
            </a:r>
            <a:endParaRPr lang="en-US" sz="12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VOCABULARY — Night Sky Words: Set 2</a:t>
            </a:r>
            <a:endParaRPr lang="en-US" sz="1600" dirty="0"/>
          </a:p>
        </p:txBody>
      </p:sp>
      <p:sp>
        <p:nvSpPr>
          <p:cNvPr id="5" name="Shape 3"/>
          <p:cNvSpPr/>
          <p:nvPr/>
        </p:nvSpPr>
        <p:spPr>
          <a:xfrm>
            <a:off x="365760" y="713232"/>
            <a:ext cx="3566160" cy="1325880"/>
          </a:xfrm>
          <a:prstGeom prst="roundRect">
            <a:avLst>
              <a:gd name="adj" fmla="val 6897"/>
            </a:avLst>
          </a:prstGeom>
          <a:solidFill>
            <a:srgbClr val="1E2F45"/>
          </a:solidFill>
          <a:ln w="25400">
            <a:solidFill>
              <a:srgbClr val="F4736A"/>
            </a:solidFill>
            <a:prstDash val="solid"/>
          </a:ln>
        </p:spPr>
      </p:sp>
      <p:sp>
        <p:nvSpPr>
          <p:cNvPr id="6" name="Shape 4"/>
          <p:cNvSpPr/>
          <p:nvPr/>
        </p:nvSpPr>
        <p:spPr>
          <a:xfrm>
            <a:off x="365760" y="713232"/>
            <a:ext cx="3566160" cy="347472"/>
          </a:xfrm>
          <a:prstGeom prst="roundRect">
            <a:avLst>
              <a:gd name="adj" fmla="val 21053"/>
            </a:avLst>
          </a:prstGeom>
          <a:solidFill>
            <a:srgbClr val="F4736A"/>
          </a:solidFill>
          <a:ln w="12700">
            <a:solidFill>
              <a:srgbClr val="F4736A"/>
            </a:solidFill>
            <a:prstDash val="solid"/>
          </a:ln>
        </p:spPr>
      </p:sp>
      <p:sp>
        <p:nvSpPr>
          <p:cNvPr id="7" name="Text 5"/>
          <p:cNvSpPr/>
          <p:nvPr/>
        </p:nvSpPr>
        <p:spPr>
          <a:xfrm>
            <a:off x="457200" y="74066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 Map</a:t>
            </a:r>
            <a:endParaRPr lang="en-US" sz="1200" dirty="0"/>
          </a:p>
        </p:txBody>
      </p:sp>
      <p:sp>
        <p:nvSpPr>
          <p:cNvPr id="8" name="Text 6"/>
          <p:cNvSpPr/>
          <p:nvPr/>
        </p:nvSpPr>
        <p:spPr>
          <a:xfrm>
            <a:off x="475488" y="111556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chart that shows where stars and constellations are located in the sky, used by explorers to find their way.</a:t>
            </a:r>
            <a:endParaRPr lang="en-US" sz="1050" dirty="0"/>
          </a:p>
        </p:txBody>
      </p:sp>
      <p:sp>
        <p:nvSpPr>
          <p:cNvPr id="9" name="Shape 7"/>
          <p:cNvSpPr/>
          <p:nvPr/>
        </p:nvSpPr>
        <p:spPr>
          <a:xfrm>
            <a:off x="4114800" y="713232"/>
            <a:ext cx="3566160" cy="1325880"/>
          </a:xfrm>
          <a:prstGeom prst="roundRect">
            <a:avLst>
              <a:gd name="adj" fmla="val 6897"/>
            </a:avLst>
          </a:prstGeom>
          <a:solidFill>
            <a:srgbClr val="1E2F45"/>
          </a:solidFill>
          <a:ln w="25400">
            <a:solidFill>
              <a:srgbClr val="4CC9F0"/>
            </a:solidFill>
            <a:prstDash val="solid"/>
          </a:ln>
        </p:spPr>
      </p:sp>
      <p:sp>
        <p:nvSpPr>
          <p:cNvPr id="10" name="Shape 8"/>
          <p:cNvSpPr/>
          <p:nvPr/>
        </p:nvSpPr>
        <p:spPr>
          <a:xfrm>
            <a:off x="4114800" y="713232"/>
            <a:ext cx="3566160" cy="347472"/>
          </a:xfrm>
          <a:prstGeom prst="roundRect">
            <a:avLst>
              <a:gd name="adj" fmla="val 21053"/>
            </a:avLst>
          </a:prstGeom>
          <a:solidFill>
            <a:srgbClr val="4CC9F0"/>
          </a:solidFill>
          <a:ln w="12700">
            <a:solidFill>
              <a:srgbClr val="4CC9F0"/>
            </a:solidFill>
            <a:prstDash val="solid"/>
          </a:ln>
        </p:spPr>
      </p:sp>
      <p:sp>
        <p:nvSpPr>
          <p:cNvPr id="11" name="Text 9"/>
          <p:cNvSpPr/>
          <p:nvPr/>
        </p:nvSpPr>
        <p:spPr>
          <a:xfrm>
            <a:off x="4206240" y="74066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Moon Phase</a:t>
            </a:r>
            <a:endParaRPr lang="en-US" sz="1200" dirty="0"/>
          </a:p>
        </p:txBody>
      </p:sp>
      <p:sp>
        <p:nvSpPr>
          <p:cNvPr id="12" name="Text 10"/>
          <p:cNvSpPr/>
          <p:nvPr/>
        </p:nvSpPr>
        <p:spPr>
          <a:xfrm>
            <a:off x="4224528" y="111556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changing shape of the lit part of the moon that we can see from Earth as it travels around our planet.</a:t>
            </a:r>
            <a:endParaRPr lang="en-US" sz="1050" dirty="0"/>
          </a:p>
        </p:txBody>
      </p:sp>
      <p:sp>
        <p:nvSpPr>
          <p:cNvPr id="13" name="Shape 11"/>
          <p:cNvSpPr/>
          <p:nvPr/>
        </p:nvSpPr>
        <p:spPr>
          <a:xfrm>
            <a:off x="7863840" y="713232"/>
            <a:ext cx="3977640" cy="1325880"/>
          </a:xfrm>
          <a:prstGeom prst="roundRect">
            <a:avLst>
              <a:gd name="adj" fmla="val 6897"/>
            </a:avLst>
          </a:prstGeom>
          <a:solidFill>
            <a:srgbClr val="1E2F45"/>
          </a:solidFill>
          <a:ln w="25400">
            <a:solidFill>
              <a:srgbClr val="2DC653"/>
            </a:solidFill>
            <a:prstDash val="solid"/>
          </a:ln>
        </p:spPr>
      </p:sp>
      <p:sp>
        <p:nvSpPr>
          <p:cNvPr id="14" name="Shape 12"/>
          <p:cNvSpPr/>
          <p:nvPr/>
        </p:nvSpPr>
        <p:spPr>
          <a:xfrm>
            <a:off x="7863840" y="713232"/>
            <a:ext cx="3977640" cy="347472"/>
          </a:xfrm>
          <a:prstGeom prst="roundRect">
            <a:avLst>
              <a:gd name="adj" fmla="val 21053"/>
            </a:avLst>
          </a:prstGeom>
          <a:solidFill>
            <a:srgbClr val="2DC653"/>
          </a:solidFill>
          <a:ln w="12700">
            <a:solidFill>
              <a:srgbClr val="2DC653"/>
            </a:solidFill>
            <a:prstDash val="solid"/>
          </a:ln>
        </p:spPr>
      </p:sp>
      <p:sp>
        <p:nvSpPr>
          <p:cNvPr id="15" name="Text 13"/>
          <p:cNvSpPr/>
          <p:nvPr/>
        </p:nvSpPr>
        <p:spPr>
          <a:xfrm>
            <a:off x="7955280" y="740664"/>
            <a:ext cx="37947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Hemisphere</a:t>
            </a:r>
            <a:endParaRPr lang="en-US" sz="1200" dirty="0"/>
          </a:p>
        </p:txBody>
      </p:sp>
      <p:sp>
        <p:nvSpPr>
          <p:cNvPr id="16" name="Text 14"/>
          <p:cNvSpPr/>
          <p:nvPr/>
        </p:nvSpPr>
        <p:spPr>
          <a:xfrm>
            <a:off x="7973568" y="1115568"/>
            <a:ext cx="37581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Half of the Earth. Northern Hemisphere is the top half; Southern Hemisphere is the bottom half. Each sees different navigation stars!</a:t>
            </a:r>
            <a:endParaRPr lang="en-US" sz="1050" dirty="0"/>
          </a:p>
        </p:txBody>
      </p:sp>
      <p:sp>
        <p:nvSpPr>
          <p:cNvPr id="17" name="Shape 15"/>
          <p:cNvSpPr/>
          <p:nvPr/>
        </p:nvSpPr>
        <p:spPr>
          <a:xfrm>
            <a:off x="365760" y="2304288"/>
            <a:ext cx="11430000" cy="2468880"/>
          </a:xfrm>
          <a:prstGeom prst="roundRect">
            <a:avLst>
              <a:gd name="adj" fmla="val 2963"/>
            </a:avLst>
          </a:prstGeom>
          <a:solidFill>
            <a:srgbClr val="162233"/>
          </a:solidFill>
          <a:ln w="12700">
            <a:solidFill>
              <a:srgbClr val="FFB703"/>
            </a:solidFill>
            <a:prstDash val="solid"/>
          </a:ln>
        </p:spPr>
      </p:sp>
      <p:sp>
        <p:nvSpPr>
          <p:cNvPr id="18" name="Text 16"/>
          <p:cNvSpPr/>
          <p:nvPr/>
        </p:nvSpPr>
        <p:spPr>
          <a:xfrm>
            <a:off x="530352" y="237744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Connect Moon Phases to Navigation</a:t>
            </a:r>
            <a:endParaRPr lang="en-US" sz="1300" dirty="0"/>
          </a:p>
        </p:txBody>
      </p:sp>
      <p:sp>
        <p:nvSpPr>
          <p:cNvPr id="19" name="Text 17"/>
          <p:cNvSpPr/>
          <p:nvPr/>
        </p:nvSpPr>
        <p:spPr>
          <a:xfrm>
            <a:off x="530352" y="2743200"/>
            <a:ext cx="11100816" cy="192024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We learned in Lesson 3.01 that the lunar cycle is ~29.5 days.</a:t>
            </a:r>
            <a:endParaRPr lang="en-US" sz="1200" dirty="0"/>
          </a:p>
          <a:p>
            <a:pPr algn="l" indent="0" marL="0">
              <a:buNone/>
            </a:pPr>
            <a:endParaRPr lang="en-US" sz="1200" dirty="0"/>
          </a:p>
          <a:p>
            <a:pPr algn="l" indent="0" marL="0">
              <a:buNone/>
            </a:pPr>
            <a:r>
              <a:rPr lang="en-US" sz="1200" i="1" dirty="0">
                <a:solidFill>
                  <a:srgbClr val="FFFFFF"/>
                </a:solidFill>
                <a:latin typeface="Calibri" pitchFamily="34" charset="0"/>
                <a:ea typeface="Calibri" pitchFamily="34" charset="-122"/>
                <a:cs typeface="Calibri" pitchFamily="34" charset="-120"/>
              </a:rPr>
              <a:t>Predict: How could knowing WHICH moon phase it was help an explorer count days at sea? Write: "I predict that moon phases helped navigators by ___ because ___."</a:t>
            </a:r>
            <a:endParaRPr lang="en-US" sz="12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EXPLORE — Why Stars Appear to Move (And Why Polaris Doesn't)</a:t>
            </a:r>
            <a:endParaRPr lang="en-US" sz="1600" dirty="0"/>
          </a:p>
        </p:txBody>
      </p:sp>
      <p:sp>
        <p:nvSpPr>
          <p:cNvPr id="5" name="Shape 3"/>
          <p:cNvSpPr/>
          <p:nvPr/>
        </p:nvSpPr>
        <p:spPr>
          <a:xfrm>
            <a:off x="365760" y="713232"/>
            <a:ext cx="5943600" cy="5029200"/>
          </a:xfrm>
          <a:prstGeom prst="roundRect">
            <a:avLst>
              <a:gd name="adj" fmla="val 1455"/>
            </a:avLst>
          </a:prstGeom>
          <a:solidFill>
            <a:srgbClr val="1E2F45"/>
          </a:solidFill>
          <a:ln w="12700">
            <a:solidFill>
              <a:srgbClr val="4CC9F0"/>
            </a:solidFill>
            <a:prstDash val="solid"/>
          </a:ln>
        </p:spPr>
      </p:sp>
      <p:sp>
        <p:nvSpPr>
          <p:cNvPr id="6" name="Text 4"/>
          <p:cNvSpPr/>
          <p:nvPr/>
        </p:nvSpPr>
        <p:spPr>
          <a:xfrm>
            <a:off x="548640" y="804672"/>
            <a:ext cx="557784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Why Do Stars Appear to Move?</a:t>
            </a:r>
            <a:endParaRPr lang="en-US" sz="1300" dirty="0"/>
          </a:p>
        </p:txBody>
      </p:sp>
      <p:sp>
        <p:nvSpPr>
          <p:cNvPr id="7" name="Text 5"/>
          <p:cNvSpPr/>
          <p:nvPr/>
        </p:nvSpPr>
        <p:spPr>
          <a:xfrm>
            <a:off x="548640" y="1207008"/>
            <a:ext cx="5577840" cy="44805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Stars don't actually move — EARTH does!</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As our planet rotates (spins) on its axis, the stars appear to travel across the sky from east to west — just like the sun does during the day.</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This is the same rotation we studied in Lesson 2.01! Earth's spin makes everything in the sky APPEAR to move.</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Early explorers didn't know this yet — they thought the sky moved. But their observations were still correct. The stars' apparent pattern was real and reliable.</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KEY INSIGHT: You can have CORRECT observations even if your explanation is wrong. That's how science progresses!</a:t>
            </a:r>
            <a:endParaRPr lang="en-US" sz="1150" dirty="0"/>
          </a:p>
        </p:txBody>
      </p:sp>
      <p:sp>
        <p:nvSpPr>
          <p:cNvPr id="8" name="Shape 6"/>
          <p:cNvSpPr/>
          <p:nvPr/>
        </p:nvSpPr>
        <p:spPr>
          <a:xfrm>
            <a:off x="6492240" y="713232"/>
            <a:ext cx="5394960" cy="5029200"/>
          </a:xfrm>
          <a:prstGeom prst="roundRect">
            <a:avLst>
              <a:gd name="adj" fmla="val 1455"/>
            </a:avLst>
          </a:prstGeom>
          <a:solidFill>
            <a:srgbClr val="1E2F45"/>
          </a:solidFill>
          <a:ln w="12700">
            <a:solidFill>
              <a:srgbClr val="FFB703"/>
            </a:solidFill>
            <a:prstDash val="solid"/>
          </a:ln>
        </p:spPr>
      </p:sp>
      <p:sp>
        <p:nvSpPr>
          <p:cNvPr id="9" name="Text 7"/>
          <p:cNvSpPr/>
          <p:nvPr/>
        </p:nvSpPr>
        <p:spPr>
          <a:xfrm>
            <a:off x="6675120" y="804672"/>
            <a:ext cx="50292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Why Polaris Is Special</a:t>
            </a:r>
            <a:endParaRPr lang="en-US" sz="1300" dirty="0"/>
          </a:p>
        </p:txBody>
      </p:sp>
      <p:sp>
        <p:nvSpPr>
          <p:cNvPr id="10" name="Text 8"/>
          <p:cNvSpPr/>
          <p:nvPr/>
        </p:nvSpPr>
        <p:spPr>
          <a:xfrm>
            <a:off x="6675120" y="1207008"/>
            <a:ext cx="5029200" cy="44805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Polaris sits almost exactly above Earth's North Pole — right on Earth's rotation axis.</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As Earth spins, all other stars appear to circle around Polaris. But Polaris itself barely moves at all!</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This is why explorers could count on it. While all other stars circle through the sky each night, Polaris stays put — always marking NORTH.</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Think of it like the center of a spinning wheel. The center barely moves while everything else rotates around it.</a:t>
            </a:r>
            <a:endParaRPr lang="en-US" sz="11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DIAGRAM — The Navigator's Star Map</a:t>
            </a:r>
            <a:endParaRPr lang="en-US" sz="1600" dirty="0"/>
          </a:p>
        </p:txBody>
      </p:sp>
      <p:sp>
        <p:nvSpPr>
          <p:cNvPr id="5" name="Text 3"/>
          <p:cNvSpPr/>
          <p:nvPr/>
        </p:nvSpPr>
        <p:spPr>
          <a:xfrm>
            <a:off x="365760" y="713232"/>
            <a:ext cx="11430000" cy="411480"/>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Predict: Which of these constellations do you think is closest to Polaris? Write: 'I predict ___ because ___.'</a:t>
            </a:r>
            <a:endParaRPr lang="en-US" sz="1200" dirty="0"/>
          </a:p>
        </p:txBody>
      </p:sp>
      <p:sp>
        <p:nvSpPr>
          <p:cNvPr id="6" name="Shape 4"/>
          <p:cNvSpPr/>
          <p:nvPr/>
        </p:nvSpPr>
        <p:spPr>
          <a:xfrm>
            <a:off x="365760" y="1207008"/>
            <a:ext cx="6858000" cy="5074920"/>
          </a:xfrm>
          <a:prstGeom prst="roundRect">
            <a:avLst>
              <a:gd name="adj" fmla="val 1441"/>
            </a:avLst>
          </a:prstGeom>
          <a:solidFill>
            <a:srgbClr val="0A1520"/>
          </a:solidFill>
          <a:ln w="19050">
            <a:solidFill>
              <a:srgbClr val="4CC9F0"/>
            </a:solidFill>
            <a:prstDash val="dash"/>
          </a:ln>
        </p:spPr>
      </p:sp>
      <p:sp>
        <p:nvSpPr>
          <p:cNvPr id="7" name="Text 5"/>
          <p:cNvSpPr/>
          <p:nvPr/>
        </p:nvSpPr>
        <p:spPr>
          <a:xfrm>
            <a:off x="457200" y="1316736"/>
            <a:ext cx="6675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457200" y="1755648"/>
            <a:ext cx="6675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9" name="Text 7"/>
          <p:cNvSpPr/>
          <p:nvPr/>
        </p:nvSpPr>
        <p:spPr>
          <a:xfrm>
            <a:off x="475488" y="2048256"/>
            <a:ext cx="6638544" cy="40233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"Polaris Big Dipper Cassiopeia Orion Southern Cross star map navigation constellations night sky"</a:t>
            </a:r>
            <a:endParaRPr lang="en-US" sz="950" dirty="0"/>
          </a:p>
        </p:txBody>
      </p:sp>
      <p:sp>
        <p:nvSpPr>
          <p:cNvPr id="10" name="Text 8"/>
          <p:cNvSpPr/>
          <p:nvPr/>
        </p:nvSpPr>
        <p:spPr>
          <a:xfrm>
            <a:off x="365760" y="6318504"/>
            <a:ext cx="6858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The navigator's key stars: Polaris, Big Dipper, Cassiopeia, Orion, Southern Cross</a:t>
            </a:r>
            <a:endParaRPr lang="en-US" sz="900" dirty="0"/>
          </a:p>
        </p:txBody>
      </p:sp>
      <p:sp>
        <p:nvSpPr>
          <p:cNvPr id="11" name="Shape 9"/>
          <p:cNvSpPr/>
          <p:nvPr/>
        </p:nvSpPr>
        <p:spPr>
          <a:xfrm>
            <a:off x="7406640" y="1207008"/>
            <a:ext cx="4754880" cy="5074920"/>
          </a:xfrm>
          <a:prstGeom prst="roundRect">
            <a:avLst>
              <a:gd name="adj" fmla="val 1538"/>
            </a:avLst>
          </a:prstGeom>
          <a:solidFill>
            <a:srgbClr val="1E2F45"/>
          </a:solidFill>
          <a:ln w="12700">
            <a:solidFill>
              <a:srgbClr val="4CC9F0"/>
            </a:solidFill>
            <a:prstDash val="solid"/>
          </a:ln>
        </p:spPr>
      </p:sp>
      <p:sp>
        <p:nvSpPr>
          <p:cNvPr id="12" name="Text 10"/>
          <p:cNvSpPr/>
          <p:nvPr/>
        </p:nvSpPr>
        <p:spPr>
          <a:xfrm>
            <a:off x="7589520" y="1298448"/>
            <a:ext cx="438912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Key Constellations</a:t>
            </a:r>
            <a:endParaRPr lang="en-US" sz="1200" dirty="0"/>
          </a:p>
        </p:txBody>
      </p:sp>
      <p:sp>
        <p:nvSpPr>
          <p:cNvPr id="13" name="Text 11"/>
          <p:cNvSpPr/>
          <p:nvPr/>
        </p:nvSpPr>
        <p:spPr>
          <a:xfrm>
            <a:off x="7589520" y="1664208"/>
            <a:ext cx="4389120" cy="452628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POLARIS (North Star)</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Barealy moves — always north. Most important navigation star for Northern Hemisphere.</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BIG DIPPER (Ursa Major)</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Pointer stars aim at Polaris! Extend a line from the two outer stars — 5x that distance = Polaris.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CASSIOPEIA</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W-shape near Polaris. Used when Big Dipper is low. Circles Polaris.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ORION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Rises in east, sets in west — gives a rough east-west line. Visible worldwide.</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SOUTHERN CROSS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Southern Hemisphere equivalent of Polaris — points south.</a:t>
            </a:r>
            <a:endParaRPr lang="en-US" sz="105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EXPLORE — Three Sky Guides Explorers Used Together</a:t>
            </a:r>
            <a:endParaRPr lang="en-US" sz="1600" dirty="0"/>
          </a:p>
        </p:txBody>
      </p:sp>
      <p:sp>
        <p:nvSpPr>
          <p:cNvPr id="5" name="Shape 3"/>
          <p:cNvSpPr/>
          <p:nvPr/>
        </p:nvSpPr>
        <p:spPr>
          <a:xfrm>
            <a:off x="365760" y="713232"/>
            <a:ext cx="3657600" cy="4114800"/>
          </a:xfrm>
          <a:prstGeom prst="roundRect">
            <a:avLst>
              <a:gd name="adj" fmla="val 2000"/>
            </a:avLst>
          </a:prstGeom>
          <a:solidFill>
            <a:srgbClr val="1E2F45"/>
          </a:solidFill>
          <a:ln w="12700">
            <a:solidFill>
              <a:srgbClr val="4CC9F0"/>
            </a:solidFill>
            <a:prstDash val="solid"/>
          </a:ln>
        </p:spPr>
      </p:sp>
      <p:sp>
        <p:nvSpPr>
          <p:cNvPr id="6" name="Text 4"/>
          <p:cNvSpPr/>
          <p:nvPr/>
        </p:nvSpPr>
        <p:spPr>
          <a:xfrm>
            <a:off x="457200" y="804672"/>
            <a:ext cx="3474720" cy="41148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Navigation Stars</a:t>
            </a:r>
            <a:endParaRPr lang="en-US" sz="1300" dirty="0"/>
          </a:p>
        </p:txBody>
      </p:sp>
      <p:sp>
        <p:nvSpPr>
          <p:cNvPr id="7" name="Text 5"/>
          <p:cNvSpPr/>
          <p:nvPr/>
        </p:nvSpPr>
        <p:spPr>
          <a:xfrm>
            <a:off x="457200" y="1234440"/>
            <a:ext cx="3474720" cy="347472"/>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Polaris &amp; Southern Cross</a:t>
            </a:r>
            <a:endParaRPr lang="en-US" sz="1100" dirty="0"/>
          </a:p>
        </p:txBody>
      </p:sp>
      <p:sp>
        <p:nvSpPr>
          <p:cNvPr id="8" name="Text 6"/>
          <p:cNvSpPr/>
          <p:nvPr/>
        </p:nvSpPr>
        <p:spPr>
          <a:xfrm>
            <a:off x="457200" y="1600200"/>
            <a:ext cx="3474720" cy="3108960"/>
          </a:xfrm>
          <a:prstGeom prst="rect">
            <a:avLst/>
          </a:prstGeom>
          <a:noFill/>
          <a:ln/>
        </p:spPr>
        <p:txBody>
          <a:bodyPr wrap="square" rtlCol="0" anchor="t"/>
          <a:lstStyle/>
          <a:p>
            <a:pPr indent="0" marL="0">
              <a:buNone/>
            </a:pPr>
            <a:r>
              <a:rPr lang="en-US" sz="1100" dirty="0">
                <a:solidFill>
                  <a:srgbClr val="B0C4D8"/>
                </a:solidFill>
                <a:latin typeface="Calibri" pitchFamily="34" charset="0"/>
                <a:ea typeface="Calibri" pitchFamily="34" charset="-122"/>
                <a:cs typeface="Calibri" pitchFamily="34" charset="-120"/>
              </a:rPr>
              <a:t>Polaris in the north, Southern Cross in the south — each points the way for different hemispheres. A star that barely moves = a reliable direction indicator.</a:t>
            </a:r>
            <a:endParaRPr lang="en-US" sz="1100" dirty="0"/>
          </a:p>
        </p:txBody>
      </p:sp>
      <p:sp>
        <p:nvSpPr>
          <p:cNvPr id="9" name="Shape 7"/>
          <p:cNvSpPr/>
          <p:nvPr/>
        </p:nvSpPr>
        <p:spPr>
          <a:xfrm>
            <a:off x="4297680" y="713232"/>
            <a:ext cx="3657600" cy="4114800"/>
          </a:xfrm>
          <a:prstGeom prst="roundRect">
            <a:avLst>
              <a:gd name="adj" fmla="val 2000"/>
            </a:avLst>
          </a:prstGeom>
          <a:solidFill>
            <a:srgbClr val="1E2F45"/>
          </a:solidFill>
          <a:ln w="12700">
            <a:solidFill>
              <a:srgbClr val="2DC653"/>
            </a:solidFill>
            <a:prstDash val="solid"/>
          </a:ln>
        </p:spPr>
      </p:sp>
      <p:sp>
        <p:nvSpPr>
          <p:cNvPr id="10" name="Text 8"/>
          <p:cNvSpPr/>
          <p:nvPr/>
        </p:nvSpPr>
        <p:spPr>
          <a:xfrm>
            <a:off x="4389120" y="804672"/>
            <a:ext cx="3474720" cy="411480"/>
          </a:xfrm>
          <a:prstGeom prst="rect">
            <a:avLst/>
          </a:prstGeom>
          <a:noFill/>
          <a:ln/>
        </p:spPr>
        <p:txBody>
          <a:bodyPr wrap="square" rtlCol="0" anchor="ctr"/>
          <a:lstStyle/>
          <a:p>
            <a:pPr algn="ctr" indent="0" marL="0">
              <a:buNone/>
            </a:pPr>
            <a:r>
              <a:rPr lang="en-US" sz="1300" b="1" dirty="0">
                <a:solidFill>
                  <a:srgbClr val="2DC653"/>
                </a:solidFill>
                <a:latin typeface="Calibri" pitchFamily="34" charset="0"/>
                <a:ea typeface="Calibri" pitchFamily="34" charset="-122"/>
                <a:cs typeface="Calibri" pitchFamily="34" charset="-120"/>
              </a:rPr>
              <a:t>Constellations</a:t>
            </a:r>
            <a:endParaRPr lang="en-US" sz="1300" dirty="0"/>
          </a:p>
        </p:txBody>
      </p:sp>
      <p:sp>
        <p:nvSpPr>
          <p:cNvPr id="11" name="Text 9"/>
          <p:cNvSpPr/>
          <p:nvPr/>
        </p:nvSpPr>
        <p:spPr>
          <a:xfrm>
            <a:off x="4389120" y="1234440"/>
            <a:ext cx="3474720" cy="347472"/>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Orion, Ursa Major, Cassiopeia</a:t>
            </a:r>
            <a:endParaRPr lang="en-US" sz="1100" dirty="0"/>
          </a:p>
        </p:txBody>
      </p:sp>
      <p:sp>
        <p:nvSpPr>
          <p:cNvPr id="12" name="Text 10"/>
          <p:cNvSpPr/>
          <p:nvPr/>
        </p:nvSpPr>
        <p:spPr>
          <a:xfrm>
            <a:off x="4389120" y="1600200"/>
            <a:ext cx="3474720" cy="3108960"/>
          </a:xfrm>
          <a:prstGeom prst="rect">
            <a:avLst/>
          </a:prstGeom>
          <a:noFill/>
          <a:ln/>
        </p:spPr>
        <p:txBody>
          <a:bodyPr wrap="square" rtlCol="0" anchor="t"/>
          <a:lstStyle/>
          <a:p>
            <a:pPr indent="0" marL="0">
              <a:buNone/>
            </a:pPr>
            <a:r>
              <a:rPr lang="en-US" sz="1100" dirty="0">
                <a:solidFill>
                  <a:srgbClr val="B0C4D8"/>
                </a:solidFill>
                <a:latin typeface="Calibri" pitchFamily="34" charset="0"/>
                <a:ea typeface="Calibri" pitchFamily="34" charset="-122"/>
                <a:cs typeface="Calibri" pitchFamily="34" charset="-120"/>
              </a:rPr>
              <a:t>Star pictures acted as landmarks to show season and direction. Certain constellations only appear in certain seasons — telling sailors where and when they were.</a:t>
            </a:r>
            <a:endParaRPr lang="en-US" sz="1100" dirty="0"/>
          </a:p>
        </p:txBody>
      </p:sp>
      <p:sp>
        <p:nvSpPr>
          <p:cNvPr id="13" name="Shape 11"/>
          <p:cNvSpPr/>
          <p:nvPr/>
        </p:nvSpPr>
        <p:spPr>
          <a:xfrm>
            <a:off x="8229600" y="713232"/>
            <a:ext cx="3657600" cy="4114800"/>
          </a:xfrm>
          <a:prstGeom prst="roundRect">
            <a:avLst>
              <a:gd name="adj" fmla="val 2000"/>
            </a:avLst>
          </a:prstGeom>
          <a:solidFill>
            <a:srgbClr val="1E2F45"/>
          </a:solidFill>
          <a:ln w="12700">
            <a:solidFill>
              <a:srgbClr val="FFB703"/>
            </a:solidFill>
            <a:prstDash val="solid"/>
          </a:ln>
        </p:spPr>
      </p:sp>
      <p:sp>
        <p:nvSpPr>
          <p:cNvPr id="14" name="Text 12"/>
          <p:cNvSpPr/>
          <p:nvPr/>
        </p:nvSpPr>
        <p:spPr>
          <a:xfrm>
            <a:off x="8321040" y="804672"/>
            <a:ext cx="3474720" cy="411480"/>
          </a:xfrm>
          <a:prstGeom prst="rect">
            <a:avLst/>
          </a:prstGeom>
          <a:noFill/>
          <a:ln/>
        </p:spPr>
        <p:txBody>
          <a:bodyPr wrap="square"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Moon Phases</a:t>
            </a:r>
            <a:endParaRPr lang="en-US" sz="1300" dirty="0"/>
          </a:p>
        </p:txBody>
      </p:sp>
      <p:sp>
        <p:nvSpPr>
          <p:cNvPr id="15" name="Text 13"/>
          <p:cNvSpPr/>
          <p:nvPr/>
        </p:nvSpPr>
        <p:spPr>
          <a:xfrm>
            <a:off x="8321040" y="1234440"/>
            <a:ext cx="3474720" cy="347472"/>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Waxing/Waning Cycle</a:t>
            </a:r>
            <a:endParaRPr lang="en-US" sz="1100" dirty="0"/>
          </a:p>
        </p:txBody>
      </p:sp>
      <p:sp>
        <p:nvSpPr>
          <p:cNvPr id="16" name="Text 14"/>
          <p:cNvSpPr/>
          <p:nvPr/>
        </p:nvSpPr>
        <p:spPr>
          <a:xfrm>
            <a:off x="8321040" y="1600200"/>
            <a:ext cx="3474720" cy="3108960"/>
          </a:xfrm>
          <a:prstGeom prst="rect">
            <a:avLst/>
          </a:prstGeom>
          <a:noFill/>
          <a:ln/>
        </p:spPr>
        <p:txBody>
          <a:bodyPr wrap="square" rtlCol="0" anchor="t"/>
          <a:lstStyle/>
          <a:p>
            <a:pPr indent="0" marL="0">
              <a:buNone/>
            </a:pPr>
            <a:r>
              <a:rPr lang="en-US" sz="1100" dirty="0">
                <a:solidFill>
                  <a:srgbClr val="B0C4D8"/>
                </a:solidFill>
                <a:latin typeface="Calibri" pitchFamily="34" charset="0"/>
                <a:ea typeface="Calibri" pitchFamily="34" charset="-122"/>
                <a:cs typeface="Calibri" pitchFamily="34" charset="-120"/>
              </a:rPr>
              <a:t>The moon's changing shape helped explorers COUNT the days, track months, and plan voyages. Full moon also lit the sea ahead for night sailing!</a:t>
            </a:r>
            <a:endParaRPr lang="en-US" sz="1100" dirty="0"/>
          </a:p>
        </p:txBody>
      </p:sp>
      <p:sp>
        <p:nvSpPr>
          <p:cNvPr id="17" name="Shape 15"/>
          <p:cNvSpPr/>
          <p:nvPr/>
        </p:nvSpPr>
        <p:spPr>
          <a:xfrm>
            <a:off x="365760" y="4956048"/>
            <a:ext cx="11430000" cy="1280160"/>
          </a:xfrm>
          <a:prstGeom prst="roundRect">
            <a:avLst>
              <a:gd name="adj" fmla="val 5714"/>
            </a:avLst>
          </a:prstGeom>
          <a:solidFill>
            <a:srgbClr val="162233"/>
          </a:solidFill>
          <a:ln w="12700">
            <a:solidFill>
              <a:srgbClr val="FFB703"/>
            </a:solidFill>
            <a:prstDash val="solid"/>
          </a:ln>
        </p:spPr>
      </p:sp>
      <p:sp>
        <p:nvSpPr>
          <p:cNvPr id="18" name="Text 16"/>
          <p:cNvSpPr/>
          <p:nvPr/>
        </p:nvSpPr>
        <p:spPr>
          <a:xfrm>
            <a:off x="530352" y="502920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Observe &amp; Reason</a:t>
            </a:r>
            <a:endParaRPr lang="en-US" sz="1300" dirty="0"/>
          </a:p>
        </p:txBody>
      </p:sp>
      <p:sp>
        <p:nvSpPr>
          <p:cNvPr id="19" name="Text 17"/>
          <p:cNvSpPr/>
          <p:nvPr/>
        </p:nvSpPr>
        <p:spPr>
          <a:xfrm>
            <a:off x="530352" y="5394960"/>
            <a:ext cx="11100816" cy="73152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"A sailor in the Northern Hemisphere can use Polaris to find north. But what if they sail into the Southern Hemisphere where Polaris disappears below the horizon? What would they use instead, and why does it work the same way?"</a:t>
            </a:r>
            <a:endParaRPr lang="en-US" sz="12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DIAGRAM — Using Moon Phases to Count Days at Sea</a:t>
            </a:r>
            <a:endParaRPr lang="en-US" sz="1600" dirty="0"/>
          </a:p>
        </p:txBody>
      </p:sp>
      <p:sp>
        <p:nvSpPr>
          <p:cNvPr id="5" name="Text 3"/>
          <p:cNvSpPr/>
          <p:nvPr/>
        </p:nvSpPr>
        <p:spPr>
          <a:xfrm>
            <a:off x="365760" y="713232"/>
            <a:ext cx="11430000" cy="457200"/>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Predict: If a sailor left port on a New Moon, and now sees a Full Moon, how many days have they been at sea?</a:t>
            </a:r>
            <a:endParaRPr lang="en-US" sz="1200" dirty="0"/>
          </a:p>
        </p:txBody>
      </p:sp>
      <p:sp>
        <p:nvSpPr>
          <p:cNvPr id="6" name="Shape 4"/>
          <p:cNvSpPr/>
          <p:nvPr/>
        </p:nvSpPr>
        <p:spPr>
          <a:xfrm>
            <a:off x="365760" y="1261872"/>
            <a:ext cx="11430000" cy="3246120"/>
          </a:xfrm>
          <a:prstGeom prst="roundRect">
            <a:avLst>
              <a:gd name="adj" fmla="val 2254"/>
            </a:avLst>
          </a:prstGeom>
          <a:solidFill>
            <a:srgbClr val="0A1520"/>
          </a:solidFill>
          <a:ln w="19050">
            <a:solidFill>
              <a:srgbClr val="4CC9F0"/>
            </a:solidFill>
            <a:prstDash val="dash"/>
          </a:ln>
        </p:spPr>
      </p:sp>
      <p:sp>
        <p:nvSpPr>
          <p:cNvPr id="7" name="Text 5"/>
          <p:cNvSpPr/>
          <p:nvPr/>
        </p:nvSpPr>
        <p:spPr>
          <a:xfrm>
            <a:off x="457200" y="1371600"/>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457200" y="1810512"/>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9" name="Text 7"/>
          <p:cNvSpPr/>
          <p:nvPr/>
        </p:nvSpPr>
        <p:spPr>
          <a:xfrm>
            <a:off x="475488" y="2103120"/>
            <a:ext cx="11210544" cy="21945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"moon phases timeline 29.5 days new moon crescent quarter gibbous full waning cycle diagram"</a:t>
            </a:r>
            <a:endParaRPr lang="en-US" sz="950" dirty="0"/>
          </a:p>
        </p:txBody>
      </p:sp>
      <p:sp>
        <p:nvSpPr>
          <p:cNvPr id="10" name="Text 8"/>
          <p:cNvSpPr/>
          <p:nvPr/>
        </p:nvSpPr>
        <p:spPr>
          <a:xfrm>
            <a:off x="365760" y="4544568"/>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The moon's 29.5-day cycle — a reliable calendar sailors could read every night</a:t>
            </a:r>
            <a:endParaRPr lang="en-US" sz="900" dirty="0"/>
          </a:p>
        </p:txBody>
      </p:sp>
      <p:sp>
        <p:nvSpPr>
          <p:cNvPr id="11" name="Shape 9"/>
          <p:cNvSpPr/>
          <p:nvPr/>
        </p:nvSpPr>
        <p:spPr>
          <a:xfrm>
            <a:off x="365760" y="4645152"/>
            <a:ext cx="5394960" cy="1554480"/>
          </a:xfrm>
          <a:prstGeom prst="roundRect">
            <a:avLst>
              <a:gd name="adj" fmla="val 4706"/>
            </a:avLst>
          </a:prstGeom>
          <a:solidFill>
            <a:srgbClr val="1E2F45"/>
          </a:solidFill>
          <a:ln w="12700">
            <a:solidFill>
              <a:srgbClr val="4CC9F0"/>
            </a:solidFill>
            <a:prstDash val="solid"/>
          </a:ln>
        </p:spPr>
      </p:sp>
      <p:sp>
        <p:nvSpPr>
          <p:cNvPr id="12" name="Text 10"/>
          <p:cNvSpPr/>
          <p:nvPr/>
        </p:nvSpPr>
        <p:spPr>
          <a:xfrm>
            <a:off x="548640" y="4709160"/>
            <a:ext cx="5029200" cy="347472"/>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Reading Moon Phases</a:t>
            </a:r>
            <a:endParaRPr lang="en-US" sz="1100" dirty="0"/>
          </a:p>
        </p:txBody>
      </p:sp>
      <p:sp>
        <p:nvSpPr>
          <p:cNvPr id="13" name="Text 11"/>
          <p:cNvSpPr/>
          <p:nvPr/>
        </p:nvSpPr>
        <p:spPr>
          <a:xfrm>
            <a:off x="548640" y="5074920"/>
            <a:ext cx="5029200" cy="102412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Waxing D-shape = growing toward Full Moon (first 15 days)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Waning C-shape = shrinking toward New Moon (last 15 days)</a:t>
            </a:r>
            <a:endParaRPr lang="en-US" sz="1100" dirty="0"/>
          </a:p>
        </p:txBody>
      </p:sp>
      <p:sp>
        <p:nvSpPr>
          <p:cNvPr id="14" name="Shape 12"/>
          <p:cNvSpPr/>
          <p:nvPr/>
        </p:nvSpPr>
        <p:spPr>
          <a:xfrm>
            <a:off x="6035040" y="4645152"/>
            <a:ext cx="5806440" cy="1554480"/>
          </a:xfrm>
          <a:prstGeom prst="roundRect">
            <a:avLst>
              <a:gd name="adj" fmla="val 4706"/>
            </a:avLst>
          </a:prstGeom>
          <a:solidFill>
            <a:srgbClr val="1E2F45"/>
          </a:solidFill>
          <a:ln w="12700">
            <a:solidFill>
              <a:srgbClr val="2DC653"/>
            </a:solidFill>
            <a:prstDash val="solid"/>
          </a:ln>
        </p:spPr>
      </p:sp>
      <p:sp>
        <p:nvSpPr>
          <p:cNvPr id="15" name="Text 13"/>
          <p:cNvSpPr/>
          <p:nvPr/>
        </p:nvSpPr>
        <p:spPr>
          <a:xfrm>
            <a:off x="6217920" y="4709160"/>
            <a:ext cx="5440680" cy="347472"/>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Navigation Tip</a:t>
            </a:r>
            <a:endParaRPr lang="en-US" sz="1100" dirty="0"/>
          </a:p>
        </p:txBody>
      </p:sp>
      <p:sp>
        <p:nvSpPr>
          <p:cNvPr id="16" name="Text 14"/>
          <p:cNvSpPr/>
          <p:nvPr/>
        </p:nvSpPr>
        <p:spPr>
          <a:xfrm>
            <a:off x="6217920" y="5074920"/>
            <a:ext cx="5440680" cy="102412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If lit side looks like D = waxing (growing) | If lit side looks like C = waning (shrinking). This trick worked every night for thousands of years!</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EXPLORE — How a Real Navigator Read the Night Sky</a:t>
            </a:r>
            <a:endParaRPr lang="en-US" sz="1600" dirty="0"/>
          </a:p>
        </p:txBody>
      </p:sp>
      <p:sp>
        <p:nvSpPr>
          <p:cNvPr id="5" name="Shape 3"/>
          <p:cNvSpPr/>
          <p:nvPr/>
        </p:nvSpPr>
        <p:spPr>
          <a:xfrm>
            <a:off x="320040" y="713232"/>
            <a:ext cx="5577840" cy="2468880"/>
          </a:xfrm>
          <a:prstGeom prst="roundRect">
            <a:avLst>
              <a:gd name="adj" fmla="val 2963"/>
            </a:avLst>
          </a:prstGeom>
          <a:solidFill>
            <a:srgbClr val="1E2F45"/>
          </a:solidFill>
          <a:ln w="12700">
            <a:solidFill>
              <a:srgbClr val="4CC9F0"/>
            </a:solidFill>
            <a:prstDash val="solid"/>
          </a:ln>
        </p:spPr>
      </p:sp>
      <p:sp>
        <p:nvSpPr>
          <p:cNvPr id="6" name="Text 4"/>
          <p:cNvSpPr/>
          <p:nvPr/>
        </p:nvSpPr>
        <p:spPr>
          <a:xfrm>
            <a:off x="457200" y="804672"/>
            <a:ext cx="530352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Step 1 — Find Polaris</a:t>
            </a:r>
            <a:endParaRPr lang="en-US" sz="1200" dirty="0"/>
          </a:p>
        </p:txBody>
      </p:sp>
      <p:sp>
        <p:nvSpPr>
          <p:cNvPr id="7" name="Text 5"/>
          <p:cNvSpPr/>
          <p:nvPr/>
        </p:nvSpPr>
        <p:spPr>
          <a:xfrm>
            <a:off x="457200" y="1207008"/>
            <a:ext cx="5303520" cy="178308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Scan the northern sky for the North Star. Find the Big Dipper, trace the two pointer stars outward, extend that imaginary line 5x — Polaris! That direction is NORTH.</a:t>
            </a:r>
            <a:endParaRPr lang="en-US" sz="1100" dirty="0"/>
          </a:p>
        </p:txBody>
      </p:sp>
      <p:sp>
        <p:nvSpPr>
          <p:cNvPr id="8" name="Shape 6"/>
          <p:cNvSpPr/>
          <p:nvPr/>
        </p:nvSpPr>
        <p:spPr>
          <a:xfrm>
            <a:off x="6263640" y="713232"/>
            <a:ext cx="5577840" cy="2468880"/>
          </a:xfrm>
          <a:prstGeom prst="roundRect">
            <a:avLst>
              <a:gd name="adj" fmla="val 2963"/>
            </a:avLst>
          </a:prstGeom>
          <a:solidFill>
            <a:srgbClr val="1E2F45"/>
          </a:solidFill>
          <a:ln w="12700">
            <a:solidFill>
              <a:srgbClr val="2DC653"/>
            </a:solidFill>
            <a:prstDash val="solid"/>
          </a:ln>
        </p:spPr>
      </p:sp>
      <p:sp>
        <p:nvSpPr>
          <p:cNvPr id="9" name="Text 7"/>
          <p:cNvSpPr/>
          <p:nvPr/>
        </p:nvSpPr>
        <p:spPr>
          <a:xfrm>
            <a:off x="6400800" y="804672"/>
            <a:ext cx="5303520" cy="38404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Step 2 — Read the Constellations</a:t>
            </a:r>
            <a:endParaRPr lang="en-US" sz="1200" dirty="0"/>
          </a:p>
        </p:txBody>
      </p:sp>
      <p:sp>
        <p:nvSpPr>
          <p:cNvPr id="10" name="Text 8"/>
          <p:cNvSpPr/>
          <p:nvPr/>
        </p:nvSpPr>
        <p:spPr>
          <a:xfrm>
            <a:off x="6400800" y="1207008"/>
            <a:ext cx="5303520" cy="178308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Check which constellations are visible and where they are in the sky. Certain constellations only appear in certain seasons. Compare what you see to your memorized star map to confirm position and season.</a:t>
            </a:r>
            <a:endParaRPr lang="en-US" sz="1100" dirty="0"/>
          </a:p>
        </p:txBody>
      </p:sp>
      <p:sp>
        <p:nvSpPr>
          <p:cNvPr id="11" name="Shape 9"/>
          <p:cNvSpPr/>
          <p:nvPr/>
        </p:nvSpPr>
        <p:spPr>
          <a:xfrm>
            <a:off x="320040" y="3456432"/>
            <a:ext cx="5577840" cy="2468880"/>
          </a:xfrm>
          <a:prstGeom prst="roundRect">
            <a:avLst>
              <a:gd name="adj" fmla="val 2963"/>
            </a:avLst>
          </a:prstGeom>
          <a:solidFill>
            <a:srgbClr val="1E2F45"/>
          </a:solidFill>
          <a:ln w="12700">
            <a:solidFill>
              <a:srgbClr val="FFB703"/>
            </a:solidFill>
            <a:prstDash val="solid"/>
          </a:ln>
        </p:spPr>
      </p:sp>
      <p:sp>
        <p:nvSpPr>
          <p:cNvPr id="12" name="Text 10"/>
          <p:cNvSpPr/>
          <p:nvPr/>
        </p:nvSpPr>
        <p:spPr>
          <a:xfrm>
            <a:off x="457200" y="3547872"/>
            <a:ext cx="5303520" cy="384048"/>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Step 3 — Track the Moon</a:t>
            </a:r>
            <a:endParaRPr lang="en-US" sz="1200" dirty="0"/>
          </a:p>
        </p:txBody>
      </p:sp>
      <p:sp>
        <p:nvSpPr>
          <p:cNvPr id="13" name="Text 11"/>
          <p:cNvSpPr/>
          <p:nvPr/>
        </p:nvSpPr>
        <p:spPr>
          <a:xfrm>
            <a:off x="457200" y="3950208"/>
            <a:ext cx="5303520" cy="178308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Look at the moon's phase. Is it waxing or waning? How many days since the new moon? This tells roughly how many days at sea — and how many more until land. Full moon = best night visibility!</a:t>
            </a:r>
            <a:endParaRPr lang="en-US" sz="1100" dirty="0"/>
          </a:p>
        </p:txBody>
      </p:sp>
      <p:sp>
        <p:nvSpPr>
          <p:cNvPr id="14" name="Shape 12"/>
          <p:cNvSpPr/>
          <p:nvPr/>
        </p:nvSpPr>
        <p:spPr>
          <a:xfrm>
            <a:off x="6263640" y="3456432"/>
            <a:ext cx="5577840" cy="2468880"/>
          </a:xfrm>
          <a:prstGeom prst="roundRect">
            <a:avLst>
              <a:gd name="adj" fmla="val 2963"/>
            </a:avLst>
          </a:prstGeom>
          <a:solidFill>
            <a:srgbClr val="1E2F45"/>
          </a:solidFill>
          <a:ln w="12700">
            <a:solidFill>
              <a:srgbClr val="F4736A"/>
            </a:solidFill>
            <a:prstDash val="solid"/>
          </a:ln>
        </p:spPr>
      </p:sp>
      <p:sp>
        <p:nvSpPr>
          <p:cNvPr id="15" name="Text 13"/>
          <p:cNvSpPr/>
          <p:nvPr/>
        </p:nvSpPr>
        <p:spPr>
          <a:xfrm>
            <a:off x="6400800" y="3547872"/>
            <a:ext cx="5303520" cy="384048"/>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Step 4 — Draw Your Star Map</a:t>
            </a:r>
            <a:endParaRPr lang="en-US" sz="1200" dirty="0"/>
          </a:p>
        </p:txBody>
      </p:sp>
      <p:sp>
        <p:nvSpPr>
          <p:cNvPr id="16" name="Text 14"/>
          <p:cNvSpPr/>
          <p:nvPr/>
        </p:nvSpPr>
        <p:spPr>
          <a:xfrm>
            <a:off x="6400800" y="3950208"/>
            <a:ext cx="5303520" cy="178308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Every experienced navigator memorized a personal star map: which stars were visible in which seasons, where constellations appeared, what the moon cycle said about the calendar. This was their most valuable tool!</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EVIDENCE-BASED REASONING — Night Navigation</a:t>
            </a:r>
            <a:endParaRPr lang="en-US" sz="1600" dirty="0"/>
          </a:p>
        </p:txBody>
      </p:sp>
      <p:sp>
        <p:nvSpPr>
          <p:cNvPr id="5" name="Shape 3"/>
          <p:cNvSpPr/>
          <p:nvPr/>
        </p:nvSpPr>
        <p:spPr>
          <a:xfrm>
            <a:off x="365760" y="713232"/>
            <a:ext cx="11430000" cy="960120"/>
          </a:xfrm>
          <a:prstGeom prst="roundRect">
            <a:avLst>
              <a:gd name="adj" fmla="val 7619"/>
            </a:avLst>
          </a:prstGeom>
          <a:solidFill>
            <a:srgbClr val="1E2F45"/>
          </a:solidFill>
          <a:ln w="12700">
            <a:solidFill>
              <a:srgbClr val="FFB703"/>
            </a:solidFill>
            <a:prstDash val="solid"/>
          </a:ln>
        </p:spPr>
      </p:sp>
      <p:sp>
        <p:nvSpPr>
          <p:cNvPr id="6" name="Text 4"/>
          <p:cNvSpPr/>
          <p:nvPr/>
        </p:nvSpPr>
        <p:spPr>
          <a:xfrm>
            <a:off x="548640" y="804672"/>
            <a:ext cx="10972800" cy="74980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Evidence Frame: 'I know ___ because I observed/learned ___. This shows ___.'</a:t>
            </a:r>
            <a:endParaRPr lang="en-US" sz="1200" dirty="0"/>
          </a:p>
        </p:txBody>
      </p:sp>
      <p:sp>
        <p:nvSpPr>
          <p:cNvPr id="7" name="Shape 5"/>
          <p:cNvSpPr/>
          <p:nvPr/>
        </p:nvSpPr>
        <p:spPr>
          <a:xfrm>
            <a:off x="365760" y="1810512"/>
            <a:ext cx="5486400" cy="2377440"/>
          </a:xfrm>
          <a:prstGeom prst="roundRect">
            <a:avLst>
              <a:gd name="adj" fmla="val 3077"/>
            </a:avLst>
          </a:prstGeom>
          <a:solidFill>
            <a:srgbClr val="162233"/>
          </a:solidFill>
          <a:ln w="12700">
            <a:solidFill>
              <a:srgbClr val="4CC9F0"/>
            </a:solidFill>
            <a:prstDash val="solid"/>
          </a:ln>
        </p:spPr>
      </p:sp>
      <p:sp>
        <p:nvSpPr>
          <p:cNvPr id="8" name="Text 6"/>
          <p:cNvSpPr/>
          <p:nvPr/>
        </p:nvSpPr>
        <p:spPr>
          <a:xfrm>
            <a:off x="530352" y="1883664"/>
            <a:ext cx="5157216"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Question 1 — Why Polaris Works</a:t>
            </a:r>
            <a:endParaRPr lang="en-US" sz="1300" dirty="0"/>
          </a:p>
        </p:txBody>
      </p:sp>
      <p:sp>
        <p:nvSpPr>
          <p:cNvPr id="9" name="Text 7"/>
          <p:cNvSpPr/>
          <p:nvPr/>
        </p:nvSpPr>
        <p:spPr>
          <a:xfrm>
            <a:off x="530352" y="2249424"/>
            <a:ext cx="5157216" cy="1828800"/>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"If you needed to figure out which direction was north using only the night sky, what would you look for? What would be useful about a star that never seems to move?"</a:t>
            </a:r>
            <a:endParaRPr lang="en-US" sz="1150" dirty="0"/>
          </a:p>
          <a:p>
            <a:pPr algn="l" indent="0" marL="0">
              <a:buNone/>
            </a:pP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I know ___ because ___. This shows ___.</a:t>
            </a:r>
            <a:endParaRPr lang="en-US" sz="1150" dirty="0"/>
          </a:p>
        </p:txBody>
      </p:sp>
      <p:sp>
        <p:nvSpPr>
          <p:cNvPr id="10" name="Shape 8"/>
          <p:cNvSpPr/>
          <p:nvPr/>
        </p:nvSpPr>
        <p:spPr>
          <a:xfrm>
            <a:off x="6035040" y="1810512"/>
            <a:ext cx="5760720" cy="2377440"/>
          </a:xfrm>
          <a:prstGeom prst="roundRect">
            <a:avLst>
              <a:gd name="adj" fmla="val 3077"/>
            </a:avLst>
          </a:prstGeom>
          <a:solidFill>
            <a:srgbClr val="162233"/>
          </a:solidFill>
          <a:ln w="12700">
            <a:solidFill>
              <a:srgbClr val="2DC653"/>
            </a:solidFill>
            <a:prstDash val="solid"/>
          </a:ln>
        </p:spPr>
      </p:sp>
      <p:sp>
        <p:nvSpPr>
          <p:cNvPr id="11" name="Text 9"/>
          <p:cNvSpPr/>
          <p:nvPr/>
        </p:nvSpPr>
        <p:spPr>
          <a:xfrm>
            <a:off x="6199632" y="1883664"/>
            <a:ext cx="5431536"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Question 2 — Southern Hemisphere</a:t>
            </a:r>
            <a:endParaRPr lang="en-US" sz="1300" dirty="0"/>
          </a:p>
        </p:txBody>
      </p:sp>
      <p:sp>
        <p:nvSpPr>
          <p:cNvPr id="12" name="Text 10"/>
          <p:cNvSpPr/>
          <p:nvPr/>
        </p:nvSpPr>
        <p:spPr>
          <a:xfrm>
            <a:off x="6199632" y="2249424"/>
            <a:ext cx="5431536" cy="1828800"/>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"Sailors in the Southern Hemisphere cannot see Polaris. They use the Southern Cross instead. Why does the Southern Cross work the same way?</a:t>
            </a:r>
            <a:endParaRPr lang="en-US" sz="1150" dirty="0"/>
          </a:p>
          <a:p>
            <a:pPr algn="l" indent="0" marL="0">
              <a:buNone/>
            </a:pP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What evidence from our lesson tells us it works?"</a:t>
            </a:r>
            <a:endParaRPr lang="en-US" sz="1150" dirty="0"/>
          </a:p>
        </p:txBody>
      </p:sp>
      <p:sp>
        <p:nvSpPr>
          <p:cNvPr id="13" name="Shape 11"/>
          <p:cNvSpPr/>
          <p:nvPr/>
        </p:nvSpPr>
        <p:spPr>
          <a:xfrm>
            <a:off x="365760" y="4315968"/>
            <a:ext cx="11430000" cy="1874520"/>
          </a:xfrm>
          <a:prstGeom prst="roundRect">
            <a:avLst>
              <a:gd name="adj" fmla="val 3902"/>
            </a:avLst>
          </a:prstGeom>
          <a:solidFill>
            <a:srgbClr val="162233"/>
          </a:solidFill>
          <a:ln w="12700">
            <a:solidFill>
              <a:srgbClr val="FFB703"/>
            </a:solidFill>
            <a:prstDash val="solid"/>
          </a:ln>
        </p:spPr>
      </p:sp>
      <p:sp>
        <p:nvSpPr>
          <p:cNvPr id="14" name="Text 12"/>
          <p:cNvSpPr/>
          <p:nvPr/>
        </p:nvSpPr>
        <p:spPr>
          <a:xfrm>
            <a:off x="530352" y="438912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Question 3 — Multiple Sky Guides</a:t>
            </a:r>
            <a:endParaRPr lang="en-US" sz="1300" dirty="0"/>
          </a:p>
        </p:txBody>
      </p:sp>
      <p:sp>
        <p:nvSpPr>
          <p:cNvPr id="15" name="Text 13"/>
          <p:cNvSpPr/>
          <p:nvPr/>
        </p:nvSpPr>
        <p:spPr>
          <a:xfrm>
            <a:off x="530352" y="4754880"/>
            <a:ext cx="11100816" cy="132588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"Why did experienced navigators use stars, constellations, AND moon phases together instead of relying on just one? Use evidence from today's lesson. I know ___ because ___. This shows ___."</a:t>
            </a:r>
            <a:endParaRPr lang="en-US" sz="12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CER PRACTICE — On Your Own! No Sentence Starters This Time.</a:t>
            </a:r>
            <a:endParaRPr lang="en-US" sz="1600" dirty="0"/>
          </a:p>
        </p:txBody>
      </p:sp>
      <p:sp>
        <p:nvSpPr>
          <p:cNvPr id="5" name="Shape 3"/>
          <p:cNvSpPr/>
          <p:nvPr/>
        </p:nvSpPr>
        <p:spPr>
          <a:xfrm>
            <a:off x="365760" y="713232"/>
            <a:ext cx="11430000" cy="804672"/>
          </a:xfrm>
          <a:prstGeom prst="roundRect">
            <a:avLst>
              <a:gd name="adj" fmla="val 9091"/>
            </a:avLst>
          </a:prstGeom>
          <a:solidFill>
            <a:srgbClr val="FFB703"/>
          </a:solidFill>
          <a:ln w="12700">
            <a:solidFill>
              <a:srgbClr val="FFB703"/>
            </a:solidFill>
            <a:prstDash val="solid"/>
          </a:ln>
        </p:spPr>
      </p:sp>
      <p:sp>
        <p:nvSpPr>
          <p:cNvPr id="6" name="Text 4"/>
          <p:cNvSpPr/>
          <p:nvPr/>
        </p:nvSpPr>
        <p:spPr>
          <a:xfrm>
            <a:off x="548640" y="777240"/>
            <a:ext cx="10972800" cy="658368"/>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Starting this lesson — CER has blank lines only. You've practiced 4 times. You are ready! This is also your assignment CER.</a:t>
            </a:r>
            <a:endParaRPr lang="en-US" sz="1100" dirty="0"/>
          </a:p>
        </p:txBody>
      </p:sp>
      <p:sp>
        <p:nvSpPr>
          <p:cNvPr id="7" name="Text 5"/>
          <p:cNvSpPr/>
          <p:nvPr/>
        </p:nvSpPr>
        <p:spPr>
          <a:xfrm>
            <a:off x="365760" y="1627632"/>
            <a:ext cx="1143000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Question: Which star or pattern is the most reliable guide for finding direction at night? Use evidence from today's lesson to support your claim.</a:t>
            </a:r>
            <a:endParaRPr lang="en-US" sz="1200" dirty="0"/>
          </a:p>
        </p:txBody>
      </p:sp>
      <p:sp>
        <p:nvSpPr>
          <p:cNvPr id="8" name="Shape 6"/>
          <p:cNvSpPr/>
          <p:nvPr/>
        </p:nvSpPr>
        <p:spPr>
          <a:xfrm>
            <a:off x="365760" y="2212848"/>
            <a:ext cx="3566160" cy="3657600"/>
          </a:xfrm>
          <a:prstGeom prst="roundRect">
            <a:avLst>
              <a:gd name="adj" fmla="val 2051"/>
            </a:avLst>
          </a:prstGeom>
          <a:solidFill>
            <a:srgbClr val="0A3D8F"/>
          </a:solidFill>
          <a:ln w="12700">
            <a:solidFill>
              <a:srgbClr val="1A5FBD"/>
            </a:solidFill>
            <a:prstDash val="solid"/>
          </a:ln>
        </p:spPr>
      </p:sp>
      <p:sp>
        <p:nvSpPr>
          <p:cNvPr id="9" name="Shape 7"/>
          <p:cNvSpPr/>
          <p:nvPr/>
        </p:nvSpPr>
        <p:spPr>
          <a:xfrm>
            <a:off x="365760" y="2212848"/>
            <a:ext cx="3566160" cy="347472"/>
          </a:xfrm>
          <a:prstGeom prst="roundRect">
            <a:avLst>
              <a:gd name="adj" fmla="val 21053"/>
            </a:avLst>
          </a:prstGeom>
          <a:solidFill>
            <a:srgbClr val="1A5FBD"/>
          </a:solidFill>
          <a:ln w="12700">
            <a:solidFill>
              <a:srgbClr val="1A5FBD"/>
            </a:solidFill>
            <a:prstDash val="solid"/>
          </a:ln>
        </p:spPr>
      </p:sp>
      <p:sp>
        <p:nvSpPr>
          <p:cNvPr id="10" name="Text 8"/>
          <p:cNvSpPr/>
          <p:nvPr/>
        </p:nvSpPr>
        <p:spPr>
          <a:xfrm>
            <a:off x="457200" y="2231136"/>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CLAIM</a:t>
            </a:r>
            <a:endParaRPr lang="en-US" sz="1200" dirty="0"/>
          </a:p>
        </p:txBody>
      </p:sp>
      <p:sp>
        <p:nvSpPr>
          <p:cNvPr id="11" name="Text 9"/>
          <p:cNvSpPr/>
          <p:nvPr/>
        </p:nvSpPr>
        <p:spPr>
          <a:xfrm>
            <a:off x="457200" y="2615184"/>
            <a:ext cx="3383280" cy="320040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Write your claim here.</a:t>
            </a:r>
            <a:endParaRPr lang="en-US" sz="1100" dirty="0"/>
          </a:p>
        </p:txBody>
      </p:sp>
      <p:sp>
        <p:nvSpPr>
          <p:cNvPr id="12" name="Shape 10"/>
          <p:cNvSpPr/>
          <p:nvPr/>
        </p:nvSpPr>
        <p:spPr>
          <a:xfrm>
            <a:off x="4114800" y="2212848"/>
            <a:ext cx="3566160" cy="3657600"/>
          </a:xfrm>
          <a:prstGeom prst="roundRect">
            <a:avLst>
              <a:gd name="adj" fmla="val 2051"/>
            </a:avLst>
          </a:prstGeom>
          <a:solidFill>
            <a:srgbClr val="145C35"/>
          </a:solidFill>
          <a:ln w="12700">
            <a:solidFill>
              <a:srgbClr val="228B50"/>
            </a:solidFill>
            <a:prstDash val="solid"/>
          </a:ln>
        </p:spPr>
      </p:sp>
      <p:sp>
        <p:nvSpPr>
          <p:cNvPr id="13" name="Shape 11"/>
          <p:cNvSpPr/>
          <p:nvPr/>
        </p:nvSpPr>
        <p:spPr>
          <a:xfrm>
            <a:off x="4114800" y="2212848"/>
            <a:ext cx="3566160" cy="347472"/>
          </a:xfrm>
          <a:prstGeom prst="roundRect">
            <a:avLst>
              <a:gd name="adj" fmla="val 21053"/>
            </a:avLst>
          </a:prstGeom>
          <a:solidFill>
            <a:srgbClr val="228B50"/>
          </a:solidFill>
          <a:ln w="12700">
            <a:solidFill>
              <a:srgbClr val="228B50"/>
            </a:solidFill>
            <a:prstDash val="solid"/>
          </a:ln>
        </p:spPr>
      </p:sp>
      <p:sp>
        <p:nvSpPr>
          <p:cNvPr id="14" name="Text 12"/>
          <p:cNvSpPr/>
          <p:nvPr/>
        </p:nvSpPr>
        <p:spPr>
          <a:xfrm>
            <a:off x="4206240" y="2231136"/>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p>
        </p:txBody>
      </p:sp>
      <p:sp>
        <p:nvSpPr>
          <p:cNvPr id="15" name="Text 13"/>
          <p:cNvSpPr/>
          <p:nvPr/>
        </p:nvSpPr>
        <p:spPr>
          <a:xfrm>
            <a:off x="4206240" y="2615184"/>
            <a:ext cx="3383280" cy="320040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Write your evidence here.</a:t>
            </a:r>
            <a:endParaRPr lang="en-US" sz="1100" dirty="0"/>
          </a:p>
        </p:txBody>
      </p:sp>
      <p:sp>
        <p:nvSpPr>
          <p:cNvPr id="16" name="Shape 14"/>
          <p:cNvSpPr/>
          <p:nvPr/>
        </p:nvSpPr>
        <p:spPr>
          <a:xfrm>
            <a:off x="7863840" y="2212848"/>
            <a:ext cx="3977640" cy="3657600"/>
          </a:xfrm>
          <a:prstGeom prst="roundRect">
            <a:avLst>
              <a:gd name="adj" fmla="val 2000"/>
            </a:avLst>
          </a:prstGeom>
          <a:solidFill>
            <a:srgbClr val="7A3200"/>
          </a:solidFill>
          <a:ln w="12700">
            <a:solidFill>
              <a:srgbClr val="B04A00"/>
            </a:solidFill>
            <a:prstDash val="solid"/>
          </a:ln>
        </p:spPr>
      </p:sp>
      <p:sp>
        <p:nvSpPr>
          <p:cNvPr id="17" name="Shape 15"/>
          <p:cNvSpPr/>
          <p:nvPr/>
        </p:nvSpPr>
        <p:spPr>
          <a:xfrm>
            <a:off x="7863840" y="2212848"/>
            <a:ext cx="3977640" cy="347472"/>
          </a:xfrm>
          <a:prstGeom prst="roundRect">
            <a:avLst>
              <a:gd name="adj" fmla="val 21053"/>
            </a:avLst>
          </a:prstGeom>
          <a:solidFill>
            <a:srgbClr val="B04A00"/>
          </a:solidFill>
          <a:ln w="12700">
            <a:solidFill>
              <a:srgbClr val="B04A00"/>
            </a:solidFill>
            <a:prstDash val="solid"/>
          </a:ln>
        </p:spPr>
      </p:sp>
      <p:sp>
        <p:nvSpPr>
          <p:cNvPr id="18" name="Text 16"/>
          <p:cNvSpPr/>
          <p:nvPr/>
        </p:nvSpPr>
        <p:spPr>
          <a:xfrm>
            <a:off x="7955280" y="2231136"/>
            <a:ext cx="37947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REASONING</a:t>
            </a:r>
            <a:endParaRPr lang="en-US" sz="1200" dirty="0"/>
          </a:p>
        </p:txBody>
      </p:sp>
      <p:sp>
        <p:nvSpPr>
          <p:cNvPr id="19" name="Text 17"/>
          <p:cNvSpPr/>
          <p:nvPr/>
        </p:nvSpPr>
        <p:spPr>
          <a:xfrm>
            <a:off x="7955280" y="2615184"/>
            <a:ext cx="3794760" cy="320040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Write your reasoning here.</a:t>
            </a:r>
            <a:endParaRPr lang="en-US" sz="1100" dirty="0"/>
          </a:p>
        </p:txBody>
      </p:sp>
      <p:sp>
        <p:nvSpPr>
          <p:cNvPr id="20" name="Text 18"/>
          <p:cNvSpPr/>
          <p:nvPr/>
        </p:nvSpPr>
        <p:spPr>
          <a:xfrm>
            <a:off x="365760" y="5989320"/>
            <a:ext cx="11430000" cy="320040"/>
          </a:xfrm>
          <a:prstGeom prst="rect">
            <a:avLst/>
          </a:prstGeom>
          <a:noFill/>
          <a:ln/>
        </p:spPr>
        <p:txBody>
          <a:bodyPr wrap="square" rtlCol="0" anchor="ctr"/>
          <a:lstStyle/>
          <a:p>
            <a:pPr indent="0" marL="0">
              <a:buNone/>
            </a:pPr>
            <a:r>
              <a:rPr lang="en-US" sz="1050" i="1" dirty="0">
                <a:solidFill>
                  <a:srgbClr val="8899AA"/>
                </a:solidFill>
                <a:latin typeface="Calibri" pitchFamily="34" charset="0"/>
                <a:ea typeface="Calibri" pitchFamily="34" charset="-122"/>
                <a:cs typeface="Calibri" pitchFamily="34" charset="-120"/>
              </a:rPr>
              <a:t>Vocab check: Try to use constellation, Polaris, navigation, pattern</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ELABORATE — The Greatest Navigators in History: Polynesian Wayfinders</a:t>
            </a:r>
            <a:endParaRPr lang="en-US" sz="1600" dirty="0"/>
          </a:p>
        </p:txBody>
      </p:sp>
      <p:sp>
        <p:nvSpPr>
          <p:cNvPr id="5" name="Shape 3"/>
          <p:cNvSpPr/>
          <p:nvPr/>
        </p:nvSpPr>
        <p:spPr>
          <a:xfrm>
            <a:off x="365760" y="713232"/>
            <a:ext cx="5303520" cy="3474720"/>
          </a:xfrm>
          <a:prstGeom prst="roundRect">
            <a:avLst>
              <a:gd name="adj" fmla="val 2105"/>
            </a:avLst>
          </a:prstGeom>
          <a:solidFill>
            <a:srgbClr val="0A1520"/>
          </a:solidFill>
          <a:ln w="19050">
            <a:solidFill>
              <a:srgbClr val="4CC9F0"/>
            </a:solidFill>
            <a:prstDash val="dash"/>
          </a:ln>
        </p:spPr>
      </p:sp>
      <p:sp>
        <p:nvSpPr>
          <p:cNvPr id="6" name="Text 4"/>
          <p:cNvSpPr/>
          <p:nvPr/>
        </p:nvSpPr>
        <p:spPr>
          <a:xfrm>
            <a:off x="457200" y="822960"/>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61872"/>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54480"/>
            <a:ext cx="5084064" cy="24231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"Polynesian traditional sailing canoe double hull Pacific ocean stars wayfinding navigation"</a:t>
            </a:r>
            <a:endParaRPr lang="en-US" sz="950" dirty="0"/>
          </a:p>
        </p:txBody>
      </p:sp>
      <p:sp>
        <p:nvSpPr>
          <p:cNvPr id="9" name="Text 7"/>
          <p:cNvSpPr/>
          <p:nvPr/>
        </p:nvSpPr>
        <p:spPr>
          <a:xfrm>
            <a:off x="365760" y="4224528"/>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Traditional Polynesian double-hull canoe — navigated the Pacific without instruments</a:t>
            </a:r>
            <a:endParaRPr lang="en-US" sz="900" dirty="0"/>
          </a:p>
        </p:txBody>
      </p:sp>
      <p:sp>
        <p:nvSpPr>
          <p:cNvPr id="10" name="Shape 8"/>
          <p:cNvSpPr/>
          <p:nvPr/>
        </p:nvSpPr>
        <p:spPr>
          <a:xfrm>
            <a:off x="5943600" y="713232"/>
            <a:ext cx="5943600" cy="3474720"/>
          </a:xfrm>
          <a:prstGeom prst="roundRect">
            <a:avLst>
              <a:gd name="adj" fmla="val 2105"/>
            </a:avLst>
          </a:prstGeom>
          <a:solidFill>
            <a:srgbClr val="1E2F45"/>
          </a:solidFill>
          <a:ln w="12700">
            <a:solidFill>
              <a:srgbClr val="4CC9F0"/>
            </a:solidFill>
            <a:prstDash val="solid"/>
          </a:ln>
        </p:spPr>
      </p:sp>
      <p:sp>
        <p:nvSpPr>
          <p:cNvPr id="11" name="Text 9"/>
          <p:cNvSpPr/>
          <p:nvPr/>
        </p:nvSpPr>
        <p:spPr>
          <a:xfrm>
            <a:off x="6126480" y="804672"/>
            <a:ext cx="5577840" cy="914400"/>
          </a:xfrm>
          <a:prstGeom prst="rect">
            <a:avLst/>
          </a:prstGeom>
          <a:noFill/>
          <a:ln/>
        </p:spPr>
        <p:txBody>
          <a:bodyPr wrap="square" rtlCol="0" anchor="ctr"/>
          <a:lstStyle/>
          <a:p>
            <a:pPr indent="0" marL="0">
              <a:buNone/>
            </a:pPr>
            <a:r>
              <a:rPr lang="en-US" sz="1150" b="1" dirty="0">
                <a:solidFill>
                  <a:srgbClr val="4CC9F0"/>
                </a:solidFill>
                <a:latin typeface="Calibri" pitchFamily="34" charset="0"/>
                <a:ea typeface="Calibri" pitchFamily="34" charset="-122"/>
                <a:cs typeface="Calibri" pitchFamily="34" charset="-120"/>
              </a:rPr>
              <a:t>Ancient Polynesian navigators memorized over 200 stars by name to sail across the vast Pacific Ocean — with no compass, no map, and no instruments!</a:t>
            </a:r>
            <a:endParaRPr lang="en-US" sz="1150" dirty="0"/>
          </a:p>
        </p:txBody>
      </p:sp>
      <p:sp>
        <p:nvSpPr>
          <p:cNvPr id="12" name="Text 10"/>
          <p:cNvSpPr/>
          <p:nvPr/>
        </p:nvSpPr>
        <p:spPr>
          <a:xfrm>
            <a:off x="6126480" y="1737360"/>
            <a:ext cx="5577840" cy="23774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They also used:</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Ocean wave patterns (felt with their bodies!)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Bird flight paths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Cloud formations near islands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The smell of different lands on the breeze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This knowledge passed from teacher to student for thousands of years with NO written instructions. Scientists today call it one of the greatest navigation achievements in human history.</a:t>
            </a:r>
            <a:endParaRPr lang="en-US" sz="1100" dirty="0"/>
          </a:p>
        </p:txBody>
      </p:sp>
      <p:sp>
        <p:nvSpPr>
          <p:cNvPr id="13" name="Shape 11"/>
          <p:cNvSpPr/>
          <p:nvPr/>
        </p:nvSpPr>
        <p:spPr>
          <a:xfrm>
            <a:off x="365760" y="4315968"/>
            <a:ext cx="11430000" cy="1874520"/>
          </a:xfrm>
          <a:prstGeom prst="roundRect">
            <a:avLst>
              <a:gd name="adj" fmla="val 3902"/>
            </a:avLst>
          </a:prstGeom>
          <a:solidFill>
            <a:srgbClr val="1E2F45"/>
          </a:solidFill>
          <a:ln w="12700">
            <a:solidFill>
              <a:srgbClr val="2DC653"/>
            </a:solidFill>
            <a:prstDash val="solid"/>
          </a:ln>
        </p:spPr>
      </p:sp>
      <p:sp>
        <p:nvSpPr>
          <p:cNvPr id="14" name="Text 12"/>
          <p:cNvSpPr/>
          <p:nvPr/>
        </p:nvSpPr>
        <p:spPr>
          <a:xfrm>
            <a:off x="548640" y="4407408"/>
            <a:ext cx="109728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The Southern Cross on National Flags!</a:t>
            </a:r>
            <a:endParaRPr lang="en-US" sz="1200" dirty="0"/>
          </a:p>
        </p:txBody>
      </p:sp>
      <p:sp>
        <p:nvSpPr>
          <p:cNvPr id="15" name="Text 13"/>
          <p:cNvSpPr/>
          <p:nvPr/>
        </p:nvSpPr>
        <p:spPr>
          <a:xfrm>
            <a:off x="548640" y="4773168"/>
            <a:ext cx="10972800" cy="12801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 Southern Cross appears on the flags of Australia, New Zealand, Brazil, and Papua New Guinea — a permanent reminder of how important this constellation was to explorers and the peoples of the Southern Hemisphere. A constellation so important it became a national symbol!</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SELF-CHECK — Let's See What Sticks!</a:t>
            </a:r>
            <a:endParaRPr lang="en-US" sz="1600" dirty="0"/>
          </a:p>
        </p:txBody>
      </p:sp>
      <p:sp>
        <p:nvSpPr>
          <p:cNvPr id="5" name="Shape 3"/>
          <p:cNvSpPr/>
          <p:nvPr/>
        </p:nvSpPr>
        <p:spPr>
          <a:xfrm>
            <a:off x="365760" y="713232"/>
            <a:ext cx="11430000" cy="1783080"/>
          </a:xfrm>
          <a:prstGeom prst="roundRect">
            <a:avLst>
              <a:gd name="adj" fmla="val 4103"/>
            </a:avLst>
          </a:prstGeom>
          <a:solidFill>
            <a:srgbClr val="1E2F45"/>
          </a:solidFill>
          <a:ln w="12700">
            <a:solidFill>
              <a:srgbClr val="2DC653"/>
            </a:solidFill>
            <a:prstDash val="solid"/>
          </a:ln>
        </p:spPr>
      </p:sp>
      <p:sp>
        <p:nvSpPr>
          <p:cNvPr id="6" name="Text 4"/>
          <p:cNvSpPr/>
          <p:nvPr/>
        </p:nvSpPr>
        <p:spPr>
          <a:xfrm>
            <a:off x="548640" y="786384"/>
            <a:ext cx="1106424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 Why is Polaris (the North Star) so useful for navigation?</a:t>
            </a:r>
            <a:endParaRPr lang="en-US" sz="1200" dirty="0"/>
          </a:p>
        </p:txBody>
      </p:sp>
      <p:sp>
        <p:nvSpPr>
          <p:cNvPr id="7" name="Text 5"/>
          <p:cNvSpPr/>
          <p:nvPr/>
        </p:nvSpPr>
        <p:spPr>
          <a:xfrm>
            <a:off x="731520" y="1188720"/>
            <a:ext cx="10881360" cy="32004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A. It stays almost still in the northern sky and always shows the direction north</a:t>
            </a:r>
            <a:endParaRPr lang="en-US" sz="1100" dirty="0"/>
          </a:p>
        </p:txBody>
      </p:sp>
      <p:sp>
        <p:nvSpPr>
          <p:cNvPr id="8" name="Text 6"/>
          <p:cNvSpPr/>
          <p:nvPr/>
        </p:nvSpPr>
        <p:spPr>
          <a:xfrm>
            <a:off x="731520" y="1536192"/>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It is the brightest star in the whole sky</a:t>
            </a:r>
            <a:endParaRPr lang="en-US" sz="1100" dirty="0"/>
          </a:p>
        </p:txBody>
      </p:sp>
      <p:sp>
        <p:nvSpPr>
          <p:cNvPr id="9" name="Text 7"/>
          <p:cNvSpPr/>
          <p:nvPr/>
        </p:nvSpPr>
        <p:spPr>
          <a:xfrm>
            <a:off x="731520" y="1883664"/>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It appears only in summer, so sailors know what season it is</a:t>
            </a:r>
            <a:endParaRPr lang="en-US" sz="1100" dirty="0"/>
          </a:p>
        </p:txBody>
      </p:sp>
      <p:sp>
        <p:nvSpPr>
          <p:cNvPr id="10" name="Shape 8"/>
          <p:cNvSpPr/>
          <p:nvPr/>
        </p:nvSpPr>
        <p:spPr>
          <a:xfrm>
            <a:off x="365760" y="2633472"/>
            <a:ext cx="11430000" cy="1783080"/>
          </a:xfrm>
          <a:prstGeom prst="roundRect">
            <a:avLst>
              <a:gd name="adj" fmla="val 4103"/>
            </a:avLst>
          </a:prstGeom>
          <a:solidFill>
            <a:srgbClr val="1E2F45"/>
          </a:solidFill>
          <a:ln w="12700">
            <a:solidFill>
              <a:srgbClr val="2DC653"/>
            </a:solidFill>
            <a:prstDash val="solid"/>
          </a:ln>
        </p:spPr>
      </p:sp>
      <p:sp>
        <p:nvSpPr>
          <p:cNvPr id="11" name="Text 9"/>
          <p:cNvSpPr/>
          <p:nvPr/>
        </p:nvSpPr>
        <p:spPr>
          <a:xfrm>
            <a:off x="548640" y="2706624"/>
            <a:ext cx="1106424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 What is a constellation?</a:t>
            </a:r>
            <a:endParaRPr lang="en-US" sz="1200" dirty="0"/>
          </a:p>
        </p:txBody>
      </p:sp>
      <p:sp>
        <p:nvSpPr>
          <p:cNvPr id="12" name="Text 10"/>
          <p:cNvSpPr/>
          <p:nvPr/>
        </p:nvSpPr>
        <p:spPr>
          <a:xfrm>
            <a:off x="731520" y="3108960"/>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A type of telescope used by sailors</a:t>
            </a:r>
            <a:endParaRPr lang="en-US" sz="1100" dirty="0"/>
          </a:p>
        </p:txBody>
      </p:sp>
      <p:sp>
        <p:nvSpPr>
          <p:cNvPr id="13" name="Text 11"/>
          <p:cNvSpPr/>
          <p:nvPr/>
        </p:nvSpPr>
        <p:spPr>
          <a:xfrm>
            <a:off x="731520" y="3456432"/>
            <a:ext cx="10881360" cy="32004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B. A group of stars that forms a pattern or picture in the night sky</a:t>
            </a:r>
            <a:endParaRPr lang="en-US" sz="1100" dirty="0"/>
          </a:p>
        </p:txBody>
      </p:sp>
      <p:sp>
        <p:nvSpPr>
          <p:cNvPr id="14" name="Text 12"/>
          <p:cNvSpPr/>
          <p:nvPr/>
        </p:nvSpPr>
        <p:spPr>
          <a:xfrm>
            <a:off x="731520" y="3803904"/>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The bright lit side of the moon</a:t>
            </a:r>
            <a:endParaRPr lang="en-US" sz="1100" dirty="0"/>
          </a:p>
        </p:txBody>
      </p:sp>
      <p:sp>
        <p:nvSpPr>
          <p:cNvPr id="15" name="Shape 13"/>
          <p:cNvSpPr/>
          <p:nvPr/>
        </p:nvSpPr>
        <p:spPr>
          <a:xfrm>
            <a:off x="365760" y="4553712"/>
            <a:ext cx="11430000" cy="1783080"/>
          </a:xfrm>
          <a:prstGeom prst="roundRect">
            <a:avLst>
              <a:gd name="adj" fmla="val 4103"/>
            </a:avLst>
          </a:prstGeom>
          <a:solidFill>
            <a:srgbClr val="1E2F45"/>
          </a:solidFill>
          <a:ln w="12700">
            <a:solidFill>
              <a:srgbClr val="2DC653"/>
            </a:solidFill>
            <a:prstDash val="solid"/>
          </a:ln>
        </p:spPr>
      </p:sp>
      <p:sp>
        <p:nvSpPr>
          <p:cNvPr id="16" name="Text 14"/>
          <p:cNvSpPr/>
          <p:nvPr/>
        </p:nvSpPr>
        <p:spPr>
          <a:xfrm>
            <a:off x="548640" y="4626864"/>
            <a:ext cx="1106424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 How did early explorers use the moon's phases?</a:t>
            </a:r>
            <a:endParaRPr lang="en-US" sz="1200" dirty="0"/>
          </a:p>
        </p:txBody>
      </p:sp>
      <p:sp>
        <p:nvSpPr>
          <p:cNvPr id="17" name="Text 15"/>
          <p:cNvSpPr/>
          <p:nvPr/>
        </p:nvSpPr>
        <p:spPr>
          <a:xfrm>
            <a:off x="731520" y="5029200"/>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To predict earthquakes and ocean storms</a:t>
            </a:r>
            <a:endParaRPr lang="en-US" sz="1100" dirty="0"/>
          </a:p>
        </p:txBody>
      </p:sp>
      <p:sp>
        <p:nvSpPr>
          <p:cNvPr id="18" name="Text 16"/>
          <p:cNvSpPr/>
          <p:nvPr/>
        </p:nvSpPr>
        <p:spPr>
          <a:xfrm>
            <a:off x="731520" y="5376672"/>
            <a:ext cx="10881360" cy="32004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B. To count days and track how long they had been at sea</a:t>
            </a:r>
            <a:endParaRPr lang="en-US" sz="1100" dirty="0"/>
          </a:p>
        </p:txBody>
      </p:sp>
      <p:sp>
        <p:nvSpPr>
          <p:cNvPr id="19" name="Text 17"/>
          <p:cNvSpPr/>
          <p:nvPr/>
        </p:nvSpPr>
        <p:spPr>
          <a:xfrm>
            <a:off x="731520" y="5724144"/>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To measure how deep the ocean was beneath their ship</a:t>
            </a:r>
            <a:endParaRPr lang="en-US" sz="11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ASSIGNMENT — Navigating by the Night Sky</a:t>
            </a:r>
            <a:endParaRPr lang="en-US" sz="1600" dirty="0"/>
          </a:p>
        </p:txBody>
      </p:sp>
      <p:sp>
        <p:nvSpPr>
          <p:cNvPr id="5" name="Shape 3"/>
          <p:cNvSpPr/>
          <p:nvPr/>
        </p:nvSpPr>
        <p:spPr>
          <a:xfrm>
            <a:off x="365760" y="713232"/>
            <a:ext cx="5486400" cy="5394960"/>
          </a:xfrm>
          <a:prstGeom prst="roundRect">
            <a:avLst>
              <a:gd name="adj" fmla="val 1356"/>
            </a:avLst>
          </a:prstGeom>
          <a:solidFill>
            <a:srgbClr val="1E2F45"/>
          </a:solidFill>
          <a:ln w="12700">
            <a:solidFill>
              <a:srgbClr val="FFB703"/>
            </a:solidFill>
            <a:prstDash val="solid"/>
          </a:ln>
        </p:spPr>
      </p:sp>
      <p:sp>
        <p:nvSpPr>
          <p:cNvPr id="6" name="Text 4"/>
          <p:cNvSpPr/>
          <p:nvPr/>
        </p:nvSpPr>
        <p:spPr>
          <a:xfrm>
            <a:off x="548640" y="804672"/>
            <a:ext cx="5120640" cy="384048"/>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Parts A, B &amp; C</a:t>
            </a:r>
            <a:endParaRPr lang="en-US" sz="1200" dirty="0"/>
          </a:p>
        </p:txBody>
      </p:sp>
      <p:sp>
        <p:nvSpPr>
          <p:cNvPr id="7" name="Text 5"/>
          <p:cNvSpPr/>
          <p:nvPr/>
        </p:nvSpPr>
        <p:spPr>
          <a:xfrm>
            <a:off x="548640" y="1207008"/>
            <a:ext cx="5120640" cy="486460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Part A — Label the Night Sky: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1. Star that stays nearly still, shows north =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2. Group of stars forming a picture =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3. Changing shape of the lit part of the moon =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4. Constellation for Southern Hemisphere sailors to find south =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(Word Bank: Polaris, constellation, moon phase, Southern Cross, Big Dipper, Earth's axis)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Part B — Short Answer: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5. How did early explorers use Polaris to navigate? Why was it so helpful?</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6. Why do stars appear to move across the night sky?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7. An explorer is sailing in the Southern Hemisphere. They can't see Polaris. What do they use instead, and why?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Part C — Draw Your Star Map: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Title 'Navigating by the Night Sky.' Draw a large circle for the sky. Include and label: Polaris (northern sky), two constellations with star patterns, at least 4 moon phases from new to full to new, a north arrow toward Polaris.</a:t>
            </a:r>
            <a:endParaRPr lang="en-US" sz="1100" dirty="0"/>
          </a:p>
        </p:txBody>
      </p:sp>
      <p:sp>
        <p:nvSpPr>
          <p:cNvPr id="8" name="Shape 6"/>
          <p:cNvSpPr/>
          <p:nvPr/>
        </p:nvSpPr>
        <p:spPr>
          <a:xfrm>
            <a:off x="6035040" y="713232"/>
            <a:ext cx="5806440" cy="5394960"/>
          </a:xfrm>
          <a:prstGeom prst="roundRect">
            <a:avLst>
              <a:gd name="adj" fmla="val 1356"/>
            </a:avLst>
          </a:prstGeom>
          <a:solidFill>
            <a:srgbClr val="1E2F45"/>
          </a:solidFill>
          <a:ln w="12700">
            <a:solidFill>
              <a:srgbClr val="4CC9F0"/>
            </a:solidFill>
            <a:prstDash val="solid"/>
          </a:ln>
        </p:spPr>
      </p:sp>
      <p:sp>
        <p:nvSpPr>
          <p:cNvPr id="9" name="Text 7"/>
          <p:cNvSpPr/>
          <p:nvPr/>
        </p:nvSpPr>
        <p:spPr>
          <a:xfrm>
            <a:off x="6217920" y="804672"/>
            <a:ext cx="54406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CER Response — No Hints!</a:t>
            </a:r>
            <a:endParaRPr lang="en-US" sz="1200" dirty="0"/>
          </a:p>
        </p:txBody>
      </p:sp>
      <p:sp>
        <p:nvSpPr>
          <p:cNvPr id="10" name="Text 8"/>
          <p:cNvSpPr/>
          <p:nvPr/>
        </p:nvSpPr>
        <p:spPr>
          <a:xfrm>
            <a:off x="6217920" y="1207008"/>
            <a:ext cx="5440680" cy="486460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Question: Which star or pattern is the most reliable guide for finding direction at night?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CLAIM</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___________________________</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EVIDENCE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___________________________</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REASONING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___________________________</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Vocab check: constellation, Polaris, navigation, pattern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Practiced on: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Part A = Slides 6,7 | Part B = Slides 8,10 | Part C = Slides 7,9 | CER = Slide 12</a:t>
            </a:r>
            <a:endParaRPr lang="en-US" sz="110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"Long before GPS or phones existed, brave explorers sailed across entire oceans. How did they know where they were going — and how did the sky above them help?"</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Label the Night Sky: All 4 items labeled from word bank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Short Answer: Questions 5, 6, 7 answered with vocab words</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Star Map: Polaris, 2 constellations, 4+ moon phases, north arrow — drawn and labeled</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Essential Question Response: 2-3 sentences using 3+ vocab words</a:t>
            </a:r>
            <a:endParaRPr lang="en-US" sz="1100" dirty="0"/>
          </a:p>
        </p:txBody>
      </p:sp>
      <p:sp>
        <p:nvSpPr>
          <p:cNvPr id="14" name="Text 12"/>
          <p:cNvSpPr/>
          <p:nvPr/>
        </p:nvSpPr>
        <p:spPr>
          <a:xfrm>
            <a:off x="548640" y="4133088"/>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Response: Claim, evidence, reasoning — all without hints!</a:t>
            </a:r>
            <a:endParaRPr lang="en-US" sz="1100" dirty="0"/>
          </a:p>
        </p:txBody>
      </p:sp>
      <p:sp>
        <p:nvSpPr>
          <p:cNvPr id="15" name="Shape 13"/>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6" name="Text 14"/>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7" name="Text 15"/>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Coming up next: Continuing our exploration of Earth &amp; Space patterns — how the sun's position in the sky changes with the seasons and what that tells us about Earth's journey around the sun.</a:t>
            </a:r>
            <a:endParaRPr lang="en-US" sz="1200" dirty="0"/>
          </a:p>
        </p:txBody>
      </p:sp>
      <p:sp>
        <p:nvSpPr>
          <p:cNvPr id="18" name="Shape 16"/>
          <p:cNvSpPr/>
          <p:nvPr/>
        </p:nvSpPr>
        <p:spPr>
          <a:xfrm>
            <a:off x="0" y="5047488"/>
            <a:ext cx="12192000" cy="45720"/>
          </a:xfrm>
          <a:prstGeom prst="rect">
            <a:avLst/>
          </a:prstGeom>
          <a:solidFill>
            <a:srgbClr val="4CC9F0"/>
          </a:solidFill>
          <a:ln/>
        </p:spPr>
      </p:sp>
      <p:sp>
        <p:nvSpPr>
          <p:cNvPr id="19" name="Text 17"/>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3.02  ·  Navigation at Night: Reading the Sky</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2026-07-13T19:56:03Z</dcterms:created>
  <dcterms:modified xsi:type="dcterms:W3CDTF">2026-07-13T19:56:03Z</dcterms:modified>
</cp:coreProperties>
</file>