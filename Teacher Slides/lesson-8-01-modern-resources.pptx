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students think like modern explorers! Start with: 'Where on Earth haven't humans fully explored yet? What might be there?' This opens minds to the ocean, Arctic, and deep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3-4 minutes for listing and imagining. Ask: 'Which destination would you choose — ocean, Arctic, or rainforest? What's your evidence that resources are there?'
Facilitation: 'What tool would you need? Why is that environment hard to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80% of the ocean is unexplored, what might be down there? Resources? New species? Both?'
Evidence-based prediction: 'I predict the ocean holds valuable resources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'Biodiversity' = 'bio' (life) + 'diversity' (variety). Ask: 'What places on Earth have the MOST biodiversity? Where the least?'
Connect to coral reefs — coming up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'Ecosystem and biodiversity work together — high biodiversity = healthy ecosystem; low biodiversity = struggling ecosystem.'
Foreshadow: coral reefs support 25% of all marine species despite being less than 1% of the ocean floor. BIG biodiversity in a SMALL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ago explorers sailed across oceans for new lands. Today's explorers go deeper and farther — and the stakes are even higher.'
Evidence question: 'What evidence from the diagram shows why deep-sea resources are difficult but important to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campfire: the wood (nonrenewable once burned) is different from the sunlight warming your face (always there tomorrow).'
Evidence prediction: 'I predict renewable energy will replace fossil fuels because... This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Food webs connect everything. Coral reefs are nurseries for fish — without reefs, entire fisheries collapse.
'I know coral reef loss affects the whole ocean because... This shows that biodiversity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'wow' moment! Students often respond strongly to this.
'If life exists without sunlight at the bottom of OUR ocean, what does that say about the possibility of life on other planets with underground oceans?'
Connect to Mars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Phase 4 — protect. 'Balancing using resources with protecting ecosystems is THE biggest challenge of our time.'
Ask: 'Can you think of a real example where humans did a GOOD job of this balance? A poor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students connecting specific evidence (coral reef statistics, energy costs) to their claims.
'What evidence MOST convinces you that we need to protect biodiversity? What would change your mind?'
Push: 'Is there a way to USE an ecosystem while PROTECTING it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revealing answers, ask students to explain their reasoning.
Q2 is interesting — 'rainforests of the sea' is about BIODIVERSITY, not appearance or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Part B, use the evidence frame we practiced: I know ___ because ___, this shows ___. At least 3 vocabulary words.'
Connect Part C to the explorer roles from the warm-up — students already chose their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warm-up lists! 'Look at your 5 items. Now that you've finished the lesson, do you think any come from nonrenewable resources? What could replace them in the future?'
Teaser: 'Next lesson, we'll look even FURTHER than Earth for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Modern Resources: Exploring Earth's Wonders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How do modern explorers find and use Earth's resources while protecting the environment?</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NGSS 4-ESS3-1 · Energy &amp; Natural Resources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Describe what natural resources are and give examples of energy resources and biodiversity.</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Explain the challenges of exploring and using natural resources in extreme environments.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Compare renewable and nonrenewable energy sources and explain why protecting biodiversity matters.</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Warm-Up: Activate Your Explorer Instincts</a:t>
            </a:r>
            <a:endParaRPr lang="en-US" sz="1600" dirty="0"/>
          </a:p>
        </p:txBody>
      </p:sp>
      <p:sp>
        <p:nvSpPr>
          <p:cNvPr id="5" name="Shape 3"/>
          <p:cNvSpPr/>
          <p:nvPr/>
        </p:nvSpPr>
        <p:spPr>
          <a:xfrm>
            <a:off x="365760" y="749808"/>
            <a:ext cx="11247120" cy="347472"/>
          </a:xfrm>
          <a:prstGeom prst="roundRect">
            <a:avLst>
              <a:gd name="adj" fmla="val 23684"/>
            </a:avLst>
          </a:prstGeom>
          <a:solidFill>
            <a:srgbClr val="E09200"/>
          </a:solidFill>
          <a:ln w="19050">
            <a:solidFill>
              <a:srgbClr val="FFB703"/>
            </a:solidFill>
            <a:prstDash val="solid"/>
          </a:ln>
        </p:spPr>
      </p:sp>
      <p:sp>
        <p:nvSpPr>
          <p:cNvPr id="6" name="Text 4"/>
          <p:cNvSpPr/>
          <p:nvPr/>
        </p:nvSpPr>
        <p:spPr>
          <a:xfrm>
            <a:off x="365760" y="749808"/>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7" name="Shape 5"/>
          <p:cNvSpPr/>
          <p:nvPr/>
        </p:nvSpPr>
        <p:spPr>
          <a:xfrm>
            <a:off x="365760" y="1207008"/>
            <a:ext cx="5943600" cy="4526280"/>
          </a:xfrm>
          <a:prstGeom prst="roundRect">
            <a:avLst>
              <a:gd name="adj" fmla="val 1616"/>
            </a:avLst>
          </a:prstGeom>
          <a:solidFill>
            <a:srgbClr val="1E2F45"/>
          </a:solidFill>
          <a:ln w="12700">
            <a:solidFill>
              <a:srgbClr val="FFB703"/>
            </a:solidFill>
            <a:prstDash val="solid"/>
          </a:ln>
        </p:spPr>
      </p:sp>
      <p:sp>
        <p:nvSpPr>
          <p:cNvPr id="8" name="Text 6"/>
          <p:cNvSpPr/>
          <p:nvPr/>
        </p:nvSpPr>
        <p:spPr>
          <a:xfrm>
            <a:off x="548640" y="1280160"/>
            <a:ext cx="5669280" cy="914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Think about the things around you that come from nature — the lights in your home, food on your table, water from your tap.</a:t>
            </a:r>
            <a:endParaRPr lang="en-US" sz="1250" dirty="0"/>
          </a:p>
        </p:txBody>
      </p:sp>
      <p:sp>
        <p:nvSpPr>
          <p:cNvPr id="9" name="Text 7"/>
          <p:cNvSpPr/>
          <p:nvPr/>
        </p:nvSpPr>
        <p:spPr>
          <a:xfrm>
            <a:off x="548640" y="2286000"/>
            <a:ext cx="5669280" cy="47548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Draw or list FIVE things you use every day that came from Earth.</a:t>
            </a:r>
            <a:endParaRPr lang="en-US" sz="1300" dirty="0"/>
          </a:p>
        </p:txBody>
      </p:sp>
      <p:sp>
        <p:nvSpPr>
          <p:cNvPr id="10" name="Text 8"/>
          <p:cNvSpPr/>
          <p:nvPr/>
        </p:nvSpPr>
        <p:spPr>
          <a:xfrm>
            <a:off x="548640" y="2834640"/>
            <a:ext cx="5669280" cy="1828800"/>
          </a:xfrm>
          <a:prstGeom prst="rect">
            <a:avLst/>
          </a:prstGeom>
          <a:noFill/>
          <a:ln/>
        </p:spPr>
        <p:txBody>
          <a:bodyPr wrap="square" rtlCol="0" anchor="ctr"/>
          <a:lstStyle/>
          <a:p>
            <a:pPr indent="0" marL="0">
              <a:buNone/>
            </a:pPr>
            <a:r>
              <a:rPr lang="en-US" sz="1250" i="1" dirty="0">
                <a:solidFill>
                  <a:srgbClr val="B0C4D8"/>
                </a:solidFill>
                <a:latin typeface="Calibri" pitchFamily="34" charset="0"/>
                <a:ea typeface="Calibri" pitchFamily="34" charset="-122"/>
                <a:cs typeface="Calibri" pitchFamily="34" charset="-120"/>
              </a:rPr>
              <a:t>"Imagine you are an explorer setting out to find resources for the future. Where would you go — the deep ocean, the Arctic ice, or a rainforest? What do you think you'd find there?"</a:t>
            </a:r>
            <a:endParaRPr lang="en-US" sz="1250" dirty="0"/>
          </a:p>
        </p:txBody>
      </p:sp>
      <p:sp>
        <p:nvSpPr>
          <p:cNvPr id="11" name="Text 9"/>
          <p:cNvSpPr/>
          <p:nvPr/>
        </p:nvSpPr>
        <p:spPr>
          <a:xfrm>
            <a:off x="548640" y="4736592"/>
            <a:ext cx="5669280" cy="822960"/>
          </a:xfrm>
          <a:prstGeom prst="rect">
            <a:avLst/>
          </a:prstGeom>
          <a:noFill/>
          <a:ln/>
        </p:spPr>
        <p:txBody>
          <a:bodyPr wrap="square" rtlCol="0" anchor="ctr"/>
          <a:lstStyle/>
          <a:p>
            <a:pPr indent="0" marL="0">
              <a:buNone/>
            </a:pPr>
            <a:r>
              <a:rPr lang="en-US" sz="1100" i="1" dirty="0">
                <a:solidFill>
                  <a:srgbClr val="8899AA"/>
                </a:solidFill>
                <a:latin typeface="Calibri" pitchFamily="34" charset="0"/>
                <a:ea typeface="Calibri" pitchFamily="34" charset="-122"/>
                <a:cs typeface="Calibri" pitchFamily="34" charset="-120"/>
              </a:rPr>
              <a:t>We'll revisit your list at the end to see how your thinking changed!</a:t>
            </a:r>
            <a:endParaRPr lang="en-US" sz="1100" dirty="0"/>
          </a:p>
        </p:txBody>
      </p:sp>
      <p:sp>
        <p:nvSpPr>
          <p:cNvPr id="12" name="Shape 10"/>
          <p:cNvSpPr/>
          <p:nvPr/>
        </p:nvSpPr>
        <p:spPr>
          <a:xfrm>
            <a:off x="6492240" y="1207008"/>
            <a:ext cx="5577840" cy="4526280"/>
          </a:xfrm>
          <a:prstGeom prst="roundRect">
            <a:avLst>
              <a:gd name="adj" fmla="val 1616"/>
            </a:avLst>
          </a:prstGeom>
          <a:solidFill>
            <a:srgbClr val="0A1520"/>
          </a:solidFill>
          <a:ln w="19050">
            <a:solidFill>
              <a:srgbClr val="4CC9F0"/>
            </a:solidFill>
            <a:prstDash val="dash"/>
          </a:ln>
        </p:spPr>
      </p:sp>
      <p:sp>
        <p:nvSpPr>
          <p:cNvPr id="13" name="Text 11"/>
          <p:cNvSpPr/>
          <p:nvPr/>
        </p:nvSpPr>
        <p:spPr>
          <a:xfrm>
            <a:off x="6583680" y="1316736"/>
            <a:ext cx="53949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6583680" y="1755648"/>
            <a:ext cx="53949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5" name="Text 13"/>
          <p:cNvSpPr/>
          <p:nvPr/>
        </p:nvSpPr>
        <p:spPr>
          <a:xfrm>
            <a:off x="6601968" y="2048256"/>
            <a:ext cx="5358384" cy="34747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"deep ocean exploration submersible research vessel underwater bioluminescence"</a:t>
            </a:r>
            <a:endParaRPr lang="en-US" sz="950" dirty="0"/>
          </a:p>
        </p:txBody>
      </p:sp>
      <p:sp>
        <p:nvSpPr>
          <p:cNvPr id="16" name="Text 14"/>
          <p:cNvSpPr/>
          <p:nvPr/>
        </p:nvSpPr>
        <p:spPr>
          <a:xfrm>
            <a:off x="6492240" y="5769864"/>
            <a:ext cx="55778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Modern explorers reach the ocean depths with submarines and robots</a:t>
            </a:r>
            <a:endParaRPr lang="en-US" sz="9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Prediction: The Unexplored Earth</a:t>
            </a:r>
            <a:endParaRPr lang="en-US" sz="1600" dirty="0"/>
          </a:p>
        </p:txBody>
      </p:sp>
      <p:sp>
        <p:nvSpPr>
          <p:cNvPr id="5" name="Shape 3"/>
          <p:cNvSpPr/>
          <p:nvPr/>
        </p:nvSpPr>
        <p:spPr>
          <a:xfrm>
            <a:off x="365760" y="749808"/>
            <a:ext cx="11247120" cy="1005840"/>
          </a:xfrm>
          <a:prstGeom prst="roundRect">
            <a:avLst>
              <a:gd name="adj" fmla="val 7273"/>
            </a:avLst>
          </a:prstGeom>
          <a:solidFill>
            <a:srgbClr val="1E2F45"/>
          </a:solidFill>
          <a:ln w="12700">
            <a:solidFill>
              <a:srgbClr val="4CC9F0"/>
            </a:solidFill>
            <a:prstDash val="solid"/>
          </a:ln>
        </p:spPr>
      </p:sp>
      <p:sp>
        <p:nvSpPr>
          <p:cNvPr id="6" name="Text 4"/>
          <p:cNvSpPr/>
          <p:nvPr/>
        </p:nvSpPr>
        <p:spPr>
          <a:xfrm>
            <a:off x="548640" y="822960"/>
            <a:ext cx="10972800" cy="822960"/>
          </a:xfrm>
          <a:prstGeom prst="rect">
            <a:avLst/>
          </a:prstGeom>
          <a:noFill/>
          <a:ln/>
        </p:spPr>
        <p:txBody>
          <a:bodyPr wrap="square" rtlCol="0" anchor="ctr"/>
          <a:lstStyle/>
          <a:p>
            <a:pPr algn="ctr" indent="0" marL="0">
              <a:buNone/>
            </a:pPr>
            <a:r>
              <a:rPr lang="en-US" sz="1350" i="1" dirty="0">
                <a:solidFill>
                  <a:srgbClr val="4CC9F0"/>
                </a:solidFill>
                <a:latin typeface="Calibri" pitchFamily="34" charset="0"/>
                <a:ea typeface="Calibri" pitchFamily="34" charset="-122"/>
                <a:cs typeface="Calibri" pitchFamily="34" charset="-120"/>
              </a:rPr>
              <a:t>"How can modern explorers find and use Earth's natural resources, like energy and biodiversity, while protecting the environment for future generations?"</a:t>
            </a:r>
            <a:endParaRPr lang="en-US" sz="1350" dirty="0"/>
          </a:p>
        </p:txBody>
      </p:sp>
      <p:sp>
        <p:nvSpPr>
          <p:cNvPr id="7" name="Text 5"/>
          <p:cNvSpPr/>
          <p:nvPr/>
        </p:nvSpPr>
        <p:spPr>
          <a:xfrm>
            <a:off x="365760" y="1920240"/>
            <a:ext cx="1124712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 predict ___ because ___</a:t>
            </a:r>
            <a:endParaRPr lang="en-US" sz="1600" dirty="0"/>
          </a:p>
        </p:txBody>
      </p:sp>
      <p:sp>
        <p:nvSpPr>
          <p:cNvPr id="8" name="Shape 6"/>
          <p:cNvSpPr/>
          <p:nvPr/>
        </p:nvSpPr>
        <p:spPr>
          <a:xfrm>
            <a:off x="365760" y="2542032"/>
            <a:ext cx="11247120" cy="914400"/>
          </a:xfrm>
          <a:prstGeom prst="roundRect">
            <a:avLst>
              <a:gd name="adj" fmla="val 8000"/>
            </a:avLst>
          </a:prstGeom>
          <a:solidFill>
            <a:srgbClr val="0A1520"/>
          </a:solidFill>
          <a:ln w="12700">
            <a:solidFill>
              <a:srgbClr val="FFB703"/>
            </a:solidFill>
            <a:prstDash val="solid"/>
          </a:ln>
        </p:spPr>
      </p:sp>
      <p:sp>
        <p:nvSpPr>
          <p:cNvPr id="9" name="Text 7"/>
          <p:cNvSpPr/>
          <p:nvPr/>
        </p:nvSpPr>
        <p:spPr>
          <a:xfrm>
            <a:off x="548640" y="2615184"/>
            <a:ext cx="10972800" cy="777240"/>
          </a:xfrm>
          <a:prstGeom prst="rect">
            <a:avLst/>
          </a:prstGeom>
          <a:noFill/>
          <a:ln/>
        </p:spPr>
        <p:txBody>
          <a:bodyPr wrap="square" rtlCol="0" anchor="ctr"/>
          <a:lstStyle/>
          <a:p>
            <a:pPr indent="0" marL="0">
              <a:buNone/>
            </a:pPr>
            <a:r>
              <a:rPr lang="en-US" sz="1300" i="1" dirty="0">
                <a:solidFill>
                  <a:srgbClr val="FFB703"/>
                </a:solidFill>
                <a:latin typeface="Calibri" pitchFamily="34" charset="0"/>
                <a:ea typeface="Calibri" pitchFamily="34" charset="-122"/>
                <a:cs typeface="Calibri" pitchFamily="34" charset="-120"/>
              </a:rPr>
              <a:t>Mind-Blowing Fact 🤯  The ocean covers 70%+ of Earth's surface, yet more than 80% has NEVER been seen or explored! New species are discovered every single year.</a:t>
            </a:r>
            <a:endParaRPr lang="en-US" sz="1300" dirty="0"/>
          </a:p>
        </p:txBody>
      </p:sp>
      <p:sp>
        <p:nvSpPr>
          <p:cNvPr id="10" name="Shape 8"/>
          <p:cNvSpPr/>
          <p:nvPr/>
        </p:nvSpPr>
        <p:spPr>
          <a:xfrm>
            <a:off x="365760" y="3611880"/>
            <a:ext cx="5394960" cy="2514600"/>
          </a:xfrm>
          <a:prstGeom prst="roundRect">
            <a:avLst>
              <a:gd name="adj" fmla="val 2909"/>
            </a:avLst>
          </a:prstGeom>
          <a:solidFill>
            <a:srgbClr val="0A1520"/>
          </a:solidFill>
          <a:ln w="19050">
            <a:solidFill>
              <a:srgbClr val="4CC9F0"/>
            </a:solidFill>
            <a:prstDash val="dash"/>
          </a:ln>
        </p:spPr>
      </p:sp>
      <p:sp>
        <p:nvSpPr>
          <p:cNvPr id="11" name="Text 9"/>
          <p:cNvSpPr/>
          <p:nvPr/>
        </p:nvSpPr>
        <p:spPr>
          <a:xfrm>
            <a:off x="457200" y="3721608"/>
            <a:ext cx="5212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457200" y="4160520"/>
            <a:ext cx="52120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3" name="Text 11"/>
          <p:cNvSpPr/>
          <p:nvPr/>
        </p:nvSpPr>
        <p:spPr>
          <a:xfrm>
            <a:off x="475488" y="4453128"/>
            <a:ext cx="5175504" cy="14630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"coral reef biodiversity tropical fish colorful marine life great barrier reef"</a:t>
            </a:r>
            <a:endParaRPr lang="en-US" sz="950" dirty="0"/>
          </a:p>
        </p:txBody>
      </p:sp>
      <p:sp>
        <p:nvSpPr>
          <p:cNvPr id="14" name="Text 12"/>
          <p:cNvSpPr/>
          <p:nvPr/>
        </p:nvSpPr>
        <p:spPr>
          <a:xfrm>
            <a:off x="365760" y="6163056"/>
            <a:ext cx="53949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Coral reefs — Earth's most biodiverse ocean environment</a:t>
            </a:r>
            <a:endParaRPr lang="en-US" sz="900" dirty="0"/>
          </a:p>
        </p:txBody>
      </p:sp>
      <p:sp>
        <p:nvSpPr>
          <p:cNvPr id="15" name="Shape 13"/>
          <p:cNvSpPr/>
          <p:nvPr/>
        </p:nvSpPr>
        <p:spPr>
          <a:xfrm>
            <a:off x="5943600" y="3611880"/>
            <a:ext cx="5760720" cy="2514600"/>
          </a:xfrm>
          <a:prstGeom prst="roundRect">
            <a:avLst>
              <a:gd name="adj" fmla="val 2909"/>
            </a:avLst>
          </a:prstGeom>
          <a:solidFill>
            <a:srgbClr val="0A1520"/>
          </a:solidFill>
          <a:ln w="19050">
            <a:solidFill>
              <a:srgbClr val="4CC9F0"/>
            </a:solidFill>
            <a:prstDash val="dash"/>
          </a:ln>
        </p:spPr>
      </p:sp>
      <p:sp>
        <p:nvSpPr>
          <p:cNvPr id="16" name="Text 14"/>
          <p:cNvSpPr/>
          <p:nvPr/>
        </p:nvSpPr>
        <p:spPr>
          <a:xfrm>
            <a:off x="6035040" y="3721608"/>
            <a:ext cx="55778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6035040" y="4160520"/>
            <a:ext cx="55778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8" name="Text 16"/>
          <p:cNvSpPr/>
          <p:nvPr/>
        </p:nvSpPr>
        <p:spPr>
          <a:xfrm>
            <a:off x="6053328" y="4453128"/>
            <a:ext cx="5541264" cy="14630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"Arctic tundra polar bear sea ice climate exploration natural resources"</a:t>
            </a:r>
            <a:endParaRPr lang="en-US" sz="950" dirty="0"/>
          </a:p>
        </p:txBody>
      </p:sp>
      <p:sp>
        <p:nvSpPr>
          <p:cNvPr id="19" name="Text 17"/>
          <p:cNvSpPr/>
          <p:nvPr/>
        </p:nvSpPr>
        <p:spPr>
          <a:xfrm>
            <a:off x="5943600" y="6163056"/>
            <a:ext cx="57607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The Arctic — extreme environment with vast hidden resources</a:t>
            </a:r>
            <a:endParaRPr lang="en-US" sz="9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Key Vocabulary — Part 1</a:t>
            </a:r>
            <a:endParaRPr lang="en-US" sz="1600" dirty="0"/>
          </a:p>
        </p:txBody>
      </p:sp>
      <p:sp>
        <p:nvSpPr>
          <p:cNvPr id="5" name="Shape 3"/>
          <p:cNvSpPr/>
          <p:nvPr/>
        </p:nvSpPr>
        <p:spPr>
          <a:xfrm>
            <a:off x="365760" y="749808"/>
            <a:ext cx="53949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49808"/>
            <a:ext cx="53949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77240"/>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Natural Resource</a:t>
            </a:r>
            <a:endParaRPr lang="en-US" sz="1200" dirty="0"/>
          </a:p>
        </p:txBody>
      </p:sp>
      <p:sp>
        <p:nvSpPr>
          <p:cNvPr id="8" name="Text 6"/>
          <p:cNvSpPr/>
          <p:nvPr/>
        </p:nvSpPr>
        <p:spPr>
          <a:xfrm>
            <a:off x="475488" y="1152144"/>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Something found in nature that people use, such as water, oil, sunlight, plants, or minerals.</a:t>
            </a:r>
            <a:endParaRPr lang="en-US" sz="1050" dirty="0"/>
          </a:p>
        </p:txBody>
      </p:sp>
      <p:sp>
        <p:nvSpPr>
          <p:cNvPr id="9" name="Shape 7"/>
          <p:cNvSpPr/>
          <p:nvPr/>
        </p:nvSpPr>
        <p:spPr>
          <a:xfrm>
            <a:off x="6035040" y="749808"/>
            <a:ext cx="557784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6035040" y="749808"/>
            <a:ext cx="557784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6126480" y="777240"/>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Biodiversity</a:t>
            </a:r>
            <a:endParaRPr lang="en-US" sz="1200" dirty="0"/>
          </a:p>
        </p:txBody>
      </p:sp>
      <p:sp>
        <p:nvSpPr>
          <p:cNvPr id="12" name="Text 10"/>
          <p:cNvSpPr/>
          <p:nvPr/>
        </p:nvSpPr>
        <p:spPr>
          <a:xfrm>
            <a:off x="6144768" y="1152144"/>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variety of different living things found in a place, from elephants and coral to tiny microorganisms!</a:t>
            </a:r>
            <a:endParaRPr lang="en-US" sz="1050" dirty="0"/>
          </a:p>
        </p:txBody>
      </p:sp>
      <p:sp>
        <p:nvSpPr>
          <p:cNvPr id="13" name="Shape 11"/>
          <p:cNvSpPr/>
          <p:nvPr/>
        </p:nvSpPr>
        <p:spPr>
          <a:xfrm>
            <a:off x="365760" y="3200400"/>
            <a:ext cx="539496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365760" y="3200400"/>
            <a:ext cx="539496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457200" y="3227832"/>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Renewable Energy</a:t>
            </a:r>
            <a:endParaRPr lang="en-US" sz="1200" dirty="0"/>
          </a:p>
        </p:txBody>
      </p:sp>
      <p:sp>
        <p:nvSpPr>
          <p:cNvPr id="16" name="Text 14"/>
          <p:cNvSpPr/>
          <p:nvPr/>
        </p:nvSpPr>
        <p:spPr>
          <a:xfrm>
            <a:off x="475488" y="3602736"/>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Energy that comes from sources that can be replaced naturally, like sunlight, wind, and flowing water.</a:t>
            </a:r>
            <a:endParaRPr lang="en-US" sz="1050" dirty="0"/>
          </a:p>
        </p:txBody>
      </p:sp>
      <p:sp>
        <p:nvSpPr>
          <p:cNvPr id="17" name="Shape 15"/>
          <p:cNvSpPr/>
          <p:nvPr/>
        </p:nvSpPr>
        <p:spPr>
          <a:xfrm>
            <a:off x="6035040" y="3200400"/>
            <a:ext cx="5577840" cy="1325880"/>
          </a:xfrm>
          <a:prstGeom prst="roundRect">
            <a:avLst>
              <a:gd name="adj" fmla="val 6897"/>
            </a:avLst>
          </a:prstGeom>
          <a:solidFill>
            <a:srgbClr val="1E2F45"/>
          </a:solidFill>
          <a:ln w="25400">
            <a:solidFill>
              <a:srgbClr val="F4736A"/>
            </a:solidFill>
            <a:prstDash val="solid"/>
          </a:ln>
        </p:spPr>
      </p:sp>
      <p:sp>
        <p:nvSpPr>
          <p:cNvPr id="18" name="Shape 16"/>
          <p:cNvSpPr/>
          <p:nvPr/>
        </p:nvSpPr>
        <p:spPr>
          <a:xfrm>
            <a:off x="6035040" y="3200400"/>
            <a:ext cx="5577840" cy="347472"/>
          </a:xfrm>
          <a:prstGeom prst="roundRect">
            <a:avLst>
              <a:gd name="adj" fmla="val 21053"/>
            </a:avLst>
          </a:prstGeom>
          <a:solidFill>
            <a:srgbClr val="F4736A"/>
          </a:solidFill>
          <a:ln w="12700">
            <a:solidFill>
              <a:srgbClr val="F4736A"/>
            </a:solidFill>
            <a:prstDash val="solid"/>
          </a:ln>
        </p:spPr>
      </p:sp>
      <p:sp>
        <p:nvSpPr>
          <p:cNvPr id="19" name="Text 17"/>
          <p:cNvSpPr/>
          <p:nvPr/>
        </p:nvSpPr>
        <p:spPr>
          <a:xfrm>
            <a:off x="6126480" y="3227832"/>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Nonrenewable Resource</a:t>
            </a:r>
            <a:endParaRPr lang="en-US" sz="1200" dirty="0"/>
          </a:p>
        </p:txBody>
      </p:sp>
      <p:sp>
        <p:nvSpPr>
          <p:cNvPr id="20" name="Text 18"/>
          <p:cNvSpPr/>
          <p:nvPr/>
        </p:nvSpPr>
        <p:spPr>
          <a:xfrm>
            <a:off x="6144768" y="3602736"/>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resource that cannot easily be replaced once it is used up, like oil, natural gas, and coal.</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Key Vocabulary — Part 2</a:t>
            </a:r>
            <a:endParaRPr lang="en-US" sz="1600" dirty="0"/>
          </a:p>
        </p:txBody>
      </p:sp>
      <p:sp>
        <p:nvSpPr>
          <p:cNvPr id="5" name="Shape 3"/>
          <p:cNvSpPr/>
          <p:nvPr/>
        </p:nvSpPr>
        <p:spPr>
          <a:xfrm>
            <a:off x="365760" y="749808"/>
            <a:ext cx="53949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49808"/>
            <a:ext cx="53949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77240"/>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Ecosystem</a:t>
            </a:r>
            <a:endParaRPr lang="en-US" sz="1200" dirty="0"/>
          </a:p>
        </p:txBody>
      </p:sp>
      <p:sp>
        <p:nvSpPr>
          <p:cNvPr id="8" name="Text 6"/>
          <p:cNvSpPr/>
          <p:nvPr/>
        </p:nvSpPr>
        <p:spPr>
          <a:xfrm>
            <a:off x="475488" y="1152144"/>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All the living things in an area — plants, animals, fungi, microorganisms — and the environment they live in.</a:t>
            </a:r>
            <a:endParaRPr lang="en-US" sz="1050" dirty="0"/>
          </a:p>
        </p:txBody>
      </p:sp>
      <p:sp>
        <p:nvSpPr>
          <p:cNvPr id="9" name="Shape 7"/>
          <p:cNvSpPr/>
          <p:nvPr/>
        </p:nvSpPr>
        <p:spPr>
          <a:xfrm>
            <a:off x="6035040" y="749808"/>
            <a:ext cx="557784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6035040" y="749808"/>
            <a:ext cx="557784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6126480" y="777240"/>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Exploration</a:t>
            </a:r>
            <a:endParaRPr lang="en-US" sz="1200" dirty="0"/>
          </a:p>
        </p:txBody>
      </p:sp>
      <p:sp>
        <p:nvSpPr>
          <p:cNvPr id="12" name="Text 10"/>
          <p:cNvSpPr/>
          <p:nvPr/>
        </p:nvSpPr>
        <p:spPr>
          <a:xfrm>
            <a:off x="6144768" y="1152144"/>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act of traveling to unknown or extreme places — like the deep ocean or the Arctic — to learn and discover.</a:t>
            </a:r>
            <a:endParaRPr lang="en-US" sz="1050" dirty="0"/>
          </a:p>
        </p:txBody>
      </p:sp>
      <p:sp>
        <p:nvSpPr>
          <p:cNvPr id="13" name="Shape 11"/>
          <p:cNvSpPr/>
          <p:nvPr/>
        </p:nvSpPr>
        <p:spPr>
          <a:xfrm>
            <a:off x="365760" y="3017520"/>
            <a:ext cx="11247120" cy="2286000"/>
          </a:xfrm>
          <a:prstGeom prst="roundRect">
            <a:avLst>
              <a:gd name="adj" fmla="val 3200"/>
            </a:avLst>
          </a:prstGeom>
          <a:solidFill>
            <a:srgbClr val="162233"/>
          </a:solidFill>
          <a:ln w="12700">
            <a:solidFill>
              <a:srgbClr val="FFB703"/>
            </a:solidFill>
            <a:prstDash val="solid"/>
          </a:ln>
        </p:spPr>
      </p:sp>
      <p:sp>
        <p:nvSpPr>
          <p:cNvPr id="14" name="Text 12"/>
          <p:cNvSpPr/>
          <p:nvPr/>
        </p:nvSpPr>
        <p:spPr>
          <a:xfrm>
            <a:off x="530352" y="3090672"/>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Connect the Vocabulary</a:t>
            </a:r>
            <a:endParaRPr lang="en-US" sz="1300" dirty="0"/>
          </a:p>
        </p:txBody>
      </p:sp>
      <p:sp>
        <p:nvSpPr>
          <p:cNvPr id="15" name="Text 13"/>
          <p:cNvSpPr/>
          <p:nvPr/>
        </p:nvSpPr>
        <p:spPr>
          <a:xfrm>
            <a:off x="530352" y="3456432"/>
            <a:ext cx="10917936" cy="1737360"/>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"Ecosystem + Biodiversity together — if a coral reef has high biodiversity, that means the ecosystem is ___? And if we damage the reef, what happens to the biodiversity? What's your evidence?"</a:t>
            </a:r>
            <a:endParaRPr lang="en-US" sz="13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Modern-Day Explorers</a:t>
            </a:r>
            <a:endParaRPr lang="en-US" sz="1600" dirty="0"/>
          </a:p>
        </p:txBody>
      </p:sp>
      <p:sp>
        <p:nvSpPr>
          <p:cNvPr id="5" name="Shape 3"/>
          <p:cNvSpPr/>
          <p:nvPr/>
        </p:nvSpPr>
        <p:spPr>
          <a:xfrm>
            <a:off x="365760" y="749808"/>
            <a:ext cx="6858000" cy="1691640"/>
          </a:xfrm>
          <a:prstGeom prst="roundRect">
            <a:avLst>
              <a:gd name="adj" fmla="val 4324"/>
            </a:avLst>
          </a:prstGeom>
          <a:solidFill>
            <a:srgbClr val="1E2F45"/>
          </a:solidFill>
          <a:ln w="12700">
            <a:solidFill>
              <a:srgbClr val="4CC9F0"/>
            </a:solidFill>
            <a:prstDash val="solid"/>
          </a:ln>
        </p:spPr>
      </p:sp>
      <p:sp>
        <p:nvSpPr>
          <p:cNvPr id="6" name="Text 4"/>
          <p:cNvSpPr/>
          <p:nvPr/>
        </p:nvSpPr>
        <p:spPr>
          <a:xfrm>
            <a:off x="548640" y="822960"/>
            <a:ext cx="6583680" cy="15087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Today's explorers don't use treasure maps. They use sonar equipment, satellites, and robots — searching for natural resources that could power our world and protect life on Earth.</a:t>
            </a:r>
            <a:endParaRPr lang="en-US" sz="1250" dirty="0"/>
          </a:p>
        </p:txBody>
      </p:sp>
      <p:sp>
        <p:nvSpPr>
          <p:cNvPr id="7" name="Shape 5"/>
          <p:cNvSpPr/>
          <p:nvPr/>
        </p:nvSpPr>
        <p:spPr>
          <a:xfrm>
            <a:off x="7406640" y="749808"/>
            <a:ext cx="4663440" cy="1691640"/>
          </a:xfrm>
          <a:prstGeom prst="roundRect">
            <a:avLst>
              <a:gd name="adj" fmla="val 4324"/>
            </a:avLst>
          </a:prstGeom>
          <a:solidFill>
            <a:srgbClr val="0A1520"/>
          </a:solidFill>
          <a:ln w="19050">
            <a:solidFill>
              <a:srgbClr val="4CC9F0"/>
            </a:solidFill>
            <a:prstDash val="dash"/>
          </a:ln>
        </p:spPr>
      </p:sp>
      <p:sp>
        <p:nvSpPr>
          <p:cNvPr id="8" name="Text 6"/>
          <p:cNvSpPr/>
          <p:nvPr/>
        </p:nvSpPr>
        <p:spPr>
          <a:xfrm>
            <a:off x="7498080" y="859536"/>
            <a:ext cx="44805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7498080" y="1298448"/>
            <a:ext cx="44805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7516368" y="1591056"/>
            <a:ext cx="4443984" cy="6400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"underwater ROV robot deep sea exploration National Geographic submarine"</a:t>
            </a:r>
            <a:endParaRPr lang="en-US" sz="950" dirty="0"/>
          </a:p>
        </p:txBody>
      </p:sp>
      <p:sp>
        <p:nvSpPr>
          <p:cNvPr id="11" name="Text 9"/>
          <p:cNvSpPr/>
          <p:nvPr/>
        </p:nvSpPr>
        <p:spPr>
          <a:xfrm>
            <a:off x="7406640" y="2478024"/>
            <a:ext cx="46634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Modern robotic explorer in the deep ocean</a:t>
            </a:r>
            <a:endParaRPr lang="en-US" sz="900" dirty="0"/>
          </a:p>
        </p:txBody>
      </p:sp>
      <p:sp>
        <p:nvSpPr>
          <p:cNvPr id="12" name="Shape 10"/>
          <p:cNvSpPr/>
          <p:nvPr/>
        </p:nvSpPr>
        <p:spPr>
          <a:xfrm>
            <a:off x="365760" y="2606040"/>
            <a:ext cx="11247120" cy="749808"/>
          </a:xfrm>
          <a:prstGeom prst="roundRect">
            <a:avLst>
              <a:gd name="adj" fmla="val 9756"/>
            </a:avLst>
          </a:prstGeom>
          <a:solidFill>
            <a:srgbClr val="0A2030"/>
          </a:solidFill>
          <a:ln w="12700">
            <a:solidFill>
              <a:srgbClr val="FFB703"/>
            </a:solidFill>
            <a:prstDash val="solid"/>
          </a:ln>
        </p:spPr>
      </p:sp>
      <p:sp>
        <p:nvSpPr>
          <p:cNvPr id="13" name="Text 11"/>
          <p:cNvSpPr/>
          <p:nvPr/>
        </p:nvSpPr>
        <p:spPr>
          <a:xfrm>
            <a:off x="548640" y="2679192"/>
            <a:ext cx="10972800" cy="603504"/>
          </a:xfrm>
          <a:prstGeom prst="rect">
            <a:avLst/>
          </a:prstGeom>
          <a:noFill/>
          <a:ln/>
        </p:spPr>
        <p:txBody>
          <a:bodyPr wrap="square" rtlCol="0" anchor="ctr"/>
          <a:lstStyle/>
          <a:p>
            <a:pPr indent="0" marL="0">
              <a:buNone/>
            </a:pPr>
            <a:r>
              <a:rPr lang="en-US" sz="1250" i="1" dirty="0">
                <a:solidFill>
                  <a:srgbClr val="FFB703"/>
                </a:solidFill>
                <a:latin typeface="Calibri" pitchFamily="34" charset="0"/>
                <a:ea typeface="Calibri" pitchFamily="34" charset="-122"/>
                <a:cs typeface="Calibri" pitchFamily="34" charset="-120"/>
              </a:rPr>
              <a:t>Stop &amp; Think: What tools do you think scientists use to explore the deep ocean or frozen Arctic? Why would those places be hard to reach?</a:t>
            </a:r>
            <a:endParaRPr lang="en-US" sz="1250" dirty="0"/>
          </a:p>
        </p:txBody>
      </p:sp>
      <p:sp>
        <p:nvSpPr>
          <p:cNvPr id="14" name="Shape 12"/>
          <p:cNvSpPr/>
          <p:nvPr/>
        </p:nvSpPr>
        <p:spPr>
          <a:xfrm>
            <a:off x="365760" y="3520440"/>
            <a:ext cx="3657600" cy="2697480"/>
          </a:xfrm>
          <a:prstGeom prst="roundRect">
            <a:avLst>
              <a:gd name="adj" fmla="val 2712"/>
            </a:avLst>
          </a:prstGeom>
          <a:solidFill>
            <a:srgbClr val="1E2F45"/>
          </a:solidFill>
          <a:ln w="12700">
            <a:solidFill>
              <a:srgbClr val="4CC9F0"/>
            </a:solidFill>
            <a:prstDash val="solid"/>
          </a:ln>
        </p:spPr>
      </p:sp>
      <p:sp>
        <p:nvSpPr>
          <p:cNvPr id="15" name="Text 13"/>
          <p:cNvSpPr/>
          <p:nvPr/>
        </p:nvSpPr>
        <p:spPr>
          <a:xfrm>
            <a:off x="502920" y="3593592"/>
            <a:ext cx="3383280" cy="47548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Ocean Depths</a:t>
            </a:r>
            <a:endParaRPr lang="en-US" sz="1300" dirty="0"/>
          </a:p>
        </p:txBody>
      </p:sp>
      <p:sp>
        <p:nvSpPr>
          <p:cNvPr id="16" name="Text 14"/>
          <p:cNvSpPr/>
          <p:nvPr/>
        </p:nvSpPr>
        <p:spPr>
          <a:xfrm>
            <a:off x="502920" y="4114800"/>
            <a:ext cx="3383280" cy="19659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Coral reefs, deep-sea vents, seafloor oil deposits. Home to millions of undiscovered species!</a:t>
            </a:r>
            <a:endParaRPr lang="en-US" sz="1150" dirty="0"/>
          </a:p>
        </p:txBody>
      </p:sp>
      <p:sp>
        <p:nvSpPr>
          <p:cNvPr id="17" name="Shape 15"/>
          <p:cNvSpPr/>
          <p:nvPr/>
        </p:nvSpPr>
        <p:spPr>
          <a:xfrm>
            <a:off x="4297680" y="3520440"/>
            <a:ext cx="3657600" cy="2697480"/>
          </a:xfrm>
          <a:prstGeom prst="roundRect">
            <a:avLst>
              <a:gd name="adj" fmla="val 2712"/>
            </a:avLst>
          </a:prstGeom>
          <a:solidFill>
            <a:srgbClr val="1E2F45"/>
          </a:solidFill>
          <a:ln w="12700">
            <a:solidFill>
              <a:srgbClr val="B0C4D8"/>
            </a:solidFill>
            <a:prstDash val="solid"/>
          </a:ln>
        </p:spPr>
      </p:sp>
      <p:sp>
        <p:nvSpPr>
          <p:cNvPr id="18" name="Text 16"/>
          <p:cNvSpPr/>
          <p:nvPr/>
        </p:nvSpPr>
        <p:spPr>
          <a:xfrm>
            <a:off x="4434840" y="3593592"/>
            <a:ext cx="3383280" cy="475488"/>
          </a:xfrm>
          <a:prstGeom prst="rect">
            <a:avLst/>
          </a:prstGeom>
          <a:noFill/>
          <a:ln/>
        </p:spPr>
        <p:txBody>
          <a:bodyPr wrap="square" rtlCol="0" anchor="ctr"/>
          <a:lstStyle/>
          <a:p>
            <a:pPr indent="0" marL="0">
              <a:buNone/>
            </a:pPr>
            <a:r>
              <a:rPr lang="en-US" sz="1300" b="1" dirty="0">
                <a:solidFill>
                  <a:srgbClr val="B0C4D8"/>
                </a:solidFill>
                <a:latin typeface="Calibri" pitchFamily="34" charset="0"/>
                <a:ea typeface="Calibri" pitchFamily="34" charset="-122"/>
                <a:cs typeface="Calibri" pitchFamily="34" charset="-120"/>
              </a:rPr>
              <a:t>🧊 The Arctic</a:t>
            </a:r>
            <a:endParaRPr lang="en-US" sz="1300" dirty="0"/>
          </a:p>
        </p:txBody>
      </p:sp>
      <p:sp>
        <p:nvSpPr>
          <p:cNvPr id="19" name="Text 17"/>
          <p:cNvSpPr/>
          <p:nvPr/>
        </p:nvSpPr>
        <p:spPr>
          <a:xfrm>
            <a:off x="4434840" y="4114800"/>
            <a:ext cx="3383280" cy="19659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Vast oil &amp; gas reserves beneath frozen ground, plus unique wildlife like polar bears and seals.</a:t>
            </a:r>
            <a:endParaRPr lang="en-US" sz="1150" dirty="0"/>
          </a:p>
        </p:txBody>
      </p:sp>
      <p:sp>
        <p:nvSpPr>
          <p:cNvPr id="20" name="Shape 18"/>
          <p:cNvSpPr/>
          <p:nvPr/>
        </p:nvSpPr>
        <p:spPr>
          <a:xfrm>
            <a:off x="8229600" y="3520440"/>
            <a:ext cx="3657600" cy="2697480"/>
          </a:xfrm>
          <a:prstGeom prst="roundRect">
            <a:avLst>
              <a:gd name="adj" fmla="val 2712"/>
            </a:avLst>
          </a:prstGeom>
          <a:solidFill>
            <a:srgbClr val="1E2F45"/>
          </a:solidFill>
          <a:ln w="12700">
            <a:solidFill>
              <a:srgbClr val="2DC653"/>
            </a:solidFill>
            <a:prstDash val="solid"/>
          </a:ln>
        </p:spPr>
      </p:sp>
      <p:sp>
        <p:nvSpPr>
          <p:cNvPr id="21" name="Text 19"/>
          <p:cNvSpPr/>
          <p:nvPr/>
        </p:nvSpPr>
        <p:spPr>
          <a:xfrm>
            <a:off x="8366760" y="3593592"/>
            <a:ext cx="3383280" cy="47548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Renewable Energy</a:t>
            </a:r>
            <a:endParaRPr lang="en-US" sz="1300" dirty="0"/>
          </a:p>
        </p:txBody>
      </p:sp>
      <p:sp>
        <p:nvSpPr>
          <p:cNvPr id="22" name="Text 20"/>
          <p:cNvSpPr/>
          <p:nvPr/>
        </p:nvSpPr>
        <p:spPr>
          <a:xfrm>
            <a:off x="8366760" y="4114800"/>
            <a:ext cx="3383280" cy="19659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Wind turbines, solar panels, hydro dams — harness energy that nature replenishes every day.</a:t>
            </a:r>
            <a:endParaRPr lang="en-US" sz="115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Renewable vs. Nonrenewable: Side by Side</a:t>
            </a:r>
            <a:endParaRPr lang="en-US" sz="1600" dirty="0"/>
          </a:p>
        </p:txBody>
      </p:sp>
      <p:sp>
        <p:nvSpPr>
          <p:cNvPr id="5" name="Shape 3"/>
          <p:cNvSpPr/>
          <p:nvPr/>
        </p:nvSpPr>
        <p:spPr>
          <a:xfrm>
            <a:off x="365760" y="749808"/>
            <a:ext cx="5669280" cy="5029200"/>
          </a:xfrm>
          <a:prstGeom prst="roundRect">
            <a:avLst>
              <a:gd name="adj" fmla="val 1455"/>
            </a:avLst>
          </a:prstGeom>
          <a:solidFill>
            <a:srgbClr val="1E2F45"/>
          </a:solidFill>
          <a:ln w="12700">
            <a:solidFill>
              <a:srgbClr val="F4736A"/>
            </a:solidFill>
            <a:prstDash val="solid"/>
          </a:ln>
        </p:spPr>
      </p:sp>
      <p:sp>
        <p:nvSpPr>
          <p:cNvPr id="6" name="Text 4"/>
          <p:cNvSpPr/>
          <p:nvPr/>
        </p:nvSpPr>
        <p:spPr>
          <a:xfrm>
            <a:off x="548640" y="822960"/>
            <a:ext cx="5394960" cy="475488"/>
          </a:xfrm>
          <a:prstGeom prst="rect">
            <a:avLst/>
          </a:prstGeom>
          <a:noFill/>
          <a:ln/>
        </p:spPr>
        <p:txBody>
          <a:bodyPr wrap="square" rtlCol="0" anchor="ctr"/>
          <a:lstStyle/>
          <a:p>
            <a:pPr algn="ctr" indent="0" marL="0">
              <a:buNone/>
            </a:pPr>
            <a:r>
              <a:rPr lang="en-US" sz="1500" b="1" dirty="0">
                <a:solidFill>
                  <a:srgbClr val="F4736A"/>
                </a:solidFill>
                <a:latin typeface="Calibri" pitchFamily="34" charset="0"/>
                <a:ea typeface="Calibri" pitchFamily="34" charset="-122"/>
                <a:cs typeface="Calibri" pitchFamily="34" charset="-120"/>
              </a:rPr>
              <a:t>⛽ Nonrenewable Resources</a:t>
            </a:r>
            <a:endParaRPr lang="en-US" sz="1500" dirty="0"/>
          </a:p>
        </p:txBody>
      </p:sp>
      <p:sp>
        <p:nvSpPr>
          <p:cNvPr id="7" name="Shape 5"/>
          <p:cNvSpPr/>
          <p:nvPr/>
        </p:nvSpPr>
        <p:spPr>
          <a:xfrm>
            <a:off x="548640" y="1371600"/>
            <a:ext cx="5303520" cy="1920240"/>
          </a:xfrm>
          <a:prstGeom prst="roundRect">
            <a:avLst>
              <a:gd name="adj" fmla="val 3810"/>
            </a:avLst>
          </a:prstGeom>
          <a:solidFill>
            <a:srgbClr val="0A1520"/>
          </a:solidFill>
          <a:ln w="19050">
            <a:solidFill>
              <a:srgbClr val="4CC9F0"/>
            </a:solidFill>
            <a:prstDash val="dash"/>
          </a:ln>
        </p:spPr>
      </p:sp>
      <p:sp>
        <p:nvSpPr>
          <p:cNvPr id="8" name="Text 6"/>
          <p:cNvSpPr/>
          <p:nvPr/>
        </p:nvSpPr>
        <p:spPr>
          <a:xfrm>
            <a:off x="640080" y="1481328"/>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640080" y="1920240"/>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658368" y="2212848"/>
            <a:ext cx="5084064" cy="8686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"oil drilling platform offshore sea nonrenewable fossil fuel petroleum extraction"</a:t>
            </a:r>
            <a:endParaRPr lang="en-US" sz="950" dirty="0"/>
          </a:p>
        </p:txBody>
      </p:sp>
      <p:sp>
        <p:nvSpPr>
          <p:cNvPr id="11" name="Text 9"/>
          <p:cNvSpPr/>
          <p:nvPr/>
        </p:nvSpPr>
        <p:spPr>
          <a:xfrm>
            <a:off x="548640" y="3328416"/>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Offshore oil drilling — extracting a nonrenewable resource</a:t>
            </a:r>
            <a:endParaRPr lang="en-US" sz="900" dirty="0"/>
          </a:p>
        </p:txBody>
      </p:sp>
      <p:sp>
        <p:nvSpPr>
          <p:cNvPr id="12" name="Text 10"/>
          <p:cNvSpPr/>
          <p:nvPr/>
        </p:nvSpPr>
        <p:spPr>
          <a:xfrm>
            <a:off x="548640" y="3364992"/>
            <a:ext cx="5394960" cy="23042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Oil &amp; natural gas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Coal</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Takes millions of years to form underground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Burns and releases carbon dioxide (CO₂)</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Once used, CANNOT be replaced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Pollutes air and water</a:t>
            </a:r>
            <a:endParaRPr lang="en-US" sz="1200" dirty="0"/>
          </a:p>
        </p:txBody>
      </p:sp>
      <p:sp>
        <p:nvSpPr>
          <p:cNvPr id="13" name="Shape 11"/>
          <p:cNvSpPr/>
          <p:nvPr/>
        </p:nvSpPr>
        <p:spPr>
          <a:xfrm>
            <a:off x="6217920" y="749808"/>
            <a:ext cx="5577840" cy="5029200"/>
          </a:xfrm>
          <a:prstGeom prst="roundRect">
            <a:avLst>
              <a:gd name="adj" fmla="val 1455"/>
            </a:avLst>
          </a:prstGeom>
          <a:solidFill>
            <a:srgbClr val="1E2F45"/>
          </a:solidFill>
          <a:ln w="12700">
            <a:solidFill>
              <a:srgbClr val="2DC653"/>
            </a:solidFill>
            <a:prstDash val="solid"/>
          </a:ln>
        </p:spPr>
      </p:sp>
      <p:sp>
        <p:nvSpPr>
          <p:cNvPr id="14" name="Text 12"/>
          <p:cNvSpPr/>
          <p:nvPr/>
        </p:nvSpPr>
        <p:spPr>
          <a:xfrm>
            <a:off x="6400800" y="822960"/>
            <a:ext cx="5212080" cy="475488"/>
          </a:xfrm>
          <a:prstGeom prst="rect">
            <a:avLst/>
          </a:prstGeom>
          <a:noFill/>
          <a:ln/>
        </p:spPr>
        <p:txBody>
          <a:bodyPr wrap="square" rtlCol="0" anchor="ctr"/>
          <a:lstStyle/>
          <a:p>
            <a:pPr algn="ctr" indent="0" marL="0">
              <a:buNone/>
            </a:pPr>
            <a:r>
              <a:rPr lang="en-US" sz="1500" b="1" dirty="0">
                <a:solidFill>
                  <a:srgbClr val="2DC653"/>
                </a:solidFill>
                <a:latin typeface="Calibri" pitchFamily="34" charset="0"/>
                <a:ea typeface="Calibri" pitchFamily="34" charset="-122"/>
                <a:cs typeface="Calibri" pitchFamily="34" charset="-120"/>
              </a:rPr>
              <a:t>♻️ Renewable Resources</a:t>
            </a:r>
            <a:endParaRPr lang="en-US" sz="1500" dirty="0"/>
          </a:p>
        </p:txBody>
      </p:sp>
      <p:sp>
        <p:nvSpPr>
          <p:cNvPr id="15" name="Shape 13"/>
          <p:cNvSpPr/>
          <p:nvPr/>
        </p:nvSpPr>
        <p:spPr>
          <a:xfrm>
            <a:off x="6400800" y="1371600"/>
            <a:ext cx="5212080" cy="1920240"/>
          </a:xfrm>
          <a:prstGeom prst="roundRect">
            <a:avLst>
              <a:gd name="adj" fmla="val 3810"/>
            </a:avLst>
          </a:prstGeom>
          <a:solidFill>
            <a:srgbClr val="0A1520"/>
          </a:solidFill>
          <a:ln w="19050">
            <a:solidFill>
              <a:srgbClr val="4CC9F0"/>
            </a:solidFill>
            <a:prstDash val="dash"/>
          </a:ln>
        </p:spPr>
      </p:sp>
      <p:sp>
        <p:nvSpPr>
          <p:cNvPr id="16" name="Text 14"/>
          <p:cNvSpPr/>
          <p:nvPr/>
        </p:nvSpPr>
        <p:spPr>
          <a:xfrm>
            <a:off x="6492240" y="1481328"/>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6492240" y="1920240"/>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8" name="Text 16"/>
          <p:cNvSpPr/>
          <p:nvPr/>
        </p:nvSpPr>
        <p:spPr>
          <a:xfrm>
            <a:off x="6510528" y="2212848"/>
            <a:ext cx="4992624" cy="8686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"solar panels wind turbines renewable energy clean green landscape"</a:t>
            </a:r>
            <a:endParaRPr lang="en-US" sz="950" dirty="0"/>
          </a:p>
        </p:txBody>
      </p:sp>
      <p:sp>
        <p:nvSpPr>
          <p:cNvPr id="19" name="Text 17"/>
          <p:cNvSpPr/>
          <p:nvPr/>
        </p:nvSpPr>
        <p:spPr>
          <a:xfrm>
            <a:off x="6400800" y="3328416"/>
            <a:ext cx="52120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Solar and wind — renewable energy sources</a:t>
            </a:r>
            <a:endParaRPr lang="en-US" sz="900" dirty="0"/>
          </a:p>
        </p:txBody>
      </p:sp>
      <p:sp>
        <p:nvSpPr>
          <p:cNvPr id="20" name="Text 18"/>
          <p:cNvSpPr/>
          <p:nvPr/>
        </p:nvSpPr>
        <p:spPr>
          <a:xfrm>
            <a:off x="6400800" y="3364992"/>
            <a:ext cx="5212080" cy="23042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Solar (sunlight)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Wind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Hydroelectric (water flow)</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Replenished naturally every day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Cleaner for the environment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Free from nature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No CO₂ emissions</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Coral Reefs: Rainforests of the Sea</a:t>
            </a:r>
            <a:endParaRPr lang="en-US" sz="1600" dirty="0"/>
          </a:p>
        </p:txBody>
      </p:sp>
      <p:sp>
        <p:nvSpPr>
          <p:cNvPr id="5" name="Shape 3"/>
          <p:cNvSpPr/>
          <p:nvPr/>
        </p:nvSpPr>
        <p:spPr>
          <a:xfrm>
            <a:off x="365760" y="749808"/>
            <a:ext cx="5943600" cy="5394960"/>
          </a:xfrm>
          <a:prstGeom prst="roundRect">
            <a:avLst>
              <a:gd name="adj" fmla="val 1356"/>
            </a:avLst>
          </a:prstGeom>
          <a:solidFill>
            <a:srgbClr val="0A1520"/>
          </a:solidFill>
          <a:ln w="19050">
            <a:solidFill>
              <a:srgbClr val="4CC9F0"/>
            </a:solidFill>
            <a:prstDash val="dash"/>
          </a:ln>
        </p:spPr>
      </p:sp>
      <p:sp>
        <p:nvSpPr>
          <p:cNvPr id="6" name="Text 4"/>
          <p:cNvSpPr/>
          <p:nvPr/>
        </p:nvSpPr>
        <p:spPr>
          <a:xfrm>
            <a:off x="457200" y="859536"/>
            <a:ext cx="57607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7607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724144" cy="43434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"coral reef healthy vibrant colorful fish tropical marine biodiversity great barrier reef"</a:t>
            </a:r>
            <a:endParaRPr lang="en-US" sz="950" dirty="0"/>
          </a:p>
        </p:txBody>
      </p:sp>
      <p:sp>
        <p:nvSpPr>
          <p:cNvPr id="9" name="Text 7"/>
          <p:cNvSpPr/>
          <p:nvPr/>
        </p:nvSpPr>
        <p:spPr>
          <a:xfrm>
            <a:off x="365760" y="6181344"/>
            <a:ext cx="59436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 thriving coral reef — one of Earth's most biodiverse ecosystems</a:t>
            </a:r>
            <a:endParaRPr lang="en-US" sz="900" dirty="0"/>
          </a:p>
        </p:txBody>
      </p:sp>
      <p:sp>
        <p:nvSpPr>
          <p:cNvPr id="10" name="Shape 8"/>
          <p:cNvSpPr/>
          <p:nvPr/>
        </p:nvSpPr>
        <p:spPr>
          <a:xfrm>
            <a:off x="6492240" y="749808"/>
            <a:ext cx="5669280" cy="2103120"/>
          </a:xfrm>
          <a:prstGeom prst="roundRect">
            <a:avLst>
              <a:gd name="adj" fmla="val 3478"/>
            </a:avLst>
          </a:prstGeom>
          <a:solidFill>
            <a:srgbClr val="0A2030"/>
          </a:solidFill>
          <a:ln w="12700">
            <a:solidFill>
              <a:srgbClr val="F4736A"/>
            </a:solidFill>
            <a:prstDash val="solid"/>
          </a:ln>
        </p:spPr>
      </p:sp>
      <p:sp>
        <p:nvSpPr>
          <p:cNvPr id="11" name="Text 9"/>
          <p:cNvSpPr/>
          <p:nvPr/>
        </p:nvSpPr>
        <p:spPr>
          <a:xfrm>
            <a:off x="6675120" y="822960"/>
            <a:ext cx="539496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The Shocking Statistic:</a:t>
            </a:r>
            <a:endParaRPr lang="en-US" sz="1300" dirty="0"/>
          </a:p>
        </p:txBody>
      </p:sp>
      <p:sp>
        <p:nvSpPr>
          <p:cNvPr id="12" name="Text 10"/>
          <p:cNvSpPr/>
          <p:nvPr/>
        </p:nvSpPr>
        <p:spPr>
          <a:xfrm>
            <a:off x="6675120" y="1243584"/>
            <a:ext cx="5394960" cy="148132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Coral reefs cover LESS THAN 1% of the ocean floor — yet they support about 25% of all marine species!</a:t>
            </a:r>
            <a:endParaRPr lang="en-US" sz="1400" dirty="0"/>
          </a:p>
        </p:txBody>
      </p:sp>
      <p:sp>
        <p:nvSpPr>
          <p:cNvPr id="13" name="Shape 11"/>
          <p:cNvSpPr/>
          <p:nvPr/>
        </p:nvSpPr>
        <p:spPr>
          <a:xfrm>
            <a:off x="6492240" y="3017520"/>
            <a:ext cx="5669280" cy="1463040"/>
          </a:xfrm>
          <a:prstGeom prst="roundRect">
            <a:avLst>
              <a:gd name="adj" fmla="val 5000"/>
            </a:avLst>
          </a:prstGeom>
          <a:solidFill>
            <a:srgbClr val="1E2F45"/>
          </a:solidFill>
          <a:ln w="12700">
            <a:solidFill>
              <a:srgbClr val="2DC653"/>
            </a:solidFill>
            <a:prstDash val="solid"/>
          </a:ln>
        </p:spPr>
      </p:sp>
      <p:sp>
        <p:nvSpPr>
          <p:cNvPr id="14" name="Text 12"/>
          <p:cNvSpPr/>
          <p:nvPr/>
        </p:nvSpPr>
        <p:spPr>
          <a:xfrm>
            <a:off x="6675120" y="3090672"/>
            <a:ext cx="5394960" cy="38404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Real-World Connection:</a:t>
            </a:r>
            <a:endParaRPr lang="en-US" sz="1200" dirty="0"/>
          </a:p>
        </p:txBody>
      </p:sp>
      <p:sp>
        <p:nvSpPr>
          <p:cNvPr id="15" name="Text 13"/>
          <p:cNvSpPr/>
          <p:nvPr/>
        </p:nvSpPr>
        <p:spPr>
          <a:xfrm>
            <a:off x="6675120" y="3511296"/>
            <a:ext cx="5394960" cy="9144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 Great Barrier Reef in Australia is so big you can SEE it from space! Scientists study it because it supports 1,500+ species of fish.</a:t>
            </a:r>
            <a:endParaRPr lang="en-US" sz="1150" dirty="0"/>
          </a:p>
        </p:txBody>
      </p:sp>
      <p:sp>
        <p:nvSpPr>
          <p:cNvPr id="16" name="Shape 14"/>
          <p:cNvSpPr/>
          <p:nvPr/>
        </p:nvSpPr>
        <p:spPr>
          <a:xfrm>
            <a:off x="6492240" y="4645152"/>
            <a:ext cx="5669280" cy="1417320"/>
          </a:xfrm>
          <a:prstGeom prst="roundRect">
            <a:avLst>
              <a:gd name="adj" fmla="val 5161"/>
            </a:avLst>
          </a:prstGeom>
          <a:solidFill>
            <a:srgbClr val="1E2F45"/>
          </a:solidFill>
          <a:ln w="12700">
            <a:solidFill>
              <a:srgbClr val="FFB703"/>
            </a:solidFill>
            <a:prstDash val="solid"/>
          </a:ln>
        </p:spPr>
      </p:sp>
      <p:sp>
        <p:nvSpPr>
          <p:cNvPr id="17" name="Text 15"/>
          <p:cNvSpPr/>
          <p:nvPr/>
        </p:nvSpPr>
        <p:spPr>
          <a:xfrm>
            <a:off x="6675120" y="4718304"/>
            <a:ext cx="5394960" cy="384048"/>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Observe &amp; Reason:</a:t>
            </a:r>
            <a:endParaRPr lang="en-US" sz="1200" dirty="0"/>
          </a:p>
        </p:txBody>
      </p:sp>
      <p:sp>
        <p:nvSpPr>
          <p:cNvPr id="18" name="Text 16"/>
          <p:cNvSpPr/>
          <p:nvPr/>
        </p:nvSpPr>
        <p:spPr>
          <a:xfrm>
            <a:off x="6675120" y="5138928"/>
            <a:ext cx="5394960" cy="86868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"Coral reefs cover less than 1% of the ocean but support 25% of marine life. Why would losing coral reefs hurt the ENTIRE ocean — not just the reef itself?"</a:t>
            </a:r>
            <a:endParaRPr lang="en-US" sz="11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Mind-Blow: Life Without Sunlight!</a:t>
            </a:r>
            <a:endParaRPr lang="en-US" sz="1600" dirty="0"/>
          </a:p>
        </p:txBody>
      </p:sp>
      <p:sp>
        <p:nvSpPr>
          <p:cNvPr id="5" name="Shape 3"/>
          <p:cNvSpPr/>
          <p:nvPr/>
        </p:nvSpPr>
        <p:spPr>
          <a:xfrm>
            <a:off x="365760" y="749808"/>
            <a:ext cx="11247120" cy="1097280"/>
          </a:xfrm>
          <a:prstGeom prst="roundRect">
            <a:avLst>
              <a:gd name="adj" fmla="val 6667"/>
            </a:avLst>
          </a:prstGeom>
          <a:solidFill>
            <a:srgbClr val="0A1520"/>
          </a:solidFill>
          <a:ln w="12700">
            <a:solidFill>
              <a:srgbClr val="4CC9F0"/>
            </a:solidFill>
            <a:prstDash val="solid"/>
          </a:ln>
        </p:spPr>
      </p:sp>
      <p:sp>
        <p:nvSpPr>
          <p:cNvPr id="6" name="Text 4"/>
          <p:cNvSpPr/>
          <p:nvPr/>
        </p:nvSpPr>
        <p:spPr>
          <a:xfrm>
            <a:off x="548640" y="822960"/>
            <a:ext cx="10972800" cy="914400"/>
          </a:xfrm>
          <a:prstGeom prst="rect">
            <a:avLst/>
          </a:prstGeom>
          <a:noFill/>
          <a:ln/>
        </p:spPr>
        <p:txBody>
          <a:bodyPr wrap="square" rtlCol="0" anchor="ctr"/>
          <a:lstStyle/>
          <a:p>
            <a:pPr algn="ctr" indent="0" marL="0">
              <a:buNone/>
            </a:pPr>
            <a:r>
              <a:rPr lang="en-US" sz="1400" b="1" dirty="0">
                <a:solidFill>
                  <a:srgbClr val="4CC9F0"/>
                </a:solidFill>
                <a:latin typeface="Calibri" pitchFamily="34" charset="0"/>
                <a:ea typeface="Calibri" pitchFamily="34" charset="-122"/>
                <a:cs typeface="Calibri" pitchFamily="34" charset="-120"/>
              </a:rPr>
              <a:t>Most life on Earth depends on sunlight. But deep-sea hydrothermal vents support creatures that survive without ANY sunlight at all!</a:t>
            </a:r>
            <a:endParaRPr lang="en-US" sz="1400" dirty="0"/>
          </a:p>
        </p:txBody>
      </p:sp>
      <p:sp>
        <p:nvSpPr>
          <p:cNvPr id="7" name="Shape 5"/>
          <p:cNvSpPr/>
          <p:nvPr/>
        </p:nvSpPr>
        <p:spPr>
          <a:xfrm>
            <a:off x="365760" y="1993392"/>
            <a:ext cx="5212080" cy="4114800"/>
          </a:xfrm>
          <a:prstGeom prst="roundRect">
            <a:avLst>
              <a:gd name="adj" fmla="val 1778"/>
            </a:avLst>
          </a:prstGeom>
          <a:solidFill>
            <a:srgbClr val="0A1520"/>
          </a:solidFill>
          <a:ln w="19050">
            <a:solidFill>
              <a:srgbClr val="4CC9F0"/>
            </a:solidFill>
            <a:prstDash val="dash"/>
          </a:ln>
        </p:spPr>
      </p:sp>
      <p:sp>
        <p:nvSpPr>
          <p:cNvPr id="8" name="Text 6"/>
          <p:cNvSpPr/>
          <p:nvPr/>
        </p:nvSpPr>
        <p:spPr>
          <a:xfrm>
            <a:off x="457200" y="2103120"/>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542032"/>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834640"/>
            <a:ext cx="4992624" cy="3063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"hydrothermal vent deep sea tube worms creatures chemosynthesis black smoker"</a:t>
            </a:r>
            <a:endParaRPr lang="en-US" sz="950" dirty="0"/>
          </a:p>
        </p:txBody>
      </p:sp>
      <p:sp>
        <p:nvSpPr>
          <p:cNvPr id="11" name="Text 9"/>
          <p:cNvSpPr/>
          <p:nvPr/>
        </p:nvSpPr>
        <p:spPr>
          <a:xfrm>
            <a:off x="365760" y="6144768"/>
            <a:ext cx="52120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Deep-sea vent with tube worms — life without sunlight!</a:t>
            </a:r>
            <a:endParaRPr lang="en-US" sz="900" dirty="0"/>
          </a:p>
        </p:txBody>
      </p:sp>
      <p:sp>
        <p:nvSpPr>
          <p:cNvPr id="12" name="Shape 10"/>
          <p:cNvSpPr/>
          <p:nvPr/>
        </p:nvSpPr>
        <p:spPr>
          <a:xfrm>
            <a:off x="5760720" y="1993392"/>
            <a:ext cx="6309360" cy="4114800"/>
          </a:xfrm>
          <a:prstGeom prst="roundRect">
            <a:avLst>
              <a:gd name="adj" fmla="val 1778"/>
            </a:avLst>
          </a:prstGeom>
          <a:solidFill>
            <a:srgbClr val="1E2F45"/>
          </a:solidFill>
          <a:ln w="12700">
            <a:solidFill>
              <a:srgbClr val="FFB703"/>
            </a:solidFill>
            <a:prstDash val="solid"/>
          </a:ln>
        </p:spPr>
      </p:sp>
      <p:sp>
        <p:nvSpPr>
          <p:cNvPr id="13" name="Text 11"/>
          <p:cNvSpPr/>
          <p:nvPr/>
        </p:nvSpPr>
        <p:spPr>
          <a:xfrm>
            <a:off x="5943600" y="2066544"/>
            <a:ext cx="6035040" cy="41148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Chemosynthesis — Energy Without Sun:</a:t>
            </a:r>
            <a:endParaRPr lang="en-US" sz="1300" dirty="0"/>
          </a:p>
        </p:txBody>
      </p:sp>
      <p:sp>
        <p:nvSpPr>
          <p:cNvPr id="14" name="Text 12"/>
          <p:cNvSpPr/>
          <p:nvPr/>
        </p:nvSpPr>
        <p:spPr>
          <a:xfrm>
            <a:off x="5943600" y="2514600"/>
            <a:ext cx="6035040" cy="34747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Giant tube worms, ghostly crabs, and strange shrimp cluster around cracks in the ocean floor releasing super-hot water.</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They get energy from CHEMICALS, not the sun. Scientists call this chemosynthesis.</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Why does this matter? If life can exist without sunlight HERE on Earth, could life exist on other planets where there's no sunlight but there might be chemical energy underground?</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This is one of the most mind-bending discoveries in all of biology!</a:t>
            </a:r>
            <a:endParaRPr lang="en-US" sz="12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The Explorer's Process</a:t>
            </a:r>
            <a:endParaRPr lang="en-US" sz="1600" dirty="0"/>
          </a:p>
        </p:txBody>
      </p:sp>
      <p:sp>
        <p:nvSpPr>
          <p:cNvPr id="5" name="Text 3"/>
          <p:cNvSpPr/>
          <p:nvPr/>
        </p:nvSpPr>
        <p:spPr>
          <a:xfrm>
            <a:off x="365760" y="749808"/>
            <a:ext cx="11247120" cy="457200"/>
          </a:xfrm>
          <a:prstGeom prst="rect">
            <a:avLst/>
          </a:prstGeom>
          <a:noFill/>
          <a:ln/>
        </p:spPr>
        <p:txBody>
          <a:bodyPr wrap="square" rtlCol="0" anchor="ctr"/>
          <a:lstStyle/>
          <a:p>
            <a:pPr algn="ctr" indent="0" marL="0">
              <a:buNone/>
            </a:pPr>
            <a:r>
              <a:rPr lang="en-US" sz="1300" i="1" dirty="0">
                <a:solidFill>
                  <a:srgbClr val="B0C4D8"/>
                </a:solidFill>
                <a:latin typeface="Calibri" pitchFamily="34" charset="0"/>
                <a:ea typeface="Calibri" pitchFamily="34" charset="-122"/>
                <a:cs typeface="Calibri" pitchFamily="34" charset="-120"/>
              </a:rPr>
              <a:t>Every great discovery follows a process. Let's trace the journey from discovery to protection:</a:t>
            </a:r>
            <a:endParaRPr lang="en-US" sz="1300" dirty="0"/>
          </a:p>
        </p:txBody>
      </p:sp>
      <p:sp>
        <p:nvSpPr>
          <p:cNvPr id="6" name="Shape 4"/>
          <p:cNvSpPr/>
          <p:nvPr/>
        </p:nvSpPr>
        <p:spPr>
          <a:xfrm>
            <a:off x="365760" y="1353312"/>
            <a:ext cx="5669280" cy="2176272"/>
          </a:xfrm>
          <a:prstGeom prst="roundRect">
            <a:avLst>
              <a:gd name="adj" fmla="val 3361"/>
            </a:avLst>
          </a:prstGeom>
          <a:solidFill>
            <a:srgbClr val="1E2F45"/>
          </a:solidFill>
          <a:ln w="12700">
            <a:solidFill>
              <a:srgbClr val="4CC9F0"/>
            </a:solidFill>
            <a:prstDash val="solid"/>
          </a:ln>
        </p:spPr>
      </p:sp>
      <p:sp>
        <p:nvSpPr>
          <p:cNvPr id="7" name="Shape 5"/>
          <p:cNvSpPr/>
          <p:nvPr/>
        </p:nvSpPr>
        <p:spPr>
          <a:xfrm>
            <a:off x="502920" y="1463040"/>
            <a:ext cx="1554480" cy="256032"/>
          </a:xfrm>
          <a:prstGeom prst="roundRect">
            <a:avLst>
              <a:gd name="adj" fmla="val 50000"/>
            </a:avLst>
          </a:prstGeom>
          <a:solidFill>
            <a:srgbClr val="4CC9F0"/>
          </a:solidFill>
          <a:ln w="12700">
            <a:solidFill>
              <a:srgbClr val="4CC9F0"/>
            </a:solidFill>
            <a:prstDash val="solid"/>
          </a:ln>
        </p:spPr>
      </p:sp>
      <p:sp>
        <p:nvSpPr>
          <p:cNvPr id="8" name="Text 6"/>
          <p:cNvSpPr/>
          <p:nvPr/>
        </p:nvSpPr>
        <p:spPr>
          <a:xfrm>
            <a:off x="502920" y="14630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1: Plan</a:t>
            </a:r>
            <a:endParaRPr lang="en-US" sz="900" dirty="0"/>
          </a:p>
        </p:txBody>
      </p:sp>
      <p:sp>
        <p:nvSpPr>
          <p:cNvPr id="9" name="Text 7"/>
          <p:cNvSpPr/>
          <p:nvPr/>
        </p:nvSpPr>
        <p:spPr>
          <a:xfrm>
            <a:off x="5394960" y="1426464"/>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0" name="Text 8"/>
          <p:cNvSpPr/>
          <p:nvPr/>
        </p:nvSpPr>
        <p:spPr>
          <a:xfrm>
            <a:off x="548640" y="1856232"/>
            <a:ext cx="5394960" cy="1600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Scientists study maps and satellite data. Ask: What lives there? What resources are hidden there? How fragile is the ecosystem? Technology scouts from a distance first.</a:t>
            </a:r>
            <a:endParaRPr lang="en-US" sz="1150" dirty="0"/>
          </a:p>
        </p:txBody>
      </p:sp>
      <p:sp>
        <p:nvSpPr>
          <p:cNvPr id="11" name="Shape 9"/>
          <p:cNvSpPr/>
          <p:nvPr/>
        </p:nvSpPr>
        <p:spPr>
          <a:xfrm>
            <a:off x="6309360" y="1353312"/>
            <a:ext cx="5669280" cy="2176272"/>
          </a:xfrm>
          <a:prstGeom prst="roundRect">
            <a:avLst>
              <a:gd name="adj" fmla="val 3361"/>
            </a:avLst>
          </a:prstGeom>
          <a:solidFill>
            <a:srgbClr val="1E2F45"/>
          </a:solidFill>
          <a:ln w="12700">
            <a:solidFill>
              <a:srgbClr val="2DC653"/>
            </a:solidFill>
            <a:prstDash val="solid"/>
          </a:ln>
        </p:spPr>
      </p:sp>
      <p:sp>
        <p:nvSpPr>
          <p:cNvPr id="12" name="Shape 10"/>
          <p:cNvSpPr/>
          <p:nvPr/>
        </p:nvSpPr>
        <p:spPr>
          <a:xfrm>
            <a:off x="6446520" y="1463040"/>
            <a:ext cx="1554480" cy="256032"/>
          </a:xfrm>
          <a:prstGeom prst="roundRect">
            <a:avLst>
              <a:gd name="adj" fmla="val 50000"/>
            </a:avLst>
          </a:prstGeom>
          <a:solidFill>
            <a:srgbClr val="2DC653"/>
          </a:solidFill>
          <a:ln w="12700">
            <a:solidFill>
              <a:srgbClr val="2DC653"/>
            </a:solidFill>
            <a:prstDash val="solid"/>
          </a:ln>
        </p:spPr>
      </p:sp>
      <p:sp>
        <p:nvSpPr>
          <p:cNvPr id="13" name="Text 11"/>
          <p:cNvSpPr/>
          <p:nvPr/>
        </p:nvSpPr>
        <p:spPr>
          <a:xfrm>
            <a:off x="6446520" y="14630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2: Explore</a:t>
            </a:r>
            <a:endParaRPr lang="en-US" sz="900" dirty="0"/>
          </a:p>
        </p:txBody>
      </p:sp>
      <p:sp>
        <p:nvSpPr>
          <p:cNvPr id="14" name="Text 12"/>
          <p:cNvSpPr/>
          <p:nvPr/>
        </p:nvSpPr>
        <p:spPr>
          <a:xfrm>
            <a:off x="11338560" y="1426464"/>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5" name="Text 13"/>
          <p:cNvSpPr/>
          <p:nvPr/>
        </p:nvSpPr>
        <p:spPr>
          <a:xfrm>
            <a:off x="6492240" y="1856232"/>
            <a:ext cx="5394960" cy="1600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Using robots, submarines, drilling rigs, and satellite sensors, explorers reach environments humans couldn't survive alone — pitch-black deep ocean, frozen Arctic.</a:t>
            </a:r>
            <a:endParaRPr lang="en-US" sz="1150" dirty="0"/>
          </a:p>
        </p:txBody>
      </p:sp>
      <p:sp>
        <p:nvSpPr>
          <p:cNvPr id="16" name="Shape 14"/>
          <p:cNvSpPr/>
          <p:nvPr/>
        </p:nvSpPr>
        <p:spPr>
          <a:xfrm>
            <a:off x="365760" y="3685032"/>
            <a:ext cx="5669280" cy="2176272"/>
          </a:xfrm>
          <a:prstGeom prst="roundRect">
            <a:avLst>
              <a:gd name="adj" fmla="val 3361"/>
            </a:avLst>
          </a:prstGeom>
          <a:solidFill>
            <a:srgbClr val="1E2F45"/>
          </a:solidFill>
          <a:ln w="12700">
            <a:solidFill>
              <a:srgbClr val="FFB703"/>
            </a:solidFill>
            <a:prstDash val="solid"/>
          </a:ln>
        </p:spPr>
      </p:sp>
      <p:sp>
        <p:nvSpPr>
          <p:cNvPr id="17" name="Shape 15"/>
          <p:cNvSpPr/>
          <p:nvPr/>
        </p:nvSpPr>
        <p:spPr>
          <a:xfrm>
            <a:off x="502920" y="3794760"/>
            <a:ext cx="1554480" cy="256032"/>
          </a:xfrm>
          <a:prstGeom prst="roundRect">
            <a:avLst>
              <a:gd name="adj" fmla="val 50000"/>
            </a:avLst>
          </a:prstGeom>
          <a:solidFill>
            <a:srgbClr val="FFB703"/>
          </a:solidFill>
          <a:ln w="12700">
            <a:solidFill>
              <a:srgbClr val="FFB703"/>
            </a:solidFill>
            <a:prstDash val="solid"/>
          </a:ln>
        </p:spPr>
      </p:sp>
      <p:sp>
        <p:nvSpPr>
          <p:cNvPr id="18" name="Text 16"/>
          <p:cNvSpPr/>
          <p:nvPr/>
        </p:nvSpPr>
        <p:spPr>
          <a:xfrm>
            <a:off x="502920" y="379476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3: Discover</a:t>
            </a:r>
            <a:endParaRPr lang="en-US" sz="900" dirty="0"/>
          </a:p>
        </p:txBody>
      </p:sp>
      <p:sp>
        <p:nvSpPr>
          <p:cNvPr id="19" name="Text 17"/>
          <p:cNvSpPr/>
          <p:nvPr/>
        </p:nvSpPr>
        <p:spPr>
          <a:xfrm>
            <a:off x="5394960" y="3758184"/>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548640" y="4187952"/>
            <a:ext cx="5394960" cy="1600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Scientists document findings. Photograph new species, measure water temperature, test rock chemistry, record biodiversity. Every discovery is shared worldwide!</a:t>
            </a:r>
            <a:endParaRPr lang="en-US" sz="1150" dirty="0"/>
          </a:p>
        </p:txBody>
      </p:sp>
      <p:sp>
        <p:nvSpPr>
          <p:cNvPr id="21" name="Shape 19"/>
          <p:cNvSpPr/>
          <p:nvPr/>
        </p:nvSpPr>
        <p:spPr>
          <a:xfrm>
            <a:off x="6309360" y="3685032"/>
            <a:ext cx="5669280" cy="2176272"/>
          </a:xfrm>
          <a:prstGeom prst="roundRect">
            <a:avLst>
              <a:gd name="adj" fmla="val 3361"/>
            </a:avLst>
          </a:prstGeom>
          <a:solidFill>
            <a:srgbClr val="1E2F45"/>
          </a:solidFill>
          <a:ln w="12700">
            <a:solidFill>
              <a:srgbClr val="F4736A"/>
            </a:solidFill>
            <a:prstDash val="solid"/>
          </a:ln>
        </p:spPr>
      </p:sp>
      <p:sp>
        <p:nvSpPr>
          <p:cNvPr id="22" name="Shape 20"/>
          <p:cNvSpPr/>
          <p:nvPr/>
        </p:nvSpPr>
        <p:spPr>
          <a:xfrm>
            <a:off x="6446520" y="3794760"/>
            <a:ext cx="1554480" cy="256032"/>
          </a:xfrm>
          <a:prstGeom prst="roundRect">
            <a:avLst>
              <a:gd name="adj" fmla="val 50000"/>
            </a:avLst>
          </a:prstGeom>
          <a:solidFill>
            <a:srgbClr val="F4736A"/>
          </a:solidFill>
          <a:ln w="12700">
            <a:solidFill>
              <a:srgbClr val="F4736A"/>
            </a:solidFill>
            <a:prstDash val="solid"/>
          </a:ln>
        </p:spPr>
      </p:sp>
      <p:sp>
        <p:nvSpPr>
          <p:cNvPr id="23" name="Text 21"/>
          <p:cNvSpPr/>
          <p:nvPr/>
        </p:nvSpPr>
        <p:spPr>
          <a:xfrm>
            <a:off x="6446520" y="379476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4: Protect</a:t>
            </a:r>
            <a:endParaRPr lang="en-US" sz="900" dirty="0"/>
          </a:p>
        </p:txBody>
      </p:sp>
      <p:sp>
        <p:nvSpPr>
          <p:cNvPr id="24" name="Text 22"/>
          <p:cNvSpPr/>
          <p:nvPr/>
        </p:nvSpPr>
        <p:spPr>
          <a:xfrm>
            <a:off x="11338560" y="3758184"/>
            <a:ext cx="548640" cy="45720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5" name="Text 23"/>
          <p:cNvSpPr/>
          <p:nvPr/>
        </p:nvSpPr>
        <p:spPr>
          <a:xfrm>
            <a:off x="6492240" y="4187952"/>
            <a:ext cx="5394960" cy="1600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 hardest step! Scientists must work with governments, companies, and communities to balance USING resources without destroying the ecosystems that depend on them.</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 &amp; Reasoning: The Balance Question</a:t>
            </a:r>
            <a:endParaRPr lang="en-US" sz="1600" dirty="0"/>
          </a:p>
        </p:txBody>
      </p:sp>
      <p:sp>
        <p:nvSpPr>
          <p:cNvPr id="5" name="Shape 3"/>
          <p:cNvSpPr/>
          <p:nvPr/>
        </p:nvSpPr>
        <p:spPr>
          <a:xfrm>
            <a:off x="365760" y="749808"/>
            <a:ext cx="11247120" cy="1828800"/>
          </a:xfrm>
          <a:prstGeom prst="roundRect">
            <a:avLst>
              <a:gd name="adj" fmla="val 4000"/>
            </a:avLst>
          </a:prstGeom>
          <a:solidFill>
            <a:srgbClr val="162233"/>
          </a:solidFill>
          <a:ln w="12700">
            <a:solidFill>
              <a:srgbClr val="FFB703"/>
            </a:solidFill>
            <a:prstDash val="solid"/>
          </a:ln>
        </p:spPr>
      </p:sp>
      <p:sp>
        <p:nvSpPr>
          <p:cNvPr id="6" name="Text 4"/>
          <p:cNvSpPr/>
          <p:nvPr/>
        </p:nvSpPr>
        <p:spPr>
          <a:xfrm>
            <a:off x="530352" y="82296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Think Like a Scientist</a:t>
            </a:r>
            <a:endParaRPr lang="en-US" sz="1300" dirty="0"/>
          </a:p>
        </p:txBody>
      </p:sp>
      <p:sp>
        <p:nvSpPr>
          <p:cNvPr id="7" name="Text 5"/>
          <p:cNvSpPr/>
          <p:nvPr/>
        </p:nvSpPr>
        <p:spPr>
          <a:xfrm>
            <a:off x="530352" y="1188720"/>
            <a:ext cx="10917936" cy="128016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"Scientists say we must balance using resources with protecting ecosystems. What does that balance look like? Can you think of an example where humans did a good job — or a poor job?"</a:t>
            </a:r>
            <a:endParaRPr lang="en-US" sz="1300" dirty="0"/>
          </a:p>
        </p:txBody>
      </p:sp>
      <p:sp>
        <p:nvSpPr>
          <p:cNvPr id="8" name="Shape 6"/>
          <p:cNvSpPr/>
          <p:nvPr/>
        </p:nvSpPr>
        <p:spPr>
          <a:xfrm>
            <a:off x="365760" y="2743200"/>
            <a:ext cx="5394960" cy="3154680"/>
          </a:xfrm>
          <a:prstGeom prst="roundRect">
            <a:avLst>
              <a:gd name="adj" fmla="val 2319"/>
            </a:avLst>
          </a:prstGeom>
          <a:solidFill>
            <a:srgbClr val="1E2F45"/>
          </a:solidFill>
          <a:ln w="12700">
            <a:solidFill>
              <a:srgbClr val="2DC653"/>
            </a:solidFill>
            <a:prstDash val="solid"/>
          </a:ln>
        </p:spPr>
      </p:sp>
      <p:sp>
        <p:nvSpPr>
          <p:cNvPr id="9" name="Text 7"/>
          <p:cNvSpPr/>
          <p:nvPr/>
        </p:nvSpPr>
        <p:spPr>
          <a:xfrm>
            <a:off x="548640" y="2816352"/>
            <a:ext cx="5120640" cy="38404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Evidence Frame:</a:t>
            </a:r>
            <a:endParaRPr lang="en-US" sz="1300" dirty="0"/>
          </a:p>
        </p:txBody>
      </p:sp>
      <p:sp>
        <p:nvSpPr>
          <p:cNvPr id="10" name="Text 8"/>
          <p:cNvSpPr/>
          <p:nvPr/>
        </p:nvSpPr>
        <p:spPr>
          <a:xfrm>
            <a:off x="548640" y="3246120"/>
            <a:ext cx="5120640" cy="251460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"I know ___ because ___.</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This shows that the balance between using and protecting resources is ___.</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Therefore, to protect biodiversity we should ___."</a:t>
            </a:r>
            <a:endParaRPr lang="en-US" sz="1200" dirty="0"/>
          </a:p>
        </p:txBody>
      </p:sp>
      <p:sp>
        <p:nvSpPr>
          <p:cNvPr id="11" name="Shape 9"/>
          <p:cNvSpPr/>
          <p:nvPr/>
        </p:nvSpPr>
        <p:spPr>
          <a:xfrm>
            <a:off x="5943600" y="2743200"/>
            <a:ext cx="5760720" cy="3154680"/>
          </a:xfrm>
          <a:prstGeom prst="roundRect">
            <a:avLst>
              <a:gd name="adj" fmla="val 2319"/>
            </a:avLst>
          </a:prstGeom>
          <a:solidFill>
            <a:srgbClr val="1E2F45"/>
          </a:solidFill>
          <a:ln w="12700">
            <a:solidFill>
              <a:srgbClr val="FFB703"/>
            </a:solidFill>
            <a:prstDash val="solid"/>
          </a:ln>
        </p:spPr>
      </p:sp>
      <p:sp>
        <p:nvSpPr>
          <p:cNvPr id="12" name="Text 10"/>
          <p:cNvSpPr/>
          <p:nvPr/>
        </p:nvSpPr>
        <p:spPr>
          <a:xfrm>
            <a:off x="6126480" y="2816352"/>
            <a:ext cx="54864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Future of Energy Evidence:</a:t>
            </a:r>
            <a:endParaRPr lang="en-US" sz="1300" dirty="0"/>
          </a:p>
        </p:txBody>
      </p:sp>
      <p:sp>
        <p:nvSpPr>
          <p:cNvPr id="13" name="Text 11"/>
          <p:cNvSpPr/>
          <p:nvPr/>
        </p:nvSpPr>
        <p:spPr>
          <a:xfrm>
            <a:off x="6126480" y="3246120"/>
            <a:ext cx="5486400" cy="25146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Solar is now one of the CHEAPEST electricity sources ever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Offshore wind farms harness stronger, steadier winds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Tidal generators use ocean waves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Scientists believe most energy could be renewable by mid-century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Less pollution = healthier ecosystems for ALL species</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Quick Self-Check</a:t>
            </a:r>
            <a:endParaRPr lang="en-US" sz="1600" dirty="0"/>
          </a:p>
        </p:txBody>
      </p:sp>
      <p:sp>
        <p:nvSpPr>
          <p:cNvPr id="5" name="Shape 3"/>
          <p:cNvSpPr/>
          <p:nvPr/>
        </p:nvSpPr>
        <p:spPr>
          <a:xfrm>
            <a:off x="365760" y="749808"/>
            <a:ext cx="11247120" cy="1783080"/>
          </a:xfrm>
          <a:prstGeom prst="roundRect">
            <a:avLst>
              <a:gd name="adj" fmla="val 4103"/>
            </a:avLst>
          </a:prstGeom>
          <a:solidFill>
            <a:srgbClr val="1E2F45"/>
          </a:solidFill>
          <a:ln w="12700">
            <a:solidFill>
              <a:srgbClr val="2DC653"/>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What makes an energy source 'renewable'?</a:t>
            </a:r>
            <a:endParaRPr lang="en-US" sz="1300" dirty="0"/>
          </a:p>
        </p:txBody>
      </p:sp>
      <p:sp>
        <p:nvSpPr>
          <p:cNvPr id="7" name="Text 5"/>
          <p:cNvSpPr/>
          <p:nvPr/>
        </p:nvSpPr>
        <p:spPr>
          <a:xfrm>
            <a:off x="548640" y="123444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It comes from deep underground   B. It can be replaced naturally over time ✓   C. It is only found in the ocean</a:t>
            </a:r>
            <a:endParaRPr lang="en-US" sz="1100" dirty="0"/>
          </a:p>
        </p:txBody>
      </p:sp>
      <p:sp>
        <p:nvSpPr>
          <p:cNvPr id="8" name="Text 6"/>
          <p:cNvSpPr/>
          <p:nvPr/>
        </p:nvSpPr>
        <p:spPr>
          <a:xfrm>
            <a:off x="548640" y="166420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B — Renewable energy like sunlight and wind is always being restored by nature — it never runs out!</a:t>
            </a:r>
            <a:endParaRPr lang="en-US" sz="1100" dirty="0"/>
          </a:p>
        </p:txBody>
      </p:sp>
      <p:sp>
        <p:nvSpPr>
          <p:cNvPr id="9" name="Shape 7"/>
          <p:cNvSpPr/>
          <p:nvPr/>
        </p:nvSpPr>
        <p:spPr>
          <a:xfrm>
            <a:off x="365760" y="2670048"/>
            <a:ext cx="11247120" cy="1783080"/>
          </a:xfrm>
          <a:prstGeom prst="roundRect">
            <a:avLst>
              <a:gd name="adj" fmla="val 4103"/>
            </a:avLst>
          </a:prstGeom>
          <a:solidFill>
            <a:srgbClr val="1E2F45"/>
          </a:solidFill>
          <a:ln w="12700">
            <a:solidFill>
              <a:srgbClr val="2DC653"/>
            </a:solidFill>
            <a:prstDash val="solid"/>
          </a:ln>
        </p:spPr>
      </p:sp>
      <p:sp>
        <p:nvSpPr>
          <p:cNvPr id="10" name="Text 8"/>
          <p:cNvSpPr/>
          <p:nvPr/>
        </p:nvSpPr>
        <p:spPr>
          <a:xfrm>
            <a:off x="548640" y="274320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Why are coral reefs sometimes called 'rainforests of the sea'?</a:t>
            </a:r>
            <a:endParaRPr lang="en-US" sz="1300" dirty="0"/>
          </a:p>
        </p:txBody>
      </p:sp>
      <p:sp>
        <p:nvSpPr>
          <p:cNvPr id="11" name="Text 9"/>
          <p:cNvSpPr/>
          <p:nvPr/>
        </p:nvSpPr>
        <p:spPr>
          <a:xfrm>
            <a:off x="548640" y="315468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They support a huge variety of ocean life ✓   B. They grow very tall like trees   C. They are found in rainy places</a:t>
            </a:r>
            <a:endParaRPr lang="en-US" sz="1100" dirty="0"/>
          </a:p>
        </p:txBody>
      </p:sp>
      <p:sp>
        <p:nvSpPr>
          <p:cNvPr id="12" name="Text 10"/>
          <p:cNvSpPr/>
          <p:nvPr/>
        </p:nvSpPr>
        <p:spPr>
          <a:xfrm>
            <a:off x="548640" y="358444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A — Just like rainforests pack incredible biodiversity into a small area, coral reefs do the same in the ocean!</a:t>
            </a:r>
            <a:endParaRPr lang="en-US" sz="1100" dirty="0"/>
          </a:p>
        </p:txBody>
      </p:sp>
      <p:sp>
        <p:nvSpPr>
          <p:cNvPr id="13" name="Shape 11"/>
          <p:cNvSpPr/>
          <p:nvPr/>
        </p:nvSpPr>
        <p:spPr>
          <a:xfrm>
            <a:off x="365760" y="4590288"/>
            <a:ext cx="11247120" cy="1783080"/>
          </a:xfrm>
          <a:prstGeom prst="roundRect">
            <a:avLst>
              <a:gd name="adj" fmla="val 4103"/>
            </a:avLst>
          </a:prstGeom>
          <a:solidFill>
            <a:srgbClr val="1E2F45"/>
          </a:solidFill>
          <a:ln w="12700">
            <a:solidFill>
              <a:srgbClr val="2DC653"/>
            </a:solidFill>
            <a:prstDash val="solid"/>
          </a:ln>
        </p:spPr>
      </p:sp>
      <p:sp>
        <p:nvSpPr>
          <p:cNvPr id="14" name="Text 12"/>
          <p:cNvSpPr/>
          <p:nvPr/>
        </p:nvSpPr>
        <p:spPr>
          <a:xfrm>
            <a:off x="548640" y="466344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What is one major challenge of exploring the Arctic for natural resources?</a:t>
            </a:r>
            <a:endParaRPr lang="en-US" sz="1300" dirty="0"/>
          </a:p>
        </p:txBody>
      </p:sp>
      <p:sp>
        <p:nvSpPr>
          <p:cNvPr id="15" name="Text 13"/>
          <p:cNvSpPr/>
          <p:nvPr/>
        </p:nvSpPr>
        <p:spPr>
          <a:xfrm>
            <a:off x="548640" y="507492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The Arctic has no natural resources at all   B. The weather is too warm to explore safely   C. The harsh environment and sensitive wildlife make it difficult and risky ✓</a:t>
            </a:r>
            <a:endParaRPr lang="en-US" sz="1100" dirty="0"/>
          </a:p>
        </p:txBody>
      </p:sp>
      <p:sp>
        <p:nvSpPr>
          <p:cNvPr id="16" name="Text 14"/>
          <p:cNvSpPr/>
          <p:nvPr/>
        </p:nvSpPr>
        <p:spPr>
          <a:xfrm>
            <a:off x="548640" y="550468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C — Extreme cold, fragile ecosystems, and unique wildlife like polar bears make Arctic exploration very difficult to do responsibly!</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Assignment: Show What You Know</a:t>
            </a:r>
            <a:endParaRPr lang="en-US" sz="1600" dirty="0"/>
          </a:p>
        </p:txBody>
      </p:sp>
      <p:sp>
        <p:nvSpPr>
          <p:cNvPr id="5" name="Shape 3"/>
          <p:cNvSpPr/>
          <p:nvPr/>
        </p:nvSpPr>
        <p:spPr>
          <a:xfrm>
            <a:off x="365760" y="749808"/>
            <a:ext cx="3566160" cy="5394960"/>
          </a:xfrm>
          <a:prstGeom prst="roundRect">
            <a:avLst>
              <a:gd name="adj" fmla="val 2051"/>
            </a:avLst>
          </a:prstGeom>
          <a:solidFill>
            <a:srgbClr val="1E2F45"/>
          </a:solidFill>
          <a:ln w="12700">
            <a:solidFill>
              <a:srgbClr val="F4736A"/>
            </a:solidFill>
            <a:prstDash val="solid"/>
          </a:ln>
        </p:spPr>
      </p:sp>
      <p:sp>
        <p:nvSpPr>
          <p:cNvPr id="6" name="Text 4"/>
          <p:cNvSpPr/>
          <p:nvPr/>
        </p:nvSpPr>
        <p:spPr>
          <a:xfrm>
            <a:off x="502920" y="822960"/>
            <a:ext cx="3291840" cy="68580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Part A</a:t>
            </a:r>
            <a:endParaRPr lang="en-US" sz="1300" dirty="0"/>
          </a:p>
          <a:p>
            <a:pPr indent="0" marL="0">
              <a:buNone/>
            </a:pPr>
            <a:r>
              <a:rPr lang="en-US" sz="1300" b="1" dirty="0">
                <a:solidFill>
                  <a:srgbClr val="F4736A"/>
                </a:solidFill>
                <a:latin typeface="Calibri" pitchFamily="34" charset="0"/>
                <a:ea typeface="Calibri" pitchFamily="34" charset="-122"/>
                <a:cs typeface="Calibri" pitchFamily="34" charset="-120"/>
              </a:rPr>
              <a:t>Quick Notes</a:t>
            </a:r>
            <a:endParaRPr lang="en-US" sz="1300" dirty="0"/>
          </a:p>
        </p:txBody>
      </p:sp>
      <p:sp>
        <p:nvSpPr>
          <p:cNvPr id="7" name="Text 5"/>
          <p:cNvSpPr/>
          <p:nvPr/>
        </p:nvSpPr>
        <p:spPr>
          <a:xfrm>
            <a:off x="502920" y="1554480"/>
            <a:ext cx="329184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Bullet points/short sentences: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1. What natural resources are modern explorers searching for? Name 3+.</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2. Why are coral reefs and biodiversity important to protect?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3. What challenges do explorers face in the Arctic?</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4. What are renewable energy sources, and why are they important for the future?</a:t>
            </a:r>
            <a:endParaRPr lang="en-US" sz="1100" dirty="0"/>
          </a:p>
        </p:txBody>
      </p:sp>
      <p:sp>
        <p:nvSpPr>
          <p:cNvPr id="8" name="Shape 6"/>
          <p:cNvSpPr/>
          <p:nvPr/>
        </p:nvSpPr>
        <p:spPr>
          <a:xfrm>
            <a:off x="4069080" y="749808"/>
            <a:ext cx="3840480" cy="5394960"/>
          </a:xfrm>
          <a:prstGeom prst="roundRect">
            <a:avLst>
              <a:gd name="adj" fmla="val 1905"/>
            </a:avLst>
          </a:prstGeom>
          <a:solidFill>
            <a:srgbClr val="1E2F45"/>
          </a:solidFill>
          <a:ln w="12700">
            <a:solidFill>
              <a:srgbClr val="2DC653"/>
            </a:solidFill>
            <a:prstDash val="solid"/>
          </a:ln>
        </p:spPr>
      </p:sp>
      <p:sp>
        <p:nvSpPr>
          <p:cNvPr id="9" name="Text 7"/>
          <p:cNvSpPr/>
          <p:nvPr/>
        </p:nvSpPr>
        <p:spPr>
          <a:xfrm>
            <a:off x="4206240" y="822960"/>
            <a:ext cx="3566160" cy="68580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Part B</a:t>
            </a:r>
            <a:endParaRPr lang="en-US" sz="1300" dirty="0"/>
          </a:p>
          <a:p>
            <a:pPr indent="0" marL="0">
              <a:buNone/>
            </a:pPr>
            <a:r>
              <a:rPr lang="en-US" sz="1300" b="1" dirty="0">
                <a:solidFill>
                  <a:srgbClr val="2DC653"/>
                </a:solidFill>
                <a:latin typeface="Calibri" pitchFamily="34" charset="0"/>
                <a:ea typeface="Calibri" pitchFamily="34" charset="-122"/>
                <a:cs typeface="Calibri" pitchFamily="34" charset="-120"/>
              </a:rPr>
              <a:t>Thinking Deeply</a:t>
            </a:r>
            <a:endParaRPr lang="en-US" sz="1300" dirty="0"/>
          </a:p>
        </p:txBody>
      </p:sp>
      <p:sp>
        <p:nvSpPr>
          <p:cNvPr id="10" name="Text 8"/>
          <p:cNvSpPr/>
          <p:nvPr/>
        </p:nvSpPr>
        <p:spPr>
          <a:xfrm>
            <a:off x="4206240" y="1554480"/>
            <a:ext cx="356616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4-5 sentence paragraph using vocab words: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'How can we explore and use Earth's resources — like energy and biodiversity — while also protecting the environment for future generations?'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Think about: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How scientists balance use vs. protection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Why biodiversity matters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What we can do to help</a:t>
            </a:r>
            <a:endParaRPr lang="en-US" sz="1100" dirty="0"/>
          </a:p>
        </p:txBody>
      </p:sp>
      <p:sp>
        <p:nvSpPr>
          <p:cNvPr id="11" name="Shape 9"/>
          <p:cNvSpPr/>
          <p:nvPr/>
        </p:nvSpPr>
        <p:spPr>
          <a:xfrm>
            <a:off x="8046720" y="749808"/>
            <a:ext cx="3931920" cy="5394960"/>
          </a:xfrm>
          <a:prstGeom prst="roundRect">
            <a:avLst>
              <a:gd name="adj" fmla="val 1860"/>
            </a:avLst>
          </a:prstGeom>
          <a:solidFill>
            <a:srgbClr val="1E2F45"/>
          </a:solidFill>
          <a:ln w="12700">
            <a:solidFill>
              <a:srgbClr val="4CC9F0"/>
            </a:solidFill>
            <a:prstDash val="solid"/>
          </a:ln>
        </p:spPr>
      </p:sp>
      <p:sp>
        <p:nvSpPr>
          <p:cNvPr id="12" name="Text 10"/>
          <p:cNvSpPr/>
          <p:nvPr/>
        </p:nvSpPr>
        <p:spPr>
          <a:xfrm>
            <a:off x="8183880" y="822960"/>
            <a:ext cx="3657600" cy="68580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Part C</a:t>
            </a:r>
            <a:endParaRPr lang="en-US" sz="1300" dirty="0"/>
          </a:p>
          <a:p>
            <a:pPr indent="0" marL="0">
              <a:buNone/>
            </a:pPr>
            <a:r>
              <a:rPr lang="en-US" sz="1300" b="1" dirty="0">
                <a:solidFill>
                  <a:srgbClr val="4CC9F0"/>
                </a:solidFill>
                <a:latin typeface="Calibri" pitchFamily="34" charset="0"/>
                <a:ea typeface="Calibri" pitchFamily="34" charset="-122"/>
                <a:cs typeface="Calibri" pitchFamily="34" charset="-120"/>
              </a:rPr>
              <a:t>Draw &amp; Explore</a:t>
            </a:r>
            <a:endParaRPr lang="en-US" sz="1300" dirty="0"/>
          </a:p>
        </p:txBody>
      </p:sp>
      <p:sp>
        <p:nvSpPr>
          <p:cNvPr id="13" name="Text 11"/>
          <p:cNvSpPr/>
          <p:nvPr/>
        </p:nvSpPr>
        <p:spPr>
          <a:xfrm>
            <a:off x="8183880" y="1554480"/>
            <a:ext cx="365760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Choose one environment: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Ocean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Arctic</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Renewable energy landscape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Draw a diagram showing: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Natural resources found there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One way humans can use them while protecting the environment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Label 4+ things using today's vocabulary!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CER: Choose one modern resource. Argue whether it's worth the effort and cost.</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modern explorers find and use Earth's natural resources, like energy and biodiversity, while protecting the environment for future generations?"</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All four questions answered with bullet points or short sentences.</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4-5 sentence paragraph using 3+ vocabulary words from today.</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Environment diagram with 4+ labeled vocab words + one conservation idea.</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Essential Question Response — 2-3 sentences using 3+ vocabulary words.</a:t>
            </a:r>
            <a:endParaRPr lang="en-US" sz="1100" dirty="0"/>
          </a:p>
        </p:txBody>
      </p:sp>
      <p:sp>
        <p:nvSpPr>
          <p:cNvPr id="14" name="Text 12"/>
          <p:cNvSpPr/>
          <p:nvPr/>
        </p:nvSpPr>
        <p:spPr>
          <a:xfrm>
            <a:off x="548640" y="4133088"/>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Response — Claim about a modern resource + evidence + reasoning.</a:t>
            </a:r>
            <a:endParaRPr lang="en-US" sz="1100" dirty="0"/>
          </a:p>
        </p:txBody>
      </p:sp>
      <p:sp>
        <p:nvSpPr>
          <p:cNvPr id="15" name="Shape 13"/>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6" name="Text 14"/>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7" name="Text 15"/>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8.02</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Future Explorations: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Seeking Resources Beyond Earth</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What if we run out of resources on Earth? Could we find what we need on Mars or in the asteroid belt?</a:t>
            </a:r>
            <a:endParaRPr lang="en-US" sz="1200" dirty="0"/>
          </a:p>
        </p:txBody>
      </p:sp>
      <p:sp>
        <p:nvSpPr>
          <p:cNvPr id="18" name="Shape 16"/>
          <p:cNvSpPr/>
          <p:nvPr/>
        </p:nvSpPr>
        <p:spPr>
          <a:xfrm>
            <a:off x="0" y="5047488"/>
            <a:ext cx="12192000" cy="45720"/>
          </a:xfrm>
          <a:prstGeom prst="rect">
            <a:avLst/>
          </a:prstGeom>
          <a:solidFill>
            <a:srgbClr val="4CC9F0"/>
          </a:solidFill>
          <a:ln/>
        </p:spPr>
      </p:sp>
      <p:sp>
        <p:nvSpPr>
          <p:cNvPr id="19" name="Text 17"/>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8.01  ·  Modern Resources: Exploring Earth's Wonders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2026-07-13T19:54:28Z</dcterms:created>
  <dcterms:modified xsi:type="dcterms:W3CDTF">2026-07-13T19:54:28Z</dcterms:modified>
</cp:coreProperties>
</file>