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Ask: Have you ever seen a map that shows bumps and hills? Today we discover how scientists read the shape of the Earth using special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warm-up. Do NOT correct sketches — let students draw freely. After 5 min, share a few out loud. Ask: 'What did you put on your map? Why?' This activates prior knowledge about Earth's surface. Keep sketches — students compare at end of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prediction in notebook. Collect 2-3 predictions verbally. Don't reveal the answer yet. Facilitation moves:
• 'What made you think that?'
• 'Does anyone have a different prediction — and why?'
• 'What evidence would change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word aloud. Students repeat. Ask: 'Topographic — what root words do you hear? (topos = place, graphein = write)'. Point to contour lines image. Quick check: thumbs up if you know what elevation means. Connection: 'Where do you think has the highest elevation in Florida?'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partner talk, call on 2-3 students. Target answer: Erosion from a river over time creates a valley, which is a type of landform. Facilitation: 'What evidence from the image supports that idea?' 'Does anyone want to add to that?' 'What would change your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rule of the lesson. Have students write this rule in their notebooks as a Key Concept. Ask: 'If you're hiking and contour lines start bunching together ahead of you, what should you expect?' Target: steep climb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draw a quick sketch of each landform in their notebooks with the topo map pattern. Ask: 'Mountains and valleys almost always appear near each other. Why?' Target: a mountain must have lower ground on the sides — that's the valley. Ask: 'Could you have a mountain without a valley nearby?'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slowly. Have students write the 4 steps in their notebooks. After Step 4, ask: 'Why do you think following water on a map helps us understand erosion?' Target: water flows downhill and carries sediment — that's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make evidence-based predictions BEFORE the reveal: 'I predict the mountain will show ___ on the topo map because ___.' Then reveal/discuss each feature. Ask: 'What evidence on the diagram shows that this is a steep slope and not a gentle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reasoning slide. Students use the evidence frame. Call on 3-4 students. Facilitation moves:
• 'What specific evidence supports that?'
• 'Does anyone have different evidence?'
• 'What would change your mind about this?'
Target answer: you should expect a steep climb because closely packed lines = steep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moves:
• 'What evidence from today's lesson supports your answer?'
• 'What does the real-world connection tell us about what erosion does over time?'
• 'What would you need to see to know a valley was carved by a river versus by other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curiosity! Ask: 'If erosion slowly wears everything down, what does that mean for Mount Everest in millions of years?' Connect to the essential question: patterns in maps help us understand how these forces have shaped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 discuss live. Ask students to show fingers 1, 2, or 3 for their answer before revealing. For wrong answers, use: 'What in the lesson made you think that?' Turn misconceptions into teaching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Emphasize: every part was practiced in a specific slide. Students should have their notebooks with warm-up sketch — remind them to compare original sketch to their new topo map for the Reflect &amp;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original warm-up sketches. Ask: 'How is your topo map different from your first drawing?' Celebrate growth in scientific thinking. Preview next lesson hook: 'What if YOU were a mapmaker 500 years ago with no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Earth's Diverse Features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Topographic Maps · Landforms · Erosion</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4-ESS2-2 — Patterns in Earth's Features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what a topographic map is and how contour lines show elevation.</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and compare mountains, valleys, and plains.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how erosion shapes Earth's surface over time.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Notice &amp; Wonder</a:t>
            </a:r>
            <a:endParaRPr lang="en-US" sz="1600" dirty="0"/>
          </a:p>
        </p:txBody>
      </p:sp>
      <p:sp>
        <p:nvSpPr>
          <p:cNvPr id="5" name="Shape 3"/>
          <p:cNvSpPr/>
          <p:nvPr/>
        </p:nvSpPr>
        <p:spPr>
          <a:xfrm>
            <a:off x="365760" y="749808"/>
            <a:ext cx="5669280" cy="4114800"/>
          </a:xfrm>
          <a:prstGeom prst="roundRect">
            <a:avLst>
              <a:gd name="adj" fmla="val 1778"/>
            </a:avLst>
          </a:prstGeom>
          <a:solidFill>
            <a:srgbClr val="0A1520"/>
          </a:solidFill>
          <a:ln w="19050">
            <a:solidFill>
              <a:srgbClr val="4CC9F0"/>
            </a:solidFill>
            <a:prstDash val="dash"/>
          </a:ln>
        </p:spPr>
      </p:sp>
      <p:sp>
        <p:nvSpPr>
          <p:cNvPr id="6" name="Text 4"/>
          <p:cNvSpPr/>
          <p:nvPr/>
        </p:nvSpPr>
        <p:spPr>
          <a:xfrm>
            <a:off x="457200" y="859536"/>
            <a:ext cx="5486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486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44982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"aerial view topographic map mountains valleys contour lines"</a:t>
            </a:r>
            <a:endParaRPr lang="en-US" sz="950" dirty="0"/>
          </a:p>
        </p:txBody>
      </p:sp>
      <p:sp>
        <p:nvSpPr>
          <p:cNvPr id="9" name="Text 7"/>
          <p:cNvSpPr/>
          <p:nvPr/>
        </p:nvSpPr>
        <p:spPr>
          <a:xfrm>
            <a:off x="365760" y="4901184"/>
            <a:ext cx="56692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Looking down at Earth's surface from above</a:t>
            </a:r>
            <a:endParaRPr lang="en-US" sz="900" dirty="0"/>
          </a:p>
        </p:txBody>
      </p:sp>
      <p:sp>
        <p:nvSpPr>
          <p:cNvPr id="10" name="Shape 8"/>
          <p:cNvSpPr/>
          <p:nvPr/>
        </p:nvSpPr>
        <p:spPr>
          <a:xfrm>
            <a:off x="6217920" y="749808"/>
            <a:ext cx="5577840" cy="347472"/>
          </a:xfrm>
          <a:prstGeom prst="roundRect">
            <a:avLst>
              <a:gd name="adj" fmla="val 23684"/>
            </a:avLst>
          </a:prstGeom>
          <a:solidFill>
            <a:srgbClr val="E09200"/>
          </a:solidFill>
          <a:ln w="19050">
            <a:solidFill>
              <a:srgbClr val="FFB703"/>
            </a:solidFill>
            <a:prstDash val="solid"/>
          </a:ln>
        </p:spPr>
      </p:sp>
      <p:sp>
        <p:nvSpPr>
          <p:cNvPr id="11" name="Text 9"/>
          <p:cNvSpPr/>
          <p:nvPr/>
        </p:nvSpPr>
        <p:spPr>
          <a:xfrm>
            <a:off x="6217920" y="749808"/>
            <a:ext cx="55778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2" name="Shape 10"/>
          <p:cNvSpPr/>
          <p:nvPr/>
        </p:nvSpPr>
        <p:spPr>
          <a:xfrm>
            <a:off x="6217920" y="1188720"/>
            <a:ext cx="5577840" cy="1645920"/>
          </a:xfrm>
          <a:prstGeom prst="roundRect">
            <a:avLst>
              <a:gd name="adj" fmla="val 4444"/>
            </a:avLst>
          </a:prstGeom>
          <a:solidFill>
            <a:srgbClr val="1E2F45"/>
          </a:solidFill>
          <a:ln w="12700">
            <a:solidFill>
              <a:srgbClr val="FFB703"/>
            </a:solidFill>
            <a:prstDash val="solid"/>
          </a:ln>
        </p:spPr>
      </p:sp>
      <p:sp>
        <p:nvSpPr>
          <p:cNvPr id="13" name="Text 11"/>
          <p:cNvSpPr/>
          <p:nvPr/>
        </p:nvSpPr>
        <p:spPr>
          <a:xfrm>
            <a:off x="6400800" y="1261872"/>
            <a:ext cx="5212080" cy="1417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your science notebook, draw Earth's surface as if you were looking down from an airplane.</a:t>
            </a:r>
            <a:endParaRPr lang="en-US" sz="1200" dirty="0"/>
          </a:p>
        </p:txBody>
      </p:sp>
      <p:sp>
        <p:nvSpPr>
          <p:cNvPr id="14" name="Shape 12"/>
          <p:cNvSpPr/>
          <p:nvPr/>
        </p:nvSpPr>
        <p:spPr>
          <a:xfrm>
            <a:off x="6217920" y="2971800"/>
            <a:ext cx="5577840" cy="2011680"/>
          </a:xfrm>
          <a:prstGeom prst="roundRect">
            <a:avLst>
              <a:gd name="adj" fmla="val 3636"/>
            </a:avLst>
          </a:prstGeom>
          <a:solidFill>
            <a:srgbClr val="162233"/>
          </a:solidFill>
          <a:ln w="12700">
            <a:solidFill>
              <a:srgbClr val="4CC9F0"/>
            </a:solidFill>
            <a:prstDash val="solid"/>
          </a:ln>
        </p:spPr>
      </p:sp>
      <p:sp>
        <p:nvSpPr>
          <p:cNvPr id="15" name="Text 13"/>
          <p:cNvSpPr/>
          <p:nvPr/>
        </p:nvSpPr>
        <p:spPr>
          <a:xfrm>
            <a:off x="6400800" y="3035808"/>
            <a:ext cx="5212080" cy="32004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Warm-Up Sketch — 5 minutes</a:t>
            </a:r>
            <a:endParaRPr lang="en-US" sz="1100" dirty="0"/>
          </a:p>
        </p:txBody>
      </p:sp>
      <p:sp>
        <p:nvSpPr>
          <p:cNvPr id="16" name="Text 14"/>
          <p:cNvSpPr/>
          <p:nvPr/>
        </p:nvSpPr>
        <p:spPr>
          <a:xfrm>
            <a:off x="6400800" y="3401568"/>
            <a:ext cx="5212080" cy="14173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Include: mountains, rivers, flat areas.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Label what you drew!</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We'll come back to compare it at the end!</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Make a Prediction</a:t>
            </a:r>
            <a:endParaRPr lang="en-US" sz="1600" dirty="0"/>
          </a:p>
        </p:txBody>
      </p:sp>
      <p:sp>
        <p:nvSpPr>
          <p:cNvPr id="5" name="Shape 3"/>
          <p:cNvSpPr/>
          <p:nvPr/>
        </p:nvSpPr>
        <p:spPr>
          <a:xfrm>
            <a:off x="365760" y="749808"/>
            <a:ext cx="11430000" cy="1188720"/>
          </a:xfrm>
          <a:prstGeom prst="roundRect">
            <a:avLst>
              <a:gd name="adj" fmla="val 6154"/>
            </a:avLst>
          </a:prstGeom>
          <a:solidFill>
            <a:srgbClr val="1E2F45"/>
          </a:solidFill>
          <a:ln w="12700">
            <a:solidFill>
              <a:srgbClr val="FFB703"/>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Think About This…</a:t>
            </a:r>
            <a:endParaRPr lang="en-US" sz="1200" dirty="0"/>
          </a:p>
        </p:txBody>
      </p:sp>
      <p:sp>
        <p:nvSpPr>
          <p:cNvPr id="7" name="Text 5"/>
          <p:cNvSpPr/>
          <p:nvPr/>
        </p:nvSpPr>
        <p:spPr>
          <a:xfrm>
            <a:off x="548640" y="1133856"/>
            <a:ext cx="10972800" cy="6583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"If you wanted to show a friend that one part of a map is a steep mountain and another part is flat farmland — but you could only use lines — how would you do it?"</a:t>
            </a:r>
            <a:endParaRPr lang="en-US" sz="1300" dirty="0"/>
          </a:p>
        </p:txBody>
      </p:sp>
      <p:sp>
        <p:nvSpPr>
          <p:cNvPr id="8" name="Shape 6"/>
          <p:cNvSpPr/>
          <p:nvPr/>
        </p:nvSpPr>
        <p:spPr>
          <a:xfrm>
            <a:off x="365760" y="2084832"/>
            <a:ext cx="11430000" cy="2011680"/>
          </a:xfrm>
          <a:prstGeom prst="roundRect">
            <a:avLst>
              <a:gd name="adj" fmla="val 3636"/>
            </a:avLst>
          </a:prstGeom>
          <a:solidFill>
            <a:srgbClr val="162233"/>
          </a:solidFill>
          <a:ln w="12700">
            <a:solidFill>
              <a:srgbClr val="FFB703"/>
            </a:solidFill>
            <a:prstDash val="solid"/>
          </a:ln>
        </p:spPr>
      </p:sp>
      <p:sp>
        <p:nvSpPr>
          <p:cNvPr id="9" name="Text 7"/>
          <p:cNvSpPr/>
          <p:nvPr/>
        </p:nvSpPr>
        <p:spPr>
          <a:xfrm>
            <a:off x="530352" y="2157984"/>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Evidence-Based Prediction</a:t>
            </a:r>
            <a:endParaRPr lang="en-US" sz="1300" dirty="0"/>
          </a:p>
        </p:txBody>
      </p:sp>
      <p:sp>
        <p:nvSpPr>
          <p:cNvPr id="10" name="Text 8"/>
          <p:cNvSpPr/>
          <p:nvPr/>
        </p:nvSpPr>
        <p:spPr>
          <a:xfrm>
            <a:off x="530352" y="2523744"/>
            <a:ext cx="11100816" cy="146304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Complete this in your notebook:</a:t>
            </a:r>
            <a:endParaRPr lang="en-US" sz="1300" dirty="0"/>
          </a:p>
          <a:p>
            <a:pPr algn="l" indent="0" marL="0">
              <a:buNone/>
            </a:pPr>
            <a:r>
              <a:rPr lang="en-US" sz="1300" i="1" dirty="0">
                <a:solidFill>
                  <a:srgbClr val="FFFFFF"/>
                </a:solidFill>
                <a:latin typeface="Calibri" pitchFamily="34" charset="0"/>
                <a:ea typeface="Calibri" pitchFamily="34" charset="-122"/>
                <a:cs typeface="Calibri" pitchFamily="34" charset="-120"/>
              </a:rPr>
              <a:t>"I predict the lines would look ___ because ___."</a:t>
            </a:r>
            <a:endParaRPr lang="en-US" sz="1300" dirty="0"/>
          </a:p>
        </p:txBody>
      </p:sp>
      <p:sp>
        <p:nvSpPr>
          <p:cNvPr id="11" name="Shape 9"/>
          <p:cNvSpPr/>
          <p:nvPr/>
        </p:nvSpPr>
        <p:spPr>
          <a:xfrm>
            <a:off x="365760" y="4224528"/>
            <a:ext cx="11430000" cy="1024128"/>
          </a:xfrm>
          <a:prstGeom prst="roundRect">
            <a:avLst>
              <a:gd name="adj" fmla="val 7143"/>
            </a:avLst>
          </a:prstGeom>
          <a:solidFill>
            <a:srgbClr val="0A1520"/>
          </a:solidFill>
          <a:ln w="12700">
            <a:solidFill>
              <a:srgbClr val="4CC9F0"/>
            </a:solidFill>
            <a:prstDash val="solid"/>
          </a:ln>
        </p:spPr>
      </p:sp>
      <p:sp>
        <p:nvSpPr>
          <p:cNvPr id="12" name="Text 10"/>
          <p:cNvSpPr/>
          <p:nvPr/>
        </p:nvSpPr>
        <p:spPr>
          <a:xfrm>
            <a:off x="594360" y="4343400"/>
            <a:ext cx="10972800" cy="384048"/>
          </a:xfrm>
          <a:prstGeom prst="rect">
            <a:avLst/>
          </a:prstGeom>
          <a:noFill/>
          <a:ln/>
        </p:spPr>
        <p:txBody>
          <a:bodyPr wrap="square" rtlCol="0" anchor="ctr"/>
          <a:lstStyle/>
          <a:p>
            <a:pPr indent="0" marL="0">
              <a:buNone/>
            </a:pPr>
            <a:r>
              <a:rPr lang="en-US" sz="1300" i="1" dirty="0">
                <a:solidFill>
                  <a:srgbClr val="4CC9F0"/>
                </a:solidFill>
                <a:latin typeface="Calibri" pitchFamily="34" charset="0"/>
                <a:ea typeface="Calibri" pitchFamily="34" charset="-122"/>
                <a:cs typeface="Calibri" pitchFamily="34" charset="-120"/>
              </a:rPr>
              <a:t>🔑 Keep your prediction! We'll check it after the lesson.</a:t>
            </a:r>
            <a:endParaRPr lang="en-US" sz="13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Earth's Surface Words (Set 1)</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365760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Topographic Map</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special map that shows the shape and height of land using contour lines.</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0096C7"/>
            </a:solidFill>
            <a:prstDash val="solid"/>
          </a:ln>
        </p:spPr>
      </p:sp>
      <p:sp>
        <p:nvSpPr>
          <p:cNvPr id="10" name="Shape 8"/>
          <p:cNvSpPr/>
          <p:nvPr/>
        </p:nvSpPr>
        <p:spPr>
          <a:xfrm>
            <a:off x="4251960" y="749808"/>
            <a:ext cx="3657600" cy="347472"/>
          </a:xfrm>
          <a:prstGeom prst="roundRect">
            <a:avLst>
              <a:gd name="adj" fmla="val 21053"/>
            </a:avLst>
          </a:prstGeom>
          <a:solidFill>
            <a:srgbClr val="0096C7"/>
          </a:solidFill>
          <a:ln w="12700">
            <a:solidFill>
              <a:srgbClr val="0096C7"/>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Contour Line</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line on a map that connects all points at the same elevation — the same height above sea level.</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2DC653"/>
            </a:solidFill>
            <a:prstDash val="solid"/>
          </a:ln>
        </p:spPr>
      </p:sp>
      <p:sp>
        <p:nvSpPr>
          <p:cNvPr id="14" name="Shape 12"/>
          <p:cNvSpPr/>
          <p:nvPr/>
        </p:nvSpPr>
        <p:spPr>
          <a:xfrm>
            <a:off x="8138160" y="749808"/>
            <a:ext cx="3657600" cy="347472"/>
          </a:xfrm>
          <a:prstGeom prst="roundRect">
            <a:avLst>
              <a:gd name="adj" fmla="val 21053"/>
            </a:avLst>
          </a:prstGeom>
          <a:solidFill>
            <a:srgbClr val="2DC653"/>
          </a:solidFill>
          <a:ln w="12700">
            <a:solidFill>
              <a:srgbClr val="2DC653"/>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Elevation</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How high a place is above sea level. Mountains have high elevation; valleys have low elevation.</a:t>
            </a:r>
            <a:endParaRPr lang="en-US" sz="1050" dirty="0"/>
          </a:p>
        </p:txBody>
      </p:sp>
      <p:sp>
        <p:nvSpPr>
          <p:cNvPr id="17" name="Shape 15"/>
          <p:cNvSpPr/>
          <p:nvPr/>
        </p:nvSpPr>
        <p:spPr>
          <a:xfrm>
            <a:off x="365760" y="2212848"/>
            <a:ext cx="11430000" cy="3108960"/>
          </a:xfrm>
          <a:prstGeom prst="roundRect">
            <a:avLst>
              <a:gd name="adj" fmla="val 2353"/>
            </a:avLst>
          </a:prstGeom>
          <a:solidFill>
            <a:srgbClr val="0A1520"/>
          </a:solidFill>
          <a:ln w="19050">
            <a:solidFill>
              <a:srgbClr val="4CC9F0"/>
            </a:solidFill>
            <a:prstDash val="dash"/>
          </a:ln>
        </p:spPr>
      </p:sp>
      <p:sp>
        <p:nvSpPr>
          <p:cNvPr id="18" name="Text 16"/>
          <p:cNvSpPr/>
          <p:nvPr/>
        </p:nvSpPr>
        <p:spPr>
          <a:xfrm>
            <a:off x="457200" y="2322576"/>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457200" y="2761488"/>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0" name="Text 18"/>
          <p:cNvSpPr/>
          <p:nvPr/>
        </p:nvSpPr>
        <p:spPr>
          <a:xfrm>
            <a:off x="475488" y="3054096"/>
            <a:ext cx="11210544" cy="20574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"topographic map contour lines mountain peak elevation map reading"</a:t>
            </a:r>
            <a:endParaRPr lang="en-US" sz="950" dirty="0"/>
          </a:p>
        </p:txBody>
      </p:sp>
      <p:sp>
        <p:nvSpPr>
          <p:cNvPr id="21" name="Text 19"/>
          <p:cNvSpPr/>
          <p:nvPr/>
        </p:nvSpPr>
        <p:spPr>
          <a:xfrm>
            <a:off x="365760" y="5358384"/>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Contour lines show elevation — close lines = steep; spread apart = gentle slope</a:t>
            </a:r>
            <a:endParaRPr lang="en-US" sz="9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Earth's Surface Words (Set 2)</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F4736A"/>
            </a:solidFill>
            <a:prstDash val="solid"/>
          </a:ln>
        </p:spPr>
      </p:sp>
      <p:sp>
        <p:nvSpPr>
          <p:cNvPr id="6" name="Shape 4"/>
          <p:cNvSpPr/>
          <p:nvPr/>
        </p:nvSpPr>
        <p:spPr>
          <a:xfrm>
            <a:off x="365760" y="749808"/>
            <a:ext cx="3657600" cy="347472"/>
          </a:xfrm>
          <a:prstGeom prst="roundRect">
            <a:avLst>
              <a:gd name="adj" fmla="val 21053"/>
            </a:avLst>
          </a:prstGeom>
          <a:solidFill>
            <a:srgbClr val="F4736A"/>
          </a:solidFill>
          <a:ln w="12700">
            <a:solidFill>
              <a:srgbClr val="F4736A"/>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Landform</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natural feature of Earth's surface, such as a mountain, valley, plain, or coastline.</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E09200"/>
            </a:solidFill>
            <a:prstDash val="solid"/>
          </a:ln>
        </p:spPr>
      </p:sp>
      <p:sp>
        <p:nvSpPr>
          <p:cNvPr id="10" name="Shape 8"/>
          <p:cNvSpPr/>
          <p:nvPr/>
        </p:nvSpPr>
        <p:spPr>
          <a:xfrm>
            <a:off x="4251960" y="749808"/>
            <a:ext cx="3657600" cy="347472"/>
          </a:xfrm>
          <a:prstGeom prst="roundRect">
            <a:avLst>
              <a:gd name="adj" fmla="val 21053"/>
            </a:avLst>
          </a:prstGeom>
          <a:solidFill>
            <a:srgbClr val="E09200"/>
          </a:solidFill>
          <a:ln w="12700">
            <a:solidFill>
              <a:srgbClr val="E09200"/>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Erosion</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gradual wearing away of rocks and soil by wind, water, ice, or other natural forces.</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0096C7"/>
            </a:solidFill>
            <a:prstDash val="solid"/>
          </a:ln>
        </p:spPr>
      </p:sp>
      <p:sp>
        <p:nvSpPr>
          <p:cNvPr id="14" name="Shape 12"/>
          <p:cNvSpPr/>
          <p:nvPr/>
        </p:nvSpPr>
        <p:spPr>
          <a:xfrm>
            <a:off x="8138160" y="749808"/>
            <a:ext cx="3657600" cy="347472"/>
          </a:xfrm>
          <a:prstGeom prst="roundRect">
            <a:avLst>
              <a:gd name="adj" fmla="val 21053"/>
            </a:avLst>
          </a:prstGeom>
          <a:solidFill>
            <a:srgbClr val="0096C7"/>
          </a:solidFill>
          <a:ln w="12700">
            <a:solidFill>
              <a:srgbClr val="0096C7"/>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Valley</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low area of land between hills or mountains, often carved by rivers over long periods of time.</a:t>
            </a:r>
            <a:endParaRPr lang="en-US" sz="1050" dirty="0"/>
          </a:p>
        </p:txBody>
      </p:sp>
      <p:sp>
        <p:nvSpPr>
          <p:cNvPr id="17" name="Shape 15"/>
          <p:cNvSpPr/>
          <p:nvPr/>
        </p:nvSpPr>
        <p:spPr>
          <a:xfrm>
            <a:off x="365760" y="2304288"/>
            <a:ext cx="11430000" cy="1810512"/>
          </a:xfrm>
          <a:prstGeom prst="roundRect">
            <a:avLst>
              <a:gd name="adj" fmla="val 4040"/>
            </a:avLst>
          </a:prstGeom>
          <a:solidFill>
            <a:srgbClr val="162233"/>
          </a:solidFill>
          <a:ln w="12700">
            <a:solidFill>
              <a:srgbClr val="FFB703"/>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Vocab Connection</a:t>
            </a:r>
            <a:endParaRPr lang="en-US" sz="1300" dirty="0"/>
          </a:p>
        </p:txBody>
      </p:sp>
      <p:sp>
        <p:nvSpPr>
          <p:cNvPr id="19" name="Text 17"/>
          <p:cNvSpPr/>
          <p:nvPr/>
        </p:nvSpPr>
        <p:spPr>
          <a:xfrm>
            <a:off x="530352" y="2743200"/>
            <a:ext cx="11100816" cy="1261872"/>
          </a:xfrm>
          <a:prstGeom prst="rect">
            <a:avLst/>
          </a:prstGeom>
          <a:noFill/>
          <a:ln/>
        </p:spPr>
        <p:txBody>
          <a:bodyPr wrap="square" rtlCol="0" anchor="t"/>
          <a:lstStyle/>
          <a:p>
            <a:pPr algn="l" indent="0" marL="0">
              <a:buNone/>
            </a:pPr>
            <a:r>
              <a:rPr lang="en-US" sz="1250" i="1" dirty="0">
                <a:solidFill>
                  <a:srgbClr val="FFFFFF"/>
                </a:solidFill>
                <a:latin typeface="Calibri" pitchFamily="34" charset="0"/>
                <a:ea typeface="Calibri" pitchFamily="34" charset="-122"/>
                <a:cs typeface="Calibri" pitchFamily="34" charset="-120"/>
              </a:rPr>
              <a:t>Think: How are landform, erosion, and valley connected to each other? Discuss with a partner for 1 minute, then share out.</a:t>
            </a:r>
            <a:endParaRPr lang="en-US" sz="1250" dirty="0"/>
          </a:p>
        </p:txBody>
      </p:sp>
      <p:sp>
        <p:nvSpPr>
          <p:cNvPr id="20" name="Shape 18"/>
          <p:cNvSpPr/>
          <p:nvPr/>
        </p:nvSpPr>
        <p:spPr>
          <a:xfrm>
            <a:off x="365760" y="4206240"/>
            <a:ext cx="11430000" cy="1828800"/>
          </a:xfrm>
          <a:prstGeom prst="roundRect">
            <a:avLst>
              <a:gd name="adj" fmla="val 4000"/>
            </a:avLst>
          </a:prstGeom>
          <a:solidFill>
            <a:srgbClr val="0A1520"/>
          </a:solidFill>
          <a:ln w="19050">
            <a:solidFill>
              <a:srgbClr val="4CC9F0"/>
            </a:solidFill>
            <a:prstDash val="dash"/>
          </a:ln>
        </p:spPr>
      </p:sp>
      <p:sp>
        <p:nvSpPr>
          <p:cNvPr id="21" name="Text 19"/>
          <p:cNvSpPr/>
          <p:nvPr/>
        </p:nvSpPr>
        <p:spPr>
          <a:xfrm>
            <a:off x="457200" y="4315968"/>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457200" y="4754880"/>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3" name="Text 21"/>
          <p:cNvSpPr/>
          <p:nvPr/>
        </p:nvSpPr>
        <p:spPr>
          <a:xfrm>
            <a:off x="475488" y="5047488"/>
            <a:ext cx="11210544" cy="777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"river valley erosion carved landscape aerial view"</a:t>
            </a:r>
            <a:endParaRPr lang="en-US" sz="950" dirty="0"/>
          </a:p>
        </p:txBody>
      </p:sp>
      <p:sp>
        <p:nvSpPr>
          <p:cNvPr id="24" name="Text 22"/>
          <p:cNvSpPr/>
          <p:nvPr/>
        </p:nvSpPr>
        <p:spPr>
          <a:xfrm>
            <a:off x="365760" y="6071616"/>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Rivers carve valleys through erosion over millions of years</a:t>
            </a:r>
            <a:endParaRPr lang="en-US" sz="9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The Contour Line Rule</a:t>
            </a:r>
            <a:endParaRPr lang="en-US" sz="1600" dirty="0"/>
          </a:p>
        </p:txBody>
      </p:sp>
      <p:sp>
        <p:nvSpPr>
          <p:cNvPr id="5" name="Shape 3"/>
          <p:cNvSpPr/>
          <p:nvPr/>
        </p:nvSpPr>
        <p:spPr>
          <a:xfrm>
            <a:off x="365760" y="749808"/>
            <a:ext cx="6400800" cy="4206240"/>
          </a:xfrm>
          <a:prstGeom prst="roundRect">
            <a:avLst>
              <a:gd name="adj" fmla="val 1739"/>
            </a:avLst>
          </a:prstGeom>
          <a:solidFill>
            <a:srgbClr val="0A1520"/>
          </a:solidFill>
          <a:ln w="19050">
            <a:solidFill>
              <a:srgbClr val="4CC9F0"/>
            </a:solidFill>
            <a:prstDash val="dash"/>
          </a:ln>
        </p:spPr>
      </p:sp>
      <p:sp>
        <p:nvSpPr>
          <p:cNvPr id="6" name="Text 4"/>
          <p:cNvSpPr/>
          <p:nvPr/>
        </p:nvSpPr>
        <p:spPr>
          <a:xfrm>
            <a:off x="457200" y="859536"/>
            <a:ext cx="62179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62179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6181344" cy="31546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"topographic map contour lines close together steep slope mountain"</a:t>
            </a:r>
            <a:endParaRPr lang="en-US" sz="950" dirty="0"/>
          </a:p>
        </p:txBody>
      </p:sp>
      <p:sp>
        <p:nvSpPr>
          <p:cNvPr id="9" name="Text 7"/>
          <p:cNvSpPr/>
          <p:nvPr/>
        </p:nvSpPr>
        <p:spPr>
          <a:xfrm>
            <a:off x="365760" y="4992624"/>
            <a:ext cx="64008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Tightly packed contour lines = steep terrain</a:t>
            </a:r>
            <a:endParaRPr lang="en-US" sz="900" dirty="0"/>
          </a:p>
        </p:txBody>
      </p:sp>
      <p:sp>
        <p:nvSpPr>
          <p:cNvPr id="10" name="Shape 8"/>
          <p:cNvSpPr/>
          <p:nvPr/>
        </p:nvSpPr>
        <p:spPr>
          <a:xfrm>
            <a:off x="6949440" y="749808"/>
            <a:ext cx="4846320" cy="1920240"/>
          </a:xfrm>
          <a:prstGeom prst="roundRect">
            <a:avLst>
              <a:gd name="adj" fmla="val 3810"/>
            </a:avLst>
          </a:prstGeom>
          <a:solidFill>
            <a:srgbClr val="1E2F45"/>
          </a:solidFill>
          <a:ln w="12700">
            <a:solidFill>
              <a:srgbClr val="4CC9F0"/>
            </a:solidFill>
            <a:prstDash val="solid"/>
          </a:ln>
        </p:spPr>
      </p:sp>
      <p:sp>
        <p:nvSpPr>
          <p:cNvPr id="11" name="Text 9"/>
          <p:cNvSpPr/>
          <p:nvPr/>
        </p:nvSpPr>
        <p:spPr>
          <a:xfrm>
            <a:off x="7132320" y="822960"/>
            <a:ext cx="448056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Lines CLOSE Together</a:t>
            </a:r>
            <a:endParaRPr lang="en-US" sz="1300" dirty="0"/>
          </a:p>
        </p:txBody>
      </p:sp>
      <p:sp>
        <p:nvSpPr>
          <p:cNvPr id="12" name="Text 10"/>
          <p:cNvSpPr/>
          <p:nvPr/>
        </p:nvSpPr>
        <p:spPr>
          <a:xfrm>
            <a:off x="7132320" y="1188720"/>
            <a:ext cx="4480560" cy="13258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Steep terrain!</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Elevation changes quickly.</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Think: lots of stairs crammed together.</a:t>
            </a:r>
            <a:endParaRPr lang="en-US" sz="1200" dirty="0"/>
          </a:p>
        </p:txBody>
      </p:sp>
      <p:sp>
        <p:nvSpPr>
          <p:cNvPr id="13" name="Shape 11"/>
          <p:cNvSpPr/>
          <p:nvPr/>
        </p:nvSpPr>
        <p:spPr>
          <a:xfrm>
            <a:off x="6949440" y="2834640"/>
            <a:ext cx="4846320" cy="1920240"/>
          </a:xfrm>
          <a:prstGeom prst="roundRect">
            <a:avLst>
              <a:gd name="adj" fmla="val 3810"/>
            </a:avLst>
          </a:prstGeom>
          <a:solidFill>
            <a:srgbClr val="1E2F45"/>
          </a:solidFill>
          <a:ln w="12700">
            <a:solidFill>
              <a:srgbClr val="2DC653"/>
            </a:solidFill>
            <a:prstDash val="solid"/>
          </a:ln>
        </p:spPr>
      </p:sp>
      <p:sp>
        <p:nvSpPr>
          <p:cNvPr id="14" name="Text 12"/>
          <p:cNvSpPr/>
          <p:nvPr/>
        </p:nvSpPr>
        <p:spPr>
          <a:xfrm>
            <a:off x="7132320" y="2907792"/>
            <a:ext cx="448056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Lines FAR Apart</a:t>
            </a:r>
            <a:endParaRPr lang="en-US" sz="1300" dirty="0"/>
          </a:p>
        </p:txBody>
      </p:sp>
      <p:sp>
        <p:nvSpPr>
          <p:cNvPr id="15" name="Text 13"/>
          <p:cNvSpPr/>
          <p:nvPr/>
        </p:nvSpPr>
        <p:spPr>
          <a:xfrm>
            <a:off x="7132320" y="3273552"/>
            <a:ext cx="4480560" cy="13258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Gentle terrain!</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Elevation barely changes.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Think: a long, slow ramp — not stairs.</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The Three Main Landforms</a:t>
            </a:r>
            <a:endParaRPr lang="en-US" sz="1600" dirty="0"/>
          </a:p>
        </p:txBody>
      </p:sp>
      <p:sp>
        <p:nvSpPr>
          <p:cNvPr id="5" name="Shape 3"/>
          <p:cNvSpPr/>
          <p:nvPr/>
        </p:nvSpPr>
        <p:spPr>
          <a:xfrm>
            <a:off x="365760" y="749808"/>
            <a:ext cx="3657600" cy="2514600"/>
          </a:xfrm>
          <a:prstGeom prst="roundRect">
            <a:avLst>
              <a:gd name="adj" fmla="val 2909"/>
            </a:avLst>
          </a:prstGeom>
          <a:solidFill>
            <a:srgbClr val="1E2F45"/>
          </a:solidFill>
          <a:ln w="12700">
            <a:solidFill>
              <a:srgbClr val="4CC9F0"/>
            </a:solidFill>
            <a:prstDash val="solid"/>
          </a:ln>
        </p:spPr>
      </p:sp>
      <p:sp>
        <p:nvSpPr>
          <p:cNvPr id="6" name="Shape 4"/>
          <p:cNvSpPr/>
          <p:nvPr/>
        </p:nvSpPr>
        <p:spPr>
          <a:xfrm>
            <a:off x="411480" y="804672"/>
            <a:ext cx="1554480" cy="256032"/>
          </a:xfrm>
          <a:prstGeom prst="roundRect">
            <a:avLst>
              <a:gd name="adj" fmla="val 50000"/>
            </a:avLst>
          </a:prstGeom>
          <a:solidFill>
            <a:srgbClr val="4CC9F0"/>
          </a:solidFill>
          <a:ln w="12700">
            <a:solidFill>
              <a:srgbClr val="4CC9F0"/>
            </a:solidFill>
            <a:prstDash val="solid"/>
          </a:ln>
        </p:spPr>
      </p:sp>
      <p:sp>
        <p:nvSpPr>
          <p:cNvPr id="7" name="Text 5"/>
          <p:cNvSpPr/>
          <p:nvPr/>
        </p:nvSpPr>
        <p:spPr>
          <a:xfrm>
            <a:off x="411480"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Mountain</a:t>
            </a:r>
            <a:endParaRPr lang="en-US" sz="900" dirty="0"/>
          </a:p>
        </p:txBody>
      </p:sp>
      <p:sp>
        <p:nvSpPr>
          <p:cNvPr id="8" name="Text 6"/>
          <p:cNvSpPr/>
          <p:nvPr/>
        </p:nvSpPr>
        <p:spPr>
          <a:xfrm>
            <a:off x="502920" y="1133856"/>
            <a:ext cx="3383280" cy="18288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High landform rising steeply above surrounding land.</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Topo map shows: tight concentric rings toward the peak.</a:t>
            </a:r>
            <a:endParaRPr lang="en-US" sz="1100" dirty="0"/>
          </a:p>
        </p:txBody>
      </p:sp>
      <p:sp>
        <p:nvSpPr>
          <p:cNvPr id="9" name="Shape 7"/>
          <p:cNvSpPr/>
          <p:nvPr/>
        </p:nvSpPr>
        <p:spPr>
          <a:xfrm>
            <a:off x="4251960" y="749808"/>
            <a:ext cx="3657600" cy="2514600"/>
          </a:xfrm>
          <a:prstGeom prst="roundRect">
            <a:avLst>
              <a:gd name="adj" fmla="val 2909"/>
            </a:avLst>
          </a:prstGeom>
          <a:solidFill>
            <a:srgbClr val="1E2F45"/>
          </a:solidFill>
          <a:ln w="12700">
            <a:solidFill>
              <a:srgbClr val="2DC653"/>
            </a:solidFill>
            <a:prstDash val="solid"/>
          </a:ln>
        </p:spPr>
      </p:sp>
      <p:sp>
        <p:nvSpPr>
          <p:cNvPr id="10" name="Shape 8"/>
          <p:cNvSpPr/>
          <p:nvPr/>
        </p:nvSpPr>
        <p:spPr>
          <a:xfrm>
            <a:off x="4315968" y="804672"/>
            <a:ext cx="1554480" cy="256032"/>
          </a:xfrm>
          <a:prstGeom prst="roundRect">
            <a:avLst>
              <a:gd name="adj" fmla="val 50000"/>
            </a:avLst>
          </a:prstGeom>
          <a:solidFill>
            <a:srgbClr val="1A8C3A"/>
          </a:solidFill>
          <a:ln w="12700">
            <a:solidFill>
              <a:srgbClr val="1A8C3A"/>
            </a:solidFill>
            <a:prstDash val="solid"/>
          </a:ln>
        </p:spPr>
      </p:sp>
      <p:sp>
        <p:nvSpPr>
          <p:cNvPr id="11" name="Text 9"/>
          <p:cNvSpPr/>
          <p:nvPr/>
        </p:nvSpPr>
        <p:spPr>
          <a:xfrm>
            <a:off x="4315968"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Valley</a:t>
            </a:r>
            <a:endParaRPr lang="en-US" sz="900" dirty="0"/>
          </a:p>
        </p:txBody>
      </p:sp>
      <p:sp>
        <p:nvSpPr>
          <p:cNvPr id="12" name="Text 10"/>
          <p:cNvSpPr/>
          <p:nvPr/>
        </p:nvSpPr>
        <p:spPr>
          <a:xfrm>
            <a:off x="4389120" y="1133856"/>
            <a:ext cx="3383280" cy="18288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Low area between higher landforms, carved by rivers over time.</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Topo map shows: V-shapes pointing uphill.</a:t>
            </a:r>
            <a:endParaRPr lang="en-US" sz="1100" dirty="0"/>
          </a:p>
        </p:txBody>
      </p:sp>
      <p:sp>
        <p:nvSpPr>
          <p:cNvPr id="13" name="Shape 11"/>
          <p:cNvSpPr/>
          <p:nvPr/>
        </p:nvSpPr>
        <p:spPr>
          <a:xfrm>
            <a:off x="8138160" y="749808"/>
            <a:ext cx="3657600" cy="2514600"/>
          </a:xfrm>
          <a:prstGeom prst="roundRect">
            <a:avLst>
              <a:gd name="adj" fmla="val 2909"/>
            </a:avLst>
          </a:prstGeom>
          <a:solidFill>
            <a:srgbClr val="1E2F45"/>
          </a:solidFill>
          <a:ln w="12700">
            <a:solidFill>
              <a:srgbClr val="FFB703"/>
            </a:solidFill>
            <a:prstDash val="solid"/>
          </a:ln>
        </p:spPr>
      </p:sp>
      <p:sp>
        <p:nvSpPr>
          <p:cNvPr id="14" name="Shape 12"/>
          <p:cNvSpPr/>
          <p:nvPr/>
        </p:nvSpPr>
        <p:spPr>
          <a:xfrm>
            <a:off x="8202168" y="804672"/>
            <a:ext cx="1554480" cy="256032"/>
          </a:xfrm>
          <a:prstGeom prst="roundRect">
            <a:avLst>
              <a:gd name="adj" fmla="val 50000"/>
            </a:avLst>
          </a:prstGeom>
          <a:solidFill>
            <a:srgbClr val="E09200"/>
          </a:solidFill>
          <a:ln w="12700">
            <a:solidFill>
              <a:srgbClr val="E09200"/>
            </a:solidFill>
            <a:prstDash val="solid"/>
          </a:ln>
        </p:spPr>
      </p:sp>
      <p:sp>
        <p:nvSpPr>
          <p:cNvPr id="15" name="Text 13"/>
          <p:cNvSpPr/>
          <p:nvPr/>
        </p:nvSpPr>
        <p:spPr>
          <a:xfrm>
            <a:off x="8202168"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Plain</a:t>
            </a:r>
            <a:endParaRPr lang="en-US" sz="900" dirty="0"/>
          </a:p>
        </p:txBody>
      </p:sp>
      <p:sp>
        <p:nvSpPr>
          <p:cNvPr id="16" name="Text 14"/>
          <p:cNvSpPr/>
          <p:nvPr/>
        </p:nvSpPr>
        <p:spPr>
          <a:xfrm>
            <a:off x="8275320" y="1133856"/>
            <a:ext cx="3383280" cy="18288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Large, flat land at low elevation.</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Topo map shows: very few or widely spaced lines — barely any height change!</a:t>
            </a:r>
            <a:endParaRPr lang="en-US" sz="1100" dirty="0"/>
          </a:p>
        </p:txBody>
      </p:sp>
      <p:sp>
        <p:nvSpPr>
          <p:cNvPr id="17" name="Shape 15"/>
          <p:cNvSpPr/>
          <p:nvPr/>
        </p:nvSpPr>
        <p:spPr>
          <a:xfrm>
            <a:off x="365760" y="3401568"/>
            <a:ext cx="11430000" cy="2606040"/>
          </a:xfrm>
          <a:prstGeom prst="roundRect">
            <a:avLst>
              <a:gd name="adj" fmla="val 2807"/>
            </a:avLst>
          </a:prstGeom>
          <a:solidFill>
            <a:srgbClr val="0A1520"/>
          </a:solidFill>
          <a:ln w="19050">
            <a:solidFill>
              <a:srgbClr val="4CC9F0"/>
            </a:solidFill>
            <a:prstDash val="dash"/>
          </a:ln>
        </p:spPr>
      </p:sp>
      <p:sp>
        <p:nvSpPr>
          <p:cNvPr id="18" name="Text 16"/>
          <p:cNvSpPr/>
          <p:nvPr/>
        </p:nvSpPr>
        <p:spPr>
          <a:xfrm>
            <a:off x="457200" y="3511296"/>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457200" y="3950208"/>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0" name="Text 18"/>
          <p:cNvSpPr/>
          <p:nvPr/>
        </p:nvSpPr>
        <p:spPr>
          <a:xfrm>
            <a:off x="475488" y="4242816"/>
            <a:ext cx="11210544" cy="15544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"mountain valley plain landforms comparison topographic map side by side"</a:t>
            </a:r>
            <a:endParaRPr lang="en-US" sz="950" dirty="0"/>
          </a:p>
        </p:txBody>
      </p:sp>
      <p:sp>
        <p:nvSpPr>
          <p:cNvPr id="21" name="Text 19"/>
          <p:cNvSpPr/>
          <p:nvPr/>
        </p:nvSpPr>
        <p:spPr>
          <a:xfrm>
            <a:off x="365760" y="6044184"/>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Three main landforms — each looks different on a topographic map</a:t>
            </a:r>
            <a:endParaRPr lang="en-US" sz="9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4 Steps to Read a Topo Map</a:t>
            </a:r>
            <a:endParaRPr lang="en-US" sz="1600" dirty="0"/>
          </a:p>
        </p:txBody>
      </p:sp>
      <p:sp>
        <p:nvSpPr>
          <p:cNvPr id="5" name="Shape 3"/>
          <p:cNvSpPr/>
          <p:nvPr/>
        </p:nvSpPr>
        <p:spPr>
          <a:xfrm>
            <a:off x="365760" y="749808"/>
            <a:ext cx="5577840" cy="2212848"/>
          </a:xfrm>
          <a:prstGeom prst="roundRect">
            <a:avLst>
              <a:gd name="adj" fmla="val 3306"/>
            </a:avLst>
          </a:prstGeom>
          <a:solidFill>
            <a:srgbClr val="1E2F45"/>
          </a:solidFill>
          <a:ln w="12700">
            <a:solidFill>
              <a:srgbClr val="4CC9F0"/>
            </a:solidFill>
            <a:prstDash val="solid"/>
          </a:ln>
        </p:spPr>
      </p:sp>
      <p:sp>
        <p:nvSpPr>
          <p:cNvPr id="6" name="Text 4"/>
          <p:cNvSpPr/>
          <p:nvPr/>
        </p:nvSpPr>
        <p:spPr>
          <a:xfrm>
            <a:off x="548640" y="841248"/>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1️⃣  Find Sea Level</a:t>
            </a:r>
            <a:endParaRPr lang="en-US" sz="1250" dirty="0"/>
          </a:p>
        </p:txBody>
      </p:sp>
      <p:sp>
        <p:nvSpPr>
          <p:cNvPr id="7" name="Text 5"/>
          <p:cNvSpPr/>
          <p:nvPr/>
        </p:nvSpPr>
        <p:spPr>
          <a:xfrm>
            <a:off x="548640" y="1252728"/>
            <a:ext cx="5212080" cy="15727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Every elevation is measured from sea level — the average ocean surface height, always 0 m. The coastline is your starting point!</a:t>
            </a:r>
            <a:endParaRPr lang="en-US" sz="1150" dirty="0"/>
          </a:p>
        </p:txBody>
      </p:sp>
      <p:sp>
        <p:nvSpPr>
          <p:cNvPr id="8" name="Shape 6"/>
          <p:cNvSpPr/>
          <p:nvPr/>
        </p:nvSpPr>
        <p:spPr>
          <a:xfrm>
            <a:off x="365760" y="3200400"/>
            <a:ext cx="5577840" cy="2212848"/>
          </a:xfrm>
          <a:prstGeom prst="roundRect">
            <a:avLst>
              <a:gd name="adj" fmla="val 3306"/>
            </a:avLst>
          </a:prstGeom>
          <a:solidFill>
            <a:srgbClr val="1E2F45"/>
          </a:solidFill>
          <a:ln w="12700">
            <a:solidFill>
              <a:srgbClr val="4CC9F0"/>
            </a:solidFill>
            <a:prstDash val="solid"/>
          </a:ln>
        </p:spPr>
      </p:sp>
      <p:sp>
        <p:nvSpPr>
          <p:cNvPr id="9" name="Text 7"/>
          <p:cNvSpPr/>
          <p:nvPr/>
        </p:nvSpPr>
        <p:spPr>
          <a:xfrm>
            <a:off x="548640" y="3291840"/>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2️⃣  Read Contour Lines</a:t>
            </a:r>
            <a:endParaRPr lang="en-US" sz="1250" dirty="0"/>
          </a:p>
        </p:txBody>
      </p:sp>
      <p:sp>
        <p:nvSpPr>
          <p:cNvPr id="10" name="Text 8"/>
          <p:cNvSpPr/>
          <p:nvPr/>
        </p:nvSpPr>
        <p:spPr>
          <a:xfrm>
            <a:off x="548640" y="3703320"/>
            <a:ext cx="5212080" cy="15727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Each contour line = a specific elevation. Lines close together? Steep! Lines far apart? Gentle slope.</a:t>
            </a:r>
            <a:endParaRPr lang="en-US" sz="1150" dirty="0"/>
          </a:p>
        </p:txBody>
      </p:sp>
      <p:sp>
        <p:nvSpPr>
          <p:cNvPr id="11" name="Shape 9"/>
          <p:cNvSpPr/>
          <p:nvPr/>
        </p:nvSpPr>
        <p:spPr>
          <a:xfrm>
            <a:off x="6172200" y="749808"/>
            <a:ext cx="5577840" cy="2212848"/>
          </a:xfrm>
          <a:prstGeom prst="roundRect">
            <a:avLst>
              <a:gd name="adj" fmla="val 3306"/>
            </a:avLst>
          </a:prstGeom>
          <a:solidFill>
            <a:srgbClr val="1E2F45"/>
          </a:solidFill>
          <a:ln w="12700">
            <a:solidFill>
              <a:srgbClr val="4CC9F0"/>
            </a:solidFill>
            <a:prstDash val="solid"/>
          </a:ln>
        </p:spPr>
      </p:sp>
      <p:sp>
        <p:nvSpPr>
          <p:cNvPr id="12" name="Text 10"/>
          <p:cNvSpPr/>
          <p:nvPr/>
        </p:nvSpPr>
        <p:spPr>
          <a:xfrm>
            <a:off x="6355080" y="841248"/>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3️⃣  Spot the Landforms</a:t>
            </a:r>
            <a:endParaRPr lang="en-US" sz="1250" dirty="0"/>
          </a:p>
        </p:txBody>
      </p:sp>
      <p:sp>
        <p:nvSpPr>
          <p:cNvPr id="13" name="Text 11"/>
          <p:cNvSpPr/>
          <p:nvPr/>
        </p:nvSpPr>
        <p:spPr>
          <a:xfrm>
            <a:off x="6355080" y="1252728"/>
            <a:ext cx="5212080" cy="15727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Mountains = bull's-eye rings. Valleys = V-shapes pointing uphill. Plains = very few lines.</a:t>
            </a:r>
            <a:endParaRPr lang="en-US" sz="1150" dirty="0"/>
          </a:p>
        </p:txBody>
      </p:sp>
      <p:sp>
        <p:nvSpPr>
          <p:cNvPr id="14" name="Shape 12"/>
          <p:cNvSpPr/>
          <p:nvPr/>
        </p:nvSpPr>
        <p:spPr>
          <a:xfrm>
            <a:off x="6172200" y="3200400"/>
            <a:ext cx="5577840" cy="2212848"/>
          </a:xfrm>
          <a:prstGeom prst="roundRect">
            <a:avLst>
              <a:gd name="adj" fmla="val 3306"/>
            </a:avLst>
          </a:prstGeom>
          <a:solidFill>
            <a:srgbClr val="1E2F45"/>
          </a:solidFill>
          <a:ln w="12700">
            <a:solidFill>
              <a:srgbClr val="4CC9F0"/>
            </a:solidFill>
            <a:prstDash val="solid"/>
          </a:ln>
        </p:spPr>
      </p:sp>
      <p:sp>
        <p:nvSpPr>
          <p:cNvPr id="15" name="Text 13"/>
          <p:cNvSpPr/>
          <p:nvPr/>
        </p:nvSpPr>
        <p:spPr>
          <a:xfrm>
            <a:off x="6355080" y="3291840"/>
            <a:ext cx="5212080" cy="384048"/>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4️⃣  Follow the Water</a:t>
            </a:r>
            <a:endParaRPr lang="en-US" sz="1250" dirty="0"/>
          </a:p>
        </p:txBody>
      </p:sp>
      <p:sp>
        <p:nvSpPr>
          <p:cNvPr id="16" name="Text 14"/>
          <p:cNvSpPr/>
          <p:nvPr/>
        </p:nvSpPr>
        <p:spPr>
          <a:xfrm>
            <a:off x="6355080" y="3703320"/>
            <a:ext cx="5212080" cy="15727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Water flows HIGH → LOW. V-shaped contour lines point the direction rivers flow. This also shows where erosion is happening!</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DIAGRAM — Topo Map Cross-Section</a:t>
            </a:r>
            <a:endParaRPr lang="en-US" sz="1600" dirty="0"/>
          </a:p>
        </p:txBody>
      </p:sp>
      <p:sp>
        <p:nvSpPr>
          <p:cNvPr id="5" name="Shape 3"/>
          <p:cNvSpPr/>
          <p:nvPr/>
        </p:nvSpPr>
        <p:spPr>
          <a:xfrm>
            <a:off x="365760" y="749808"/>
            <a:ext cx="7772400" cy="4754880"/>
          </a:xfrm>
          <a:prstGeom prst="roundRect">
            <a:avLst>
              <a:gd name="adj" fmla="val 1538"/>
            </a:avLst>
          </a:prstGeom>
          <a:solidFill>
            <a:srgbClr val="0A1520"/>
          </a:solidFill>
          <a:ln w="19050">
            <a:solidFill>
              <a:srgbClr val="4CC9F0"/>
            </a:solidFill>
            <a:prstDash val="dash"/>
          </a:ln>
        </p:spPr>
      </p:sp>
      <p:sp>
        <p:nvSpPr>
          <p:cNvPr id="6" name="Text 4"/>
          <p:cNvSpPr/>
          <p:nvPr/>
        </p:nvSpPr>
        <p:spPr>
          <a:xfrm>
            <a:off x="457200" y="859536"/>
            <a:ext cx="7589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75895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7552944" cy="37033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"topographic map cross section diagram mountain peak steep slope valley river gentle slope plain coastline labeled"</a:t>
            </a:r>
            <a:endParaRPr lang="en-US" sz="950" dirty="0"/>
          </a:p>
        </p:txBody>
      </p:sp>
      <p:sp>
        <p:nvSpPr>
          <p:cNvPr id="9" name="Text 7"/>
          <p:cNvSpPr/>
          <p:nvPr/>
        </p:nvSpPr>
        <p:spPr>
          <a:xfrm>
            <a:off x="365760" y="5541264"/>
            <a:ext cx="77724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Each feature on the topo map corresponds to a real landscape shape</a:t>
            </a:r>
            <a:endParaRPr lang="en-US" sz="900" dirty="0"/>
          </a:p>
        </p:txBody>
      </p:sp>
      <p:sp>
        <p:nvSpPr>
          <p:cNvPr id="10" name="Shape 8"/>
          <p:cNvSpPr/>
          <p:nvPr/>
        </p:nvSpPr>
        <p:spPr>
          <a:xfrm>
            <a:off x="8321040" y="749808"/>
            <a:ext cx="3474720" cy="4754880"/>
          </a:xfrm>
          <a:prstGeom prst="roundRect">
            <a:avLst>
              <a:gd name="adj" fmla="val 2105"/>
            </a:avLst>
          </a:prstGeom>
          <a:solidFill>
            <a:srgbClr val="1E2F45"/>
          </a:solidFill>
          <a:ln w="12700">
            <a:solidFill>
              <a:srgbClr val="4CC9F0"/>
            </a:solidFill>
            <a:prstDash val="solid"/>
          </a:ln>
        </p:spPr>
      </p:sp>
      <p:sp>
        <p:nvSpPr>
          <p:cNvPr id="11" name="Text 9"/>
          <p:cNvSpPr/>
          <p:nvPr/>
        </p:nvSpPr>
        <p:spPr>
          <a:xfrm>
            <a:off x="8458200" y="822960"/>
            <a:ext cx="32004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Label Check</a:t>
            </a:r>
            <a:endParaRPr lang="en-US" sz="1200" dirty="0"/>
          </a:p>
        </p:txBody>
      </p:sp>
      <p:sp>
        <p:nvSpPr>
          <p:cNvPr id="12" name="Text 10"/>
          <p:cNvSpPr/>
          <p:nvPr/>
        </p:nvSpPr>
        <p:spPr>
          <a:xfrm>
            <a:off x="8458200" y="123444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1. Mountain Peak</a:t>
            </a:r>
            <a:endParaRPr lang="en-US" sz="1100" dirty="0"/>
          </a:p>
        </p:txBody>
      </p:sp>
      <p:sp>
        <p:nvSpPr>
          <p:cNvPr id="13" name="Text 11"/>
          <p:cNvSpPr/>
          <p:nvPr/>
        </p:nvSpPr>
        <p:spPr>
          <a:xfrm>
            <a:off x="8458200" y="173736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 Steep Slope</a:t>
            </a:r>
            <a:endParaRPr lang="en-US" sz="1100" dirty="0"/>
          </a:p>
        </p:txBody>
      </p:sp>
      <p:sp>
        <p:nvSpPr>
          <p:cNvPr id="14" name="Text 12"/>
          <p:cNvSpPr/>
          <p:nvPr/>
        </p:nvSpPr>
        <p:spPr>
          <a:xfrm>
            <a:off x="8458200" y="224028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Valley</a:t>
            </a:r>
            <a:endParaRPr lang="en-US" sz="1100" dirty="0"/>
          </a:p>
        </p:txBody>
      </p:sp>
      <p:sp>
        <p:nvSpPr>
          <p:cNvPr id="15" name="Text 13"/>
          <p:cNvSpPr/>
          <p:nvPr/>
        </p:nvSpPr>
        <p:spPr>
          <a:xfrm>
            <a:off x="8458200" y="274320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4. River</a:t>
            </a:r>
            <a:endParaRPr lang="en-US" sz="1100" dirty="0"/>
          </a:p>
        </p:txBody>
      </p:sp>
      <p:sp>
        <p:nvSpPr>
          <p:cNvPr id="16" name="Text 14"/>
          <p:cNvSpPr/>
          <p:nvPr/>
        </p:nvSpPr>
        <p:spPr>
          <a:xfrm>
            <a:off x="8458200" y="324612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5. Gentle Slope</a:t>
            </a:r>
            <a:endParaRPr lang="en-US" sz="1100" dirty="0"/>
          </a:p>
        </p:txBody>
      </p:sp>
      <p:sp>
        <p:nvSpPr>
          <p:cNvPr id="17" name="Text 15"/>
          <p:cNvSpPr/>
          <p:nvPr/>
        </p:nvSpPr>
        <p:spPr>
          <a:xfrm>
            <a:off x="8458200" y="374904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6. Plain</a:t>
            </a:r>
            <a:endParaRPr lang="en-US" sz="1100" dirty="0"/>
          </a:p>
        </p:txBody>
      </p:sp>
      <p:sp>
        <p:nvSpPr>
          <p:cNvPr id="18" name="Text 16"/>
          <p:cNvSpPr/>
          <p:nvPr/>
        </p:nvSpPr>
        <p:spPr>
          <a:xfrm>
            <a:off x="8458200" y="425196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7. Coastline</a:t>
            </a:r>
            <a:endParaRPr lang="en-US" sz="1100" dirty="0"/>
          </a:p>
        </p:txBody>
      </p:sp>
      <p:sp>
        <p:nvSpPr>
          <p:cNvPr id="19" name="Text 17"/>
          <p:cNvSpPr/>
          <p:nvPr/>
        </p:nvSpPr>
        <p:spPr>
          <a:xfrm>
            <a:off x="8458200" y="4754880"/>
            <a:ext cx="3200400" cy="41148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8. Sea Level (0 m)</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Discussion</a:t>
            </a:r>
            <a:endParaRPr lang="en-US" sz="1600" dirty="0"/>
          </a:p>
        </p:txBody>
      </p:sp>
      <p:sp>
        <p:nvSpPr>
          <p:cNvPr id="5" name="Shape 3"/>
          <p:cNvSpPr/>
          <p:nvPr/>
        </p:nvSpPr>
        <p:spPr>
          <a:xfrm>
            <a:off x="365760" y="749808"/>
            <a:ext cx="11430000" cy="1828800"/>
          </a:xfrm>
          <a:prstGeom prst="roundRect">
            <a:avLst>
              <a:gd name="adj" fmla="val 4000"/>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Reason</a:t>
            </a:r>
            <a:endParaRPr lang="en-US" sz="1300" dirty="0"/>
          </a:p>
        </p:txBody>
      </p:sp>
      <p:sp>
        <p:nvSpPr>
          <p:cNvPr id="7" name="Text 5"/>
          <p:cNvSpPr/>
          <p:nvPr/>
        </p:nvSpPr>
        <p:spPr>
          <a:xfrm>
            <a:off x="530352" y="1188720"/>
            <a:ext cx="11100816" cy="128016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"If you're hiking and the contour lines on your map are suddenly bunching very close together ahead of you, what should you expect to see when you look up the trail?"</a:t>
            </a:r>
            <a:endParaRPr lang="en-US" sz="1300" dirty="0"/>
          </a:p>
        </p:txBody>
      </p:sp>
      <p:sp>
        <p:nvSpPr>
          <p:cNvPr id="8" name="Shape 6"/>
          <p:cNvSpPr/>
          <p:nvPr/>
        </p:nvSpPr>
        <p:spPr>
          <a:xfrm>
            <a:off x="365760" y="2743200"/>
            <a:ext cx="11430000" cy="2194560"/>
          </a:xfrm>
          <a:prstGeom prst="roundRect">
            <a:avLst>
              <a:gd name="adj" fmla="val 3333"/>
            </a:avLst>
          </a:prstGeom>
          <a:solidFill>
            <a:srgbClr val="1E2F45"/>
          </a:solidFill>
          <a:ln w="12700">
            <a:solidFill>
              <a:srgbClr val="4CC9F0"/>
            </a:solidFill>
            <a:prstDash val="solid"/>
          </a:ln>
        </p:spPr>
      </p:sp>
      <p:sp>
        <p:nvSpPr>
          <p:cNvPr id="9" name="Text 7"/>
          <p:cNvSpPr/>
          <p:nvPr/>
        </p:nvSpPr>
        <p:spPr>
          <a:xfrm>
            <a:off x="548640" y="281635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Evidence Frame — Use these words:</a:t>
            </a:r>
            <a:endParaRPr lang="en-US" sz="1200" dirty="0"/>
          </a:p>
        </p:txBody>
      </p:sp>
      <p:sp>
        <p:nvSpPr>
          <p:cNvPr id="10" name="Text 8"/>
          <p:cNvSpPr/>
          <p:nvPr/>
        </p:nvSpPr>
        <p:spPr>
          <a:xfrm>
            <a:off x="548640" y="3200400"/>
            <a:ext cx="10972800" cy="502920"/>
          </a:xfrm>
          <a:prstGeom prst="rect">
            <a:avLst/>
          </a:prstGeom>
          <a:noFill/>
          <a:ln/>
        </p:spPr>
        <p:txBody>
          <a:bodyPr wrap="square" rtlCol="0" anchor="ctr"/>
          <a:lstStyle/>
          <a:p>
            <a:pPr indent="0" marL="0">
              <a:buNone/>
            </a:pPr>
            <a:r>
              <a:rPr lang="en-US" sz="1400" i="1" dirty="0">
                <a:solidFill>
                  <a:srgbClr val="FFB703"/>
                </a:solidFill>
                <a:latin typeface="Calibri" pitchFamily="34" charset="0"/>
                <a:ea typeface="Calibri" pitchFamily="34" charset="-122"/>
                <a:cs typeface="Calibri" pitchFamily="34" charset="-120"/>
              </a:rPr>
              <a:t>"I know ___ because I observed/learned ___. This shows ___."</a:t>
            </a:r>
            <a:endParaRPr lang="en-US" sz="1400" dirty="0"/>
          </a:p>
        </p:txBody>
      </p:sp>
      <p:sp>
        <p:nvSpPr>
          <p:cNvPr id="11" name="Text 9"/>
          <p:cNvSpPr/>
          <p:nvPr/>
        </p:nvSpPr>
        <p:spPr>
          <a:xfrm>
            <a:off x="548640" y="3767328"/>
            <a:ext cx="10972800" cy="1051560"/>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Example: "I know the trail ahead is steep because I learned that closely-packed contour lines mean steep terrain. This shows that I should be prepared to climb a difficult slope."</a:t>
            </a:r>
            <a:endParaRPr lang="en-US" sz="120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Deep Discussion</a:t>
            </a:r>
            <a:endParaRPr lang="en-US" sz="1600" dirty="0"/>
          </a:p>
        </p:txBody>
      </p:sp>
      <p:sp>
        <p:nvSpPr>
          <p:cNvPr id="5" name="Shape 3"/>
          <p:cNvSpPr/>
          <p:nvPr/>
        </p:nvSpPr>
        <p:spPr>
          <a:xfrm>
            <a:off x="365760" y="749808"/>
            <a:ext cx="11430000" cy="1645920"/>
          </a:xfrm>
          <a:prstGeom prst="roundRect">
            <a:avLst>
              <a:gd name="adj" fmla="val 4444"/>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Observe &amp; Reason</a:t>
            </a:r>
            <a:endParaRPr lang="en-US" sz="1300" dirty="0"/>
          </a:p>
        </p:txBody>
      </p:sp>
      <p:sp>
        <p:nvSpPr>
          <p:cNvPr id="7" name="Text 5"/>
          <p:cNvSpPr/>
          <p:nvPr/>
        </p:nvSpPr>
        <p:spPr>
          <a:xfrm>
            <a:off x="530352" y="1188720"/>
            <a:ext cx="11100816" cy="109728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"Mountains and valleys almost always appear near each other on a topo map. Why? Could you have a mountain without a valley nearby?"</a:t>
            </a:r>
            <a:endParaRPr lang="en-US" sz="1300" dirty="0"/>
          </a:p>
        </p:txBody>
      </p:sp>
      <p:sp>
        <p:nvSpPr>
          <p:cNvPr id="8" name="Shape 6"/>
          <p:cNvSpPr/>
          <p:nvPr/>
        </p:nvSpPr>
        <p:spPr>
          <a:xfrm>
            <a:off x="365760" y="2542032"/>
            <a:ext cx="5394960" cy="2999232"/>
          </a:xfrm>
          <a:prstGeom prst="roundRect">
            <a:avLst>
              <a:gd name="adj" fmla="val 2439"/>
            </a:avLst>
          </a:prstGeom>
          <a:solidFill>
            <a:srgbClr val="1E2F45"/>
          </a:solidFill>
          <a:ln w="12700">
            <a:solidFill>
              <a:srgbClr val="2DC653"/>
            </a:solidFill>
            <a:prstDash val="solid"/>
          </a:ln>
        </p:spPr>
      </p:sp>
      <p:sp>
        <p:nvSpPr>
          <p:cNvPr id="9" name="Text 7"/>
          <p:cNvSpPr/>
          <p:nvPr/>
        </p:nvSpPr>
        <p:spPr>
          <a:xfrm>
            <a:off x="548640" y="2615184"/>
            <a:ext cx="50292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Real-World Connection 🌍</a:t>
            </a:r>
            <a:endParaRPr lang="en-US" sz="1200" dirty="0"/>
          </a:p>
        </p:txBody>
      </p:sp>
      <p:sp>
        <p:nvSpPr>
          <p:cNvPr id="10" name="Text 8"/>
          <p:cNvSpPr/>
          <p:nvPr/>
        </p:nvSpPr>
        <p:spPr>
          <a:xfrm>
            <a:off x="548640" y="3017520"/>
            <a:ext cx="5029200" cy="23317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The Mississippi River Valley is one of the largest valleys in North America. Over millions of years, the Mississippi River carved it through erosion.</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Today, the rich soil deposited along its banks makes it some of the most productive farmland on Earth!</a:t>
            </a:r>
            <a:endParaRPr lang="en-US" sz="1100" dirty="0"/>
          </a:p>
        </p:txBody>
      </p:sp>
      <p:sp>
        <p:nvSpPr>
          <p:cNvPr id="11" name="Shape 9"/>
          <p:cNvSpPr/>
          <p:nvPr/>
        </p:nvSpPr>
        <p:spPr>
          <a:xfrm>
            <a:off x="5989320" y="2542032"/>
            <a:ext cx="5760720" cy="2999232"/>
          </a:xfrm>
          <a:prstGeom prst="roundRect">
            <a:avLst>
              <a:gd name="adj" fmla="val 2439"/>
            </a:avLst>
          </a:prstGeom>
          <a:solidFill>
            <a:srgbClr val="0A1520"/>
          </a:solidFill>
          <a:ln w="19050">
            <a:solidFill>
              <a:srgbClr val="4CC9F0"/>
            </a:solidFill>
            <a:prstDash val="dash"/>
          </a:ln>
        </p:spPr>
      </p:sp>
      <p:sp>
        <p:nvSpPr>
          <p:cNvPr id="12" name="Text 10"/>
          <p:cNvSpPr/>
          <p:nvPr/>
        </p:nvSpPr>
        <p:spPr>
          <a:xfrm>
            <a:off x="6080760" y="2651760"/>
            <a:ext cx="55778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6080760" y="3090672"/>
            <a:ext cx="55778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6099048" y="3383280"/>
            <a:ext cx="5541264" cy="194767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"Mississippi River Valley aerial view farmland river meanders"</a:t>
            </a:r>
            <a:endParaRPr lang="en-US" sz="950" dirty="0"/>
          </a:p>
        </p:txBody>
      </p:sp>
      <p:sp>
        <p:nvSpPr>
          <p:cNvPr id="15" name="Text 13"/>
          <p:cNvSpPr/>
          <p:nvPr/>
        </p:nvSpPr>
        <p:spPr>
          <a:xfrm>
            <a:off x="5989320" y="5577840"/>
            <a:ext cx="57607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Mississippi River carved this valley through erosion over millions of years</a:t>
            </a:r>
            <a:endParaRPr lang="en-US" sz="9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ELABORATE — Mind-Blowing Facts</a:t>
            </a:r>
            <a:endParaRPr lang="en-US" sz="1600" dirty="0"/>
          </a:p>
        </p:txBody>
      </p:sp>
      <p:sp>
        <p:nvSpPr>
          <p:cNvPr id="5" name="Shape 3"/>
          <p:cNvSpPr/>
          <p:nvPr/>
        </p:nvSpPr>
        <p:spPr>
          <a:xfrm>
            <a:off x="365760" y="749808"/>
            <a:ext cx="11430000" cy="2011680"/>
          </a:xfrm>
          <a:prstGeom prst="roundRect">
            <a:avLst>
              <a:gd name="adj" fmla="val 3636"/>
            </a:avLst>
          </a:prstGeom>
          <a:solidFill>
            <a:srgbClr val="1E2F45"/>
          </a:solidFill>
          <a:ln w="12700">
            <a:solidFill>
              <a:srgbClr val="F4736A"/>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  Mind-Blowing!</a:t>
            </a:r>
            <a:endParaRPr lang="en-US" sz="1400" dirty="0"/>
          </a:p>
        </p:txBody>
      </p:sp>
      <p:sp>
        <p:nvSpPr>
          <p:cNvPr id="7" name="Text 5"/>
          <p:cNvSpPr/>
          <p:nvPr/>
        </p:nvSpPr>
        <p:spPr>
          <a:xfrm>
            <a:off x="548640" y="1261872"/>
            <a:ext cx="10972800" cy="12801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Grand Canyon is so deep you could stack THREE Eiffel Towers on top of each other and they still wouldn't reach the rim! The Colorado River carved it through 5–6 million years of erosion — wearing away rock at roughly the speed a human fingernail grows.</a:t>
            </a:r>
            <a:endParaRPr lang="en-US" sz="1300" dirty="0"/>
          </a:p>
        </p:txBody>
      </p:sp>
      <p:sp>
        <p:nvSpPr>
          <p:cNvPr id="8" name="Shape 6"/>
          <p:cNvSpPr/>
          <p:nvPr/>
        </p:nvSpPr>
        <p:spPr>
          <a:xfrm>
            <a:off x="365760" y="2926080"/>
            <a:ext cx="11430000" cy="2606040"/>
          </a:xfrm>
          <a:prstGeom prst="roundRect">
            <a:avLst>
              <a:gd name="adj" fmla="val 2807"/>
            </a:avLst>
          </a:prstGeom>
          <a:solidFill>
            <a:srgbClr val="1A1A3A"/>
          </a:solidFill>
          <a:ln w="12700">
            <a:solidFill>
              <a:srgbClr val="0096C7"/>
            </a:solidFill>
            <a:prstDash val="solid"/>
          </a:ln>
        </p:spPr>
      </p:sp>
      <p:sp>
        <p:nvSpPr>
          <p:cNvPr id="9" name="Text 7"/>
          <p:cNvSpPr/>
          <p:nvPr/>
        </p:nvSpPr>
        <p:spPr>
          <a:xfrm>
            <a:off x="548640" y="2999232"/>
            <a:ext cx="1097280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Go Deeper — How Do Mountains Form?</a:t>
            </a:r>
            <a:endParaRPr lang="en-US" sz="1300" dirty="0"/>
          </a:p>
        </p:txBody>
      </p:sp>
      <p:sp>
        <p:nvSpPr>
          <p:cNvPr id="10" name="Text 8"/>
          <p:cNvSpPr/>
          <p:nvPr/>
        </p:nvSpPr>
        <p:spPr>
          <a:xfrm>
            <a:off x="548640" y="3456432"/>
            <a:ext cx="10972800" cy="19202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Earth's outer shell (crust) is broken into giant tectonic plates that drift slowly — just a few centimeters per year. When two plates crash, rock gets crumpled and pushed upward — forming mountains! (How the Himalayas and Rocky Mountains formed.)</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Some mountains form differently: magma pushes through cracks and cools into volcanic mountains like Mount Fuji and Mauna Kea.</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Here's the twist: ALL mountains are eventually worn back down by erosion — just very, very slowly!</a:t>
            </a:r>
            <a:endParaRPr lang="en-US" sz="11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SELF-CHECK — Let's See What You Know!</a:t>
            </a:r>
            <a:endParaRPr lang="en-US" sz="1600" dirty="0"/>
          </a:p>
        </p:txBody>
      </p:sp>
      <p:sp>
        <p:nvSpPr>
          <p:cNvPr id="5" name="Shape 3"/>
          <p:cNvSpPr/>
          <p:nvPr/>
        </p:nvSpPr>
        <p:spPr>
          <a:xfrm>
            <a:off x="365760" y="749808"/>
            <a:ext cx="11430000" cy="1783080"/>
          </a:xfrm>
          <a:prstGeom prst="roundRect">
            <a:avLst>
              <a:gd name="adj" fmla="val 4103"/>
            </a:avLst>
          </a:prstGeom>
          <a:solidFill>
            <a:srgbClr val="1E2F45"/>
          </a:solidFill>
          <a:ln w="12700">
            <a:solidFill>
              <a:srgbClr val="243A52"/>
            </a:solidFill>
            <a:prstDash val="solid"/>
          </a:ln>
        </p:spPr>
      </p:sp>
      <p:sp>
        <p:nvSpPr>
          <p:cNvPr id="6" name="Text 4"/>
          <p:cNvSpPr/>
          <p:nvPr/>
        </p:nvSpPr>
        <p:spPr>
          <a:xfrm>
            <a:off x="548640" y="82296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1.  What do closely-spaced contour lines tell you?</a:t>
            </a:r>
            <a:endParaRPr lang="en-US" sz="1250" dirty="0"/>
          </a:p>
        </p:txBody>
      </p:sp>
      <p:sp>
        <p:nvSpPr>
          <p:cNvPr id="7" name="Text 5"/>
          <p:cNvSpPr/>
          <p:nvPr/>
        </p:nvSpPr>
        <p:spPr>
          <a:xfrm>
            <a:off x="548640" y="120700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The land is flat and easy to walk across     B — The land is steep; elevation changes quickly ✓     C — A river is flowing through the area</a:t>
            </a:r>
            <a:endParaRPr lang="en-US" sz="1100" dirty="0"/>
          </a:p>
        </p:txBody>
      </p:sp>
      <p:sp>
        <p:nvSpPr>
          <p:cNvPr id="8" name="Text 6"/>
          <p:cNvSpPr/>
          <p:nvPr/>
        </p:nvSpPr>
        <p:spPr>
          <a:xfrm>
            <a:off x="548640" y="170992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B is correct! Lines packed tight = land rises or falls steeply — like stairs crammed together.</a:t>
            </a:r>
            <a:endParaRPr lang="en-US" sz="1050" dirty="0"/>
          </a:p>
        </p:txBody>
      </p:sp>
      <p:sp>
        <p:nvSpPr>
          <p:cNvPr id="9" name="Shape 7"/>
          <p:cNvSpPr/>
          <p:nvPr/>
        </p:nvSpPr>
        <p:spPr>
          <a:xfrm>
            <a:off x="365760" y="2670048"/>
            <a:ext cx="11430000" cy="1783080"/>
          </a:xfrm>
          <a:prstGeom prst="roundRect">
            <a:avLst>
              <a:gd name="adj" fmla="val 4103"/>
            </a:avLst>
          </a:prstGeom>
          <a:solidFill>
            <a:srgbClr val="1E2F45"/>
          </a:solidFill>
          <a:ln w="12700">
            <a:solidFill>
              <a:srgbClr val="243A52"/>
            </a:solidFill>
            <a:prstDash val="solid"/>
          </a:ln>
        </p:spPr>
      </p:sp>
      <p:sp>
        <p:nvSpPr>
          <p:cNvPr id="10" name="Text 8"/>
          <p:cNvSpPr/>
          <p:nvPr/>
        </p:nvSpPr>
        <p:spPr>
          <a:xfrm>
            <a:off x="548640" y="274320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2.  Which landform is found at the LOWEST elevation?</a:t>
            </a:r>
            <a:endParaRPr lang="en-US" sz="1250" dirty="0"/>
          </a:p>
        </p:txBody>
      </p:sp>
      <p:sp>
        <p:nvSpPr>
          <p:cNvPr id="11" name="Text 9"/>
          <p:cNvSpPr/>
          <p:nvPr/>
        </p:nvSpPr>
        <p:spPr>
          <a:xfrm>
            <a:off x="548640" y="312724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Valley ✓     B — Mountain peak     C — Plateau (flat-topped high area)</a:t>
            </a:r>
            <a:endParaRPr lang="en-US" sz="1100" dirty="0"/>
          </a:p>
        </p:txBody>
      </p:sp>
      <p:sp>
        <p:nvSpPr>
          <p:cNvPr id="12" name="Text 10"/>
          <p:cNvSpPr/>
          <p:nvPr/>
        </p:nvSpPr>
        <p:spPr>
          <a:xfrm>
            <a:off x="548640" y="363016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A is correct! Valleys are the low points nestled between higher landforms.</a:t>
            </a:r>
            <a:endParaRPr lang="en-US" sz="1050" dirty="0"/>
          </a:p>
        </p:txBody>
      </p:sp>
      <p:sp>
        <p:nvSpPr>
          <p:cNvPr id="13" name="Shape 11"/>
          <p:cNvSpPr/>
          <p:nvPr/>
        </p:nvSpPr>
        <p:spPr>
          <a:xfrm>
            <a:off x="365760" y="4590288"/>
            <a:ext cx="11430000" cy="1783080"/>
          </a:xfrm>
          <a:prstGeom prst="roundRect">
            <a:avLst>
              <a:gd name="adj" fmla="val 4103"/>
            </a:avLst>
          </a:prstGeom>
          <a:solidFill>
            <a:srgbClr val="1E2F45"/>
          </a:solidFill>
          <a:ln w="12700">
            <a:solidFill>
              <a:srgbClr val="243A52"/>
            </a:solidFill>
            <a:prstDash val="solid"/>
          </a:ln>
        </p:spPr>
      </p:sp>
      <p:sp>
        <p:nvSpPr>
          <p:cNvPr id="14" name="Text 12"/>
          <p:cNvSpPr/>
          <p:nvPr/>
        </p:nvSpPr>
        <p:spPr>
          <a:xfrm>
            <a:off x="548640" y="466344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3.  What is the main force that carves most valleys?</a:t>
            </a:r>
            <a:endParaRPr lang="en-US" sz="1250" dirty="0"/>
          </a:p>
        </p:txBody>
      </p:sp>
      <p:sp>
        <p:nvSpPr>
          <p:cNvPr id="15" name="Text 13"/>
          <p:cNvSpPr/>
          <p:nvPr/>
        </p:nvSpPr>
        <p:spPr>
          <a:xfrm>
            <a:off x="548640" y="504748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Earthquakes splitting the ground     B — Wind blowing soil away     C — Moving water slowly wearing away rock through erosion ✓</a:t>
            </a:r>
            <a:endParaRPr lang="en-US" sz="1100" dirty="0"/>
          </a:p>
        </p:txBody>
      </p:sp>
      <p:sp>
        <p:nvSpPr>
          <p:cNvPr id="16" name="Text 14"/>
          <p:cNvSpPr/>
          <p:nvPr/>
        </p:nvSpPr>
        <p:spPr>
          <a:xfrm>
            <a:off x="548640" y="555040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C is correct! Rivers are Earth's greatest sculptors — carving valleys through erosion over millions of years.</a:t>
            </a:r>
            <a:endParaRPr lang="en-US" sz="10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 Show What You Know</a:t>
            </a:r>
            <a:endParaRPr lang="en-US" sz="1600" dirty="0"/>
          </a:p>
        </p:txBody>
      </p:sp>
      <p:sp>
        <p:nvSpPr>
          <p:cNvPr id="5" name="Shape 3"/>
          <p:cNvSpPr/>
          <p:nvPr/>
        </p:nvSpPr>
        <p:spPr>
          <a:xfrm>
            <a:off x="365760" y="749808"/>
            <a:ext cx="3566160" cy="5074920"/>
          </a:xfrm>
          <a:prstGeom prst="roundRect">
            <a:avLst>
              <a:gd name="adj" fmla="val 2051"/>
            </a:avLst>
          </a:prstGeom>
          <a:solidFill>
            <a:srgbClr val="1E2F45"/>
          </a:solidFill>
          <a:ln w="12700">
            <a:solidFill>
              <a:srgbClr val="4CC9F0"/>
            </a:solidFill>
            <a:prstDash val="solid"/>
          </a:ln>
        </p:spPr>
      </p:sp>
      <p:sp>
        <p:nvSpPr>
          <p:cNvPr id="6" name="Text 4"/>
          <p:cNvSpPr/>
          <p:nvPr/>
        </p:nvSpPr>
        <p:spPr>
          <a:xfrm>
            <a:off x="502920" y="822960"/>
            <a:ext cx="3291840" cy="347472"/>
          </a:xfrm>
          <a:prstGeom prst="rect">
            <a:avLst/>
          </a:prstGeom>
          <a:noFill/>
          <a:ln/>
        </p:spPr>
        <p:txBody>
          <a:bodyPr wrap="square" rtlCol="0" anchor="ctr"/>
          <a:lstStyle/>
          <a:p>
            <a:pPr indent="0" marL="0">
              <a:buNone/>
            </a:pPr>
            <a:r>
              <a:rPr lang="en-US" sz="1150" b="1" dirty="0">
                <a:solidFill>
                  <a:srgbClr val="4CC9F0"/>
                </a:solidFill>
                <a:latin typeface="Calibri" pitchFamily="34" charset="0"/>
                <a:ea typeface="Calibri" pitchFamily="34" charset="-122"/>
                <a:cs typeface="Calibri" pitchFamily="34" charset="-120"/>
              </a:rPr>
              <a:t>Part A — Label the Diagram</a:t>
            </a:r>
            <a:endParaRPr lang="en-US" sz="1150" dirty="0"/>
          </a:p>
        </p:txBody>
      </p:sp>
      <p:sp>
        <p:nvSpPr>
          <p:cNvPr id="7" name="Text 5"/>
          <p:cNvSpPr/>
          <p:nvPr/>
        </p:nvSpPr>
        <p:spPr>
          <a:xfrm>
            <a:off x="502920" y="1207008"/>
            <a:ext cx="3291840" cy="4462272"/>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Use the word bank:</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mountain peak · valley · plain · contour lines · river · coastline</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1. The highest point at the center of tightest rings: ___</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2. A low area between higher landforms: ___</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3. Large flat area with widely-spaced lines: ___</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4. Lines connecting all points at same elevation: ___</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Practiced: Slides 6, 7, 9</a:t>
            </a:r>
            <a:endParaRPr lang="en-US" sz="1000" dirty="0"/>
          </a:p>
        </p:txBody>
      </p:sp>
      <p:sp>
        <p:nvSpPr>
          <p:cNvPr id="8" name="Shape 6"/>
          <p:cNvSpPr/>
          <p:nvPr/>
        </p:nvSpPr>
        <p:spPr>
          <a:xfrm>
            <a:off x="4133088" y="749808"/>
            <a:ext cx="3840480" cy="5074920"/>
          </a:xfrm>
          <a:prstGeom prst="roundRect">
            <a:avLst>
              <a:gd name="adj" fmla="val 1905"/>
            </a:avLst>
          </a:prstGeom>
          <a:solidFill>
            <a:srgbClr val="1E2F45"/>
          </a:solidFill>
          <a:ln w="12700">
            <a:solidFill>
              <a:srgbClr val="2DC653"/>
            </a:solidFill>
            <a:prstDash val="solid"/>
          </a:ln>
        </p:spPr>
      </p:sp>
      <p:sp>
        <p:nvSpPr>
          <p:cNvPr id="9" name="Text 7"/>
          <p:cNvSpPr/>
          <p:nvPr/>
        </p:nvSpPr>
        <p:spPr>
          <a:xfrm>
            <a:off x="4279392" y="822960"/>
            <a:ext cx="3566160" cy="347472"/>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Part B — Short Answer</a:t>
            </a:r>
            <a:endParaRPr lang="en-US" sz="1150" dirty="0"/>
          </a:p>
        </p:txBody>
      </p:sp>
      <p:sp>
        <p:nvSpPr>
          <p:cNvPr id="10" name="Text 8"/>
          <p:cNvSpPr/>
          <p:nvPr/>
        </p:nvSpPr>
        <p:spPr>
          <a:xfrm>
            <a:off x="4279392" y="1207008"/>
            <a:ext cx="3566160" cy="4462272"/>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Complete sentences. Use vocab words!</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5. Why is a topo map more useful than a road map for hiking? Use contour lines and elevation.</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6. How do rivers and valleys form? Use erosion.</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7. V-shaped contour lines point NW — which way does the river flow?</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Practiced: Slides 6, 8, 10–11</a:t>
            </a:r>
            <a:endParaRPr lang="en-US" sz="1000" dirty="0"/>
          </a:p>
        </p:txBody>
      </p:sp>
      <p:sp>
        <p:nvSpPr>
          <p:cNvPr id="11" name="Shape 9"/>
          <p:cNvSpPr/>
          <p:nvPr/>
        </p:nvSpPr>
        <p:spPr>
          <a:xfrm>
            <a:off x="8183880" y="749808"/>
            <a:ext cx="3657600" cy="5074920"/>
          </a:xfrm>
          <a:prstGeom prst="roundRect">
            <a:avLst>
              <a:gd name="adj" fmla="val 2000"/>
            </a:avLst>
          </a:prstGeom>
          <a:solidFill>
            <a:srgbClr val="1E2F45"/>
          </a:solidFill>
          <a:ln w="12700">
            <a:solidFill>
              <a:srgbClr val="FFB703"/>
            </a:solidFill>
            <a:prstDash val="solid"/>
          </a:ln>
        </p:spPr>
      </p:sp>
      <p:sp>
        <p:nvSpPr>
          <p:cNvPr id="12" name="Text 10"/>
          <p:cNvSpPr/>
          <p:nvPr/>
        </p:nvSpPr>
        <p:spPr>
          <a:xfrm>
            <a:off x="8321040" y="822960"/>
            <a:ext cx="3429000" cy="347472"/>
          </a:xfrm>
          <a:prstGeom prst="rect">
            <a:avLst/>
          </a:prstGeom>
          <a:noFill/>
          <a:ln/>
        </p:spPr>
        <p:txBody>
          <a:bodyPr wrap="square" rtlCol="0" anchor="ctr"/>
          <a:lstStyle/>
          <a:p>
            <a:pPr indent="0" marL="0">
              <a:buNone/>
            </a:pPr>
            <a:r>
              <a:rPr lang="en-US" sz="1150" b="1" dirty="0">
                <a:solidFill>
                  <a:srgbClr val="FFB703"/>
                </a:solidFill>
                <a:latin typeface="Calibri" pitchFamily="34" charset="0"/>
                <a:ea typeface="Calibri" pitchFamily="34" charset="-122"/>
                <a:cs typeface="Calibri" pitchFamily="34" charset="-120"/>
              </a:rPr>
              <a:t>Part C — Create a Topo Map</a:t>
            </a:r>
            <a:endParaRPr lang="en-US" sz="1150" dirty="0"/>
          </a:p>
        </p:txBody>
      </p:sp>
      <p:sp>
        <p:nvSpPr>
          <p:cNvPr id="13" name="Text 11"/>
          <p:cNvSpPr/>
          <p:nvPr/>
        </p:nvSpPr>
        <p:spPr>
          <a:xfrm>
            <a:off x="8321040" y="1207008"/>
            <a:ext cx="3429000" cy="4462272"/>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In your science notebook, draw a topographic map of an imaginary landscape with:</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1 mountain (4+ contour rings)</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1 valley (V-shaped lines)</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1 plain (few/no lines)</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Add elevation numbers starting at 0 m. Use color for elevation zones!</a:t>
            </a:r>
            <a:endParaRPr lang="en-US" sz="1000" dirty="0"/>
          </a:p>
          <a:p>
            <a:pPr indent="0" marL="0">
              <a:buNone/>
            </a:pP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 Practiced: Slides 6, 7, 9</a:t>
            </a:r>
            <a:endParaRPr lang="en-US" sz="10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analyzing maps help us understand the patterns and features of Earth's diverse landscapes?"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Labeled landform diagram (word bank completed)</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Short answer questions 5–7 (complete sentences, vocab used)</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Original topographic map in science notebook</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Warm-up sketch with Reflect &amp; Compare response</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4.02: Create a Map of the 'New World'</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We'll explore how early explorers used maps to record natural resources and ecosystems — and why cartography changed the world!</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4.01  ·  Earth's Diverse Features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2026-07-13T19:55:55Z</dcterms:created>
  <dcterms:modified xsi:type="dcterms:W3CDTF">2026-07-13T19:55:55Z</dcterms:modified>
</cp:coreProperties>
</file>