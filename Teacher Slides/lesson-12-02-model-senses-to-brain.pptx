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MODEL lesson (like 11-02) — the key habit is Draw → Investigate → Revise. Students will build two pathway models and compare them. Today's rigor: building and comparing, not just identifying.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 min to write predictions. Cold-call: 'Which step do you think changes the most?' Most will say stimulus or sense organ. Guide: 'Does the BRAIN step change? Does the pathway ORDER change?' Evidence-based predictions: 'What makes you think the stimulus step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big question aloud. Point out: this is a MODEL lesson — the deliverable is two drawn pathway models, not just a written list. Students will compare two animals to see what's universal vs. what's unique.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Process = the BRAIN step (Step 3). Ask: 'Can you have a pathway without a process step? What would happen if the brain received the signal but didn't process it?' Key vocab to emphasize: 'pathway' (the whole chain) vs. 'process' (one step). These two are often confused.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arrows show DIRECTION and ORDER — without them, you can't tell which way information flows. Ask: 'Could you reverse the arrows? (stimulus ← sense organ ← brain ← response) — does that make sense? Why not?' This tests understanding that the pathway is directional.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presenting both, ask: 'Which step looks most DIFFERENT between the two?' (stimulus, sense organ, and response all differ). 'Which step looks most ALIKE?' (process/brain step — both decide 'that's food, go get it'). This is the discovery that the brain's function is universal even when everything else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predictions, show the image placeholder (or reveal the comparison). Ask: 'Were your predictions right? Which step surprised you — did it look more similar or different than you expected?' This is the 'investigate' step in Draw → Investigate →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pick two animals and write a comparison sentence: 'These pathways are alike because... These pathways are different because...' Key: the four-step STRUCTURE is universal. The DETAILS change. Ask: 'What would you need to add to turn this table into a full pathway MODEL?' (arrows, signal labels, survival need caption).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8 min to draw, investigate, and revise both models. Circulate and ask: 'What made you revise that part?' and 'After your revision, what's stronger about this model?' Key facilitation: 'Why do scientists revise models? What does a revision tell you about your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Claim sentence aloud. Students complete all 3 panels in notebooks. Key facilitation: 'Your Reasoning should use the word BECAUSE and explain the CONNECTION between evidence and claim.' This is full CER — all 3 required for Q2. Pair-share before whole-class debrief.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Missing steps: sense organ AND brain/process. Both are required. Ask: 'If you skip the sense organ, how does the stimulus get INTO the body? If you skip the brain, how does the body DECIDE what to do?' Students who answer both in their Evidence panel show deeper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ask: 'What would a 3-D pathway model of a bat's echolocation look like? What would the 'yarn' (signal) connect?' This deepens the understanding that models are tools for explanation, not just pictures. Florida wildlife biologists use trail cameras to record real pathway sequences in the wild.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write answers first. For Q1: 'If two students drew the SAME diagram — one with arrows, one without — which is a model? Why?' For Q2: 'What would scientists learn by comparing pathways that they could NOT learn from just one model?' These deepen the comparison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part. Remind students: Part C models must have ALL arrows present including the 'signal' label. The comparison sentences are: 'These pathways are alike because...' and 'These pathways are different because...' Both sentences require evidence from the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Return to the warm-up prediction — 'Did comparing two models show you something you couldn't see from one? What?' Exit ticket: 'Draw the four steps of the pathway as boxes with arrows. Label what changes between species and what stays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Model: From Senses to Brain</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Q3 · Week 12  ·  Life Science  ·  4-LS1-2 / SC.4.L.16.3</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4-LS1-2 — Use a model to describe that animals receive different types of information through their senses, process the information in their brain, and respond.</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build a model that shows the four-step pathway for one animal.</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build a second model for a different animal and compare the two.</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use my models to explain how different animals respond to different stimuli.</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 Science notebook   ✏️ Colored pencils</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12.02  ·  Model: From Senses to Brain</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Warm-Up: Same Steps, Different Animals</a:t>
            </a:r>
            <a:endParaRPr lang="en-US" sz="1600" dirty="0"/>
          </a:p>
        </p:txBody>
      </p:sp>
      <p:sp>
        <p:nvSpPr>
          <p:cNvPr id="5" name="Shape 3"/>
          <p:cNvSpPr/>
          <p:nvPr/>
        </p:nvSpPr>
        <p:spPr>
          <a:xfrm>
            <a:off x="365760" y="749808"/>
            <a:ext cx="11430000" cy="1280160"/>
          </a:xfrm>
          <a:prstGeom prst="roundRect">
            <a:avLst>
              <a:gd name="adj" fmla="val 5714"/>
            </a:avLst>
          </a:prstGeom>
          <a:solidFill>
            <a:srgbClr val="1E2F45"/>
          </a:solidFill>
          <a:ln w="12700">
            <a:solidFill>
              <a:srgbClr val="FFB703"/>
            </a:solidFill>
            <a:prstDash val="solid"/>
          </a:ln>
        </p:spPr>
      </p:sp>
      <p:sp>
        <p:nvSpPr>
          <p:cNvPr id="6" name="Text 4"/>
          <p:cNvSpPr/>
          <p:nvPr/>
        </p:nvSpPr>
        <p:spPr>
          <a:xfrm>
            <a:off x="548640" y="804672"/>
            <a:ext cx="1106424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You already know the four steps: stimulus → sense organ → brain → response.</a:t>
            </a:r>
            <a:endParaRPr lang="en-US" sz="1400" dirty="0"/>
          </a:p>
        </p:txBody>
      </p:sp>
      <p:sp>
        <p:nvSpPr>
          <p:cNvPr id="7" name="Text 5"/>
          <p:cNvSpPr/>
          <p:nvPr/>
        </p:nvSpPr>
        <p:spPr>
          <a:xfrm>
            <a:off x="548640" y="1170432"/>
            <a:ext cx="11064240" cy="320040"/>
          </a:xfrm>
          <a:prstGeom prst="rect">
            <a:avLst/>
          </a:prstGeom>
          <a:noFill/>
          <a:ln/>
        </p:spPr>
        <p:txBody>
          <a:bodyPr wrap="square" rtlCol="0" anchor="ctr"/>
          <a:lstStyle/>
          <a:p>
            <a:pPr indent="0" marL="0">
              <a:buNone/>
            </a:pPr>
            <a:r>
              <a:rPr lang="en-US" sz="1400" dirty="0">
                <a:solidFill>
                  <a:srgbClr val="FFB703"/>
                </a:solidFill>
                <a:latin typeface="Calibri" pitchFamily="34" charset="0"/>
                <a:ea typeface="Calibri" pitchFamily="34" charset="-122"/>
                <a:cs typeface="Calibri" pitchFamily="34" charset="-120"/>
              </a:rPr>
              <a:t>Today's question: Do all animals do them the SAME way?</a:t>
            </a:r>
            <a:endParaRPr lang="en-US" sz="1400" dirty="0"/>
          </a:p>
        </p:txBody>
      </p:sp>
      <p:sp>
        <p:nvSpPr>
          <p:cNvPr id="8" name="Shape 6"/>
          <p:cNvSpPr/>
          <p:nvPr/>
        </p:nvSpPr>
        <p:spPr>
          <a:xfrm>
            <a:off x="365760" y="2176272"/>
            <a:ext cx="11430000" cy="1828800"/>
          </a:xfrm>
          <a:prstGeom prst="roundRect">
            <a:avLst>
              <a:gd name="adj" fmla="val 4000"/>
            </a:avLst>
          </a:prstGeom>
          <a:solidFill>
            <a:srgbClr val="162233"/>
          </a:solidFill>
          <a:ln w="12700">
            <a:solidFill>
              <a:srgbClr val="B0C4D8"/>
            </a:solidFill>
            <a:prstDash val="solid"/>
          </a:ln>
        </p:spPr>
      </p:sp>
      <p:sp>
        <p:nvSpPr>
          <p:cNvPr id="9" name="Text 7"/>
          <p:cNvSpPr/>
          <p:nvPr/>
        </p:nvSpPr>
        <p:spPr>
          <a:xfrm>
            <a:off x="548640" y="2231136"/>
            <a:ext cx="11064240" cy="320040"/>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Prediction in your notebook:</a:t>
            </a:r>
            <a:endParaRPr lang="en-US" sz="1300" dirty="0"/>
          </a:p>
        </p:txBody>
      </p:sp>
      <p:sp>
        <p:nvSpPr>
          <p:cNvPr id="10" name="Text 8"/>
          <p:cNvSpPr/>
          <p:nvPr/>
        </p:nvSpPr>
        <p:spPr>
          <a:xfrm>
            <a:off x="548640" y="2578608"/>
            <a:ext cx="11064240" cy="1298448"/>
          </a:xfrm>
          <a:prstGeom prst="rect">
            <a:avLst/>
          </a:prstGeom>
          <a:noFill/>
          <a:ln/>
        </p:spPr>
        <p:txBody>
          <a:bodyPr wrap="square"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Imagine a bald eagle and a sea turtle each notice a fish. Both use a sense organ. Both respond. Predict: Are the two pathways exactly the same? Where do you think they'll be DIFFERENT? Which step changes the most? Which probably looks pretty similar?</a:t>
            </a:r>
            <a:endParaRPr lang="en-US" sz="1250" dirty="0"/>
          </a:p>
        </p:txBody>
      </p:sp>
      <p:sp>
        <p:nvSpPr>
          <p:cNvPr id="11" name="Shape 9"/>
          <p:cNvSpPr/>
          <p:nvPr/>
        </p:nvSpPr>
        <p:spPr>
          <a:xfrm>
            <a:off x="365760" y="4133088"/>
            <a:ext cx="11430000" cy="347472"/>
          </a:xfrm>
          <a:prstGeom prst="roundRect">
            <a:avLst>
              <a:gd name="adj" fmla="val 23684"/>
            </a:avLst>
          </a:prstGeom>
          <a:solidFill>
            <a:srgbClr val="E09200"/>
          </a:solidFill>
          <a:ln w="19050">
            <a:solidFill>
              <a:srgbClr val="FFB703"/>
            </a:solidFill>
            <a:prstDash val="solid"/>
          </a:ln>
        </p:spPr>
      </p:sp>
      <p:sp>
        <p:nvSpPr>
          <p:cNvPr id="12" name="Text 10"/>
          <p:cNvSpPr/>
          <p:nvPr/>
        </p:nvSpPr>
        <p:spPr>
          <a:xfrm>
            <a:off x="365760" y="4133088"/>
            <a:ext cx="1143000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Notice &amp; Wonder</a:t>
            </a:r>
            <a:endParaRPr lang="en-US" sz="1200" dirty="0"/>
          </a:p>
        </p:txBody>
      </p:sp>
      <p:sp>
        <p:nvSpPr>
          <p:cNvPr id="13" name="Text 11"/>
          <p:cNvSpPr/>
          <p:nvPr/>
        </p:nvSpPr>
        <p:spPr>
          <a:xfrm>
            <a:off x="365760" y="4535424"/>
            <a:ext cx="11430000" cy="411480"/>
          </a:xfrm>
          <a:prstGeom prst="rect">
            <a:avLst/>
          </a:prstGeom>
          <a:noFill/>
          <a:ln/>
        </p:spPr>
        <p:txBody>
          <a:bodyPr wrap="square" rtlCol="0" anchor="ctr"/>
          <a:lstStyle/>
          <a:p>
            <a:pPr algn="ctr" indent="0" marL="0">
              <a:buNone/>
            </a:pPr>
            <a:r>
              <a:rPr lang="en-US" sz="1300" i="1" dirty="0">
                <a:solidFill>
                  <a:srgbClr val="FFFFFF"/>
                </a:solidFill>
                <a:latin typeface="Calibri" pitchFamily="34" charset="0"/>
                <a:ea typeface="Calibri" pitchFamily="34" charset="-122"/>
                <a:cs typeface="Calibri" pitchFamily="34" charset="-120"/>
              </a:rPr>
              <a:t>"Same four steps, two very different animals — which step changes the most between them?"</a:t>
            </a:r>
            <a:endParaRPr lang="en-US" sz="1300" dirty="0"/>
          </a:p>
        </p:txBody>
      </p:sp>
      <p:sp>
        <p:nvSpPr>
          <p:cNvPr id="14" name="Shape 12"/>
          <p:cNvSpPr/>
          <p:nvPr/>
        </p:nvSpPr>
        <p:spPr>
          <a:xfrm>
            <a:off x="365760" y="5084064"/>
            <a:ext cx="11430000" cy="658368"/>
          </a:xfrm>
          <a:prstGeom prst="roundRect">
            <a:avLst>
              <a:gd name="adj" fmla="val 11111"/>
            </a:avLst>
          </a:prstGeom>
          <a:solidFill>
            <a:srgbClr val="1A3A1A"/>
          </a:solidFill>
          <a:ln w="12700">
            <a:solidFill>
              <a:srgbClr val="2DC653"/>
            </a:solidFill>
            <a:prstDash val="solid"/>
          </a:ln>
        </p:spPr>
      </p:sp>
      <p:sp>
        <p:nvSpPr>
          <p:cNvPr id="15" name="Text 13"/>
          <p:cNvSpPr/>
          <p:nvPr/>
        </p:nvSpPr>
        <p:spPr>
          <a:xfrm>
            <a:off x="548640" y="5138928"/>
            <a:ext cx="11064240" cy="530352"/>
          </a:xfrm>
          <a:prstGeom prst="rect">
            <a:avLst/>
          </a:prstGeom>
          <a:noFill/>
          <a:ln/>
        </p:spPr>
        <p:txBody>
          <a:bodyPr wrap="square" rtlCol="0" anchor="ctr"/>
          <a:lstStyle/>
          <a:p>
            <a:pPr indent="0" marL="0">
              <a:buNone/>
            </a:pPr>
            <a:r>
              <a:rPr lang="en-US" sz="1200" dirty="0">
                <a:solidFill>
                  <a:srgbClr val="2DC653"/>
                </a:solidFill>
                <a:latin typeface="Calibri" pitchFamily="34" charset="0"/>
                <a:ea typeface="Calibri" pitchFamily="34" charset="-122"/>
                <a:cs typeface="Calibri" pitchFamily="34" charset="-120"/>
              </a:rPr>
              <a:t>Today's goal: BUILD two pathway models, side by side. Compare them. See what's universal and what's special to each animal.</a:t>
            </a:r>
            <a:endParaRPr lang="en-US" sz="120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12.02  ·  Model: From Senses to Brain</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Our Big Question</a:t>
            </a:r>
            <a:endParaRPr lang="en-US" sz="1600" dirty="0"/>
          </a:p>
        </p:txBody>
      </p:sp>
      <p:sp>
        <p:nvSpPr>
          <p:cNvPr id="5" name="Shape 3"/>
          <p:cNvSpPr/>
          <p:nvPr/>
        </p:nvSpPr>
        <p:spPr>
          <a:xfrm>
            <a:off x="365760" y="749808"/>
            <a:ext cx="11430000" cy="1645920"/>
          </a:xfrm>
          <a:prstGeom prst="roundRect">
            <a:avLst>
              <a:gd name="adj" fmla="val 4444"/>
            </a:avLst>
          </a:prstGeom>
          <a:solidFill>
            <a:srgbClr val="1E2F45"/>
          </a:solidFill>
          <a:ln w="12700">
            <a:solidFill>
              <a:srgbClr val="4CC9F0"/>
            </a:solidFill>
            <a:prstDash val="solid"/>
          </a:ln>
        </p:spPr>
      </p:sp>
      <p:sp>
        <p:nvSpPr>
          <p:cNvPr id="6" name="Text 4"/>
          <p:cNvSpPr/>
          <p:nvPr/>
        </p:nvSpPr>
        <p:spPr>
          <a:xfrm>
            <a:off x="548640" y="841248"/>
            <a:ext cx="11064240" cy="1463040"/>
          </a:xfrm>
          <a:prstGeom prst="rect">
            <a:avLst/>
          </a:prstGeom>
          <a:noFill/>
          <a:ln/>
        </p:spPr>
        <p:txBody>
          <a:bodyPr wrap="square" rtlCol="0" anchor="ctr"/>
          <a:lstStyle/>
          <a:p>
            <a:pPr algn="ctr" indent="0" marL="0">
              <a:buNone/>
            </a:pPr>
            <a:r>
              <a:rPr lang="en-US" sz="2200" b="1" i="1" dirty="0">
                <a:solidFill>
                  <a:srgbClr val="FFFFFF"/>
                </a:solidFill>
                <a:latin typeface="Calibri" pitchFamily="34" charset="0"/>
                <a:ea typeface="Calibri" pitchFamily="34" charset="-122"/>
                <a:cs typeface="Calibri" pitchFamily="34" charset="-120"/>
              </a:rPr>
              <a:t>"How can a model show the way an animal turns information into action?"</a:t>
            </a:r>
            <a:endParaRPr lang="en-US" sz="2200" dirty="0"/>
          </a:p>
        </p:txBody>
      </p:sp>
      <p:sp>
        <p:nvSpPr>
          <p:cNvPr id="7" name="Shape 5"/>
          <p:cNvSpPr/>
          <p:nvPr/>
        </p:nvSpPr>
        <p:spPr>
          <a:xfrm>
            <a:off x="365760" y="2542032"/>
            <a:ext cx="7132320" cy="1280160"/>
          </a:xfrm>
          <a:prstGeom prst="roundRect">
            <a:avLst>
              <a:gd name="adj" fmla="val 5714"/>
            </a:avLst>
          </a:prstGeom>
          <a:solidFill>
            <a:srgbClr val="162233"/>
          </a:solidFill>
          <a:ln w="12700">
            <a:solidFill>
              <a:srgbClr val="FFB703"/>
            </a:solidFill>
            <a:prstDash val="solid"/>
          </a:ln>
        </p:spPr>
      </p:sp>
      <p:sp>
        <p:nvSpPr>
          <p:cNvPr id="8" name="Text 6"/>
          <p:cNvSpPr/>
          <p:nvPr/>
        </p:nvSpPr>
        <p:spPr>
          <a:xfrm>
            <a:off x="548640" y="2596896"/>
            <a:ext cx="6858000" cy="320040"/>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Today's Model Habit:</a:t>
            </a:r>
            <a:endParaRPr lang="en-US" sz="1300" dirty="0"/>
          </a:p>
        </p:txBody>
      </p:sp>
      <p:sp>
        <p:nvSpPr>
          <p:cNvPr id="9" name="Text 7"/>
          <p:cNvSpPr/>
          <p:nvPr/>
        </p:nvSpPr>
        <p:spPr>
          <a:xfrm>
            <a:off x="548640" y="2944368"/>
            <a:ext cx="6858000" cy="74980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Draw your model  →  Investigate  →  REVISE your model</a:t>
            </a:r>
            <a:endParaRPr lang="en-US" sz="1250" dirty="0"/>
          </a:p>
          <a:p>
            <a:pPr indent="0" marL="0">
              <a:buNone/>
            </a:pP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First draft is never final. That's science.</a:t>
            </a:r>
            <a:endParaRPr lang="en-US" sz="1250" dirty="0"/>
          </a:p>
        </p:txBody>
      </p:sp>
      <p:sp>
        <p:nvSpPr>
          <p:cNvPr id="10" name="Shape 8"/>
          <p:cNvSpPr/>
          <p:nvPr/>
        </p:nvSpPr>
        <p:spPr>
          <a:xfrm>
            <a:off x="7863840" y="2542032"/>
            <a:ext cx="3931920" cy="1280160"/>
          </a:xfrm>
          <a:prstGeom prst="roundRect">
            <a:avLst>
              <a:gd name="adj" fmla="val 5714"/>
            </a:avLst>
          </a:prstGeom>
          <a:solidFill>
            <a:srgbClr val="1A3A2A"/>
          </a:solidFill>
          <a:ln w="12700">
            <a:solidFill>
              <a:srgbClr val="2DC653"/>
            </a:solidFill>
            <a:prstDash val="solid"/>
          </a:ln>
        </p:spPr>
      </p:sp>
      <p:sp>
        <p:nvSpPr>
          <p:cNvPr id="11" name="Text 9"/>
          <p:cNvSpPr/>
          <p:nvPr/>
        </p:nvSpPr>
        <p:spPr>
          <a:xfrm>
            <a:off x="8001000" y="2596896"/>
            <a:ext cx="3657600" cy="320040"/>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What makes a strong PATHWAY model:</a:t>
            </a:r>
            <a:endParaRPr lang="en-US" sz="1200" dirty="0"/>
          </a:p>
        </p:txBody>
      </p:sp>
      <p:sp>
        <p:nvSpPr>
          <p:cNvPr id="12" name="Text 10"/>
          <p:cNvSpPr/>
          <p:nvPr/>
        </p:nvSpPr>
        <p:spPr>
          <a:xfrm>
            <a:off x="8001000" y="2944368"/>
            <a:ext cx="3657600" cy="749808"/>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Arrows between all 4 steps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'Signal' label from sense organ to brain</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Caption tying response to survival need</a:t>
            </a:r>
            <a:endParaRPr lang="en-US" sz="1100" dirty="0"/>
          </a:p>
        </p:txBody>
      </p:sp>
      <p:sp>
        <p:nvSpPr>
          <p:cNvPr id="13" name="Shape 11"/>
          <p:cNvSpPr/>
          <p:nvPr/>
        </p:nvSpPr>
        <p:spPr>
          <a:xfrm>
            <a:off x="0" y="6629400"/>
            <a:ext cx="12192000" cy="228600"/>
          </a:xfrm>
          <a:prstGeom prst="rect">
            <a:avLst/>
          </a:prstGeom>
          <a:solidFill>
            <a:srgbClr val="162233"/>
          </a:solidFill>
          <a:ln/>
        </p:spPr>
      </p:sp>
      <p:sp>
        <p:nvSpPr>
          <p:cNvPr id="14" name="Text 1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12.02  ·  Model: From Senses to Brain</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Set 1</a:t>
            </a:r>
            <a:endParaRPr lang="en-US" sz="1600" dirty="0"/>
          </a:p>
        </p:txBody>
      </p:sp>
      <p:sp>
        <p:nvSpPr>
          <p:cNvPr id="5" name="Shape 3"/>
          <p:cNvSpPr/>
          <p:nvPr/>
        </p:nvSpPr>
        <p:spPr>
          <a:xfrm>
            <a:off x="365760" y="749808"/>
            <a:ext cx="3474720" cy="1325880"/>
          </a:xfrm>
          <a:prstGeom prst="roundRect">
            <a:avLst>
              <a:gd name="adj" fmla="val 6897"/>
            </a:avLst>
          </a:prstGeom>
          <a:solidFill>
            <a:srgbClr val="1E2F45"/>
          </a:solidFill>
          <a:ln w="25400">
            <a:solidFill>
              <a:srgbClr val="FFB703"/>
            </a:solidFill>
            <a:prstDash val="solid"/>
          </a:ln>
        </p:spPr>
      </p:sp>
      <p:sp>
        <p:nvSpPr>
          <p:cNvPr id="6" name="Shape 4"/>
          <p:cNvSpPr/>
          <p:nvPr/>
        </p:nvSpPr>
        <p:spPr>
          <a:xfrm>
            <a:off x="365760" y="749808"/>
            <a:ext cx="3474720" cy="347472"/>
          </a:xfrm>
          <a:prstGeom prst="roundRect">
            <a:avLst>
              <a:gd name="adj" fmla="val 21053"/>
            </a:avLst>
          </a:prstGeom>
          <a:solidFill>
            <a:srgbClr val="FFB703"/>
          </a:solidFill>
          <a:ln w="12700">
            <a:solidFill>
              <a:srgbClr val="FFB703"/>
            </a:solidFill>
            <a:prstDash val="solid"/>
          </a:ln>
        </p:spPr>
      </p:sp>
      <p:sp>
        <p:nvSpPr>
          <p:cNvPr id="7" name="Text 5"/>
          <p:cNvSpPr/>
          <p:nvPr/>
        </p:nvSpPr>
        <p:spPr>
          <a:xfrm>
            <a:off x="457200" y="777240"/>
            <a:ext cx="329184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Stimulus</a:t>
            </a:r>
            <a:endParaRPr lang="en-US" sz="1200" dirty="0"/>
          </a:p>
        </p:txBody>
      </p:sp>
      <p:sp>
        <p:nvSpPr>
          <p:cNvPr id="8" name="Text 6"/>
          <p:cNvSpPr/>
          <p:nvPr/>
        </p:nvSpPr>
        <p:spPr>
          <a:xfrm>
            <a:off x="475488" y="1152144"/>
            <a:ext cx="325526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Something in the world that an animal can notice — a sound, a smell, a flash of light, a touch.</a:t>
            </a:r>
            <a:endParaRPr lang="en-US" sz="1050" dirty="0"/>
          </a:p>
        </p:txBody>
      </p:sp>
      <p:sp>
        <p:nvSpPr>
          <p:cNvPr id="9" name="Shape 7"/>
          <p:cNvSpPr/>
          <p:nvPr/>
        </p:nvSpPr>
        <p:spPr>
          <a:xfrm>
            <a:off x="4114800" y="749808"/>
            <a:ext cx="3474720" cy="1325880"/>
          </a:xfrm>
          <a:prstGeom prst="roundRect">
            <a:avLst>
              <a:gd name="adj" fmla="val 6897"/>
            </a:avLst>
          </a:prstGeom>
          <a:solidFill>
            <a:srgbClr val="1E2F45"/>
          </a:solidFill>
          <a:ln w="25400">
            <a:solidFill>
              <a:srgbClr val="4CC9F0"/>
            </a:solidFill>
            <a:prstDash val="solid"/>
          </a:ln>
        </p:spPr>
      </p:sp>
      <p:sp>
        <p:nvSpPr>
          <p:cNvPr id="10" name="Shape 8"/>
          <p:cNvSpPr/>
          <p:nvPr/>
        </p:nvSpPr>
        <p:spPr>
          <a:xfrm>
            <a:off x="4114800" y="749808"/>
            <a:ext cx="3474720" cy="347472"/>
          </a:xfrm>
          <a:prstGeom prst="roundRect">
            <a:avLst>
              <a:gd name="adj" fmla="val 21053"/>
            </a:avLst>
          </a:prstGeom>
          <a:solidFill>
            <a:srgbClr val="4CC9F0"/>
          </a:solidFill>
          <a:ln w="12700">
            <a:solidFill>
              <a:srgbClr val="4CC9F0"/>
            </a:solidFill>
            <a:prstDash val="solid"/>
          </a:ln>
        </p:spPr>
      </p:sp>
      <p:sp>
        <p:nvSpPr>
          <p:cNvPr id="11" name="Text 9"/>
          <p:cNvSpPr/>
          <p:nvPr/>
        </p:nvSpPr>
        <p:spPr>
          <a:xfrm>
            <a:off x="4206240" y="777240"/>
            <a:ext cx="329184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Pathway</a:t>
            </a:r>
            <a:endParaRPr lang="en-US" sz="1200" dirty="0"/>
          </a:p>
        </p:txBody>
      </p:sp>
      <p:sp>
        <p:nvSpPr>
          <p:cNvPr id="12" name="Text 10"/>
          <p:cNvSpPr/>
          <p:nvPr/>
        </p:nvSpPr>
        <p:spPr>
          <a:xfrm>
            <a:off x="4224528" y="1152144"/>
            <a:ext cx="325526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path with steps that information follows — from the world, through the body, to a response. The four steps form a pathway.</a:t>
            </a:r>
            <a:endParaRPr lang="en-US" sz="1050" dirty="0"/>
          </a:p>
        </p:txBody>
      </p:sp>
      <p:sp>
        <p:nvSpPr>
          <p:cNvPr id="13" name="Shape 11"/>
          <p:cNvSpPr/>
          <p:nvPr/>
        </p:nvSpPr>
        <p:spPr>
          <a:xfrm>
            <a:off x="7863840" y="749808"/>
            <a:ext cx="3474720" cy="1325880"/>
          </a:xfrm>
          <a:prstGeom prst="roundRect">
            <a:avLst>
              <a:gd name="adj" fmla="val 6897"/>
            </a:avLst>
          </a:prstGeom>
          <a:solidFill>
            <a:srgbClr val="1E2F45"/>
          </a:solidFill>
          <a:ln w="25400">
            <a:solidFill>
              <a:srgbClr val="F4736A"/>
            </a:solidFill>
            <a:prstDash val="solid"/>
          </a:ln>
        </p:spPr>
      </p:sp>
      <p:sp>
        <p:nvSpPr>
          <p:cNvPr id="14" name="Shape 12"/>
          <p:cNvSpPr/>
          <p:nvPr/>
        </p:nvSpPr>
        <p:spPr>
          <a:xfrm>
            <a:off x="7863840" y="749808"/>
            <a:ext cx="3474720" cy="347472"/>
          </a:xfrm>
          <a:prstGeom prst="roundRect">
            <a:avLst>
              <a:gd name="adj" fmla="val 21053"/>
            </a:avLst>
          </a:prstGeom>
          <a:solidFill>
            <a:srgbClr val="F4736A"/>
          </a:solidFill>
          <a:ln w="12700">
            <a:solidFill>
              <a:srgbClr val="F4736A"/>
            </a:solidFill>
            <a:prstDash val="solid"/>
          </a:ln>
        </p:spPr>
      </p:sp>
      <p:sp>
        <p:nvSpPr>
          <p:cNvPr id="15" name="Text 13"/>
          <p:cNvSpPr/>
          <p:nvPr/>
        </p:nvSpPr>
        <p:spPr>
          <a:xfrm>
            <a:off x="7955280" y="777240"/>
            <a:ext cx="329184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Process</a:t>
            </a:r>
            <a:endParaRPr lang="en-US" sz="1200" dirty="0"/>
          </a:p>
        </p:txBody>
      </p:sp>
      <p:sp>
        <p:nvSpPr>
          <p:cNvPr id="16" name="Text 14"/>
          <p:cNvSpPr/>
          <p:nvPr/>
        </p:nvSpPr>
        <p:spPr>
          <a:xfrm>
            <a:off x="7973568" y="1152144"/>
            <a:ext cx="325526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What the BRAIN does — takes a signal in and figures out what it means before sending an action message back out.</a:t>
            </a:r>
            <a:endParaRPr lang="en-US" sz="1050" dirty="0"/>
          </a:p>
        </p:txBody>
      </p:sp>
      <p:sp>
        <p:nvSpPr>
          <p:cNvPr id="17" name="Shape 15"/>
          <p:cNvSpPr/>
          <p:nvPr/>
        </p:nvSpPr>
        <p:spPr>
          <a:xfrm>
            <a:off x="365760" y="2212848"/>
            <a:ext cx="3474720" cy="1325880"/>
          </a:xfrm>
          <a:prstGeom prst="roundRect">
            <a:avLst>
              <a:gd name="adj" fmla="val 6897"/>
            </a:avLst>
          </a:prstGeom>
          <a:solidFill>
            <a:srgbClr val="1E2F45"/>
          </a:solidFill>
          <a:ln w="25400">
            <a:solidFill>
              <a:srgbClr val="2DC653"/>
            </a:solidFill>
            <a:prstDash val="solid"/>
          </a:ln>
        </p:spPr>
      </p:sp>
      <p:sp>
        <p:nvSpPr>
          <p:cNvPr id="18" name="Shape 16"/>
          <p:cNvSpPr/>
          <p:nvPr/>
        </p:nvSpPr>
        <p:spPr>
          <a:xfrm>
            <a:off x="365760" y="2212848"/>
            <a:ext cx="3474720" cy="347472"/>
          </a:xfrm>
          <a:prstGeom prst="roundRect">
            <a:avLst>
              <a:gd name="adj" fmla="val 21053"/>
            </a:avLst>
          </a:prstGeom>
          <a:solidFill>
            <a:srgbClr val="2DC653"/>
          </a:solidFill>
          <a:ln w="12700">
            <a:solidFill>
              <a:srgbClr val="2DC653"/>
            </a:solidFill>
            <a:prstDash val="solid"/>
          </a:ln>
        </p:spPr>
      </p:sp>
      <p:sp>
        <p:nvSpPr>
          <p:cNvPr id="19" name="Text 17"/>
          <p:cNvSpPr/>
          <p:nvPr/>
        </p:nvSpPr>
        <p:spPr>
          <a:xfrm>
            <a:off x="457200" y="2240280"/>
            <a:ext cx="329184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Response</a:t>
            </a:r>
            <a:endParaRPr lang="en-US" sz="1200" dirty="0"/>
          </a:p>
        </p:txBody>
      </p:sp>
      <p:sp>
        <p:nvSpPr>
          <p:cNvPr id="20" name="Text 18"/>
          <p:cNvSpPr/>
          <p:nvPr/>
        </p:nvSpPr>
        <p:spPr>
          <a:xfrm>
            <a:off x="475488" y="2615184"/>
            <a:ext cx="325526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What an animal does after its brain decides — running, freezing, jumping, eating, hiding, calling out.</a:t>
            </a:r>
            <a:endParaRPr lang="en-US" sz="1050" dirty="0"/>
          </a:p>
        </p:txBody>
      </p:sp>
      <p:sp>
        <p:nvSpPr>
          <p:cNvPr id="21" name="Shape 19"/>
          <p:cNvSpPr/>
          <p:nvPr/>
        </p:nvSpPr>
        <p:spPr>
          <a:xfrm>
            <a:off x="4114800" y="2212848"/>
            <a:ext cx="3474720" cy="1325880"/>
          </a:xfrm>
          <a:prstGeom prst="roundRect">
            <a:avLst>
              <a:gd name="adj" fmla="val 6897"/>
            </a:avLst>
          </a:prstGeom>
          <a:solidFill>
            <a:srgbClr val="1E2F45"/>
          </a:solidFill>
          <a:ln w="25400">
            <a:solidFill>
              <a:srgbClr val="0096C7"/>
            </a:solidFill>
            <a:prstDash val="solid"/>
          </a:ln>
        </p:spPr>
      </p:sp>
      <p:sp>
        <p:nvSpPr>
          <p:cNvPr id="22" name="Shape 20"/>
          <p:cNvSpPr/>
          <p:nvPr/>
        </p:nvSpPr>
        <p:spPr>
          <a:xfrm>
            <a:off x="4114800" y="2212848"/>
            <a:ext cx="3474720" cy="347472"/>
          </a:xfrm>
          <a:prstGeom prst="roundRect">
            <a:avLst>
              <a:gd name="adj" fmla="val 21053"/>
            </a:avLst>
          </a:prstGeom>
          <a:solidFill>
            <a:srgbClr val="0096C7"/>
          </a:solidFill>
          <a:ln w="12700">
            <a:solidFill>
              <a:srgbClr val="0096C7"/>
            </a:solidFill>
            <a:prstDash val="solid"/>
          </a:ln>
        </p:spPr>
      </p:sp>
      <p:sp>
        <p:nvSpPr>
          <p:cNvPr id="23" name="Text 21"/>
          <p:cNvSpPr/>
          <p:nvPr/>
        </p:nvSpPr>
        <p:spPr>
          <a:xfrm>
            <a:off x="4206240" y="2240280"/>
            <a:ext cx="329184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p>
        </p:txBody>
      </p:sp>
      <p:sp>
        <p:nvSpPr>
          <p:cNvPr id="24" name="Text 22"/>
          <p:cNvSpPr/>
          <p:nvPr/>
        </p:nvSpPr>
        <p:spPr>
          <a:xfrm>
            <a:off x="4224528" y="2615184"/>
            <a:ext cx="325526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drawing, diagram, build, or explanation that shows how something works — like a pathway from stimulus to response.</a:t>
            </a:r>
            <a:endParaRPr lang="en-US" sz="1050" dirty="0"/>
          </a:p>
        </p:txBody>
      </p:sp>
      <p:sp>
        <p:nvSpPr>
          <p:cNvPr id="25" name="Shape 23"/>
          <p:cNvSpPr/>
          <p:nvPr/>
        </p:nvSpPr>
        <p:spPr>
          <a:xfrm>
            <a:off x="7863840" y="2212848"/>
            <a:ext cx="3474720" cy="1325880"/>
          </a:xfrm>
          <a:prstGeom prst="roundRect">
            <a:avLst>
              <a:gd name="adj" fmla="val 6897"/>
            </a:avLst>
          </a:prstGeom>
          <a:solidFill>
            <a:srgbClr val="1E2F45"/>
          </a:solidFill>
          <a:ln w="25400">
            <a:solidFill>
              <a:srgbClr val="FFB703"/>
            </a:solidFill>
            <a:prstDash val="solid"/>
          </a:ln>
        </p:spPr>
      </p:sp>
      <p:sp>
        <p:nvSpPr>
          <p:cNvPr id="26" name="Shape 24"/>
          <p:cNvSpPr/>
          <p:nvPr/>
        </p:nvSpPr>
        <p:spPr>
          <a:xfrm>
            <a:off x="7863840" y="2212848"/>
            <a:ext cx="3474720" cy="347472"/>
          </a:xfrm>
          <a:prstGeom prst="roundRect">
            <a:avLst>
              <a:gd name="adj" fmla="val 21053"/>
            </a:avLst>
          </a:prstGeom>
          <a:solidFill>
            <a:srgbClr val="FFB703"/>
          </a:solidFill>
          <a:ln w="12700">
            <a:solidFill>
              <a:srgbClr val="FFB703"/>
            </a:solidFill>
            <a:prstDash val="solid"/>
          </a:ln>
        </p:spPr>
      </p:sp>
      <p:sp>
        <p:nvSpPr>
          <p:cNvPr id="27" name="Text 25"/>
          <p:cNvSpPr/>
          <p:nvPr/>
        </p:nvSpPr>
        <p:spPr>
          <a:xfrm>
            <a:off x="7955280" y="2240280"/>
            <a:ext cx="329184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a:t>
            </a:r>
            <a:endParaRPr lang="en-US" sz="1200" dirty="0"/>
          </a:p>
        </p:txBody>
      </p:sp>
      <p:sp>
        <p:nvSpPr>
          <p:cNvPr id="28" name="Text 26"/>
          <p:cNvSpPr/>
          <p:nvPr/>
        </p:nvSpPr>
        <p:spPr>
          <a:xfrm>
            <a:off x="7973568" y="2615184"/>
            <a:ext cx="325526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short story of one moment — a situation where an animal notices something and reacts. Scientists use scenarios to test pathway ideas.</a:t>
            </a:r>
            <a:endParaRPr lang="en-US" sz="1050" dirty="0"/>
          </a:p>
        </p:txBody>
      </p:sp>
      <p:sp>
        <p:nvSpPr>
          <p:cNvPr id="29" name="Shape 27"/>
          <p:cNvSpPr/>
          <p:nvPr/>
        </p:nvSpPr>
        <p:spPr>
          <a:xfrm>
            <a:off x="365760" y="3675888"/>
            <a:ext cx="11430000" cy="1170432"/>
          </a:xfrm>
          <a:prstGeom prst="roundRect">
            <a:avLst>
              <a:gd name="adj" fmla="val 6250"/>
            </a:avLst>
          </a:prstGeom>
          <a:solidFill>
            <a:srgbClr val="162233"/>
          </a:solidFill>
          <a:ln w="12700">
            <a:solidFill>
              <a:srgbClr val="FFB703"/>
            </a:solidFill>
            <a:prstDash val="solid"/>
          </a:ln>
        </p:spPr>
      </p:sp>
      <p:sp>
        <p:nvSpPr>
          <p:cNvPr id="30" name="Text 28"/>
          <p:cNvSpPr/>
          <p:nvPr/>
        </p:nvSpPr>
        <p:spPr>
          <a:xfrm>
            <a:off x="530352" y="3749040"/>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Quick Discussion</a:t>
            </a:r>
            <a:endParaRPr lang="en-US" sz="1300" dirty="0"/>
          </a:p>
        </p:txBody>
      </p:sp>
      <p:sp>
        <p:nvSpPr>
          <p:cNvPr id="31" name="Text 29"/>
          <p:cNvSpPr/>
          <p:nvPr/>
        </p:nvSpPr>
        <p:spPr>
          <a:xfrm>
            <a:off x="530352" y="4114800"/>
            <a:ext cx="11100816" cy="621792"/>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"What's the difference between 'pathway' and 'process'? If you had to point to one of the four steps and say 'that's where the PROCESS happens' — which step would it be?"</a:t>
            </a:r>
            <a:endParaRPr lang="en-US" sz="1200" dirty="0"/>
          </a:p>
        </p:txBody>
      </p:sp>
      <p:sp>
        <p:nvSpPr>
          <p:cNvPr id="32" name="Shape 30"/>
          <p:cNvSpPr/>
          <p:nvPr/>
        </p:nvSpPr>
        <p:spPr>
          <a:xfrm>
            <a:off x="0" y="6629400"/>
            <a:ext cx="12192000" cy="228600"/>
          </a:xfrm>
          <a:prstGeom prst="rect">
            <a:avLst/>
          </a:prstGeom>
          <a:solidFill>
            <a:srgbClr val="162233"/>
          </a:solidFill>
          <a:ln/>
        </p:spPr>
      </p:sp>
      <p:sp>
        <p:nvSpPr>
          <p:cNvPr id="33" name="Text 3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12.02  ·  Model: From Senses to Brain</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Part 1 — What Makes a Strong Pathway Model?</a:t>
            </a:r>
            <a:endParaRPr lang="en-US" sz="1600" dirty="0"/>
          </a:p>
        </p:txBody>
      </p:sp>
      <p:sp>
        <p:nvSpPr>
          <p:cNvPr id="5" name="Shape 3"/>
          <p:cNvSpPr/>
          <p:nvPr/>
        </p:nvSpPr>
        <p:spPr>
          <a:xfrm>
            <a:off x="365760" y="749808"/>
            <a:ext cx="11430000" cy="777240"/>
          </a:xfrm>
          <a:prstGeom prst="roundRect">
            <a:avLst>
              <a:gd name="adj" fmla="val 9412"/>
            </a:avLst>
          </a:prstGeom>
          <a:solidFill>
            <a:srgbClr val="1E2F45"/>
          </a:solidFill>
          <a:ln w="12700">
            <a:solidFill>
              <a:srgbClr val="4CC9F0"/>
            </a:solidFill>
            <a:prstDash val="solid"/>
          </a:ln>
        </p:spPr>
      </p:sp>
      <p:sp>
        <p:nvSpPr>
          <p:cNvPr id="6" name="Text 4"/>
          <p:cNvSpPr/>
          <p:nvPr/>
        </p:nvSpPr>
        <p:spPr>
          <a:xfrm>
            <a:off x="548640" y="804672"/>
            <a:ext cx="11064240" cy="65836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 good pathway model shows all four steps IN ORDER with arrows that explain what happens at each step.</a:t>
            </a:r>
            <a:endParaRPr lang="en-US" sz="1300" dirty="0"/>
          </a:p>
        </p:txBody>
      </p:sp>
      <p:sp>
        <p:nvSpPr>
          <p:cNvPr id="7" name="Shape 5"/>
          <p:cNvSpPr/>
          <p:nvPr/>
        </p:nvSpPr>
        <p:spPr>
          <a:xfrm>
            <a:off x="365760" y="1664208"/>
            <a:ext cx="2697480" cy="3200400"/>
          </a:xfrm>
          <a:prstGeom prst="roundRect">
            <a:avLst>
              <a:gd name="adj" fmla="val 2712"/>
            </a:avLst>
          </a:prstGeom>
          <a:solidFill>
            <a:srgbClr val="1E2F45"/>
          </a:solidFill>
          <a:ln w="12700">
            <a:solidFill>
              <a:srgbClr val="FFB703"/>
            </a:solidFill>
            <a:prstDash val="solid"/>
          </a:ln>
        </p:spPr>
      </p:sp>
      <p:sp>
        <p:nvSpPr>
          <p:cNvPr id="8" name="Text 6"/>
          <p:cNvSpPr/>
          <p:nvPr/>
        </p:nvSpPr>
        <p:spPr>
          <a:xfrm>
            <a:off x="365760" y="1719072"/>
            <a:ext cx="2697480"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9" name="Text 7"/>
          <p:cNvSpPr/>
          <p:nvPr/>
        </p:nvSpPr>
        <p:spPr>
          <a:xfrm>
            <a:off x="457200" y="2231136"/>
            <a:ext cx="2514600" cy="594360"/>
          </a:xfrm>
          <a:prstGeom prst="rect">
            <a:avLst/>
          </a:prstGeom>
          <a:noFill/>
          <a:ln/>
        </p:spPr>
        <p:txBody>
          <a:bodyPr wrap="square" rtlCol="0" anchor="ctr"/>
          <a:lstStyle/>
          <a:p>
            <a:pPr indent="0" marL="0">
              <a:buNone/>
            </a:pPr>
            <a:r>
              <a:rPr lang="en-US" sz="1100" b="1" dirty="0">
                <a:solidFill>
                  <a:srgbClr val="FFB703"/>
                </a:solidFill>
                <a:latin typeface="Calibri" pitchFamily="34" charset="0"/>
                <a:ea typeface="Calibri" pitchFamily="34" charset="-122"/>
                <a:cs typeface="Calibri" pitchFamily="34" charset="-120"/>
              </a:rPr>
              <a:t>Arrow from stimulus into sense organ</a:t>
            </a:r>
            <a:endParaRPr lang="en-US" sz="1100" dirty="0"/>
          </a:p>
        </p:txBody>
      </p:sp>
      <p:sp>
        <p:nvSpPr>
          <p:cNvPr id="10" name="Text 8"/>
          <p:cNvSpPr/>
          <p:nvPr/>
        </p:nvSpPr>
        <p:spPr>
          <a:xfrm>
            <a:off x="457200" y="2852928"/>
            <a:ext cx="2514600" cy="18745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Shows what the animal NOTICED and which body part picked it up.</a:t>
            </a:r>
            <a:endParaRPr lang="en-US" sz="1100" dirty="0"/>
          </a:p>
        </p:txBody>
      </p:sp>
      <p:sp>
        <p:nvSpPr>
          <p:cNvPr id="11" name="Shape 9"/>
          <p:cNvSpPr/>
          <p:nvPr/>
        </p:nvSpPr>
        <p:spPr>
          <a:xfrm>
            <a:off x="3246120" y="1664208"/>
            <a:ext cx="2697480" cy="3200400"/>
          </a:xfrm>
          <a:prstGeom prst="roundRect">
            <a:avLst>
              <a:gd name="adj" fmla="val 2712"/>
            </a:avLst>
          </a:prstGeom>
          <a:solidFill>
            <a:srgbClr val="1E2F45"/>
          </a:solidFill>
          <a:ln w="12700">
            <a:solidFill>
              <a:srgbClr val="4CC9F0"/>
            </a:solidFill>
            <a:prstDash val="solid"/>
          </a:ln>
        </p:spPr>
      </p:sp>
      <p:sp>
        <p:nvSpPr>
          <p:cNvPr id="12" name="Text 10"/>
          <p:cNvSpPr/>
          <p:nvPr/>
        </p:nvSpPr>
        <p:spPr>
          <a:xfrm>
            <a:off x="3246120" y="1719072"/>
            <a:ext cx="2697480"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3" name="Text 11"/>
          <p:cNvSpPr/>
          <p:nvPr/>
        </p:nvSpPr>
        <p:spPr>
          <a:xfrm>
            <a:off x="3337560" y="2231136"/>
            <a:ext cx="2514600" cy="594360"/>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Arrow from sense organ to brain — labeled 'signal'</a:t>
            </a:r>
            <a:endParaRPr lang="en-US" sz="1100" dirty="0"/>
          </a:p>
        </p:txBody>
      </p:sp>
      <p:sp>
        <p:nvSpPr>
          <p:cNvPr id="14" name="Text 12"/>
          <p:cNvSpPr/>
          <p:nvPr/>
        </p:nvSpPr>
        <p:spPr>
          <a:xfrm>
            <a:off x="3337560" y="2852928"/>
            <a:ext cx="2514600" cy="18745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Shows that information travels INSIDE the body from the sense organ to the brain.</a:t>
            </a:r>
            <a:endParaRPr lang="en-US" sz="1100" dirty="0"/>
          </a:p>
        </p:txBody>
      </p:sp>
      <p:sp>
        <p:nvSpPr>
          <p:cNvPr id="15" name="Shape 13"/>
          <p:cNvSpPr/>
          <p:nvPr/>
        </p:nvSpPr>
        <p:spPr>
          <a:xfrm>
            <a:off x="6126480" y="1664208"/>
            <a:ext cx="2697480" cy="3200400"/>
          </a:xfrm>
          <a:prstGeom prst="roundRect">
            <a:avLst>
              <a:gd name="adj" fmla="val 2712"/>
            </a:avLst>
          </a:prstGeom>
          <a:solidFill>
            <a:srgbClr val="1E2F45"/>
          </a:solidFill>
          <a:ln w="12700">
            <a:solidFill>
              <a:srgbClr val="F4736A"/>
            </a:solidFill>
            <a:prstDash val="solid"/>
          </a:ln>
        </p:spPr>
      </p:sp>
      <p:sp>
        <p:nvSpPr>
          <p:cNvPr id="16" name="Text 14"/>
          <p:cNvSpPr/>
          <p:nvPr/>
        </p:nvSpPr>
        <p:spPr>
          <a:xfrm>
            <a:off x="6126480" y="1719072"/>
            <a:ext cx="2697480"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7" name="Text 15"/>
          <p:cNvSpPr/>
          <p:nvPr/>
        </p:nvSpPr>
        <p:spPr>
          <a:xfrm>
            <a:off x="6217920" y="2231136"/>
            <a:ext cx="2514600" cy="594360"/>
          </a:xfrm>
          <a:prstGeom prst="rect">
            <a:avLst/>
          </a:prstGeom>
          <a:noFill/>
          <a:ln/>
        </p:spPr>
        <p:txBody>
          <a:bodyPr wrap="square" rtlCol="0" anchor="ctr"/>
          <a:lstStyle/>
          <a:p>
            <a:pPr indent="0" marL="0">
              <a:buNone/>
            </a:pPr>
            <a:r>
              <a:rPr lang="en-US" sz="1100" b="1" dirty="0">
                <a:solidFill>
                  <a:srgbClr val="F4736A"/>
                </a:solidFill>
                <a:latin typeface="Calibri" pitchFamily="34" charset="0"/>
                <a:ea typeface="Calibri" pitchFamily="34" charset="-122"/>
                <a:cs typeface="Calibri" pitchFamily="34" charset="-120"/>
              </a:rPr>
              <a:t>Arrow from brain to body</a:t>
            </a:r>
            <a:endParaRPr lang="en-US" sz="1100" dirty="0"/>
          </a:p>
        </p:txBody>
      </p:sp>
      <p:sp>
        <p:nvSpPr>
          <p:cNvPr id="18" name="Text 16"/>
          <p:cNvSpPr/>
          <p:nvPr/>
        </p:nvSpPr>
        <p:spPr>
          <a:xfrm>
            <a:off x="6217920" y="2852928"/>
            <a:ext cx="2514600" cy="18745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Shows what the brain DECIDED to do — this is the 'process' step.</a:t>
            </a:r>
            <a:endParaRPr lang="en-US" sz="1100" dirty="0"/>
          </a:p>
        </p:txBody>
      </p:sp>
      <p:sp>
        <p:nvSpPr>
          <p:cNvPr id="19" name="Shape 17"/>
          <p:cNvSpPr/>
          <p:nvPr/>
        </p:nvSpPr>
        <p:spPr>
          <a:xfrm>
            <a:off x="9006840" y="1664208"/>
            <a:ext cx="2697480" cy="3200400"/>
          </a:xfrm>
          <a:prstGeom prst="roundRect">
            <a:avLst>
              <a:gd name="adj" fmla="val 2712"/>
            </a:avLst>
          </a:prstGeom>
          <a:solidFill>
            <a:srgbClr val="1E2F45"/>
          </a:solidFill>
          <a:ln w="12700">
            <a:solidFill>
              <a:srgbClr val="2DC653"/>
            </a:solidFill>
            <a:prstDash val="solid"/>
          </a:ln>
        </p:spPr>
      </p:sp>
      <p:sp>
        <p:nvSpPr>
          <p:cNvPr id="20" name="Text 18"/>
          <p:cNvSpPr/>
          <p:nvPr/>
        </p:nvSpPr>
        <p:spPr>
          <a:xfrm>
            <a:off x="9006840" y="1719072"/>
            <a:ext cx="2697480"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1" name="Text 19"/>
          <p:cNvSpPr/>
          <p:nvPr/>
        </p:nvSpPr>
        <p:spPr>
          <a:xfrm>
            <a:off x="9098280" y="2231136"/>
            <a:ext cx="2514600" cy="594360"/>
          </a:xfrm>
          <a:prstGeom prst="rect">
            <a:avLst/>
          </a:prstGeom>
          <a:noFill/>
          <a:ln/>
        </p:spPr>
        <p:txBody>
          <a:bodyPr wrap="square" rtlCol="0" anchor="ctr"/>
          <a:lstStyle/>
          <a:p>
            <a:pPr indent="0" marL="0">
              <a:buNone/>
            </a:pPr>
            <a:r>
              <a:rPr lang="en-US" sz="1100" b="1" dirty="0">
                <a:solidFill>
                  <a:srgbClr val="2DC653"/>
                </a:solidFill>
                <a:latin typeface="Calibri" pitchFamily="34" charset="0"/>
                <a:ea typeface="Calibri" pitchFamily="34" charset="-122"/>
                <a:cs typeface="Calibri" pitchFamily="34" charset="-120"/>
              </a:rPr>
              <a:t>Short caption tying response to survival need</a:t>
            </a:r>
            <a:endParaRPr lang="en-US" sz="1100" dirty="0"/>
          </a:p>
        </p:txBody>
      </p:sp>
      <p:sp>
        <p:nvSpPr>
          <p:cNvPr id="22" name="Text 20"/>
          <p:cNvSpPr/>
          <p:nvPr/>
        </p:nvSpPr>
        <p:spPr>
          <a:xfrm>
            <a:off x="9098280" y="2852928"/>
            <a:ext cx="2514600" cy="18745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"This response helps the animal meet its survival need for [food/safety/shelter]."</a:t>
            </a:r>
            <a:endParaRPr lang="en-US" sz="1100" dirty="0"/>
          </a:p>
        </p:txBody>
      </p:sp>
      <p:sp>
        <p:nvSpPr>
          <p:cNvPr id="23" name="Shape 21"/>
          <p:cNvSpPr/>
          <p:nvPr/>
        </p:nvSpPr>
        <p:spPr>
          <a:xfrm>
            <a:off x="365760" y="4983480"/>
            <a:ext cx="11430000" cy="749808"/>
          </a:xfrm>
          <a:prstGeom prst="roundRect">
            <a:avLst>
              <a:gd name="adj" fmla="val 9756"/>
            </a:avLst>
          </a:prstGeom>
          <a:solidFill>
            <a:srgbClr val="162233"/>
          </a:solidFill>
          <a:ln w="12700">
            <a:solidFill>
              <a:srgbClr val="FFB703"/>
            </a:solidFill>
            <a:prstDash val="solid"/>
          </a:ln>
        </p:spPr>
      </p:sp>
      <p:sp>
        <p:nvSpPr>
          <p:cNvPr id="24" name="Text 22"/>
          <p:cNvSpPr/>
          <p:nvPr/>
        </p:nvSpPr>
        <p:spPr>
          <a:xfrm>
            <a:off x="548640" y="5038344"/>
            <a:ext cx="11064240" cy="640080"/>
          </a:xfrm>
          <a:prstGeom prst="rect">
            <a:avLst/>
          </a:prstGeom>
          <a:noFill/>
          <a:ln/>
        </p:spPr>
        <p:txBody>
          <a:bodyPr wrap="square" rtlCol="0" anchor="ctr"/>
          <a:lstStyle/>
          <a:p>
            <a:pPr indent="0" marL="0">
              <a:buNone/>
            </a:pPr>
            <a:r>
              <a:rPr lang="en-US" sz="1200" i="1" dirty="0">
                <a:solidFill>
                  <a:srgbClr val="FFB703"/>
                </a:solidFill>
                <a:latin typeface="Calibri" pitchFamily="34" charset="0"/>
                <a:ea typeface="Calibri" pitchFamily="34" charset="-122"/>
                <a:cs typeface="Calibri" pitchFamily="34" charset="-120"/>
              </a:rPr>
              <a:t>🔑  Stop &amp; Think: "If a model only labels the four parts but has no arrows, is it still a PATHWAY model? Why or why not? What do the arrows add?"</a:t>
            </a:r>
            <a:endParaRPr lang="en-US" sz="1200" dirty="0"/>
          </a:p>
        </p:txBody>
      </p:sp>
      <p:sp>
        <p:nvSpPr>
          <p:cNvPr id="25" name="Shape 23"/>
          <p:cNvSpPr/>
          <p:nvPr/>
        </p:nvSpPr>
        <p:spPr>
          <a:xfrm>
            <a:off x="0" y="6629400"/>
            <a:ext cx="12192000" cy="228600"/>
          </a:xfrm>
          <a:prstGeom prst="rect">
            <a:avLst/>
          </a:prstGeom>
          <a:solidFill>
            <a:srgbClr val="162233"/>
          </a:solidFill>
          <a:ln/>
        </p:spPr>
      </p:sp>
      <p:sp>
        <p:nvSpPr>
          <p:cNvPr id="26" name="Text 2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12.02  ·  Model: From Senses to Brain</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Part 2 — Two Animals, Two Pathways</a:t>
            </a:r>
            <a:endParaRPr lang="en-US" sz="1600" dirty="0"/>
          </a:p>
        </p:txBody>
      </p:sp>
      <p:sp>
        <p:nvSpPr>
          <p:cNvPr id="5" name="Text 3"/>
          <p:cNvSpPr/>
          <p:nvPr/>
        </p:nvSpPr>
        <p:spPr>
          <a:xfrm>
            <a:off x="365760" y="749808"/>
            <a:ext cx="11430000" cy="347472"/>
          </a:xfrm>
          <a:prstGeom prst="rect">
            <a:avLst/>
          </a:prstGeom>
          <a:noFill/>
          <a:ln/>
        </p:spPr>
        <p:txBody>
          <a:bodyPr wrap="square" rtlCol="0" anchor="ctr"/>
          <a:lstStyle/>
          <a:p>
            <a:pPr indent="0" marL="0">
              <a:buNone/>
            </a:pPr>
            <a:r>
              <a:rPr lang="en-US" sz="1300" dirty="0">
                <a:solidFill>
                  <a:srgbClr val="B0C4D8"/>
                </a:solidFill>
                <a:latin typeface="Calibri" pitchFamily="34" charset="0"/>
                <a:ea typeface="Calibri" pitchFamily="34" charset="-122"/>
                <a:cs typeface="Calibri" pitchFamily="34" charset="-120"/>
              </a:rPr>
              <a:t>Same four steps. Totally different ways of doing it.</a:t>
            </a:r>
            <a:endParaRPr lang="en-US" sz="1300" dirty="0"/>
          </a:p>
        </p:txBody>
      </p:sp>
      <p:sp>
        <p:nvSpPr>
          <p:cNvPr id="6" name="Shape 4"/>
          <p:cNvSpPr/>
          <p:nvPr/>
        </p:nvSpPr>
        <p:spPr>
          <a:xfrm>
            <a:off x="365760" y="1170432"/>
            <a:ext cx="5394960" cy="4572000"/>
          </a:xfrm>
          <a:prstGeom prst="roundRect">
            <a:avLst>
              <a:gd name="adj" fmla="val 1600"/>
            </a:avLst>
          </a:prstGeom>
          <a:solidFill>
            <a:srgbClr val="1E2F45"/>
          </a:solidFill>
          <a:ln w="12700">
            <a:solidFill>
              <a:srgbClr val="4CC9F0"/>
            </a:solidFill>
            <a:prstDash val="solid"/>
          </a:ln>
        </p:spPr>
      </p:sp>
      <p:sp>
        <p:nvSpPr>
          <p:cNvPr id="7" name="Text 5"/>
          <p:cNvSpPr/>
          <p:nvPr/>
        </p:nvSpPr>
        <p:spPr>
          <a:xfrm>
            <a:off x="502920" y="1225296"/>
            <a:ext cx="5120640" cy="347472"/>
          </a:xfrm>
          <a:prstGeom prst="rect">
            <a:avLst/>
          </a:prstGeom>
          <a:noFill/>
          <a:ln/>
        </p:spPr>
        <p:txBody>
          <a:bodyPr wrap="square" rtlCol="0" anchor="ctr"/>
          <a:lstStyle/>
          <a:p>
            <a:pPr indent="0" marL="0">
              <a:buNone/>
            </a:pPr>
            <a:r>
              <a:rPr lang="en-US" sz="1400" b="1" dirty="0">
                <a:solidFill>
                  <a:srgbClr val="4CC9F0"/>
                </a:solidFill>
                <a:latin typeface="Calibri" pitchFamily="34" charset="0"/>
                <a:ea typeface="Calibri" pitchFamily="34" charset="-122"/>
                <a:cs typeface="Calibri" pitchFamily="34" charset="-120"/>
              </a:rPr>
              <a:t>🦅  Bald Eagle Hunting</a:t>
            </a:r>
            <a:endParaRPr lang="en-US" sz="1400" dirty="0"/>
          </a:p>
        </p:txBody>
      </p:sp>
      <p:sp>
        <p:nvSpPr>
          <p:cNvPr id="8" name="Text 6"/>
          <p:cNvSpPr/>
          <p:nvPr/>
        </p:nvSpPr>
        <p:spPr>
          <a:xfrm>
            <a:off x="502920" y="1645920"/>
            <a:ext cx="5120640" cy="6858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STIMULUS:  Flash of silver fish in blue water</a:t>
            </a:r>
            <a:endParaRPr lang="en-US" sz="1150" dirty="0"/>
          </a:p>
        </p:txBody>
      </p:sp>
      <p:sp>
        <p:nvSpPr>
          <p:cNvPr id="9" name="Text 7"/>
          <p:cNvSpPr/>
          <p:nvPr/>
        </p:nvSpPr>
        <p:spPr>
          <a:xfrm>
            <a:off x="502920" y="2240280"/>
            <a:ext cx="365760" cy="256032"/>
          </a:xfrm>
          <a:prstGeom prst="rect">
            <a:avLst/>
          </a:prstGeom>
          <a:noFill/>
          <a:ln/>
        </p:spPr>
        <p:txBody>
          <a:bodyPr wrap="square" rtlCol="0" anchor="ctr"/>
          <a:lstStyle/>
          <a:p>
            <a:pPr indent="0" marL="0">
              <a:buNone/>
            </a:pPr>
            <a:r>
              <a:rPr lang="en-US" sz="1400" dirty="0">
                <a:solidFill>
                  <a:srgbClr val="FFB703"/>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502920" y="2423160"/>
            <a:ext cx="5120640" cy="6858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SENSE ORGAN:  Eye picks it up (sharp vision — sees from 200 ft)</a:t>
            </a:r>
            <a:endParaRPr lang="en-US" sz="1150" dirty="0"/>
          </a:p>
        </p:txBody>
      </p:sp>
      <p:sp>
        <p:nvSpPr>
          <p:cNvPr id="11" name="Text 9"/>
          <p:cNvSpPr/>
          <p:nvPr/>
        </p:nvSpPr>
        <p:spPr>
          <a:xfrm>
            <a:off x="502920" y="3017520"/>
            <a:ext cx="365760" cy="256032"/>
          </a:xfrm>
          <a:prstGeom prst="rect">
            <a:avLst/>
          </a:prstGeom>
          <a:noFill/>
          <a:ln/>
        </p:spPr>
        <p:txBody>
          <a:bodyPr wrap="square" rtlCol="0" anchor="ctr"/>
          <a:lstStyle/>
          <a:p>
            <a:pPr indent="0" marL="0">
              <a:buNone/>
            </a:pPr>
            <a:r>
              <a:rPr lang="en-US" sz="1400" dirty="0">
                <a:solidFill>
                  <a:srgbClr val="4CC9F0"/>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502920" y="3200400"/>
            <a:ext cx="5120640" cy="6858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PROCESS:  Brain decides: 'Food! Dive!'</a:t>
            </a:r>
            <a:endParaRPr lang="en-US" sz="1150" dirty="0"/>
          </a:p>
        </p:txBody>
      </p:sp>
      <p:sp>
        <p:nvSpPr>
          <p:cNvPr id="13" name="Text 11"/>
          <p:cNvSpPr/>
          <p:nvPr/>
        </p:nvSpPr>
        <p:spPr>
          <a:xfrm>
            <a:off x="502920" y="3794760"/>
            <a:ext cx="365760" cy="256032"/>
          </a:xfrm>
          <a:prstGeom prst="rect">
            <a:avLst/>
          </a:prstGeom>
          <a:noFill/>
          <a:ln/>
        </p:spPr>
        <p:txBody>
          <a:bodyPr wrap="square" rtlCol="0" anchor="ctr"/>
          <a:lstStyle/>
          <a:p>
            <a:pPr indent="0" marL="0">
              <a:buNone/>
            </a:pPr>
            <a:r>
              <a:rPr lang="en-US" sz="1400" dirty="0">
                <a:solidFill>
                  <a:srgbClr val="F4736A"/>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502920" y="3977640"/>
            <a:ext cx="5120640" cy="6858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RESPONSE:  Eagle dives toward the water</a:t>
            </a:r>
            <a:endParaRPr lang="en-US" sz="1150" dirty="0"/>
          </a:p>
        </p:txBody>
      </p:sp>
      <p:sp>
        <p:nvSpPr>
          <p:cNvPr id="15" name="Shape 13"/>
          <p:cNvSpPr/>
          <p:nvPr/>
        </p:nvSpPr>
        <p:spPr>
          <a:xfrm>
            <a:off x="502920" y="4572000"/>
            <a:ext cx="5120640" cy="1005840"/>
          </a:xfrm>
          <a:prstGeom prst="roundRect">
            <a:avLst>
              <a:gd name="adj" fmla="val 7273"/>
            </a:avLst>
          </a:prstGeom>
          <a:solidFill>
            <a:srgbClr val="0A1520"/>
          </a:solidFill>
          <a:ln w="19050">
            <a:solidFill>
              <a:srgbClr val="4CC9F0"/>
            </a:solidFill>
            <a:prstDash val="dash"/>
          </a:ln>
        </p:spPr>
      </p:sp>
      <p:sp>
        <p:nvSpPr>
          <p:cNvPr id="16" name="Text 14"/>
          <p:cNvSpPr/>
          <p:nvPr/>
        </p:nvSpPr>
        <p:spPr>
          <a:xfrm>
            <a:off x="594360" y="4681728"/>
            <a:ext cx="493776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7" name="Text 15"/>
          <p:cNvSpPr/>
          <p:nvPr/>
        </p:nvSpPr>
        <p:spPr>
          <a:xfrm>
            <a:off x="594360" y="5120640"/>
            <a:ext cx="493776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8" name="Text 16"/>
          <p:cNvSpPr/>
          <p:nvPr/>
        </p:nvSpPr>
        <p:spPr>
          <a:xfrm>
            <a:off x="612648" y="5413248"/>
            <a:ext cx="4901184" cy="-4572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"bald eagle diving fish Florida water hunting sense pathway"</a:t>
            </a:r>
            <a:endParaRPr lang="en-US" sz="950" dirty="0"/>
          </a:p>
        </p:txBody>
      </p:sp>
      <p:sp>
        <p:nvSpPr>
          <p:cNvPr id="19" name="Shape 17"/>
          <p:cNvSpPr/>
          <p:nvPr/>
        </p:nvSpPr>
        <p:spPr>
          <a:xfrm>
            <a:off x="6035040" y="1170432"/>
            <a:ext cx="5394960" cy="4572000"/>
          </a:xfrm>
          <a:prstGeom prst="roundRect">
            <a:avLst>
              <a:gd name="adj" fmla="val 1600"/>
            </a:avLst>
          </a:prstGeom>
          <a:solidFill>
            <a:srgbClr val="1E2F45"/>
          </a:solidFill>
          <a:ln w="12700">
            <a:solidFill>
              <a:srgbClr val="FFB703"/>
            </a:solidFill>
            <a:prstDash val="solid"/>
          </a:ln>
        </p:spPr>
      </p:sp>
      <p:sp>
        <p:nvSpPr>
          <p:cNvPr id="20" name="Text 18"/>
          <p:cNvSpPr/>
          <p:nvPr/>
        </p:nvSpPr>
        <p:spPr>
          <a:xfrm>
            <a:off x="6172200" y="1225296"/>
            <a:ext cx="5120640" cy="347472"/>
          </a:xfrm>
          <a:prstGeom prst="rect">
            <a:avLst/>
          </a:prstGeom>
          <a:noFill/>
          <a:ln/>
        </p:spPr>
        <p:txBody>
          <a:bodyPr wrap="square" rtlCol="0" anchor="ctr"/>
          <a:lstStyle/>
          <a:p>
            <a:pPr indent="0" marL="0">
              <a:buNone/>
            </a:pPr>
            <a:r>
              <a:rPr lang="en-US" sz="1400" b="1" dirty="0">
                <a:solidFill>
                  <a:srgbClr val="FFB703"/>
                </a:solidFill>
                <a:latin typeface="Calibri" pitchFamily="34" charset="0"/>
                <a:ea typeface="Calibri" pitchFamily="34" charset="-122"/>
                <a:cs typeface="Calibri" pitchFamily="34" charset="-120"/>
              </a:rPr>
              <a:t>🦇  Florida Bat Hunting at Night</a:t>
            </a:r>
            <a:endParaRPr lang="en-US" sz="1400" dirty="0"/>
          </a:p>
        </p:txBody>
      </p:sp>
      <p:sp>
        <p:nvSpPr>
          <p:cNvPr id="21" name="Text 19"/>
          <p:cNvSpPr/>
          <p:nvPr/>
        </p:nvSpPr>
        <p:spPr>
          <a:xfrm>
            <a:off x="6172200" y="1645920"/>
            <a:ext cx="5120640" cy="6858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STIMULUS:  Echo bounces back from a moth (bat's own click returns)</a:t>
            </a:r>
            <a:endParaRPr lang="en-US" sz="1150" dirty="0"/>
          </a:p>
        </p:txBody>
      </p:sp>
      <p:sp>
        <p:nvSpPr>
          <p:cNvPr id="22" name="Text 20"/>
          <p:cNvSpPr/>
          <p:nvPr/>
        </p:nvSpPr>
        <p:spPr>
          <a:xfrm>
            <a:off x="6172200" y="2240280"/>
            <a:ext cx="365760" cy="256032"/>
          </a:xfrm>
          <a:prstGeom prst="rect">
            <a:avLst/>
          </a:prstGeom>
          <a:noFill/>
          <a:ln/>
        </p:spPr>
        <p:txBody>
          <a:bodyPr wrap="square" rtlCol="0" anchor="ctr"/>
          <a:lstStyle/>
          <a:p>
            <a:pPr indent="0" marL="0">
              <a:buNone/>
            </a:pPr>
            <a:r>
              <a:rPr lang="en-US" sz="1400" dirty="0">
                <a:solidFill>
                  <a:srgbClr val="FFB703"/>
                </a:solidFill>
                <a:latin typeface="Calibri" pitchFamily="34" charset="0"/>
                <a:ea typeface="Calibri" pitchFamily="34" charset="-122"/>
                <a:cs typeface="Calibri" pitchFamily="34" charset="-120"/>
              </a:rPr>
              <a:t>↓</a:t>
            </a:r>
            <a:endParaRPr lang="en-US" sz="1400" dirty="0"/>
          </a:p>
        </p:txBody>
      </p:sp>
      <p:sp>
        <p:nvSpPr>
          <p:cNvPr id="23" name="Text 21"/>
          <p:cNvSpPr/>
          <p:nvPr/>
        </p:nvSpPr>
        <p:spPr>
          <a:xfrm>
            <a:off x="6172200" y="2423160"/>
            <a:ext cx="5120640" cy="6858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SENSE ORGAN:  Large ears pick up the echo (echolocation)</a:t>
            </a:r>
            <a:endParaRPr lang="en-US" sz="1150" dirty="0"/>
          </a:p>
        </p:txBody>
      </p:sp>
      <p:sp>
        <p:nvSpPr>
          <p:cNvPr id="24" name="Text 22"/>
          <p:cNvSpPr/>
          <p:nvPr/>
        </p:nvSpPr>
        <p:spPr>
          <a:xfrm>
            <a:off x="6172200" y="3017520"/>
            <a:ext cx="365760" cy="256032"/>
          </a:xfrm>
          <a:prstGeom prst="rect">
            <a:avLst/>
          </a:prstGeom>
          <a:noFill/>
          <a:ln/>
        </p:spPr>
        <p:txBody>
          <a:bodyPr wrap="square" rtlCol="0" anchor="ctr"/>
          <a:lstStyle/>
          <a:p>
            <a:pPr indent="0" marL="0">
              <a:buNone/>
            </a:pPr>
            <a:r>
              <a:rPr lang="en-US" sz="1400" dirty="0">
                <a:solidFill>
                  <a:srgbClr val="4CC9F0"/>
                </a:solidFill>
                <a:latin typeface="Calibri" pitchFamily="34" charset="0"/>
                <a:ea typeface="Calibri" pitchFamily="34" charset="-122"/>
                <a:cs typeface="Calibri" pitchFamily="34" charset="-120"/>
              </a:rPr>
              <a:t>↓</a:t>
            </a:r>
            <a:endParaRPr lang="en-US" sz="1400" dirty="0"/>
          </a:p>
        </p:txBody>
      </p:sp>
      <p:sp>
        <p:nvSpPr>
          <p:cNvPr id="25" name="Text 23"/>
          <p:cNvSpPr/>
          <p:nvPr/>
        </p:nvSpPr>
        <p:spPr>
          <a:xfrm>
            <a:off x="6172200" y="3200400"/>
            <a:ext cx="5120640" cy="6858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PROCESS:  Brain calculates where the moth is from the echo's timing</a:t>
            </a:r>
            <a:endParaRPr lang="en-US" sz="1150" dirty="0"/>
          </a:p>
        </p:txBody>
      </p:sp>
      <p:sp>
        <p:nvSpPr>
          <p:cNvPr id="26" name="Text 24"/>
          <p:cNvSpPr/>
          <p:nvPr/>
        </p:nvSpPr>
        <p:spPr>
          <a:xfrm>
            <a:off x="6172200" y="3794760"/>
            <a:ext cx="365760" cy="256032"/>
          </a:xfrm>
          <a:prstGeom prst="rect">
            <a:avLst/>
          </a:prstGeom>
          <a:noFill/>
          <a:ln/>
        </p:spPr>
        <p:txBody>
          <a:bodyPr wrap="square" rtlCol="0" anchor="ctr"/>
          <a:lstStyle/>
          <a:p>
            <a:pPr indent="0" marL="0">
              <a:buNone/>
            </a:pPr>
            <a:r>
              <a:rPr lang="en-US" sz="1400" dirty="0">
                <a:solidFill>
                  <a:srgbClr val="F4736A"/>
                </a:solidFill>
                <a:latin typeface="Calibri" pitchFamily="34" charset="0"/>
                <a:ea typeface="Calibri" pitchFamily="34" charset="-122"/>
                <a:cs typeface="Calibri" pitchFamily="34" charset="-120"/>
              </a:rPr>
              <a:t>↓</a:t>
            </a:r>
            <a:endParaRPr lang="en-US" sz="1400" dirty="0"/>
          </a:p>
        </p:txBody>
      </p:sp>
      <p:sp>
        <p:nvSpPr>
          <p:cNvPr id="27" name="Text 25"/>
          <p:cNvSpPr/>
          <p:nvPr/>
        </p:nvSpPr>
        <p:spPr>
          <a:xfrm>
            <a:off x="6172200" y="3977640"/>
            <a:ext cx="5120640" cy="6858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RESPONSE:  Bat swoops and grabs the moth</a:t>
            </a:r>
            <a:endParaRPr lang="en-US" sz="1150" dirty="0"/>
          </a:p>
        </p:txBody>
      </p:sp>
      <p:sp>
        <p:nvSpPr>
          <p:cNvPr id="28" name="Shape 26"/>
          <p:cNvSpPr/>
          <p:nvPr/>
        </p:nvSpPr>
        <p:spPr>
          <a:xfrm>
            <a:off x="6172200" y="4572000"/>
            <a:ext cx="5120640" cy="1005840"/>
          </a:xfrm>
          <a:prstGeom prst="roundRect">
            <a:avLst>
              <a:gd name="adj" fmla="val 7273"/>
            </a:avLst>
          </a:prstGeom>
          <a:solidFill>
            <a:srgbClr val="0A1520"/>
          </a:solidFill>
          <a:ln w="19050">
            <a:solidFill>
              <a:srgbClr val="4CC9F0"/>
            </a:solidFill>
            <a:prstDash val="dash"/>
          </a:ln>
        </p:spPr>
      </p:sp>
      <p:sp>
        <p:nvSpPr>
          <p:cNvPr id="29" name="Text 27"/>
          <p:cNvSpPr/>
          <p:nvPr/>
        </p:nvSpPr>
        <p:spPr>
          <a:xfrm>
            <a:off x="6263640" y="4681728"/>
            <a:ext cx="493776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0" name="Text 28"/>
          <p:cNvSpPr/>
          <p:nvPr/>
        </p:nvSpPr>
        <p:spPr>
          <a:xfrm>
            <a:off x="6263640" y="5120640"/>
            <a:ext cx="493776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31" name="Text 29"/>
          <p:cNvSpPr/>
          <p:nvPr/>
        </p:nvSpPr>
        <p:spPr>
          <a:xfrm>
            <a:off x="6281928" y="5413248"/>
            <a:ext cx="4901184" cy="-4572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"Florida bat echolocation moth hunting night sense pathway"</a:t>
            </a:r>
            <a:endParaRPr lang="en-US" sz="950" dirty="0"/>
          </a:p>
        </p:txBody>
      </p:sp>
      <p:sp>
        <p:nvSpPr>
          <p:cNvPr id="32" name="Shape 30"/>
          <p:cNvSpPr/>
          <p:nvPr/>
        </p:nvSpPr>
        <p:spPr>
          <a:xfrm>
            <a:off x="0" y="6629400"/>
            <a:ext cx="12192000" cy="228600"/>
          </a:xfrm>
          <a:prstGeom prst="rect">
            <a:avLst/>
          </a:prstGeom>
          <a:solidFill>
            <a:srgbClr val="162233"/>
          </a:solidFill>
          <a:ln/>
        </p:spPr>
      </p:sp>
      <p:sp>
        <p:nvSpPr>
          <p:cNvPr id="33" name="Text 3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12.02  ·  Model: From Senses to Brain</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Prediction: Compare the Two Pathways</a:t>
            </a:r>
            <a:endParaRPr lang="en-US" sz="1600" dirty="0"/>
          </a:p>
        </p:txBody>
      </p:sp>
      <p:sp>
        <p:nvSpPr>
          <p:cNvPr id="5" name="Shape 3"/>
          <p:cNvSpPr/>
          <p:nvPr/>
        </p:nvSpPr>
        <p:spPr>
          <a:xfrm>
            <a:off x="365760" y="749808"/>
            <a:ext cx="11430000" cy="685800"/>
          </a:xfrm>
          <a:prstGeom prst="roundRect">
            <a:avLst>
              <a:gd name="adj" fmla="val 10667"/>
            </a:avLst>
          </a:prstGeom>
          <a:solidFill>
            <a:srgbClr val="162233"/>
          </a:solidFill>
          <a:ln w="12700">
            <a:solidFill>
              <a:srgbClr val="FFB703"/>
            </a:solidFill>
            <a:prstDash val="solid"/>
          </a:ln>
        </p:spPr>
      </p:sp>
      <p:sp>
        <p:nvSpPr>
          <p:cNvPr id="6" name="Text 4"/>
          <p:cNvSpPr/>
          <p:nvPr/>
        </p:nvSpPr>
        <p:spPr>
          <a:xfrm>
            <a:off x="548640" y="804672"/>
            <a:ext cx="11064240" cy="548640"/>
          </a:xfrm>
          <a:prstGeom prst="rect">
            <a:avLst/>
          </a:prstGeom>
          <a:noFill/>
          <a:ln/>
        </p:spPr>
        <p:txBody>
          <a:bodyPr wrap="square" rtlCol="0" anchor="ctr"/>
          <a:lstStyle/>
          <a:p>
            <a:pPr indent="0" marL="0">
              <a:buNone/>
            </a:pPr>
            <a:r>
              <a:rPr lang="en-US" sz="1300" i="1" dirty="0">
                <a:solidFill>
                  <a:srgbClr val="FFB703"/>
                </a:solidFill>
                <a:latin typeface="Calibri" pitchFamily="34" charset="0"/>
                <a:ea typeface="Calibri" pitchFamily="34" charset="-122"/>
                <a:cs typeface="Calibri" pitchFamily="34" charset="-120"/>
              </a:rPr>
              <a:t>Before the diagram — predict: Which step looks MOST different? Which looks MOST alike? Write your answer in your notebook.</a:t>
            </a:r>
            <a:endParaRPr lang="en-US" sz="1300" dirty="0"/>
          </a:p>
        </p:txBody>
      </p:sp>
      <p:sp>
        <p:nvSpPr>
          <p:cNvPr id="7" name="Shape 5"/>
          <p:cNvSpPr/>
          <p:nvPr/>
        </p:nvSpPr>
        <p:spPr>
          <a:xfrm>
            <a:off x="365760" y="1572768"/>
            <a:ext cx="11430000" cy="4160520"/>
          </a:xfrm>
          <a:prstGeom prst="roundRect">
            <a:avLst>
              <a:gd name="adj" fmla="val 1758"/>
            </a:avLst>
          </a:prstGeom>
          <a:solidFill>
            <a:srgbClr val="0A1520"/>
          </a:solidFill>
          <a:ln w="19050">
            <a:solidFill>
              <a:srgbClr val="4CC9F0"/>
            </a:solidFill>
            <a:prstDash val="dash"/>
          </a:ln>
        </p:spPr>
      </p:sp>
      <p:sp>
        <p:nvSpPr>
          <p:cNvPr id="8" name="Text 6"/>
          <p:cNvSpPr/>
          <p:nvPr/>
        </p:nvSpPr>
        <p:spPr>
          <a:xfrm>
            <a:off x="457200" y="1682496"/>
            <a:ext cx="112471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457200" y="2121408"/>
            <a:ext cx="112471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475488" y="2414016"/>
            <a:ext cx="11210544" cy="310896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"bald eagle vs Florida bat pathway comparison diagram four steps side by side stimulus sense organ brain response"</a:t>
            </a:r>
            <a:endParaRPr lang="en-US" sz="950" dirty="0"/>
          </a:p>
        </p:txBody>
      </p:sp>
      <p:sp>
        <p:nvSpPr>
          <p:cNvPr id="11" name="Text 9"/>
          <p:cNvSpPr/>
          <p:nvPr/>
        </p:nvSpPr>
        <p:spPr>
          <a:xfrm>
            <a:off x="365760" y="5769864"/>
            <a:ext cx="114300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Two pathway models — same four steps, two very different animals. Compare row by row.</a:t>
            </a:r>
            <a:endParaRPr lang="en-US" sz="900" dirty="0"/>
          </a:p>
        </p:txBody>
      </p:sp>
      <p:sp>
        <p:nvSpPr>
          <p:cNvPr id="12" name="Shape 10"/>
          <p:cNvSpPr/>
          <p:nvPr/>
        </p:nvSpPr>
        <p:spPr>
          <a:xfrm>
            <a:off x="365760" y="5852160"/>
            <a:ext cx="11430000" cy="713232"/>
          </a:xfrm>
          <a:prstGeom prst="roundRect">
            <a:avLst>
              <a:gd name="adj" fmla="val 10256"/>
            </a:avLst>
          </a:prstGeom>
          <a:solidFill>
            <a:srgbClr val="1A3A1A"/>
          </a:solidFill>
          <a:ln w="12700">
            <a:solidFill>
              <a:srgbClr val="2DC653"/>
            </a:solidFill>
            <a:prstDash val="solid"/>
          </a:ln>
        </p:spPr>
      </p:sp>
      <p:sp>
        <p:nvSpPr>
          <p:cNvPr id="13" name="Text 11"/>
          <p:cNvSpPr/>
          <p:nvPr/>
        </p:nvSpPr>
        <p:spPr>
          <a:xfrm>
            <a:off x="548640" y="5907024"/>
            <a:ext cx="11064240" cy="594360"/>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Key Concept: A strong pathway model uses arrows to show how a signal moves — and a caption that ties the response to a real survival need.</a:t>
            </a:r>
            <a:endParaRPr lang="en-US" sz="12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12.02  ·  Model: From Senses to Brain</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Four More Florida Pathway Models</a:t>
            </a:r>
            <a:endParaRPr lang="en-US" sz="1600" dirty="0"/>
          </a:p>
        </p:txBody>
      </p:sp>
      <p:sp>
        <p:nvSpPr>
          <p:cNvPr id="5" name="Shape 3"/>
          <p:cNvSpPr/>
          <p:nvPr/>
        </p:nvSpPr>
        <p:spPr>
          <a:xfrm>
            <a:off x="365760" y="749808"/>
            <a:ext cx="5577840" cy="2468880"/>
          </a:xfrm>
          <a:prstGeom prst="roundRect">
            <a:avLst>
              <a:gd name="adj" fmla="val 2963"/>
            </a:avLst>
          </a:prstGeom>
          <a:solidFill>
            <a:srgbClr val="1E2F45"/>
          </a:solidFill>
          <a:ln w="12700">
            <a:solidFill>
              <a:srgbClr val="FFB703"/>
            </a:solidFill>
            <a:prstDash val="solid"/>
          </a:ln>
        </p:spPr>
      </p:sp>
      <p:sp>
        <p:nvSpPr>
          <p:cNvPr id="6" name="Shape 4"/>
          <p:cNvSpPr/>
          <p:nvPr/>
        </p:nvSpPr>
        <p:spPr>
          <a:xfrm>
            <a:off x="502920" y="841248"/>
            <a:ext cx="1554480" cy="256032"/>
          </a:xfrm>
          <a:prstGeom prst="roundRect">
            <a:avLst>
              <a:gd name="adj" fmla="val 50000"/>
            </a:avLst>
          </a:prstGeom>
          <a:solidFill>
            <a:srgbClr val="FFB703"/>
          </a:solidFill>
          <a:ln w="12700">
            <a:solidFill>
              <a:srgbClr val="FFB703"/>
            </a:solidFill>
            <a:prstDash val="solid"/>
          </a:ln>
        </p:spPr>
      </p:sp>
      <p:sp>
        <p:nvSpPr>
          <p:cNvPr id="7" name="Text 5"/>
          <p:cNvSpPr/>
          <p:nvPr/>
        </p:nvSpPr>
        <p:spPr>
          <a:xfrm>
            <a:off x="502920" y="84124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Florida Bat</a:t>
            </a:r>
            <a:endParaRPr lang="en-US" sz="900" dirty="0"/>
          </a:p>
        </p:txBody>
      </p:sp>
      <p:sp>
        <p:nvSpPr>
          <p:cNvPr id="8" name="Text 6"/>
          <p:cNvSpPr/>
          <p:nvPr/>
        </p:nvSpPr>
        <p:spPr>
          <a:xfrm>
            <a:off x="548640" y="1188720"/>
            <a:ext cx="521208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Stimulus: Echo from a moth (echolocation)</a:t>
            </a:r>
            <a:endParaRPr lang="en-US" sz="1150" dirty="0"/>
          </a:p>
        </p:txBody>
      </p:sp>
      <p:sp>
        <p:nvSpPr>
          <p:cNvPr id="9" name="Text 7"/>
          <p:cNvSpPr/>
          <p:nvPr/>
        </p:nvSpPr>
        <p:spPr>
          <a:xfrm>
            <a:off x="548640" y="1499616"/>
            <a:ext cx="5212080" cy="29260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Sense organ: Large ears</a:t>
            </a:r>
            <a:endParaRPr lang="en-US" sz="1150" dirty="0"/>
          </a:p>
        </p:txBody>
      </p:sp>
      <p:sp>
        <p:nvSpPr>
          <p:cNvPr id="10" name="Text 8"/>
          <p:cNvSpPr/>
          <p:nvPr/>
        </p:nvSpPr>
        <p:spPr>
          <a:xfrm>
            <a:off x="548640" y="1810512"/>
            <a:ext cx="5212080" cy="292608"/>
          </a:xfrm>
          <a:prstGeom prst="rect">
            <a:avLst/>
          </a:prstGeom>
          <a:noFill/>
          <a:ln/>
        </p:spPr>
        <p:txBody>
          <a:bodyPr wrap="square" rtlCol="0" anchor="ctr"/>
          <a:lstStyle/>
          <a:p>
            <a:pPr indent="0" marL="0">
              <a:buNone/>
            </a:pPr>
            <a:r>
              <a:rPr lang="en-US" sz="1150" dirty="0">
                <a:solidFill>
                  <a:srgbClr val="FFB703"/>
                </a:solidFill>
                <a:latin typeface="Calibri" pitchFamily="34" charset="0"/>
                <a:ea typeface="Calibri" pitchFamily="34" charset="-122"/>
                <a:cs typeface="Calibri" pitchFamily="34" charset="-120"/>
              </a:rPr>
              <a:t>Response: Swoops toward moth's position</a:t>
            </a:r>
            <a:endParaRPr lang="en-US" sz="1150" dirty="0"/>
          </a:p>
        </p:txBody>
      </p:sp>
      <p:sp>
        <p:nvSpPr>
          <p:cNvPr id="11" name="Shape 9"/>
          <p:cNvSpPr/>
          <p:nvPr/>
        </p:nvSpPr>
        <p:spPr>
          <a:xfrm>
            <a:off x="548640" y="2139696"/>
            <a:ext cx="5212080" cy="822960"/>
          </a:xfrm>
          <a:prstGeom prst="roundRect">
            <a:avLst>
              <a:gd name="adj" fmla="val 8889"/>
            </a:avLst>
          </a:prstGeom>
          <a:solidFill>
            <a:srgbClr val="0A1520"/>
          </a:solidFill>
          <a:ln w="19050">
            <a:solidFill>
              <a:srgbClr val="4CC9F0"/>
            </a:solidFill>
            <a:prstDash val="dash"/>
          </a:ln>
        </p:spPr>
      </p:sp>
      <p:sp>
        <p:nvSpPr>
          <p:cNvPr id="12" name="Text 10"/>
          <p:cNvSpPr/>
          <p:nvPr/>
        </p:nvSpPr>
        <p:spPr>
          <a:xfrm>
            <a:off x="640080" y="2249424"/>
            <a:ext cx="50292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3" name="Text 11"/>
          <p:cNvSpPr/>
          <p:nvPr/>
        </p:nvSpPr>
        <p:spPr>
          <a:xfrm>
            <a:off x="640080" y="2688336"/>
            <a:ext cx="50292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4" name="Text 12"/>
          <p:cNvSpPr/>
          <p:nvPr/>
        </p:nvSpPr>
        <p:spPr>
          <a:xfrm>
            <a:off x="658368" y="2980944"/>
            <a:ext cx="4992624" cy="-22860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"florida bat Florida sense organ stimulus response pathway"</a:t>
            </a:r>
            <a:endParaRPr lang="en-US" sz="950" dirty="0"/>
          </a:p>
        </p:txBody>
      </p:sp>
      <p:sp>
        <p:nvSpPr>
          <p:cNvPr id="15" name="Shape 13"/>
          <p:cNvSpPr/>
          <p:nvPr/>
        </p:nvSpPr>
        <p:spPr>
          <a:xfrm>
            <a:off x="6309360" y="749808"/>
            <a:ext cx="5577840" cy="2468880"/>
          </a:xfrm>
          <a:prstGeom prst="roundRect">
            <a:avLst>
              <a:gd name="adj" fmla="val 2963"/>
            </a:avLst>
          </a:prstGeom>
          <a:solidFill>
            <a:srgbClr val="1E2F45"/>
          </a:solidFill>
          <a:ln w="12700">
            <a:solidFill>
              <a:srgbClr val="4CC9F0"/>
            </a:solidFill>
            <a:prstDash val="solid"/>
          </a:ln>
        </p:spPr>
      </p:sp>
      <p:sp>
        <p:nvSpPr>
          <p:cNvPr id="16" name="Shape 14"/>
          <p:cNvSpPr/>
          <p:nvPr/>
        </p:nvSpPr>
        <p:spPr>
          <a:xfrm>
            <a:off x="6446520" y="841248"/>
            <a:ext cx="1554480" cy="256032"/>
          </a:xfrm>
          <a:prstGeom prst="roundRect">
            <a:avLst>
              <a:gd name="adj" fmla="val 50000"/>
            </a:avLst>
          </a:prstGeom>
          <a:solidFill>
            <a:srgbClr val="4CC9F0"/>
          </a:solidFill>
          <a:ln w="12700">
            <a:solidFill>
              <a:srgbClr val="4CC9F0"/>
            </a:solidFill>
            <a:prstDash val="solid"/>
          </a:ln>
        </p:spPr>
      </p:sp>
      <p:sp>
        <p:nvSpPr>
          <p:cNvPr id="17" name="Text 15"/>
          <p:cNvSpPr/>
          <p:nvPr/>
        </p:nvSpPr>
        <p:spPr>
          <a:xfrm>
            <a:off x="6446520" y="84124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Anhinga</a:t>
            </a:r>
            <a:endParaRPr lang="en-US" sz="900" dirty="0"/>
          </a:p>
        </p:txBody>
      </p:sp>
      <p:sp>
        <p:nvSpPr>
          <p:cNvPr id="18" name="Text 16"/>
          <p:cNvSpPr/>
          <p:nvPr/>
        </p:nvSpPr>
        <p:spPr>
          <a:xfrm>
            <a:off x="6492240" y="1188720"/>
            <a:ext cx="521208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Stimulus: Fish shadow underwater</a:t>
            </a:r>
            <a:endParaRPr lang="en-US" sz="1150" dirty="0"/>
          </a:p>
        </p:txBody>
      </p:sp>
      <p:sp>
        <p:nvSpPr>
          <p:cNvPr id="19" name="Text 17"/>
          <p:cNvSpPr/>
          <p:nvPr/>
        </p:nvSpPr>
        <p:spPr>
          <a:xfrm>
            <a:off x="6492240" y="1499616"/>
            <a:ext cx="5212080" cy="29260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Sense organ: Sharp underwater vision</a:t>
            </a:r>
            <a:endParaRPr lang="en-US" sz="1150" dirty="0"/>
          </a:p>
        </p:txBody>
      </p:sp>
      <p:sp>
        <p:nvSpPr>
          <p:cNvPr id="20" name="Text 18"/>
          <p:cNvSpPr/>
          <p:nvPr/>
        </p:nvSpPr>
        <p:spPr>
          <a:xfrm>
            <a:off x="6492240" y="1810512"/>
            <a:ext cx="5212080" cy="292608"/>
          </a:xfrm>
          <a:prstGeom prst="rect">
            <a:avLst/>
          </a:prstGeom>
          <a:noFill/>
          <a:ln/>
        </p:spPr>
        <p:txBody>
          <a:bodyPr wrap="square" rtlCol="0" anchor="ctr"/>
          <a:lstStyle/>
          <a:p>
            <a:pPr indent="0" marL="0">
              <a:buNone/>
            </a:pPr>
            <a:r>
              <a:rPr lang="en-US" sz="1150" dirty="0">
                <a:solidFill>
                  <a:srgbClr val="4CC9F0"/>
                </a:solidFill>
                <a:latin typeface="Calibri" pitchFamily="34" charset="0"/>
                <a:ea typeface="Calibri" pitchFamily="34" charset="-122"/>
                <a:cs typeface="Calibri" pitchFamily="34" charset="-120"/>
              </a:rPr>
              <a:t>Response: Dives and spears the fish</a:t>
            </a:r>
            <a:endParaRPr lang="en-US" sz="1150" dirty="0"/>
          </a:p>
        </p:txBody>
      </p:sp>
      <p:sp>
        <p:nvSpPr>
          <p:cNvPr id="21" name="Shape 19"/>
          <p:cNvSpPr/>
          <p:nvPr/>
        </p:nvSpPr>
        <p:spPr>
          <a:xfrm>
            <a:off x="6492240" y="2139696"/>
            <a:ext cx="5212080" cy="822960"/>
          </a:xfrm>
          <a:prstGeom prst="roundRect">
            <a:avLst>
              <a:gd name="adj" fmla="val 8889"/>
            </a:avLst>
          </a:prstGeom>
          <a:solidFill>
            <a:srgbClr val="0A1520"/>
          </a:solidFill>
          <a:ln w="19050">
            <a:solidFill>
              <a:srgbClr val="4CC9F0"/>
            </a:solidFill>
            <a:prstDash val="dash"/>
          </a:ln>
        </p:spPr>
      </p:sp>
      <p:sp>
        <p:nvSpPr>
          <p:cNvPr id="22" name="Text 20"/>
          <p:cNvSpPr/>
          <p:nvPr/>
        </p:nvSpPr>
        <p:spPr>
          <a:xfrm>
            <a:off x="6583680" y="2249424"/>
            <a:ext cx="50292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3" name="Text 21"/>
          <p:cNvSpPr/>
          <p:nvPr/>
        </p:nvSpPr>
        <p:spPr>
          <a:xfrm>
            <a:off x="6583680" y="2688336"/>
            <a:ext cx="50292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24" name="Text 22"/>
          <p:cNvSpPr/>
          <p:nvPr/>
        </p:nvSpPr>
        <p:spPr>
          <a:xfrm>
            <a:off x="6601968" y="2980944"/>
            <a:ext cx="4992624" cy="-22860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"anhinga Florida sense organ stimulus response pathway"</a:t>
            </a:r>
            <a:endParaRPr lang="en-US" sz="950" dirty="0"/>
          </a:p>
        </p:txBody>
      </p:sp>
      <p:sp>
        <p:nvSpPr>
          <p:cNvPr id="25" name="Shape 23"/>
          <p:cNvSpPr/>
          <p:nvPr/>
        </p:nvSpPr>
        <p:spPr>
          <a:xfrm>
            <a:off x="365760" y="3447288"/>
            <a:ext cx="5577840" cy="2468880"/>
          </a:xfrm>
          <a:prstGeom prst="roundRect">
            <a:avLst>
              <a:gd name="adj" fmla="val 2963"/>
            </a:avLst>
          </a:prstGeom>
          <a:solidFill>
            <a:srgbClr val="1E2F45"/>
          </a:solidFill>
          <a:ln w="12700">
            <a:solidFill>
              <a:srgbClr val="2DC653"/>
            </a:solidFill>
            <a:prstDash val="solid"/>
          </a:ln>
        </p:spPr>
      </p:sp>
      <p:sp>
        <p:nvSpPr>
          <p:cNvPr id="26" name="Shape 24"/>
          <p:cNvSpPr/>
          <p:nvPr/>
        </p:nvSpPr>
        <p:spPr>
          <a:xfrm>
            <a:off x="502920" y="3538728"/>
            <a:ext cx="1554480" cy="256032"/>
          </a:xfrm>
          <a:prstGeom prst="roundRect">
            <a:avLst>
              <a:gd name="adj" fmla="val 50000"/>
            </a:avLst>
          </a:prstGeom>
          <a:solidFill>
            <a:srgbClr val="2DC653"/>
          </a:solidFill>
          <a:ln w="12700">
            <a:solidFill>
              <a:srgbClr val="2DC653"/>
            </a:solidFill>
            <a:prstDash val="solid"/>
          </a:ln>
        </p:spPr>
      </p:sp>
      <p:sp>
        <p:nvSpPr>
          <p:cNvPr id="27" name="Text 25"/>
          <p:cNvSpPr/>
          <p:nvPr/>
        </p:nvSpPr>
        <p:spPr>
          <a:xfrm>
            <a:off x="502920" y="353872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Florida Black Bear</a:t>
            </a:r>
            <a:endParaRPr lang="en-US" sz="900" dirty="0"/>
          </a:p>
        </p:txBody>
      </p:sp>
      <p:sp>
        <p:nvSpPr>
          <p:cNvPr id="28" name="Text 26"/>
          <p:cNvSpPr/>
          <p:nvPr/>
        </p:nvSpPr>
        <p:spPr>
          <a:xfrm>
            <a:off x="548640" y="3886200"/>
            <a:ext cx="521208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Stimulus: Smell of berries / garbage</a:t>
            </a:r>
            <a:endParaRPr lang="en-US" sz="1150" dirty="0"/>
          </a:p>
        </p:txBody>
      </p:sp>
      <p:sp>
        <p:nvSpPr>
          <p:cNvPr id="29" name="Text 27"/>
          <p:cNvSpPr/>
          <p:nvPr/>
        </p:nvSpPr>
        <p:spPr>
          <a:xfrm>
            <a:off x="548640" y="4197096"/>
            <a:ext cx="5212080" cy="29260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Sense organ: Extremely sensitive nose</a:t>
            </a:r>
            <a:endParaRPr lang="en-US" sz="1150" dirty="0"/>
          </a:p>
        </p:txBody>
      </p:sp>
      <p:sp>
        <p:nvSpPr>
          <p:cNvPr id="30" name="Text 28"/>
          <p:cNvSpPr/>
          <p:nvPr/>
        </p:nvSpPr>
        <p:spPr>
          <a:xfrm>
            <a:off x="548640" y="4507992"/>
            <a:ext cx="5212080" cy="292608"/>
          </a:xfrm>
          <a:prstGeom prst="rect">
            <a:avLst/>
          </a:prstGeom>
          <a:noFill/>
          <a:ln/>
        </p:spPr>
        <p:txBody>
          <a:bodyPr wrap="square" rtlCol="0" anchor="ctr"/>
          <a:lstStyle/>
          <a:p>
            <a:pPr indent="0" marL="0">
              <a:buNone/>
            </a:pPr>
            <a:r>
              <a:rPr lang="en-US" sz="1150" dirty="0">
                <a:solidFill>
                  <a:srgbClr val="2DC653"/>
                </a:solidFill>
                <a:latin typeface="Calibri" pitchFamily="34" charset="0"/>
                <a:ea typeface="Calibri" pitchFamily="34" charset="-122"/>
                <a:cs typeface="Calibri" pitchFamily="34" charset="-120"/>
              </a:rPr>
              <a:t>Response: Walks toward the smell source</a:t>
            </a:r>
            <a:endParaRPr lang="en-US" sz="1150" dirty="0"/>
          </a:p>
        </p:txBody>
      </p:sp>
      <p:sp>
        <p:nvSpPr>
          <p:cNvPr id="31" name="Shape 29"/>
          <p:cNvSpPr/>
          <p:nvPr/>
        </p:nvSpPr>
        <p:spPr>
          <a:xfrm>
            <a:off x="548640" y="4837176"/>
            <a:ext cx="5212080" cy="822960"/>
          </a:xfrm>
          <a:prstGeom prst="roundRect">
            <a:avLst>
              <a:gd name="adj" fmla="val 8889"/>
            </a:avLst>
          </a:prstGeom>
          <a:solidFill>
            <a:srgbClr val="0A1520"/>
          </a:solidFill>
          <a:ln w="19050">
            <a:solidFill>
              <a:srgbClr val="4CC9F0"/>
            </a:solidFill>
            <a:prstDash val="dash"/>
          </a:ln>
        </p:spPr>
      </p:sp>
      <p:sp>
        <p:nvSpPr>
          <p:cNvPr id="32" name="Text 30"/>
          <p:cNvSpPr/>
          <p:nvPr/>
        </p:nvSpPr>
        <p:spPr>
          <a:xfrm>
            <a:off x="640080" y="4946904"/>
            <a:ext cx="50292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3" name="Text 31"/>
          <p:cNvSpPr/>
          <p:nvPr/>
        </p:nvSpPr>
        <p:spPr>
          <a:xfrm>
            <a:off x="640080" y="5385816"/>
            <a:ext cx="50292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34" name="Text 32"/>
          <p:cNvSpPr/>
          <p:nvPr/>
        </p:nvSpPr>
        <p:spPr>
          <a:xfrm>
            <a:off x="658368" y="5678424"/>
            <a:ext cx="4992624" cy="-22860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"florida black bear Florida sense organ stimulus response pathway"</a:t>
            </a:r>
            <a:endParaRPr lang="en-US" sz="950" dirty="0"/>
          </a:p>
        </p:txBody>
      </p:sp>
      <p:sp>
        <p:nvSpPr>
          <p:cNvPr id="35" name="Shape 33"/>
          <p:cNvSpPr/>
          <p:nvPr/>
        </p:nvSpPr>
        <p:spPr>
          <a:xfrm>
            <a:off x="6309360" y="3447288"/>
            <a:ext cx="5577840" cy="2468880"/>
          </a:xfrm>
          <a:prstGeom prst="roundRect">
            <a:avLst>
              <a:gd name="adj" fmla="val 2963"/>
            </a:avLst>
          </a:prstGeom>
          <a:solidFill>
            <a:srgbClr val="1E2F45"/>
          </a:solidFill>
          <a:ln w="12700">
            <a:solidFill>
              <a:srgbClr val="F4736A"/>
            </a:solidFill>
            <a:prstDash val="solid"/>
          </a:ln>
        </p:spPr>
      </p:sp>
      <p:sp>
        <p:nvSpPr>
          <p:cNvPr id="36" name="Shape 34"/>
          <p:cNvSpPr/>
          <p:nvPr/>
        </p:nvSpPr>
        <p:spPr>
          <a:xfrm>
            <a:off x="6446520" y="3538728"/>
            <a:ext cx="1554480" cy="256032"/>
          </a:xfrm>
          <a:prstGeom prst="roundRect">
            <a:avLst>
              <a:gd name="adj" fmla="val 50000"/>
            </a:avLst>
          </a:prstGeom>
          <a:solidFill>
            <a:srgbClr val="F4736A"/>
          </a:solidFill>
          <a:ln w="12700">
            <a:solidFill>
              <a:srgbClr val="F4736A"/>
            </a:solidFill>
            <a:prstDash val="solid"/>
          </a:ln>
        </p:spPr>
      </p:sp>
      <p:sp>
        <p:nvSpPr>
          <p:cNvPr id="37" name="Text 35"/>
          <p:cNvSpPr/>
          <p:nvPr/>
        </p:nvSpPr>
        <p:spPr>
          <a:xfrm>
            <a:off x="6446520" y="353872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Blue Crab</a:t>
            </a:r>
            <a:endParaRPr lang="en-US" sz="900" dirty="0"/>
          </a:p>
        </p:txBody>
      </p:sp>
      <p:sp>
        <p:nvSpPr>
          <p:cNvPr id="38" name="Text 36"/>
          <p:cNvSpPr/>
          <p:nvPr/>
        </p:nvSpPr>
        <p:spPr>
          <a:xfrm>
            <a:off x="6492240" y="3886200"/>
            <a:ext cx="521208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Stimulus: Water vibrations from a fish</a:t>
            </a:r>
            <a:endParaRPr lang="en-US" sz="1150" dirty="0"/>
          </a:p>
        </p:txBody>
      </p:sp>
      <p:sp>
        <p:nvSpPr>
          <p:cNvPr id="39" name="Text 37"/>
          <p:cNvSpPr/>
          <p:nvPr/>
        </p:nvSpPr>
        <p:spPr>
          <a:xfrm>
            <a:off x="6492240" y="4197096"/>
            <a:ext cx="5212080" cy="29260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Sense organ: Hairs on legs (mechanoreception)</a:t>
            </a:r>
            <a:endParaRPr lang="en-US" sz="1150" dirty="0"/>
          </a:p>
        </p:txBody>
      </p:sp>
      <p:sp>
        <p:nvSpPr>
          <p:cNvPr id="40" name="Text 38"/>
          <p:cNvSpPr/>
          <p:nvPr/>
        </p:nvSpPr>
        <p:spPr>
          <a:xfrm>
            <a:off x="6492240" y="4507992"/>
            <a:ext cx="5212080" cy="292608"/>
          </a:xfrm>
          <a:prstGeom prst="rect">
            <a:avLst/>
          </a:prstGeom>
          <a:noFill/>
          <a:ln/>
        </p:spPr>
        <p:txBody>
          <a:bodyPr wrap="square" rtlCol="0" anchor="ctr"/>
          <a:lstStyle/>
          <a:p>
            <a:pPr indent="0" marL="0">
              <a:buNone/>
            </a:pPr>
            <a:r>
              <a:rPr lang="en-US" sz="1150" dirty="0">
                <a:solidFill>
                  <a:srgbClr val="F4736A"/>
                </a:solidFill>
                <a:latin typeface="Calibri" pitchFamily="34" charset="0"/>
                <a:ea typeface="Calibri" pitchFamily="34" charset="-122"/>
                <a:cs typeface="Calibri" pitchFamily="34" charset="-120"/>
              </a:rPr>
              <a:t>Response: Snaps claws toward the vibration</a:t>
            </a:r>
            <a:endParaRPr lang="en-US" sz="1150" dirty="0"/>
          </a:p>
        </p:txBody>
      </p:sp>
      <p:sp>
        <p:nvSpPr>
          <p:cNvPr id="41" name="Shape 39"/>
          <p:cNvSpPr/>
          <p:nvPr/>
        </p:nvSpPr>
        <p:spPr>
          <a:xfrm>
            <a:off x="6492240" y="4837176"/>
            <a:ext cx="5212080" cy="822960"/>
          </a:xfrm>
          <a:prstGeom prst="roundRect">
            <a:avLst>
              <a:gd name="adj" fmla="val 8889"/>
            </a:avLst>
          </a:prstGeom>
          <a:solidFill>
            <a:srgbClr val="0A1520"/>
          </a:solidFill>
          <a:ln w="19050">
            <a:solidFill>
              <a:srgbClr val="4CC9F0"/>
            </a:solidFill>
            <a:prstDash val="dash"/>
          </a:ln>
        </p:spPr>
      </p:sp>
      <p:sp>
        <p:nvSpPr>
          <p:cNvPr id="42" name="Text 40"/>
          <p:cNvSpPr/>
          <p:nvPr/>
        </p:nvSpPr>
        <p:spPr>
          <a:xfrm>
            <a:off x="6583680" y="4946904"/>
            <a:ext cx="50292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43" name="Text 41"/>
          <p:cNvSpPr/>
          <p:nvPr/>
        </p:nvSpPr>
        <p:spPr>
          <a:xfrm>
            <a:off x="6583680" y="5385816"/>
            <a:ext cx="50292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44" name="Text 42"/>
          <p:cNvSpPr/>
          <p:nvPr/>
        </p:nvSpPr>
        <p:spPr>
          <a:xfrm>
            <a:off x="6601968" y="5678424"/>
            <a:ext cx="4992624" cy="-22860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"blue crab Florida sense organ stimulus response pathway"</a:t>
            </a:r>
            <a:endParaRPr lang="en-US" sz="950" dirty="0"/>
          </a:p>
        </p:txBody>
      </p:sp>
      <p:sp>
        <p:nvSpPr>
          <p:cNvPr id="45" name="Shape 43"/>
          <p:cNvSpPr/>
          <p:nvPr/>
        </p:nvSpPr>
        <p:spPr>
          <a:xfrm>
            <a:off x="365760" y="5943600"/>
            <a:ext cx="11430000" cy="749808"/>
          </a:xfrm>
          <a:prstGeom prst="roundRect">
            <a:avLst>
              <a:gd name="adj" fmla="val 9756"/>
            </a:avLst>
          </a:prstGeom>
          <a:solidFill>
            <a:srgbClr val="162233"/>
          </a:solidFill>
          <a:ln w="12700">
            <a:solidFill>
              <a:srgbClr val="FFB703"/>
            </a:solidFill>
            <a:prstDash val="solid"/>
          </a:ln>
        </p:spPr>
      </p:sp>
      <p:sp>
        <p:nvSpPr>
          <p:cNvPr id="46" name="Text 44"/>
          <p:cNvSpPr/>
          <p:nvPr/>
        </p:nvSpPr>
        <p:spPr>
          <a:xfrm>
            <a:off x="530352" y="6016752"/>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Observe &amp; Reason</a:t>
            </a:r>
            <a:endParaRPr lang="en-US" sz="1300" dirty="0"/>
          </a:p>
        </p:txBody>
      </p:sp>
      <p:sp>
        <p:nvSpPr>
          <p:cNvPr id="47" name="Text 45"/>
          <p:cNvSpPr/>
          <p:nvPr/>
        </p:nvSpPr>
        <p:spPr>
          <a:xfrm>
            <a:off x="530352" y="6382512"/>
            <a:ext cx="11100816" cy="201168"/>
          </a:xfrm>
          <a:prstGeom prst="rect">
            <a:avLst/>
          </a:prstGeom>
          <a:noFill/>
          <a:ln/>
        </p:spPr>
        <p:txBody>
          <a:bodyPr wrap="square" rtlCol="0" anchor="t"/>
          <a:lstStyle/>
          <a:p>
            <a:pPr algn="l" indent="0" marL="0">
              <a:buNone/>
            </a:pPr>
            <a:r>
              <a:rPr lang="en-US" sz="1150" i="1" dirty="0">
                <a:solidFill>
                  <a:srgbClr val="FFFFFF"/>
                </a:solidFill>
                <a:latin typeface="Calibri" pitchFamily="34" charset="0"/>
                <a:ea typeface="Calibri" pitchFamily="34" charset="-122"/>
                <a:cs typeface="Calibri" pitchFamily="34" charset="-120"/>
              </a:rPr>
              <a:t>"Compare two of the four pathway models. Which step (stimulus, sense organ, process, or response) is MOST different between them? Use evidence."</a:t>
            </a:r>
            <a:endParaRPr lang="en-US" sz="1150" dirty="0"/>
          </a:p>
        </p:txBody>
      </p:sp>
      <p:sp>
        <p:nvSpPr>
          <p:cNvPr id="48" name="Shape 46"/>
          <p:cNvSpPr/>
          <p:nvPr/>
        </p:nvSpPr>
        <p:spPr>
          <a:xfrm>
            <a:off x="0" y="6629400"/>
            <a:ext cx="12192000" cy="228600"/>
          </a:xfrm>
          <a:prstGeom prst="rect">
            <a:avLst/>
          </a:prstGeom>
          <a:solidFill>
            <a:srgbClr val="162233"/>
          </a:solidFill>
          <a:ln/>
        </p:spPr>
      </p:sp>
      <p:sp>
        <p:nvSpPr>
          <p:cNvPr id="49" name="Text 47"/>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12.02  ·  Model: From Senses to Brain</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Model Lesson: Draw → Investigate → Revise</a:t>
            </a:r>
            <a:endParaRPr lang="en-US" sz="1600" dirty="0"/>
          </a:p>
        </p:txBody>
      </p:sp>
      <p:sp>
        <p:nvSpPr>
          <p:cNvPr id="5" name="Shape 3"/>
          <p:cNvSpPr/>
          <p:nvPr/>
        </p:nvSpPr>
        <p:spPr>
          <a:xfrm>
            <a:off x="365760" y="749808"/>
            <a:ext cx="11430000" cy="685800"/>
          </a:xfrm>
          <a:prstGeom prst="roundRect">
            <a:avLst>
              <a:gd name="adj" fmla="val 10667"/>
            </a:avLst>
          </a:prstGeom>
          <a:solidFill>
            <a:srgbClr val="0A2A18"/>
          </a:solidFill>
          <a:ln w="12700">
            <a:solidFill>
              <a:srgbClr val="2DC653"/>
            </a:solidFill>
            <a:prstDash val="solid"/>
          </a:ln>
        </p:spPr>
      </p:sp>
      <p:sp>
        <p:nvSpPr>
          <p:cNvPr id="6" name="Text 4"/>
          <p:cNvSpPr/>
          <p:nvPr/>
        </p:nvSpPr>
        <p:spPr>
          <a:xfrm>
            <a:off x="548640" y="804672"/>
            <a:ext cx="11064240" cy="548640"/>
          </a:xfrm>
          <a:prstGeom prst="rect">
            <a:avLst/>
          </a:prstGeom>
          <a:noFill/>
          <a:ln/>
        </p:spPr>
        <p:txBody>
          <a:bodyPr wrap="square" rtlCol="0" anchor="ctr"/>
          <a:lstStyle/>
          <a:p>
            <a:pPr algn="ctr" indent="0" marL="0">
              <a:buNone/>
            </a:pPr>
            <a:r>
              <a:rPr lang="en-US" sz="1400" b="1" dirty="0">
                <a:solidFill>
                  <a:srgbClr val="2DC653"/>
                </a:solidFill>
                <a:latin typeface="Calibri" pitchFamily="34" charset="0"/>
                <a:ea typeface="Calibri" pitchFamily="34" charset="-122"/>
                <a:cs typeface="Calibri" pitchFamily="34" charset="-120"/>
              </a:rPr>
              <a:t>🔄  Q2 Modeling Habit: Your first model is a DRAFT. Real scientists revise. Always.</a:t>
            </a:r>
            <a:endParaRPr lang="en-US" sz="1400" dirty="0"/>
          </a:p>
        </p:txBody>
      </p:sp>
      <p:sp>
        <p:nvSpPr>
          <p:cNvPr id="7" name="Shape 5"/>
          <p:cNvSpPr/>
          <p:nvPr/>
        </p:nvSpPr>
        <p:spPr>
          <a:xfrm>
            <a:off x="365760" y="1572768"/>
            <a:ext cx="3474720" cy="4389120"/>
          </a:xfrm>
          <a:prstGeom prst="roundRect">
            <a:avLst>
              <a:gd name="adj" fmla="val 2105"/>
            </a:avLst>
          </a:prstGeom>
          <a:solidFill>
            <a:srgbClr val="1E2F45"/>
          </a:solidFill>
          <a:ln w="12700">
            <a:solidFill>
              <a:srgbClr val="FFB703"/>
            </a:solidFill>
            <a:prstDash val="solid"/>
          </a:ln>
        </p:spPr>
      </p:sp>
      <p:sp>
        <p:nvSpPr>
          <p:cNvPr id="8" name="Text 6"/>
          <p:cNvSpPr/>
          <p:nvPr/>
        </p:nvSpPr>
        <p:spPr>
          <a:xfrm>
            <a:off x="502920" y="1627632"/>
            <a:ext cx="3291840" cy="320040"/>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DRAW (First draft)</a:t>
            </a:r>
            <a:endParaRPr lang="en-US" sz="1200" dirty="0"/>
          </a:p>
        </p:txBody>
      </p:sp>
      <p:sp>
        <p:nvSpPr>
          <p:cNvPr id="9" name="Text 7"/>
          <p:cNvSpPr/>
          <p:nvPr/>
        </p:nvSpPr>
        <p:spPr>
          <a:xfrm>
            <a:off x="502920" y="1975104"/>
            <a:ext cx="3291840" cy="384048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Open your notebook to the warm-up prediction.</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Look at the eagle/turtle comparison. Draw your FIRST pathway model for one of the four animals from slide 8.</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Don't worry about it being perfect — just get all four boxes down with something in each.</a:t>
            </a:r>
            <a:endParaRPr lang="en-US" sz="1150" dirty="0"/>
          </a:p>
        </p:txBody>
      </p:sp>
      <p:sp>
        <p:nvSpPr>
          <p:cNvPr id="10" name="Shape 8"/>
          <p:cNvSpPr/>
          <p:nvPr/>
        </p:nvSpPr>
        <p:spPr>
          <a:xfrm>
            <a:off x="4114800" y="1572768"/>
            <a:ext cx="3474720" cy="4389120"/>
          </a:xfrm>
          <a:prstGeom prst="roundRect">
            <a:avLst>
              <a:gd name="adj" fmla="val 2105"/>
            </a:avLst>
          </a:prstGeom>
          <a:solidFill>
            <a:srgbClr val="1E2F45"/>
          </a:solidFill>
          <a:ln w="12700">
            <a:solidFill>
              <a:srgbClr val="4CC9F0"/>
            </a:solidFill>
            <a:prstDash val="solid"/>
          </a:ln>
        </p:spPr>
      </p:sp>
      <p:sp>
        <p:nvSpPr>
          <p:cNvPr id="11" name="Text 9"/>
          <p:cNvSpPr/>
          <p:nvPr/>
        </p:nvSpPr>
        <p:spPr>
          <a:xfrm>
            <a:off x="4251960" y="1627632"/>
            <a:ext cx="3291840" cy="320040"/>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INVESTIGATE (Check it)</a:t>
            </a:r>
            <a:endParaRPr lang="en-US" sz="1200" dirty="0"/>
          </a:p>
        </p:txBody>
      </p:sp>
      <p:sp>
        <p:nvSpPr>
          <p:cNvPr id="12" name="Text 10"/>
          <p:cNvSpPr/>
          <p:nvPr/>
        </p:nvSpPr>
        <p:spPr>
          <a:xfrm>
            <a:off x="4251960" y="1975104"/>
            <a:ext cx="3291840" cy="384048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Check your model against these questions:</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Do you have arrows between ALL 4 steps?</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Is the sense organ → brain arrow labeled 'signal'?</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Does your caption name a SURVIVAL NEED?</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Does the pathway flow in the right direction?</a:t>
            </a:r>
            <a:endParaRPr lang="en-US" sz="1150" dirty="0"/>
          </a:p>
        </p:txBody>
      </p:sp>
      <p:sp>
        <p:nvSpPr>
          <p:cNvPr id="13" name="Shape 11"/>
          <p:cNvSpPr/>
          <p:nvPr/>
        </p:nvSpPr>
        <p:spPr>
          <a:xfrm>
            <a:off x="7863840" y="1572768"/>
            <a:ext cx="3840480" cy="4389120"/>
          </a:xfrm>
          <a:prstGeom prst="roundRect">
            <a:avLst>
              <a:gd name="adj" fmla="val 1905"/>
            </a:avLst>
          </a:prstGeom>
          <a:solidFill>
            <a:srgbClr val="1E2F45"/>
          </a:solidFill>
          <a:ln w="12700">
            <a:solidFill>
              <a:srgbClr val="2DC653"/>
            </a:solidFill>
            <a:prstDash val="solid"/>
          </a:ln>
        </p:spPr>
      </p:sp>
      <p:sp>
        <p:nvSpPr>
          <p:cNvPr id="14" name="Text 12"/>
          <p:cNvSpPr/>
          <p:nvPr/>
        </p:nvSpPr>
        <p:spPr>
          <a:xfrm>
            <a:off x="8001000" y="1627632"/>
            <a:ext cx="3566160" cy="320040"/>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REVISE (Improve it)</a:t>
            </a:r>
            <a:endParaRPr lang="en-US" sz="1200" dirty="0"/>
          </a:p>
        </p:txBody>
      </p:sp>
      <p:sp>
        <p:nvSpPr>
          <p:cNvPr id="15" name="Text 13"/>
          <p:cNvSpPr/>
          <p:nvPr/>
        </p:nvSpPr>
        <p:spPr>
          <a:xfrm>
            <a:off x="8001000" y="1975104"/>
            <a:ext cx="3566160" cy="384048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Fix anything your investigation found:</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Add missing arrows</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Add 'signal' label</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Add survival need caption</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Fix direction if needed</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Now build your SECOND model for a different animal. Compare: what stayed the same? What changed?</a:t>
            </a:r>
            <a:endParaRPr lang="en-US" sz="115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12.02  ·  Model: From Senses to Brain</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1A5FBD"/>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1A5FBD"/>
                </a:solidFill>
                <a:latin typeface="Calibri" pitchFamily="34" charset="0"/>
                <a:ea typeface="Calibri" pitchFamily="34" charset="-122"/>
                <a:cs typeface="Calibri" pitchFamily="34" charset="-120"/>
              </a:rPr>
              <a:t>✍️  CER Practice — One Model or Two?</a:t>
            </a:r>
            <a:endParaRPr lang="en-US" sz="1600" dirty="0"/>
          </a:p>
        </p:txBody>
      </p:sp>
      <p:sp>
        <p:nvSpPr>
          <p:cNvPr id="5" name="Shape 3"/>
          <p:cNvSpPr/>
          <p:nvPr/>
        </p:nvSpPr>
        <p:spPr>
          <a:xfrm>
            <a:off x="365760" y="749808"/>
            <a:ext cx="11430000" cy="777240"/>
          </a:xfrm>
          <a:prstGeom prst="roundRect">
            <a:avLst>
              <a:gd name="adj" fmla="val 9412"/>
            </a:avLst>
          </a:prstGeom>
          <a:solidFill>
            <a:srgbClr val="1E2F45"/>
          </a:solidFill>
          <a:ln w="12700">
            <a:solidFill>
              <a:srgbClr val="B0C4D8"/>
            </a:solidFill>
            <a:prstDash val="solid"/>
          </a:ln>
        </p:spPr>
      </p:sp>
      <p:sp>
        <p:nvSpPr>
          <p:cNvPr id="6" name="Text 4"/>
          <p:cNvSpPr/>
          <p:nvPr/>
        </p:nvSpPr>
        <p:spPr>
          <a:xfrm>
            <a:off x="548640" y="804672"/>
            <a:ext cx="11064240" cy="658368"/>
          </a:xfrm>
          <a:prstGeom prst="rect">
            <a:avLst/>
          </a:prstGeom>
          <a:noFill/>
          <a:ln/>
        </p:spPr>
        <p:txBody>
          <a:bodyPr wrap="square"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Claim Question: "A classmate says 'You only need to build ONE pathway model to understand how all animals respond. Building two is a waste of time.' Do you agree?"</a:t>
            </a:r>
            <a:endParaRPr lang="en-US" sz="1250" dirty="0"/>
          </a:p>
        </p:txBody>
      </p:sp>
      <p:sp>
        <p:nvSpPr>
          <p:cNvPr id="7" name="Shape 5"/>
          <p:cNvSpPr/>
          <p:nvPr/>
        </p:nvSpPr>
        <p:spPr>
          <a:xfrm>
            <a:off x="365760" y="1664208"/>
            <a:ext cx="3474720" cy="3657600"/>
          </a:xfrm>
          <a:prstGeom prst="roundRect">
            <a:avLst>
              <a:gd name="adj" fmla="val 2632"/>
            </a:avLst>
          </a:prstGeom>
          <a:solidFill>
            <a:srgbClr val="0A3D8F"/>
          </a:solidFill>
          <a:ln w="19050">
            <a:solidFill>
              <a:srgbClr val="1A5FBD"/>
            </a:solidFill>
            <a:prstDash val="solid"/>
          </a:ln>
        </p:spPr>
      </p:sp>
      <p:sp>
        <p:nvSpPr>
          <p:cNvPr id="8" name="Shape 6"/>
          <p:cNvSpPr/>
          <p:nvPr/>
        </p:nvSpPr>
        <p:spPr>
          <a:xfrm>
            <a:off x="365760" y="1664208"/>
            <a:ext cx="3474720" cy="347472"/>
          </a:xfrm>
          <a:prstGeom prst="rect">
            <a:avLst/>
          </a:prstGeom>
          <a:solidFill>
            <a:srgbClr val="1A5FBD"/>
          </a:solidFill>
          <a:ln w="12700">
            <a:solidFill>
              <a:srgbClr val="1A5FBD"/>
            </a:solidFill>
            <a:prstDash val="solid"/>
          </a:ln>
        </p:spPr>
      </p:sp>
      <p:sp>
        <p:nvSpPr>
          <p:cNvPr id="9" name="Text 7"/>
          <p:cNvSpPr/>
          <p:nvPr/>
        </p:nvSpPr>
        <p:spPr>
          <a:xfrm>
            <a:off x="457200" y="1682496"/>
            <a:ext cx="329184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0" name="Text 8"/>
          <p:cNvSpPr/>
          <p:nvPr/>
        </p:nvSpPr>
        <p:spPr>
          <a:xfrm>
            <a:off x="502920" y="2066544"/>
            <a:ext cx="3200400" cy="3163824"/>
          </a:xfrm>
          <a:prstGeom prst="rect">
            <a:avLst/>
          </a:prstGeom>
          <a:noFill/>
          <a:ln/>
        </p:spPr>
        <p:txBody>
          <a:bodyPr wrap="square"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I disagree. Building two pathway models is more useful because comparing them shows what's universal vs. what's special to each animal.</a:t>
            </a:r>
            <a:endParaRPr lang="en-US" sz="1050" dirty="0"/>
          </a:p>
          <a:p>
            <a:pPr algn="l" indent="0" marL="0">
              <a:buNone/>
            </a:pPr>
            <a:endParaRPr lang="en-US" sz="1050" dirty="0"/>
          </a:p>
          <a:p>
            <a:pPr algn="l" indent="0" marL="0">
              <a:buNone/>
            </a:pPr>
            <a:r>
              <a:rPr lang="en-US" sz="1050" dirty="0">
                <a:solidFill>
                  <a:srgbClr val="FFFFFF"/>
                </a:solidFill>
                <a:latin typeface="Calibri" pitchFamily="34" charset="0"/>
                <a:ea typeface="Calibri" pitchFamily="34" charset="-122"/>
                <a:cs typeface="Calibri" pitchFamily="34" charset="-120"/>
              </a:rPr>
              <a:t>Sentence starter: "I claim that building two models helps more because..."</a:t>
            </a:r>
            <a:endParaRPr lang="en-US" sz="1050" dirty="0"/>
          </a:p>
        </p:txBody>
      </p:sp>
      <p:sp>
        <p:nvSpPr>
          <p:cNvPr id="11" name="Shape 9"/>
          <p:cNvSpPr/>
          <p:nvPr/>
        </p:nvSpPr>
        <p:spPr>
          <a:xfrm>
            <a:off x="4114800" y="1664208"/>
            <a:ext cx="3474720" cy="3657600"/>
          </a:xfrm>
          <a:prstGeom prst="roundRect">
            <a:avLst>
              <a:gd name="adj" fmla="val 2632"/>
            </a:avLst>
          </a:prstGeom>
          <a:solidFill>
            <a:srgbClr val="145C35"/>
          </a:solidFill>
          <a:ln w="19050">
            <a:solidFill>
              <a:srgbClr val="228B50"/>
            </a:solidFill>
            <a:prstDash val="solid"/>
          </a:ln>
        </p:spPr>
      </p:sp>
      <p:sp>
        <p:nvSpPr>
          <p:cNvPr id="12" name="Shape 10"/>
          <p:cNvSpPr/>
          <p:nvPr/>
        </p:nvSpPr>
        <p:spPr>
          <a:xfrm>
            <a:off x="4114800" y="1664208"/>
            <a:ext cx="3474720" cy="347472"/>
          </a:xfrm>
          <a:prstGeom prst="rect">
            <a:avLst/>
          </a:prstGeom>
          <a:solidFill>
            <a:srgbClr val="228B50"/>
          </a:solidFill>
          <a:ln w="12700">
            <a:solidFill>
              <a:srgbClr val="228B50"/>
            </a:solidFill>
            <a:prstDash val="solid"/>
          </a:ln>
        </p:spPr>
      </p:sp>
      <p:sp>
        <p:nvSpPr>
          <p:cNvPr id="13" name="Text 11"/>
          <p:cNvSpPr/>
          <p:nvPr/>
        </p:nvSpPr>
        <p:spPr>
          <a:xfrm>
            <a:off x="4206240" y="1682496"/>
            <a:ext cx="329184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4" name="Text 12"/>
          <p:cNvSpPr/>
          <p:nvPr/>
        </p:nvSpPr>
        <p:spPr>
          <a:xfrm>
            <a:off x="4251960" y="2066544"/>
            <a:ext cx="3200400" cy="3163824"/>
          </a:xfrm>
          <a:prstGeom prst="rect">
            <a:avLst/>
          </a:prstGeom>
          <a:noFill/>
          <a:ln/>
        </p:spPr>
        <p:txBody>
          <a:bodyPr wrap="square"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Evidence from today:</a:t>
            </a:r>
            <a:endParaRPr lang="en-US" sz="1050" dirty="0"/>
          </a:p>
          <a:p>
            <a:pPr algn="l" indent="0" marL="0">
              <a:buNone/>
            </a:pPr>
            <a:r>
              <a:rPr lang="en-US" sz="1050" dirty="0">
                <a:solidFill>
                  <a:srgbClr val="FFFFFF"/>
                </a:solidFill>
                <a:latin typeface="Calibri" pitchFamily="34" charset="0"/>
                <a:ea typeface="Calibri" pitchFamily="34" charset="-122"/>
                <a:cs typeface="Calibri" pitchFamily="34" charset="-120"/>
              </a:rPr>
              <a:t>1. Eagle and bat have the SAME four steps but very different stimulus, sense organ, and response details.</a:t>
            </a:r>
            <a:endParaRPr lang="en-US" sz="1050" dirty="0"/>
          </a:p>
          <a:p>
            <a:pPr algn="l" indent="0" marL="0">
              <a:buNone/>
            </a:pPr>
            <a:r>
              <a:rPr lang="en-US" sz="1050" dirty="0">
                <a:solidFill>
                  <a:srgbClr val="FFFFFF"/>
                </a:solidFill>
                <a:latin typeface="Calibri" pitchFamily="34" charset="0"/>
                <a:ea typeface="Calibri" pitchFamily="34" charset="-122"/>
                <a:cs typeface="Calibri" pitchFamily="34" charset="-120"/>
              </a:rPr>
              <a:t>2. Scientists learn what's UNIVERSAL by finding what two models share.</a:t>
            </a:r>
            <a:endParaRPr lang="en-US" sz="1050" dirty="0"/>
          </a:p>
          <a:p>
            <a:pPr algn="l" indent="0" marL="0">
              <a:buNone/>
            </a:pPr>
            <a:endParaRPr lang="en-US" sz="1050" dirty="0"/>
          </a:p>
          <a:p>
            <a:pPr algn="l" indent="0" marL="0">
              <a:buNone/>
            </a:pPr>
            <a:r>
              <a:rPr lang="en-US" sz="1050" dirty="0">
                <a:solidFill>
                  <a:srgbClr val="FFFFFF"/>
                </a:solidFill>
                <a:latin typeface="Calibri" pitchFamily="34" charset="0"/>
                <a:ea typeface="Calibri" pitchFamily="34" charset="-122"/>
                <a:cs typeface="Calibri" pitchFamily="34" charset="-120"/>
              </a:rPr>
              <a:t>Sentence starter: "I know this because..."</a:t>
            </a:r>
            <a:endParaRPr lang="en-US" sz="1050" dirty="0"/>
          </a:p>
        </p:txBody>
      </p:sp>
      <p:sp>
        <p:nvSpPr>
          <p:cNvPr id="15" name="Shape 13"/>
          <p:cNvSpPr/>
          <p:nvPr/>
        </p:nvSpPr>
        <p:spPr>
          <a:xfrm>
            <a:off x="7863840" y="1664208"/>
            <a:ext cx="3474720" cy="3657600"/>
          </a:xfrm>
          <a:prstGeom prst="roundRect">
            <a:avLst>
              <a:gd name="adj" fmla="val 2632"/>
            </a:avLst>
          </a:prstGeom>
          <a:solidFill>
            <a:srgbClr val="7A3200"/>
          </a:solidFill>
          <a:ln w="19050">
            <a:solidFill>
              <a:srgbClr val="B04A00"/>
            </a:solidFill>
            <a:prstDash val="solid"/>
          </a:ln>
        </p:spPr>
      </p:sp>
      <p:sp>
        <p:nvSpPr>
          <p:cNvPr id="16" name="Shape 14"/>
          <p:cNvSpPr/>
          <p:nvPr/>
        </p:nvSpPr>
        <p:spPr>
          <a:xfrm>
            <a:off x="7863840" y="1664208"/>
            <a:ext cx="3474720" cy="347472"/>
          </a:xfrm>
          <a:prstGeom prst="rect">
            <a:avLst/>
          </a:prstGeom>
          <a:solidFill>
            <a:srgbClr val="B04A00"/>
          </a:solidFill>
          <a:ln w="12700">
            <a:solidFill>
              <a:srgbClr val="B04A00"/>
            </a:solidFill>
            <a:prstDash val="solid"/>
          </a:ln>
        </p:spPr>
      </p:sp>
      <p:sp>
        <p:nvSpPr>
          <p:cNvPr id="17" name="Text 15"/>
          <p:cNvSpPr/>
          <p:nvPr/>
        </p:nvSpPr>
        <p:spPr>
          <a:xfrm>
            <a:off x="7955280" y="1682496"/>
            <a:ext cx="329184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8" name="Text 16"/>
          <p:cNvSpPr/>
          <p:nvPr/>
        </p:nvSpPr>
        <p:spPr>
          <a:xfrm>
            <a:off x="8001000" y="2066544"/>
            <a:ext cx="3200400" cy="3163824"/>
          </a:xfrm>
          <a:prstGeom prst="rect">
            <a:avLst/>
          </a:prstGeom>
          <a:noFill/>
          <a:ln/>
        </p:spPr>
        <p:txBody>
          <a:bodyPr wrap="square"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One model shows how ONE animal works. Comparing two models reveals which features are shared by ALL animals (the four-step structure) and which are unique to that species.</a:t>
            </a:r>
            <a:endParaRPr lang="en-US" sz="1050" dirty="0"/>
          </a:p>
          <a:p>
            <a:pPr algn="l" indent="0" marL="0">
              <a:buNone/>
            </a:pPr>
            <a:endParaRPr lang="en-US" sz="1050" dirty="0"/>
          </a:p>
          <a:p>
            <a:pPr algn="l" indent="0" marL="0">
              <a:buNone/>
            </a:pPr>
            <a:r>
              <a:rPr lang="en-US" sz="1050" dirty="0">
                <a:solidFill>
                  <a:srgbClr val="FFFFFF"/>
                </a:solidFill>
                <a:latin typeface="Calibri" pitchFamily="34" charset="0"/>
                <a:ea typeface="Calibri" pitchFamily="34" charset="-122"/>
                <a:cs typeface="Calibri" pitchFamily="34" charset="-120"/>
              </a:rPr>
              <a:t>Sentence starter: "This evidence supports my claim because..."</a:t>
            </a:r>
            <a:endParaRPr lang="en-US" sz="1050" dirty="0"/>
          </a:p>
        </p:txBody>
      </p:sp>
      <p:sp>
        <p:nvSpPr>
          <p:cNvPr id="19" name="Shape 17"/>
          <p:cNvSpPr/>
          <p:nvPr/>
        </p:nvSpPr>
        <p:spPr>
          <a:xfrm>
            <a:off x="365760" y="5486400"/>
            <a:ext cx="11430000" cy="1078992"/>
          </a:xfrm>
          <a:prstGeom prst="roundRect">
            <a:avLst>
              <a:gd name="adj" fmla="val 6780"/>
            </a:avLst>
          </a:prstGeom>
          <a:solidFill>
            <a:srgbClr val="162233"/>
          </a:solidFill>
          <a:ln w="12700">
            <a:solidFill>
              <a:srgbClr val="FFB703"/>
            </a:solidFill>
            <a:prstDash val="solid"/>
          </a:ln>
        </p:spPr>
      </p:sp>
      <p:sp>
        <p:nvSpPr>
          <p:cNvPr id="20" name="Text 18"/>
          <p:cNvSpPr/>
          <p:nvPr/>
        </p:nvSpPr>
        <p:spPr>
          <a:xfrm>
            <a:off x="530352" y="5559552"/>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Pair &amp; Share</a:t>
            </a:r>
            <a:endParaRPr lang="en-US" sz="1300" dirty="0"/>
          </a:p>
        </p:txBody>
      </p:sp>
      <p:sp>
        <p:nvSpPr>
          <p:cNvPr id="21" name="Text 19"/>
          <p:cNvSpPr/>
          <p:nvPr/>
        </p:nvSpPr>
        <p:spPr>
          <a:xfrm>
            <a:off x="530352" y="5925312"/>
            <a:ext cx="11100816" cy="530352"/>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"Does your REASONING explain WHY the evidence supports the claim — or does it just repeat the evidence? Those are different. Tell your partner the difference."</a:t>
            </a:r>
            <a:endParaRPr lang="en-US" sz="1200" dirty="0"/>
          </a:p>
        </p:txBody>
      </p:sp>
      <p:sp>
        <p:nvSpPr>
          <p:cNvPr id="22" name="Shape 20"/>
          <p:cNvSpPr/>
          <p:nvPr/>
        </p:nvSpPr>
        <p:spPr>
          <a:xfrm>
            <a:off x="0" y="6629400"/>
            <a:ext cx="12192000" cy="228600"/>
          </a:xfrm>
          <a:prstGeom prst="rect">
            <a:avLst/>
          </a:prstGeom>
          <a:solidFill>
            <a:srgbClr val="162233"/>
          </a:solidFill>
          <a:ln/>
        </p:spPr>
      </p:sp>
      <p:sp>
        <p:nvSpPr>
          <p:cNvPr id="23" name="Text 2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12.02  ·  Model: From Senses to Brain</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1A5FBD"/>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1A5FBD"/>
                </a:solidFill>
                <a:latin typeface="Calibri" pitchFamily="34" charset="0"/>
                <a:ea typeface="Calibri" pitchFamily="34" charset="-122"/>
                <a:cs typeface="Calibri" pitchFamily="34" charset="-120"/>
              </a:rPr>
              <a:t>✍️  Your Turn — Missing Steps in the Model</a:t>
            </a:r>
            <a:endParaRPr lang="en-US" sz="1600" dirty="0"/>
          </a:p>
        </p:txBody>
      </p:sp>
      <p:sp>
        <p:nvSpPr>
          <p:cNvPr id="5" name="Shape 3"/>
          <p:cNvSpPr/>
          <p:nvPr/>
        </p:nvSpPr>
        <p:spPr>
          <a:xfrm>
            <a:off x="365760" y="749808"/>
            <a:ext cx="11430000" cy="777240"/>
          </a:xfrm>
          <a:prstGeom prst="roundRect">
            <a:avLst>
              <a:gd name="adj" fmla="val 9412"/>
            </a:avLst>
          </a:prstGeom>
          <a:solidFill>
            <a:srgbClr val="1E2F45"/>
          </a:solidFill>
          <a:ln w="12700">
            <a:solidFill>
              <a:srgbClr val="B0C4D8"/>
            </a:solidFill>
            <a:prstDash val="solid"/>
          </a:ln>
        </p:spPr>
      </p:sp>
      <p:sp>
        <p:nvSpPr>
          <p:cNvPr id="6" name="Text 4"/>
          <p:cNvSpPr/>
          <p:nvPr/>
        </p:nvSpPr>
        <p:spPr>
          <a:xfrm>
            <a:off x="548640" y="804672"/>
            <a:ext cx="11064240" cy="658368"/>
          </a:xfrm>
          <a:prstGeom prst="rect">
            <a:avLst/>
          </a:prstGeom>
          <a:noFill/>
          <a:ln/>
        </p:spPr>
        <p:txBody>
          <a:bodyPr wrap="square"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Science Question: "A student's pathway model shows: stimulus → response, with no middle steps. Is this a complete pathway model? What's wrong with it?"</a:t>
            </a:r>
            <a:endParaRPr lang="en-US" sz="1250" dirty="0"/>
          </a:p>
        </p:txBody>
      </p:sp>
      <p:sp>
        <p:nvSpPr>
          <p:cNvPr id="7" name="Shape 5"/>
          <p:cNvSpPr/>
          <p:nvPr/>
        </p:nvSpPr>
        <p:spPr>
          <a:xfrm>
            <a:off x="365760" y="1664208"/>
            <a:ext cx="3611880" cy="4114800"/>
          </a:xfrm>
          <a:prstGeom prst="roundRect">
            <a:avLst>
              <a:gd name="adj" fmla="val 2532"/>
            </a:avLst>
          </a:prstGeom>
          <a:solidFill>
            <a:srgbClr val="0A3D8F"/>
          </a:solidFill>
          <a:ln w="19050">
            <a:solidFill>
              <a:srgbClr val="1A5FBD"/>
            </a:solidFill>
            <a:prstDash val="solid"/>
          </a:ln>
        </p:spPr>
      </p:sp>
      <p:sp>
        <p:nvSpPr>
          <p:cNvPr id="8" name="Shape 6"/>
          <p:cNvSpPr/>
          <p:nvPr/>
        </p:nvSpPr>
        <p:spPr>
          <a:xfrm>
            <a:off x="365760" y="1664208"/>
            <a:ext cx="3611880" cy="347472"/>
          </a:xfrm>
          <a:prstGeom prst="rect">
            <a:avLst/>
          </a:prstGeom>
          <a:solidFill>
            <a:srgbClr val="1A5FBD"/>
          </a:solidFill>
          <a:ln w="12700">
            <a:solidFill>
              <a:srgbClr val="1A5FBD"/>
            </a:solidFill>
            <a:prstDash val="solid"/>
          </a:ln>
        </p:spPr>
      </p:sp>
      <p:sp>
        <p:nvSpPr>
          <p:cNvPr id="9" name="Text 7"/>
          <p:cNvSpPr/>
          <p:nvPr/>
        </p:nvSpPr>
        <p:spPr>
          <a:xfrm>
            <a:off x="457200" y="1682496"/>
            <a:ext cx="342900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0" name="Text 8"/>
          <p:cNvSpPr/>
          <p:nvPr/>
        </p:nvSpPr>
        <p:spPr>
          <a:xfrm>
            <a:off x="502920" y="2066544"/>
            <a:ext cx="3337560" cy="3621024"/>
          </a:xfrm>
          <a:prstGeom prst="rect">
            <a:avLst/>
          </a:prstGeom>
          <a:noFill/>
          <a:ln/>
        </p:spPr>
        <p:txBody>
          <a:bodyPr wrap="square"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Write your CLAIM:</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"This model IS / IS NOT complete because..."</a:t>
            </a:r>
            <a:endParaRPr lang="en-US" sz="1100" dirty="0"/>
          </a:p>
          <a:p>
            <a:pPr algn="l" indent="0" marL="0">
              <a:buNone/>
            </a:pP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Use the word 'pathway' in your claim.</a:t>
            </a:r>
            <a:endParaRPr lang="en-US" sz="1100" dirty="0"/>
          </a:p>
        </p:txBody>
      </p:sp>
      <p:sp>
        <p:nvSpPr>
          <p:cNvPr id="11" name="Shape 9"/>
          <p:cNvSpPr/>
          <p:nvPr/>
        </p:nvSpPr>
        <p:spPr>
          <a:xfrm>
            <a:off x="4160520" y="1664208"/>
            <a:ext cx="3611880" cy="4114800"/>
          </a:xfrm>
          <a:prstGeom prst="roundRect">
            <a:avLst>
              <a:gd name="adj" fmla="val 2532"/>
            </a:avLst>
          </a:prstGeom>
          <a:solidFill>
            <a:srgbClr val="145C35"/>
          </a:solidFill>
          <a:ln w="19050">
            <a:solidFill>
              <a:srgbClr val="228B50"/>
            </a:solidFill>
            <a:prstDash val="solid"/>
          </a:ln>
        </p:spPr>
      </p:sp>
      <p:sp>
        <p:nvSpPr>
          <p:cNvPr id="12" name="Shape 10"/>
          <p:cNvSpPr/>
          <p:nvPr/>
        </p:nvSpPr>
        <p:spPr>
          <a:xfrm>
            <a:off x="4160520" y="1664208"/>
            <a:ext cx="3611880" cy="347472"/>
          </a:xfrm>
          <a:prstGeom prst="rect">
            <a:avLst/>
          </a:prstGeom>
          <a:solidFill>
            <a:srgbClr val="228B50"/>
          </a:solidFill>
          <a:ln w="12700">
            <a:solidFill>
              <a:srgbClr val="228B50"/>
            </a:solidFill>
            <a:prstDash val="solid"/>
          </a:ln>
        </p:spPr>
      </p:sp>
      <p:sp>
        <p:nvSpPr>
          <p:cNvPr id="13" name="Text 11"/>
          <p:cNvSpPr/>
          <p:nvPr/>
        </p:nvSpPr>
        <p:spPr>
          <a:xfrm>
            <a:off x="4251960" y="1682496"/>
            <a:ext cx="342900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4" name="Text 12"/>
          <p:cNvSpPr/>
          <p:nvPr/>
        </p:nvSpPr>
        <p:spPr>
          <a:xfrm>
            <a:off x="4297680" y="2066544"/>
            <a:ext cx="3337560" cy="3621024"/>
          </a:xfrm>
          <a:prstGeom prst="rect">
            <a:avLst/>
          </a:prstGeom>
          <a:noFill/>
          <a:ln/>
        </p:spPr>
        <p:txBody>
          <a:bodyPr wrap="square"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Use today's evidence:</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What two steps are missing?</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What does each missing step DO in the pathway?</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"I know this because..."</a:t>
            </a:r>
            <a:endParaRPr lang="en-US" sz="1100" dirty="0"/>
          </a:p>
        </p:txBody>
      </p:sp>
      <p:sp>
        <p:nvSpPr>
          <p:cNvPr id="15" name="Shape 13"/>
          <p:cNvSpPr/>
          <p:nvPr/>
        </p:nvSpPr>
        <p:spPr>
          <a:xfrm>
            <a:off x="7955280" y="1664208"/>
            <a:ext cx="3611880" cy="4114800"/>
          </a:xfrm>
          <a:prstGeom prst="roundRect">
            <a:avLst>
              <a:gd name="adj" fmla="val 2532"/>
            </a:avLst>
          </a:prstGeom>
          <a:solidFill>
            <a:srgbClr val="7A3200"/>
          </a:solidFill>
          <a:ln w="19050">
            <a:solidFill>
              <a:srgbClr val="B04A00"/>
            </a:solidFill>
            <a:prstDash val="solid"/>
          </a:ln>
        </p:spPr>
      </p:sp>
      <p:sp>
        <p:nvSpPr>
          <p:cNvPr id="16" name="Shape 14"/>
          <p:cNvSpPr/>
          <p:nvPr/>
        </p:nvSpPr>
        <p:spPr>
          <a:xfrm>
            <a:off x="7955280" y="1664208"/>
            <a:ext cx="3611880" cy="347472"/>
          </a:xfrm>
          <a:prstGeom prst="rect">
            <a:avLst/>
          </a:prstGeom>
          <a:solidFill>
            <a:srgbClr val="B04A00"/>
          </a:solidFill>
          <a:ln w="12700">
            <a:solidFill>
              <a:srgbClr val="B04A00"/>
            </a:solidFill>
            <a:prstDash val="solid"/>
          </a:ln>
        </p:spPr>
      </p:sp>
      <p:sp>
        <p:nvSpPr>
          <p:cNvPr id="17" name="Text 15"/>
          <p:cNvSpPr/>
          <p:nvPr/>
        </p:nvSpPr>
        <p:spPr>
          <a:xfrm>
            <a:off x="8046720" y="1682496"/>
            <a:ext cx="342900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8" name="Text 16"/>
          <p:cNvSpPr/>
          <p:nvPr/>
        </p:nvSpPr>
        <p:spPr>
          <a:xfrm>
            <a:off x="8092440" y="2066544"/>
            <a:ext cx="3337560" cy="3621024"/>
          </a:xfrm>
          <a:prstGeom prst="rect">
            <a:avLst/>
          </a:prstGeom>
          <a:noFill/>
          <a:ln/>
        </p:spPr>
        <p:txBody>
          <a:bodyPr wrap="square"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Connect to the big idea:</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What can't happen if those steps are missing?</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How does removing them change the animal's ability to respond?</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"This shows that..."</a:t>
            </a:r>
            <a:endParaRPr lang="en-US" sz="1100" dirty="0"/>
          </a:p>
        </p:txBody>
      </p:sp>
      <p:sp>
        <p:nvSpPr>
          <p:cNvPr id="19" name="Shape 17"/>
          <p:cNvSpPr/>
          <p:nvPr/>
        </p:nvSpPr>
        <p:spPr>
          <a:xfrm>
            <a:off x="365760" y="5897880"/>
            <a:ext cx="11430000" cy="658368"/>
          </a:xfrm>
          <a:prstGeom prst="roundRect">
            <a:avLst>
              <a:gd name="adj" fmla="val 11111"/>
            </a:avLst>
          </a:prstGeom>
          <a:solidFill>
            <a:srgbClr val="1A1A2A"/>
          </a:solidFill>
          <a:ln w="12700">
            <a:solidFill>
              <a:srgbClr val="B0C4D8"/>
            </a:solidFill>
            <a:prstDash val="solid"/>
          </a:ln>
        </p:spPr>
      </p:sp>
      <p:sp>
        <p:nvSpPr>
          <p:cNvPr id="20" name="Text 18"/>
          <p:cNvSpPr/>
          <p:nvPr/>
        </p:nvSpPr>
        <p:spPr>
          <a:xfrm>
            <a:off x="548640" y="5943600"/>
            <a:ext cx="11064240" cy="548640"/>
          </a:xfrm>
          <a:prstGeom prst="rect">
            <a:avLst/>
          </a:prstGeom>
          <a:noFill/>
          <a:ln/>
        </p:spPr>
        <p:txBody>
          <a:bodyPr wrap="square" rtlCol="0" anchor="ctr"/>
          <a:lstStyle/>
          <a:p>
            <a:pPr indent="0" marL="0">
              <a:buNone/>
            </a:pPr>
            <a:r>
              <a:rPr lang="en-US" sz="1050" i="1" dirty="0">
                <a:solidFill>
                  <a:srgbClr val="B0C4D8"/>
                </a:solidFill>
                <a:latin typeface="Calibri" pitchFamily="34" charset="0"/>
                <a:ea typeface="Calibri" pitchFamily="34" charset="-122"/>
                <a:cs typeface="Calibri" pitchFamily="34" charset="-120"/>
              </a:rPr>
              <a:t>🦇  Amazing Florida Fact: When a Florida bat sends out its clicks, it can hear back an echo as quiet as 1/10,000 of a whisper — and its brain processes that signal fast enough to dodge a moving moth. Same four steps, lightning fast.</a:t>
            </a:r>
            <a:endParaRPr lang="en-US" sz="105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12.02  ·  Model: From Senses to Brain</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4736A"/>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4736A"/>
                </a:solidFill>
                <a:latin typeface="Calibri" pitchFamily="34" charset="0"/>
                <a:ea typeface="Calibri" pitchFamily="34" charset="-122"/>
                <a:cs typeface="Calibri" pitchFamily="34" charset="-120"/>
              </a:rPr>
              <a:t>🔭  Elaborate — Mind-Blow + Go Deeper</a:t>
            </a:r>
            <a:endParaRPr lang="en-US" sz="1600" dirty="0"/>
          </a:p>
        </p:txBody>
      </p:sp>
      <p:sp>
        <p:nvSpPr>
          <p:cNvPr id="5" name="Shape 3"/>
          <p:cNvSpPr/>
          <p:nvPr/>
        </p:nvSpPr>
        <p:spPr>
          <a:xfrm>
            <a:off x="365760" y="749808"/>
            <a:ext cx="11430000" cy="1691640"/>
          </a:xfrm>
          <a:prstGeom prst="roundRect">
            <a:avLst>
              <a:gd name="adj" fmla="val 4324"/>
            </a:avLst>
          </a:prstGeom>
          <a:solidFill>
            <a:srgbClr val="1E2F45"/>
          </a:solidFill>
          <a:ln w="12700">
            <a:solidFill>
              <a:srgbClr val="F4736A"/>
            </a:solidFill>
            <a:prstDash val="solid"/>
          </a:ln>
        </p:spPr>
      </p:sp>
      <p:sp>
        <p:nvSpPr>
          <p:cNvPr id="6" name="Text 4"/>
          <p:cNvSpPr/>
          <p:nvPr/>
        </p:nvSpPr>
        <p:spPr>
          <a:xfrm>
            <a:off x="548640" y="804672"/>
            <a:ext cx="11064240" cy="320040"/>
          </a:xfrm>
          <a:prstGeom prst="rect">
            <a:avLst/>
          </a:prstGeom>
          <a:noFill/>
          <a:ln/>
        </p:spPr>
        <p:txBody>
          <a:bodyPr wrap="square" rtlCol="0" anchor="ctr"/>
          <a:lstStyle/>
          <a:p>
            <a:pPr indent="0" marL="0">
              <a:buNone/>
            </a:pPr>
            <a:r>
              <a:rPr lang="en-US" sz="1400" b="1" dirty="0">
                <a:solidFill>
                  <a:srgbClr val="F4736A"/>
                </a:solidFill>
                <a:latin typeface="Calibri" pitchFamily="34" charset="0"/>
                <a:ea typeface="Calibri" pitchFamily="34" charset="-122"/>
                <a:cs typeface="Calibri" pitchFamily="34" charset="-120"/>
              </a:rPr>
              <a:t>🤯  Amazing Florida Fact — Mantis Shrimp Vision</a:t>
            </a:r>
            <a:endParaRPr lang="en-US" sz="1400" dirty="0"/>
          </a:p>
        </p:txBody>
      </p:sp>
      <p:sp>
        <p:nvSpPr>
          <p:cNvPr id="7" name="Text 5"/>
          <p:cNvSpPr/>
          <p:nvPr/>
        </p:nvSpPr>
        <p:spPr>
          <a:xfrm>
            <a:off x="548640" y="1152144"/>
            <a:ext cx="11064240" cy="120700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 Florida mantis shrimp has 16 different kinds of color receptors in its eyes (humans have only 3). So when scientists build a model of how it sees, they have to use 16 different 'sense' inputs — same four steps, much wilder details. Same pathway, totally different model.</a:t>
            </a:r>
            <a:endParaRPr lang="en-US" sz="1200" dirty="0"/>
          </a:p>
        </p:txBody>
      </p:sp>
      <p:sp>
        <p:nvSpPr>
          <p:cNvPr id="8" name="Shape 6"/>
          <p:cNvSpPr/>
          <p:nvPr/>
        </p:nvSpPr>
        <p:spPr>
          <a:xfrm>
            <a:off x="365760" y="2578608"/>
            <a:ext cx="5394960" cy="3291840"/>
          </a:xfrm>
          <a:prstGeom prst="roundRect">
            <a:avLst>
              <a:gd name="adj" fmla="val 2222"/>
            </a:avLst>
          </a:prstGeom>
          <a:solidFill>
            <a:srgbClr val="162233"/>
          </a:solidFill>
          <a:ln w="12700">
            <a:solidFill>
              <a:srgbClr val="0096C7"/>
            </a:solidFill>
            <a:prstDash val="solid"/>
          </a:ln>
        </p:spPr>
      </p:sp>
      <p:sp>
        <p:nvSpPr>
          <p:cNvPr id="9" name="Text 7"/>
          <p:cNvSpPr/>
          <p:nvPr/>
        </p:nvSpPr>
        <p:spPr>
          <a:xfrm>
            <a:off x="502920" y="2633472"/>
            <a:ext cx="5120640" cy="320040"/>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Go Deeper: Why Scientists Revise Models</a:t>
            </a:r>
            <a:endParaRPr lang="en-US" sz="1200" dirty="0"/>
          </a:p>
        </p:txBody>
      </p:sp>
      <p:sp>
        <p:nvSpPr>
          <p:cNvPr id="10" name="Text 8"/>
          <p:cNvSpPr/>
          <p:nvPr/>
        </p:nvSpPr>
        <p:spPr>
          <a:xfrm>
            <a:off x="502920" y="2980944"/>
            <a:ext cx="5120640" cy="27432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 first model is almost never perfect. As scientists learn more — by watching, recording, and testing — they update their models. A bat's echolocation model from 50 years ago is very different from the model we use today. Each version is a step closer to how the world really works.</a:t>
            </a:r>
            <a:endParaRPr lang="en-US" sz="1150" dirty="0"/>
          </a:p>
        </p:txBody>
      </p:sp>
      <p:sp>
        <p:nvSpPr>
          <p:cNvPr id="11" name="Shape 9"/>
          <p:cNvSpPr/>
          <p:nvPr/>
        </p:nvSpPr>
        <p:spPr>
          <a:xfrm>
            <a:off x="6035040" y="2578608"/>
            <a:ext cx="5394960" cy="3291840"/>
          </a:xfrm>
          <a:prstGeom prst="roundRect">
            <a:avLst>
              <a:gd name="adj" fmla="val 2222"/>
            </a:avLst>
          </a:prstGeom>
          <a:solidFill>
            <a:srgbClr val="162233"/>
          </a:solidFill>
          <a:ln w="12700">
            <a:solidFill>
              <a:srgbClr val="FFB703"/>
            </a:solidFill>
            <a:prstDash val="solid"/>
          </a:ln>
        </p:spPr>
      </p:sp>
      <p:sp>
        <p:nvSpPr>
          <p:cNvPr id="12" name="Text 10"/>
          <p:cNvSpPr/>
          <p:nvPr/>
        </p:nvSpPr>
        <p:spPr>
          <a:xfrm>
            <a:off x="6172200" y="2633472"/>
            <a:ext cx="5120640" cy="320040"/>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  Can Pathway Models Be 3-D?</a:t>
            </a:r>
            <a:endParaRPr lang="en-US" sz="1200" dirty="0"/>
          </a:p>
        </p:txBody>
      </p:sp>
      <p:sp>
        <p:nvSpPr>
          <p:cNvPr id="13" name="Text 11"/>
          <p:cNvSpPr/>
          <p:nvPr/>
        </p:nvSpPr>
        <p:spPr>
          <a:xfrm>
            <a:off x="6172200" y="2980944"/>
            <a:ext cx="5120640" cy="27432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Yes! Some scientists use yarn, clay, or pipe cleaners to build 3-D pathway models. A piece of yarn might be the signal traveling from a sense organ to a clay brain, and a small arrow shows what the animal does next. A hands-on model can make the RELATIONSHIP easier to see — and easier to teach.</a:t>
            </a:r>
            <a:endParaRPr lang="en-US" sz="115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12.02  ·  Model: From Senses to Brain</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Quick Self-Check — Not Graded!</a:t>
            </a:r>
            <a:endParaRPr lang="en-US" sz="1600" dirty="0"/>
          </a:p>
        </p:txBody>
      </p:sp>
      <p:sp>
        <p:nvSpPr>
          <p:cNvPr id="5" name="Shape 3"/>
          <p:cNvSpPr/>
          <p:nvPr/>
        </p:nvSpPr>
        <p:spPr>
          <a:xfrm>
            <a:off x="365760" y="749808"/>
            <a:ext cx="11430000" cy="2606040"/>
          </a:xfrm>
          <a:prstGeom prst="roundRect">
            <a:avLst>
              <a:gd name="adj" fmla="val 2807"/>
            </a:avLst>
          </a:prstGeom>
          <a:solidFill>
            <a:srgbClr val="1E2F45"/>
          </a:solidFill>
          <a:ln w="12700">
            <a:solidFill>
              <a:srgbClr val="4CC9F0"/>
            </a:solidFill>
            <a:prstDash val="solid"/>
          </a:ln>
        </p:spPr>
      </p:sp>
      <p:sp>
        <p:nvSpPr>
          <p:cNvPr id="6" name="Text 4"/>
          <p:cNvSpPr/>
          <p:nvPr/>
        </p:nvSpPr>
        <p:spPr>
          <a:xfrm>
            <a:off x="548640" y="804672"/>
            <a:ext cx="1106424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Q1:  What does a pathway model need that a labeled drawing alone does NOT?</a:t>
            </a:r>
            <a:endParaRPr lang="en-US" sz="1300" dirty="0"/>
          </a:p>
        </p:txBody>
      </p:sp>
      <p:sp>
        <p:nvSpPr>
          <p:cNvPr id="7" name="Text 5"/>
          <p:cNvSpPr/>
          <p:nvPr/>
        </p:nvSpPr>
        <p:spPr>
          <a:xfrm>
            <a:off x="548640" y="1316736"/>
            <a:ext cx="11064240" cy="32004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A — Bright colors</a:t>
            </a:r>
            <a:endParaRPr lang="en-US" sz="1200" dirty="0"/>
          </a:p>
        </p:txBody>
      </p:sp>
      <p:sp>
        <p:nvSpPr>
          <p:cNvPr id="8" name="Text 6"/>
          <p:cNvSpPr/>
          <p:nvPr/>
        </p:nvSpPr>
        <p:spPr>
          <a:xfrm>
            <a:off x="548640" y="1664208"/>
            <a:ext cx="11064240" cy="320040"/>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B — Arrows showing how the signal moves between steps</a:t>
            </a:r>
            <a:endParaRPr lang="en-US" sz="1200" dirty="0"/>
          </a:p>
        </p:txBody>
      </p:sp>
      <p:sp>
        <p:nvSpPr>
          <p:cNvPr id="9" name="Text 7"/>
          <p:cNvSpPr/>
          <p:nvPr/>
        </p:nvSpPr>
        <p:spPr>
          <a:xfrm>
            <a:off x="548640" y="2011680"/>
            <a:ext cx="11064240" cy="32004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C — A long paragraph of text</a:t>
            </a:r>
            <a:endParaRPr lang="en-US" sz="1200" dirty="0"/>
          </a:p>
        </p:txBody>
      </p:sp>
      <p:sp>
        <p:nvSpPr>
          <p:cNvPr id="10" name="Text 8"/>
          <p:cNvSpPr/>
          <p:nvPr/>
        </p:nvSpPr>
        <p:spPr>
          <a:xfrm>
            <a:off x="548640" y="2359152"/>
            <a:ext cx="11064240" cy="475488"/>
          </a:xfrm>
          <a:prstGeom prst="rect">
            <a:avLst/>
          </a:prstGeom>
          <a:noFill/>
          <a:ln/>
        </p:spPr>
        <p:txBody>
          <a:bodyPr wrap="square" rtlCol="0" anchor="ctr"/>
          <a:lstStyle/>
          <a:p>
            <a:pPr indent="0" marL="0">
              <a:buNone/>
            </a:pPr>
            <a:r>
              <a:rPr lang="en-US" sz="1100" i="1" dirty="0">
                <a:solidFill>
                  <a:srgbClr val="2DC653"/>
                </a:solidFill>
                <a:latin typeface="Calibri" pitchFamily="34" charset="0"/>
                <a:ea typeface="Calibri" pitchFamily="34" charset="-122"/>
                <a:cs typeface="Calibri" pitchFamily="34" charset="-120"/>
              </a:rPr>
              <a:t>✅  Arrows show the ORDER and DIRECTION of the pathway — that's what makes it a model, not just a diagram with labels.</a:t>
            </a:r>
            <a:endParaRPr lang="en-US" sz="1100" dirty="0"/>
          </a:p>
        </p:txBody>
      </p:sp>
      <p:sp>
        <p:nvSpPr>
          <p:cNvPr id="11" name="Shape 9"/>
          <p:cNvSpPr/>
          <p:nvPr/>
        </p:nvSpPr>
        <p:spPr>
          <a:xfrm>
            <a:off x="365760" y="3584448"/>
            <a:ext cx="11430000" cy="2606040"/>
          </a:xfrm>
          <a:prstGeom prst="roundRect">
            <a:avLst>
              <a:gd name="adj" fmla="val 2807"/>
            </a:avLst>
          </a:prstGeom>
          <a:solidFill>
            <a:srgbClr val="1E2F45"/>
          </a:solidFill>
          <a:ln w="12700">
            <a:solidFill>
              <a:srgbClr val="4CC9F0"/>
            </a:solidFill>
            <a:prstDash val="solid"/>
          </a:ln>
        </p:spPr>
      </p:sp>
      <p:sp>
        <p:nvSpPr>
          <p:cNvPr id="12" name="Text 10"/>
          <p:cNvSpPr/>
          <p:nvPr/>
        </p:nvSpPr>
        <p:spPr>
          <a:xfrm>
            <a:off x="548640" y="3639312"/>
            <a:ext cx="1106424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Q2:  If you compare a bat's pathway model and a Florida black bear's pathway model, what stays the SAME?</a:t>
            </a:r>
            <a:endParaRPr lang="en-US" sz="1300" dirty="0"/>
          </a:p>
        </p:txBody>
      </p:sp>
      <p:sp>
        <p:nvSpPr>
          <p:cNvPr id="13" name="Text 11"/>
          <p:cNvSpPr/>
          <p:nvPr/>
        </p:nvSpPr>
        <p:spPr>
          <a:xfrm>
            <a:off x="548640" y="4151376"/>
            <a:ext cx="11064240" cy="32004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A — The sense organ they use</a:t>
            </a:r>
            <a:endParaRPr lang="en-US" sz="1200" dirty="0"/>
          </a:p>
        </p:txBody>
      </p:sp>
      <p:sp>
        <p:nvSpPr>
          <p:cNvPr id="14" name="Text 12"/>
          <p:cNvSpPr/>
          <p:nvPr/>
        </p:nvSpPr>
        <p:spPr>
          <a:xfrm>
            <a:off x="548640" y="4498848"/>
            <a:ext cx="11064240" cy="32004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B — The exact stimulus</a:t>
            </a:r>
            <a:endParaRPr lang="en-US" sz="1200" dirty="0"/>
          </a:p>
        </p:txBody>
      </p:sp>
      <p:sp>
        <p:nvSpPr>
          <p:cNvPr id="15" name="Text 13"/>
          <p:cNvSpPr/>
          <p:nvPr/>
        </p:nvSpPr>
        <p:spPr>
          <a:xfrm>
            <a:off x="548640" y="4846320"/>
            <a:ext cx="11064240" cy="320040"/>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C — The four steps of the pathway</a:t>
            </a:r>
            <a:endParaRPr lang="en-US" sz="1200" dirty="0"/>
          </a:p>
        </p:txBody>
      </p:sp>
      <p:sp>
        <p:nvSpPr>
          <p:cNvPr id="16" name="Text 14"/>
          <p:cNvSpPr/>
          <p:nvPr/>
        </p:nvSpPr>
        <p:spPr>
          <a:xfrm>
            <a:off x="548640" y="5193792"/>
            <a:ext cx="11064240" cy="475488"/>
          </a:xfrm>
          <a:prstGeom prst="rect">
            <a:avLst/>
          </a:prstGeom>
          <a:noFill/>
          <a:ln/>
        </p:spPr>
        <p:txBody>
          <a:bodyPr wrap="square" rtlCol="0" anchor="ctr"/>
          <a:lstStyle/>
          <a:p>
            <a:pPr indent="0" marL="0">
              <a:buNone/>
            </a:pPr>
            <a:r>
              <a:rPr lang="en-US" sz="1100" i="1" dirty="0">
                <a:solidFill>
                  <a:srgbClr val="2DC653"/>
                </a:solidFill>
                <a:latin typeface="Calibri" pitchFamily="34" charset="0"/>
                <a:ea typeface="Calibri" pitchFamily="34" charset="-122"/>
                <a:cs typeface="Calibri" pitchFamily="34" charset="-120"/>
              </a:rPr>
              <a:t>✅  The sense organ and stimulus are very different. What stays the same is the four-step pathway itself. That's what's universal across all animals.</a:t>
            </a:r>
            <a:endParaRPr lang="en-US" sz="110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12.02  ·  Model: From Senses to Brain</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Assignment Preview — Show What You Know</a:t>
            </a:r>
            <a:endParaRPr lang="en-US" sz="1600" dirty="0"/>
          </a:p>
        </p:txBody>
      </p:sp>
      <p:sp>
        <p:nvSpPr>
          <p:cNvPr id="5" name="Shape 3"/>
          <p:cNvSpPr/>
          <p:nvPr/>
        </p:nvSpPr>
        <p:spPr>
          <a:xfrm>
            <a:off x="365760" y="749808"/>
            <a:ext cx="11430000" cy="502920"/>
          </a:xfrm>
          <a:prstGeom prst="roundRect">
            <a:avLst>
              <a:gd name="adj" fmla="val 14545"/>
            </a:avLst>
          </a:prstGeom>
          <a:solidFill>
            <a:srgbClr val="162233"/>
          </a:solidFill>
          <a:ln w="12700">
            <a:solidFill>
              <a:srgbClr val="4CC9F0"/>
            </a:solidFill>
            <a:prstDash val="solid"/>
          </a:ln>
        </p:spPr>
      </p:sp>
      <p:sp>
        <p:nvSpPr>
          <p:cNvPr id="6" name="Text 4"/>
          <p:cNvSpPr/>
          <p:nvPr/>
        </p:nvSpPr>
        <p:spPr>
          <a:xfrm>
            <a:off x="548640" y="804672"/>
            <a:ext cx="11064240" cy="38404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You built two pathway models today — the assignment extends and formalizes that work.</a:t>
            </a:r>
            <a:endParaRPr lang="en-US" sz="1200" dirty="0"/>
          </a:p>
        </p:txBody>
      </p:sp>
      <p:sp>
        <p:nvSpPr>
          <p:cNvPr id="7" name="Shape 5"/>
          <p:cNvSpPr/>
          <p:nvPr/>
        </p:nvSpPr>
        <p:spPr>
          <a:xfrm>
            <a:off x="365760" y="1371600"/>
            <a:ext cx="3474720" cy="4754880"/>
          </a:xfrm>
          <a:prstGeom prst="roundRect">
            <a:avLst>
              <a:gd name="adj" fmla="val 2105"/>
            </a:avLst>
          </a:prstGeom>
          <a:solidFill>
            <a:srgbClr val="1E2F45"/>
          </a:solidFill>
          <a:ln w="12700">
            <a:solidFill>
              <a:srgbClr val="4CC9F0"/>
            </a:solidFill>
            <a:prstDash val="solid"/>
          </a:ln>
        </p:spPr>
      </p:sp>
      <p:sp>
        <p:nvSpPr>
          <p:cNvPr id="8" name="Text 6"/>
          <p:cNvSpPr/>
          <p:nvPr/>
        </p:nvSpPr>
        <p:spPr>
          <a:xfrm>
            <a:off x="502920" y="1426464"/>
            <a:ext cx="3291840" cy="320040"/>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Part A — Match the Word</a:t>
            </a:r>
            <a:endParaRPr lang="en-US" sz="1200" dirty="0"/>
          </a:p>
        </p:txBody>
      </p:sp>
      <p:sp>
        <p:nvSpPr>
          <p:cNvPr id="9" name="Text 7"/>
          <p:cNvSpPr/>
          <p:nvPr/>
        </p:nvSpPr>
        <p:spPr>
          <a:xfrm>
            <a:off x="502920" y="1783080"/>
            <a:ext cx="3291840" cy="41148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Word bank:</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Pathway</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Process</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Model</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Scenario</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Fill in 4 blanks.</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(Practiced: Slides 4–5)</a:t>
            </a:r>
            <a:endParaRPr lang="en-US" sz="1150" dirty="0"/>
          </a:p>
        </p:txBody>
      </p:sp>
      <p:sp>
        <p:nvSpPr>
          <p:cNvPr id="10" name="Shape 8"/>
          <p:cNvSpPr/>
          <p:nvPr/>
        </p:nvSpPr>
        <p:spPr>
          <a:xfrm>
            <a:off x="4114800" y="1371600"/>
            <a:ext cx="3474720" cy="4754880"/>
          </a:xfrm>
          <a:prstGeom prst="roundRect">
            <a:avLst>
              <a:gd name="adj" fmla="val 2105"/>
            </a:avLst>
          </a:prstGeom>
          <a:solidFill>
            <a:srgbClr val="1E2F45"/>
          </a:solidFill>
          <a:ln w="12700">
            <a:solidFill>
              <a:srgbClr val="FFB703"/>
            </a:solidFill>
            <a:prstDash val="solid"/>
          </a:ln>
        </p:spPr>
      </p:sp>
      <p:sp>
        <p:nvSpPr>
          <p:cNvPr id="11" name="Text 9"/>
          <p:cNvSpPr/>
          <p:nvPr/>
        </p:nvSpPr>
        <p:spPr>
          <a:xfrm>
            <a:off x="4251960" y="1426464"/>
            <a:ext cx="3291840" cy="320040"/>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Part B — Short Answer</a:t>
            </a:r>
            <a:endParaRPr lang="en-US" sz="1200" dirty="0"/>
          </a:p>
        </p:txBody>
      </p:sp>
      <p:sp>
        <p:nvSpPr>
          <p:cNvPr id="12" name="Text 10"/>
          <p:cNvSpPr/>
          <p:nvPr/>
        </p:nvSpPr>
        <p:spPr>
          <a:xfrm>
            <a:off x="4251960" y="1783080"/>
            <a:ext cx="3291840" cy="41148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3 questions:</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Write a full pathway model as a sentence for one Florida animal (Slide 8)</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Why is comparing TWO models more useful than one? (Slide 9)</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What two parts are missing from a stimulus → response model? (Slide 11)</a:t>
            </a:r>
            <a:endParaRPr lang="en-US" sz="1150" dirty="0"/>
          </a:p>
        </p:txBody>
      </p:sp>
      <p:sp>
        <p:nvSpPr>
          <p:cNvPr id="13" name="Shape 11"/>
          <p:cNvSpPr/>
          <p:nvPr/>
        </p:nvSpPr>
        <p:spPr>
          <a:xfrm>
            <a:off x="7863840" y="1371600"/>
            <a:ext cx="3840480" cy="4754880"/>
          </a:xfrm>
          <a:prstGeom prst="roundRect">
            <a:avLst>
              <a:gd name="adj" fmla="val 1905"/>
            </a:avLst>
          </a:prstGeom>
          <a:solidFill>
            <a:srgbClr val="1E2F45"/>
          </a:solidFill>
          <a:ln w="12700">
            <a:solidFill>
              <a:srgbClr val="2DC653"/>
            </a:solidFill>
            <a:prstDash val="solid"/>
          </a:ln>
        </p:spPr>
      </p:sp>
      <p:sp>
        <p:nvSpPr>
          <p:cNvPr id="14" name="Text 12"/>
          <p:cNvSpPr/>
          <p:nvPr/>
        </p:nvSpPr>
        <p:spPr>
          <a:xfrm>
            <a:off x="8001000" y="1426464"/>
            <a:ext cx="3566160" cy="320040"/>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Part C — Two Pathway Models</a:t>
            </a:r>
            <a:endParaRPr lang="en-US" sz="1200" dirty="0"/>
          </a:p>
        </p:txBody>
      </p:sp>
      <p:sp>
        <p:nvSpPr>
          <p:cNvPr id="15" name="Text 13"/>
          <p:cNvSpPr/>
          <p:nvPr/>
        </p:nvSpPr>
        <p:spPr>
          <a:xfrm>
            <a:off x="8001000" y="1783080"/>
            <a:ext cx="3566160" cy="41148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In your notebook:</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Two complete pathway models (4 boxes each, all arrows, signal labels)</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Two comparison sentences underneath</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Key Question response (3 vocab words)</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Evidence argument: 'One model is enough'</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(Practiced: Slides 9–11)</a:t>
            </a:r>
            <a:endParaRPr lang="en-US" sz="115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12.02  ·  Model: From Senses to Brain</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"How can a model show the way an animal turns information into action?"</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A: All 4 blanks filled in using the word bank.</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B: Questions 5, 6, and 7 in complete sentences with vocab.</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C: Two complete pathway models with all arrows + 2 comparison sentences.</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Key Question Response: 2–3 sentences, at least 3 vocab words.</a:t>
            </a:r>
            <a:endParaRPr lang="en-US" sz="1100" dirty="0"/>
          </a:p>
        </p:txBody>
      </p:sp>
      <p:sp>
        <p:nvSpPr>
          <p:cNvPr id="14" name="Text 12"/>
          <p:cNvSpPr/>
          <p:nvPr/>
        </p:nvSpPr>
        <p:spPr>
          <a:xfrm>
            <a:off x="548640" y="4133088"/>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Evidence Response: Claim about whether one model is enough + 2 pieces of evidence.</a:t>
            </a:r>
            <a:endParaRPr lang="en-US" sz="1100" dirty="0"/>
          </a:p>
        </p:txBody>
      </p:sp>
      <p:sp>
        <p:nvSpPr>
          <p:cNvPr id="15" name="Shape 13"/>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6" name="Text 14"/>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7" name="Text 15"/>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13.01 — Like Parent, Like Child</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You'll switch from BEHAVIOR to FAMILY — how Florida plants and animals pass traits to their offspring, and which traits the environment shapes along the way.</a:t>
            </a:r>
            <a:endParaRPr lang="en-US" sz="1200" dirty="0"/>
          </a:p>
        </p:txBody>
      </p:sp>
      <p:sp>
        <p:nvSpPr>
          <p:cNvPr id="18" name="Shape 16"/>
          <p:cNvSpPr/>
          <p:nvPr/>
        </p:nvSpPr>
        <p:spPr>
          <a:xfrm>
            <a:off x="0" y="5047488"/>
            <a:ext cx="12192000" cy="45720"/>
          </a:xfrm>
          <a:prstGeom prst="rect">
            <a:avLst/>
          </a:prstGeom>
          <a:solidFill>
            <a:srgbClr val="4CC9F0"/>
          </a:solidFill>
          <a:ln/>
        </p:spPr>
      </p:sp>
      <p:sp>
        <p:nvSpPr>
          <p:cNvPr id="19" name="Text 17"/>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12.02  ·  Model: From Senses to Brain</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2026-07-13T20:20:13Z</dcterms:created>
  <dcterms:modified xsi:type="dcterms:W3CDTF">2026-07-13T20:20:13Z</dcterms:modified>
</cp:coreProperties>
</file>