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students discover that devices are energy-transformation machines. Pre-load the toaster image in slide 2. Distribute science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toaster image or bring one in (unplugged). Ask: What did we put INTO the toaster? What came OUT? Do NOT give answers yet — capture student ideas on a whiteboard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2-3 students share predictions. Record class vote: Scientist A vs. Scientist B. Keep the tally visible — revisit on slide 12. This competing-hypotheses framing creates genuine intellectual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Pronounce: TRANS-for-MAY-shun. Ask students to tap the syllables. Emphasize: transformation = the FORM changes. Not just moving — actually becoming a different kind of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choral response for vocab checks. Cold-call 2 students on the quick-check questions. If students confuse 'convert' and 'transfer,' flag — slide 7 directly addresses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partner talk, ask: Did anyone describe the SAME device? Same input? Transition: 'You have been describing transformations. But wait — last week we talked about TRANSFER. Are those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misconception: students often say 'the heat transferred' when they mean it transformed. Reinforce: if the FORM changes, it is transformation. This distinction appears on the assignment (Q6). Model using both words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three boxes on the board: [INPUT] then Device then [OUTPUT]. Ask a student to label each box for the toaster. Then ask: What goes inside the middle box for a flashlight?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each device together. Emphasize: two of the three devices share the same input — electrical energy. What makes the wind turbine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listen. Target: students use the word because in at least one sentence. Prompt: Tell me WHY the inputs are the same or different. Collect 2-3 ideas to share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a flashlight is only 15% efficient, what happened to the other 85% of the energy? It became heat. It did not disappear. Engineers work to reduce wasted output — that is what efficiency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vote tally from slide 3. Celebrate both sides — the misconception is very natural. Reinforce: scientists update their thinking when evidence changes. That is what GOOD scientists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independently for 8 minutes. Circulate — if a student picks a lamp, prompt: What is the input? Electrical. What is the useful output? Light. What else comes out? Look for the wasted-energy arrow in their sketches.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Independent = I change it. Dependent = it depends on what I changed. Controlled = same for everyone. Common error: changing TWO things at once. Reinforce: only change ONE variable at a time for a fair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that a good claim is a COMPLETE SENTENCE that takes a clear position. Model writing it on the board before moving to evidence. Ask: Could you agree with the classmate? What evidence would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of the three pieces of evidence is strongest? Why? What makes evidence strong — it should be specific, from the lesson, and not just restating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The reasoning is the hardest part — it LINKS evidence to claim using science words. The key phrase is: My evidence supports my claim BECAUSE... They must name the principle (conservation of energy). They will write their own version independently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Florida context: many students may have solar panels at home or see them on buildings. Ask: Why would you WANT more efficiency? Less waste = more useful energy from the same sunlight. Engineers keep working to improve efficiency — that is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energy conversion personal and relatable. Ask: Have you ever felt HOT after running? That heat is the wasted output of your body-device. Does that mean your body created that heat? No — it transformed chemical energy (food) into motion and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write their own answers before revealing. Ask: Thumbs up if you got all three right. For anyone who missed Q2, re-teach the transfer vs. transformation distinction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briefly. Emphasize: the CER evidence response is the last question — students write it INDEPENDENTLY using today's lesson. They should reference the specific devices (toaster, flashlight, wind turbine) and use the word conservation if they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as students pack up, ask one to tell you the INPUT and OUTPUT of one device from today. Celebrate any student who correctly says it converts, not creates. Collect notebooks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Energy Conversion</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How can energy change from one form into a totally different form?</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4-ESS3-1  ·  Obtain and combine information to describe how energy and fuels are derived from natural resources.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what energy goes INTO a device and what comes OUT.</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that energy can be converted (changed) from one form to another.</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use a model to show energy input, conversion, and output in a real device.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What Just Happened?</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13232"/>
            <a:ext cx="5120640" cy="3657600"/>
          </a:xfrm>
          <a:prstGeom prst="roundRect">
            <a:avLst>
              <a:gd name="adj" fmla="val 2000"/>
            </a:avLst>
          </a:prstGeom>
          <a:solidFill>
            <a:srgbClr val="0A1520"/>
          </a:solidFill>
          <a:ln w="19050">
            <a:solidFill>
              <a:srgbClr val="4CC9F0"/>
            </a:solidFill>
            <a:prstDash val="dash"/>
          </a:ln>
        </p:spPr>
      </p:sp>
      <p:sp>
        <p:nvSpPr>
          <p:cNvPr id="8" name="Text 6"/>
          <p:cNvSpPr/>
          <p:nvPr/>
        </p:nvSpPr>
        <p:spPr>
          <a:xfrm>
            <a:off x="457200" y="822960"/>
            <a:ext cx="4937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261872"/>
            <a:ext cx="49377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554480"/>
            <a:ext cx="4901184" cy="26060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"electric toaster glowing coils bread 4th grade science"</a:t>
            </a:r>
            <a:endParaRPr lang="en-US" sz="950" dirty="0"/>
          </a:p>
        </p:txBody>
      </p:sp>
      <p:sp>
        <p:nvSpPr>
          <p:cNvPr id="11" name="Text 9"/>
          <p:cNvSpPr/>
          <p:nvPr/>
        </p:nvSpPr>
        <p:spPr>
          <a:xfrm>
            <a:off x="365760" y="4407408"/>
            <a:ext cx="51206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An electric toaster converting electrical energy into heat and light</a:t>
            </a:r>
            <a:endParaRPr lang="en-US" sz="900" dirty="0"/>
          </a:p>
        </p:txBody>
      </p:sp>
      <p:sp>
        <p:nvSpPr>
          <p:cNvPr id="12" name="Shape 10"/>
          <p:cNvSpPr/>
          <p:nvPr/>
        </p:nvSpPr>
        <p:spPr>
          <a:xfrm>
            <a:off x="5760720" y="713232"/>
            <a:ext cx="6035040" cy="1463040"/>
          </a:xfrm>
          <a:prstGeom prst="roundRect">
            <a:avLst>
              <a:gd name="adj" fmla="val 5000"/>
            </a:avLst>
          </a:prstGeom>
          <a:solidFill>
            <a:srgbClr val="1E2F45"/>
          </a:solidFill>
          <a:ln w="12700">
            <a:solidFill>
              <a:srgbClr val="FFB703"/>
            </a:solidFill>
            <a:prstDash val="solid"/>
          </a:ln>
        </p:spPr>
      </p:sp>
      <p:sp>
        <p:nvSpPr>
          <p:cNvPr id="13" name="Text 11"/>
          <p:cNvSpPr/>
          <p:nvPr/>
        </p:nvSpPr>
        <p:spPr>
          <a:xfrm>
            <a:off x="5943600" y="804672"/>
            <a:ext cx="5669280" cy="347472"/>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Look at this toaster carefully.</a:t>
            </a:r>
            <a:endParaRPr lang="en-US" sz="1400" dirty="0"/>
          </a:p>
        </p:txBody>
      </p:sp>
      <p:sp>
        <p:nvSpPr>
          <p:cNvPr id="14" name="Text 12"/>
          <p:cNvSpPr/>
          <p:nvPr/>
        </p:nvSpPr>
        <p:spPr>
          <a:xfrm>
            <a:off x="5943600" y="1170432"/>
            <a:ext cx="5669280" cy="9144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You plug it in. The coils glow red. Your bread turns golden-brown. Steam rises from the slots.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You unplug it. The coils cool down.</a:t>
            </a:r>
            <a:endParaRPr lang="en-US" sz="1200" dirty="0"/>
          </a:p>
        </p:txBody>
      </p:sp>
      <p:sp>
        <p:nvSpPr>
          <p:cNvPr id="15" name="Shape 13"/>
          <p:cNvSpPr/>
          <p:nvPr/>
        </p:nvSpPr>
        <p:spPr>
          <a:xfrm>
            <a:off x="5760720" y="2304288"/>
            <a:ext cx="6035040" cy="1143000"/>
          </a:xfrm>
          <a:prstGeom prst="roundRect">
            <a:avLst>
              <a:gd name="adj" fmla="val 6400"/>
            </a:avLst>
          </a:prstGeom>
          <a:solidFill>
            <a:srgbClr val="1A1A30"/>
          </a:solidFill>
          <a:ln w="12700">
            <a:solidFill>
              <a:srgbClr val="4CC9F0"/>
            </a:solidFill>
            <a:prstDash val="solid"/>
          </a:ln>
        </p:spPr>
      </p:sp>
      <p:sp>
        <p:nvSpPr>
          <p:cNvPr id="16" name="Text 14"/>
          <p:cNvSpPr/>
          <p:nvPr/>
        </p:nvSpPr>
        <p:spPr>
          <a:xfrm>
            <a:off x="5943600" y="2359152"/>
            <a:ext cx="5669280" cy="29260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Key Question:</a:t>
            </a:r>
            <a:endParaRPr lang="en-US" sz="1200" dirty="0"/>
          </a:p>
        </p:txBody>
      </p:sp>
      <p:sp>
        <p:nvSpPr>
          <p:cNvPr id="17" name="Text 15"/>
          <p:cNvSpPr/>
          <p:nvPr/>
        </p:nvSpPr>
        <p:spPr>
          <a:xfrm>
            <a:off x="5943600" y="2670048"/>
            <a:ext cx="5669280" cy="6858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Where did the heat come from? Was heat energy created inside the toaster?</a:t>
            </a:r>
            <a:endParaRPr lang="en-US" sz="1300" dirty="0"/>
          </a:p>
        </p:txBody>
      </p:sp>
      <p:sp>
        <p:nvSpPr>
          <p:cNvPr id="18" name="Shape 16"/>
          <p:cNvSpPr/>
          <p:nvPr/>
        </p:nvSpPr>
        <p:spPr>
          <a:xfrm>
            <a:off x="5760720" y="3584448"/>
            <a:ext cx="6035040" cy="1097280"/>
          </a:xfrm>
          <a:prstGeom prst="roundRect">
            <a:avLst>
              <a:gd name="adj" fmla="val 6667"/>
            </a:avLst>
          </a:prstGeom>
          <a:solidFill>
            <a:srgbClr val="162233"/>
          </a:solidFill>
          <a:ln w="12700">
            <a:solidFill>
              <a:srgbClr val="FFB703"/>
            </a:solidFill>
            <a:prstDash val="solid"/>
          </a:ln>
        </p:spPr>
      </p:sp>
      <p:sp>
        <p:nvSpPr>
          <p:cNvPr id="19" name="Text 17"/>
          <p:cNvSpPr/>
          <p:nvPr/>
        </p:nvSpPr>
        <p:spPr>
          <a:xfrm>
            <a:off x="5925312" y="3657600"/>
            <a:ext cx="570585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First:</a:t>
            </a:r>
            <a:endParaRPr lang="en-US" sz="1300" dirty="0"/>
          </a:p>
        </p:txBody>
      </p:sp>
      <p:sp>
        <p:nvSpPr>
          <p:cNvPr id="20" name="Text 18"/>
          <p:cNvSpPr/>
          <p:nvPr/>
        </p:nvSpPr>
        <p:spPr>
          <a:xfrm>
            <a:off x="5925312" y="4023360"/>
            <a:ext cx="5705856" cy="5486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In your notebook — write what you NOTICE and what you WONDER about the toaster.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Make a Prediction</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457200" y="749808"/>
            <a:ext cx="11247120" cy="1005840"/>
          </a:xfrm>
          <a:prstGeom prst="roundRect">
            <a:avLst>
              <a:gd name="adj" fmla="val 7273"/>
            </a:avLst>
          </a:prstGeom>
          <a:solidFill>
            <a:srgbClr val="1E2F45"/>
          </a:solidFill>
          <a:ln w="12700">
            <a:solidFill>
              <a:srgbClr val="FFB703"/>
            </a:solidFill>
            <a:prstDash val="solid"/>
          </a:ln>
        </p:spPr>
      </p:sp>
      <p:sp>
        <p:nvSpPr>
          <p:cNvPr id="8" name="Text 6"/>
          <p:cNvSpPr/>
          <p:nvPr/>
        </p:nvSpPr>
        <p:spPr>
          <a:xfrm>
            <a:off x="640080" y="804672"/>
            <a:ext cx="10972800" cy="8229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Before we investigate: What do YOU think happens to electrical energy when you plug in a toaster?</a:t>
            </a:r>
            <a:endParaRPr lang="en-US" sz="1400" dirty="0"/>
          </a:p>
        </p:txBody>
      </p:sp>
      <p:sp>
        <p:nvSpPr>
          <p:cNvPr id="9" name="Shape 7"/>
          <p:cNvSpPr/>
          <p:nvPr/>
        </p:nvSpPr>
        <p:spPr>
          <a:xfrm>
            <a:off x="457200" y="1920240"/>
            <a:ext cx="11247120" cy="1417320"/>
          </a:xfrm>
          <a:prstGeom prst="roundRect">
            <a:avLst>
              <a:gd name="adj" fmla="val 5161"/>
            </a:avLst>
          </a:prstGeom>
          <a:solidFill>
            <a:srgbClr val="162233"/>
          </a:solidFill>
          <a:ln w="12700">
            <a:solidFill>
              <a:srgbClr val="FFB703"/>
            </a:solidFill>
            <a:prstDash val="solid"/>
          </a:ln>
        </p:spPr>
      </p:sp>
      <p:sp>
        <p:nvSpPr>
          <p:cNvPr id="10" name="Text 8"/>
          <p:cNvSpPr/>
          <p:nvPr/>
        </p:nvSpPr>
        <p:spPr>
          <a:xfrm>
            <a:off x="621792" y="199339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Prediction Sentence Starter — write it in your notebook:</a:t>
            </a:r>
            <a:endParaRPr lang="en-US" sz="1300" dirty="0"/>
          </a:p>
        </p:txBody>
      </p:sp>
      <p:sp>
        <p:nvSpPr>
          <p:cNvPr id="11" name="Text 9"/>
          <p:cNvSpPr/>
          <p:nvPr/>
        </p:nvSpPr>
        <p:spPr>
          <a:xfrm>
            <a:off x="621792" y="2359152"/>
            <a:ext cx="10917936" cy="86868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I predict the toaster ___ because ___.</a:t>
            </a:r>
            <a:endParaRPr lang="en-US" sz="1300" dirty="0"/>
          </a:p>
          <a:p>
            <a:pPr algn="l" indent="0" marL="0">
              <a:buNone/>
            </a:pPr>
            <a:r>
              <a:rPr lang="en-US" sz="1300" i="1" dirty="0">
                <a:solidFill>
                  <a:srgbClr val="FFFFFF"/>
                </a:solidFill>
                <a:latin typeface="Calibri" pitchFamily="34" charset="0"/>
                <a:ea typeface="Calibri" pitchFamily="34" charset="-122"/>
                <a:cs typeface="Calibri" pitchFamily="34" charset="-120"/>
              </a:rPr>
              <a:t>(Example: I predict the toaster changes electrical energy into heat because the coils glow red.)</a:t>
            </a:r>
            <a:endParaRPr lang="en-US" sz="1300" dirty="0"/>
          </a:p>
        </p:txBody>
      </p:sp>
      <p:sp>
        <p:nvSpPr>
          <p:cNvPr id="12" name="Shape 10"/>
          <p:cNvSpPr/>
          <p:nvPr/>
        </p:nvSpPr>
        <p:spPr>
          <a:xfrm>
            <a:off x="457200" y="3493008"/>
            <a:ext cx="11247120" cy="2331720"/>
          </a:xfrm>
          <a:prstGeom prst="roundRect">
            <a:avLst>
              <a:gd name="adj" fmla="val 3137"/>
            </a:avLst>
          </a:prstGeom>
          <a:solidFill>
            <a:srgbClr val="162233"/>
          </a:solidFill>
          <a:ln w="25400">
            <a:solidFill>
              <a:srgbClr val="0096C7"/>
            </a:solidFill>
            <a:prstDash val="solid"/>
          </a:ln>
        </p:spPr>
      </p:sp>
      <p:sp>
        <p:nvSpPr>
          <p:cNvPr id="13" name="Text 11"/>
          <p:cNvSpPr/>
          <p:nvPr/>
        </p:nvSpPr>
        <p:spPr>
          <a:xfrm>
            <a:off x="640080" y="3547872"/>
            <a:ext cx="1097280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Competing Hypotheses — Which scientist do you agree with?</a:t>
            </a:r>
            <a:endParaRPr lang="en-US" sz="1200" dirty="0"/>
          </a:p>
        </p:txBody>
      </p:sp>
      <p:sp>
        <p:nvSpPr>
          <p:cNvPr id="14" name="Text 12"/>
          <p:cNvSpPr/>
          <p:nvPr/>
        </p:nvSpPr>
        <p:spPr>
          <a:xfrm>
            <a:off x="640080" y="3895344"/>
            <a:ext cx="5303520" cy="256032"/>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Scientist A says:</a:t>
            </a:r>
            <a:endParaRPr lang="en-US" sz="1100" dirty="0"/>
          </a:p>
        </p:txBody>
      </p:sp>
      <p:sp>
        <p:nvSpPr>
          <p:cNvPr id="15" name="Text 13"/>
          <p:cNvSpPr/>
          <p:nvPr/>
        </p:nvSpPr>
        <p:spPr>
          <a:xfrm>
            <a:off x="640080" y="4151376"/>
            <a:ext cx="5303520" cy="7772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toaster CREATES heat from electricity. New heat energy is generated inside the coils."</a:t>
            </a:r>
            <a:endParaRPr lang="en-US" sz="1100" dirty="0"/>
          </a:p>
        </p:txBody>
      </p:sp>
      <p:sp>
        <p:nvSpPr>
          <p:cNvPr id="16" name="Text 14"/>
          <p:cNvSpPr/>
          <p:nvPr/>
        </p:nvSpPr>
        <p:spPr>
          <a:xfrm>
            <a:off x="6309360" y="3895344"/>
            <a:ext cx="5303520" cy="256032"/>
          </a:xfrm>
          <a:prstGeom prst="rect">
            <a:avLst/>
          </a:prstGeom>
          <a:noFill/>
          <a:ln/>
        </p:spPr>
        <p:txBody>
          <a:bodyPr wrap="square" rtlCol="0" anchor="ctr"/>
          <a:lstStyle/>
          <a:p>
            <a:pPr indent="0" marL="0">
              <a:buNone/>
            </a:pPr>
            <a:r>
              <a:rPr lang="en-US" sz="1100" b="1" dirty="0">
                <a:solidFill>
                  <a:srgbClr val="F4736A"/>
                </a:solidFill>
                <a:latin typeface="Calibri" pitchFamily="34" charset="0"/>
                <a:ea typeface="Calibri" pitchFamily="34" charset="-122"/>
                <a:cs typeface="Calibri" pitchFamily="34" charset="-120"/>
              </a:rPr>
              <a:t>Scientist B says:</a:t>
            </a:r>
            <a:endParaRPr lang="en-US" sz="1100" dirty="0"/>
          </a:p>
        </p:txBody>
      </p:sp>
      <p:sp>
        <p:nvSpPr>
          <p:cNvPr id="17" name="Text 15"/>
          <p:cNvSpPr/>
          <p:nvPr/>
        </p:nvSpPr>
        <p:spPr>
          <a:xfrm>
            <a:off x="6309360" y="4151376"/>
            <a:ext cx="5303520" cy="7772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electricity IS the energy. The toaster just CHANGES its form from electrical into heat — nothing new is made."</a:t>
            </a:r>
            <a:endParaRPr lang="en-US" sz="1100" dirty="0"/>
          </a:p>
        </p:txBody>
      </p:sp>
      <p:sp>
        <p:nvSpPr>
          <p:cNvPr id="18" name="Text 16"/>
          <p:cNvSpPr/>
          <p:nvPr/>
        </p:nvSpPr>
        <p:spPr>
          <a:xfrm>
            <a:off x="640080" y="4974336"/>
            <a:ext cx="10972800" cy="320040"/>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Which matches what actually happens? Hold your prediction — we will revisit it at the end!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Set 1</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Text 5"/>
          <p:cNvSpPr/>
          <p:nvPr/>
        </p:nvSpPr>
        <p:spPr>
          <a:xfrm>
            <a:off x="457200" y="713232"/>
            <a:ext cx="11247120" cy="34747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Learn these three words before we go deeper.</a:t>
            </a:r>
            <a:endParaRPr lang="en-US" sz="1300" dirty="0"/>
          </a:p>
        </p:txBody>
      </p:sp>
      <p:sp>
        <p:nvSpPr>
          <p:cNvPr id="8" name="Shape 6"/>
          <p:cNvSpPr/>
          <p:nvPr/>
        </p:nvSpPr>
        <p:spPr>
          <a:xfrm>
            <a:off x="365760" y="1170432"/>
            <a:ext cx="3611880" cy="1325880"/>
          </a:xfrm>
          <a:prstGeom prst="roundRect">
            <a:avLst>
              <a:gd name="adj" fmla="val 6897"/>
            </a:avLst>
          </a:prstGeom>
          <a:solidFill>
            <a:srgbClr val="1E2F45"/>
          </a:solidFill>
          <a:ln w="25400">
            <a:solidFill>
              <a:srgbClr val="4CC9F0"/>
            </a:solidFill>
            <a:prstDash val="solid"/>
          </a:ln>
        </p:spPr>
      </p:sp>
      <p:sp>
        <p:nvSpPr>
          <p:cNvPr id="9" name="Shape 7"/>
          <p:cNvSpPr/>
          <p:nvPr/>
        </p:nvSpPr>
        <p:spPr>
          <a:xfrm>
            <a:off x="365760" y="1170432"/>
            <a:ext cx="3611880" cy="347472"/>
          </a:xfrm>
          <a:prstGeom prst="roundRect">
            <a:avLst>
              <a:gd name="adj" fmla="val 21053"/>
            </a:avLst>
          </a:prstGeom>
          <a:solidFill>
            <a:srgbClr val="4CC9F0"/>
          </a:solidFill>
          <a:ln w="12700">
            <a:solidFill>
              <a:srgbClr val="4CC9F0"/>
            </a:solidFill>
            <a:prstDash val="solid"/>
          </a:ln>
        </p:spPr>
      </p:sp>
      <p:sp>
        <p:nvSpPr>
          <p:cNvPr id="10" name="Text 8"/>
          <p:cNvSpPr/>
          <p:nvPr/>
        </p:nvSpPr>
        <p:spPr>
          <a:xfrm>
            <a:off x="457200" y="1197864"/>
            <a:ext cx="342900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 Energy</a:t>
            </a:r>
            <a:endParaRPr lang="en-US" sz="1200" dirty="0"/>
          </a:p>
        </p:txBody>
      </p:sp>
      <p:sp>
        <p:nvSpPr>
          <p:cNvPr id="11" name="Text 9"/>
          <p:cNvSpPr/>
          <p:nvPr/>
        </p:nvSpPr>
        <p:spPr>
          <a:xfrm>
            <a:off x="475488" y="1572768"/>
            <a:ext cx="339242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energy that goes INTO a device before conversion happens.</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 Electrical energy going INTO a toaster.</a:t>
            </a:r>
            <a:endParaRPr lang="en-US" sz="1050" dirty="0"/>
          </a:p>
        </p:txBody>
      </p:sp>
      <p:sp>
        <p:nvSpPr>
          <p:cNvPr id="12" name="Shape 10"/>
          <p:cNvSpPr/>
          <p:nvPr/>
        </p:nvSpPr>
        <p:spPr>
          <a:xfrm>
            <a:off x="4279392" y="1170432"/>
            <a:ext cx="3611880" cy="1325880"/>
          </a:xfrm>
          <a:prstGeom prst="roundRect">
            <a:avLst>
              <a:gd name="adj" fmla="val 6897"/>
            </a:avLst>
          </a:prstGeom>
          <a:solidFill>
            <a:srgbClr val="1E2F45"/>
          </a:solidFill>
          <a:ln w="25400">
            <a:solidFill>
              <a:srgbClr val="2DC653"/>
            </a:solidFill>
            <a:prstDash val="solid"/>
          </a:ln>
        </p:spPr>
      </p:sp>
      <p:sp>
        <p:nvSpPr>
          <p:cNvPr id="13" name="Shape 11"/>
          <p:cNvSpPr/>
          <p:nvPr/>
        </p:nvSpPr>
        <p:spPr>
          <a:xfrm>
            <a:off x="4279392" y="1170432"/>
            <a:ext cx="3611880" cy="347472"/>
          </a:xfrm>
          <a:prstGeom prst="roundRect">
            <a:avLst>
              <a:gd name="adj" fmla="val 21053"/>
            </a:avLst>
          </a:prstGeom>
          <a:solidFill>
            <a:srgbClr val="2DC653"/>
          </a:solidFill>
          <a:ln w="12700">
            <a:solidFill>
              <a:srgbClr val="2DC653"/>
            </a:solidFill>
            <a:prstDash val="solid"/>
          </a:ln>
        </p:spPr>
      </p:sp>
      <p:sp>
        <p:nvSpPr>
          <p:cNvPr id="14" name="Text 12"/>
          <p:cNvSpPr/>
          <p:nvPr/>
        </p:nvSpPr>
        <p:spPr>
          <a:xfrm>
            <a:off x="4370832" y="1197864"/>
            <a:ext cx="342900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Output Energy</a:t>
            </a:r>
            <a:endParaRPr lang="en-US" sz="1200" dirty="0"/>
          </a:p>
        </p:txBody>
      </p:sp>
      <p:sp>
        <p:nvSpPr>
          <p:cNvPr id="15" name="Text 13"/>
          <p:cNvSpPr/>
          <p:nvPr/>
        </p:nvSpPr>
        <p:spPr>
          <a:xfrm>
            <a:off x="4389120" y="1572768"/>
            <a:ext cx="339242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energy that comes OUT of a device after conversion.</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 Heat energy coming OUT of a toaster.</a:t>
            </a:r>
            <a:endParaRPr lang="en-US" sz="1050" dirty="0"/>
          </a:p>
        </p:txBody>
      </p:sp>
      <p:sp>
        <p:nvSpPr>
          <p:cNvPr id="16" name="Shape 14"/>
          <p:cNvSpPr/>
          <p:nvPr/>
        </p:nvSpPr>
        <p:spPr>
          <a:xfrm>
            <a:off x="8193024" y="1170432"/>
            <a:ext cx="3611880" cy="1325880"/>
          </a:xfrm>
          <a:prstGeom prst="roundRect">
            <a:avLst>
              <a:gd name="adj" fmla="val 6897"/>
            </a:avLst>
          </a:prstGeom>
          <a:solidFill>
            <a:srgbClr val="1E2F45"/>
          </a:solidFill>
          <a:ln w="25400">
            <a:solidFill>
              <a:srgbClr val="F4736A"/>
            </a:solidFill>
            <a:prstDash val="solid"/>
          </a:ln>
        </p:spPr>
      </p:sp>
      <p:sp>
        <p:nvSpPr>
          <p:cNvPr id="17" name="Shape 15"/>
          <p:cNvSpPr/>
          <p:nvPr/>
        </p:nvSpPr>
        <p:spPr>
          <a:xfrm>
            <a:off x="8193024" y="1170432"/>
            <a:ext cx="3611880" cy="347472"/>
          </a:xfrm>
          <a:prstGeom prst="roundRect">
            <a:avLst>
              <a:gd name="adj" fmla="val 21053"/>
            </a:avLst>
          </a:prstGeom>
          <a:solidFill>
            <a:srgbClr val="F4736A"/>
          </a:solidFill>
          <a:ln w="12700">
            <a:solidFill>
              <a:srgbClr val="F4736A"/>
            </a:solidFill>
            <a:prstDash val="solid"/>
          </a:ln>
        </p:spPr>
      </p:sp>
      <p:sp>
        <p:nvSpPr>
          <p:cNvPr id="18" name="Text 16"/>
          <p:cNvSpPr/>
          <p:nvPr/>
        </p:nvSpPr>
        <p:spPr>
          <a:xfrm>
            <a:off x="8284464" y="1197864"/>
            <a:ext cx="342900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Transformation</a:t>
            </a:r>
            <a:endParaRPr lang="en-US" sz="1200" dirty="0"/>
          </a:p>
        </p:txBody>
      </p:sp>
      <p:sp>
        <p:nvSpPr>
          <p:cNvPr id="19" name="Text 17"/>
          <p:cNvSpPr/>
          <p:nvPr/>
        </p:nvSpPr>
        <p:spPr>
          <a:xfrm>
            <a:off x="8302752" y="1572768"/>
            <a:ext cx="339242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energy CHANGES from one form to another. Different from transfer — the form itself changes.</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 Electrical → Heat</a:t>
            </a:r>
            <a:endParaRPr lang="en-US" sz="1050" dirty="0"/>
          </a:p>
        </p:txBody>
      </p:sp>
      <p:sp>
        <p:nvSpPr>
          <p:cNvPr id="20" name="Shape 18"/>
          <p:cNvSpPr/>
          <p:nvPr/>
        </p:nvSpPr>
        <p:spPr>
          <a:xfrm>
            <a:off x="365760" y="2633472"/>
            <a:ext cx="11247120" cy="1298448"/>
          </a:xfrm>
          <a:prstGeom prst="roundRect">
            <a:avLst>
              <a:gd name="adj" fmla="val 5634"/>
            </a:avLst>
          </a:prstGeom>
          <a:solidFill>
            <a:srgbClr val="162233"/>
          </a:solidFill>
          <a:ln w="12700">
            <a:solidFill>
              <a:srgbClr val="243A52"/>
            </a:solidFill>
            <a:prstDash val="solid"/>
          </a:ln>
        </p:spPr>
      </p:sp>
      <p:sp>
        <p:nvSpPr>
          <p:cNvPr id="21" name="Text 19"/>
          <p:cNvSpPr/>
          <p:nvPr/>
        </p:nvSpPr>
        <p:spPr>
          <a:xfrm>
            <a:off x="548640" y="2697480"/>
            <a:ext cx="2194560" cy="320040"/>
          </a:xfrm>
          <a:prstGeom prst="rect">
            <a:avLst/>
          </a:prstGeom>
          <a:noFill/>
          <a:ln/>
        </p:spPr>
        <p:txBody>
          <a:bodyPr wrap="square" rtlCol="0" anchor="ctr"/>
          <a:lstStyle/>
          <a:p>
            <a:pPr indent="0" marL="0">
              <a:buNone/>
            </a:pPr>
            <a:r>
              <a:rPr lang="en-US" sz="1100" b="1" dirty="0">
                <a:solidFill>
                  <a:srgbClr val="B0C4D8"/>
                </a:solidFill>
                <a:latin typeface="Calibri" pitchFamily="34" charset="0"/>
                <a:ea typeface="Calibri" pitchFamily="34" charset="-122"/>
                <a:cs typeface="Calibri" pitchFamily="34" charset="-120"/>
              </a:rPr>
              <a:t>Energy Model:</a:t>
            </a:r>
            <a:endParaRPr lang="en-US" sz="1100" dirty="0"/>
          </a:p>
        </p:txBody>
      </p:sp>
      <p:sp>
        <p:nvSpPr>
          <p:cNvPr id="22" name="Shape 20"/>
          <p:cNvSpPr/>
          <p:nvPr/>
        </p:nvSpPr>
        <p:spPr>
          <a:xfrm>
            <a:off x="914400" y="3054096"/>
            <a:ext cx="2194560" cy="658368"/>
          </a:xfrm>
          <a:prstGeom prst="roundRect">
            <a:avLst>
              <a:gd name="adj" fmla="val 11111"/>
            </a:avLst>
          </a:prstGeom>
          <a:solidFill>
            <a:srgbClr val="0096C7"/>
          </a:solidFill>
          <a:ln w="12700">
            <a:solidFill>
              <a:srgbClr val="4CC9F0"/>
            </a:solidFill>
            <a:prstDash val="solid"/>
          </a:ln>
        </p:spPr>
      </p:sp>
      <p:sp>
        <p:nvSpPr>
          <p:cNvPr id="23" name="Text 21"/>
          <p:cNvSpPr/>
          <p:nvPr/>
        </p:nvSpPr>
        <p:spPr>
          <a:xfrm>
            <a:off x="914400" y="3054096"/>
            <a:ext cx="219456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Electrical</a:t>
            </a:r>
            <a:endParaRPr lang="en-US" sz="1100" dirty="0"/>
          </a:p>
        </p:txBody>
      </p:sp>
      <p:sp>
        <p:nvSpPr>
          <p:cNvPr id="24" name="Shape 22"/>
          <p:cNvSpPr/>
          <p:nvPr/>
        </p:nvSpPr>
        <p:spPr>
          <a:xfrm>
            <a:off x="3200400" y="3218688"/>
            <a:ext cx="1280160" cy="329184"/>
          </a:xfrm>
          <a:prstGeom prst="rightArrow">
            <a:avLst/>
          </a:prstGeom>
          <a:solidFill>
            <a:srgbClr val="FFB703"/>
          </a:solidFill>
          <a:ln w="12700">
            <a:solidFill>
              <a:srgbClr val="FFB703"/>
            </a:solidFill>
            <a:prstDash val="solid"/>
          </a:ln>
        </p:spPr>
      </p:sp>
      <p:sp>
        <p:nvSpPr>
          <p:cNvPr id="25" name="Text 23"/>
          <p:cNvSpPr/>
          <p:nvPr/>
        </p:nvSpPr>
        <p:spPr>
          <a:xfrm>
            <a:off x="3200400" y="3547872"/>
            <a:ext cx="1280160" cy="201168"/>
          </a:xfrm>
          <a:prstGeom prst="rect">
            <a:avLst/>
          </a:prstGeom>
          <a:noFill/>
          <a:ln/>
        </p:spPr>
        <p:txBody>
          <a:bodyPr wrap="square" rtlCol="0" anchor="ctr"/>
          <a:lstStyle/>
          <a:p>
            <a:pPr algn="ctr" indent="0" marL="0">
              <a:buNone/>
            </a:pPr>
            <a:r>
              <a:rPr lang="en-US" sz="800" dirty="0">
                <a:solidFill>
                  <a:srgbClr val="FFB703"/>
                </a:solidFill>
                <a:latin typeface="Calibri" pitchFamily="34" charset="0"/>
                <a:ea typeface="Calibri" pitchFamily="34" charset="-122"/>
                <a:cs typeface="Calibri" pitchFamily="34" charset="-120"/>
              </a:rPr>
              <a:t>TRANSFORMATION</a:t>
            </a:r>
            <a:endParaRPr lang="en-US" sz="800" dirty="0"/>
          </a:p>
        </p:txBody>
      </p:sp>
      <p:sp>
        <p:nvSpPr>
          <p:cNvPr id="26" name="Shape 24"/>
          <p:cNvSpPr/>
          <p:nvPr/>
        </p:nvSpPr>
        <p:spPr>
          <a:xfrm>
            <a:off x="4572000" y="3054096"/>
            <a:ext cx="2194560" cy="658368"/>
          </a:xfrm>
          <a:prstGeom prst="roundRect">
            <a:avLst>
              <a:gd name="adj" fmla="val 11111"/>
            </a:avLst>
          </a:prstGeom>
          <a:solidFill>
            <a:srgbClr val="1A4A1A"/>
          </a:solidFill>
          <a:ln w="12700">
            <a:solidFill>
              <a:srgbClr val="2DC653"/>
            </a:solidFill>
            <a:prstDash val="solid"/>
          </a:ln>
        </p:spPr>
      </p:sp>
      <p:sp>
        <p:nvSpPr>
          <p:cNvPr id="27" name="Text 25"/>
          <p:cNvSpPr/>
          <p:nvPr/>
        </p:nvSpPr>
        <p:spPr>
          <a:xfrm>
            <a:off x="4572000" y="3054096"/>
            <a:ext cx="219456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Heat + Light</a:t>
            </a:r>
            <a:endParaRPr lang="en-US" sz="1100" dirty="0"/>
          </a:p>
        </p:txBody>
      </p:sp>
      <p:sp>
        <p:nvSpPr>
          <p:cNvPr id="28" name="Text 26"/>
          <p:cNvSpPr/>
          <p:nvPr/>
        </p:nvSpPr>
        <p:spPr>
          <a:xfrm>
            <a:off x="6949440" y="3200400"/>
            <a:ext cx="4480560" cy="365760"/>
          </a:xfrm>
          <a:prstGeom prst="rect">
            <a:avLst/>
          </a:prstGeom>
          <a:noFill/>
          <a:ln/>
        </p:spPr>
        <p:txBody>
          <a:bodyPr wrap="square" rtlCol="0" anchor="ctr"/>
          <a:lstStyle/>
          <a:p>
            <a:pPr algn="ctr" indent="0" marL="0">
              <a:buNone/>
            </a:pPr>
            <a:r>
              <a:rPr lang="en-US" sz="1200" i="1" dirty="0">
                <a:solidFill>
                  <a:srgbClr val="B0C4D8"/>
                </a:solidFill>
                <a:latin typeface="Calibri" pitchFamily="34" charset="0"/>
                <a:ea typeface="Calibri" pitchFamily="34" charset="-122"/>
                <a:cs typeface="Calibri" pitchFamily="34" charset="-120"/>
              </a:rPr>
              <a:t>Device = Toaster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Set 2</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Text 5"/>
          <p:cNvSpPr/>
          <p:nvPr/>
        </p:nvSpPr>
        <p:spPr>
          <a:xfrm>
            <a:off x="457200" y="713232"/>
            <a:ext cx="11247120" cy="34747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Three more important words for today.</a:t>
            </a:r>
            <a:endParaRPr lang="en-US" sz="1300" dirty="0"/>
          </a:p>
        </p:txBody>
      </p:sp>
      <p:sp>
        <p:nvSpPr>
          <p:cNvPr id="8" name="Shape 6"/>
          <p:cNvSpPr/>
          <p:nvPr/>
        </p:nvSpPr>
        <p:spPr>
          <a:xfrm>
            <a:off x="365760" y="1170432"/>
            <a:ext cx="3611880" cy="1325880"/>
          </a:xfrm>
          <a:prstGeom prst="roundRect">
            <a:avLst>
              <a:gd name="adj" fmla="val 6897"/>
            </a:avLst>
          </a:prstGeom>
          <a:solidFill>
            <a:srgbClr val="1E2F45"/>
          </a:solidFill>
          <a:ln w="25400">
            <a:solidFill>
              <a:srgbClr val="FFB703"/>
            </a:solidFill>
            <a:prstDash val="solid"/>
          </a:ln>
        </p:spPr>
      </p:sp>
      <p:sp>
        <p:nvSpPr>
          <p:cNvPr id="9" name="Shape 7"/>
          <p:cNvSpPr/>
          <p:nvPr/>
        </p:nvSpPr>
        <p:spPr>
          <a:xfrm>
            <a:off x="365760" y="1170432"/>
            <a:ext cx="3611880" cy="347472"/>
          </a:xfrm>
          <a:prstGeom prst="roundRect">
            <a:avLst>
              <a:gd name="adj" fmla="val 21053"/>
            </a:avLst>
          </a:prstGeom>
          <a:solidFill>
            <a:srgbClr val="FFB703"/>
          </a:solidFill>
          <a:ln w="12700">
            <a:solidFill>
              <a:srgbClr val="FFB703"/>
            </a:solidFill>
            <a:prstDash val="solid"/>
          </a:ln>
        </p:spPr>
      </p:sp>
      <p:sp>
        <p:nvSpPr>
          <p:cNvPr id="10" name="Text 8"/>
          <p:cNvSpPr/>
          <p:nvPr/>
        </p:nvSpPr>
        <p:spPr>
          <a:xfrm>
            <a:off x="457200" y="1197864"/>
            <a:ext cx="342900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Device</a:t>
            </a:r>
            <a:endParaRPr lang="en-US" sz="1200" dirty="0"/>
          </a:p>
        </p:txBody>
      </p:sp>
      <p:sp>
        <p:nvSpPr>
          <p:cNvPr id="11" name="Text 9"/>
          <p:cNvSpPr/>
          <p:nvPr/>
        </p:nvSpPr>
        <p:spPr>
          <a:xfrm>
            <a:off x="475488" y="1572768"/>
            <a:ext cx="339242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tool or machine designed to convert energy from one form to another.</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 Toaster, flashlight, wind turbine.</a:t>
            </a:r>
            <a:endParaRPr lang="en-US" sz="1050" dirty="0"/>
          </a:p>
        </p:txBody>
      </p:sp>
      <p:sp>
        <p:nvSpPr>
          <p:cNvPr id="12" name="Shape 10"/>
          <p:cNvSpPr/>
          <p:nvPr/>
        </p:nvSpPr>
        <p:spPr>
          <a:xfrm>
            <a:off x="4279392" y="1170432"/>
            <a:ext cx="3611880" cy="1325880"/>
          </a:xfrm>
          <a:prstGeom prst="roundRect">
            <a:avLst>
              <a:gd name="adj" fmla="val 6897"/>
            </a:avLst>
          </a:prstGeom>
          <a:solidFill>
            <a:srgbClr val="1E2F45"/>
          </a:solidFill>
          <a:ln w="25400">
            <a:solidFill>
              <a:srgbClr val="0096C7"/>
            </a:solidFill>
            <a:prstDash val="solid"/>
          </a:ln>
        </p:spPr>
      </p:sp>
      <p:sp>
        <p:nvSpPr>
          <p:cNvPr id="13" name="Shape 11"/>
          <p:cNvSpPr/>
          <p:nvPr/>
        </p:nvSpPr>
        <p:spPr>
          <a:xfrm>
            <a:off x="4279392" y="1170432"/>
            <a:ext cx="3611880" cy="347472"/>
          </a:xfrm>
          <a:prstGeom prst="roundRect">
            <a:avLst>
              <a:gd name="adj" fmla="val 21053"/>
            </a:avLst>
          </a:prstGeom>
          <a:solidFill>
            <a:srgbClr val="0096C7"/>
          </a:solidFill>
          <a:ln w="12700">
            <a:solidFill>
              <a:srgbClr val="0096C7"/>
            </a:solidFill>
            <a:prstDash val="solid"/>
          </a:ln>
        </p:spPr>
      </p:sp>
      <p:sp>
        <p:nvSpPr>
          <p:cNvPr id="14" name="Text 12"/>
          <p:cNvSpPr/>
          <p:nvPr/>
        </p:nvSpPr>
        <p:spPr>
          <a:xfrm>
            <a:off x="4370832" y="1197864"/>
            <a:ext cx="342900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Convert</a:t>
            </a:r>
            <a:endParaRPr lang="en-US" sz="1200" dirty="0"/>
          </a:p>
        </p:txBody>
      </p:sp>
      <p:sp>
        <p:nvSpPr>
          <p:cNvPr id="15" name="Text 13"/>
          <p:cNvSpPr/>
          <p:nvPr/>
        </p:nvSpPr>
        <p:spPr>
          <a:xfrm>
            <a:off x="4389120" y="1572768"/>
            <a:ext cx="339242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change energy from one form into another.</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 A flashlight converts electrical energy INTO light energy.</a:t>
            </a:r>
            <a:endParaRPr lang="en-US" sz="1050" dirty="0"/>
          </a:p>
        </p:txBody>
      </p:sp>
      <p:sp>
        <p:nvSpPr>
          <p:cNvPr id="16" name="Shape 14"/>
          <p:cNvSpPr/>
          <p:nvPr/>
        </p:nvSpPr>
        <p:spPr>
          <a:xfrm>
            <a:off x="8193024" y="1170432"/>
            <a:ext cx="3611880" cy="1325880"/>
          </a:xfrm>
          <a:prstGeom prst="roundRect">
            <a:avLst>
              <a:gd name="adj" fmla="val 6897"/>
            </a:avLst>
          </a:prstGeom>
          <a:solidFill>
            <a:srgbClr val="1E2F45"/>
          </a:solidFill>
          <a:ln w="25400">
            <a:solidFill>
              <a:srgbClr val="2DC653"/>
            </a:solidFill>
            <a:prstDash val="solid"/>
          </a:ln>
        </p:spPr>
      </p:sp>
      <p:sp>
        <p:nvSpPr>
          <p:cNvPr id="17" name="Shape 15"/>
          <p:cNvSpPr/>
          <p:nvPr/>
        </p:nvSpPr>
        <p:spPr>
          <a:xfrm>
            <a:off x="8193024" y="1170432"/>
            <a:ext cx="3611880" cy="347472"/>
          </a:xfrm>
          <a:prstGeom prst="roundRect">
            <a:avLst>
              <a:gd name="adj" fmla="val 21053"/>
            </a:avLst>
          </a:prstGeom>
          <a:solidFill>
            <a:srgbClr val="2DC653"/>
          </a:solidFill>
          <a:ln w="12700">
            <a:solidFill>
              <a:srgbClr val="2DC653"/>
            </a:solidFill>
            <a:prstDash val="solid"/>
          </a:ln>
        </p:spPr>
      </p:sp>
      <p:sp>
        <p:nvSpPr>
          <p:cNvPr id="18" name="Text 16"/>
          <p:cNvSpPr/>
          <p:nvPr/>
        </p:nvSpPr>
        <p:spPr>
          <a:xfrm>
            <a:off x="8284464" y="1197864"/>
            <a:ext cx="342900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Useful Energy</a:t>
            </a:r>
            <a:endParaRPr lang="en-US" sz="1200" dirty="0"/>
          </a:p>
        </p:txBody>
      </p:sp>
      <p:sp>
        <p:nvSpPr>
          <p:cNvPr id="19" name="Text 17"/>
          <p:cNvSpPr/>
          <p:nvPr/>
        </p:nvSpPr>
        <p:spPr>
          <a:xfrm>
            <a:off x="8302752" y="1572768"/>
            <a:ext cx="339242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output energy you actually WANTED. Some output is wasted (not the goal).</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 Light from a flashlight is useful; heat from the bulb is wasted.</a:t>
            </a:r>
            <a:endParaRPr lang="en-US" sz="1050" dirty="0"/>
          </a:p>
        </p:txBody>
      </p:sp>
      <p:sp>
        <p:nvSpPr>
          <p:cNvPr id="20" name="Shape 18"/>
          <p:cNvSpPr/>
          <p:nvPr/>
        </p:nvSpPr>
        <p:spPr>
          <a:xfrm>
            <a:off x="365760" y="2633472"/>
            <a:ext cx="11247120" cy="1417320"/>
          </a:xfrm>
          <a:prstGeom prst="roundRect">
            <a:avLst>
              <a:gd name="adj" fmla="val 5161"/>
            </a:avLst>
          </a:prstGeom>
          <a:solidFill>
            <a:srgbClr val="1E2F45"/>
          </a:solidFill>
          <a:ln w="12700">
            <a:solidFill>
              <a:srgbClr val="0096C7"/>
            </a:solidFill>
            <a:prstDash val="solid"/>
          </a:ln>
        </p:spPr>
      </p:sp>
      <p:sp>
        <p:nvSpPr>
          <p:cNvPr id="21" name="Text 19"/>
          <p:cNvSpPr/>
          <p:nvPr/>
        </p:nvSpPr>
        <p:spPr>
          <a:xfrm>
            <a:off x="548640" y="2688336"/>
            <a:ext cx="1097280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Quick Vocab Check — turn and tell a partner:</a:t>
            </a:r>
            <a:endParaRPr lang="en-US" sz="1200" dirty="0"/>
          </a:p>
        </p:txBody>
      </p:sp>
      <p:sp>
        <p:nvSpPr>
          <p:cNvPr id="22" name="Text 20"/>
          <p:cNvSpPr/>
          <p:nvPr/>
        </p:nvSpPr>
        <p:spPr>
          <a:xfrm>
            <a:off x="640080" y="3017520"/>
            <a:ext cx="1097280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1. What is the INPUT energy for a wind turbine?</a:t>
            </a:r>
            <a:endParaRPr lang="en-US" sz="1150" dirty="0"/>
          </a:p>
        </p:txBody>
      </p:sp>
      <p:sp>
        <p:nvSpPr>
          <p:cNvPr id="23" name="Text 21"/>
          <p:cNvSpPr/>
          <p:nvPr/>
        </p:nvSpPr>
        <p:spPr>
          <a:xfrm>
            <a:off x="640080" y="3346704"/>
            <a:ext cx="1097280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2. What is the USEFUL OUTPUT of a flashlight?</a:t>
            </a:r>
            <a:endParaRPr lang="en-US" sz="1150" dirty="0"/>
          </a:p>
        </p:txBody>
      </p:sp>
      <p:sp>
        <p:nvSpPr>
          <p:cNvPr id="24" name="Text 22"/>
          <p:cNvSpPr/>
          <p:nvPr/>
        </p:nvSpPr>
        <p:spPr>
          <a:xfrm>
            <a:off x="640080" y="3675888"/>
            <a:ext cx="10972800" cy="2926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3. Use the word convert in a sentence about a solar panel.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Discussion</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1280160"/>
          </a:xfrm>
          <a:prstGeom prst="roundRect">
            <a:avLst>
              <a:gd name="adj" fmla="val 5714"/>
            </a:avLst>
          </a:prstGeom>
          <a:solidFill>
            <a:srgbClr val="162233"/>
          </a:solidFill>
          <a:ln w="12700">
            <a:solidFill>
              <a:srgbClr val="FFB703"/>
            </a:solidFill>
            <a:prstDash val="solid"/>
          </a:ln>
        </p:spPr>
      </p:sp>
      <p:sp>
        <p:nvSpPr>
          <p:cNvPr id="8" name="Text 6"/>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Partner Talk — 90 seconds each:</a:t>
            </a:r>
            <a:endParaRPr lang="en-US" sz="1300" dirty="0"/>
          </a:p>
        </p:txBody>
      </p:sp>
      <p:sp>
        <p:nvSpPr>
          <p:cNvPr id="9" name="Text 7"/>
          <p:cNvSpPr/>
          <p:nvPr/>
        </p:nvSpPr>
        <p:spPr>
          <a:xfrm>
            <a:off x="530352" y="1188720"/>
            <a:ext cx="10917936" cy="73152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Tell your partner: Name ONE device you use every day. What goes IN, what comes OUT, and what is the useful output? Use at least three vocab words.</a:t>
            </a:r>
            <a:endParaRPr lang="en-US" sz="1300" dirty="0"/>
          </a:p>
        </p:txBody>
      </p:sp>
      <p:sp>
        <p:nvSpPr>
          <p:cNvPr id="10" name="Shape 8"/>
          <p:cNvSpPr/>
          <p:nvPr/>
        </p:nvSpPr>
        <p:spPr>
          <a:xfrm>
            <a:off x="365760" y="2176272"/>
            <a:ext cx="5394960" cy="4160520"/>
          </a:xfrm>
          <a:prstGeom prst="roundRect">
            <a:avLst>
              <a:gd name="adj" fmla="val 1758"/>
            </a:avLst>
          </a:prstGeom>
          <a:solidFill>
            <a:srgbClr val="1E2F45"/>
          </a:solidFill>
          <a:ln w="12700">
            <a:solidFill>
              <a:srgbClr val="243A52"/>
            </a:solidFill>
            <a:prstDash val="solid"/>
          </a:ln>
        </p:spPr>
      </p:sp>
      <p:sp>
        <p:nvSpPr>
          <p:cNvPr id="11" name="Text 9"/>
          <p:cNvSpPr/>
          <p:nvPr/>
        </p:nvSpPr>
        <p:spPr>
          <a:xfrm>
            <a:off x="548640" y="2231136"/>
            <a:ext cx="5120640" cy="32004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Word Wall Review</a:t>
            </a:r>
            <a:endParaRPr lang="en-US" sz="1200" dirty="0"/>
          </a:p>
        </p:txBody>
      </p:sp>
      <p:sp>
        <p:nvSpPr>
          <p:cNvPr id="12" name="Text 10"/>
          <p:cNvSpPr/>
          <p:nvPr/>
        </p:nvSpPr>
        <p:spPr>
          <a:xfrm>
            <a:off x="548640" y="2596896"/>
            <a:ext cx="219456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Input energy</a:t>
            </a:r>
            <a:endParaRPr lang="en-US" sz="1100" dirty="0"/>
          </a:p>
        </p:txBody>
      </p:sp>
      <p:sp>
        <p:nvSpPr>
          <p:cNvPr id="13" name="Text 11"/>
          <p:cNvSpPr/>
          <p:nvPr/>
        </p:nvSpPr>
        <p:spPr>
          <a:xfrm>
            <a:off x="2834640" y="2596896"/>
            <a:ext cx="28346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Energy that goes IN</a:t>
            </a:r>
            <a:endParaRPr lang="en-US" sz="1100" dirty="0"/>
          </a:p>
        </p:txBody>
      </p:sp>
      <p:sp>
        <p:nvSpPr>
          <p:cNvPr id="14" name="Text 12"/>
          <p:cNvSpPr/>
          <p:nvPr/>
        </p:nvSpPr>
        <p:spPr>
          <a:xfrm>
            <a:off x="548640" y="3163824"/>
            <a:ext cx="219456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Output energy</a:t>
            </a:r>
            <a:endParaRPr lang="en-US" sz="1100" dirty="0"/>
          </a:p>
        </p:txBody>
      </p:sp>
      <p:sp>
        <p:nvSpPr>
          <p:cNvPr id="15" name="Text 13"/>
          <p:cNvSpPr/>
          <p:nvPr/>
        </p:nvSpPr>
        <p:spPr>
          <a:xfrm>
            <a:off x="2834640" y="3163824"/>
            <a:ext cx="28346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Energy that comes OUT</a:t>
            </a:r>
            <a:endParaRPr lang="en-US" sz="1100" dirty="0"/>
          </a:p>
        </p:txBody>
      </p:sp>
      <p:sp>
        <p:nvSpPr>
          <p:cNvPr id="16" name="Text 14"/>
          <p:cNvSpPr/>
          <p:nvPr/>
        </p:nvSpPr>
        <p:spPr>
          <a:xfrm>
            <a:off x="548640" y="3730752"/>
            <a:ext cx="219456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Transformation</a:t>
            </a:r>
            <a:endParaRPr lang="en-US" sz="1100" dirty="0"/>
          </a:p>
        </p:txBody>
      </p:sp>
      <p:sp>
        <p:nvSpPr>
          <p:cNvPr id="17" name="Text 15"/>
          <p:cNvSpPr/>
          <p:nvPr/>
        </p:nvSpPr>
        <p:spPr>
          <a:xfrm>
            <a:off x="2834640" y="3730752"/>
            <a:ext cx="28346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Energy changes FORM</a:t>
            </a:r>
            <a:endParaRPr lang="en-US" sz="1100" dirty="0"/>
          </a:p>
        </p:txBody>
      </p:sp>
      <p:sp>
        <p:nvSpPr>
          <p:cNvPr id="18" name="Text 16"/>
          <p:cNvSpPr/>
          <p:nvPr/>
        </p:nvSpPr>
        <p:spPr>
          <a:xfrm>
            <a:off x="548640" y="4297680"/>
            <a:ext cx="219456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Device</a:t>
            </a:r>
            <a:endParaRPr lang="en-US" sz="1100" dirty="0"/>
          </a:p>
        </p:txBody>
      </p:sp>
      <p:sp>
        <p:nvSpPr>
          <p:cNvPr id="19" name="Text 17"/>
          <p:cNvSpPr/>
          <p:nvPr/>
        </p:nvSpPr>
        <p:spPr>
          <a:xfrm>
            <a:off x="2834640" y="4297680"/>
            <a:ext cx="28346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Tool that converts energy</a:t>
            </a:r>
            <a:endParaRPr lang="en-US" sz="1100" dirty="0"/>
          </a:p>
        </p:txBody>
      </p:sp>
      <p:sp>
        <p:nvSpPr>
          <p:cNvPr id="20" name="Text 18"/>
          <p:cNvSpPr/>
          <p:nvPr/>
        </p:nvSpPr>
        <p:spPr>
          <a:xfrm>
            <a:off x="548640" y="4864608"/>
            <a:ext cx="219456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Convert</a:t>
            </a:r>
            <a:endParaRPr lang="en-US" sz="1100" dirty="0"/>
          </a:p>
        </p:txBody>
      </p:sp>
      <p:sp>
        <p:nvSpPr>
          <p:cNvPr id="21" name="Text 19"/>
          <p:cNvSpPr/>
          <p:nvPr/>
        </p:nvSpPr>
        <p:spPr>
          <a:xfrm>
            <a:off x="2834640" y="4864608"/>
            <a:ext cx="28346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Change from one form to another</a:t>
            </a:r>
            <a:endParaRPr lang="en-US" sz="1100" dirty="0"/>
          </a:p>
        </p:txBody>
      </p:sp>
      <p:sp>
        <p:nvSpPr>
          <p:cNvPr id="22" name="Text 20"/>
          <p:cNvSpPr/>
          <p:nvPr/>
        </p:nvSpPr>
        <p:spPr>
          <a:xfrm>
            <a:off x="548640" y="5431536"/>
            <a:ext cx="219456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Useful energy</a:t>
            </a:r>
            <a:endParaRPr lang="en-US" sz="1100" dirty="0"/>
          </a:p>
        </p:txBody>
      </p:sp>
      <p:sp>
        <p:nvSpPr>
          <p:cNvPr id="23" name="Text 21"/>
          <p:cNvSpPr/>
          <p:nvPr/>
        </p:nvSpPr>
        <p:spPr>
          <a:xfrm>
            <a:off x="2834640" y="5431536"/>
            <a:ext cx="28346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The output you wanted</a:t>
            </a:r>
            <a:endParaRPr lang="en-US" sz="1100" dirty="0"/>
          </a:p>
        </p:txBody>
      </p:sp>
      <p:sp>
        <p:nvSpPr>
          <p:cNvPr id="24" name="Shape 22"/>
          <p:cNvSpPr/>
          <p:nvPr/>
        </p:nvSpPr>
        <p:spPr>
          <a:xfrm>
            <a:off x="6035040" y="2176272"/>
            <a:ext cx="5577840" cy="4160520"/>
          </a:xfrm>
          <a:prstGeom prst="roundRect">
            <a:avLst>
              <a:gd name="adj" fmla="val 1758"/>
            </a:avLst>
          </a:prstGeom>
          <a:solidFill>
            <a:srgbClr val="162233"/>
          </a:solidFill>
          <a:ln w="25400">
            <a:solidFill>
              <a:srgbClr val="0096C7"/>
            </a:solidFill>
            <a:prstDash val="solid"/>
          </a:ln>
        </p:spPr>
      </p:sp>
      <p:sp>
        <p:nvSpPr>
          <p:cNvPr id="25" name="Text 23"/>
          <p:cNvSpPr/>
          <p:nvPr/>
        </p:nvSpPr>
        <p:spPr>
          <a:xfrm>
            <a:off x="6163056" y="2249424"/>
            <a:ext cx="5321808" cy="292608"/>
          </a:xfrm>
          <a:prstGeom prst="rect">
            <a:avLst/>
          </a:prstGeom>
          <a:noFill/>
          <a:ln/>
        </p:spPr>
        <p:txBody>
          <a:bodyPr wrap="square" rtlCol="0" anchor="ctr"/>
          <a:lstStyle/>
          <a:p>
            <a:pPr algn="l" indent="0" marL="0">
              <a:buNone/>
            </a:pPr>
            <a:r>
              <a:rPr lang="en-US" sz="1100" b="1" dirty="0">
                <a:solidFill>
                  <a:srgbClr val="4CC9F0"/>
                </a:solidFill>
                <a:latin typeface="Calibri" pitchFamily="34" charset="0"/>
                <a:ea typeface="Calibri" pitchFamily="34" charset="-122"/>
                <a:cs typeface="Calibri" pitchFamily="34" charset="-120"/>
              </a:rPr>
              <a:t>🤔  Socratic Question</a:t>
            </a:r>
            <a:endParaRPr lang="en-US" sz="1100" dirty="0"/>
          </a:p>
        </p:txBody>
      </p:sp>
      <p:sp>
        <p:nvSpPr>
          <p:cNvPr id="26" name="Text 24"/>
          <p:cNvSpPr/>
          <p:nvPr/>
        </p:nvSpPr>
        <p:spPr>
          <a:xfrm>
            <a:off x="6163056" y="2578608"/>
            <a:ext cx="5321808" cy="3666744"/>
          </a:xfrm>
          <a:prstGeom prst="rect">
            <a:avLst/>
          </a:prstGeom>
          <a:noFill/>
          <a:ln/>
        </p:spPr>
        <p:txBody>
          <a:bodyPr wrap="square" rtlCol="0" anchor="t"/>
          <a:lstStyle/>
          <a:p>
            <a:pPr algn="l" indent="0" marL="0">
              <a:buNone/>
            </a:pPr>
            <a:r>
              <a:rPr lang="en-US" sz="1100" dirty="0">
                <a:solidFill>
                  <a:srgbClr val="B0C4D8"/>
                </a:solidFill>
                <a:latin typeface="Calibri" pitchFamily="34" charset="0"/>
                <a:ea typeface="Calibri" pitchFamily="34" charset="-122"/>
                <a:cs typeface="Calibri" pitchFamily="34" charset="-120"/>
              </a:rPr>
              <a:t>• Could a device have MORE THAN ONE useful output?</a:t>
            </a:r>
            <a:endParaRPr lang="en-US" sz="1100" dirty="0"/>
          </a:p>
          <a:p>
            <a:pPr algn="l" indent="0" marL="0">
              <a:buNone/>
            </a:pPr>
            <a:r>
              <a:rPr lang="en-US" sz="1100" dirty="0">
                <a:solidFill>
                  <a:srgbClr val="B0C4D8"/>
                </a:solidFill>
                <a:latin typeface="Calibri" pitchFamily="34" charset="0"/>
                <a:ea typeface="Calibri" pitchFamily="34" charset="-122"/>
                <a:cs typeface="Calibri" pitchFamily="34" charset="-120"/>
              </a:rPr>
              <a:t>• What would change your mind about which output is useful?</a:t>
            </a:r>
            <a:endParaRPr lang="en-US" sz="1100" dirty="0"/>
          </a:p>
          <a:p>
            <a:pPr algn="l" indent="0" marL="0">
              <a:buNone/>
            </a:pPr>
            <a:r>
              <a:rPr lang="en-US" sz="1100" dirty="0">
                <a:solidFill>
                  <a:srgbClr val="B0C4D8"/>
                </a:solidFill>
                <a:latin typeface="Calibri" pitchFamily="34" charset="0"/>
                <a:ea typeface="Calibri" pitchFamily="34" charset="-122"/>
                <a:cs typeface="Calibri" pitchFamily="34" charset="-120"/>
              </a:rPr>
              <a:t>• Could there be another explanation for where the wasted energy goes?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Concept — Transfer vs. Transformation</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5394960" cy="4389120"/>
          </a:xfrm>
          <a:prstGeom prst="roundRect">
            <a:avLst>
              <a:gd name="adj" fmla="val 1667"/>
            </a:avLst>
          </a:prstGeom>
          <a:solidFill>
            <a:srgbClr val="1E2F45"/>
          </a:solidFill>
          <a:ln w="25400">
            <a:solidFill>
              <a:srgbClr val="2DC653"/>
            </a:solidFill>
            <a:prstDash val="solid"/>
          </a:ln>
        </p:spPr>
      </p:sp>
      <p:sp>
        <p:nvSpPr>
          <p:cNvPr id="8" name="Text 6"/>
          <p:cNvSpPr/>
          <p:nvPr/>
        </p:nvSpPr>
        <p:spPr>
          <a:xfrm>
            <a:off x="548640" y="804672"/>
            <a:ext cx="5120640" cy="384048"/>
          </a:xfrm>
          <a:prstGeom prst="rect">
            <a:avLst/>
          </a:prstGeom>
          <a:noFill/>
          <a:ln/>
        </p:spPr>
        <p:txBody>
          <a:bodyPr wrap="square" rtlCol="0" anchor="ctr"/>
          <a:lstStyle/>
          <a:p>
            <a:pPr algn="ctr" indent="0" marL="0">
              <a:buNone/>
            </a:pPr>
            <a:r>
              <a:rPr lang="en-US" sz="1600" b="1" dirty="0">
                <a:solidFill>
                  <a:srgbClr val="2DC653"/>
                </a:solidFill>
                <a:latin typeface="Calibri" pitchFamily="34" charset="0"/>
                <a:ea typeface="Calibri" pitchFamily="34" charset="-122"/>
                <a:cs typeface="Calibri" pitchFamily="34" charset="-120"/>
              </a:rPr>
              <a:t>TRANSFER</a:t>
            </a:r>
            <a:endParaRPr lang="en-US" sz="1600" dirty="0"/>
          </a:p>
        </p:txBody>
      </p:sp>
      <p:sp>
        <p:nvSpPr>
          <p:cNvPr id="9" name="Text 7"/>
          <p:cNvSpPr/>
          <p:nvPr/>
        </p:nvSpPr>
        <p:spPr>
          <a:xfrm>
            <a:off x="548640" y="1243584"/>
            <a:ext cx="5120640" cy="685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Energy moves from one PLACE or OBJECT to another.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The FORM stays the same.</a:t>
            </a:r>
            <a:endParaRPr lang="en-US" sz="1200" dirty="0"/>
          </a:p>
        </p:txBody>
      </p:sp>
      <p:sp>
        <p:nvSpPr>
          <p:cNvPr id="10" name="Shape 8"/>
          <p:cNvSpPr/>
          <p:nvPr/>
        </p:nvSpPr>
        <p:spPr>
          <a:xfrm>
            <a:off x="548640" y="2029968"/>
            <a:ext cx="5029200" cy="1051560"/>
          </a:xfrm>
          <a:prstGeom prst="roundRect">
            <a:avLst>
              <a:gd name="adj" fmla="val 6957"/>
            </a:avLst>
          </a:prstGeom>
          <a:solidFill>
            <a:srgbClr val="0A2010"/>
          </a:solidFill>
          <a:ln w="12700">
            <a:solidFill>
              <a:srgbClr val="1A8C3A"/>
            </a:solidFill>
            <a:prstDash val="solid"/>
          </a:ln>
        </p:spPr>
      </p:sp>
      <p:sp>
        <p:nvSpPr>
          <p:cNvPr id="11" name="Text 9"/>
          <p:cNvSpPr/>
          <p:nvPr/>
        </p:nvSpPr>
        <p:spPr>
          <a:xfrm>
            <a:off x="685800" y="2084832"/>
            <a:ext cx="4754880" cy="256032"/>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Example:</a:t>
            </a:r>
            <a:endParaRPr lang="en-US" sz="1000" dirty="0"/>
          </a:p>
        </p:txBody>
      </p:sp>
      <p:sp>
        <p:nvSpPr>
          <p:cNvPr id="12" name="Text 10"/>
          <p:cNvSpPr/>
          <p:nvPr/>
        </p:nvSpPr>
        <p:spPr>
          <a:xfrm>
            <a:off x="685800" y="2359152"/>
            <a:ext cx="4754880" cy="65836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Heat moving from a warm mug INTO your cold hands.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Both are still heat — it just moved LOCATION.</a:t>
            </a:r>
            <a:endParaRPr lang="en-US" sz="1100" dirty="0"/>
          </a:p>
        </p:txBody>
      </p:sp>
      <p:sp>
        <p:nvSpPr>
          <p:cNvPr id="13" name="Text 11"/>
          <p:cNvSpPr/>
          <p:nvPr/>
        </p:nvSpPr>
        <p:spPr>
          <a:xfrm>
            <a:off x="685800" y="3145536"/>
            <a:ext cx="4754880" cy="36576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Form stays: HEAT to HEAT</a:t>
            </a:r>
            <a:endParaRPr lang="en-US" sz="1200" dirty="0"/>
          </a:p>
        </p:txBody>
      </p:sp>
      <p:sp>
        <p:nvSpPr>
          <p:cNvPr id="14" name="Shape 12"/>
          <p:cNvSpPr/>
          <p:nvPr/>
        </p:nvSpPr>
        <p:spPr>
          <a:xfrm>
            <a:off x="5641848" y="2011680"/>
            <a:ext cx="877824" cy="877824"/>
          </a:xfrm>
          <a:prstGeom prst="ellipse">
            <a:avLst/>
          </a:prstGeom>
          <a:solidFill>
            <a:srgbClr val="FFB703"/>
          </a:solidFill>
          <a:ln w="12700">
            <a:solidFill>
              <a:srgbClr val="FFB703"/>
            </a:solidFill>
            <a:prstDash val="solid"/>
          </a:ln>
        </p:spPr>
      </p:sp>
      <p:sp>
        <p:nvSpPr>
          <p:cNvPr id="15" name="Text 13"/>
          <p:cNvSpPr/>
          <p:nvPr/>
        </p:nvSpPr>
        <p:spPr>
          <a:xfrm>
            <a:off x="5641848" y="2011680"/>
            <a:ext cx="877824" cy="877824"/>
          </a:xfrm>
          <a:prstGeom prst="rect">
            <a:avLst/>
          </a:prstGeom>
          <a:noFill/>
          <a:ln/>
        </p:spPr>
        <p:txBody>
          <a:bodyPr wrap="square"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VS</a:t>
            </a:r>
            <a:endParaRPr lang="en-US" sz="1400" dirty="0"/>
          </a:p>
        </p:txBody>
      </p:sp>
      <p:sp>
        <p:nvSpPr>
          <p:cNvPr id="16" name="Shape 14"/>
          <p:cNvSpPr/>
          <p:nvPr/>
        </p:nvSpPr>
        <p:spPr>
          <a:xfrm>
            <a:off x="6675120" y="749808"/>
            <a:ext cx="5120640" cy="4389120"/>
          </a:xfrm>
          <a:prstGeom prst="roundRect">
            <a:avLst>
              <a:gd name="adj" fmla="val 1667"/>
            </a:avLst>
          </a:prstGeom>
          <a:solidFill>
            <a:srgbClr val="1E2F45"/>
          </a:solidFill>
          <a:ln w="25400">
            <a:solidFill>
              <a:srgbClr val="F4736A"/>
            </a:solidFill>
            <a:prstDash val="solid"/>
          </a:ln>
        </p:spPr>
      </p:sp>
      <p:sp>
        <p:nvSpPr>
          <p:cNvPr id="17" name="Text 15"/>
          <p:cNvSpPr/>
          <p:nvPr/>
        </p:nvSpPr>
        <p:spPr>
          <a:xfrm>
            <a:off x="6858000" y="804672"/>
            <a:ext cx="4754880" cy="384048"/>
          </a:xfrm>
          <a:prstGeom prst="rect">
            <a:avLst/>
          </a:prstGeom>
          <a:noFill/>
          <a:ln/>
        </p:spPr>
        <p:txBody>
          <a:bodyPr wrap="square" rtlCol="0" anchor="ctr"/>
          <a:lstStyle/>
          <a:p>
            <a:pPr algn="ctr" indent="0" marL="0">
              <a:buNone/>
            </a:pPr>
            <a:r>
              <a:rPr lang="en-US" sz="1600" b="1" dirty="0">
                <a:solidFill>
                  <a:srgbClr val="F4736A"/>
                </a:solidFill>
                <a:latin typeface="Calibri" pitchFamily="34" charset="0"/>
                <a:ea typeface="Calibri" pitchFamily="34" charset="-122"/>
                <a:cs typeface="Calibri" pitchFamily="34" charset="-120"/>
              </a:rPr>
              <a:t>TRANSFORMATION</a:t>
            </a:r>
            <a:endParaRPr lang="en-US" sz="1600" dirty="0"/>
          </a:p>
        </p:txBody>
      </p:sp>
      <p:sp>
        <p:nvSpPr>
          <p:cNvPr id="18" name="Text 16"/>
          <p:cNvSpPr/>
          <p:nvPr/>
        </p:nvSpPr>
        <p:spPr>
          <a:xfrm>
            <a:off x="6858000" y="1243584"/>
            <a:ext cx="4754880" cy="685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Energy CHANGES its FORM.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It becomes a completely different KIND of energy.</a:t>
            </a:r>
            <a:endParaRPr lang="en-US" sz="1200" dirty="0"/>
          </a:p>
        </p:txBody>
      </p:sp>
      <p:sp>
        <p:nvSpPr>
          <p:cNvPr id="19" name="Shape 17"/>
          <p:cNvSpPr/>
          <p:nvPr/>
        </p:nvSpPr>
        <p:spPr>
          <a:xfrm>
            <a:off x="6858000" y="2029968"/>
            <a:ext cx="4754880" cy="1051560"/>
          </a:xfrm>
          <a:prstGeom prst="roundRect">
            <a:avLst>
              <a:gd name="adj" fmla="val 6957"/>
            </a:avLst>
          </a:prstGeom>
          <a:solidFill>
            <a:srgbClr val="1E0A0A"/>
          </a:solidFill>
          <a:ln w="12700">
            <a:solidFill>
              <a:srgbClr val="8B2020"/>
            </a:solidFill>
            <a:prstDash val="solid"/>
          </a:ln>
        </p:spPr>
      </p:sp>
      <p:sp>
        <p:nvSpPr>
          <p:cNvPr id="20" name="Text 18"/>
          <p:cNvSpPr/>
          <p:nvPr/>
        </p:nvSpPr>
        <p:spPr>
          <a:xfrm>
            <a:off x="6995160" y="2084832"/>
            <a:ext cx="448056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Example:</a:t>
            </a:r>
            <a:endParaRPr lang="en-US" sz="1000" dirty="0"/>
          </a:p>
        </p:txBody>
      </p:sp>
      <p:sp>
        <p:nvSpPr>
          <p:cNvPr id="21" name="Text 19"/>
          <p:cNvSpPr/>
          <p:nvPr/>
        </p:nvSpPr>
        <p:spPr>
          <a:xfrm>
            <a:off x="6995160" y="2359152"/>
            <a:ext cx="4480560" cy="65836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toaster changing ELECTRICAL energy INTO HEAT energy.</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 form is completely different.</a:t>
            </a:r>
            <a:endParaRPr lang="en-US" sz="1100" dirty="0"/>
          </a:p>
        </p:txBody>
      </p:sp>
      <p:sp>
        <p:nvSpPr>
          <p:cNvPr id="22" name="Text 20"/>
          <p:cNvSpPr/>
          <p:nvPr/>
        </p:nvSpPr>
        <p:spPr>
          <a:xfrm>
            <a:off x="6995160" y="3145536"/>
            <a:ext cx="4480560" cy="365760"/>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Form changes: ELECTRICAL to HEAT</a:t>
            </a:r>
            <a:endParaRPr lang="en-US" sz="1200" dirty="0"/>
          </a:p>
        </p:txBody>
      </p:sp>
      <p:sp>
        <p:nvSpPr>
          <p:cNvPr id="23" name="Shape 21"/>
          <p:cNvSpPr/>
          <p:nvPr/>
        </p:nvSpPr>
        <p:spPr>
          <a:xfrm>
            <a:off x="365760" y="5285232"/>
            <a:ext cx="11430000" cy="713232"/>
          </a:xfrm>
          <a:prstGeom prst="roundRect">
            <a:avLst>
              <a:gd name="adj" fmla="val 10256"/>
            </a:avLst>
          </a:prstGeom>
          <a:solidFill>
            <a:srgbClr val="1A2A1A"/>
          </a:solidFill>
          <a:ln w="12700">
            <a:solidFill>
              <a:srgbClr val="4CC9F0"/>
            </a:solidFill>
            <a:prstDash val="solid"/>
          </a:ln>
        </p:spPr>
      </p:sp>
      <p:sp>
        <p:nvSpPr>
          <p:cNvPr id="24" name="Text 22"/>
          <p:cNvSpPr/>
          <p:nvPr/>
        </p:nvSpPr>
        <p:spPr>
          <a:xfrm>
            <a:off x="548640" y="5340096"/>
            <a:ext cx="11155680" cy="603504"/>
          </a:xfrm>
          <a:prstGeom prst="rect">
            <a:avLst/>
          </a:prstGeom>
          <a:noFill/>
          <a:ln/>
        </p:spPr>
        <p:txBody>
          <a:bodyPr wrap="square" rtlCol="0" anchor="ctr"/>
          <a:lstStyle/>
          <a:p>
            <a:pPr algn="ctr" indent="0" marL="0">
              <a:buNone/>
            </a:pPr>
            <a:r>
              <a:rPr lang="en-US" sz="1200" dirty="0">
                <a:solidFill>
                  <a:srgbClr val="4CC9F0"/>
                </a:solidFill>
                <a:latin typeface="Calibri" pitchFamily="34" charset="0"/>
                <a:ea typeface="Calibri" pitchFamily="34" charset="-122"/>
                <a:cs typeface="Calibri" pitchFamily="34" charset="-120"/>
              </a:rPr>
              <a:t>Today we focus on TRANSFORMATION — today's key concept. Transfer = same form, new location.  Transformation = new form entirely.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Concept — Every Device Has Input to Conversion to Output</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4937760" cy="3840480"/>
          </a:xfrm>
          <a:prstGeom prst="roundRect">
            <a:avLst>
              <a:gd name="adj" fmla="val 1905"/>
            </a:avLst>
          </a:prstGeom>
          <a:solidFill>
            <a:srgbClr val="0A1520"/>
          </a:solidFill>
          <a:ln w="19050">
            <a:solidFill>
              <a:srgbClr val="4CC9F0"/>
            </a:solidFill>
            <a:prstDash val="dash"/>
          </a:ln>
        </p:spPr>
      </p:sp>
      <p:sp>
        <p:nvSpPr>
          <p:cNvPr id="8" name="Text 6"/>
          <p:cNvSpPr/>
          <p:nvPr/>
        </p:nvSpPr>
        <p:spPr>
          <a:xfrm>
            <a:off x="457200" y="859536"/>
            <a:ext cx="47548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298448"/>
            <a:ext cx="47548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591056"/>
            <a:ext cx="4718304" cy="27889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"energy input output conversion diagram device science classroom 4th grade"</a:t>
            </a:r>
            <a:endParaRPr lang="en-US" sz="950" dirty="0"/>
          </a:p>
        </p:txBody>
      </p:sp>
      <p:sp>
        <p:nvSpPr>
          <p:cNvPr id="11" name="Text 9"/>
          <p:cNvSpPr/>
          <p:nvPr/>
        </p:nvSpPr>
        <p:spPr>
          <a:xfrm>
            <a:off x="365760" y="4626864"/>
            <a:ext cx="49377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General energy conversion diagram: input arrow then device box then output arrow</a:t>
            </a:r>
            <a:endParaRPr lang="en-US" sz="900" dirty="0"/>
          </a:p>
        </p:txBody>
      </p:sp>
      <p:sp>
        <p:nvSpPr>
          <p:cNvPr id="12" name="Shape 10"/>
          <p:cNvSpPr/>
          <p:nvPr/>
        </p:nvSpPr>
        <p:spPr>
          <a:xfrm>
            <a:off x="5577840" y="749808"/>
            <a:ext cx="6309360" cy="3840480"/>
          </a:xfrm>
          <a:prstGeom prst="roundRect">
            <a:avLst>
              <a:gd name="adj" fmla="val 1905"/>
            </a:avLst>
          </a:prstGeom>
          <a:solidFill>
            <a:srgbClr val="1E2F45"/>
          </a:solidFill>
          <a:ln w="12700">
            <a:solidFill>
              <a:srgbClr val="4CC9F0"/>
            </a:solidFill>
            <a:prstDash val="solid"/>
          </a:ln>
        </p:spPr>
      </p:sp>
      <p:sp>
        <p:nvSpPr>
          <p:cNvPr id="13" name="Text 11"/>
          <p:cNvSpPr/>
          <p:nvPr/>
        </p:nvSpPr>
        <p:spPr>
          <a:xfrm>
            <a:off x="5760720" y="804672"/>
            <a:ext cx="59436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The Three-Part Rule:</a:t>
            </a:r>
            <a:endParaRPr lang="en-US" sz="1300" dirty="0"/>
          </a:p>
        </p:txBody>
      </p:sp>
      <p:sp>
        <p:nvSpPr>
          <p:cNvPr id="14" name="Shape 12"/>
          <p:cNvSpPr/>
          <p:nvPr/>
        </p:nvSpPr>
        <p:spPr>
          <a:xfrm>
            <a:off x="5760720" y="1188720"/>
            <a:ext cx="5943600" cy="960120"/>
          </a:xfrm>
          <a:prstGeom prst="roundRect">
            <a:avLst>
              <a:gd name="adj" fmla="val 7619"/>
            </a:avLst>
          </a:prstGeom>
          <a:solidFill>
            <a:srgbClr val="0A1520"/>
          </a:solidFill>
          <a:ln w="12700">
            <a:solidFill>
              <a:srgbClr val="0096C7"/>
            </a:solidFill>
            <a:prstDash val="solid"/>
          </a:ln>
        </p:spPr>
      </p:sp>
      <p:sp>
        <p:nvSpPr>
          <p:cNvPr id="15" name="Shape 13"/>
          <p:cNvSpPr/>
          <p:nvPr/>
        </p:nvSpPr>
        <p:spPr>
          <a:xfrm>
            <a:off x="5897880" y="1243584"/>
            <a:ext cx="420624" cy="420624"/>
          </a:xfrm>
          <a:prstGeom prst="ellipse">
            <a:avLst/>
          </a:prstGeom>
          <a:solidFill>
            <a:srgbClr val="0096C7"/>
          </a:solidFill>
          <a:ln w="12700">
            <a:solidFill>
              <a:srgbClr val="0096C7"/>
            </a:solidFill>
            <a:prstDash val="solid"/>
          </a:ln>
        </p:spPr>
      </p:sp>
      <p:sp>
        <p:nvSpPr>
          <p:cNvPr id="16" name="Text 14"/>
          <p:cNvSpPr/>
          <p:nvPr/>
        </p:nvSpPr>
        <p:spPr>
          <a:xfrm>
            <a:off x="5897880" y="124358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7" name="Text 15"/>
          <p:cNvSpPr/>
          <p:nvPr/>
        </p:nvSpPr>
        <p:spPr>
          <a:xfrm>
            <a:off x="6400800" y="1243584"/>
            <a:ext cx="5120640" cy="256032"/>
          </a:xfrm>
          <a:prstGeom prst="rect">
            <a:avLst/>
          </a:prstGeom>
          <a:noFill/>
          <a:ln/>
        </p:spPr>
        <p:txBody>
          <a:bodyPr wrap="square" rtlCol="0" anchor="ctr"/>
          <a:lstStyle/>
          <a:p>
            <a:pPr indent="0" marL="0">
              <a:buNone/>
            </a:pPr>
            <a:r>
              <a:rPr lang="en-US" sz="1200" b="1" dirty="0">
                <a:solidFill>
                  <a:srgbClr val="0096C7"/>
                </a:solidFill>
                <a:latin typeface="Calibri" pitchFamily="34" charset="0"/>
                <a:ea typeface="Calibri" pitchFamily="34" charset="-122"/>
                <a:cs typeface="Calibri" pitchFamily="34" charset="-120"/>
              </a:rPr>
              <a:t>INPUT ENERGY</a:t>
            </a:r>
            <a:endParaRPr lang="en-US" sz="1200" dirty="0"/>
          </a:p>
        </p:txBody>
      </p:sp>
      <p:sp>
        <p:nvSpPr>
          <p:cNvPr id="18" name="Text 16"/>
          <p:cNvSpPr/>
          <p:nvPr/>
        </p:nvSpPr>
        <p:spPr>
          <a:xfrm>
            <a:off x="6400800" y="1517904"/>
            <a:ext cx="512064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The energy you put in (what powers the device)</a:t>
            </a:r>
            <a:endParaRPr lang="en-US" sz="1100" dirty="0"/>
          </a:p>
        </p:txBody>
      </p:sp>
      <p:sp>
        <p:nvSpPr>
          <p:cNvPr id="19" name="Shape 17"/>
          <p:cNvSpPr/>
          <p:nvPr/>
        </p:nvSpPr>
        <p:spPr>
          <a:xfrm>
            <a:off x="5760720" y="2267712"/>
            <a:ext cx="5943600" cy="960120"/>
          </a:xfrm>
          <a:prstGeom prst="roundRect">
            <a:avLst>
              <a:gd name="adj" fmla="val 7619"/>
            </a:avLst>
          </a:prstGeom>
          <a:solidFill>
            <a:srgbClr val="0A1520"/>
          </a:solidFill>
          <a:ln w="12700">
            <a:solidFill>
              <a:srgbClr val="FFB703"/>
            </a:solidFill>
            <a:prstDash val="solid"/>
          </a:ln>
        </p:spPr>
      </p:sp>
      <p:sp>
        <p:nvSpPr>
          <p:cNvPr id="20" name="Shape 18"/>
          <p:cNvSpPr/>
          <p:nvPr/>
        </p:nvSpPr>
        <p:spPr>
          <a:xfrm>
            <a:off x="5897880" y="2322576"/>
            <a:ext cx="420624" cy="420624"/>
          </a:xfrm>
          <a:prstGeom prst="ellipse">
            <a:avLst/>
          </a:prstGeom>
          <a:solidFill>
            <a:srgbClr val="FFB703"/>
          </a:solidFill>
          <a:ln w="12700">
            <a:solidFill>
              <a:srgbClr val="FFB703"/>
            </a:solidFill>
            <a:prstDash val="solid"/>
          </a:ln>
        </p:spPr>
      </p:sp>
      <p:sp>
        <p:nvSpPr>
          <p:cNvPr id="21" name="Text 19"/>
          <p:cNvSpPr/>
          <p:nvPr/>
        </p:nvSpPr>
        <p:spPr>
          <a:xfrm>
            <a:off x="5897880" y="2322576"/>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p:nvPr/>
        </p:nvSpPr>
        <p:spPr>
          <a:xfrm>
            <a:off x="6400800" y="2322576"/>
            <a:ext cx="5120640" cy="25603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CONVERSION</a:t>
            </a:r>
            <a:endParaRPr lang="en-US" sz="1200" dirty="0"/>
          </a:p>
        </p:txBody>
      </p:sp>
      <p:sp>
        <p:nvSpPr>
          <p:cNvPr id="23" name="Text 21"/>
          <p:cNvSpPr/>
          <p:nvPr/>
        </p:nvSpPr>
        <p:spPr>
          <a:xfrm>
            <a:off x="6400800" y="2596896"/>
            <a:ext cx="512064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Inside the device, energy changes form — this is the transformation</a:t>
            </a:r>
            <a:endParaRPr lang="en-US" sz="1100" dirty="0"/>
          </a:p>
        </p:txBody>
      </p:sp>
      <p:sp>
        <p:nvSpPr>
          <p:cNvPr id="24" name="Shape 22"/>
          <p:cNvSpPr/>
          <p:nvPr/>
        </p:nvSpPr>
        <p:spPr>
          <a:xfrm>
            <a:off x="5760720" y="3346704"/>
            <a:ext cx="5943600" cy="960120"/>
          </a:xfrm>
          <a:prstGeom prst="roundRect">
            <a:avLst>
              <a:gd name="adj" fmla="val 7619"/>
            </a:avLst>
          </a:prstGeom>
          <a:solidFill>
            <a:srgbClr val="0A1520"/>
          </a:solidFill>
          <a:ln w="12700">
            <a:solidFill>
              <a:srgbClr val="2DC653"/>
            </a:solidFill>
            <a:prstDash val="solid"/>
          </a:ln>
        </p:spPr>
      </p:sp>
      <p:sp>
        <p:nvSpPr>
          <p:cNvPr id="25" name="Shape 23"/>
          <p:cNvSpPr/>
          <p:nvPr/>
        </p:nvSpPr>
        <p:spPr>
          <a:xfrm>
            <a:off x="5897880" y="3401568"/>
            <a:ext cx="420624" cy="420624"/>
          </a:xfrm>
          <a:prstGeom prst="ellipse">
            <a:avLst/>
          </a:prstGeom>
          <a:solidFill>
            <a:srgbClr val="2DC653"/>
          </a:solidFill>
          <a:ln w="12700">
            <a:solidFill>
              <a:srgbClr val="2DC653"/>
            </a:solidFill>
            <a:prstDash val="solid"/>
          </a:ln>
        </p:spPr>
      </p:sp>
      <p:sp>
        <p:nvSpPr>
          <p:cNvPr id="26" name="Text 24"/>
          <p:cNvSpPr/>
          <p:nvPr/>
        </p:nvSpPr>
        <p:spPr>
          <a:xfrm>
            <a:off x="5897880" y="340156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6400800" y="3401568"/>
            <a:ext cx="5120640" cy="25603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OUTPUT ENERGY</a:t>
            </a:r>
            <a:endParaRPr lang="en-US" sz="1200" dirty="0"/>
          </a:p>
        </p:txBody>
      </p:sp>
      <p:sp>
        <p:nvSpPr>
          <p:cNvPr id="28" name="Text 26"/>
          <p:cNvSpPr/>
          <p:nvPr/>
        </p:nvSpPr>
        <p:spPr>
          <a:xfrm>
            <a:off x="6400800" y="3675888"/>
            <a:ext cx="5120640" cy="5669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The energy that comes out — in a new form</a:t>
            </a:r>
            <a:endParaRPr lang="en-US" sz="1100" dirty="0"/>
          </a:p>
        </p:txBody>
      </p:sp>
      <p:sp>
        <p:nvSpPr>
          <p:cNvPr id="29" name="Shape 27"/>
          <p:cNvSpPr/>
          <p:nvPr/>
        </p:nvSpPr>
        <p:spPr>
          <a:xfrm>
            <a:off x="5577840" y="4389120"/>
            <a:ext cx="6309360" cy="987552"/>
          </a:xfrm>
          <a:prstGeom prst="roundRect">
            <a:avLst>
              <a:gd name="adj" fmla="val 7407"/>
            </a:avLst>
          </a:prstGeom>
          <a:solidFill>
            <a:srgbClr val="1A1A2A"/>
          </a:solidFill>
          <a:ln w="12700">
            <a:solidFill>
              <a:srgbClr val="0096C7"/>
            </a:solidFill>
            <a:prstDash val="solid"/>
          </a:ln>
        </p:spPr>
      </p:sp>
      <p:sp>
        <p:nvSpPr>
          <p:cNvPr id="30" name="Text 28"/>
          <p:cNvSpPr/>
          <p:nvPr/>
        </p:nvSpPr>
        <p:spPr>
          <a:xfrm>
            <a:off x="5760720" y="4443984"/>
            <a:ext cx="5943600" cy="877824"/>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Big Idea: Energy cannot be created or destroyed — it can only CHANGE FORM. The total amount stays the same.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Concept — Three Real Devices</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2286000"/>
          </a:xfrm>
          <a:prstGeom prst="roundRect">
            <a:avLst>
              <a:gd name="adj" fmla="val 3200"/>
            </a:avLst>
          </a:prstGeom>
          <a:solidFill>
            <a:srgbClr val="0A1520"/>
          </a:solidFill>
          <a:ln w="19050">
            <a:solidFill>
              <a:srgbClr val="4CC9F0"/>
            </a:solidFill>
            <a:prstDash val="dash"/>
          </a:ln>
        </p:spPr>
      </p:sp>
      <p:sp>
        <p:nvSpPr>
          <p:cNvPr id="8" name="Text 6"/>
          <p:cNvSpPr/>
          <p:nvPr/>
        </p:nvSpPr>
        <p:spPr>
          <a:xfrm>
            <a:off x="457200" y="859536"/>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298448"/>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591056"/>
            <a:ext cx="11027664" cy="12344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"flashlight toaster wind turbine energy conversion diagram science 4th grade side by side"</a:t>
            </a:r>
            <a:endParaRPr lang="en-US" sz="950" dirty="0"/>
          </a:p>
        </p:txBody>
      </p:sp>
      <p:sp>
        <p:nvSpPr>
          <p:cNvPr id="11" name="Text 9"/>
          <p:cNvSpPr/>
          <p:nvPr/>
        </p:nvSpPr>
        <p:spPr>
          <a:xfrm>
            <a:off x="365760" y="3072384"/>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Three devices showing energy conversion: flashlight, toaster, wind turbine</a:t>
            </a:r>
            <a:endParaRPr lang="en-US" sz="900" dirty="0"/>
          </a:p>
        </p:txBody>
      </p:sp>
      <p:sp>
        <p:nvSpPr>
          <p:cNvPr id="12" name="Shape 10"/>
          <p:cNvSpPr/>
          <p:nvPr/>
        </p:nvSpPr>
        <p:spPr>
          <a:xfrm>
            <a:off x="365760" y="3218688"/>
            <a:ext cx="3611880" cy="3108960"/>
          </a:xfrm>
          <a:prstGeom prst="roundRect">
            <a:avLst>
              <a:gd name="adj" fmla="val 2353"/>
            </a:avLst>
          </a:prstGeom>
          <a:solidFill>
            <a:srgbClr val="1E2F45"/>
          </a:solidFill>
          <a:ln w="25400">
            <a:solidFill>
              <a:srgbClr val="4CC9F0"/>
            </a:solidFill>
            <a:prstDash val="solid"/>
          </a:ln>
        </p:spPr>
      </p:sp>
      <p:sp>
        <p:nvSpPr>
          <p:cNvPr id="13" name="Text 11"/>
          <p:cNvSpPr/>
          <p:nvPr/>
        </p:nvSpPr>
        <p:spPr>
          <a:xfrm>
            <a:off x="475488" y="3273552"/>
            <a:ext cx="3383280" cy="329184"/>
          </a:xfrm>
          <a:prstGeom prst="rect">
            <a:avLst/>
          </a:prstGeom>
          <a:noFill/>
          <a:ln/>
        </p:spPr>
        <p:txBody>
          <a:bodyPr wrap="square" rtlCol="0" anchor="ctr"/>
          <a:lstStyle/>
          <a:p>
            <a:pPr algn="ctr" indent="0" marL="0">
              <a:buNone/>
            </a:pPr>
            <a:r>
              <a:rPr lang="en-US" sz="1400" b="1" dirty="0">
                <a:solidFill>
                  <a:srgbClr val="4CC9F0"/>
                </a:solidFill>
                <a:latin typeface="Calibri" pitchFamily="34" charset="0"/>
                <a:ea typeface="Calibri" pitchFamily="34" charset="-122"/>
                <a:cs typeface="Calibri" pitchFamily="34" charset="-120"/>
              </a:rPr>
              <a:t>Flashlight</a:t>
            </a:r>
            <a:endParaRPr lang="en-US" sz="1400" dirty="0"/>
          </a:p>
        </p:txBody>
      </p:sp>
      <p:sp>
        <p:nvSpPr>
          <p:cNvPr id="14" name="Text 12"/>
          <p:cNvSpPr/>
          <p:nvPr/>
        </p:nvSpPr>
        <p:spPr>
          <a:xfrm>
            <a:off x="502920" y="3675888"/>
            <a:ext cx="64008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INPUT:</a:t>
            </a:r>
            <a:endParaRPr lang="en-US" sz="1000" dirty="0"/>
          </a:p>
        </p:txBody>
      </p:sp>
      <p:sp>
        <p:nvSpPr>
          <p:cNvPr id="15" name="Text 13"/>
          <p:cNvSpPr/>
          <p:nvPr/>
        </p:nvSpPr>
        <p:spPr>
          <a:xfrm>
            <a:off x="1170432" y="3675888"/>
            <a:ext cx="2697480" cy="25603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Electrical energy (battery)</a:t>
            </a:r>
            <a:endParaRPr lang="en-US" sz="1050" dirty="0"/>
          </a:p>
        </p:txBody>
      </p:sp>
      <p:sp>
        <p:nvSpPr>
          <p:cNvPr id="16" name="Shape 14"/>
          <p:cNvSpPr/>
          <p:nvPr/>
        </p:nvSpPr>
        <p:spPr>
          <a:xfrm>
            <a:off x="731520" y="4005072"/>
            <a:ext cx="914400" cy="274320"/>
          </a:xfrm>
          <a:prstGeom prst="rightArrow">
            <a:avLst/>
          </a:prstGeom>
          <a:solidFill>
            <a:srgbClr val="4CC9F0"/>
          </a:solidFill>
          <a:ln w="12700">
            <a:solidFill>
              <a:srgbClr val="4CC9F0"/>
            </a:solidFill>
            <a:prstDash val="solid"/>
          </a:ln>
        </p:spPr>
      </p:sp>
      <p:sp>
        <p:nvSpPr>
          <p:cNvPr id="17" name="Text 15"/>
          <p:cNvSpPr/>
          <p:nvPr/>
        </p:nvSpPr>
        <p:spPr>
          <a:xfrm>
            <a:off x="502920" y="4370832"/>
            <a:ext cx="77724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OUTPUT:</a:t>
            </a:r>
            <a:endParaRPr lang="en-US" sz="1000" dirty="0"/>
          </a:p>
        </p:txBody>
      </p:sp>
      <p:sp>
        <p:nvSpPr>
          <p:cNvPr id="18" name="Text 16"/>
          <p:cNvSpPr/>
          <p:nvPr/>
        </p:nvSpPr>
        <p:spPr>
          <a:xfrm>
            <a:off x="1298448" y="4370832"/>
            <a:ext cx="2560320" cy="25603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Light energy</a:t>
            </a:r>
            <a:endParaRPr lang="en-US" sz="1050" dirty="0"/>
          </a:p>
        </p:txBody>
      </p:sp>
      <p:sp>
        <p:nvSpPr>
          <p:cNvPr id="19" name="Text 17"/>
          <p:cNvSpPr/>
          <p:nvPr/>
        </p:nvSpPr>
        <p:spPr>
          <a:xfrm>
            <a:off x="502920" y="4700016"/>
            <a:ext cx="82296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WASTED:</a:t>
            </a:r>
            <a:endParaRPr lang="en-US" sz="1000" dirty="0"/>
          </a:p>
        </p:txBody>
      </p:sp>
      <p:sp>
        <p:nvSpPr>
          <p:cNvPr id="20" name="Text 18"/>
          <p:cNvSpPr/>
          <p:nvPr/>
        </p:nvSpPr>
        <p:spPr>
          <a:xfrm>
            <a:off x="1353312" y="4700016"/>
            <a:ext cx="2514600" cy="2560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Heat from the bulb</a:t>
            </a:r>
            <a:endParaRPr lang="en-US" sz="1050" dirty="0"/>
          </a:p>
        </p:txBody>
      </p:sp>
      <p:sp>
        <p:nvSpPr>
          <p:cNvPr id="21" name="Text 19"/>
          <p:cNvSpPr/>
          <p:nvPr/>
        </p:nvSpPr>
        <p:spPr>
          <a:xfrm>
            <a:off x="475488" y="5047488"/>
            <a:ext cx="3383280" cy="329184"/>
          </a:xfrm>
          <a:prstGeom prst="rect">
            <a:avLst/>
          </a:prstGeom>
          <a:noFill/>
          <a:ln/>
        </p:spPr>
        <p:txBody>
          <a:bodyPr wrap="square" rtlCol="0" anchor="ctr"/>
          <a:lstStyle/>
          <a:p>
            <a:pPr algn="ctr" indent="0" marL="0">
              <a:buNone/>
            </a:pPr>
            <a:r>
              <a:rPr lang="en-US" sz="1100" b="1" dirty="0">
                <a:solidFill>
                  <a:srgbClr val="4CC9F0"/>
                </a:solidFill>
                <a:latin typeface="Calibri" pitchFamily="34" charset="0"/>
                <a:ea typeface="Calibri" pitchFamily="34" charset="-122"/>
                <a:cs typeface="Calibri" pitchFamily="34" charset="-120"/>
              </a:rPr>
              <a:t>Electrical to Light</a:t>
            </a:r>
            <a:endParaRPr lang="en-US" sz="1100" dirty="0"/>
          </a:p>
        </p:txBody>
      </p:sp>
      <p:sp>
        <p:nvSpPr>
          <p:cNvPr id="22" name="Shape 20"/>
          <p:cNvSpPr/>
          <p:nvPr/>
        </p:nvSpPr>
        <p:spPr>
          <a:xfrm>
            <a:off x="4160520" y="3218688"/>
            <a:ext cx="3611880" cy="3108960"/>
          </a:xfrm>
          <a:prstGeom prst="roundRect">
            <a:avLst>
              <a:gd name="adj" fmla="val 2353"/>
            </a:avLst>
          </a:prstGeom>
          <a:solidFill>
            <a:srgbClr val="1E2F45"/>
          </a:solidFill>
          <a:ln w="25400">
            <a:solidFill>
              <a:srgbClr val="FFB703"/>
            </a:solidFill>
            <a:prstDash val="solid"/>
          </a:ln>
        </p:spPr>
      </p:sp>
      <p:sp>
        <p:nvSpPr>
          <p:cNvPr id="23" name="Text 21"/>
          <p:cNvSpPr/>
          <p:nvPr/>
        </p:nvSpPr>
        <p:spPr>
          <a:xfrm>
            <a:off x="4270248" y="3273552"/>
            <a:ext cx="3383280" cy="329184"/>
          </a:xfrm>
          <a:prstGeom prst="rect">
            <a:avLst/>
          </a:prstGeom>
          <a:noFill/>
          <a:ln/>
        </p:spPr>
        <p:txBody>
          <a:bodyPr wrap="square" rtlCol="0" anchor="ctr"/>
          <a:lstStyle/>
          <a:p>
            <a:pPr algn="ctr" indent="0" marL="0">
              <a:buNone/>
            </a:pPr>
            <a:r>
              <a:rPr lang="en-US" sz="1400" b="1" dirty="0">
                <a:solidFill>
                  <a:srgbClr val="FFB703"/>
                </a:solidFill>
                <a:latin typeface="Calibri" pitchFamily="34" charset="0"/>
                <a:ea typeface="Calibri" pitchFamily="34" charset="-122"/>
                <a:cs typeface="Calibri" pitchFamily="34" charset="-120"/>
              </a:rPr>
              <a:t>Toaster</a:t>
            </a:r>
            <a:endParaRPr lang="en-US" sz="1400" dirty="0"/>
          </a:p>
        </p:txBody>
      </p:sp>
      <p:sp>
        <p:nvSpPr>
          <p:cNvPr id="24" name="Text 22"/>
          <p:cNvSpPr/>
          <p:nvPr/>
        </p:nvSpPr>
        <p:spPr>
          <a:xfrm>
            <a:off x="4297680" y="3675888"/>
            <a:ext cx="64008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INPUT:</a:t>
            </a:r>
            <a:endParaRPr lang="en-US" sz="1000" dirty="0"/>
          </a:p>
        </p:txBody>
      </p:sp>
      <p:sp>
        <p:nvSpPr>
          <p:cNvPr id="25" name="Text 23"/>
          <p:cNvSpPr/>
          <p:nvPr/>
        </p:nvSpPr>
        <p:spPr>
          <a:xfrm>
            <a:off x="4965192" y="3675888"/>
            <a:ext cx="2697480" cy="25603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Electrical energy (outlet)</a:t>
            </a:r>
            <a:endParaRPr lang="en-US" sz="1050" dirty="0"/>
          </a:p>
        </p:txBody>
      </p:sp>
      <p:sp>
        <p:nvSpPr>
          <p:cNvPr id="26" name="Shape 24"/>
          <p:cNvSpPr/>
          <p:nvPr/>
        </p:nvSpPr>
        <p:spPr>
          <a:xfrm>
            <a:off x="4526280" y="4005072"/>
            <a:ext cx="914400" cy="274320"/>
          </a:xfrm>
          <a:prstGeom prst="rightArrow">
            <a:avLst/>
          </a:prstGeom>
          <a:solidFill>
            <a:srgbClr val="FFB703"/>
          </a:solidFill>
          <a:ln w="12700">
            <a:solidFill>
              <a:srgbClr val="FFB703"/>
            </a:solidFill>
            <a:prstDash val="solid"/>
          </a:ln>
        </p:spPr>
      </p:sp>
      <p:sp>
        <p:nvSpPr>
          <p:cNvPr id="27" name="Text 25"/>
          <p:cNvSpPr/>
          <p:nvPr/>
        </p:nvSpPr>
        <p:spPr>
          <a:xfrm>
            <a:off x="4297680" y="4370832"/>
            <a:ext cx="77724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OUTPUT:</a:t>
            </a:r>
            <a:endParaRPr lang="en-US" sz="1000" dirty="0"/>
          </a:p>
        </p:txBody>
      </p:sp>
      <p:sp>
        <p:nvSpPr>
          <p:cNvPr id="28" name="Text 26"/>
          <p:cNvSpPr/>
          <p:nvPr/>
        </p:nvSpPr>
        <p:spPr>
          <a:xfrm>
            <a:off x="5093208" y="4370832"/>
            <a:ext cx="2560320" cy="25603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Heat energy</a:t>
            </a:r>
            <a:endParaRPr lang="en-US" sz="1050" dirty="0"/>
          </a:p>
        </p:txBody>
      </p:sp>
      <p:sp>
        <p:nvSpPr>
          <p:cNvPr id="29" name="Text 27"/>
          <p:cNvSpPr/>
          <p:nvPr/>
        </p:nvSpPr>
        <p:spPr>
          <a:xfrm>
            <a:off x="4297680" y="4700016"/>
            <a:ext cx="82296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WASTED:</a:t>
            </a:r>
            <a:endParaRPr lang="en-US" sz="1000" dirty="0"/>
          </a:p>
        </p:txBody>
      </p:sp>
      <p:sp>
        <p:nvSpPr>
          <p:cNvPr id="30" name="Text 28"/>
          <p:cNvSpPr/>
          <p:nvPr/>
        </p:nvSpPr>
        <p:spPr>
          <a:xfrm>
            <a:off x="5148072" y="4700016"/>
            <a:ext cx="2514600" cy="2560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Light + sound</a:t>
            </a:r>
            <a:endParaRPr lang="en-US" sz="1050" dirty="0"/>
          </a:p>
        </p:txBody>
      </p:sp>
      <p:sp>
        <p:nvSpPr>
          <p:cNvPr id="31" name="Text 29"/>
          <p:cNvSpPr/>
          <p:nvPr/>
        </p:nvSpPr>
        <p:spPr>
          <a:xfrm>
            <a:off x="4270248" y="5047488"/>
            <a:ext cx="3383280" cy="329184"/>
          </a:xfrm>
          <a:prstGeom prst="rect">
            <a:avLst/>
          </a:prstGeom>
          <a:noFill/>
          <a:ln/>
        </p:spPr>
        <p:txBody>
          <a:bodyPr wrap="square" rtlCol="0" anchor="ctr"/>
          <a:lstStyle/>
          <a:p>
            <a:pPr algn="ctr" indent="0" marL="0">
              <a:buNone/>
            </a:pPr>
            <a:r>
              <a:rPr lang="en-US" sz="1100" b="1" dirty="0">
                <a:solidFill>
                  <a:srgbClr val="FFB703"/>
                </a:solidFill>
                <a:latin typeface="Calibri" pitchFamily="34" charset="0"/>
                <a:ea typeface="Calibri" pitchFamily="34" charset="-122"/>
                <a:cs typeface="Calibri" pitchFamily="34" charset="-120"/>
              </a:rPr>
              <a:t>Electrical to Heat</a:t>
            </a:r>
            <a:endParaRPr lang="en-US" sz="1100" dirty="0"/>
          </a:p>
        </p:txBody>
      </p:sp>
      <p:sp>
        <p:nvSpPr>
          <p:cNvPr id="32" name="Shape 30"/>
          <p:cNvSpPr/>
          <p:nvPr/>
        </p:nvSpPr>
        <p:spPr>
          <a:xfrm>
            <a:off x="7955280" y="3218688"/>
            <a:ext cx="3611880" cy="3108960"/>
          </a:xfrm>
          <a:prstGeom prst="roundRect">
            <a:avLst>
              <a:gd name="adj" fmla="val 2353"/>
            </a:avLst>
          </a:prstGeom>
          <a:solidFill>
            <a:srgbClr val="1E2F45"/>
          </a:solidFill>
          <a:ln w="25400">
            <a:solidFill>
              <a:srgbClr val="2DC653"/>
            </a:solidFill>
            <a:prstDash val="solid"/>
          </a:ln>
        </p:spPr>
      </p:sp>
      <p:sp>
        <p:nvSpPr>
          <p:cNvPr id="33" name="Text 31"/>
          <p:cNvSpPr/>
          <p:nvPr/>
        </p:nvSpPr>
        <p:spPr>
          <a:xfrm>
            <a:off x="8065008" y="3273552"/>
            <a:ext cx="3383280" cy="329184"/>
          </a:xfrm>
          <a:prstGeom prst="rect">
            <a:avLst/>
          </a:prstGeom>
          <a:noFill/>
          <a:ln/>
        </p:spPr>
        <p:txBody>
          <a:bodyPr wrap="square" rtlCol="0" anchor="ctr"/>
          <a:lstStyle/>
          <a:p>
            <a:pPr algn="ctr" indent="0" marL="0">
              <a:buNone/>
            </a:pPr>
            <a:r>
              <a:rPr lang="en-US" sz="1400" b="1" dirty="0">
                <a:solidFill>
                  <a:srgbClr val="2DC653"/>
                </a:solidFill>
                <a:latin typeface="Calibri" pitchFamily="34" charset="0"/>
                <a:ea typeface="Calibri" pitchFamily="34" charset="-122"/>
                <a:cs typeface="Calibri" pitchFamily="34" charset="-120"/>
              </a:rPr>
              <a:t>Wind Turbine</a:t>
            </a:r>
            <a:endParaRPr lang="en-US" sz="1400" dirty="0"/>
          </a:p>
        </p:txBody>
      </p:sp>
      <p:sp>
        <p:nvSpPr>
          <p:cNvPr id="34" name="Text 32"/>
          <p:cNvSpPr/>
          <p:nvPr/>
        </p:nvSpPr>
        <p:spPr>
          <a:xfrm>
            <a:off x="8092440" y="3675888"/>
            <a:ext cx="64008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INPUT:</a:t>
            </a:r>
            <a:endParaRPr lang="en-US" sz="1000" dirty="0"/>
          </a:p>
        </p:txBody>
      </p:sp>
      <p:sp>
        <p:nvSpPr>
          <p:cNvPr id="35" name="Text 33"/>
          <p:cNvSpPr/>
          <p:nvPr/>
        </p:nvSpPr>
        <p:spPr>
          <a:xfrm>
            <a:off x="8759952" y="3675888"/>
            <a:ext cx="2697480" cy="25603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Motion energy (kinetic) of wind</a:t>
            </a:r>
            <a:endParaRPr lang="en-US" sz="1050" dirty="0"/>
          </a:p>
        </p:txBody>
      </p:sp>
      <p:sp>
        <p:nvSpPr>
          <p:cNvPr id="36" name="Shape 34"/>
          <p:cNvSpPr/>
          <p:nvPr/>
        </p:nvSpPr>
        <p:spPr>
          <a:xfrm>
            <a:off x="8321040" y="4005072"/>
            <a:ext cx="914400" cy="274320"/>
          </a:xfrm>
          <a:prstGeom prst="rightArrow">
            <a:avLst/>
          </a:prstGeom>
          <a:solidFill>
            <a:srgbClr val="2DC653"/>
          </a:solidFill>
          <a:ln w="12700">
            <a:solidFill>
              <a:srgbClr val="2DC653"/>
            </a:solidFill>
            <a:prstDash val="solid"/>
          </a:ln>
        </p:spPr>
      </p:sp>
      <p:sp>
        <p:nvSpPr>
          <p:cNvPr id="37" name="Text 35"/>
          <p:cNvSpPr/>
          <p:nvPr/>
        </p:nvSpPr>
        <p:spPr>
          <a:xfrm>
            <a:off x="8092440" y="4370832"/>
            <a:ext cx="77724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OUTPUT:</a:t>
            </a:r>
            <a:endParaRPr lang="en-US" sz="1000" dirty="0"/>
          </a:p>
        </p:txBody>
      </p:sp>
      <p:sp>
        <p:nvSpPr>
          <p:cNvPr id="38" name="Text 36"/>
          <p:cNvSpPr/>
          <p:nvPr/>
        </p:nvSpPr>
        <p:spPr>
          <a:xfrm>
            <a:off x="8887968" y="4370832"/>
            <a:ext cx="2560320" cy="25603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Electrical energy</a:t>
            </a:r>
            <a:endParaRPr lang="en-US" sz="1050" dirty="0"/>
          </a:p>
        </p:txBody>
      </p:sp>
      <p:sp>
        <p:nvSpPr>
          <p:cNvPr id="39" name="Text 37"/>
          <p:cNvSpPr/>
          <p:nvPr/>
        </p:nvSpPr>
        <p:spPr>
          <a:xfrm>
            <a:off x="8092440" y="4700016"/>
            <a:ext cx="82296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WASTED:</a:t>
            </a:r>
            <a:endParaRPr lang="en-US" sz="1000" dirty="0"/>
          </a:p>
        </p:txBody>
      </p:sp>
      <p:sp>
        <p:nvSpPr>
          <p:cNvPr id="40" name="Text 38"/>
          <p:cNvSpPr/>
          <p:nvPr/>
        </p:nvSpPr>
        <p:spPr>
          <a:xfrm>
            <a:off x="8942832" y="4700016"/>
            <a:ext cx="2514600" cy="25603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Sound + vibration</a:t>
            </a:r>
            <a:endParaRPr lang="en-US" sz="1050" dirty="0"/>
          </a:p>
        </p:txBody>
      </p:sp>
      <p:sp>
        <p:nvSpPr>
          <p:cNvPr id="41" name="Text 39"/>
          <p:cNvSpPr/>
          <p:nvPr/>
        </p:nvSpPr>
        <p:spPr>
          <a:xfrm>
            <a:off x="8065008" y="5047488"/>
            <a:ext cx="3383280" cy="329184"/>
          </a:xfrm>
          <a:prstGeom prst="rect">
            <a:avLst/>
          </a:prstGeom>
          <a:noFill/>
          <a:ln/>
        </p:spPr>
        <p:txBody>
          <a:bodyPr wrap="square" rtlCol="0" anchor="ctr"/>
          <a:lstStyle/>
          <a:p>
            <a:pPr algn="ctr" indent="0" marL="0">
              <a:buNone/>
            </a:pPr>
            <a:r>
              <a:rPr lang="en-US" sz="1100" b="1" dirty="0">
                <a:solidFill>
                  <a:srgbClr val="2DC653"/>
                </a:solidFill>
                <a:latin typeface="Calibri" pitchFamily="34" charset="0"/>
                <a:ea typeface="Calibri" pitchFamily="34" charset="-122"/>
                <a:cs typeface="Calibri" pitchFamily="34" charset="-120"/>
              </a:rPr>
              <a:t>Motion to Electrical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Discussion — Compare Two Devices</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1325880"/>
          </a:xfrm>
          <a:prstGeom prst="roundRect">
            <a:avLst>
              <a:gd name="adj" fmla="val 5517"/>
            </a:avLst>
          </a:prstGeom>
          <a:solidFill>
            <a:srgbClr val="162233"/>
          </a:solidFill>
          <a:ln w="12700">
            <a:solidFill>
              <a:srgbClr val="FFB703"/>
            </a:solidFill>
            <a:prstDash val="solid"/>
          </a:ln>
        </p:spPr>
      </p:sp>
      <p:sp>
        <p:nvSpPr>
          <p:cNvPr id="8" name="Text 6"/>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Partner Discussion — 2 minutes:</a:t>
            </a:r>
            <a:endParaRPr lang="en-US" sz="1300" dirty="0"/>
          </a:p>
        </p:txBody>
      </p:sp>
      <p:sp>
        <p:nvSpPr>
          <p:cNvPr id="9" name="Text 7"/>
          <p:cNvSpPr/>
          <p:nvPr/>
        </p:nvSpPr>
        <p:spPr>
          <a:xfrm>
            <a:off x="530352" y="1188720"/>
            <a:ext cx="10917936" cy="7772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Pick ANY two devices from the diagram. Name the INPUT and OUTPUT for each. Are any of the inputs or outputs the same? Because ___.</a:t>
            </a:r>
            <a:endParaRPr lang="en-US" sz="1300" dirty="0"/>
          </a:p>
        </p:txBody>
      </p:sp>
      <p:sp>
        <p:nvSpPr>
          <p:cNvPr id="10" name="Shape 8"/>
          <p:cNvSpPr/>
          <p:nvPr/>
        </p:nvSpPr>
        <p:spPr>
          <a:xfrm>
            <a:off x="365760" y="2212848"/>
            <a:ext cx="5394960" cy="4114800"/>
          </a:xfrm>
          <a:prstGeom prst="roundRect">
            <a:avLst>
              <a:gd name="adj" fmla="val 1778"/>
            </a:avLst>
          </a:prstGeom>
          <a:solidFill>
            <a:srgbClr val="1E2F45"/>
          </a:solidFill>
          <a:ln w="12700">
            <a:solidFill>
              <a:srgbClr val="FFB703"/>
            </a:solidFill>
            <a:prstDash val="solid"/>
          </a:ln>
        </p:spPr>
      </p:sp>
      <p:sp>
        <p:nvSpPr>
          <p:cNvPr id="11" name="Text 9"/>
          <p:cNvSpPr/>
          <p:nvPr/>
        </p:nvSpPr>
        <p:spPr>
          <a:xfrm>
            <a:off x="548640" y="2267712"/>
            <a:ext cx="512064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Thinking Sentence Stems:</a:t>
            </a:r>
            <a:endParaRPr lang="en-US" sz="1200" dirty="0"/>
          </a:p>
        </p:txBody>
      </p:sp>
      <p:sp>
        <p:nvSpPr>
          <p:cNvPr id="12" name="Text 10"/>
          <p:cNvSpPr/>
          <p:nvPr/>
        </p:nvSpPr>
        <p:spPr>
          <a:xfrm>
            <a:off x="594360" y="2651760"/>
            <a:ext cx="5120640" cy="5669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Device 1 converts ___ INTO ___ energy.</a:t>
            </a:r>
            <a:endParaRPr lang="en-US" sz="1200" dirty="0"/>
          </a:p>
        </p:txBody>
      </p:sp>
      <p:sp>
        <p:nvSpPr>
          <p:cNvPr id="13" name="Text 11"/>
          <p:cNvSpPr/>
          <p:nvPr/>
        </p:nvSpPr>
        <p:spPr>
          <a:xfrm>
            <a:off x="594360" y="3291840"/>
            <a:ext cx="5120640" cy="5669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Device 2 converts ___ INTO ___ energy.</a:t>
            </a:r>
            <a:endParaRPr lang="en-US" sz="1200" dirty="0"/>
          </a:p>
        </p:txBody>
      </p:sp>
      <p:sp>
        <p:nvSpPr>
          <p:cNvPr id="14" name="Text 12"/>
          <p:cNvSpPr/>
          <p:nvPr/>
        </p:nvSpPr>
        <p:spPr>
          <a:xfrm>
            <a:off x="594360" y="3931920"/>
            <a:ext cx="5120640" cy="5669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They are similar because both ___.</a:t>
            </a:r>
            <a:endParaRPr lang="en-US" sz="1200" dirty="0"/>
          </a:p>
        </p:txBody>
      </p:sp>
      <p:sp>
        <p:nvSpPr>
          <p:cNvPr id="15" name="Text 13"/>
          <p:cNvSpPr/>
          <p:nvPr/>
        </p:nvSpPr>
        <p:spPr>
          <a:xfrm>
            <a:off x="594360" y="4572000"/>
            <a:ext cx="5120640" cy="5669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They are different because ___.</a:t>
            </a:r>
            <a:endParaRPr lang="en-US" sz="1200" dirty="0"/>
          </a:p>
        </p:txBody>
      </p:sp>
      <p:sp>
        <p:nvSpPr>
          <p:cNvPr id="16" name="Text 14"/>
          <p:cNvSpPr/>
          <p:nvPr/>
        </p:nvSpPr>
        <p:spPr>
          <a:xfrm>
            <a:off x="594360" y="5212080"/>
            <a:ext cx="5120640" cy="5669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The useful output of ___ is ___ because ___.</a:t>
            </a:r>
            <a:endParaRPr lang="en-US" sz="1200" dirty="0"/>
          </a:p>
        </p:txBody>
      </p:sp>
      <p:sp>
        <p:nvSpPr>
          <p:cNvPr id="17" name="Shape 15"/>
          <p:cNvSpPr/>
          <p:nvPr/>
        </p:nvSpPr>
        <p:spPr>
          <a:xfrm>
            <a:off x="6035040" y="2212848"/>
            <a:ext cx="5577840" cy="4114800"/>
          </a:xfrm>
          <a:prstGeom prst="roundRect">
            <a:avLst>
              <a:gd name="adj" fmla="val 1778"/>
            </a:avLst>
          </a:prstGeom>
          <a:solidFill>
            <a:srgbClr val="162233"/>
          </a:solidFill>
          <a:ln w="25400">
            <a:solidFill>
              <a:srgbClr val="0096C7"/>
            </a:solidFill>
            <a:prstDash val="solid"/>
          </a:ln>
        </p:spPr>
      </p:sp>
      <p:sp>
        <p:nvSpPr>
          <p:cNvPr id="18" name="Text 16"/>
          <p:cNvSpPr/>
          <p:nvPr/>
        </p:nvSpPr>
        <p:spPr>
          <a:xfrm>
            <a:off x="6163056" y="2286000"/>
            <a:ext cx="5321808" cy="292608"/>
          </a:xfrm>
          <a:prstGeom prst="rect">
            <a:avLst/>
          </a:prstGeom>
          <a:noFill/>
          <a:ln/>
        </p:spPr>
        <p:txBody>
          <a:bodyPr wrap="square" rtlCol="0" anchor="ctr"/>
          <a:lstStyle/>
          <a:p>
            <a:pPr algn="l" indent="0" marL="0">
              <a:buNone/>
            </a:pPr>
            <a:r>
              <a:rPr lang="en-US" sz="1100" b="1" dirty="0">
                <a:solidFill>
                  <a:srgbClr val="4CC9F0"/>
                </a:solidFill>
                <a:latin typeface="Calibri" pitchFamily="34" charset="0"/>
                <a:ea typeface="Calibri" pitchFamily="34" charset="-122"/>
                <a:cs typeface="Calibri" pitchFamily="34" charset="-120"/>
              </a:rPr>
              <a:t>🤔  Socratic Question</a:t>
            </a:r>
            <a:endParaRPr lang="en-US" sz="1100" dirty="0"/>
          </a:p>
        </p:txBody>
      </p:sp>
      <p:sp>
        <p:nvSpPr>
          <p:cNvPr id="19" name="Text 17"/>
          <p:cNvSpPr/>
          <p:nvPr/>
        </p:nvSpPr>
        <p:spPr>
          <a:xfrm>
            <a:off x="6163056" y="2615184"/>
            <a:ext cx="5321808" cy="3621024"/>
          </a:xfrm>
          <a:prstGeom prst="rect">
            <a:avLst/>
          </a:prstGeom>
          <a:noFill/>
          <a:ln/>
        </p:spPr>
        <p:txBody>
          <a:bodyPr wrap="square" rtlCol="0" anchor="t"/>
          <a:lstStyle/>
          <a:p>
            <a:pPr algn="l" indent="0" marL="0">
              <a:buNone/>
            </a:pPr>
            <a:r>
              <a:rPr lang="en-US" sz="1100" dirty="0">
                <a:solidFill>
                  <a:srgbClr val="B0C4D8"/>
                </a:solidFill>
                <a:latin typeface="Calibri" pitchFamily="34" charset="0"/>
                <a:ea typeface="Calibri" pitchFamily="34" charset="-122"/>
                <a:cs typeface="Calibri" pitchFamily="34" charset="-120"/>
              </a:rPr>
              <a:t>• Could two completely different devices have the SAME input AND the same output?</a:t>
            </a:r>
            <a:endParaRPr lang="en-US" sz="1100" dirty="0"/>
          </a:p>
          <a:p>
            <a:pPr algn="l" indent="0" marL="0">
              <a:buNone/>
            </a:pPr>
            <a:r>
              <a:rPr lang="en-US" sz="1100" dirty="0">
                <a:solidFill>
                  <a:srgbClr val="B0C4D8"/>
                </a:solidFill>
                <a:latin typeface="Calibri" pitchFamily="34" charset="0"/>
                <a:ea typeface="Calibri" pitchFamily="34" charset="-122"/>
                <a:cs typeface="Calibri" pitchFamily="34" charset="-120"/>
              </a:rPr>
              <a:t>• What would change your mind about which device is more useful?</a:t>
            </a:r>
            <a:endParaRPr lang="en-US" sz="1100" dirty="0"/>
          </a:p>
          <a:p>
            <a:pPr algn="l" indent="0" marL="0">
              <a:buNone/>
            </a:pPr>
            <a:r>
              <a:rPr lang="en-US" sz="1100" dirty="0">
                <a:solidFill>
                  <a:srgbClr val="B0C4D8"/>
                </a:solidFill>
                <a:latin typeface="Calibri" pitchFamily="34" charset="0"/>
                <a:ea typeface="Calibri" pitchFamily="34" charset="-122"/>
                <a:cs typeface="Calibri" pitchFamily="34" charset="-120"/>
              </a:rPr>
              <a:t>• Could there be another explanation for why engineers choose different input types?</a:t>
            </a:r>
            <a:endParaRPr lang="en-US" sz="1100" dirty="0"/>
          </a:p>
          <a:p>
            <a:pPr algn="l" indent="0" marL="0">
              <a:buNone/>
            </a:pPr>
            <a:r>
              <a:rPr lang="en-US" sz="1100" dirty="0">
                <a:solidFill>
                  <a:srgbClr val="B0C4D8"/>
                </a:solidFill>
                <a:latin typeface="Calibri" pitchFamily="34" charset="0"/>
                <a:ea typeface="Calibri" pitchFamily="34" charset="-122"/>
                <a:cs typeface="Calibri" pitchFamily="34" charset="-120"/>
              </a:rPr>
              <a:t>• What would you need to know to decide which device is most efficient?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Concept — Wasted Energy and Efficiency</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960120"/>
          </a:xfrm>
          <a:prstGeom prst="roundRect">
            <a:avLst>
              <a:gd name="adj" fmla="val 7619"/>
            </a:avLst>
          </a:prstGeom>
          <a:solidFill>
            <a:srgbClr val="1E2F45"/>
          </a:solidFill>
          <a:ln w="12700">
            <a:solidFill>
              <a:srgbClr val="F4736A"/>
            </a:solidFill>
            <a:prstDash val="solid"/>
          </a:ln>
        </p:spPr>
      </p:sp>
      <p:sp>
        <p:nvSpPr>
          <p:cNvPr id="8" name="Text 6"/>
          <p:cNvSpPr/>
          <p:nvPr/>
        </p:nvSpPr>
        <p:spPr>
          <a:xfrm>
            <a:off x="548640" y="804672"/>
            <a:ext cx="10972800" cy="822960"/>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No device is 100% efficient. Every device produces SOME energy output you did not want.</a:t>
            </a:r>
            <a:endParaRPr lang="en-US" sz="1400" dirty="0"/>
          </a:p>
        </p:txBody>
      </p:sp>
      <p:sp>
        <p:nvSpPr>
          <p:cNvPr id="9" name="Shape 7"/>
          <p:cNvSpPr/>
          <p:nvPr/>
        </p:nvSpPr>
        <p:spPr>
          <a:xfrm>
            <a:off x="365760" y="1883664"/>
            <a:ext cx="3657600" cy="2606040"/>
          </a:xfrm>
          <a:prstGeom prst="roundRect">
            <a:avLst>
              <a:gd name="adj" fmla="val 2807"/>
            </a:avLst>
          </a:prstGeom>
          <a:solidFill>
            <a:srgbClr val="1E2F45"/>
          </a:solidFill>
          <a:ln w="12700">
            <a:solidFill>
              <a:srgbClr val="4CC9F0"/>
            </a:solidFill>
            <a:prstDash val="solid"/>
          </a:ln>
        </p:spPr>
      </p:sp>
      <p:sp>
        <p:nvSpPr>
          <p:cNvPr id="10" name="Text 8"/>
          <p:cNvSpPr/>
          <p:nvPr/>
        </p:nvSpPr>
        <p:spPr>
          <a:xfrm>
            <a:off x="502920" y="1938528"/>
            <a:ext cx="3383280" cy="310896"/>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Flashlight</a:t>
            </a:r>
            <a:endParaRPr lang="en-US" sz="1300" dirty="0"/>
          </a:p>
        </p:txBody>
      </p:sp>
      <p:sp>
        <p:nvSpPr>
          <p:cNvPr id="11" name="Text 9"/>
          <p:cNvSpPr/>
          <p:nvPr/>
        </p:nvSpPr>
        <p:spPr>
          <a:xfrm>
            <a:off x="502920" y="2304288"/>
            <a:ext cx="137160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Useful output:</a:t>
            </a:r>
            <a:endParaRPr lang="en-US" sz="1000" dirty="0"/>
          </a:p>
        </p:txBody>
      </p:sp>
      <p:sp>
        <p:nvSpPr>
          <p:cNvPr id="12" name="Text 10"/>
          <p:cNvSpPr/>
          <p:nvPr/>
        </p:nvSpPr>
        <p:spPr>
          <a:xfrm>
            <a:off x="1920240" y="2304288"/>
            <a:ext cx="192024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Light</a:t>
            </a:r>
            <a:endParaRPr lang="en-US" sz="1100" dirty="0"/>
          </a:p>
        </p:txBody>
      </p:sp>
      <p:sp>
        <p:nvSpPr>
          <p:cNvPr id="13" name="Text 11"/>
          <p:cNvSpPr/>
          <p:nvPr/>
        </p:nvSpPr>
        <p:spPr>
          <a:xfrm>
            <a:off x="502920" y="2633472"/>
            <a:ext cx="137160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Wasted output:</a:t>
            </a:r>
            <a:endParaRPr lang="en-US" sz="1000" dirty="0"/>
          </a:p>
        </p:txBody>
      </p:sp>
      <p:sp>
        <p:nvSpPr>
          <p:cNvPr id="14" name="Text 12"/>
          <p:cNvSpPr/>
          <p:nvPr/>
        </p:nvSpPr>
        <p:spPr>
          <a:xfrm>
            <a:off x="1920240" y="2633472"/>
            <a:ext cx="19202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Heat from bulb</a:t>
            </a:r>
            <a:endParaRPr lang="en-US" sz="1100" dirty="0"/>
          </a:p>
        </p:txBody>
      </p:sp>
      <p:sp>
        <p:nvSpPr>
          <p:cNvPr id="15" name="Text 13"/>
          <p:cNvSpPr/>
          <p:nvPr/>
        </p:nvSpPr>
        <p:spPr>
          <a:xfrm>
            <a:off x="502920" y="3145536"/>
            <a:ext cx="3383280" cy="365760"/>
          </a:xfrm>
          <a:prstGeom prst="rect">
            <a:avLst/>
          </a:prstGeom>
          <a:noFill/>
          <a:ln/>
        </p:spPr>
        <p:txBody>
          <a:bodyPr wrap="square" rtlCol="0" anchor="ctr"/>
          <a:lstStyle/>
          <a:p>
            <a:pPr algn="ctr" indent="0" marL="0">
              <a:buNone/>
            </a:pPr>
            <a:r>
              <a:rPr lang="en-US" sz="1200" b="1" dirty="0">
                <a:solidFill>
                  <a:srgbClr val="4CC9F0"/>
                </a:solidFill>
                <a:latin typeface="Calibri" pitchFamily="34" charset="0"/>
                <a:ea typeface="Calibri" pitchFamily="34" charset="-122"/>
                <a:cs typeface="Calibri" pitchFamily="34" charset="-120"/>
              </a:rPr>
              <a:t>Efficiency: ~15%</a:t>
            </a:r>
            <a:endParaRPr lang="en-US" sz="1200" dirty="0"/>
          </a:p>
        </p:txBody>
      </p:sp>
      <p:sp>
        <p:nvSpPr>
          <p:cNvPr id="16" name="Shape 14"/>
          <p:cNvSpPr/>
          <p:nvPr/>
        </p:nvSpPr>
        <p:spPr>
          <a:xfrm>
            <a:off x="502920" y="3547872"/>
            <a:ext cx="3383280" cy="292608"/>
          </a:xfrm>
          <a:prstGeom prst="rect">
            <a:avLst/>
          </a:prstGeom>
          <a:solidFill>
            <a:srgbClr val="1A1A2A"/>
          </a:solidFill>
          <a:ln w="12700">
            <a:solidFill>
              <a:srgbClr val="4CC9F0"/>
            </a:solidFill>
            <a:prstDash val="solid"/>
          </a:ln>
        </p:spPr>
      </p:sp>
      <p:sp>
        <p:nvSpPr>
          <p:cNvPr id="17" name="Shape 15"/>
          <p:cNvSpPr/>
          <p:nvPr/>
        </p:nvSpPr>
        <p:spPr>
          <a:xfrm>
            <a:off x="502920" y="3547872"/>
            <a:ext cx="512064" cy="292608"/>
          </a:xfrm>
          <a:prstGeom prst="rect">
            <a:avLst/>
          </a:prstGeom>
          <a:solidFill>
            <a:srgbClr val="4CC9F0"/>
          </a:solidFill>
          <a:ln w="12700">
            <a:solidFill>
              <a:srgbClr val="4CC9F0"/>
            </a:solidFill>
            <a:prstDash val="solid"/>
          </a:ln>
        </p:spPr>
      </p:sp>
      <p:sp>
        <p:nvSpPr>
          <p:cNvPr id="18" name="Shape 16"/>
          <p:cNvSpPr/>
          <p:nvPr/>
        </p:nvSpPr>
        <p:spPr>
          <a:xfrm>
            <a:off x="4297680" y="1883664"/>
            <a:ext cx="3657600" cy="2606040"/>
          </a:xfrm>
          <a:prstGeom prst="roundRect">
            <a:avLst>
              <a:gd name="adj" fmla="val 2807"/>
            </a:avLst>
          </a:prstGeom>
          <a:solidFill>
            <a:srgbClr val="1E2F45"/>
          </a:solidFill>
          <a:ln w="12700">
            <a:solidFill>
              <a:srgbClr val="FFB703"/>
            </a:solidFill>
            <a:prstDash val="solid"/>
          </a:ln>
        </p:spPr>
      </p:sp>
      <p:sp>
        <p:nvSpPr>
          <p:cNvPr id="19" name="Text 17"/>
          <p:cNvSpPr/>
          <p:nvPr/>
        </p:nvSpPr>
        <p:spPr>
          <a:xfrm>
            <a:off x="4434840" y="1938528"/>
            <a:ext cx="3383280" cy="310896"/>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Toaster</a:t>
            </a:r>
            <a:endParaRPr lang="en-US" sz="1300" dirty="0"/>
          </a:p>
        </p:txBody>
      </p:sp>
      <p:sp>
        <p:nvSpPr>
          <p:cNvPr id="20" name="Text 18"/>
          <p:cNvSpPr/>
          <p:nvPr/>
        </p:nvSpPr>
        <p:spPr>
          <a:xfrm>
            <a:off x="4434840" y="2304288"/>
            <a:ext cx="137160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Useful output:</a:t>
            </a:r>
            <a:endParaRPr lang="en-US" sz="1000" dirty="0"/>
          </a:p>
        </p:txBody>
      </p:sp>
      <p:sp>
        <p:nvSpPr>
          <p:cNvPr id="21" name="Text 19"/>
          <p:cNvSpPr/>
          <p:nvPr/>
        </p:nvSpPr>
        <p:spPr>
          <a:xfrm>
            <a:off x="5852160" y="2304288"/>
            <a:ext cx="192024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Heat for toast</a:t>
            </a:r>
            <a:endParaRPr lang="en-US" sz="1100" dirty="0"/>
          </a:p>
        </p:txBody>
      </p:sp>
      <p:sp>
        <p:nvSpPr>
          <p:cNvPr id="22" name="Text 20"/>
          <p:cNvSpPr/>
          <p:nvPr/>
        </p:nvSpPr>
        <p:spPr>
          <a:xfrm>
            <a:off x="4434840" y="2633472"/>
            <a:ext cx="137160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Wasted output:</a:t>
            </a:r>
            <a:endParaRPr lang="en-US" sz="1000" dirty="0"/>
          </a:p>
        </p:txBody>
      </p:sp>
      <p:sp>
        <p:nvSpPr>
          <p:cNvPr id="23" name="Text 21"/>
          <p:cNvSpPr/>
          <p:nvPr/>
        </p:nvSpPr>
        <p:spPr>
          <a:xfrm>
            <a:off x="5852160" y="2633472"/>
            <a:ext cx="19202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Light glow + sound</a:t>
            </a:r>
            <a:endParaRPr lang="en-US" sz="1100" dirty="0"/>
          </a:p>
        </p:txBody>
      </p:sp>
      <p:sp>
        <p:nvSpPr>
          <p:cNvPr id="24" name="Text 22"/>
          <p:cNvSpPr/>
          <p:nvPr/>
        </p:nvSpPr>
        <p:spPr>
          <a:xfrm>
            <a:off x="4434840" y="3145536"/>
            <a:ext cx="3383280" cy="365760"/>
          </a:xfrm>
          <a:prstGeom prst="rect">
            <a:avLst/>
          </a:prstGeom>
          <a:noFill/>
          <a:ln/>
        </p:spPr>
        <p:txBody>
          <a:bodyPr wrap="square" rtlCol="0" anchor="ctr"/>
          <a:lstStyle/>
          <a:p>
            <a:pPr algn="ctr" indent="0" marL="0">
              <a:buNone/>
            </a:pPr>
            <a:r>
              <a:rPr lang="en-US" sz="1200" b="1" dirty="0">
                <a:solidFill>
                  <a:srgbClr val="FFB703"/>
                </a:solidFill>
                <a:latin typeface="Calibri" pitchFamily="34" charset="0"/>
                <a:ea typeface="Calibri" pitchFamily="34" charset="-122"/>
                <a:cs typeface="Calibri" pitchFamily="34" charset="-120"/>
              </a:rPr>
              <a:t>Efficiency: ~75%</a:t>
            </a:r>
            <a:endParaRPr lang="en-US" sz="1200" dirty="0"/>
          </a:p>
        </p:txBody>
      </p:sp>
      <p:sp>
        <p:nvSpPr>
          <p:cNvPr id="25" name="Shape 23"/>
          <p:cNvSpPr/>
          <p:nvPr/>
        </p:nvSpPr>
        <p:spPr>
          <a:xfrm>
            <a:off x="4434840" y="3547872"/>
            <a:ext cx="3383280" cy="292608"/>
          </a:xfrm>
          <a:prstGeom prst="rect">
            <a:avLst/>
          </a:prstGeom>
          <a:solidFill>
            <a:srgbClr val="1A1A2A"/>
          </a:solidFill>
          <a:ln w="12700">
            <a:solidFill>
              <a:srgbClr val="FFB703"/>
            </a:solidFill>
            <a:prstDash val="solid"/>
          </a:ln>
        </p:spPr>
      </p:sp>
      <p:sp>
        <p:nvSpPr>
          <p:cNvPr id="26" name="Shape 24"/>
          <p:cNvSpPr/>
          <p:nvPr/>
        </p:nvSpPr>
        <p:spPr>
          <a:xfrm>
            <a:off x="4434840" y="3547872"/>
            <a:ext cx="2532888" cy="292608"/>
          </a:xfrm>
          <a:prstGeom prst="rect">
            <a:avLst/>
          </a:prstGeom>
          <a:solidFill>
            <a:srgbClr val="FFB703"/>
          </a:solidFill>
          <a:ln w="12700">
            <a:solidFill>
              <a:srgbClr val="FFB703"/>
            </a:solidFill>
            <a:prstDash val="solid"/>
          </a:ln>
        </p:spPr>
      </p:sp>
      <p:sp>
        <p:nvSpPr>
          <p:cNvPr id="27" name="Shape 25"/>
          <p:cNvSpPr/>
          <p:nvPr/>
        </p:nvSpPr>
        <p:spPr>
          <a:xfrm>
            <a:off x="8229600" y="1883664"/>
            <a:ext cx="3657600" cy="2606040"/>
          </a:xfrm>
          <a:prstGeom prst="roundRect">
            <a:avLst>
              <a:gd name="adj" fmla="val 2807"/>
            </a:avLst>
          </a:prstGeom>
          <a:solidFill>
            <a:srgbClr val="1E2F45"/>
          </a:solidFill>
          <a:ln w="12700">
            <a:solidFill>
              <a:srgbClr val="2DC653"/>
            </a:solidFill>
            <a:prstDash val="solid"/>
          </a:ln>
        </p:spPr>
      </p:sp>
      <p:sp>
        <p:nvSpPr>
          <p:cNvPr id="28" name="Text 26"/>
          <p:cNvSpPr/>
          <p:nvPr/>
        </p:nvSpPr>
        <p:spPr>
          <a:xfrm>
            <a:off x="8366760" y="1938528"/>
            <a:ext cx="3383280" cy="310896"/>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Wind Turbine</a:t>
            </a:r>
            <a:endParaRPr lang="en-US" sz="1300" dirty="0"/>
          </a:p>
        </p:txBody>
      </p:sp>
      <p:sp>
        <p:nvSpPr>
          <p:cNvPr id="29" name="Text 27"/>
          <p:cNvSpPr/>
          <p:nvPr/>
        </p:nvSpPr>
        <p:spPr>
          <a:xfrm>
            <a:off x="8366760" y="2304288"/>
            <a:ext cx="1371600" cy="256032"/>
          </a:xfrm>
          <a:prstGeom prst="rect">
            <a:avLst/>
          </a:prstGeom>
          <a:noFill/>
          <a:ln/>
        </p:spPr>
        <p:txBody>
          <a:bodyPr wrap="square" rtlCol="0" anchor="ctr"/>
          <a:lstStyle/>
          <a:p>
            <a:pPr indent="0" marL="0">
              <a:buNone/>
            </a:pPr>
            <a:r>
              <a:rPr lang="en-US" sz="1000" b="1" dirty="0">
                <a:solidFill>
                  <a:srgbClr val="B0C4D8"/>
                </a:solidFill>
                <a:latin typeface="Calibri" pitchFamily="34" charset="0"/>
                <a:ea typeface="Calibri" pitchFamily="34" charset="-122"/>
                <a:cs typeface="Calibri" pitchFamily="34" charset="-120"/>
              </a:rPr>
              <a:t>Useful output:</a:t>
            </a:r>
            <a:endParaRPr lang="en-US" sz="1000" dirty="0"/>
          </a:p>
        </p:txBody>
      </p:sp>
      <p:sp>
        <p:nvSpPr>
          <p:cNvPr id="30" name="Text 28"/>
          <p:cNvSpPr/>
          <p:nvPr/>
        </p:nvSpPr>
        <p:spPr>
          <a:xfrm>
            <a:off x="9784080" y="2304288"/>
            <a:ext cx="192024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Electrical power</a:t>
            </a:r>
            <a:endParaRPr lang="en-US" sz="1100" dirty="0"/>
          </a:p>
        </p:txBody>
      </p:sp>
      <p:sp>
        <p:nvSpPr>
          <p:cNvPr id="31" name="Text 29"/>
          <p:cNvSpPr/>
          <p:nvPr/>
        </p:nvSpPr>
        <p:spPr>
          <a:xfrm>
            <a:off x="8366760" y="2633472"/>
            <a:ext cx="1371600" cy="256032"/>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Wasted output:</a:t>
            </a:r>
            <a:endParaRPr lang="en-US" sz="1000" dirty="0"/>
          </a:p>
        </p:txBody>
      </p:sp>
      <p:sp>
        <p:nvSpPr>
          <p:cNvPr id="32" name="Text 30"/>
          <p:cNvSpPr/>
          <p:nvPr/>
        </p:nvSpPr>
        <p:spPr>
          <a:xfrm>
            <a:off x="9784080" y="2633472"/>
            <a:ext cx="192024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Sound + vibration</a:t>
            </a:r>
            <a:endParaRPr lang="en-US" sz="1100" dirty="0"/>
          </a:p>
        </p:txBody>
      </p:sp>
      <p:sp>
        <p:nvSpPr>
          <p:cNvPr id="33" name="Text 31"/>
          <p:cNvSpPr/>
          <p:nvPr/>
        </p:nvSpPr>
        <p:spPr>
          <a:xfrm>
            <a:off x="8366760" y="3145536"/>
            <a:ext cx="3383280" cy="365760"/>
          </a:xfrm>
          <a:prstGeom prst="rect">
            <a:avLst/>
          </a:prstGeom>
          <a:noFill/>
          <a:ln/>
        </p:spPr>
        <p:txBody>
          <a:bodyPr wrap="square" rtlCol="0" anchor="ctr"/>
          <a:lstStyle/>
          <a:p>
            <a:pPr algn="ctr" indent="0" marL="0">
              <a:buNone/>
            </a:pPr>
            <a:r>
              <a:rPr lang="en-US" sz="1200" b="1" dirty="0">
                <a:solidFill>
                  <a:srgbClr val="2DC653"/>
                </a:solidFill>
                <a:latin typeface="Calibri" pitchFamily="34" charset="0"/>
                <a:ea typeface="Calibri" pitchFamily="34" charset="-122"/>
                <a:cs typeface="Calibri" pitchFamily="34" charset="-120"/>
              </a:rPr>
              <a:t>Efficiency: ~45%</a:t>
            </a:r>
            <a:endParaRPr lang="en-US" sz="1200" dirty="0"/>
          </a:p>
        </p:txBody>
      </p:sp>
      <p:sp>
        <p:nvSpPr>
          <p:cNvPr id="34" name="Shape 32"/>
          <p:cNvSpPr/>
          <p:nvPr/>
        </p:nvSpPr>
        <p:spPr>
          <a:xfrm>
            <a:off x="8366760" y="3547872"/>
            <a:ext cx="3383280" cy="292608"/>
          </a:xfrm>
          <a:prstGeom prst="rect">
            <a:avLst/>
          </a:prstGeom>
          <a:solidFill>
            <a:srgbClr val="1A1A2A"/>
          </a:solidFill>
          <a:ln w="12700">
            <a:solidFill>
              <a:srgbClr val="2DC653"/>
            </a:solidFill>
            <a:prstDash val="solid"/>
          </a:ln>
        </p:spPr>
      </p:sp>
      <p:sp>
        <p:nvSpPr>
          <p:cNvPr id="35" name="Shape 33"/>
          <p:cNvSpPr/>
          <p:nvPr/>
        </p:nvSpPr>
        <p:spPr>
          <a:xfrm>
            <a:off x="8366760" y="3547872"/>
            <a:ext cx="1527048" cy="292608"/>
          </a:xfrm>
          <a:prstGeom prst="rect">
            <a:avLst/>
          </a:prstGeom>
          <a:solidFill>
            <a:srgbClr val="2DC653"/>
          </a:solidFill>
          <a:ln w="12700">
            <a:solidFill>
              <a:srgbClr val="2DC653"/>
            </a:solidFill>
            <a:prstDash val="solid"/>
          </a:ln>
        </p:spPr>
      </p:sp>
      <p:sp>
        <p:nvSpPr>
          <p:cNvPr id="36" name="Shape 34"/>
          <p:cNvSpPr/>
          <p:nvPr/>
        </p:nvSpPr>
        <p:spPr>
          <a:xfrm>
            <a:off x="365760" y="4681728"/>
            <a:ext cx="11247120" cy="1005840"/>
          </a:xfrm>
          <a:prstGeom prst="roundRect">
            <a:avLst>
              <a:gd name="adj" fmla="val 7273"/>
            </a:avLst>
          </a:prstGeom>
          <a:solidFill>
            <a:srgbClr val="1A0A0A"/>
          </a:solidFill>
          <a:ln w="12700">
            <a:solidFill>
              <a:srgbClr val="F4736A"/>
            </a:solidFill>
            <a:prstDash val="solid"/>
          </a:ln>
        </p:spPr>
      </p:sp>
      <p:sp>
        <p:nvSpPr>
          <p:cNvPr id="37" name="Text 35"/>
          <p:cNvSpPr/>
          <p:nvPr/>
        </p:nvSpPr>
        <p:spPr>
          <a:xfrm>
            <a:off x="548640" y="4736592"/>
            <a:ext cx="10972800" cy="8961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Key Rule: The extra (wasted) energy is real — it did not disappear. It became sound, heat, or light you did not need. Energy is conserved, just not always useful.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Common Misconception — Energy Is NOT Used Up</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5394960" cy="2331720"/>
          </a:xfrm>
          <a:prstGeom prst="roundRect">
            <a:avLst>
              <a:gd name="adj" fmla="val 3137"/>
            </a:avLst>
          </a:prstGeom>
          <a:solidFill>
            <a:srgbClr val="2A0A0A"/>
          </a:solidFill>
          <a:ln w="25400">
            <a:solidFill>
              <a:srgbClr val="F4736A"/>
            </a:solidFill>
            <a:prstDash val="solid"/>
          </a:ln>
        </p:spPr>
      </p:sp>
      <p:sp>
        <p:nvSpPr>
          <p:cNvPr id="8" name="Text 6"/>
          <p:cNvSpPr/>
          <p:nvPr/>
        </p:nvSpPr>
        <p:spPr>
          <a:xfrm>
            <a:off x="548640" y="804672"/>
            <a:ext cx="5120640" cy="310896"/>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Common Wrong Idea:</a:t>
            </a:r>
            <a:endParaRPr lang="en-US" sz="1200" dirty="0"/>
          </a:p>
        </p:txBody>
      </p:sp>
      <p:sp>
        <p:nvSpPr>
          <p:cNvPr id="9" name="Text 7"/>
          <p:cNvSpPr/>
          <p:nvPr/>
        </p:nvSpPr>
        <p:spPr>
          <a:xfrm>
            <a:off x="548640" y="1170432"/>
            <a:ext cx="5120640" cy="18288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"When a battery dies, the energy is USED UP — it is gone."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"The toaster CREATES heat energy from nothing."</a:t>
            </a:r>
            <a:endParaRPr lang="en-US" sz="1300" dirty="0"/>
          </a:p>
        </p:txBody>
      </p:sp>
      <p:sp>
        <p:nvSpPr>
          <p:cNvPr id="10" name="Shape 8"/>
          <p:cNvSpPr/>
          <p:nvPr/>
        </p:nvSpPr>
        <p:spPr>
          <a:xfrm>
            <a:off x="6035040" y="749808"/>
            <a:ext cx="5577840" cy="2331720"/>
          </a:xfrm>
          <a:prstGeom prst="roundRect">
            <a:avLst>
              <a:gd name="adj" fmla="val 3137"/>
            </a:avLst>
          </a:prstGeom>
          <a:solidFill>
            <a:srgbClr val="0A1A0A"/>
          </a:solidFill>
          <a:ln w="25400">
            <a:solidFill>
              <a:srgbClr val="2DC653"/>
            </a:solidFill>
            <a:prstDash val="solid"/>
          </a:ln>
        </p:spPr>
      </p:sp>
      <p:sp>
        <p:nvSpPr>
          <p:cNvPr id="11" name="Text 9"/>
          <p:cNvSpPr/>
          <p:nvPr/>
        </p:nvSpPr>
        <p:spPr>
          <a:xfrm>
            <a:off x="6217920" y="804672"/>
            <a:ext cx="5212080" cy="310896"/>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What Science Actually Says:</a:t>
            </a:r>
            <a:endParaRPr lang="en-US" sz="1200" dirty="0"/>
          </a:p>
        </p:txBody>
      </p:sp>
      <p:sp>
        <p:nvSpPr>
          <p:cNvPr id="12" name="Text 10"/>
          <p:cNvSpPr/>
          <p:nvPr/>
        </p:nvSpPr>
        <p:spPr>
          <a:xfrm>
            <a:off x="6217920" y="1170432"/>
            <a:ext cx="5212080" cy="1828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Energy is NEVER created or destroyed.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It only CHANGES FORM.</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 dead battery has converted its chemical energy into electrical energy (which became heat, light, sound). The energy is now in a different form — in a less useful form.</a:t>
            </a:r>
            <a:endParaRPr lang="en-US" sz="1200" dirty="0"/>
          </a:p>
        </p:txBody>
      </p:sp>
      <p:sp>
        <p:nvSpPr>
          <p:cNvPr id="13" name="Shape 11"/>
          <p:cNvSpPr/>
          <p:nvPr/>
        </p:nvSpPr>
        <p:spPr>
          <a:xfrm>
            <a:off x="365760" y="3218688"/>
            <a:ext cx="11247120" cy="1417320"/>
          </a:xfrm>
          <a:prstGeom prst="roundRect">
            <a:avLst>
              <a:gd name="adj" fmla="val 5161"/>
            </a:avLst>
          </a:prstGeom>
          <a:solidFill>
            <a:srgbClr val="162233"/>
          </a:solidFill>
          <a:ln w="12700">
            <a:solidFill>
              <a:srgbClr val="FFB703"/>
            </a:solidFill>
            <a:prstDash val="solid"/>
          </a:ln>
        </p:spPr>
      </p:sp>
      <p:sp>
        <p:nvSpPr>
          <p:cNvPr id="14" name="Text 12"/>
          <p:cNvSpPr/>
          <p:nvPr/>
        </p:nvSpPr>
        <p:spPr>
          <a:xfrm>
            <a:off x="548640" y="3273552"/>
            <a:ext cx="109728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Return to Our Prediction from Slide 3:</a:t>
            </a:r>
            <a:endParaRPr lang="en-US" sz="1200" dirty="0"/>
          </a:p>
        </p:txBody>
      </p:sp>
      <p:sp>
        <p:nvSpPr>
          <p:cNvPr id="15" name="Text 13"/>
          <p:cNvSpPr/>
          <p:nvPr/>
        </p:nvSpPr>
        <p:spPr>
          <a:xfrm>
            <a:off x="548640" y="3621024"/>
            <a:ext cx="109728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Scientist B was right: the toaster does NOT create heat — it CHANGES electrical energy INTO heat. Now: update your prediction in your notebook. Were you right? What changed your thinking?</a:t>
            </a:r>
            <a:endParaRPr lang="en-US" sz="1250" dirty="0"/>
          </a:p>
        </p:txBody>
      </p:sp>
      <p:sp>
        <p:nvSpPr>
          <p:cNvPr id="16" name="Shape 14"/>
          <p:cNvSpPr/>
          <p:nvPr/>
        </p:nvSpPr>
        <p:spPr>
          <a:xfrm>
            <a:off x="365760" y="4773168"/>
            <a:ext cx="11247120" cy="914400"/>
          </a:xfrm>
          <a:prstGeom prst="roundRect">
            <a:avLst>
              <a:gd name="adj" fmla="val 8000"/>
            </a:avLst>
          </a:prstGeom>
          <a:solidFill>
            <a:srgbClr val="162233"/>
          </a:solidFill>
          <a:ln w="12700">
            <a:solidFill>
              <a:srgbClr val="FFB703"/>
            </a:solidFill>
            <a:prstDash val="solid"/>
          </a:ln>
        </p:spPr>
      </p:sp>
      <p:sp>
        <p:nvSpPr>
          <p:cNvPr id="17" name="Text 15"/>
          <p:cNvSpPr/>
          <p:nvPr/>
        </p:nvSpPr>
        <p:spPr>
          <a:xfrm>
            <a:off x="530352" y="484632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Notebook Update:</a:t>
            </a:r>
            <a:endParaRPr lang="en-US" sz="1300" dirty="0"/>
          </a:p>
        </p:txBody>
      </p:sp>
      <p:sp>
        <p:nvSpPr>
          <p:cNvPr id="18" name="Text 16"/>
          <p:cNvSpPr/>
          <p:nvPr/>
        </p:nvSpPr>
        <p:spPr>
          <a:xfrm>
            <a:off x="530352" y="5212080"/>
            <a:ext cx="10917936" cy="36576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Cross out any wrong prediction and write: Actually, the toaster CONVERTS electrical energy INTO heat because energy changes form, it is not created.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Explore — Map YOUR Device</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713232"/>
          </a:xfrm>
          <a:prstGeom prst="roundRect">
            <a:avLst>
              <a:gd name="adj" fmla="val 10256"/>
            </a:avLst>
          </a:prstGeom>
          <a:solidFill>
            <a:srgbClr val="1E2F45"/>
          </a:solidFill>
          <a:ln w="12700">
            <a:solidFill>
              <a:srgbClr val="2DC653"/>
            </a:solidFill>
            <a:prstDash val="solid"/>
          </a:ln>
        </p:spPr>
      </p:sp>
      <p:sp>
        <p:nvSpPr>
          <p:cNvPr id="8" name="Text 6"/>
          <p:cNvSpPr/>
          <p:nvPr/>
        </p:nvSpPr>
        <p:spPr>
          <a:xfrm>
            <a:off x="548640" y="804672"/>
            <a:ext cx="10972800" cy="60350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Look around the room (or think of a device you use at home). Pick ONE device you can see or describe.</a:t>
            </a:r>
            <a:endParaRPr lang="en-US" sz="1300" dirty="0"/>
          </a:p>
        </p:txBody>
      </p:sp>
      <p:sp>
        <p:nvSpPr>
          <p:cNvPr id="9" name="Shape 7"/>
          <p:cNvSpPr/>
          <p:nvPr/>
        </p:nvSpPr>
        <p:spPr>
          <a:xfrm>
            <a:off x="365760" y="1627632"/>
            <a:ext cx="5394960" cy="2011680"/>
          </a:xfrm>
          <a:prstGeom prst="roundRect">
            <a:avLst>
              <a:gd name="adj" fmla="val 3636"/>
            </a:avLst>
          </a:prstGeom>
          <a:solidFill>
            <a:srgbClr val="1E2F45"/>
          </a:solidFill>
          <a:ln w="12700">
            <a:solidFill>
              <a:srgbClr val="4CC9F0"/>
            </a:solidFill>
            <a:prstDash val="solid"/>
          </a:ln>
        </p:spPr>
      </p:sp>
      <p:sp>
        <p:nvSpPr>
          <p:cNvPr id="10" name="Shape 8"/>
          <p:cNvSpPr/>
          <p:nvPr/>
        </p:nvSpPr>
        <p:spPr>
          <a:xfrm>
            <a:off x="502920" y="1682496"/>
            <a:ext cx="402336" cy="402336"/>
          </a:xfrm>
          <a:prstGeom prst="ellipse">
            <a:avLst/>
          </a:prstGeom>
          <a:solidFill>
            <a:srgbClr val="4CC9F0"/>
          </a:solidFill>
          <a:ln w="12700">
            <a:solidFill>
              <a:srgbClr val="4CC9F0"/>
            </a:solidFill>
            <a:prstDash val="solid"/>
          </a:ln>
        </p:spPr>
      </p:sp>
      <p:sp>
        <p:nvSpPr>
          <p:cNvPr id="11" name="Text 9"/>
          <p:cNvSpPr/>
          <p:nvPr/>
        </p:nvSpPr>
        <p:spPr>
          <a:xfrm>
            <a:off x="502920" y="168249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005840" y="1682496"/>
            <a:ext cx="461772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Name the device</a:t>
            </a:r>
            <a:endParaRPr lang="en-US" sz="1200" dirty="0"/>
          </a:p>
        </p:txBody>
      </p:sp>
      <p:sp>
        <p:nvSpPr>
          <p:cNvPr id="13" name="Text 11"/>
          <p:cNvSpPr/>
          <p:nvPr/>
        </p:nvSpPr>
        <p:spPr>
          <a:xfrm>
            <a:off x="1005840" y="2048256"/>
            <a:ext cx="4617720" cy="1508760"/>
          </a:xfrm>
          <a:prstGeom prst="rect">
            <a:avLst/>
          </a:prstGeom>
          <a:noFill/>
          <a:ln/>
        </p:spPr>
        <p:txBody>
          <a:bodyPr wrap="square" rtlCol="0" anchor="t"/>
          <a:lstStyle/>
          <a:p>
            <a:pPr indent="0" marL="0">
              <a:buNone/>
            </a:pPr>
            <a:r>
              <a:rPr lang="en-US" sz="1150" i="1" dirty="0">
                <a:solidFill>
                  <a:srgbClr val="B0C4D8"/>
                </a:solidFill>
                <a:latin typeface="Calibri" pitchFamily="34" charset="0"/>
                <a:ea typeface="Calibri" pitchFamily="34" charset="-122"/>
                <a:cs typeface="Calibri" pitchFamily="34" charset="-120"/>
              </a:rPr>
              <a:t>Write the name of your device: ___</a:t>
            </a:r>
            <a:endParaRPr lang="en-US" sz="1150" dirty="0"/>
          </a:p>
        </p:txBody>
      </p:sp>
      <p:sp>
        <p:nvSpPr>
          <p:cNvPr id="14" name="Shape 12"/>
          <p:cNvSpPr/>
          <p:nvPr/>
        </p:nvSpPr>
        <p:spPr>
          <a:xfrm>
            <a:off x="365760" y="3776472"/>
            <a:ext cx="5394960" cy="2011680"/>
          </a:xfrm>
          <a:prstGeom prst="roundRect">
            <a:avLst>
              <a:gd name="adj" fmla="val 3636"/>
            </a:avLst>
          </a:prstGeom>
          <a:solidFill>
            <a:srgbClr val="1E2F45"/>
          </a:solidFill>
          <a:ln w="12700">
            <a:solidFill>
              <a:srgbClr val="FFB703"/>
            </a:solidFill>
            <a:prstDash val="solid"/>
          </a:ln>
        </p:spPr>
      </p:sp>
      <p:sp>
        <p:nvSpPr>
          <p:cNvPr id="15" name="Shape 13"/>
          <p:cNvSpPr/>
          <p:nvPr/>
        </p:nvSpPr>
        <p:spPr>
          <a:xfrm>
            <a:off x="502920" y="3831336"/>
            <a:ext cx="402336" cy="402336"/>
          </a:xfrm>
          <a:prstGeom prst="ellipse">
            <a:avLst/>
          </a:prstGeom>
          <a:solidFill>
            <a:srgbClr val="FFB703"/>
          </a:solidFill>
          <a:ln w="12700">
            <a:solidFill>
              <a:srgbClr val="FFB703"/>
            </a:solidFill>
            <a:prstDash val="solid"/>
          </a:ln>
        </p:spPr>
      </p:sp>
      <p:sp>
        <p:nvSpPr>
          <p:cNvPr id="16" name="Text 14"/>
          <p:cNvSpPr/>
          <p:nvPr/>
        </p:nvSpPr>
        <p:spPr>
          <a:xfrm>
            <a:off x="502920" y="383133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1005840" y="3831336"/>
            <a:ext cx="461772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Identify INPUT energy</a:t>
            </a:r>
            <a:endParaRPr lang="en-US" sz="1200" dirty="0"/>
          </a:p>
        </p:txBody>
      </p:sp>
      <p:sp>
        <p:nvSpPr>
          <p:cNvPr id="18" name="Text 16"/>
          <p:cNvSpPr/>
          <p:nvPr/>
        </p:nvSpPr>
        <p:spPr>
          <a:xfrm>
            <a:off x="1005840" y="4197096"/>
            <a:ext cx="4617720" cy="1508760"/>
          </a:xfrm>
          <a:prstGeom prst="rect">
            <a:avLst/>
          </a:prstGeom>
          <a:noFill/>
          <a:ln/>
        </p:spPr>
        <p:txBody>
          <a:bodyPr wrap="square" rtlCol="0" anchor="t"/>
          <a:lstStyle/>
          <a:p>
            <a:pPr indent="0" marL="0">
              <a:buNone/>
            </a:pPr>
            <a:r>
              <a:rPr lang="en-US" sz="1150" i="1" dirty="0">
                <a:solidFill>
                  <a:srgbClr val="B0C4D8"/>
                </a:solidFill>
                <a:latin typeface="Calibri" pitchFamily="34" charset="0"/>
                <a:ea typeface="Calibri" pitchFamily="34" charset="-122"/>
                <a:cs typeface="Calibri" pitchFamily="34" charset="-120"/>
              </a:rPr>
              <a:t>The energy going INTO my device is ___ energy because ___.</a:t>
            </a:r>
            <a:endParaRPr lang="en-US" sz="1150" dirty="0"/>
          </a:p>
        </p:txBody>
      </p:sp>
      <p:sp>
        <p:nvSpPr>
          <p:cNvPr id="19" name="Shape 17"/>
          <p:cNvSpPr/>
          <p:nvPr/>
        </p:nvSpPr>
        <p:spPr>
          <a:xfrm>
            <a:off x="5989320" y="1627632"/>
            <a:ext cx="5394960" cy="2011680"/>
          </a:xfrm>
          <a:prstGeom prst="roundRect">
            <a:avLst>
              <a:gd name="adj" fmla="val 3636"/>
            </a:avLst>
          </a:prstGeom>
          <a:solidFill>
            <a:srgbClr val="1E2F45"/>
          </a:solidFill>
          <a:ln w="12700">
            <a:solidFill>
              <a:srgbClr val="2DC653"/>
            </a:solidFill>
            <a:prstDash val="solid"/>
          </a:ln>
        </p:spPr>
      </p:sp>
      <p:sp>
        <p:nvSpPr>
          <p:cNvPr id="20" name="Shape 18"/>
          <p:cNvSpPr/>
          <p:nvPr/>
        </p:nvSpPr>
        <p:spPr>
          <a:xfrm>
            <a:off x="6126480" y="1682496"/>
            <a:ext cx="402336" cy="402336"/>
          </a:xfrm>
          <a:prstGeom prst="ellipse">
            <a:avLst/>
          </a:prstGeom>
          <a:solidFill>
            <a:srgbClr val="2DC653"/>
          </a:solidFill>
          <a:ln w="12700">
            <a:solidFill>
              <a:srgbClr val="2DC653"/>
            </a:solidFill>
            <a:prstDash val="solid"/>
          </a:ln>
        </p:spPr>
      </p:sp>
      <p:sp>
        <p:nvSpPr>
          <p:cNvPr id="21" name="Text 19"/>
          <p:cNvSpPr/>
          <p:nvPr/>
        </p:nvSpPr>
        <p:spPr>
          <a:xfrm>
            <a:off x="6126480" y="168249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6629400" y="1682496"/>
            <a:ext cx="4617720" cy="310896"/>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Identify OUTPUT energy</a:t>
            </a:r>
            <a:endParaRPr lang="en-US" sz="1200" dirty="0"/>
          </a:p>
        </p:txBody>
      </p:sp>
      <p:sp>
        <p:nvSpPr>
          <p:cNvPr id="23" name="Text 21"/>
          <p:cNvSpPr/>
          <p:nvPr/>
        </p:nvSpPr>
        <p:spPr>
          <a:xfrm>
            <a:off x="6629400" y="2048256"/>
            <a:ext cx="4617720" cy="1508760"/>
          </a:xfrm>
          <a:prstGeom prst="rect">
            <a:avLst/>
          </a:prstGeom>
          <a:noFill/>
          <a:ln/>
        </p:spPr>
        <p:txBody>
          <a:bodyPr wrap="square" rtlCol="0" anchor="t"/>
          <a:lstStyle/>
          <a:p>
            <a:pPr indent="0" marL="0">
              <a:buNone/>
            </a:pPr>
            <a:r>
              <a:rPr lang="en-US" sz="1150" i="1" dirty="0">
                <a:solidFill>
                  <a:srgbClr val="B0C4D8"/>
                </a:solidFill>
                <a:latin typeface="Calibri" pitchFamily="34" charset="0"/>
                <a:ea typeface="Calibri" pitchFamily="34" charset="-122"/>
                <a:cs typeface="Calibri" pitchFamily="34" charset="-120"/>
              </a:rPr>
              <a:t>My device converts ___ energy INTO ___ energy. The useful output is ___, but some extra ___ also comes out.</a:t>
            </a:r>
            <a:endParaRPr lang="en-US" sz="1150" dirty="0"/>
          </a:p>
        </p:txBody>
      </p:sp>
      <p:sp>
        <p:nvSpPr>
          <p:cNvPr id="24" name="Shape 22"/>
          <p:cNvSpPr/>
          <p:nvPr/>
        </p:nvSpPr>
        <p:spPr>
          <a:xfrm>
            <a:off x="5989320" y="3776472"/>
            <a:ext cx="5394960" cy="2011680"/>
          </a:xfrm>
          <a:prstGeom prst="roundRect">
            <a:avLst>
              <a:gd name="adj" fmla="val 3636"/>
            </a:avLst>
          </a:prstGeom>
          <a:solidFill>
            <a:srgbClr val="1E2F45"/>
          </a:solidFill>
          <a:ln w="12700">
            <a:solidFill>
              <a:srgbClr val="F4736A"/>
            </a:solidFill>
            <a:prstDash val="solid"/>
          </a:ln>
        </p:spPr>
      </p:sp>
      <p:sp>
        <p:nvSpPr>
          <p:cNvPr id="25" name="Shape 23"/>
          <p:cNvSpPr/>
          <p:nvPr/>
        </p:nvSpPr>
        <p:spPr>
          <a:xfrm>
            <a:off x="6126480" y="3831336"/>
            <a:ext cx="402336" cy="402336"/>
          </a:xfrm>
          <a:prstGeom prst="ellipse">
            <a:avLst/>
          </a:prstGeom>
          <a:solidFill>
            <a:srgbClr val="F4736A"/>
          </a:solidFill>
          <a:ln w="12700">
            <a:solidFill>
              <a:srgbClr val="F4736A"/>
            </a:solidFill>
            <a:prstDash val="solid"/>
          </a:ln>
        </p:spPr>
      </p:sp>
      <p:sp>
        <p:nvSpPr>
          <p:cNvPr id="26" name="Text 24"/>
          <p:cNvSpPr/>
          <p:nvPr/>
        </p:nvSpPr>
        <p:spPr>
          <a:xfrm>
            <a:off x="6126480" y="383133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6629400" y="3831336"/>
            <a:ext cx="4617720" cy="310896"/>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Draw your model</a:t>
            </a:r>
            <a:endParaRPr lang="en-US" sz="1200" dirty="0"/>
          </a:p>
        </p:txBody>
      </p:sp>
      <p:sp>
        <p:nvSpPr>
          <p:cNvPr id="28" name="Text 26"/>
          <p:cNvSpPr/>
          <p:nvPr/>
        </p:nvSpPr>
        <p:spPr>
          <a:xfrm>
            <a:off x="6629400" y="4197096"/>
            <a:ext cx="4617720" cy="1508760"/>
          </a:xfrm>
          <a:prstGeom prst="rect">
            <a:avLst/>
          </a:prstGeom>
          <a:noFill/>
          <a:ln/>
        </p:spPr>
        <p:txBody>
          <a:bodyPr wrap="square" rtlCol="0" anchor="t"/>
          <a:lstStyle/>
          <a:p>
            <a:pPr indent="0" marL="0">
              <a:buNone/>
            </a:pPr>
            <a:r>
              <a:rPr lang="en-US" sz="1150" i="1" dirty="0">
                <a:solidFill>
                  <a:srgbClr val="B0C4D8"/>
                </a:solidFill>
                <a:latin typeface="Calibri" pitchFamily="34" charset="0"/>
                <a:ea typeface="Calibri" pitchFamily="34" charset="-122"/>
                <a:cs typeface="Calibri" pitchFamily="34" charset="-120"/>
              </a:rPr>
              <a:t>Sketch: [INPUT] then (conversion) then [OUTPUT] with a wasted-energy arrow pointing away from the device.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Investigation — Identifying Variables in Device Testing</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841248"/>
          </a:xfrm>
          <a:prstGeom prst="roundRect">
            <a:avLst>
              <a:gd name="adj" fmla="val 8696"/>
            </a:avLst>
          </a:prstGeom>
          <a:solidFill>
            <a:srgbClr val="1E2F45"/>
          </a:solidFill>
          <a:ln w="12700">
            <a:solidFill>
              <a:srgbClr val="2DC653"/>
            </a:solidFill>
            <a:prstDash val="solid"/>
          </a:ln>
        </p:spPr>
      </p:sp>
      <p:sp>
        <p:nvSpPr>
          <p:cNvPr id="8" name="Text 6"/>
          <p:cNvSpPr/>
          <p:nvPr/>
        </p:nvSpPr>
        <p:spPr>
          <a:xfrm>
            <a:off x="548640" y="804672"/>
            <a:ext cx="109728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Scenario: You want to TEST whether a longer phone charge time gives you MORE light output from your flashlight app. What are your variables?</a:t>
            </a:r>
            <a:endParaRPr lang="en-US" sz="1300" dirty="0"/>
          </a:p>
        </p:txBody>
      </p:sp>
      <p:sp>
        <p:nvSpPr>
          <p:cNvPr id="9" name="Shape 7"/>
          <p:cNvSpPr/>
          <p:nvPr/>
        </p:nvSpPr>
        <p:spPr>
          <a:xfrm>
            <a:off x="365760" y="1828800"/>
            <a:ext cx="3611880" cy="3931920"/>
          </a:xfrm>
          <a:prstGeom prst="roundRect">
            <a:avLst>
              <a:gd name="adj" fmla="val 2025"/>
            </a:avLst>
          </a:prstGeom>
          <a:solidFill>
            <a:srgbClr val="1E2F45"/>
          </a:solidFill>
          <a:ln w="25400">
            <a:solidFill>
              <a:srgbClr val="4CC9F0"/>
            </a:solidFill>
            <a:prstDash val="solid"/>
          </a:ln>
        </p:spPr>
      </p:sp>
      <p:sp>
        <p:nvSpPr>
          <p:cNvPr id="10" name="Text 8"/>
          <p:cNvSpPr/>
          <p:nvPr/>
        </p:nvSpPr>
        <p:spPr>
          <a:xfrm>
            <a:off x="475488" y="1883664"/>
            <a:ext cx="3383280" cy="347472"/>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Independent Variable</a:t>
            </a:r>
            <a:endParaRPr lang="en-US" sz="1300" dirty="0"/>
          </a:p>
        </p:txBody>
      </p:sp>
      <p:sp>
        <p:nvSpPr>
          <p:cNvPr id="11" name="Text 9"/>
          <p:cNvSpPr/>
          <p:nvPr/>
        </p:nvSpPr>
        <p:spPr>
          <a:xfrm>
            <a:off x="475488" y="2249424"/>
            <a:ext cx="3383280" cy="25603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(what YOU change)</a:t>
            </a:r>
            <a:endParaRPr lang="en-US" sz="1050" dirty="0"/>
          </a:p>
        </p:txBody>
      </p:sp>
      <p:sp>
        <p:nvSpPr>
          <p:cNvPr id="12" name="Shape 10"/>
          <p:cNvSpPr/>
          <p:nvPr/>
        </p:nvSpPr>
        <p:spPr>
          <a:xfrm>
            <a:off x="475488" y="2578608"/>
            <a:ext cx="3383280" cy="1481328"/>
          </a:xfrm>
          <a:prstGeom prst="roundRect">
            <a:avLst>
              <a:gd name="adj" fmla="val 4938"/>
            </a:avLst>
          </a:prstGeom>
          <a:solidFill>
            <a:srgbClr val="0A1520"/>
          </a:solidFill>
          <a:ln w="12700">
            <a:solidFill>
              <a:srgbClr val="4CC9F0"/>
            </a:solidFill>
            <a:prstDash val="solid"/>
          </a:ln>
        </p:spPr>
      </p:sp>
      <p:sp>
        <p:nvSpPr>
          <p:cNvPr id="13" name="Text 11"/>
          <p:cNvSpPr/>
          <p:nvPr/>
        </p:nvSpPr>
        <p:spPr>
          <a:xfrm>
            <a:off x="585216" y="2633472"/>
            <a:ext cx="3163824" cy="256032"/>
          </a:xfrm>
          <a:prstGeom prst="rect">
            <a:avLst/>
          </a:prstGeom>
          <a:noFill/>
          <a:ln/>
        </p:spPr>
        <p:txBody>
          <a:bodyPr wrap="square" rtlCol="0" anchor="ctr"/>
          <a:lstStyle/>
          <a:p>
            <a:pPr indent="0" marL="0">
              <a:buNone/>
            </a:pPr>
            <a:r>
              <a:rPr lang="en-US" sz="1000" b="1" dirty="0">
                <a:solidFill>
                  <a:srgbClr val="4CC9F0"/>
                </a:solidFill>
                <a:latin typeface="Calibri" pitchFamily="34" charset="0"/>
                <a:ea typeface="Calibri" pitchFamily="34" charset="-122"/>
                <a:cs typeface="Calibri" pitchFamily="34" charset="-120"/>
              </a:rPr>
              <a:t>Example:</a:t>
            </a:r>
            <a:endParaRPr lang="en-US" sz="1000" dirty="0"/>
          </a:p>
        </p:txBody>
      </p:sp>
      <p:sp>
        <p:nvSpPr>
          <p:cNvPr id="14" name="Text 12"/>
          <p:cNvSpPr/>
          <p:nvPr/>
        </p:nvSpPr>
        <p:spPr>
          <a:xfrm>
            <a:off x="585216" y="2907792"/>
            <a:ext cx="3163824" cy="10972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The amount of time the battery charges (e.g., 1 hour vs. 2 hours vs. 3 hours)</a:t>
            </a:r>
            <a:endParaRPr lang="en-US" sz="1050" dirty="0"/>
          </a:p>
        </p:txBody>
      </p:sp>
      <p:sp>
        <p:nvSpPr>
          <p:cNvPr id="15" name="Text 13"/>
          <p:cNvSpPr/>
          <p:nvPr/>
        </p:nvSpPr>
        <p:spPr>
          <a:xfrm>
            <a:off x="475488" y="4133088"/>
            <a:ext cx="3383280" cy="62179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You CHOOSE and CONTROL this. Change only ONE thing at a time.</a:t>
            </a:r>
            <a:endParaRPr lang="en-US" sz="1000" dirty="0"/>
          </a:p>
        </p:txBody>
      </p:sp>
      <p:sp>
        <p:nvSpPr>
          <p:cNvPr id="16" name="Shape 14"/>
          <p:cNvSpPr/>
          <p:nvPr/>
        </p:nvSpPr>
        <p:spPr>
          <a:xfrm>
            <a:off x="4279392" y="1828800"/>
            <a:ext cx="3611880" cy="3931920"/>
          </a:xfrm>
          <a:prstGeom prst="roundRect">
            <a:avLst>
              <a:gd name="adj" fmla="val 2025"/>
            </a:avLst>
          </a:prstGeom>
          <a:solidFill>
            <a:srgbClr val="1E2F45"/>
          </a:solidFill>
          <a:ln w="25400">
            <a:solidFill>
              <a:srgbClr val="FFB703"/>
            </a:solidFill>
            <a:prstDash val="solid"/>
          </a:ln>
        </p:spPr>
      </p:sp>
      <p:sp>
        <p:nvSpPr>
          <p:cNvPr id="17" name="Text 15"/>
          <p:cNvSpPr/>
          <p:nvPr/>
        </p:nvSpPr>
        <p:spPr>
          <a:xfrm>
            <a:off x="4389120" y="1883664"/>
            <a:ext cx="3383280" cy="347472"/>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Dependent Variable</a:t>
            </a:r>
            <a:endParaRPr lang="en-US" sz="1300" dirty="0"/>
          </a:p>
        </p:txBody>
      </p:sp>
      <p:sp>
        <p:nvSpPr>
          <p:cNvPr id="18" name="Text 16"/>
          <p:cNvSpPr/>
          <p:nvPr/>
        </p:nvSpPr>
        <p:spPr>
          <a:xfrm>
            <a:off x="4389120" y="2249424"/>
            <a:ext cx="3383280" cy="25603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(what you MEASURE)</a:t>
            </a:r>
            <a:endParaRPr lang="en-US" sz="1050" dirty="0"/>
          </a:p>
        </p:txBody>
      </p:sp>
      <p:sp>
        <p:nvSpPr>
          <p:cNvPr id="19" name="Shape 17"/>
          <p:cNvSpPr/>
          <p:nvPr/>
        </p:nvSpPr>
        <p:spPr>
          <a:xfrm>
            <a:off x="4389120" y="2578608"/>
            <a:ext cx="3383280" cy="1481328"/>
          </a:xfrm>
          <a:prstGeom prst="roundRect">
            <a:avLst>
              <a:gd name="adj" fmla="val 4938"/>
            </a:avLst>
          </a:prstGeom>
          <a:solidFill>
            <a:srgbClr val="0A1520"/>
          </a:solidFill>
          <a:ln w="12700">
            <a:solidFill>
              <a:srgbClr val="FFB703"/>
            </a:solidFill>
            <a:prstDash val="solid"/>
          </a:ln>
        </p:spPr>
      </p:sp>
      <p:sp>
        <p:nvSpPr>
          <p:cNvPr id="20" name="Text 18"/>
          <p:cNvSpPr/>
          <p:nvPr/>
        </p:nvSpPr>
        <p:spPr>
          <a:xfrm>
            <a:off x="4498848" y="2633472"/>
            <a:ext cx="3163824" cy="256032"/>
          </a:xfrm>
          <a:prstGeom prst="rect">
            <a:avLst/>
          </a:prstGeom>
          <a:noFill/>
          <a:ln/>
        </p:spPr>
        <p:txBody>
          <a:bodyPr wrap="square"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Example:</a:t>
            </a:r>
            <a:endParaRPr lang="en-US" sz="1000" dirty="0"/>
          </a:p>
        </p:txBody>
      </p:sp>
      <p:sp>
        <p:nvSpPr>
          <p:cNvPr id="21" name="Text 19"/>
          <p:cNvSpPr/>
          <p:nvPr/>
        </p:nvSpPr>
        <p:spPr>
          <a:xfrm>
            <a:off x="4498848" y="2907792"/>
            <a:ext cx="3163824" cy="10972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How much light output the flashlight produces (brightness or time before dimming)</a:t>
            </a:r>
            <a:endParaRPr lang="en-US" sz="1050" dirty="0"/>
          </a:p>
        </p:txBody>
      </p:sp>
      <p:sp>
        <p:nvSpPr>
          <p:cNvPr id="22" name="Text 20"/>
          <p:cNvSpPr/>
          <p:nvPr/>
        </p:nvSpPr>
        <p:spPr>
          <a:xfrm>
            <a:off x="4389120" y="4133088"/>
            <a:ext cx="3383280" cy="62179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This RESPONDS to what you changed. Measure this to find your answer.</a:t>
            </a:r>
            <a:endParaRPr lang="en-US" sz="1000" dirty="0"/>
          </a:p>
        </p:txBody>
      </p:sp>
      <p:sp>
        <p:nvSpPr>
          <p:cNvPr id="23" name="Shape 21"/>
          <p:cNvSpPr/>
          <p:nvPr/>
        </p:nvSpPr>
        <p:spPr>
          <a:xfrm>
            <a:off x="8193024" y="1828800"/>
            <a:ext cx="3611880" cy="3931920"/>
          </a:xfrm>
          <a:prstGeom prst="roundRect">
            <a:avLst>
              <a:gd name="adj" fmla="val 2025"/>
            </a:avLst>
          </a:prstGeom>
          <a:solidFill>
            <a:srgbClr val="1E2F45"/>
          </a:solidFill>
          <a:ln w="25400">
            <a:solidFill>
              <a:srgbClr val="2DC653"/>
            </a:solidFill>
            <a:prstDash val="solid"/>
          </a:ln>
        </p:spPr>
      </p:sp>
      <p:sp>
        <p:nvSpPr>
          <p:cNvPr id="24" name="Text 22"/>
          <p:cNvSpPr/>
          <p:nvPr/>
        </p:nvSpPr>
        <p:spPr>
          <a:xfrm>
            <a:off x="8302752" y="1883664"/>
            <a:ext cx="3383280" cy="347472"/>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Controlled Variables</a:t>
            </a:r>
            <a:endParaRPr lang="en-US" sz="1300" dirty="0"/>
          </a:p>
        </p:txBody>
      </p:sp>
      <p:sp>
        <p:nvSpPr>
          <p:cNvPr id="25" name="Text 23"/>
          <p:cNvSpPr/>
          <p:nvPr/>
        </p:nvSpPr>
        <p:spPr>
          <a:xfrm>
            <a:off x="8302752" y="2249424"/>
            <a:ext cx="3383280" cy="256032"/>
          </a:xfrm>
          <a:prstGeom prst="rect">
            <a:avLst/>
          </a:prstGeom>
          <a:noFill/>
          <a:ln/>
        </p:spPr>
        <p:txBody>
          <a:bodyPr wrap="square" rtlCol="0" anchor="ctr"/>
          <a:lstStyle/>
          <a:p>
            <a:pPr algn="ctr" indent="0" marL="0">
              <a:buNone/>
            </a:pPr>
            <a:r>
              <a:rPr lang="en-US" sz="1050" i="1" dirty="0">
                <a:solidFill>
                  <a:srgbClr val="B0C4D8"/>
                </a:solidFill>
                <a:latin typeface="Calibri" pitchFamily="34" charset="0"/>
                <a:ea typeface="Calibri" pitchFamily="34" charset="-122"/>
                <a:cs typeface="Calibri" pitchFamily="34" charset="-120"/>
              </a:rPr>
              <a:t>(what stays the SAME)</a:t>
            </a:r>
            <a:endParaRPr lang="en-US" sz="1050" dirty="0"/>
          </a:p>
        </p:txBody>
      </p:sp>
      <p:sp>
        <p:nvSpPr>
          <p:cNvPr id="26" name="Shape 24"/>
          <p:cNvSpPr/>
          <p:nvPr/>
        </p:nvSpPr>
        <p:spPr>
          <a:xfrm>
            <a:off x="8302752" y="2578608"/>
            <a:ext cx="3383280" cy="1481328"/>
          </a:xfrm>
          <a:prstGeom prst="roundRect">
            <a:avLst>
              <a:gd name="adj" fmla="val 4938"/>
            </a:avLst>
          </a:prstGeom>
          <a:solidFill>
            <a:srgbClr val="0A1520"/>
          </a:solidFill>
          <a:ln w="12700">
            <a:solidFill>
              <a:srgbClr val="2DC653"/>
            </a:solidFill>
            <a:prstDash val="solid"/>
          </a:ln>
        </p:spPr>
      </p:sp>
      <p:sp>
        <p:nvSpPr>
          <p:cNvPr id="27" name="Text 25"/>
          <p:cNvSpPr/>
          <p:nvPr/>
        </p:nvSpPr>
        <p:spPr>
          <a:xfrm>
            <a:off x="8412480" y="2633472"/>
            <a:ext cx="3163824" cy="256032"/>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Example:</a:t>
            </a:r>
            <a:endParaRPr lang="en-US" sz="1000" dirty="0"/>
          </a:p>
        </p:txBody>
      </p:sp>
      <p:sp>
        <p:nvSpPr>
          <p:cNvPr id="28" name="Text 26"/>
          <p:cNvSpPr/>
          <p:nvPr/>
        </p:nvSpPr>
        <p:spPr>
          <a:xfrm>
            <a:off x="8412480" y="2907792"/>
            <a:ext cx="3163824" cy="10972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Same phone, same room brightness, same flashlight app, same measuring tool</a:t>
            </a:r>
            <a:endParaRPr lang="en-US" sz="1050" dirty="0"/>
          </a:p>
        </p:txBody>
      </p:sp>
      <p:sp>
        <p:nvSpPr>
          <p:cNvPr id="29" name="Text 27"/>
          <p:cNvSpPr/>
          <p:nvPr/>
        </p:nvSpPr>
        <p:spPr>
          <a:xfrm>
            <a:off x="8302752" y="4133088"/>
            <a:ext cx="3383280" cy="62179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Keep everything else the same so your results are fair.</a:t>
            </a:r>
            <a:endParaRPr lang="en-US" sz="1000" dirty="0"/>
          </a:p>
        </p:txBody>
      </p:sp>
      <p:sp>
        <p:nvSpPr>
          <p:cNvPr id="30" name="Shape 28"/>
          <p:cNvSpPr/>
          <p:nvPr/>
        </p:nvSpPr>
        <p:spPr>
          <a:xfrm>
            <a:off x="365760" y="5888736"/>
            <a:ext cx="11247120" cy="640080"/>
          </a:xfrm>
          <a:prstGeom prst="roundRect">
            <a:avLst>
              <a:gd name="adj" fmla="val 11429"/>
            </a:avLst>
          </a:prstGeom>
          <a:solidFill>
            <a:srgbClr val="162233"/>
          </a:solidFill>
          <a:ln w="12700">
            <a:solidFill>
              <a:srgbClr val="2DC653"/>
            </a:solidFill>
            <a:prstDash val="solid"/>
          </a:ln>
        </p:spPr>
      </p:sp>
      <p:sp>
        <p:nvSpPr>
          <p:cNvPr id="31" name="Text 29"/>
          <p:cNvSpPr/>
          <p:nvPr/>
        </p:nvSpPr>
        <p:spPr>
          <a:xfrm>
            <a:off x="530352" y="5961888"/>
            <a:ext cx="1091793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Notebook Task:</a:t>
            </a:r>
            <a:endParaRPr lang="en-US" sz="1300" dirty="0"/>
          </a:p>
        </p:txBody>
      </p:sp>
      <p:sp>
        <p:nvSpPr>
          <p:cNvPr id="32" name="Text 30"/>
          <p:cNvSpPr/>
          <p:nvPr/>
        </p:nvSpPr>
        <p:spPr>
          <a:xfrm>
            <a:off x="530352" y="6327648"/>
            <a:ext cx="10917936" cy="91440"/>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For YOUR device from Slide 13 — identify one independent variable, one dependent variable, and two controlled variables because fair testing requires keeping most things the same.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Evidence and Reasoning — Claim</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1024128"/>
          </a:xfrm>
          <a:prstGeom prst="roundRect">
            <a:avLst>
              <a:gd name="adj" fmla="val 7143"/>
            </a:avLst>
          </a:prstGeom>
          <a:solidFill>
            <a:srgbClr val="1E2F45"/>
          </a:solidFill>
          <a:ln w="12700">
            <a:solidFill>
              <a:srgbClr val="1A5FBD"/>
            </a:solidFill>
            <a:prstDash val="solid"/>
          </a:ln>
        </p:spPr>
      </p:sp>
      <p:sp>
        <p:nvSpPr>
          <p:cNvPr id="8" name="Text 6"/>
          <p:cNvSpPr/>
          <p:nvPr/>
        </p:nvSpPr>
        <p:spPr>
          <a:xfrm>
            <a:off x="548640" y="804672"/>
            <a:ext cx="10972800" cy="292608"/>
          </a:xfrm>
          <a:prstGeom prst="rect">
            <a:avLst/>
          </a:prstGeom>
          <a:noFill/>
          <a:ln/>
        </p:spPr>
        <p:txBody>
          <a:bodyPr wrap="square" rtlCol="0" anchor="ctr"/>
          <a:lstStyle/>
          <a:p>
            <a:pPr indent="0" marL="0">
              <a:buNone/>
            </a:pPr>
            <a:r>
              <a:rPr lang="en-US" sz="1100" b="1" dirty="0">
                <a:solidFill>
                  <a:srgbClr val="B0C4D8"/>
                </a:solidFill>
                <a:latin typeface="Calibri" pitchFamily="34" charset="0"/>
                <a:ea typeface="Calibri" pitchFamily="34" charset="-122"/>
                <a:cs typeface="Calibri" pitchFamily="34" charset="-120"/>
              </a:rPr>
              <a:t>Evidence Response Question (from your assignment):</a:t>
            </a:r>
            <a:endParaRPr lang="en-US" sz="1100" dirty="0"/>
          </a:p>
        </p:txBody>
      </p:sp>
      <p:sp>
        <p:nvSpPr>
          <p:cNvPr id="9" name="Text 7"/>
          <p:cNvSpPr/>
          <p:nvPr/>
        </p:nvSpPr>
        <p:spPr>
          <a:xfrm>
            <a:off x="548640" y="1115568"/>
            <a:ext cx="10972800" cy="5943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A classmate says: A toaster CREATES heat energy — the heat was not there before. Do you agree or disagree?</a:t>
            </a:r>
            <a:endParaRPr lang="en-US" sz="1300" dirty="0"/>
          </a:p>
        </p:txBody>
      </p:sp>
      <p:sp>
        <p:nvSpPr>
          <p:cNvPr id="10" name="Shape 8"/>
          <p:cNvSpPr/>
          <p:nvPr/>
        </p:nvSpPr>
        <p:spPr>
          <a:xfrm>
            <a:off x="365760" y="1938528"/>
            <a:ext cx="5943600" cy="3913632"/>
          </a:xfrm>
          <a:prstGeom prst="roundRect">
            <a:avLst>
              <a:gd name="adj" fmla="val 2336"/>
            </a:avLst>
          </a:prstGeom>
          <a:solidFill>
            <a:srgbClr val="0A3D8F"/>
          </a:solidFill>
          <a:ln w="19050">
            <a:solidFill>
              <a:srgbClr val="1A5FBD"/>
            </a:solidFill>
            <a:prstDash val="solid"/>
          </a:ln>
        </p:spPr>
      </p:sp>
      <p:sp>
        <p:nvSpPr>
          <p:cNvPr id="11" name="Shape 9"/>
          <p:cNvSpPr/>
          <p:nvPr/>
        </p:nvSpPr>
        <p:spPr>
          <a:xfrm>
            <a:off x="365760" y="1938528"/>
            <a:ext cx="5943600" cy="347472"/>
          </a:xfrm>
          <a:prstGeom prst="rect">
            <a:avLst/>
          </a:prstGeom>
          <a:solidFill>
            <a:srgbClr val="1A5FBD"/>
          </a:solidFill>
          <a:ln w="12700">
            <a:solidFill>
              <a:srgbClr val="1A5FBD"/>
            </a:solidFill>
            <a:prstDash val="solid"/>
          </a:ln>
        </p:spPr>
      </p:sp>
      <p:sp>
        <p:nvSpPr>
          <p:cNvPr id="12" name="Text 10"/>
          <p:cNvSpPr/>
          <p:nvPr/>
        </p:nvSpPr>
        <p:spPr>
          <a:xfrm>
            <a:off x="457200" y="1956816"/>
            <a:ext cx="576072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3" name="Text 11"/>
          <p:cNvSpPr/>
          <p:nvPr/>
        </p:nvSpPr>
        <p:spPr>
          <a:xfrm>
            <a:off x="502920" y="2340864"/>
            <a:ext cx="5669280" cy="3419856"/>
          </a:xfrm>
          <a:prstGeom prst="rect">
            <a:avLst/>
          </a:prstGeom>
          <a:noFill/>
          <a:ln/>
        </p:spPr>
        <p:txBody>
          <a:bodyPr wrap="square"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I DISAGREE with my classmate. A toaster does NOT create heat energy. The toaster converts electrical energy INTO heat energy — the energy changes form but is not created from nothing.</a:t>
            </a:r>
            <a:endParaRPr lang="en-US" sz="1300" dirty="0"/>
          </a:p>
        </p:txBody>
      </p:sp>
      <p:sp>
        <p:nvSpPr>
          <p:cNvPr id="14" name="Shape 12"/>
          <p:cNvSpPr/>
          <p:nvPr/>
        </p:nvSpPr>
        <p:spPr>
          <a:xfrm>
            <a:off x="6492240" y="1938528"/>
            <a:ext cx="5303520" cy="3913632"/>
          </a:xfrm>
          <a:prstGeom prst="roundRect">
            <a:avLst>
              <a:gd name="adj" fmla="val 2336"/>
            </a:avLst>
          </a:prstGeom>
          <a:solidFill>
            <a:srgbClr val="1A1A2A"/>
          </a:solidFill>
          <a:ln w="19050">
            <a:solidFill>
              <a:srgbClr val="3A3A5A"/>
            </a:solidFill>
            <a:prstDash val="solid"/>
          </a:ln>
        </p:spPr>
      </p:sp>
      <p:sp>
        <p:nvSpPr>
          <p:cNvPr id="15" name="Text 13"/>
          <p:cNvSpPr/>
          <p:nvPr/>
        </p:nvSpPr>
        <p:spPr>
          <a:xfrm>
            <a:off x="6583680" y="2029968"/>
            <a:ext cx="5120640" cy="3730752"/>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EVIDENCE (next slide)</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16" name="Shape 14"/>
          <p:cNvSpPr/>
          <p:nvPr/>
        </p:nvSpPr>
        <p:spPr>
          <a:xfrm>
            <a:off x="365760" y="5980176"/>
            <a:ext cx="11247120" cy="548640"/>
          </a:xfrm>
          <a:prstGeom prst="roundRect">
            <a:avLst>
              <a:gd name="adj" fmla="val 13333"/>
            </a:avLst>
          </a:prstGeom>
          <a:solidFill>
            <a:srgbClr val="162233"/>
          </a:solidFill>
          <a:ln w="12700">
            <a:solidFill>
              <a:srgbClr val="1A5FBD"/>
            </a:solidFill>
            <a:prstDash val="solid"/>
          </a:ln>
        </p:spPr>
      </p:sp>
      <p:sp>
        <p:nvSpPr>
          <p:cNvPr id="17" name="Text 15"/>
          <p:cNvSpPr/>
          <p:nvPr/>
        </p:nvSpPr>
        <p:spPr>
          <a:xfrm>
            <a:off x="548640" y="6035040"/>
            <a:ext cx="10972800" cy="438912"/>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Your claim must answer the question directly with AGREE or DISAGREE — then state your position clearly.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28B5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28B50"/>
                </a:solidFill>
                <a:latin typeface="Calibri" pitchFamily="34" charset="0"/>
                <a:ea typeface="Calibri" pitchFamily="34" charset="-122"/>
                <a:cs typeface="Calibri" pitchFamily="34" charset="-120"/>
              </a:rPr>
              <a:t>📝  Evidence and Reasoning — Evidence</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3429000" cy="5029200"/>
          </a:xfrm>
          <a:prstGeom prst="roundRect">
            <a:avLst>
              <a:gd name="adj" fmla="val 2667"/>
            </a:avLst>
          </a:prstGeom>
          <a:solidFill>
            <a:srgbClr val="1A1A2A"/>
          </a:solidFill>
          <a:ln w="19050">
            <a:solidFill>
              <a:srgbClr val="3A3A5A"/>
            </a:solidFill>
            <a:prstDash val="solid"/>
          </a:ln>
        </p:spPr>
      </p:sp>
      <p:sp>
        <p:nvSpPr>
          <p:cNvPr id="8" name="Text 6"/>
          <p:cNvSpPr/>
          <p:nvPr/>
        </p:nvSpPr>
        <p:spPr>
          <a:xfrm>
            <a:off x="457200" y="841248"/>
            <a:ext cx="3246120" cy="4846320"/>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CLAIM</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9" name="Shape 7"/>
          <p:cNvSpPr/>
          <p:nvPr/>
        </p:nvSpPr>
        <p:spPr>
          <a:xfrm>
            <a:off x="4023360" y="749808"/>
            <a:ext cx="7955280" cy="5029200"/>
          </a:xfrm>
          <a:prstGeom prst="roundRect">
            <a:avLst>
              <a:gd name="adj" fmla="val 1818"/>
            </a:avLst>
          </a:prstGeom>
          <a:solidFill>
            <a:srgbClr val="145C35"/>
          </a:solidFill>
          <a:ln w="19050">
            <a:solidFill>
              <a:srgbClr val="228B50"/>
            </a:solidFill>
            <a:prstDash val="solid"/>
          </a:ln>
        </p:spPr>
      </p:sp>
      <p:sp>
        <p:nvSpPr>
          <p:cNvPr id="10" name="Shape 8"/>
          <p:cNvSpPr/>
          <p:nvPr/>
        </p:nvSpPr>
        <p:spPr>
          <a:xfrm>
            <a:off x="4023360" y="749808"/>
            <a:ext cx="7955280" cy="347472"/>
          </a:xfrm>
          <a:prstGeom prst="rect">
            <a:avLst/>
          </a:prstGeom>
          <a:solidFill>
            <a:srgbClr val="228B50"/>
          </a:solidFill>
          <a:ln w="12700">
            <a:solidFill>
              <a:srgbClr val="228B50"/>
            </a:solidFill>
            <a:prstDash val="solid"/>
          </a:ln>
        </p:spPr>
      </p:sp>
      <p:sp>
        <p:nvSpPr>
          <p:cNvPr id="11" name="Text 9"/>
          <p:cNvSpPr/>
          <p:nvPr/>
        </p:nvSpPr>
        <p:spPr>
          <a:xfrm>
            <a:off x="4114800" y="768096"/>
            <a:ext cx="77724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4160520" y="1152144"/>
            <a:ext cx="7680960" cy="453542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Evidence 1: The toaster is plugged into an outlet — it uses electrical energy (input). This electrical energy existed before the toaster was turned on.</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Evidence 2: After toasting, we measure heat coming from the bread and feel warmth from the slots — these are outputs. The device did not add new energy; it converted what was already there.</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Evidence 3: A dead battery has less electrical energy because it was converted, not because the energy disappeared. Energy is conserved.</a:t>
            </a:r>
            <a:endParaRPr lang="en-US" sz="1200" dirty="0"/>
          </a:p>
        </p:txBody>
      </p:sp>
      <p:sp>
        <p:nvSpPr>
          <p:cNvPr id="13" name="Shape 11"/>
          <p:cNvSpPr/>
          <p:nvPr/>
        </p:nvSpPr>
        <p:spPr>
          <a:xfrm>
            <a:off x="365760" y="5925312"/>
            <a:ext cx="11247120" cy="603504"/>
          </a:xfrm>
          <a:prstGeom prst="roundRect">
            <a:avLst>
              <a:gd name="adj" fmla="val 12121"/>
            </a:avLst>
          </a:prstGeom>
          <a:solidFill>
            <a:srgbClr val="162233"/>
          </a:solidFill>
          <a:ln w="12700">
            <a:solidFill>
              <a:srgbClr val="228B50"/>
            </a:solidFill>
            <a:prstDash val="solid"/>
          </a:ln>
        </p:spPr>
      </p:sp>
      <p:sp>
        <p:nvSpPr>
          <p:cNvPr id="14" name="Text 12"/>
          <p:cNvSpPr/>
          <p:nvPr/>
        </p:nvSpPr>
        <p:spPr>
          <a:xfrm>
            <a:off x="548640" y="5980176"/>
            <a:ext cx="10972800" cy="493776"/>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Evidence must come from lesson observations, data, or diagrams — not just I think or I feel.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B04A0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B04A00"/>
                </a:solidFill>
                <a:latin typeface="Calibri" pitchFamily="34" charset="0"/>
                <a:ea typeface="Calibri" pitchFamily="34" charset="-122"/>
                <a:cs typeface="Calibri" pitchFamily="34" charset="-120"/>
              </a:rPr>
              <a:t>📝  Evidence and Reasoning — Reasoning</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3429000" cy="5029200"/>
          </a:xfrm>
          <a:prstGeom prst="roundRect">
            <a:avLst>
              <a:gd name="adj" fmla="val 2667"/>
            </a:avLst>
          </a:prstGeom>
          <a:solidFill>
            <a:srgbClr val="1A1A2A"/>
          </a:solidFill>
          <a:ln w="19050">
            <a:solidFill>
              <a:srgbClr val="3A3A5A"/>
            </a:solidFill>
            <a:prstDash val="solid"/>
          </a:ln>
        </p:spPr>
      </p:sp>
      <p:sp>
        <p:nvSpPr>
          <p:cNvPr id="8" name="Text 6"/>
          <p:cNvSpPr/>
          <p:nvPr/>
        </p:nvSpPr>
        <p:spPr>
          <a:xfrm>
            <a:off x="457200" y="841248"/>
            <a:ext cx="3246120" cy="4846320"/>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CLAIM</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9" name="Shape 7"/>
          <p:cNvSpPr/>
          <p:nvPr/>
        </p:nvSpPr>
        <p:spPr>
          <a:xfrm>
            <a:off x="4023360" y="749808"/>
            <a:ext cx="3429000" cy="5029200"/>
          </a:xfrm>
          <a:prstGeom prst="roundRect">
            <a:avLst>
              <a:gd name="adj" fmla="val 2667"/>
            </a:avLst>
          </a:prstGeom>
          <a:solidFill>
            <a:srgbClr val="1A1A2A"/>
          </a:solidFill>
          <a:ln w="19050">
            <a:solidFill>
              <a:srgbClr val="3A3A5A"/>
            </a:solidFill>
            <a:prstDash val="solid"/>
          </a:ln>
        </p:spPr>
      </p:sp>
      <p:sp>
        <p:nvSpPr>
          <p:cNvPr id="10" name="Text 8"/>
          <p:cNvSpPr/>
          <p:nvPr/>
        </p:nvSpPr>
        <p:spPr>
          <a:xfrm>
            <a:off x="4114800" y="841248"/>
            <a:ext cx="3246120" cy="4846320"/>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EVIDENCE</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11" name="Shape 9"/>
          <p:cNvSpPr/>
          <p:nvPr/>
        </p:nvSpPr>
        <p:spPr>
          <a:xfrm>
            <a:off x="7635240" y="749808"/>
            <a:ext cx="4343400" cy="5029200"/>
          </a:xfrm>
          <a:prstGeom prst="roundRect">
            <a:avLst>
              <a:gd name="adj" fmla="val 2105"/>
            </a:avLst>
          </a:prstGeom>
          <a:solidFill>
            <a:srgbClr val="7A3200"/>
          </a:solidFill>
          <a:ln w="19050">
            <a:solidFill>
              <a:srgbClr val="B04A00"/>
            </a:solidFill>
            <a:prstDash val="solid"/>
          </a:ln>
        </p:spPr>
      </p:sp>
      <p:sp>
        <p:nvSpPr>
          <p:cNvPr id="12" name="Shape 10"/>
          <p:cNvSpPr/>
          <p:nvPr/>
        </p:nvSpPr>
        <p:spPr>
          <a:xfrm>
            <a:off x="7635240" y="749808"/>
            <a:ext cx="4343400" cy="347472"/>
          </a:xfrm>
          <a:prstGeom prst="rect">
            <a:avLst/>
          </a:prstGeom>
          <a:solidFill>
            <a:srgbClr val="B04A00"/>
          </a:solidFill>
          <a:ln w="12700">
            <a:solidFill>
              <a:srgbClr val="B04A00"/>
            </a:solidFill>
            <a:prstDash val="solid"/>
          </a:ln>
        </p:spPr>
      </p:sp>
      <p:sp>
        <p:nvSpPr>
          <p:cNvPr id="13" name="Text 11"/>
          <p:cNvSpPr/>
          <p:nvPr/>
        </p:nvSpPr>
        <p:spPr>
          <a:xfrm>
            <a:off x="7726680" y="768096"/>
            <a:ext cx="416052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4" name="Text 12"/>
          <p:cNvSpPr/>
          <p:nvPr/>
        </p:nvSpPr>
        <p:spPr>
          <a:xfrm>
            <a:off x="7772400" y="1152144"/>
            <a:ext cx="4069080" cy="453542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My evidence supports my claim because the law of conservation of energy states energy is NEVER created or destroyed — only converted. The toaster does exactly that: it converts (transforms) electrical energy into heat. My classmate is confusing CREATION with CONVERSION. The heat existed as electrical energy before. The toaster just changed its form.</a:t>
            </a:r>
            <a:endParaRPr lang="en-US" sz="1150" dirty="0"/>
          </a:p>
        </p:txBody>
      </p:sp>
      <p:sp>
        <p:nvSpPr>
          <p:cNvPr id="15" name="Shape 13"/>
          <p:cNvSpPr/>
          <p:nvPr/>
        </p:nvSpPr>
        <p:spPr>
          <a:xfrm>
            <a:off x="365760" y="5925312"/>
            <a:ext cx="11247120" cy="603504"/>
          </a:xfrm>
          <a:prstGeom prst="roundRect">
            <a:avLst>
              <a:gd name="adj" fmla="val 12121"/>
            </a:avLst>
          </a:prstGeom>
          <a:solidFill>
            <a:srgbClr val="162233"/>
          </a:solidFill>
          <a:ln w="12700">
            <a:solidFill>
              <a:srgbClr val="B04A00"/>
            </a:solidFill>
            <a:prstDash val="solid"/>
          </a:ln>
        </p:spPr>
      </p:sp>
      <p:sp>
        <p:nvSpPr>
          <p:cNvPr id="16" name="Text 14"/>
          <p:cNvSpPr/>
          <p:nvPr/>
        </p:nvSpPr>
        <p:spPr>
          <a:xfrm>
            <a:off x="548640" y="5980176"/>
            <a:ext cx="10972800" cy="493776"/>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Reasoning uses a science principle to CONNECT your evidence to your claim. It explains WHY the evidence matters.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Elaborate — Florida Solar Panels and Engineering</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5120640" cy="3474720"/>
          </a:xfrm>
          <a:prstGeom prst="roundRect">
            <a:avLst>
              <a:gd name="adj" fmla="val 2105"/>
            </a:avLst>
          </a:prstGeom>
          <a:solidFill>
            <a:srgbClr val="0A1520"/>
          </a:solidFill>
          <a:ln w="19050">
            <a:solidFill>
              <a:srgbClr val="4CC9F0"/>
            </a:solidFill>
            <a:prstDash val="dash"/>
          </a:ln>
        </p:spPr>
      </p:sp>
      <p:sp>
        <p:nvSpPr>
          <p:cNvPr id="8" name="Text 6"/>
          <p:cNvSpPr/>
          <p:nvPr/>
        </p:nvSpPr>
        <p:spPr>
          <a:xfrm>
            <a:off x="457200" y="859536"/>
            <a:ext cx="4937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298448"/>
            <a:ext cx="49377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591056"/>
            <a:ext cx="4901184" cy="24231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"solar panels Florida rooftop bright sunshine energy conversion engineering"</a:t>
            </a:r>
            <a:endParaRPr lang="en-US" sz="950" dirty="0"/>
          </a:p>
        </p:txBody>
      </p:sp>
      <p:sp>
        <p:nvSpPr>
          <p:cNvPr id="11" name="Text 9"/>
          <p:cNvSpPr/>
          <p:nvPr/>
        </p:nvSpPr>
        <p:spPr>
          <a:xfrm>
            <a:off x="365760" y="4261104"/>
            <a:ext cx="51206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Solar panels on a Florida roof converting sunlight into electrical energy</a:t>
            </a:r>
            <a:endParaRPr lang="en-US" sz="900" dirty="0"/>
          </a:p>
        </p:txBody>
      </p:sp>
      <p:sp>
        <p:nvSpPr>
          <p:cNvPr id="12" name="Shape 10"/>
          <p:cNvSpPr/>
          <p:nvPr/>
        </p:nvSpPr>
        <p:spPr>
          <a:xfrm>
            <a:off x="5760720" y="749808"/>
            <a:ext cx="6217920" cy="3474720"/>
          </a:xfrm>
          <a:prstGeom prst="roundRect">
            <a:avLst>
              <a:gd name="adj" fmla="val 2105"/>
            </a:avLst>
          </a:prstGeom>
          <a:solidFill>
            <a:srgbClr val="1E2F45"/>
          </a:solidFill>
          <a:ln w="12700">
            <a:solidFill>
              <a:srgbClr val="FFB703"/>
            </a:solidFill>
            <a:prstDash val="solid"/>
          </a:ln>
        </p:spPr>
      </p:sp>
      <p:sp>
        <p:nvSpPr>
          <p:cNvPr id="13" name="Text 11"/>
          <p:cNvSpPr/>
          <p:nvPr/>
        </p:nvSpPr>
        <p:spPr>
          <a:xfrm>
            <a:off x="5943600" y="804672"/>
            <a:ext cx="585216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Florida Solar Panels — The Numbers</a:t>
            </a:r>
            <a:endParaRPr lang="en-US" sz="1300" dirty="0"/>
          </a:p>
        </p:txBody>
      </p:sp>
      <p:sp>
        <p:nvSpPr>
          <p:cNvPr id="14" name="Text 12"/>
          <p:cNvSpPr/>
          <p:nvPr/>
        </p:nvSpPr>
        <p:spPr>
          <a:xfrm>
            <a:off x="5943600" y="1170432"/>
            <a:ext cx="5852160" cy="20116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Florida gets over 230 sunny days per year — more sunlight than almost any other state!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Yet a typical solar panel is only about 20% efficient.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That means: for every 100 units of light energy that hits a panel, only about 20 units become useful electrical energy. The other 80 units become heat the panel itself absorbs.</a:t>
            </a:r>
            <a:endParaRPr lang="en-US" sz="1200" dirty="0"/>
          </a:p>
        </p:txBody>
      </p:sp>
      <p:sp>
        <p:nvSpPr>
          <p:cNvPr id="15" name="Shape 13"/>
          <p:cNvSpPr/>
          <p:nvPr/>
        </p:nvSpPr>
        <p:spPr>
          <a:xfrm>
            <a:off x="5943600" y="3236976"/>
            <a:ext cx="5852160" cy="347472"/>
          </a:xfrm>
          <a:prstGeom prst="rect">
            <a:avLst/>
          </a:prstGeom>
          <a:solidFill>
            <a:srgbClr val="1A1A2A"/>
          </a:solidFill>
          <a:ln w="12700">
            <a:solidFill>
              <a:srgbClr val="FFB703"/>
            </a:solidFill>
            <a:prstDash val="solid"/>
          </a:ln>
        </p:spPr>
      </p:sp>
      <p:sp>
        <p:nvSpPr>
          <p:cNvPr id="16" name="Shape 14"/>
          <p:cNvSpPr/>
          <p:nvPr/>
        </p:nvSpPr>
        <p:spPr>
          <a:xfrm>
            <a:off x="5943600" y="3236976"/>
            <a:ext cx="1170432" cy="347472"/>
          </a:xfrm>
          <a:prstGeom prst="rect">
            <a:avLst/>
          </a:prstGeom>
          <a:solidFill>
            <a:srgbClr val="FFB703"/>
          </a:solidFill>
          <a:ln w="12700">
            <a:solidFill>
              <a:srgbClr val="FFB703"/>
            </a:solidFill>
            <a:prstDash val="solid"/>
          </a:ln>
        </p:spPr>
      </p:sp>
      <p:sp>
        <p:nvSpPr>
          <p:cNvPr id="17" name="Text 15"/>
          <p:cNvSpPr/>
          <p:nvPr/>
        </p:nvSpPr>
        <p:spPr>
          <a:xfrm>
            <a:off x="5943600" y="3621024"/>
            <a:ext cx="5852160" cy="256032"/>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20% useful  |  80% wasted heat</a:t>
            </a:r>
            <a:endParaRPr lang="en-US" sz="1000" dirty="0"/>
          </a:p>
        </p:txBody>
      </p:sp>
      <p:sp>
        <p:nvSpPr>
          <p:cNvPr id="18" name="Shape 16"/>
          <p:cNvSpPr/>
          <p:nvPr/>
        </p:nvSpPr>
        <p:spPr>
          <a:xfrm>
            <a:off x="365760" y="4370832"/>
            <a:ext cx="11247120" cy="1664208"/>
          </a:xfrm>
          <a:prstGeom prst="roundRect">
            <a:avLst>
              <a:gd name="adj" fmla="val 4396"/>
            </a:avLst>
          </a:prstGeom>
          <a:solidFill>
            <a:srgbClr val="1A1500"/>
          </a:solidFill>
          <a:ln w="12700">
            <a:solidFill>
              <a:srgbClr val="FFB703"/>
            </a:solidFill>
            <a:prstDash val="solid"/>
          </a:ln>
        </p:spPr>
      </p:sp>
      <p:sp>
        <p:nvSpPr>
          <p:cNvPr id="19" name="Text 17"/>
          <p:cNvSpPr/>
          <p:nvPr/>
        </p:nvSpPr>
        <p:spPr>
          <a:xfrm>
            <a:off x="548640" y="4425696"/>
            <a:ext cx="109728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Engineering Challenge — Think Like a Scientist:</a:t>
            </a:r>
            <a:endParaRPr lang="en-US" sz="1200" dirty="0"/>
          </a:p>
        </p:txBody>
      </p:sp>
      <p:sp>
        <p:nvSpPr>
          <p:cNvPr id="20" name="Text 18"/>
          <p:cNvSpPr/>
          <p:nvPr/>
        </p:nvSpPr>
        <p:spPr>
          <a:xfrm>
            <a:off x="548640" y="4773168"/>
            <a:ext cx="10972800" cy="11887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If engineers improved solar panel efficiency from 20% to 40%, what would change?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Write: If solar panels became twice as efficient, the ___ would change because ___, but the INPUT ___ would stay the same because ___.</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Elaborate — Your Body Is an Energy Converter!</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4389120" cy="4892040"/>
          </a:xfrm>
          <a:prstGeom prst="roundRect">
            <a:avLst>
              <a:gd name="adj" fmla="val 1667"/>
            </a:avLst>
          </a:prstGeom>
          <a:solidFill>
            <a:srgbClr val="0A1520"/>
          </a:solidFill>
          <a:ln w="19050">
            <a:solidFill>
              <a:srgbClr val="4CC9F0"/>
            </a:solidFill>
            <a:prstDash val="dash"/>
          </a:ln>
        </p:spPr>
      </p:sp>
      <p:sp>
        <p:nvSpPr>
          <p:cNvPr id="8" name="Text 6"/>
          <p:cNvSpPr/>
          <p:nvPr/>
        </p:nvSpPr>
        <p:spPr>
          <a:xfrm>
            <a:off x="457200" y="859536"/>
            <a:ext cx="4206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298448"/>
            <a:ext cx="4206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591056"/>
            <a:ext cx="4169664" cy="38404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"human body energy food conversion movement 4th grade science diagram"</a:t>
            </a:r>
            <a:endParaRPr lang="en-US" sz="950" dirty="0"/>
          </a:p>
        </p:txBody>
      </p:sp>
      <p:sp>
        <p:nvSpPr>
          <p:cNvPr id="11" name="Text 9"/>
          <p:cNvSpPr/>
          <p:nvPr/>
        </p:nvSpPr>
        <p:spPr>
          <a:xfrm>
            <a:off x="365760" y="5678424"/>
            <a:ext cx="4389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student athlete showing food energy converting to movement and heat</a:t>
            </a:r>
            <a:endParaRPr lang="en-US" sz="900" dirty="0"/>
          </a:p>
        </p:txBody>
      </p:sp>
      <p:sp>
        <p:nvSpPr>
          <p:cNvPr id="12" name="Shape 10"/>
          <p:cNvSpPr/>
          <p:nvPr/>
        </p:nvSpPr>
        <p:spPr>
          <a:xfrm>
            <a:off x="5029200" y="749808"/>
            <a:ext cx="6949440" cy="2834640"/>
          </a:xfrm>
          <a:prstGeom prst="roundRect">
            <a:avLst>
              <a:gd name="adj" fmla="val 2581"/>
            </a:avLst>
          </a:prstGeom>
          <a:solidFill>
            <a:srgbClr val="1E2F45"/>
          </a:solidFill>
          <a:ln w="12700">
            <a:solidFill>
              <a:srgbClr val="2DC653"/>
            </a:solidFill>
            <a:prstDash val="solid"/>
          </a:ln>
        </p:spPr>
      </p:sp>
      <p:sp>
        <p:nvSpPr>
          <p:cNvPr id="13" name="Text 11"/>
          <p:cNvSpPr/>
          <p:nvPr/>
        </p:nvSpPr>
        <p:spPr>
          <a:xfrm>
            <a:off x="5212080" y="804672"/>
            <a:ext cx="658368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Your Body — A Living Energy Device:</a:t>
            </a:r>
            <a:endParaRPr lang="en-US" sz="1300" dirty="0"/>
          </a:p>
        </p:txBody>
      </p:sp>
      <p:sp>
        <p:nvSpPr>
          <p:cNvPr id="14" name="Text 12"/>
          <p:cNvSpPr/>
          <p:nvPr/>
        </p:nvSpPr>
        <p:spPr>
          <a:xfrm>
            <a:off x="5212080" y="1188720"/>
            <a:ext cx="1691640" cy="256032"/>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INPUT:</a:t>
            </a:r>
            <a:endParaRPr lang="en-US" sz="1100" dirty="0"/>
          </a:p>
        </p:txBody>
      </p:sp>
      <p:sp>
        <p:nvSpPr>
          <p:cNvPr id="15" name="Text 13"/>
          <p:cNvSpPr/>
          <p:nvPr/>
        </p:nvSpPr>
        <p:spPr>
          <a:xfrm>
            <a:off x="6949440" y="1188720"/>
            <a:ext cx="484632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Chemical energy (from food you eat)</a:t>
            </a:r>
            <a:endParaRPr lang="en-US" sz="1100" dirty="0"/>
          </a:p>
        </p:txBody>
      </p:sp>
      <p:sp>
        <p:nvSpPr>
          <p:cNvPr id="16" name="Text 14"/>
          <p:cNvSpPr/>
          <p:nvPr/>
        </p:nvSpPr>
        <p:spPr>
          <a:xfrm>
            <a:off x="5212080" y="1755648"/>
            <a:ext cx="1691640" cy="25603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CONVERSION:</a:t>
            </a:r>
            <a:endParaRPr lang="en-US" sz="1100" dirty="0"/>
          </a:p>
        </p:txBody>
      </p:sp>
      <p:sp>
        <p:nvSpPr>
          <p:cNvPr id="17" name="Text 15"/>
          <p:cNvSpPr/>
          <p:nvPr/>
        </p:nvSpPr>
        <p:spPr>
          <a:xfrm>
            <a:off x="6949440" y="1755648"/>
            <a:ext cx="484632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Cells in your muscles transform the chemical energy</a:t>
            </a:r>
            <a:endParaRPr lang="en-US" sz="1100" dirty="0"/>
          </a:p>
        </p:txBody>
      </p:sp>
      <p:sp>
        <p:nvSpPr>
          <p:cNvPr id="18" name="Text 16"/>
          <p:cNvSpPr/>
          <p:nvPr/>
        </p:nvSpPr>
        <p:spPr>
          <a:xfrm>
            <a:off x="5212080" y="2322576"/>
            <a:ext cx="1691640" cy="256032"/>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USEFUL OUTPUT:</a:t>
            </a:r>
            <a:endParaRPr lang="en-US" sz="1100" dirty="0"/>
          </a:p>
        </p:txBody>
      </p:sp>
      <p:sp>
        <p:nvSpPr>
          <p:cNvPr id="19" name="Text 17"/>
          <p:cNvSpPr/>
          <p:nvPr/>
        </p:nvSpPr>
        <p:spPr>
          <a:xfrm>
            <a:off x="6949440" y="2322576"/>
            <a:ext cx="484632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Kinetic (motion) energy — you move, run, jump</a:t>
            </a:r>
            <a:endParaRPr lang="en-US" sz="1100" dirty="0"/>
          </a:p>
        </p:txBody>
      </p:sp>
      <p:sp>
        <p:nvSpPr>
          <p:cNvPr id="20" name="Text 18"/>
          <p:cNvSpPr/>
          <p:nvPr/>
        </p:nvSpPr>
        <p:spPr>
          <a:xfrm>
            <a:off x="5212080" y="2889504"/>
            <a:ext cx="1691640" cy="256032"/>
          </a:xfrm>
          <a:prstGeom prst="rect">
            <a:avLst/>
          </a:prstGeom>
          <a:noFill/>
          <a:ln/>
        </p:spPr>
        <p:txBody>
          <a:bodyPr wrap="square" rtlCol="0" anchor="ctr"/>
          <a:lstStyle/>
          <a:p>
            <a:pPr indent="0" marL="0">
              <a:buNone/>
            </a:pPr>
            <a:r>
              <a:rPr lang="en-US" sz="1100" b="1" dirty="0">
                <a:solidFill>
                  <a:srgbClr val="F4736A"/>
                </a:solidFill>
                <a:latin typeface="Calibri" pitchFamily="34" charset="0"/>
                <a:ea typeface="Calibri" pitchFamily="34" charset="-122"/>
                <a:cs typeface="Calibri" pitchFamily="34" charset="-120"/>
              </a:rPr>
              <a:t>WASTED OUTPUT:</a:t>
            </a:r>
            <a:endParaRPr lang="en-US" sz="1100" dirty="0"/>
          </a:p>
        </p:txBody>
      </p:sp>
      <p:sp>
        <p:nvSpPr>
          <p:cNvPr id="21" name="Text 19"/>
          <p:cNvSpPr/>
          <p:nvPr/>
        </p:nvSpPr>
        <p:spPr>
          <a:xfrm>
            <a:off x="6949440" y="2889504"/>
            <a:ext cx="484632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Heat — why you feel hot when you exercise!</a:t>
            </a:r>
            <a:endParaRPr lang="en-US" sz="1100" dirty="0"/>
          </a:p>
        </p:txBody>
      </p:sp>
      <p:sp>
        <p:nvSpPr>
          <p:cNvPr id="22" name="Shape 20"/>
          <p:cNvSpPr/>
          <p:nvPr/>
        </p:nvSpPr>
        <p:spPr>
          <a:xfrm>
            <a:off x="5029200" y="3657600"/>
            <a:ext cx="6949440" cy="1975104"/>
          </a:xfrm>
          <a:prstGeom prst="roundRect">
            <a:avLst>
              <a:gd name="adj" fmla="val 3704"/>
            </a:avLst>
          </a:prstGeom>
          <a:solidFill>
            <a:srgbClr val="162233"/>
          </a:solidFill>
          <a:ln w="12700">
            <a:solidFill>
              <a:srgbClr val="2DC653"/>
            </a:solidFill>
            <a:prstDash val="solid"/>
          </a:ln>
        </p:spPr>
      </p:sp>
      <p:sp>
        <p:nvSpPr>
          <p:cNvPr id="23" name="Text 21"/>
          <p:cNvSpPr/>
          <p:nvPr/>
        </p:nvSpPr>
        <p:spPr>
          <a:xfrm>
            <a:off x="5193792" y="3730752"/>
            <a:ext cx="662025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Connection Discussion:</a:t>
            </a:r>
            <a:endParaRPr lang="en-US" sz="1300" dirty="0"/>
          </a:p>
        </p:txBody>
      </p:sp>
      <p:sp>
        <p:nvSpPr>
          <p:cNvPr id="24" name="Text 22"/>
          <p:cNvSpPr/>
          <p:nvPr/>
        </p:nvSpPr>
        <p:spPr>
          <a:xfrm>
            <a:off x="5193792" y="4096512"/>
            <a:ext cx="6620256" cy="142646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Your body is a device. Use three vocab words — input energy, transformation, and useful energy — to describe what happens when you sprint across the gym. Include because in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3 Quick Questions</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11247120" cy="475488"/>
          </a:xfrm>
          <a:prstGeom prst="roundRect">
            <a:avLst>
              <a:gd name="adj" fmla="val 15385"/>
            </a:avLst>
          </a:prstGeom>
          <a:solidFill>
            <a:srgbClr val="1E2F45"/>
          </a:solidFill>
          <a:ln w="12700">
            <a:solidFill>
              <a:srgbClr val="B0C4D8"/>
            </a:solidFill>
            <a:prstDash val="solid"/>
          </a:ln>
        </p:spPr>
      </p:sp>
      <p:sp>
        <p:nvSpPr>
          <p:cNvPr id="8" name="Text 6"/>
          <p:cNvSpPr/>
          <p:nvPr/>
        </p:nvSpPr>
        <p:spPr>
          <a:xfrm>
            <a:off x="548640" y="804672"/>
            <a:ext cx="10972800" cy="365760"/>
          </a:xfrm>
          <a:prstGeom prst="rect">
            <a:avLst/>
          </a:prstGeom>
          <a:noFill/>
          <a:ln/>
        </p:spPr>
        <p:txBody>
          <a:bodyPr wrap="square" rtlCol="0" anchor="ctr"/>
          <a:lstStyle/>
          <a:p>
            <a:pPr indent="0" marL="0">
              <a:buNone/>
            </a:pPr>
            <a:r>
              <a:rPr lang="en-US" sz="1150" i="1" dirty="0">
                <a:solidFill>
                  <a:srgbClr val="B0C4D8"/>
                </a:solidFill>
                <a:latin typeface="Calibri" pitchFamily="34" charset="0"/>
                <a:ea typeface="Calibri" pitchFamily="34" charset="-122"/>
                <a:cs typeface="Calibri" pitchFamily="34" charset="-120"/>
              </a:rPr>
              <a:t>Check your own understanding before the assignment. Cover the answers, read each question, then reveal!</a:t>
            </a:r>
            <a:endParaRPr lang="en-US" sz="1150" dirty="0"/>
          </a:p>
        </p:txBody>
      </p:sp>
      <p:sp>
        <p:nvSpPr>
          <p:cNvPr id="9" name="Shape 7"/>
          <p:cNvSpPr/>
          <p:nvPr/>
        </p:nvSpPr>
        <p:spPr>
          <a:xfrm>
            <a:off x="365760" y="1353312"/>
            <a:ext cx="11247120" cy="1536192"/>
          </a:xfrm>
          <a:prstGeom prst="roundRect">
            <a:avLst>
              <a:gd name="adj" fmla="val 4762"/>
            </a:avLst>
          </a:prstGeom>
          <a:solidFill>
            <a:srgbClr val="1E2F45"/>
          </a:solidFill>
          <a:ln w="12700">
            <a:solidFill>
              <a:srgbClr val="4CC9F0"/>
            </a:solidFill>
            <a:prstDash val="solid"/>
          </a:ln>
        </p:spPr>
      </p:sp>
      <p:sp>
        <p:nvSpPr>
          <p:cNvPr id="10" name="Text 8"/>
          <p:cNvSpPr/>
          <p:nvPr/>
        </p:nvSpPr>
        <p:spPr>
          <a:xfrm>
            <a:off x="548640" y="1408176"/>
            <a:ext cx="10972800" cy="56692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Q1: A wind turbine converts ___ energy into ___ energy.</a:t>
            </a:r>
            <a:endParaRPr lang="en-US" sz="1300" dirty="0"/>
          </a:p>
        </p:txBody>
      </p:sp>
      <p:sp>
        <p:nvSpPr>
          <p:cNvPr id="11" name="Shape 9"/>
          <p:cNvSpPr/>
          <p:nvPr/>
        </p:nvSpPr>
        <p:spPr>
          <a:xfrm>
            <a:off x="548640" y="1993392"/>
            <a:ext cx="10972800" cy="768096"/>
          </a:xfrm>
          <a:prstGeom prst="roundRect">
            <a:avLst>
              <a:gd name="adj" fmla="val 9524"/>
            </a:avLst>
          </a:prstGeom>
          <a:solidFill>
            <a:srgbClr val="0A1520"/>
          </a:solidFill>
          <a:ln w="12700">
            <a:solidFill>
              <a:srgbClr val="4CC9F0"/>
            </a:solidFill>
            <a:prstDash val="solid"/>
          </a:ln>
        </p:spPr>
      </p:sp>
      <p:sp>
        <p:nvSpPr>
          <p:cNvPr id="12" name="Text 10"/>
          <p:cNvSpPr/>
          <p:nvPr/>
        </p:nvSpPr>
        <p:spPr>
          <a:xfrm>
            <a:off x="685800" y="2048256"/>
            <a:ext cx="10698480" cy="65836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Answer: Motion (kinetic) energy into Electrical energy</a:t>
            </a:r>
            <a:endParaRPr lang="en-US" sz="1200" dirty="0"/>
          </a:p>
        </p:txBody>
      </p:sp>
      <p:sp>
        <p:nvSpPr>
          <p:cNvPr id="13" name="Shape 11"/>
          <p:cNvSpPr/>
          <p:nvPr/>
        </p:nvSpPr>
        <p:spPr>
          <a:xfrm>
            <a:off x="365760" y="3017520"/>
            <a:ext cx="11247120" cy="1536192"/>
          </a:xfrm>
          <a:prstGeom prst="roundRect">
            <a:avLst>
              <a:gd name="adj" fmla="val 4762"/>
            </a:avLst>
          </a:prstGeom>
          <a:solidFill>
            <a:srgbClr val="1E2F45"/>
          </a:solidFill>
          <a:ln w="12700">
            <a:solidFill>
              <a:srgbClr val="FFB703"/>
            </a:solidFill>
            <a:prstDash val="solid"/>
          </a:ln>
        </p:spPr>
      </p:sp>
      <p:sp>
        <p:nvSpPr>
          <p:cNvPr id="14" name="Text 12"/>
          <p:cNvSpPr/>
          <p:nvPr/>
        </p:nvSpPr>
        <p:spPr>
          <a:xfrm>
            <a:off x="548640" y="3072384"/>
            <a:ext cx="10972800" cy="56692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Q2: TRANSFORMATION means energy changes ___. TRANSFER means energy changes ___.</a:t>
            </a:r>
            <a:endParaRPr lang="en-US" sz="1300" dirty="0"/>
          </a:p>
        </p:txBody>
      </p:sp>
      <p:sp>
        <p:nvSpPr>
          <p:cNvPr id="15" name="Shape 13"/>
          <p:cNvSpPr/>
          <p:nvPr/>
        </p:nvSpPr>
        <p:spPr>
          <a:xfrm>
            <a:off x="548640" y="3657600"/>
            <a:ext cx="10972800" cy="768096"/>
          </a:xfrm>
          <a:prstGeom prst="roundRect">
            <a:avLst>
              <a:gd name="adj" fmla="val 9524"/>
            </a:avLst>
          </a:prstGeom>
          <a:solidFill>
            <a:srgbClr val="0A1520"/>
          </a:solidFill>
          <a:ln w="12700">
            <a:solidFill>
              <a:srgbClr val="FFB703"/>
            </a:solidFill>
            <a:prstDash val="solid"/>
          </a:ln>
        </p:spPr>
      </p:sp>
      <p:sp>
        <p:nvSpPr>
          <p:cNvPr id="16" name="Text 14"/>
          <p:cNvSpPr/>
          <p:nvPr/>
        </p:nvSpPr>
        <p:spPr>
          <a:xfrm>
            <a:off x="685800" y="3712464"/>
            <a:ext cx="10698480" cy="65836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Answer: FORM  |  LOCATION (not form — it stays the same kind of energy)</a:t>
            </a:r>
            <a:endParaRPr lang="en-US" sz="1200" dirty="0"/>
          </a:p>
        </p:txBody>
      </p:sp>
      <p:sp>
        <p:nvSpPr>
          <p:cNvPr id="17" name="Shape 15"/>
          <p:cNvSpPr/>
          <p:nvPr/>
        </p:nvSpPr>
        <p:spPr>
          <a:xfrm>
            <a:off x="365760" y="4681728"/>
            <a:ext cx="11247120" cy="1536192"/>
          </a:xfrm>
          <a:prstGeom prst="roundRect">
            <a:avLst>
              <a:gd name="adj" fmla="val 4762"/>
            </a:avLst>
          </a:prstGeom>
          <a:solidFill>
            <a:srgbClr val="1E2F45"/>
          </a:solidFill>
          <a:ln w="12700">
            <a:solidFill>
              <a:srgbClr val="2DC653"/>
            </a:solidFill>
            <a:prstDash val="solid"/>
          </a:ln>
        </p:spPr>
      </p:sp>
      <p:sp>
        <p:nvSpPr>
          <p:cNvPr id="18" name="Text 16"/>
          <p:cNvSpPr/>
          <p:nvPr/>
        </p:nvSpPr>
        <p:spPr>
          <a:xfrm>
            <a:off x="548640" y="4736592"/>
            <a:ext cx="10972800" cy="56692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Q3: A flashlight uses a battery but also produces heat. The heat is called ___ energy because it is not the ___ output.</a:t>
            </a:r>
            <a:endParaRPr lang="en-US" sz="1300" dirty="0"/>
          </a:p>
        </p:txBody>
      </p:sp>
      <p:sp>
        <p:nvSpPr>
          <p:cNvPr id="19" name="Shape 17"/>
          <p:cNvSpPr/>
          <p:nvPr/>
        </p:nvSpPr>
        <p:spPr>
          <a:xfrm>
            <a:off x="548640" y="5321808"/>
            <a:ext cx="10972800" cy="768096"/>
          </a:xfrm>
          <a:prstGeom prst="roundRect">
            <a:avLst>
              <a:gd name="adj" fmla="val 9524"/>
            </a:avLst>
          </a:prstGeom>
          <a:solidFill>
            <a:srgbClr val="0A1520"/>
          </a:solidFill>
          <a:ln w="12700">
            <a:solidFill>
              <a:srgbClr val="2DC653"/>
            </a:solidFill>
            <a:prstDash val="solid"/>
          </a:ln>
        </p:spPr>
      </p:sp>
      <p:sp>
        <p:nvSpPr>
          <p:cNvPr id="20" name="Text 18"/>
          <p:cNvSpPr/>
          <p:nvPr/>
        </p:nvSpPr>
        <p:spPr>
          <a:xfrm>
            <a:off x="685800" y="5376672"/>
            <a:ext cx="10698480" cy="65836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Answer: Wasted energy — because light is the useful output; heat was not the goal of the flashlight.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Lesson 22-01</a:t>
            </a:r>
            <a:endParaRPr lang="en-US" sz="1600" dirty="0"/>
          </a:p>
        </p:txBody>
      </p:sp>
      <p:sp>
        <p:nvSpPr>
          <p:cNvPr id="5" name="Shape 3"/>
          <p:cNvSpPr/>
          <p:nvPr/>
        </p:nvSpPr>
        <p:spPr>
          <a:xfrm>
            <a:off x="0" y="6629400"/>
            <a:ext cx="12192000" cy="228600"/>
          </a:xfrm>
          <a:prstGeom prst="rect">
            <a:avLst/>
          </a:prstGeom>
          <a:solidFill>
            <a:srgbClr val="162233"/>
          </a:solidFill>
          <a:ln/>
        </p:spPr>
      </p:sp>
      <p:sp>
        <p:nvSpPr>
          <p:cNvPr id="6" name="Text 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
        <p:nvSpPr>
          <p:cNvPr id="7" name="Shape 5"/>
          <p:cNvSpPr/>
          <p:nvPr/>
        </p:nvSpPr>
        <p:spPr>
          <a:xfrm>
            <a:off x="365760" y="749808"/>
            <a:ext cx="3429000" cy="5102352"/>
          </a:xfrm>
          <a:prstGeom prst="roundRect">
            <a:avLst>
              <a:gd name="adj" fmla="val 2133"/>
            </a:avLst>
          </a:prstGeom>
          <a:solidFill>
            <a:srgbClr val="1E2F45"/>
          </a:solidFill>
          <a:ln w="12700">
            <a:solidFill>
              <a:srgbClr val="4CC9F0"/>
            </a:solidFill>
            <a:prstDash val="solid"/>
          </a:ln>
        </p:spPr>
      </p:sp>
      <p:sp>
        <p:nvSpPr>
          <p:cNvPr id="8" name="Text 6"/>
          <p:cNvSpPr/>
          <p:nvPr/>
        </p:nvSpPr>
        <p:spPr>
          <a:xfrm>
            <a:off x="548640" y="804672"/>
            <a:ext cx="310896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Part A — Word Bank</a:t>
            </a:r>
            <a:endParaRPr lang="en-US" sz="1200" dirty="0"/>
          </a:p>
        </p:txBody>
      </p:sp>
      <p:sp>
        <p:nvSpPr>
          <p:cNvPr id="9" name="Text 7"/>
          <p:cNvSpPr/>
          <p:nvPr/>
        </p:nvSpPr>
        <p:spPr>
          <a:xfrm>
            <a:off x="548640" y="1152144"/>
            <a:ext cx="3108960" cy="347472"/>
          </a:xfrm>
          <a:prstGeom prst="rect">
            <a:avLst/>
          </a:prstGeom>
          <a:noFill/>
          <a:ln/>
        </p:spPr>
        <p:txBody>
          <a:bodyPr wrap="square" rtlCol="0" anchor="ctr"/>
          <a:lstStyle/>
          <a:p>
            <a:pPr indent="0" marL="0">
              <a:buNone/>
            </a:pPr>
            <a:r>
              <a:rPr lang="en-US" sz="950" i="1" dirty="0">
                <a:solidFill>
                  <a:srgbClr val="B0C4D8"/>
                </a:solidFill>
                <a:latin typeface="Calibri" pitchFamily="34" charset="0"/>
                <a:ea typeface="Calibri" pitchFamily="34" charset="-122"/>
                <a:cs typeface="Calibri" pitchFamily="34" charset="-120"/>
              </a:rPr>
              <a:t>Word bank: Input energy  Output energy  Transformation  Device</a:t>
            </a:r>
            <a:endParaRPr lang="en-US" sz="950" dirty="0"/>
          </a:p>
        </p:txBody>
      </p:sp>
      <p:sp>
        <p:nvSpPr>
          <p:cNvPr id="10" name="Text 8"/>
          <p:cNvSpPr/>
          <p:nvPr/>
        </p:nvSpPr>
        <p:spPr>
          <a:xfrm>
            <a:off x="548640" y="1554480"/>
            <a:ext cx="3108960" cy="9144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1. What goes INTO a device — the starting energy</a:t>
            </a:r>
            <a:endParaRPr lang="en-US" sz="1100" dirty="0"/>
          </a:p>
        </p:txBody>
      </p:sp>
      <p:sp>
        <p:nvSpPr>
          <p:cNvPr id="11" name="Text 9"/>
          <p:cNvSpPr/>
          <p:nvPr/>
        </p:nvSpPr>
        <p:spPr>
          <a:xfrm>
            <a:off x="548640" y="2578608"/>
            <a:ext cx="3108960" cy="9144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2. What comes OUT of a device — the ending energy</a:t>
            </a:r>
            <a:endParaRPr lang="en-US" sz="1100" dirty="0"/>
          </a:p>
        </p:txBody>
      </p:sp>
      <p:sp>
        <p:nvSpPr>
          <p:cNvPr id="12" name="Text 10"/>
          <p:cNvSpPr/>
          <p:nvPr/>
        </p:nvSpPr>
        <p:spPr>
          <a:xfrm>
            <a:off x="548640" y="3602736"/>
            <a:ext cx="3108960" cy="9144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3. When energy changes from one form into another</a:t>
            </a:r>
            <a:endParaRPr lang="en-US" sz="1100" dirty="0"/>
          </a:p>
        </p:txBody>
      </p:sp>
      <p:sp>
        <p:nvSpPr>
          <p:cNvPr id="13" name="Text 11"/>
          <p:cNvSpPr/>
          <p:nvPr/>
        </p:nvSpPr>
        <p:spPr>
          <a:xfrm>
            <a:off x="548640" y="4626864"/>
            <a:ext cx="3108960" cy="9144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4. A tool or machine designed to convert energy</a:t>
            </a:r>
            <a:endParaRPr lang="en-US" sz="1100" dirty="0"/>
          </a:p>
        </p:txBody>
      </p:sp>
      <p:sp>
        <p:nvSpPr>
          <p:cNvPr id="14" name="Shape 12"/>
          <p:cNvSpPr/>
          <p:nvPr/>
        </p:nvSpPr>
        <p:spPr>
          <a:xfrm>
            <a:off x="4069080" y="749808"/>
            <a:ext cx="4023360" cy="5102352"/>
          </a:xfrm>
          <a:prstGeom prst="roundRect">
            <a:avLst>
              <a:gd name="adj" fmla="val 1818"/>
            </a:avLst>
          </a:prstGeom>
          <a:solidFill>
            <a:srgbClr val="1E2F45"/>
          </a:solidFill>
          <a:ln w="12700">
            <a:solidFill>
              <a:srgbClr val="FFB703"/>
            </a:solidFill>
            <a:prstDash val="solid"/>
          </a:ln>
        </p:spPr>
      </p:sp>
      <p:sp>
        <p:nvSpPr>
          <p:cNvPr id="15" name="Text 13"/>
          <p:cNvSpPr/>
          <p:nvPr/>
        </p:nvSpPr>
        <p:spPr>
          <a:xfrm>
            <a:off x="4251960" y="804672"/>
            <a:ext cx="36576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B — Short Answer</a:t>
            </a:r>
            <a:endParaRPr lang="en-US" sz="1200" dirty="0"/>
          </a:p>
        </p:txBody>
      </p:sp>
      <p:sp>
        <p:nvSpPr>
          <p:cNvPr id="16" name="Text 14"/>
          <p:cNvSpPr/>
          <p:nvPr/>
        </p:nvSpPr>
        <p:spPr>
          <a:xfrm>
            <a:off x="4251960" y="1188720"/>
            <a:ext cx="3657600" cy="141732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Q5: Pick ONE conversion (solar panel, gas car, wind turbine, or toaster). Write INPUT, OUTPUT, and one extra energy form.</a:t>
            </a:r>
            <a:endParaRPr lang="en-US" sz="1100" dirty="0"/>
          </a:p>
        </p:txBody>
      </p:sp>
      <p:sp>
        <p:nvSpPr>
          <p:cNvPr id="17" name="Text 15"/>
          <p:cNvSpPr/>
          <p:nvPr/>
        </p:nvSpPr>
        <p:spPr>
          <a:xfrm>
            <a:off x="4251960" y="2697480"/>
            <a:ext cx="3657600" cy="141732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Q6: Explain TRANSFER vs. TRANSFORMATION. Give one example of each.</a:t>
            </a:r>
            <a:endParaRPr lang="en-US" sz="1100" dirty="0"/>
          </a:p>
        </p:txBody>
      </p:sp>
      <p:sp>
        <p:nvSpPr>
          <p:cNvPr id="18" name="Text 16"/>
          <p:cNvSpPr/>
          <p:nvPr/>
        </p:nvSpPr>
        <p:spPr>
          <a:xfrm>
            <a:off x="4251960" y="4206240"/>
            <a:ext cx="3657600" cy="141732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Q7: Why is no device 100% efficient? Where does extra energy go? Use the word useful.</a:t>
            </a:r>
            <a:endParaRPr lang="en-US" sz="1100" dirty="0"/>
          </a:p>
        </p:txBody>
      </p:sp>
      <p:sp>
        <p:nvSpPr>
          <p:cNvPr id="19" name="Shape 17"/>
          <p:cNvSpPr/>
          <p:nvPr/>
        </p:nvSpPr>
        <p:spPr>
          <a:xfrm>
            <a:off x="8321040" y="749808"/>
            <a:ext cx="3749040" cy="2423160"/>
          </a:xfrm>
          <a:prstGeom prst="roundRect">
            <a:avLst>
              <a:gd name="adj" fmla="val 3019"/>
            </a:avLst>
          </a:prstGeom>
          <a:solidFill>
            <a:srgbClr val="1E2F45"/>
          </a:solidFill>
          <a:ln w="12700">
            <a:solidFill>
              <a:srgbClr val="2DC653"/>
            </a:solidFill>
            <a:prstDash val="solid"/>
          </a:ln>
        </p:spPr>
      </p:sp>
      <p:sp>
        <p:nvSpPr>
          <p:cNvPr id="20" name="Text 18"/>
          <p:cNvSpPr/>
          <p:nvPr/>
        </p:nvSpPr>
        <p:spPr>
          <a:xfrm>
            <a:off x="8503920" y="804672"/>
            <a:ext cx="3383280" cy="310896"/>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C — Energy Diagram</a:t>
            </a:r>
            <a:endParaRPr lang="en-US" sz="1200" dirty="0"/>
          </a:p>
        </p:txBody>
      </p:sp>
      <p:sp>
        <p:nvSpPr>
          <p:cNvPr id="21" name="Text 19"/>
          <p:cNvSpPr/>
          <p:nvPr/>
        </p:nvSpPr>
        <p:spPr>
          <a:xfrm>
            <a:off x="8503920" y="1170432"/>
            <a:ext cx="3383280" cy="17373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Draw INPUT then CONVERSION then OUTPUT. Add a wasted-energy arrow. Write a conversion statement below your diagram.</a:t>
            </a:r>
            <a:endParaRPr lang="en-US" sz="1100" dirty="0"/>
          </a:p>
        </p:txBody>
      </p:sp>
      <p:sp>
        <p:nvSpPr>
          <p:cNvPr id="22" name="Shape 20"/>
          <p:cNvSpPr/>
          <p:nvPr/>
        </p:nvSpPr>
        <p:spPr>
          <a:xfrm>
            <a:off x="8321040" y="3310128"/>
            <a:ext cx="3749040" cy="2542032"/>
          </a:xfrm>
          <a:prstGeom prst="roundRect">
            <a:avLst>
              <a:gd name="adj" fmla="val 2878"/>
            </a:avLst>
          </a:prstGeom>
          <a:solidFill>
            <a:srgbClr val="1E2F45"/>
          </a:solidFill>
          <a:ln w="12700">
            <a:solidFill>
              <a:srgbClr val="F4736A"/>
            </a:solidFill>
            <a:prstDash val="solid"/>
          </a:ln>
        </p:spPr>
      </p:sp>
      <p:sp>
        <p:nvSpPr>
          <p:cNvPr id="23" name="Text 21"/>
          <p:cNvSpPr/>
          <p:nvPr/>
        </p:nvSpPr>
        <p:spPr>
          <a:xfrm>
            <a:off x="8503920" y="3364992"/>
            <a:ext cx="3383280" cy="310896"/>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Evidence Response</a:t>
            </a:r>
            <a:endParaRPr lang="en-US" sz="1200" dirty="0"/>
          </a:p>
        </p:txBody>
      </p:sp>
      <p:sp>
        <p:nvSpPr>
          <p:cNvPr id="24" name="Text 22"/>
          <p:cNvSpPr/>
          <p:nvPr/>
        </p:nvSpPr>
        <p:spPr>
          <a:xfrm>
            <a:off x="8503920" y="3730752"/>
            <a:ext cx="3383280" cy="201168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A classmate says a toaster CREATES heat. Write a short argument — agree or disagree — using Claim, Evidence, Reasoning.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energy change from one form into a totally different form?"</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Completed science notebook — device map with input, output, and wasted energy arrow</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Variable identification for your device (independent, dependent, controlled)</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Assignment: Parts A, B, C, and Evidence Response</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Updated prediction from Slide 3 — what changed your thinking?</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22-02 — Energy Sources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Where does our energy come from? Natural resources, renewable vs. non-renewable, and Florida's energy choices.</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22-01  ·  Energy Conversion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2026-07-13T20:56:12Z</dcterms:created>
  <dcterms:modified xsi:type="dcterms:W3CDTF">2026-07-13T20:56:12Z</dcterms:modified>
</cp:coreProperties>
</file>