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16 — This is the tradeoff lesson. Students have the vocabulary from 15.01-15.02. Today they apply a three-part framework: benefit + environmental cost + protection strategy. CER will focus on arguing a position on a tradeoff.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Have students pair-share their GAINED/USED UP lists. Cold call 3-4 students. The insight: EVERY choice involves a tradeoff. Even turning on a light switch: you gained light, used electricity (which might come from a coal plant). Today we'll learn the scientific names for these two sides — and a third thing: how we can lower the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predictions before revealing the three-part framework. Compare student predictions to the actual framework. Ask: was your 'lower the cost' idea a protection strategy? Often students will get the general idea right with different words — validate their thinking, then introduce the scientific terminology."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Have students write the benefit and environmental cost in their own words first, THEN check against the vocab definition. Key: 'environmental cost' is not just "it's bad" — it has to describe specifically WHAT the environment loses. Push for specific language: air pollution, lost habitat, water contamination."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there are FOUR types of protection strategies — not just one. Ask students: which type was used for the limestone example? (Restoration — Florida requires mined land to be restored.) Which type is hardest to enforce? (Rules &amp; laws need community agreement.) Which is most within an individual's control? (Conservation.)"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Point to each pan of the scale. Ask students to name what goes in each pan for a DIFFERENT resource (not limestone). Then ask: what protection strategy shifts the balance? Key insight: the strategy doesn't remove the cost — it SHIFTS THE BALANCE so the tradeoff becomes more acceptable."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going through all four, ask: 'Pick two of the four tradeoffs. Compare their protection strategies — which one is easier to do? Which might have the biggest effect?' The solar farm example is particularly interesting: the benefit is clean energy, but the cost is land use — and the protection strategy (build on already-disturbed land) is clever engineering thinking."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 parks story is genuinely amazing — it shows that environmental costs CAN be partially reversed with the right protection strategy. Ask: 'What does it take to turn a mine into a state park? Who has to decide to do that? Who pays for it?' This connects to the idea that resource tradeoffs are decided by communities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during Step 4 — 'This strategy works because…' is the reasoning step. Many students will name a strategy without explaining WHY it lowers the cost. Push: 'Drip irrigation saves water — but WHY? Because it delivers water directly to roots instead of spraying everywhere, so less water evaporates.' That's the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notice the CER acknowledges BOTH SIDES before taking a position. The reasoning doesn't ignore the environmental cost — it explains why the benefit outweighs it AND why the protection strategy makes the tradeoff acceptable. This is the level of nuance we want in Week 16 CERs."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open-ended question with no single right answer. Strong arguments: FOR the ban (environmental benefit, renewable future) AND AGAINST the ban (economic cost, not enough electric car infrastructure yet). The rubric should reward: acknowledging both sides + using the three-part framework + explaining WHY the chosen position is supported by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Q3 is the most important: BOTH cities have environmental costs — neither is zero. City B's cost is land use, not zero. This corrects the renewable = perfect misconception from 15.01 and reinforces it with a concrete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Argument is where students apply the most nuanced thinking: 'All renewable = good, all nonrenewable = bad' is FALSE (solar has land costs; phosphate provides food). The strong answer explains WHY renewable tends to have smaller costs on average while acknowledging that no resource is cost-free."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'In 2 sentences, name the benefit AND environmental cost of ONE Florida resource use.' Quick check that students can apply the framework before the engineering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facilitation: 'Which type of protection strategy is most within an individual's control?' (Conservation — anyone can use less water or energy.) 'Which type requires the most community agreement?' (Rules &amp; laws — need legislation, votes, enforcement.) "Which type reverses damage that's already happened?" (Restoration.) These distinctions help students understand that protection strategies work at different scales."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detailed tradeoff analysis in the lesson. Ask: 'Looking at all three columns — is this tradeoff worth it? What would it take to make you say yes?' Encourage students to weigh the benefits vs. the costs explicitly. Key: the protection strategies make the tradeoff MORE worth it. Without them, the balance might tip the other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"you'll be part of these decisions someday" point is genuine — current 4th graders will be voters and workers in 2034+, when major resource decisions about Florida's energy future will be made. Ask: 'What role would you want to play in a resource decision — scientist, engineer, resident, official?' All are valid and all are necessary."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connects everything: every item on this slide is a tradeoff being actively managed with protection strategies. Ask: 'Which of these four areas do you think is most urgent for Florida? Why?' There's no wrong answer — but push for evidence-based reasoning that connects to what they've learned about benefits, costs, and protection strategies."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to review. Strong CERs here will: (1) take a clear position, (2) acknowledge both sides, (3) reference the three-part framework, (4) explain why the chosen position is supported by more/stronger evidence than the other side. Week 16 rigor means we're not looking for just 'agree/disagree' but a nuanced argument that shows the student understands tradeoffs."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Assignment alignment: this CER is higher-rigor because it requires taking a position and defending it. There is no single correct answer — strong responses argue coherently using specific tradeoff language. Watch for vague evidence. Push students to name the specific environmental cost (habitat loss, water contamination) not just say it is bad.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CC9F0"/>
          </a:solidFill>
          <a:ln/>
        </p:spPr>
      </p:sp>
      <p:sp>
        <p:nvSpPr>
          <p:cNvPr id="3" name="Text 1"/>
          <p:cNvSpPr/>
          <p:nvPr/>
        </p:nvSpPr>
        <p:spPr>
          <a:xfrm>
            <a:off x="548640" y="685800"/>
            <a:ext cx="8503920" cy="1463040"/>
          </a:xfrm>
          <a:prstGeom prst="rect">
            <a:avLst/>
          </a:prstGeom>
          <a:noFill/>
          <a:ln/>
        </p:spPr>
        <p:txBody>
          <a:bodyPr wrap="square" rtlCol="0" anchor="ctr"/>
          <a:lstStyle/>
          <a:p>
            <a:pPr algn="l" indent="0" marL="0">
              <a:buNone/>
            </a:pPr>
            <a:r>
              <a:rPr lang="en-US" sz="4600" b="1" dirty="0">
                <a:solidFill>
                  <a:srgbClr val="FFFFFF"/>
                </a:solidFill>
                <a:latin typeface="Calibri" pitchFamily="34" charset="0"/>
                <a:ea typeface="Calibri" pitchFamily="34" charset="-122"/>
                <a:cs typeface="Calibri" pitchFamily="34" charset="-120"/>
              </a:rPr>
              <a:t>Modern Resources &amp; Environmental Choices</a:t>
            </a:r>
            <a:endParaRPr lang="en-US" sz="4600" dirty="0"/>
          </a:p>
        </p:txBody>
      </p:sp>
      <p:sp>
        <p:nvSpPr>
          <p:cNvPr id="4" name="Text 2"/>
          <p:cNvSpPr/>
          <p:nvPr/>
        </p:nvSpPr>
        <p:spPr>
          <a:xfrm>
            <a:off x="548640" y="2084832"/>
            <a:ext cx="8503920" cy="347472"/>
          </a:xfrm>
          <a:prstGeom prst="rect">
            <a:avLst/>
          </a:prstGeom>
          <a:noFill/>
          <a:ln/>
        </p:spPr>
        <p:txBody>
          <a:bodyPr wrap="square" rtlCol="0" anchor="ctr"/>
          <a:lstStyle/>
          <a:p>
            <a:pPr algn="l" indent="0" marL="0">
              <a:buNone/>
            </a:pPr>
            <a:r>
              <a:rPr lang="en-US" sz="1300" dirty="0">
                <a:solidFill>
                  <a:srgbClr val="4CC9F0"/>
                </a:solidFill>
                <a:latin typeface="Calibri" pitchFamily="34" charset="0"/>
                <a:ea typeface="Calibri" pitchFamily="34" charset="-122"/>
                <a:cs typeface="Calibri" pitchFamily="34" charset="-120"/>
              </a:rPr>
              <a:t>When We Use a Resource — How Do We Balance What We GAIN Against What We LOSE?</a:t>
            </a:r>
            <a:endParaRPr lang="en-US" sz="1300" dirty="0"/>
          </a:p>
        </p:txBody>
      </p:sp>
      <p:sp>
        <p:nvSpPr>
          <p:cNvPr id="5" name="Shape 3"/>
          <p:cNvSpPr/>
          <p:nvPr/>
        </p:nvSpPr>
        <p:spPr>
          <a:xfrm>
            <a:off x="548640" y="2487168"/>
            <a:ext cx="4937760" cy="475488"/>
          </a:xfrm>
          <a:prstGeom prst="roundRect">
            <a:avLst>
              <a:gd name="adj" fmla="val 15385"/>
            </a:avLst>
          </a:prstGeom>
          <a:solidFill>
            <a:srgbClr val="1E2F45"/>
          </a:solidFill>
          <a:ln w="12700">
            <a:solidFill>
              <a:srgbClr val="4CC9F0"/>
            </a:solidFill>
            <a:prstDash val="solid"/>
          </a:ln>
        </p:spPr>
      </p:sp>
      <p:sp>
        <p:nvSpPr>
          <p:cNvPr id="6" name="Text 4"/>
          <p:cNvSpPr/>
          <p:nvPr/>
        </p:nvSpPr>
        <p:spPr>
          <a:xfrm>
            <a:off x="685800" y="2487168"/>
            <a:ext cx="4754880" cy="475488"/>
          </a:xfrm>
          <a:prstGeom prst="rect">
            <a:avLst/>
          </a:prstGeom>
          <a:noFill/>
          <a:ln/>
        </p:spPr>
        <p:txBody>
          <a:bodyPr wrap="square" rtlCol="0" anchor="ctr"/>
          <a:lstStyle/>
          <a:p>
            <a:pPr algn="l" indent="0" marL="0">
              <a:buNone/>
            </a:pPr>
            <a:r>
              <a:rPr lang="en-US" sz="1150" dirty="0">
                <a:solidFill>
                  <a:srgbClr val="B0C4D8"/>
                </a:solidFill>
                <a:latin typeface="Calibri" pitchFamily="34" charset="0"/>
                <a:ea typeface="Calibri" pitchFamily="34" charset="-122"/>
                <a:cs typeface="Calibri" pitchFamily="34" charset="-120"/>
              </a:rPr>
              <a:t>📋  4-ESS3-1 — Benefit, environmental cost, and protection strategies for Florida resources</a:t>
            </a:r>
            <a:endParaRPr lang="en-US" sz="1150" dirty="0"/>
          </a:p>
        </p:txBody>
      </p:sp>
      <p:sp>
        <p:nvSpPr>
          <p:cNvPr id="7" name="Shape 5"/>
          <p:cNvSpPr/>
          <p:nvPr/>
        </p:nvSpPr>
        <p:spPr>
          <a:xfrm>
            <a:off x="9235440" y="411480"/>
            <a:ext cx="2651760" cy="2651760"/>
          </a:xfrm>
          <a:prstGeom prst="ellipse">
            <a:avLst/>
          </a:prstGeom>
          <a:solidFill>
            <a:srgbClr val="162233"/>
          </a:solidFill>
          <a:ln w="25400">
            <a:solidFill>
              <a:srgbClr val="4CC9F0"/>
            </a:solidFill>
            <a:prstDash val="solid"/>
          </a:ln>
        </p:spPr>
      </p:sp>
      <p:sp>
        <p:nvSpPr>
          <p:cNvPr id="8" name="Text 6"/>
          <p:cNvSpPr/>
          <p:nvPr/>
        </p:nvSpPr>
        <p:spPr>
          <a:xfrm>
            <a:off x="9326880" y="1005840"/>
            <a:ext cx="2468880" cy="1463040"/>
          </a:xfrm>
          <a:prstGeom prst="rect">
            <a:avLst/>
          </a:prstGeom>
          <a:noFill/>
          <a:ln/>
        </p:spPr>
        <p:txBody>
          <a:bodyPr wrap="square" rtlCol="0" anchor="ctr"/>
          <a:lstStyle/>
          <a:p>
            <a:pPr algn="ctr" indent="0" marL="0">
              <a:buNone/>
            </a:pPr>
            <a:r>
              <a:rPr lang="en-US" sz="6800" dirty="0">
                <a:solidFill>
                  <a:srgbClr val="000000"/>
                </a:solidFill>
              </a:rPr>
              <a:t>🔬</a:t>
            </a:r>
            <a:endParaRPr lang="en-US" sz="6800" dirty="0"/>
          </a:p>
        </p:txBody>
      </p:sp>
      <p:sp>
        <p:nvSpPr>
          <p:cNvPr id="9" name="Shape 7"/>
          <p:cNvSpPr/>
          <p:nvPr/>
        </p:nvSpPr>
        <p:spPr>
          <a:xfrm>
            <a:off x="548640" y="3127248"/>
            <a:ext cx="7406640" cy="1645920"/>
          </a:xfrm>
          <a:prstGeom prst="roundRect">
            <a:avLst>
              <a:gd name="adj" fmla="val 4444"/>
            </a:avLst>
          </a:prstGeom>
          <a:solidFill>
            <a:srgbClr val="1E2F45"/>
          </a:solidFill>
          <a:ln w="12700">
            <a:solidFill>
              <a:srgbClr val="243A52"/>
            </a:solidFill>
            <a:prstDash val="solid"/>
          </a:ln>
        </p:spPr>
      </p:sp>
      <p:sp>
        <p:nvSpPr>
          <p:cNvPr id="10" name="Text 8"/>
          <p:cNvSpPr/>
          <p:nvPr/>
        </p:nvSpPr>
        <p:spPr>
          <a:xfrm>
            <a:off x="685800" y="3182112"/>
            <a:ext cx="7132320" cy="310896"/>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Today's Learning Goals</a:t>
            </a:r>
            <a:endParaRPr lang="en-US" sz="1100" dirty="0"/>
          </a:p>
        </p:txBody>
      </p:sp>
      <p:sp>
        <p:nvSpPr>
          <p:cNvPr id="11" name="Text 9"/>
          <p:cNvSpPr/>
          <p:nvPr/>
        </p:nvSpPr>
        <p:spPr>
          <a:xfrm>
            <a:off x="777240" y="3529584"/>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Name the benefit AND the environmental cost of using a resource</a:t>
            </a:r>
            <a:endParaRPr lang="en-US" sz="1100" dirty="0"/>
          </a:p>
        </p:txBody>
      </p:sp>
      <p:sp>
        <p:nvSpPr>
          <p:cNvPr id="12" name="Text 10"/>
          <p:cNvSpPr/>
          <p:nvPr/>
        </p:nvSpPr>
        <p:spPr>
          <a:xfrm>
            <a:off x="777240" y="3867912"/>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Describe one protection strategy people use to reduce environmental cost</a:t>
            </a:r>
            <a:endParaRPr lang="en-US" sz="1100" dirty="0"/>
          </a:p>
        </p:txBody>
      </p:sp>
      <p:sp>
        <p:nvSpPr>
          <p:cNvPr id="13" name="Text 11"/>
          <p:cNvSpPr/>
          <p:nvPr/>
        </p:nvSpPr>
        <p:spPr>
          <a:xfrm>
            <a:off x="777240" y="4206240"/>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Use evidence to argue whether a tradeoff is worth it</a:t>
            </a:r>
            <a:endParaRPr lang="en-US" sz="1100" dirty="0"/>
          </a:p>
        </p:txBody>
      </p:sp>
      <p:sp>
        <p:nvSpPr>
          <p:cNvPr id="14" name="Text 12"/>
          <p:cNvSpPr/>
          <p:nvPr/>
        </p:nvSpPr>
        <p:spPr>
          <a:xfrm>
            <a:off x="548640" y="4956048"/>
            <a:ext cx="9144000" cy="29260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You'll need: Science notebook   Colored pencils</a:t>
            </a:r>
            <a:endParaRPr lang="en-US" sz="1100" dirty="0"/>
          </a:p>
        </p:txBody>
      </p:sp>
      <p:sp>
        <p:nvSpPr>
          <p:cNvPr id="15" name="Shape 13"/>
          <p:cNvSpPr/>
          <p:nvPr/>
        </p:nvSpPr>
        <p:spPr>
          <a:xfrm>
            <a:off x="0" y="6629400"/>
            <a:ext cx="12192000" cy="228600"/>
          </a:xfrm>
          <a:prstGeom prst="rect">
            <a:avLst/>
          </a:prstGeom>
          <a:solidFill>
            <a:srgbClr val="162233"/>
          </a:solidFill>
          <a:ln/>
        </p:spPr>
      </p:sp>
      <p:sp>
        <p:nvSpPr>
          <p:cNvPr id="16" name="Text 1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16.01  ·  Modern Resources &amp; Environmental Choices</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Warm-Up: What Did You Trade?</a:t>
            </a:r>
            <a:endParaRPr lang="en-US" sz="1600" dirty="0"/>
          </a:p>
        </p:txBody>
      </p:sp>
      <p:sp>
        <p:nvSpPr>
          <p:cNvPr id="5" name="Shape 3"/>
          <p:cNvSpPr/>
          <p:nvPr/>
        </p:nvSpPr>
        <p:spPr>
          <a:xfrm>
            <a:off x="365760" y="749808"/>
            <a:ext cx="11247120" cy="877824"/>
          </a:xfrm>
          <a:prstGeom prst="roundRect">
            <a:avLst>
              <a:gd name="adj" fmla="val 8333"/>
            </a:avLst>
          </a:prstGeom>
          <a:solidFill>
            <a:srgbClr val="1E2F45"/>
          </a:solidFill>
          <a:ln w="12700">
            <a:solidFill>
              <a:srgbClr val="FFB703"/>
            </a:solidFill>
            <a:prstDash val="solid"/>
          </a:ln>
        </p:spPr>
      </p:sp>
      <p:sp>
        <p:nvSpPr>
          <p:cNvPr id="6" name="Text 4"/>
          <p:cNvSpPr/>
          <p:nvPr/>
        </p:nvSpPr>
        <p:spPr>
          <a:xfrm>
            <a:off x="548640" y="822960"/>
            <a:ext cx="10972800" cy="65836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Think about ONE thing you used this morning — light, breakfast, toothbrush, car ride.</a:t>
            </a:r>
            <a:endParaRPr lang="en-US" sz="1300" dirty="0"/>
          </a:p>
        </p:txBody>
      </p:sp>
      <p:sp>
        <p:nvSpPr>
          <p:cNvPr id="7" name="Shape 5"/>
          <p:cNvSpPr/>
          <p:nvPr/>
        </p:nvSpPr>
        <p:spPr>
          <a:xfrm>
            <a:off x="365760" y="1737360"/>
            <a:ext cx="5394960" cy="2450592"/>
          </a:xfrm>
          <a:prstGeom prst="roundRect">
            <a:avLst>
              <a:gd name="adj" fmla="val 2985"/>
            </a:avLst>
          </a:prstGeom>
          <a:solidFill>
            <a:srgbClr val="1E2F45"/>
          </a:solidFill>
          <a:ln w="12700">
            <a:solidFill>
              <a:srgbClr val="2DC653"/>
            </a:solidFill>
            <a:prstDash val="solid"/>
          </a:ln>
        </p:spPr>
      </p:sp>
      <p:sp>
        <p:nvSpPr>
          <p:cNvPr id="8" name="Text 6"/>
          <p:cNvSpPr/>
          <p:nvPr/>
        </p:nvSpPr>
        <p:spPr>
          <a:xfrm>
            <a:off x="548640" y="1810512"/>
            <a:ext cx="5029200" cy="384048"/>
          </a:xfrm>
          <a:prstGeom prst="rect">
            <a:avLst/>
          </a:prstGeom>
          <a:noFill/>
          <a:ln/>
        </p:spPr>
        <p:txBody>
          <a:bodyPr wrap="square" rtlCol="0" anchor="ctr"/>
          <a:lstStyle/>
          <a:p>
            <a:pPr indent="0" marL="0">
              <a:buNone/>
            </a:pPr>
            <a:r>
              <a:rPr lang="en-US" sz="1500" b="1" dirty="0">
                <a:solidFill>
                  <a:srgbClr val="2DC653"/>
                </a:solidFill>
                <a:latin typeface="Calibri" pitchFamily="34" charset="0"/>
                <a:ea typeface="Calibri" pitchFamily="34" charset="-122"/>
                <a:cs typeface="Calibri" pitchFamily="34" charset="-120"/>
              </a:rPr>
              <a:t>GAINED ✅</a:t>
            </a:r>
            <a:endParaRPr lang="en-US" sz="1500" dirty="0"/>
          </a:p>
        </p:txBody>
      </p:sp>
      <p:sp>
        <p:nvSpPr>
          <p:cNvPr id="9" name="Text 7"/>
          <p:cNvSpPr/>
          <p:nvPr/>
        </p:nvSpPr>
        <p:spPr>
          <a:xfrm>
            <a:off x="548640" y="2231136"/>
            <a:ext cx="5029200" cy="1810512"/>
          </a:xfrm>
          <a:prstGeom prst="rect">
            <a:avLst/>
          </a:prstGeom>
          <a:noFill/>
          <a:ln/>
        </p:spPr>
        <p:txBody>
          <a:bodyPr wrap="square" rtlCol="0" anchor="ctr"/>
          <a:lstStyle/>
          <a:p>
            <a:pPr indent="0" marL="0">
              <a:buNone/>
            </a:pPr>
            <a:r>
              <a:rPr lang="en-US" sz="1300" dirty="0">
                <a:solidFill>
                  <a:srgbClr val="B0C4D8"/>
                </a:solidFill>
                <a:latin typeface="Calibri" pitchFamily="34" charset="0"/>
                <a:ea typeface="Calibri" pitchFamily="34" charset="-122"/>
                <a:cs typeface="Calibri" pitchFamily="34" charset="-120"/>
              </a:rPr>
              <a:t>What did you GET from this activity?</a:t>
            </a:r>
            <a:endParaRPr lang="en-US" sz="1300" dirty="0"/>
          </a:p>
          <a:p>
            <a:pPr indent="0" marL="0">
              <a:buNone/>
            </a:pPr>
            <a:r>
              <a:rPr lang="en-US" sz="1300" dirty="0">
                <a:solidFill>
                  <a:srgbClr val="B0C4D8"/>
                </a:solidFill>
                <a:latin typeface="Calibri" pitchFamily="34" charset="0"/>
                <a:ea typeface="Calibri" pitchFamily="34" charset="-122"/>
                <a:cs typeface="Calibri" pitchFamily="34" charset="-120"/>
              </a:rPr>
              <a:t>(Energy, food, cleanliness, convenience, warmth)</a:t>
            </a:r>
            <a:endParaRPr lang="en-US" sz="1300" dirty="0"/>
          </a:p>
        </p:txBody>
      </p:sp>
      <p:sp>
        <p:nvSpPr>
          <p:cNvPr id="10" name="Shape 8"/>
          <p:cNvSpPr/>
          <p:nvPr/>
        </p:nvSpPr>
        <p:spPr>
          <a:xfrm>
            <a:off x="6035040" y="1737360"/>
            <a:ext cx="5394960" cy="2450592"/>
          </a:xfrm>
          <a:prstGeom prst="roundRect">
            <a:avLst>
              <a:gd name="adj" fmla="val 2985"/>
            </a:avLst>
          </a:prstGeom>
          <a:solidFill>
            <a:srgbClr val="1E2F45"/>
          </a:solidFill>
          <a:ln w="12700">
            <a:solidFill>
              <a:srgbClr val="F4736A"/>
            </a:solidFill>
            <a:prstDash val="solid"/>
          </a:ln>
        </p:spPr>
      </p:sp>
      <p:sp>
        <p:nvSpPr>
          <p:cNvPr id="11" name="Text 9"/>
          <p:cNvSpPr/>
          <p:nvPr/>
        </p:nvSpPr>
        <p:spPr>
          <a:xfrm>
            <a:off x="6217920" y="1810512"/>
            <a:ext cx="5029200" cy="384048"/>
          </a:xfrm>
          <a:prstGeom prst="rect">
            <a:avLst/>
          </a:prstGeom>
          <a:noFill/>
          <a:ln/>
        </p:spPr>
        <p:txBody>
          <a:bodyPr wrap="square" rtlCol="0" anchor="ctr"/>
          <a:lstStyle/>
          <a:p>
            <a:pPr indent="0" marL="0">
              <a:buNone/>
            </a:pPr>
            <a:r>
              <a:rPr lang="en-US" sz="1500" b="1" dirty="0">
                <a:solidFill>
                  <a:srgbClr val="F4736A"/>
                </a:solidFill>
                <a:latin typeface="Calibri" pitchFamily="34" charset="0"/>
                <a:ea typeface="Calibri" pitchFamily="34" charset="-122"/>
                <a:cs typeface="Calibri" pitchFamily="34" charset="-120"/>
              </a:rPr>
              <a:t>USED UP ❌</a:t>
            </a:r>
            <a:endParaRPr lang="en-US" sz="1500" dirty="0"/>
          </a:p>
        </p:txBody>
      </p:sp>
      <p:sp>
        <p:nvSpPr>
          <p:cNvPr id="12" name="Text 10"/>
          <p:cNvSpPr/>
          <p:nvPr/>
        </p:nvSpPr>
        <p:spPr>
          <a:xfrm>
            <a:off x="6217920" y="2231136"/>
            <a:ext cx="5029200" cy="1810512"/>
          </a:xfrm>
          <a:prstGeom prst="rect">
            <a:avLst/>
          </a:prstGeom>
          <a:noFill/>
          <a:ln/>
        </p:spPr>
        <p:txBody>
          <a:bodyPr wrap="square" rtlCol="0" anchor="ctr"/>
          <a:lstStyle/>
          <a:p>
            <a:pPr indent="0" marL="0">
              <a:buNone/>
            </a:pPr>
            <a:r>
              <a:rPr lang="en-US" sz="1300" dirty="0">
                <a:solidFill>
                  <a:srgbClr val="B0C4D8"/>
                </a:solidFill>
                <a:latin typeface="Calibri" pitchFamily="34" charset="0"/>
                <a:ea typeface="Calibri" pitchFamily="34" charset="-122"/>
                <a:cs typeface="Calibri" pitchFamily="34" charset="-120"/>
              </a:rPr>
              <a:t>What did you USE UP or change?</a:t>
            </a:r>
            <a:endParaRPr lang="en-US" sz="1300" dirty="0"/>
          </a:p>
          <a:p>
            <a:pPr indent="0" marL="0">
              <a:buNone/>
            </a:pPr>
            <a:r>
              <a:rPr lang="en-US" sz="1300" dirty="0">
                <a:solidFill>
                  <a:srgbClr val="B0C4D8"/>
                </a:solidFill>
                <a:latin typeface="Calibri" pitchFamily="34" charset="0"/>
                <a:ea typeface="Calibri" pitchFamily="34" charset="-122"/>
                <a:cs typeface="Calibri" pitchFamily="34" charset="-120"/>
              </a:rPr>
              <a:t>(Energy, water, fuel, materials, time)</a:t>
            </a:r>
            <a:endParaRPr lang="en-US" sz="1300" dirty="0"/>
          </a:p>
        </p:txBody>
      </p:sp>
      <p:sp>
        <p:nvSpPr>
          <p:cNvPr id="13" name="Shape 11"/>
          <p:cNvSpPr/>
          <p:nvPr/>
        </p:nvSpPr>
        <p:spPr>
          <a:xfrm>
            <a:off x="365760" y="4297680"/>
            <a:ext cx="11247120" cy="347472"/>
          </a:xfrm>
          <a:prstGeom prst="roundRect">
            <a:avLst>
              <a:gd name="adj" fmla="val 23684"/>
            </a:avLst>
          </a:prstGeom>
          <a:solidFill>
            <a:srgbClr val="E09200"/>
          </a:solidFill>
          <a:ln w="19050">
            <a:solidFill>
              <a:srgbClr val="FFB703"/>
            </a:solidFill>
            <a:prstDash val="solid"/>
          </a:ln>
        </p:spPr>
      </p:sp>
      <p:sp>
        <p:nvSpPr>
          <p:cNvPr id="14" name="Text 12"/>
          <p:cNvSpPr/>
          <p:nvPr/>
        </p:nvSpPr>
        <p:spPr>
          <a:xfrm>
            <a:off x="365760" y="4297680"/>
            <a:ext cx="11247120"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Notice &amp; Wonder</a:t>
            </a:r>
            <a:endParaRPr lang="en-US" sz="1200" dirty="0"/>
          </a:p>
        </p:txBody>
      </p:sp>
      <p:sp>
        <p:nvSpPr>
          <p:cNvPr id="15" name="Shape 13"/>
          <p:cNvSpPr/>
          <p:nvPr/>
        </p:nvSpPr>
        <p:spPr>
          <a:xfrm>
            <a:off x="365760" y="4700016"/>
            <a:ext cx="11247120" cy="950976"/>
          </a:xfrm>
          <a:prstGeom prst="roundRect">
            <a:avLst>
              <a:gd name="adj" fmla="val 7692"/>
            </a:avLst>
          </a:prstGeom>
          <a:solidFill>
            <a:srgbClr val="162233"/>
          </a:solidFill>
          <a:ln w="12700">
            <a:solidFill>
              <a:srgbClr val="FFB703"/>
            </a:solidFill>
            <a:prstDash val="solid"/>
          </a:ln>
        </p:spPr>
      </p:sp>
      <p:sp>
        <p:nvSpPr>
          <p:cNvPr id="16" name="Text 14"/>
          <p:cNvSpPr/>
          <p:nvPr/>
        </p:nvSpPr>
        <p:spPr>
          <a:xfrm>
            <a:off x="548640" y="4773168"/>
            <a:ext cx="10972800" cy="749808"/>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"Every choice you made today involved BOTH sides — something you GAINED and something you USED UP. Most decisions about resources work the same way."</a:t>
            </a:r>
            <a:endParaRPr lang="en-US" sz="1200" dirty="0"/>
          </a:p>
        </p:txBody>
      </p:sp>
      <p:sp>
        <p:nvSpPr>
          <p:cNvPr id="17" name="Shape 15"/>
          <p:cNvSpPr/>
          <p:nvPr/>
        </p:nvSpPr>
        <p:spPr>
          <a:xfrm>
            <a:off x="0" y="6629400"/>
            <a:ext cx="12192000" cy="228600"/>
          </a:xfrm>
          <a:prstGeom prst="rect">
            <a:avLst/>
          </a:prstGeom>
          <a:solidFill>
            <a:srgbClr val="162233"/>
          </a:solidFill>
          <a:ln/>
        </p:spPr>
      </p:sp>
      <p:sp>
        <p:nvSpPr>
          <p:cNvPr id="18" name="Text 1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16.01  ·  Modern Resources &amp; Environmental Choices</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Evidence-Based Prediction — The Three-Part Framework</a:t>
            </a:r>
            <a:endParaRPr lang="en-US" sz="1600" dirty="0"/>
          </a:p>
        </p:txBody>
      </p:sp>
      <p:sp>
        <p:nvSpPr>
          <p:cNvPr id="5" name="Shape 3"/>
          <p:cNvSpPr/>
          <p:nvPr/>
        </p:nvSpPr>
        <p:spPr>
          <a:xfrm>
            <a:off x="365760" y="749808"/>
            <a:ext cx="11247120" cy="658368"/>
          </a:xfrm>
          <a:prstGeom prst="roundRect">
            <a:avLst>
              <a:gd name="adj" fmla="val 11111"/>
            </a:avLst>
          </a:prstGeom>
          <a:solidFill>
            <a:srgbClr val="162233"/>
          </a:solidFill>
          <a:ln w="12700">
            <a:solidFill>
              <a:srgbClr val="4CC9F0"/>
            </a:solidFill>
            <a:prstDash val="solid"/>
          </a:ln>
        </p:spPr>
      </p:sp>
      <p:sp>
        <p:nvSpPr>
          <p:cNvPr id="6" name="Text 4"/>
          <p:cNvSpPr/>
          <p:nvPr/>
        </p:nvSpPr>
        <p:spPr>
          <a:xfrm>
            <a:off x="548640" y="822960"/>
            <a:ext cx="10972800" cy="512064"/>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Before we name the three parts — predict what they might be.</a:t>
            </a:r>
            <a:endParaRPr lang="en-US" sz="1400" dirty="0"/>
          </a:p>
        </p:txBody>
      </p:sp>
      <p:sp>
        <p:nvSpPr>
          <p:cNvPr id="7" name="Shape 5"/>
          <p:cNvSpPr/>
          <p:nvPr/>
        </p:nvSpPr>
        <p:spPr>
          <a:xfrm>
            <a:off x="365760" y="1536192"/>
            <a:ext cx="11247120" cy="1207008"/>
          </a:xfrm>
          <a:prstGeom prst="roundRect">
            <a:avLst>
              <a:gd name="adj" fmla="val 6061"/>
            </a:avLst>
          </a:prstGeom>
          <a:solidFill>
            <a:srgbClr val="1E2F45"/>
          </a:solidFill>
          <a:ln w="12700">
            <a:solidFill>
              <a:srgbClr val="FFB703"/>
            </a:solidFill>
            <a:prstDash val="solid"/>
          </a:ln>
        </p:spPr>
      </p:sp>
      <p:sp>
        <p:nvSpPr>
          <p:cNvPr id="8" name="Text 6"/>
          <p:cNvSpPr/>
          <p:nvPr/>
        </p:nvSpPr>
        <p:spPr>
          <a:xfrm>
            <a:off x="548640" y="1609344"/>
            <a:ext cx="10972800" cy="310896"/>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Write in your notebook:</a:t>
            </a:r>
            <a:endParaRPr lang="en-US" sz="1200" dirty="0"/>
          </a:p>
        </p:txBody>
      </p:sp>
      <p:sp>
        <p:nvSpPr>
          <p:cNvPr id="9" name="Text 7"/>
          <p:cNvSpPr/>
          <p:nvPr/>
        </p:nvSpPr>
        <p:spPr>
          <a:xfrm>
            <a:off x="548640" y="1956816"/>
            <a:ext cx="10972800" cy="694944"/>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"I predict a Florida limestone mine BENEFITS people by ___. Its ENVIRONMENTAL COST is ___. One thing communities could do to LOWER that cost is ___."</a:t>
            </a:r>
            <a:endParaRPr lang="en-US" sz="1300" dirty="0"/>
          </a:p>
        </p:txBody>
      </p:sp>
      <p:sp>
        <p:nvSpPr>
          <p:cNvPr id="10" name="Shape 8"/>
          <p:cNvSpPr/>
          <p:nvPr/>
        </p:nvSpPr>
        <p:spPr>
          <a:xfrm>
            <a:off x="365760" y="2871216"/>
            <a:ext cx="3566160" cy="1901952"/>
          </a:xfrm>
          <a:prstGeom prst="roundRect">
            <a:avLst>
              <a:gd name="adj" fmla="val 3846"/>
            </a:avLst>
          </a:prstGeom>
          <a:solidFill>
            <a:srgbClr val="1E2F45"/>
          </a:solidFill>
          <a:ln w="12700">
            <a:solidFill>
              <a:srgbClr val="2DC653"/>
            </a:solidFill>
            <a:prstDash val="solid"/>
          </a:ln>
        </p:spPr>
      </p:sp>
      <p:sp>
        <p:nvSpPr>
          <p:cNvPr id="11" name="Text 9"/>
          <p:cNvSpPr/>
          <p:nvPr/>
        </p:nvSpPr>
        <p:spPr>
          <a:xfrm>
            <a:off x="548640" y="2944368"/>
            <a:ext cx="3200400" cy="402336"/>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1. BENEFIT</a:t>
            </a:r>
            <a:endParaRPr lang="en-US" sz="1300" dirty="0"/>
          </a:p>
        </p:txBody>
      </p:sp>
      <p:sp>
        <p:nvSpPr>
          <p:cNvPr id="12" name="Text 10"/>
          <p:cNvSpPr/>
          <p:nvPr/>
        </p:nvSpPr>
        <p:spPr>
          <a:xfrm>
            <a:off x="548640" y="3383280"/>
            <a:ext cx="3200400" cy="1261872"/>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What people GAIN — energy, food, jobs, building materials, convenience</a:t>
            </a:r>
            <a:endParaRPr lang="en-US" sz="1150" dirty="0"/>
          </a:p>
        </p:txBody>
      </p:sp>
      <p:sp>
        <p:nvSpPr>
          <p:cNvPr id="13" name="Shape 11"/>
          <p:cNvSpPr/>
          <p:nvPr/>
        </p:nvSpPr>
        <p:spPr>
          <a:xfrm>
            <a:off x="4114800" y="2871216"/>
            <a:ext cx="3566160" cy="1901952"/>
          </a:xfrm>
          <a:prstGeom prst="roundRect">
            <a:avLst>
              <a:gd name="adj" fmla="val 3846"/>
            </a:avLst>
          </a:prstGeom>
          <a:solidFill>
            <a:srgbClr val="1E2F45"/>
          </a:solidFill>
          <a:ln w="12700">
            <a:solidFill>
              <a:srgbClr val="F4736A"/>
            </a:solidFill>
            <a:prstDash val="solid"/>
          </a:ln>
        </p:spPr>
      </p:sp>
      <p:sp>
        <p:nvSpPr>
          <p:cNvPr id="14" name="Text 12"/>
          <p:cNvSpPr/>
          <p:nvPr/>
        </p:nvSpPr>
        <p:spPr>
          <a:xfrm>
            <a:off x="4297680" y="2944368"/>
            <a:ext cx="3200400" cy="402336"/>
          </a:xfrm>
          <a:prstGeom prst="rect">
            <a:avLst/>
          </a:prstGeom>
          <a:noFill/>
          <a:ln/>
        </p:spPr>
        <p:txBody>
          <a:bodyPr wrap="square" rtlCol="0" anchor="ctr"/>
          <a:lstStyle/>
          <a:p>
            <a:pPr indent="0" marL="0">
              <a:buNone/>
            </a:pPr>
            <a:r>
              <a:rPr lang="en-US" sz="1300" b="1" dirty="0">
                <a:solidFill>
                  <a:srgbClr val="F4736A"/>
                </a:solidFill>
                <a:latin typeface="Calibri" pitchFamily="34" charset="0"/>
                <a:ea typeface="Calibri" pitchFamily="34" charset="-122"/>
                <a:cs typeface="Calibri" pitchFamily="34" charset="-120"/>
              </a:rPr>
              <a:t>2. ENVIRONMENTAL COST</a:t>
            </a:r>
            <a:endParaRPr lang="en-US" sz="1300" dirty="0"/>
          </a:p>
        </p:txBody>
      </p:sp>
      <p:sp>
        <p:nvSpPr>
          <p:cNvPr id="15" name="Text 13"/>
          <p:cNvSpPr/>
          <p:nvPr/>
        </p:nvSpPr>
        <p:spPr>
          <a:xfrm>
            <a:off x="4297680" y="3383280"/>
            <a:ext cx="3200400" cy="1261872"/>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What the environment LOSES — clean air, habitat, water quality, soil, wildlife</a:t>
            </a:r>
            <a:endParaRPr lang="en-US" sz="1150" dirty="0"/>
          </a:p>
        </p:txBody>
      </p:sp>
      <p:sp>
        <p:nvSpPr>
          <p:cNvPr id="16" name="Shape 14"/>
          <p:cNvSpPr/>
          <p:nvPr/>
        </p:nvSpPr>
        <p:spPr>
          <a:xfrm>
            <a:off x="7863840" y="2871216"/>
            <a:ext cx="3566160" cy="1901952"/>
          </a:xfrm>
          <a:prstGeom prst="roundRect">
            <a:avLst>
              <a:gd name="adj" fmla="val 3846"/>
            </a:avLst>
          </a:prstGeom>
          <a:solidFill>
            <a:srgbClr val="1E2F45"/>
          </a:solidFill>
          <a:ln w="12700">
            <a:solidFill>
              <a:srgbClr val="4CC9F0"/>
            </a:solidFill>
            <a:prstDash val="solid"/>
          </a:ln>
        </p:spPr>
      </p:sp>
      <p:sp>
        <p:nvSpPr>
          <p:cNvPr id="17" name="Text 15"/>
          <p:cNvSpPr/>
          <p:nvPr/>
        </p:nvSpPr>
        <p:spPr>
          <a:xfrm>
            <a:off x="8046720" y="2944368"/>
            <a:ext cx="3200400" cy="402336"/>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3. PROTECTION STRATEGY</a:t>
            </a:r>
            <a:endParaRPr lang="en-US" sz="1300" dirty="0"/>
          </a:p>
        </p:txBody>
      </p:sp>
      <p:sp>
        <p:nvSpPr>
          <p:cNvPr id="18" name="Text 16"/>
          <p:cNvSpPr/>
          <p:nvPr/>
        </p:nvSpPr>
        <p:spPr>
          <a:xfrm>
            <a:off x="8046720" y="3383280"/>
            <a:ext cx="3200400" cy="1261872"/>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What can LOWER the cost — laws, technology, restoration, conservation, better planning</a:t>
            </a:r>
            <a:endParaRPr lang="en-US" sz="1150" dirty="0"/>
          </a:p>
        </p:txBody>
      </p:sp>
      <p:sp>
        <p:nvSpPr>
          <p:cNvPr id="19" name="Shape 17"/>
          <p:cNvSpPr/>
          <p:nvPr/>
        </p:nvSpPr>
        <p:spPr>
          <a:xfrm>
            <a:off x="365760" y="4882896"/>
            <a:ext cx="11247120" cy="621792"/>
          </a:xfrm>
          <a:prstGeom prst="roundRect">
            <a:avLst>
              <a:gd name="adj" fmla="val 11765"/>
            </a:avLst>
          </a:prstGeom>
          <a:solidFill>
            <a:srgbClr val="162233"/>
          </a:solidFill>
          <a:ln w="12700">
            <a:solidFill>
              <a:srgbClr val="4CC9F0"/>
            </a:solidFill>
            <a:prstDash val="solid"/>
          </a:ln>
        </p:spPr>
      </p:sp>
      <p:sp>
        <p:nvSpPr>
          <p:cNvPr id="20" name="Text 18"/>
          <p:cNvSpPr/>
          <p:nvPr/>
        </p:nvSpPr>
        <p:spPr>
          <a:xfrm>
            <a:off x="548640" y="4956048"/>
            <a:ext cx="10972800" cy="475488"/>
          </a:xfrm>
          <a:prstGeom prst="rect">
            <a:avLst/>
          </a:prstGeom>
          <a:noFill/>
          <a:ln/>
        </p:spPr>
        <p:txBody>
          <a:bodyPr wrap="square" rtlCol="0" anchor="ctr"/>
          <a:lstStyle/>
          <a:p>
            <a:pPr indent="0" marL="0">
              <a:buNone/>
            </a:pPr>
            <a:r>
              <a:rPr lang="en-US" sz="1200" i="1" dirty="0">
                <a:solidFill>
                  <a:srgbClr val="B0C4D8"/>
                </a:solidFill>
                <a:latin typeface="Calibri" pitchFamily="34" charset="0"/>
                <a:ea typeface="Calibri" pitchFamily="34" charset="-122"/>
                <a:cs typeface="Calibri" pitchFamily="34" charset="-120"/>
              </a:rPr>
              <a:t>These three parts are how scientists AND communities make smart resource decisions together.</a:t>
            </a:r>
            <a:endParaRPr lang="en-US" sz="1200" dirty="0"/>
          </a:p>
        </p:txBody>
      </p:sp>
      <p:sp>
        <p:nvSpPr>
          <p:cNvPr id="21" name="Shape 19"/>
          <p:cNvSpPr/>
          <p:nvPr/>
        </p:nvSpPr>
        <p:spPr>
          <a:xfrm>
            <a:off x="0" y="6629400"/>
            <a:ext cx="12192000" cy="228600"/>
          </a:xfrm>
          <a:prstGeom prst="rect">
            <a:avLst/>
          </a:prstGeom>
          <a:solidFill>
            <a:srgbClr val="162233"/>
          </a:solidFill>
          <a:ln/>
        </p:spPr>
      </p:sp>
      <p:sp>
        <p:nvSpPr>
          <p:cNvPr id="22" name="Text 2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16.01  ·  Modern Resources &amp; Environmental Choices</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Vocabulary — Part 1 of 2</a:t>
            </a:r>
            <a:endParaRPr lang="en-US" sz="1600" dirty="0"/>
          </a:p>
        </p:txBody>
      </p:sp>
      <p:sp>
        <p:nvSpPr>
          <p:cNvPr id="5" name="Shape 3"/>
          <p:cNvSpPr/>
          <p:nvPr/>
        </p:nvSpPr>
        <p:spPr>
          <a:xfrm>
            <a:off x="365760" y="804672"/>
            <a:ext cx="3566160" cy="1325880"/>
          </a:xfrm>
          <a:prstGeom prst="roundRect">
            <a:avLst>
              <a:gd name="adj" fmla="val 6897"/>
            </a:avLst>
          </a:prstGeom>
          <a:solidFill>
            <a:srgbClr val="1E2F45"/>
          </a:solidFill>
          <a:ln w="25400">
            <a:solidFill>
              <a:srgbClr val="FFB703"/>
            </a:solidFill>
            <a:prstDash val="solid"/>
          </a:ln>
        </p:spPr>
      </p:sp>
      <p:sp>
        <p:nvSpPr>
          <p:cNvPr id="6" name="Shape 4"/>
          <p:cNvSpPr/>
          <p:nvPr/>
        </p:nvSpPr>
        <p:spPr>
          <a:xfrm>
            <a:off x="365760" y="804672"/>
            <a:ext cx="3566160" cy="347472"/>
          </a:xfrm>
          <a:prstGeom prst="roundRect">
            <a:avLst>
              <a:gd name="adj" fmla="val 21053"/>
            </a:avLst>
          </a:prstGeom>
          <a:solidFill>
            <a:srgbClr val="FFB703"/>
          </a:solidFill>
          <a:ln w="12700">
            <a:solidFill>
              <a:srgbClr val="FFB703"/>
            </a:solidFill>
            <a:prstDash val="solid"/>
          </a:ln>
        </p:spPr>
      </p:sp>
      <p:sp>
        <p:nvSpPr>
          <p:cNvPr id="7" name="Text 5"/>
          <p:cNvSpPr/>
          <p:nvPr/>
        </p:nvSpPr>
        <p:spPr>
          <a:xfrm>
            <a:off x="457200" y="832104"/>
            <a:ext cx="33832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Tradeoff</a:t>
            </a:r>
            <a:endParaRPr lang="en-US" sz="1200" dirty="0"/>
          </a:p>
        </p:txBody>
      </p:sp>
      <p:sp>
        <p:nvSpPr>
          <p:cNvPr id="8" name="Text 6"/>
          <p:cNvSpPr/>
          <p:nvPr/>
        </p:nvSpPr>
        <p:spPr>
          <a:xfrm>
            <a:off x="475488" y="1207008"/>
            <a:ext cx="33467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When you GAIN one thing but GIVE UP another. Driving gets you somewhere fast, but uses gas. That's a tradeoff.</a:t>
            </a:r>
            <a:endParaRPr lang="en-US" sz="1050" dirty="0"/>
          </a:p>
        </p:txBody>
      </p:sp>
      <p:sp>
        <p:nvSpPr>
          <p:cNvPr id="9" name="Shape 7"/>
          <p:cNvSpPr/>
          <p:nvPr/>
        </p:nvSpPr>
        <p:spPr>
          <a:xfrm>
            <a:off x="4114800" y="804672"/>
            <a:ext cx="3566160" cy="1325880"/>
          </a:xfrm>
          <a:prstGeom prst="roundRect">
            <a:avLst>
              <a:gd name="adj" fmla="val 6897"/>
            </a:avLst>
          </a:prstGeom>
          <a:solidFill>
            <a:srgbClr val="1E2F45"/>
          </a:solidFill>
          <a:ln w="25400">
            <a:solidFill>
              <a:srgbClr val="2DC653"/>
            </a:solidFill>
            <a:prstDash val="solid"/>
          </a:ln>
        </p:spPr>
      </p:sp>
      <p:sp>
        <p:nvSpPr>
          <p:cNvPr id="10" name="Shape 8"/>
          <p:cNvSpPr/>
          <p:nvPr/>
        </p:nvSpPr>
        <p:spPr>
          <a:xfrm>
            <a:off x="4114800" y="804672"/>
            <a:ext cx="3566160" cy="347472"/>
          </a:xfrm>
          <a:prstGeom prst="roundRect">
            <a:avLst>
              <a:gd name="adj" fmla="val 21053"/>
            </a:avLst>
          </a:prstGeom>
          <a:solidFill>
            <a:srgbClr val="2DC653"/>
          </a:solidFill>
          <a:ln w="12700">
            <a:solidFill>
              <a:srgbClr val="2DC653"/>
            </a:solidFill>
            <a:prstDash val="solid"/>
          </a:ln>
        </p:spPr>
      </p:sp>
      <p:sp>
        <p:nvSpPr>
          <p:cNvPr id="11" name="Text 9"/>
          <p:cNvSpPr/>
          <p:nvPr/>
        </p:nvSpPr>
        <p:spPr>
          <a:xfrm>
            <a:off x="4206240" y="832104"/>
            <a:ext cx="33832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Benefit</a:t>
            </a:r>
            <a:endParaRPr lang="en-US" sz="1200" dirty="0"/>
          </a:p>
        </p:txBody>
      </p:sp>
      <p:sp>
        <p:nvSpPr>
          <p:cNvPr id="12" name="Text 10"/>
          <p:cNvSpPr/>
          <p:nvPr/>
        </p:nvSpPr>
        <p:spPr>
          <a:xfrm>
            <a:off x="4224528" y="1207008"/>
            <a:ext cx="33467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What people GAIN by using a resource. Examples: energy for homes, food for cities, building materials, jobs.</a:t>
            </a:r>
            <a:endParaRPr lang="en-US" sz="1050" dirty="0"/>
          </a:p>
        </p:txBody>
      </p:sp>
      <p:sp>
        <p:nvSpPr>
          <p:cNvPr id="13" name="Shape 11"/>
          <p:cNvSpPr/>
          <p:nvPr/>
        </p:nvSpPr>
        <p:spPr>
          <a:xfrm>
            <a:off x="7863840" y="804672"/>
            <a:ext cx="3566160" cy="1325880"/>
          </a:xfrm>
          <a:prstGeom prst="roundRect">
            <a:avLst>
              <a:gd name="adj" fmla="val 6897"/>
            </a:avLst>
          </a:prstGeom>
          <a:solidFill>
            <a:srgbClr val="1E2F45"/>
          </a:solidFill>
          <a:ln w="25400">
            <a:solidFill>
              <a:srgbClr val="F4736A"/>
            </a:solidFill>
            <a:prstDash val="solid"/>
          </a:ln>
        </p:spPr>
      </p:sp>
      <p:sp>
        <p:nvSpPr>
          <p:cNvPr id="14" name="Shape 12"/>
          <p:cNvSpPr/>
          <p:nvPr/>
        </p:nvSpPr>
        <p:spPr>
          <a:xfrm>
            <a:off x="7863840" y="804672"/>
            <a:ext cx="3566160" cy="347472"/>
          </a:xfrm>
          <a:prstGeom prst="roundRect">
            <a:avLst>
              <a:gd name="adj" fmla="val 21053"/>
            </a:avLst>
          </a:prstGeom>
          <a:solidFill>
            <a:srgbClr val="F4736A"/>
          </a:solidFill>
          <a:ln w="12700">
            <a:solidFill>
              <a:srgbClr val="F4736A"/>
            </a:solidFill>
            <a:prstDash val="solid"/>
          </a:ln>
        </p:spPr>
      </p:sp>
      <p:sp>
        <p:nvSpPr>
          <p:cNvPr id="15" name="Text 13"/>
          <p:cNvSpPr/>
          <p:nvPr/>
        </p:nvSpPr>
        <p:spPr>
          <a:xfrm>
            <a:off x="7955280" y="832104"/>
            <a:ext cx="33832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Environmental Cost</a:t>
            </a:r>
            <a:endParaRPr lang="en-US" sz="1200" dirty="0"/>
          </a:p>
        </p:txBody>
      </p:sp>
      <p:sp>
        <p:nvSpPr>
          <p:cNvPr id="16" name="Text 14"/>
          <p:cNvSpPr/>
          <p:nvPr/>
        </p:nvSpPr>
        <p:spPr>
          <a:xfrm>
            <a:off x="7973568" y="1207008"/>
            <a:ext cx="33467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What the environment loses when humans use a resource — air pollution, lost habitat, dirty water, or noise.</a:t>
            </a:r>
            <a:endParaRPr lang="en-US" sz="1050" dirty="0"/>
          </a:p>
        </p:txBody>
      </p:sp>
      <p:sp>
        <p:nvSpPr>
          <p:cNvPr id="17" name="Shape 15"/>
          <p:cNvSpPr/>
          <p:nvPr/>
        </p:nvSpPr>
        <p:spPr>
          <a:xfrm>
            <a:off x="365760" y="2304288"/>
            <a:ext cx="3566160" cy="1325880"/>
          </a:xfrm>
          <a:prstGeom prst="roundRect">
            <a:avLst>
              <a:gd name="adj" fmla="val 6897"/>
            </a:avLst>
          </a:prstGeom>
          <a:solidFill>
            <a:srgbClr val="1E2F45"/>
          </a:solidFill>
          <a:ln w="25400">
            <a:solidFill>
              <a:srgbClr val="4CC9F0"/>
            </a:solidFill>
            <a:prstDash val="solid"/>
          </a:ln>
        </p:spPr>
      </p:sp>
      <p:sp>
        <p:nvSpPr>
          <p:cNvPr id="18" name="Shape 16"/>
          <p:cNvSpPr/>
          <p:nvPr/>
        </p:nvSpPr>
        <p:spPr>
          <a:xfrm>
            <a:off x="365760" y="2304288"/>
            <a:ext cx="3566160" cy="347472"/>
          </a:xfrm>
          <a:prstGeom prst="roundRect">
            <a:avLst>
              <a:gd name="adj" fmla="val 21053"/>
            </a:avLst>
          </a:prstGeom>
          <a:solidFill>
            <a:srgbClr val="4CC9F0"/>
          </a:solidFill>
          <a:ln w="12700">
            <a:solidFill>
              <a:srgbClr val="4CC9F0"/>
            </a:solidFill>
            <a:prstDash val="solid"/>
          </a:ln>
        </p:spPr>
      </p:sp>
      <p:sp>
        <p:nvSpPr>
          <p:cNvPr id="19" name="Text 17"/>
          <p:cNvSpPr/>
          <p:nvPr/>
        </p:nvSpPr>
        <p:spPr>
          <a:xfrm>
            <a:off x="457200" y="2331720"/>
            <a:ext cx="33832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Conservation</a:t>
            </a:r>
            <a:endParaRPr lang="en-US" sz="1200" dirty="0"/>
          </a:p>
        </p:txBody>
      </p:sp>
      <p:sp>
        <p:nvSpPr>
          <p:cNvPr id="20" name="Text 18"/>
          <p:cNvSpPr/>
          <p:nvPr/>
        </p:nvSpPr>
        <p:spPr>
          <a:xfrm>
            <a:off x="475488" y="2706624"/>
            <a:ext cx="33467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Using a resource carefully so it lasts longer. Saving water, recycling cans, and protecting forests are all examples.</a:t>
            </a:r>
            <a:endParaRPr lang="en-US" sz="1050" dirty="0"/>
          </a:p>
        </p:txBody>
      </p:sp>
      <p:sp>
        <p:nvSpPr>
          <p:cNvPr id="21" name="Shape 19"/>
          <p:cNvSpPr/>
          <p:nvPr/>
        </p:nvSpPr>
        <p:spPr>
          <a:xfrm>
            <a:off x="4114800" y="2304288"/>
            <a:ext cx="7406640" cy="1325880"/>
          </a:xfrm>
          <a:prstGeom prst="roundRect">
            <a:avLst>
              <a:gd name="adj" fmla="val 5517"/>
            </a:avLst>
          </a:prstGeom>
          <a:solidFill>
            <a:srgbClr val="162233"/>
          </a:solidFill>
          <a:ln w="12700">
            <a:solidFill>
              <a:srgbClr val="FFB703"/>
            </a:solidFill>
            <a:prstDash val="solid"/>
          </a:ln>
        </p:spPr>
      </p:sp>
      <p:sp>
        <p:nvSpPr>
          <p:cNvPr id="22" name="Text 20"/>
          <p:cNvSpPr/>
          <p:nvPr/>
        </p:nvSpPr>
        <p:spPr>
          <a:xfrm>
            <a:off x="4297680" y="2377440"/>
            <a:ext cx="7040880" cy="329184"/>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 Real-World Example — Florida Limestone Mine:</a:t>
            </a:r>
            <a:endParaRPr lang="en-US" sz="1200" dirty="0"/>
          </a:p>
        </p:txBody>
      </p:sp>
      <p:sp>
        <p:nvSpPr>
          <p:cNvPr id="23" name="Text 21"/>
          <p:cNvSpPr/>
          <p:nvPr/>
        </p:nvSpPr>
        <p:spPr>
          <a:xfrm>
            <a:off x="4297680" y="2743200"/>
            <a:ext cx="7040880" cy="74980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 BENEFIT: Jobs, limestone for roads, building materials</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ENV. COST: Land permanently changed, water quality risks</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CONSERVATION: Careful mining plans, water monitoring, land restoration</a:t>
            </a:r>
            <a:endParaRPr lang="en-US" sz="1150" dirty="0"/>
          </a:p>
        </p:txBody>
      </p:sp>
      <p:sp>
        <p:nvSpPr>
          <p:cNvPr id="24" name="Shape 22"/>
          <p:cNvSpPr/>
          <p:nvPr/>
        </p:nvSpPr>
        <p:spPr>
          <a:xfrm>
            <a:off x="365760" y="3767328"/>
            <a:ext cx="11247120" cy="1280160"/>
          </a:xfrm>
          <a:prstGeom prst="roundRect">
            <a:avLst>
              <a:gd name="adj" fmla="val 5714"/>
            </a:avLst>
          </a:prstGeom>
          <a:solidFill>
            <a:srgbClr val="162233"/>
          </a:solidFill>
          <a:ln w="12700">
            <a:solidFill>
              <a:srgbClr val="FFB703"/>
            </a:solidFill>
            <a:prstDash val="solid"/>
          </a:ln>
        </p:spPr>
      </p:sp>
      <p:sp>
        <p:nvSpPr>
          <p:cNvPr id="25" name="Text 23"/>
          <p:cNvSpPr/>
          <p:nvPr/>
        </p:nvSpPr>
        <p:spPr>
          <a:xfrm>
            <a:off x="530352" y="3840480"/>
            <a:ext cx="1091793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Stop &amp; Think:</a:t>
            </a:r>
            <a:endParaRPr lang="en-US" sz="1300" dirty="0"/>
          </a:p>
        </p:txBody>
      </p:sp>
      <p:sp>
        <p:nvSpPr>
          <p:cNvPr id="26" name="Text 24"/>
          <p:cNvSpPr/>
          <p:nvPr/>
        </p:nvSpPr>
        <p:spPr>
          <a:xfrm>
            <a:off x="530352" y="4206240"/>
            <a:ext cx="10917936" cy="731520"/>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A Florida limestone mine creates jobs and supplies stone for roads — but permanently changes the land. Name the BENEFIT and ENVIRONMENTAL COST in your own words.</a:t>
            </a:r>
            <a:endParaRPr lang="en-US" sz="1200" dirty="0"/>
          </a:p>
        </p:txBody>
      </p:sp>
      <p:sp>
        <p:nvSpPr>
          <p:cNvPr id="27" name="Shape 25"/>
          <p:cNvSpPr/>
          <p:nvPr/>
        </p:nvSpPr>
        <p:spPr>
          <a:xfrm>
            <a:off x="0" y="6629400"/>
            <a:ext cx="12192000" cy="228600"/>
          </a:xfrm>
          <a:prstGeom prst="rect">
            <a:avLst/>
          </a:prstGeom>
          <a:solidFill>
            <a:srgbClr val="162233"/>
          </a:solidFill>
          <a:ln/>
        </p:spPr>
      </p:sp>
      <p:sp>
        <p:nvSpPr>
          <p:cNvPr id="28" name="Text 2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16.01  ·  Modern Resources &amp; Environmental Choices</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Vocabulary — Part 2 of 2</a:t>
            </a:r>
            <a:endParaRPr lang="en-US" sz="1600" dirty="0"/>
          </a:p>
        </p:txBody>
      </p:sp>
      <p:sp>
        <p:nvSpPr>
          <p:cNvPr id="5" name="Shape 3"/>
          <p:cNvSpPr/>
          <p:nvPr/>
        </p:nvSpPr>
        <p:spPr>
          <a:xfrm>
            <a:off x="365760" y="804672"/>
            <a:ext cx="5394960" cy="1325880"/>
          </a:xfrm>
          <a:prstGeom prst="roundRect">
            <a:avLst>
              <a:gd name="adj" fmla="val 6897"/>
            </a:avLst>
          </a:prstGeom>
          <a:solidFill>
            <a:srgbClr val="1E2F45"/>
          </a:solidFill>
          <a:ln w="25400">
            <a:solidFill>
              <a:srgbClr val="4CC9F0"/>
            </a:solidFill>
            <a:prstDash val="solid"/>
          </a:ln>
        </p:spPr>
      </p:sp>
      <p:sp>
        <p:nvSpPr>
          <p:cNvPr id="6" name="Shape 4"/>
          <p:cNvSpPr/>
          <p:nvPr/>
        </p:nvSpPr>
        <p:spPr>
          <a:xfrm>
            <a:off x="365760" y="804672"/>
            <a:ext cx="5394960" cy="347472"/>
          </a:xfrm>
          <a:prstGeom prst="roundRect">
            <a:avLst>
              <a:gd name="adj" fmla="val 21053"/>
            </a:avLst>
          </a:prstGeom>
          <a:solidFill>
            <a:srgbClr val="4CC9F0"/>
          </a:solidFill>
          <a:ln w="12700">
            <a:solidFill>
              <a:srgbClr val="4CC9F0"/>
            </a:solidFill>
            <a:prstDash val="solid"/>
          </a:ln>
        </p:spPr>
      </p:sp>
      <p:sp>
        <p:nvSpPr>
          <p:cNvPr id="7" name="Text 5"/>
          <p:cNvSpPr/>
          <p:nvPr/>
        </p:nvSpPr>
        <p:spPr>
          <a:xfrm>
            <a:off x="457200" y="832104"/>
            <a:ext cx="52120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Protection Strategy</a:t>
            </a:r>
            <a:endParaRPr lang="en-US" sz="1200" dirty="0"/>
          </a:p>
        </p:txBody>
      </p:sp>
      <p:sp>
        <p:nvSpPr>
          <p:cNvPr id="8" name="Text 6"/>
          <p:cNvSpPr/>
          <p:nvPr/>
        </p:nvSpPr>
        <p:spPr>
          <a:xfrm>
            <a:off x="475488" y="1207008"/>
            <a:ext cx="51755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choice or rule that lowers the environmental cost of using a resource — like recycling, conservation laws, or better technology.</a:t>
            </a:r>
            <a:endParaRPr lang="en-US" sz="1050" dirty="0"/>
          </a:p>
        </p:txBody>
      </p:sp>
      <p:sp>
        <p:nvSpPr>
          <p:cNvPr id="9" name="Shape 7"/>
          <p:cNvSpPr/>
          <p:nvPr/>
        </p:nvSpPr>
        <p:spPr>
          <a:xfrm>
            <a:off x="6035040" y="804672"/>
            <a:ext cx="5394960" cy="1325880"/>
          </a:xfrm>
          <a:prstGeom prst="roundRect">
            <a:avLst>
              <a:gd name="adj" fmla="val 6897"/>
            </a:avLst>
          </a:prstGeom>
          <a:solidFill>
            <a:srgbClr val="1E2F45"/>
          </a:solidFill>
          <a:ln w="25400">
            <a:solidFill>
              <a:srgbClr val="2DC653"/>
            </a:solidFill>
            <a:prstDash val="solid"/>
          </a:ln>
        </p:spPr>
      </p:sp>
      <p:sp>
        <p:nvSpPr>
          <p:cNvPr id="10" name="Shape 8"/>
          <p:cNvSpPr/>
          <p:nvPr/>
        </p:nvSpPr>
        <p:spPr>
          <a:xfrm>
            <a:off x="6035040" y="804672"/>
            <a:ext cx="5394960" cy="347472"/>
          </a:xfrm>
          <a:prstGeom prst="roundRect">
            <a:avLst>
              <a:gd name="adj" fmla="val 21053"/>
            </a:avLst>
          </a:prstGeom>
          <a:solidFill>
            <a:srgbClr val="2DC653"/>
          </a:solidFill>
          <a:ln w="12700">
            <a:solidFill>
              <a:srgbClr val="2DC653"/>
            </a:solidFill>
            <a:prstDash val="solid"/>
          </a:ln>
        </p:spPr>
      </p:sp>
      <p:sp>
        <p:nvSpPr>
          <p:cNvPr id="11" name="Text 9"/>
          <p:cNvSpPr/>
          <p:nvPr/>
        </p:nvSpPr>
        <p:spPr>
          <a:xfrm>
            <a:off x="6126480" y="832104"/>
            <a:ext cx="52120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Solution</a:t>
            </a:r>
            <a:endParaRPr lang="en-US" sz="1200" dirty="0"/>
          </a:p>
        </p:txBody>
      </p:sp>
      <p:sp>
        <p:nvSpPr>
          <p:cNvPr id="12" name="Text 10"/>
          <p:cNvSpPr/>
          <p:nvPr/>
        </p:nvSpPr>
        <p:spPr>
          <a:xfrm>
            <a:off x="6144768" y="1207008"/>
            <a:ext cx="51755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An idea or design that solves part of a problem. Most resource problems have several possible solutions — and people compare them to choose.</a:t>
            </a:r>
            <a:endParaRPr lang="en-US" sz="1050" dirty="0"/>
          </a:p>
        </p:txBody>
      </p:sp>
      <p:sp>
        <p:nvSpPr>
          <p:cNvPr id="13" name="Shape 11"/>
          <p:cNvSpPr/>
          <p:nvPr/>
        </p:nvSpPr>
        <p:spPr>
          <a:xfrm>
            <a:off x="365760" y="2304288"/>
            <a:ext cx="11247120" cy="2450592"/>
          </a:xfrm>
          <a:prstGeom prst="roundRect">
            <a:avLst>
              <a:gd name="adj" fmla="val 2985"/>
            </a:avLst>
          </a:prstGeom>
          <a:solidFill>
            <a:srgbClr val="162233"/>
          </a:solidFill>
          <a:ln w="12700">
            <a:solidFill>
              <a:srgbClr val="4CC9F0"/>
            </a:solidFill>
            <a:prstDash val="solid"/>
          </a:ln>
        </p:spPr>
      </p:sp>
      <p:sp>
        <p:nvSpPr>
          <p:cNvPr id="14" name="Text 12"/>
          <p:cNvSpPr/>
          <p:nvPr/>
        </p:nvSpPr>
        <p:spPr>
          <a:xfrm>
            <a:off x="548640" y="2377440"/>
            <a:ext cx="10972800" cy="329184"/>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 Four Types of Protection Strategies:</a:t>
            </a:r>
            <a:endParaRPr lang="en-US" sz="1300" dirty="0"/>
          </a:p>
        </p:txBody>
      </p:sp>
      <p:sp>
        <p:nvSpPr>
          <p:cNvPr id="15" name="Text 13"/>
          <p:cNvSpPr/>
          <p:nvPr/>
        </p:nvSpPr>
        <p:spPr>
          <a:xfrm>
            <a:off x="731520" y="2743200"/>
            <a:ext cx="10789920" cy="420624"/>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1. Conservation: Using LESS so it lasts longer (shorter showers, LED lights, recycling)</a:t>
            </a:r>
            <a:endParaRPr lang="en-US" sz="1200" dirty="0"/>
          </a:p>
        </p:txBody>
      </p:sp>
      <p:sp>
        <p:nvSpPr>
          <p:cNvPr id="16" name="Text 14"/>
          <p:cNvSpPr/>
          <p:nvPr/>
        </p:nvSpPr>
        <p:spPr>
          <a:xfrm>
            <a:off x="731520" y="3218688"/>
            <a:ext cx="10789920" cy="420624"/>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2. Restoration: FIXING damage after use (replanting trees, restoring wetlands after mining)</a:t>
            </a:r>
            <a:endParaRPr lang="en-US" sz="1200" dirty="0"/>
          </a:p>
        </p:txBody>
      </p:sp>
      <p:sp>
        <p:nvSpPr>
          <p:cNvPr id="17" name="Text 15"/>
          <p:cNvSpPr/>
          <p:nvPr/>
        </p:nvSpPr>
        <p:spPr>
          <a:xfrm>
            <a:off x="731520" y="3694176"/>
            <a:ext cx="10789920" cy="420624"/>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3. Better Technology: SMARTER ways to do the same thing (solar instead of coal, drip irrigation instead of flooding)</a:t>
            </a:r>
            <a:endParaRPr lang="en-US" sz="1200" dirty="0"/>
          </a:p>
        </p:txBody>
      </p:sp>
      <p:sp>
        <p:nvSpPr>
          <p:cNvPr id="18" name="Text 16"/>
          <p:cNvSpPr/>
          <p:nvPr/>
        </p:nvSpPr>
        <p:spPr>
          <a:xfrm>
            <a:off x="731520" y="4169664"/>
            <a:ext cx="10789920" cy="420624"/>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4. Rules &amp; Laws: PROTECTING what people can't protect alone (water-use limits, no-mine zones, Endangered Species Act)</a:t>
            </a:r>
            <a:endParaRPr lang="en-US" sz="1200" dirty="0"/>
          </a:p>
        </p:txBody>
      </p:sp>
      <p:sp>
        <p:nvSpPr>
          <p:cNvPr id="19" name="Shape 17"/>
          <p:cNvSpPr/>
          <p:nvPr/>
        </p:nvSpPr>
        <p:spPr>
          <a:xfrm>
            <a:off x="365760" y="4901184"/>
            <a:ext cx="11247120" cy="640080"/>
          </a:xfrm>
          <a:prstGeom prst="roundRect">
            <a:avLst>
              <a:gd name="adj" fmla="val 11429"/>
            </a:avLst>
          </a:prstGeom>
          <a:solidFill>
            <a:srgbClr val="0A1A0A"/>
          </a:solidFill>
          <a:ln w="12700">
            <a:solidFill>
              <a:srgbClr val="2DC653"/>
            </a:solidFill>
            <a:prstDash val="solid"/>
          </a:ln>
        </p:spPr>
      </p:sp>
      <p:sp>
        <p:nvSpPr>
          <p:cNvPr id="20" name="Text 18"/>
          <p:cNvSpPr/>
          <p:nvPr/>
        </p:nvSpPr>
        <p:spPr>
          <a:xfrm>
            <a:off x="548640" y="4974336"/>
            <a:ext cx="10972800" cy="493776"/>
          </a:xfrm>
          <a:prstGeom prst="rect">
            <a:avLst/>
          </a:prstGeom>
          <a:noFill/>
          <a:ln/>
        </p:spPr>
        <p:txBody>
          <a:bodyPr wrap="square" rtlCol="0" anchor="ctr"/>
          <a:lstStyle/>
          <a:p>
            <a:pPr indent="0" marL="0">
              <a:buNone/>
            </a:pPr>
            <a:r>
              <a:rPr lang="en-US" sz="1200" dirty="0">
                <a:solidFill>
                  <a:srgbClr val="2DC653"/>
                </a:solidFill>
                <a:latin typeface="Calibri" pitchFamily="34" charset="0"/>
                <a:ea typeface="Calibri" pitchFamily="34" charset="-122"/>
                <a:cs typeface="Calibri" pitchFamily="34" charset="-120"/>
              </a:rPr>
              <a:t>⚠️ No protection strategy makes environmental cost ZERO — but the right strategy can shift the balance enough that the tradeoff becomes worth it.</a:t>
            </a:r>
            <a:endParaRPr lang="en-US" sz="1200" dirty="0"/>
          </a:p>
        </p:txBody>
      </p:sp>
      <p:sp>
        <p:nvSpPr>
          <p:cNvPr id="21" name="Shape 19"/>
          <p:cNvSpPr/>
          <p:nvPr/>
        </p:nvSpPr>
        <p:spPr>
          <a:xfrm>
            <a:off x="0" y="6629400"/>
            <a:ext cx="12192000" cy="228600"/>
          </a:xfrm>
          <a:prstGeom prst="rect">
            <a:avLst/>
          </a:prstGeom>
          <a:solidFill>
            <a:srgbClr val="162233"/>
          </a:solidFill>
          <a:ln/>
        </p:spPr>
      </p:sp>
      <p:sp>
        <p:nvSpPr>
          <p:cNvPr id="22" name="Text 2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16.01  ·  Modern Resources &amp; Environmental Choices</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A Resource Tradeoff Diagram — Florida Limestone</a:t>
            </a:r>
            <a:endParaRPr lang="en-US" sz="1600" dirty="0"/>
          </a:p>
        </p:txBody>
      </p:sp>
      <p:sp>
        <p:nvSpPr>
          <p:cNvPr id="5" name="Shape 3"/>
          <p:cNvSpPr/>
          <p:nvPr/>
        </p:nvSpPr>
        <p:spPr>
          <a:xfrm>
            <a:off x="365760" y="749808"/>
            <a:ext cx="11247120" cy="4279392"/>
          </a:xfrm>
          <a:prstGeom prst="roundRect">
            <a:avLst>
              <a:gd name="adj" fmla="val 1709"/>
            </a:avLst>
          </a:prstGeom>
          <a:solidFill>
            <a:srgbClr val="0A1520"/>
          </a:solidFill>
          <a:ln w="19050">
            <a:solidFill>
              <a:srgbClr val="4CC9F0"/>
            </a:solidFill>
            <a:prstDash val="dash"/>
          </a:ln>
        </p:spPr>
      </p:sp>
      <p:sp>
        <p:nvSpPr>
          <p:cNvPr id="6" name="Text 4"/>
          <p:cNvSpPr/>
          <p:nvPr/>
        </p:nvSpPr>
        <p:spPr>
          <a:xfrm>
            <a:off x="457200" y="859536"/>
            <a:ext cx="110642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457200" y="1298448"/>
            <a:ext cx="1106424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8" name="Text 6"/>
          <p:cNvSpPr/>
          <p:nvPr/>
        </p:nvSpPr>
        <p:spPr>
          <a:xfrm>
            <a:off x="475488" y="1591056"/>
            <a:ext cx="11027664" cy="3227832"/>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"balance scale tradeoff benefit environmental cost protection strategy resource decision diagram infographic"</a:t>
            </a:r>
            <a:endParaRPr lang="en-US" sz="950" dirty="0"/>
          </a:p>
        </p:txBody>
      </p:sp>
      <p:sp>
        <p:nvSpPr>
          <p:cNvPr id="9" name="Text 7"/>
          <p:cNvSpPr/>
          <p:nvPr/>
        </p:nvSpPr>
        <p:spPr>
          <a:xfrm>
            <a:off x="365760" y="5065776"/>
            <a:ext cx="1124712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Every resource decision: benefit vs. environmental cost, balanced by a protection strategy</a:t>
            </a:r>
            <a:endParaRPr lang="en-US" sz="900" dirty="0"/>
          </a:p>
        </p:txBody>
      </p:sp>
      <p:sp>
        <p:nvSpPr>
          <p:cNvPr id="10" name="Shape 8"/>
          <p:cNvSpPr/>
          <p:nvPr/>
        </p:nvSpPr>
        <p:spPr>
          <a:xfrm>
            <a:off x="365760" y="5157216"/>
            <a:ext cx="11247120" cy="749808"/>
          </a:xfrm>
          <a:prstGeom prst="roundRect">
            <a:avLst>
              <a:gd name="adj" fmla="val 9756"/>
            </a:avLst>
          </a:prstGeom>
          <a:solidFill>
            <a:srgbClr val="162233"/>
          </a:solidFill>
          <a:ln w="12700">
            <a:solidFill>
              <a:srgbClr val="FFB703"/>
            </a:solidFill>
            <a:prstDash val="solid"/>
          </a:ln>
        </p:spPr>
      </p:sp>
      <p:sp>
        <p:nvSpPr>
          <p:cNvPr id="11" name="Text 9"/>
          <p:cNvSpPr/>
          <p:nvPr/>
        </p:nvSpPr>
        <p:spPr>
          <a:xfrm>
            <a:off x="548640" y="5230368"/>
            <a:ext cx="10972800" cy="585216"/>
          </a:xfrm>
          <a:prstGeom prst="rect">
            <a:avLst/>
          </a:prstGeom>
          <a:noFill/>
          <a:ln/>
        </p:spPr>
        <p:txBody>
          <a:bodyPr wrap="square" rtlCol="0" anchor="ctr"/>
          <a:lstStyle/>
          <a:p>
            <a:pPr indent="0" marL="0">
              <a:buNone/>
            </a:pPr>
            <a:r>
              <a:rPr lang="en-US" sz="1150" i="1" dirty="0">
                <a:solidFill>
                  <a:srgbClr val="FFFFFF"/>
                </a:solidFill>
                <a:latin typeface="Calibri" pitchFamily="34" charset="0"/>
                <a:ea typeface="Calibri" pitchFamily="34" charset="-122"/>
                <a:cs typeface="Calibri" pitchFamily="34" charset="-120"/>
              </a:rPr>
              <a:t>🔍 Observe &amp; Reason: Look at the tradeoff diagram. What's ONE protection strategy listed? Why might that lower the environmental cost of limestone mining?</a:t>
            </a:r>
            <a:endParaRPr lang="en-US" sz="1150" dirty="0"/>
          </a:p>
        </p:txBody>
      </p:sp>
      <p:sp>
        <p:nvSpPr>
          <p:cNvPr id="12" name="Shape 10"/>
          <p:cNvSpPr/>
          <p:nvPr/>
        </p:nvSpPr>
        <p:spPr>
          <a:xfrm>
            <a:off x="0" y="6629400"/>
            <a:ext cx="12192000" cy="228600"/>
          </a:xfrm>
          <a:prstGeom prst="rect">
            <a:avLst/>
          </a:prstGeom>
          <a:solidFill>
            <a:srgbClr val="162233"/>
          </a:solidFill>
          <a:ln/>
        </p:spPr>
      </p:sp>
      <p:sp>
        <p:nvSpPr>
          <p:cNvPr id="13" name="Text 11"/>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16.01  ·  Modern Resources &amp; Environmental Choices</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Four Florida Tradeoffs — Benefit, Cost, Strategy</a:t>
            </a:r>
            <a:endParaRPr lang="en-US" sz="1600" dirty="0"/>
          </a:p>
        </p:txBody>
      </p:sp>
      <p:sp>
        <p:nvSpPr>
          <p:cNvPr id="5" name="Shape 3"/>
          <p:cNvSpPr/>
          <p:nvPr/>
        </p:nvSpPr>
        <p:spPr>
          <a:xfrm>
            <a:off x="365760" y="749808"/>
            <a:ext cx="5486400" cy="2670048"/>
          </a:xfrm>
          <a:prstGeom prst="roundRect">
            <a:avLst>
              <a:gd name="adj" fmla="val 2740"/>
            </a:avLst>
          </a:prstGeom>
          <a:solidFill>
            <a:srgbClr val="1E2F45"/>
          </a:solidFill>
          <a:ln w="12700">
            <a:solidFill>
              <a:srgbClr val="FFB703"/>
            </a:solidFill>
            <a:prstDash val="solid"/>
          </a:ln>
        </p:spPr>
      </p:sp>
      <p:sp>
        <p:nvSpPr>
          <p:cNvPr id="6" name="Text 4"/>
          <p:cNvSpPr/>
          <p:nvPr/>
        </p:nvSpPr>
        <p:spPr>
          <a:xfrm>
            <a:off x="548640" y="841248"/>
            <a:ext cx="5120640" cy="365760"/>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Driving Gas Cars</a:t>
            </a:r>
            <a:endParaRPr lang="en-US" sz="1300" dirty="0"/>
          </a:p>
        </p:txBody>
      </p:sp>
      <p:sp>
        <p:nvSpPr>
          <p:cNvPr id="7" name="Text 5"/>
          <p:cNvSpPr/>
          <p:nvPr/>
        </p:nvSpPr>
        <p:spPr>
          <a:xfrm>
            <a:off x="548640" y="1243584"/>
            <a:ext cx="5120640" cy="548640"/>
          </a:xfrm>
          <a:prstGeom prst="rect">
            <a:avLst/>
          </a:prstGeom>
          <a:noFill/>
          <a:ln/>
        </p:spPr>
        <p:txBody>
          <a:bodyPr wrap="square" rtlCol="0" anchor="ctr"/>
          <a:lstStyle/>
          <a:p>
            <a:pPr indent="0" marL="0">
              <a:buNone/>
            </a:pPr>
            <a:r>
              <a:rPr lang="en-US" sz="1050" dirty="0">
                <a:solidFill>
                  <a:srgbClr val="2DC653"/>
                </a:solidFill>
                <a:latin typeface="Calibri" pitchFamily="34" charset="0"/>
                <a:ea typeface="Calibri" pitchFamily="34" charset="-122"/>
                <a:cs typeface="Calibri" pitchFamily="34" charset="-120"/>
              </a:rPr>
              <a:t>✅ Convenient travel, reaches anywhere</a:t>
            </a:r>
            <a:endParaRPr lang="en-US" sz="1050" dirty="0"/>
          </a:p>
        </p:txBody>
      </p:sp>
      <p:sp>
        <p:nvSpPr>
          <p:cNvPr id="8" name="Text 6"/>
          <p:cNvSpPr/>
          <p:nvPr/>
        </p:nvSpPr>
        <p:spPr>
          <a:xfrm>
            <a:off x="548640" y="1810512"/>
            <a:ext cx="5120640" cy="548640"/>
          </a:xfrm>
          <a:prstGeom prst="rect">
            <a:avLst/>
          </a:prstGeom>
          <a:noFill/>
          <a:ln/>
        </p:spPr>
        <p:txBody>
          <a:bodyPr wrap="square" rtlCol="0" anchor="ctr"/>
          <a:lstStyle/>
          <a:p>
            <a:pPr indent="0" marL="0">
              <a:buNone/>
            </a:pPr>
            <a:r>
              <a:rPr lang="en-US" sz="1050" dirty="0">
                <a:solidFill>
                  <a:srgbClr val="F4736A"/>
                </a:solidFill>
                <a:latin typeface="Calibri" pitchFamily="34" charset="0"/>
                <a:ea typeface="Calibri" pitchFamily="34" charset="-122"/>
                <a:cs typeface="Calibri" pitchFamily="34" charset="-120"/>
              </a:rPr>
              <a:t>❌ Air pollution (CO₂), oil dependence, traffic safety</a:t>
            </a:r>
            <a:endParaRPr lang="en-US" sz="1050" dirty="0"/>
          </a:p>
        </p:txBody>
      </p:sp>
      <p:sp>
        <p:nvSpPr>
          <p:cNvPr id="9" name="Text 7"/>
          <p:cNvSpPr/>
          <p:nvPr/>
        </p:nvSpPr>
        <p:spPr>
          <a:xfrm>
            <a:off x="548640" y="2377440"/>
            <a:ext cx="5120640" cy="877824"/>
          </a:xfrm>
          <a:prstGeom prst="rect">
            <a:avLst/>
          </a:prstGeom>
          <a:noFill/>
          <a:ln/>
        </p:spPr>
        <p:txBody>
          <a:bodyPr wrap="square" rtlCol="0" anchor="ctr"/>
          <a:lstStyle/>
          <a:p>
            <a:pPr indent="0" marL="0">
              <a:buNone/>
            </a:pPr>
            <a:r>
              <a:rPr lang="en-US" sz="1000" dirty="0">
                <a:solidFill>
                  <a:srgbClr val="4CC9F0"/>
                </a:solidFill>
                <a:latin typeface="Calibri" pitchFamily="34" charset="0"/>
                <a:ea typeface="Calibri" pitchFamily="34" charset="-122"/>
                <a:cs typeface="Calibri" pitchFamily="34" charset="-120"/>
              </a:rPr>
              <a:t>🛡️ Fuel efficiency standards, electric vehicles, public transit</a:t>
            </a:r>
            <a:endParaRPr lang="en-US" sz="1000" dirty="0"/>
          </a:p>
        </p:txBody>
      </p:sp>
      <p:sp>
        <p:nvSpPr>
          <p:cNvPr id="10" name="Shape 8"/>
          <p:cNvSpPr/>
          <p:nvPr/>
        </p:nvSpPr>
        <p:spPr>
          <a:xfrm>
            <a:off x="6126480" y="749808"/>
            <a:ext cx="5486400" cy="2670048"/>
          </a:xfrm>
          <a:prstGeom prst="roundRect">
            <a:avLst>
              <a:gd name="adj" fmla="val 2740"/>
            </a:avLst>
          </a:prstGeom>
          <a:solidFill>
            <a:srgbClr val="1E2F45"/>
          </a:solidFill>
          <a:ln w="12700">
            <a:solidFill>
              <a:srgbClr val="2DC653"/>
            </a:solidFill>
            <a:prstDash val="solid"/>
          </a:ln>
        </p:spPr>
      </p:sp>
      <p:sp>
        <p:nvSpPr>
          <p:cNvPr id="11" name="Text 9"/>
          <p:cNvSpPr/>
          <p:nvPr/>
        </p:nvSpPr>
        <p:spPr>
          <a:xfrm>
            <a:off x="6309360" y="841248"/>
            <a:ext cx="5120640" cy="365760"/>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 Solar Farms</a:t>
            </a:r>
            <a:endParaRPr lang="en-US" sz="1300" dirty="0"/>
          </a:p>
        </p:txBody>
      </p:sp>
      <p:sp>
        <p:nvSpPr>
          <p:cNvPr id="12" name="Text 10"/>
          <p:cNvSpPr/>
          <p:nvPr/>
        </p:nvSpPr>
        <p:spPr>
          <a:xfrm>
            <a:off x="6309360" y="1243584"/>
            <a:ext cx="5120640" cy="548640"/>
          </a:xfrm>
          <a:prstGeom prst="rect">
            <a:avLst/>
          </a:prstGeom>
          <a:noFill/>
          <a:ln/>
        </p:spPr>
        <p:txBody>
          <a:bodyPr wrap="square" rtlCol="0" anchor="ctr"/>
          <a:lstStyle/>
          <a:p>
            <a:pPr indent="0" marL="0">
              <a:buNone/>
            </a:pPr>
            <a:r>
              <a:rPr lang="en-US" sz="1050" dirty="0">
                <a:solidFill>
                  <a:srgbClr val="2DC653"/>
                </a:solidFill>
                <a:latin typeface="Calibri" pitchFamily="34" charset="0"/>
                <a:ea typeface="Calibri" pitchFamily="34" charset="-122"/>
                <a:cs typeface="Calibri" pitchFamily="34" charset="-120"/>
              </a:rPr>
              <a:t>✅ Clean electricity, no combustion, renewable</a:t>
            </a:r>
            <a:endParaRPr lang="en-US" sz="1050" dirty="0"/>
          </a:p>
        </p:txBody>
      </p:sp>
      <p:sp>
        <p:nvSpPr>
          <p:cNvPr id="13" name="Text 11"/>
          <p:cNvSpPr/>
          <p:nvPr/>
        </p:nvSpPr>
        <p:spPr>
          <a:xfrm>
            <a:off x="6309360" y="1810512"/>
            <a:ext cx="5120640" cy="548640"/>
          </a:xfrm>
          <a:prstGeom prst="rect">
            <a:avLst/>
          </a:prstGeom>
          <a:noFill/>
          <a:ln/>
        </p:spPr>
        <p:txBody>
          <a:bodyPr wrap="square" rtlCol="0" anchor="ctr"/>
          <a:lstStyle/>
          <a:p>
            <a:pPr indent="0" marL="0">
              <a:buNone/>
            </a:pPr>
            <a:r>
              <a:rPr lang="en-US" sz="1050" dirty="0">
                <a:solidFill>
                  <a:srgbClr val="F4736A"/>
                </a:solidFill>
                <a:latin typeface="Calibri" pitchFamily="34" charset="0"/>
                <a:ea typeface="Calibri" pitchFamily="34" charset="-122"/>
                <a:cs typeface="Calibri" pitchFamily="34" charset="-120"/>
              </a:rPr>
              <a:t>❌ Uses land (sometimes over habitats), materials to build panels</a:t>
            </a:r>
            <a:endParaRPr lang="en-US" sz="1050" dirty="0"/>
          </a:p>
        </p:txBody>
      </p:sp>
      <p:sp>
        <p:nvSpPr>
          <p:cNvPr id="14" name="Text 12"/>
          <p:cNvSpPr/>
          <p:nvPr/>
        </p:nvSpPr>
        <p:spPr>
          <a:xfrm>
            <a:off x="6309360" y="2377440"/>
            <a:ext cx="5120640" cy="877824"/>
          </a:xfrm>
          <a:prstGeom prst="rect">
            <a:avLst/>
          </a:prstGeom>
          <a:noFill/>
          <a:ln/>
        </p:spPr>
        <p:txBody>
          <a:bodyPr wrap="square" rtlCol="0" anchor="ctr"/>
          <a:lstStyle/>
          <a:p>
            <a:pPr indent="0" marL="0">
              <a:buNone/>
            </a:pPr>
            <a:r>
              <a:rPr lang="en-US" sz="1000" dirty="0">
                <a:solidFill>
                  <a:srgbClr val="4CC9F0"/>
                </a:solidFill>
                <a:latin typeface="Calibri" pitchFamily="34" charset="0"/>
                <a:ea typeface="Calibri" pitchFamily="34" charset="-122"/>
                <a:cs typeface="Calibri" pitchFamily="34" charset="-120"/>
              </a:rPr>
              <a:t>🛡️ Site on already-disturbed land (parking lots, rooftops), wildlife corridors</a:t>
            </a:r>
            <a:endParaRPr lang="en-US" sz="1000" dirty="0"/>
          </a:p>
        </p:txBody>
      </p:sp>
      <p:sp>
        <p:nvSpPr>
          <p:cNvPr id="15" name="Shape 13"/>
          <p:cNvSpPr/>
          <p:nvPr/>
        </p:nvSpPr>
        <p:spPr>
          <a:xfrm>
            <a:off x="365760" y="3602736"/>
            <a:ext cx="5486400" cy="2670048"/>
          </a:xfrm>
          <a:prstGeom prst="roundRect">
            <a:avLst>
              <a:gd name="adj" fmla="val 2740"/>
            </a:avLst>
          </a:prstGeom>
          <a:solidFill>
            <a:srgbClr val="1E2F45"/>
          </a:solidFill>
          <a:ln w="12700">
            <a:solidFill>
              <a:srgbClr val="F4736A"/>
            </a:solidFill>
            <a:prstDash val="solid"/>
          </a:ln>
        </p:spPr>
      </p:sp>
      <p:sp>
        <p:nvSpPr>
          <p:cNvPr id="16" name="Text 14"/>
          <p:cNvSpPr/>
          <p:nvPr/>
        </p:nvSpPr>
        <p:spPr>
          <a:xfrm>
            <a:off x="548640" y="3694176"/>
            <a:ext cx="5120640" cy="365760"/>
          </a:xfrm>
          <a:prstGeom prst="rect">
            <a:avLst/>
          </a:prstGeom>
          <a:noFill/>
          <a:ln/>
        </p:spPr>
        <p:txBody>
          <a:bodyPr wrap="square" rtlCol="0" anchor="ctr"/>
          <a:lstStyle/>
          <a:p>
            <a:pPr indent="0" marL="0">
              <a:buNone/>
            </a:pPr>
            <a:r>
              <a:rPr lang="en-US" sz="1300" b="1" dirty="0">
                <a:solidFill>
                  <a:srgbClr val="F4736A"/>
                </a:solidFill>
                <a:latin typeface="Calibri" pitchFamily="34" charset="0"/>
                <a:ea typeface="Calibri" pitchFamily="34" charset="-122"/>
                <a:cs typeface="Calibri" pitchFamily="34" charset="-120"/>
              </a:rPr>
              <a:t>⛏️ Phosphate Mining</a:t>
            </a:r>
            <a:endParaRPr lang="en-US" sz="1300" dirty="0"/>
          </a:p>
        </p:txBody>
      </p:sp>
      <p:sp>
        <p:nvSpPr>
          <p:cNvPr id="17" name="Text 15"/>
          <p:cNvSpPr/>
          <p:nvPr/>
        </p:nvSpPr>
        <p:spPr>
          <a:xfrm>
            <a:off x="548640" y="4096512"/>
            <a:ext cx="5120640" cy="548640"/>
          </a:xfrm>
          <a:prstGeom prst="rect">
            <a:avLst/>
          </a:prstGeom>
          <a:noFill/>
          <a:ln/>
        </p:spPr>
        <p:txBody>
          <a:bodyPr wrap="square" rtlCol="0" anchor="ctr"/>
          <a:lstStyle/>
          <a:p>
            <a:pPr indent="0" marL="0">
              <a:buNone/>
            </a:pPr>
            <a:r>
              <a:rPr lang="en-US" sz="1050" dirty="0">
                <a:solidFill>
                  <a:srgbClr val="2DC653"/>
                </a:solidFill>
                <a:latin typeface="Calibri" pitchFamily="34" charset="0"/>
                <a:ea typeface="Calibri" pitchFamily="34" charset="-122"/>
                <a:cs typeface="Calibri" pitchFamily="34" charset="-120"/>
              </a:rPr>
              <a:t>✅ Fertilizer for food production nationwide</a:t>
            </a:r>
            <a:endParaRPr lang="en-US" sz="1050" dirty="0"/>
          </a:p>
        </p:txBody>
      </p:sp>
      <p:sp>
        <p:nvSpPr>
          <p:cNvPr id="18" name="Text 16"/>
          <p:cNvSpPr/>
          <p:nvPr/>
        </p:nvSpPr>
        <p:spPr>
          <a:xfrm>
            <a:off x="548640" y="4663440"/>
            <a:ext cx="5120640" cy="548640"/>
          </a:xfrm>
          <a:prstGeom prst="rect">
            <a:avLst/>
          </a:prstGeom>
          <a:noFill/>
          <a:ln/>
        </p:spPr>
        <p:txBody>
          <a:bodyPr wrap="square" rtlCol="0" anchor="ctr"/>
          <a:lstStyle/>
          <a:p>
            <a:pPr indent="0" marL="0">
              <a:buNone/>
            </a:pPr>
            <a:r>
              <a:rPr lang="en-US" sz="1050" dirty="0">
                <a:solidFill>
                  <a:srgbClr val="F4736A"/>
                </a:solidFill>
                <a:latin typeface="Calibri" pitchFamily="34" charset="0"/>
                <a:ea typeface="Calibri" pitchFamily="34" charset="-122"/>
                <a:cs typeface="Calibri" pitchFamily="34" charset="-120"/>
              </a:rPr>
              <a:t>❌ Large land disturbance, water runoff, long-lasting changes</a:t>
            </a:r>
            <a:endParaRPr lang="en-US" sz="1050" dirty="0"/>
          </a:p>
        </p:txBody>
      </p:sp>
      <p:sp>
        <p:nvSpPr>
          <p:cNvPr id="19" name="Text 17"/>
          <p:cNvSpPr/>
          <p:nvPr/>
        </p:nvSpPr>
        <p:spPr>
          <a:xfrm>
            <a:off x="548640" y="5230368"/>
            <a:ext cx="5120640" cy="877824"/>
          </a:xfrm>
          <a:prstGeom prst="rect">
            <a:avLst/>
          </a:prstGeom>
          <a:noFill/>
          <a:ln/>
        </p:spPr>
        <p:txBody>
          <a:bodyPr wrap="square" rtlCol="0" anchor="ctr"/>
          <a:lstStyle/>
          <a:p>
            <a:pPr indent="0" marL="0">
              <a:buNone/>
            </a:pPr>
            <a:r>
              <a:rPr lang="en-US" sz="1000" dirty="0">
                <a:solidFill>
                  <a:srgbClr val="4CC9F0"/>
                </a:solidFill>
                <a:latin typeface="Calibri" pitchFamily="34" charset="0"/>
                <a:ea typeface="Calibri" pitchFamily="34" charset="-122"/>
                <a:cs typeface="Calibri" pitchFamily="34" charset="-120"/>
              </a:rPr>
              <a:t>🛡️ Florida requires land restoration after mining; water monitoring</a:t>
            </a:r>
            <a:endParaRPr lang="en-US" sz="1000" dirty="0"/>
          </a:p>
        </p:txBody>
      </p:sp>
      <p:sp>
        <p:nvSpPr>
          <p:cNvPr id="20" name="Shape 18"/>
          <p:cNvSpPr/>
          <p:nvPr/>
        </p:nvSpPr>
        <p:spPr>
          <a:xfrm>
            <a:off x="6126480" y="3602736"/>
            <a:ext cx="5486400" cy="2670048"/>
          </a:xfrm>
          <a:prstGeom prst="roundRect">
            <a:avLst>
              <a:gd name="adj" fmla="val 2740"/>
            </a:avLst>
          </a:prstGeom>
          <a:solidFill>
            <a:srgbClr val="1E2F45"/>
          </a:solidFill>
          <a:ln w="12700">
            <a:solidFill>
              <a:srgbClr val="4CC9F0"/>
            </a:solidFill>
            <a:prstDash val="solid"/>
          </a:ln>
        </p:spPr>
      </p:sp>
      <p:sp>
        <p:nvSpPr>
          <p:cNvPr id="21" name="Text 19"/>
          <p:cNvSpPr/>
          <p:nvPr/>
        </p:nvSpPr>
        <p:spPr>
          <a:xfrm>
            <a:off x="6309360" y="3694176"/>
            <a:ext cx="5120640" cy="365760"/>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 Irrigation Farming</a:t>
            </a:r>
            <a:endParaRPr lang="en-US" sz="1300" dirty="0"/>
          </a:p>
        </p:txBody>
      </p:sp>
      <p:sp>
        <p:nvSpPr>
          <p:cNvPr id="22" name="Text 20"/>
          <p:cNvSpPr/>
          <p:nvPr/>
        </p:nvSpPr>
        <p:spPr>
          <a:xfrm>
            <a:off x="6309360" y="4096512"/>
            <a:ext cx="5120640" cy="548640"/>
          </a:xfrm>
          <a:prstGeom prst="rect">
            <a:avLst/>
          </a:prstGeom>
          <a:noFill/>
          <a:ln/>
        </p:spPr>
        <p:txBody>
          <a:bodyPr wrap="square" rtlCol="0" anchor="ctr"/>
          <a:lstStyle/>
          <a:p>
            <a:pPr indent="0" marL="0">
              <a:buNone/>
            </a:pPr>
            <a:r>
              <a:rPr lang="en-US" sz="1050" dirty="0">
                <a:solidFill>
                  <a:srgbClr val="2DC653"/>
                </a:solidFill>
                <a:latin typeface="Calibri" pitchFamily="34" charset="0"/>
                <a:ea typeface="Calibri" pitchFamily="34" charset="-122"/>
                <a:cs typeface="Calibri" pitchFamily="34" charset="-120"/>
              </a:rPr>
              <a:t>✅ Food production, year-round crops</a:t>
            </a:r>
            <a:endParaRPr lang="en-US" sz="1050" dirty="0"/>
          </a:p>
        </p:txBody>
      </p:sp>
      <p:sp>
        <p:nvSpPr>
          <p:cNvPr id="23" name="Text 21"/>
          <p:cNvSpPr/>
          <p:nvPr/>
        </p:nvSpPr>
        <p:spPr>
          <a:xfrm>
            <a:off x="6309360" y="4663440"/>
            <a:ext cx="5120640" cy="548640"/>
          </a:xfrm>
          <a:prstGeom prst="rect">
            <a:avLst/>
          </a:prstGeom>
          <a:noFill/>
          <a:ln/>
        </p:spPr>
        <p:txBody>
          <a:bodyPr wrap="square" rtlCol="0" anchor="ctr"/>
          <a:lstStyle/>
          <a:p>
            <a:pPr indent="0" marL="0">
              <a:buNone/>
            </a:pPr>
            <a:r>
              <a:rPr lang="en-US" sz="1050" dirty="0">
                <a:solidFill>
                  <a:srgbClr val="F4736A"/>
                </a:solidFill>
                <a:latin typeface="Calibri" pitchFamily="34" charset="0"/>
                <a:ea typeface="Calibri" pitchFamily="34" charset="-122"/>
                <a:cs typeface="Calibri" pitchFamily="34" charset="-120"/>
              </a:rPr>
              <a:t>❌ Heavy water use from aquifer; runoff can pollute rivers</a:t>
            </a:r>
            <a:endParaRPr lang="en-US" sz="1050" dirty="0"/>
          </a:p>
        </p:txBody>
      </p:sp>
      <p:sp>
        <p:nvSpPr>
          <p:cNvPr id="24" name="Text 22"/>
          <p:cNvSpPr/>
          <p:nvPr/>
        </p:nvSpPr>
        <p:spPr>
          <a:xfrm>
            <a:off x="6309360" y="5230368"/>
            <a:ext cx="5120640" cy="877824"/>
          </a:xfrm>
          <a:prstGeom prst="rect">
            <a:avLst/>
          </a:prstGeom>
          <a:noFill/>
          <a:ln/>
        </p:spPr>
        <p:txBody>
          <a:bodyPr wrap="square" rtlCol="0" anchor="ctr"/>
          <a:lstStyle/>
          <a:p>
            <a:pPr indent="0" marL="0">
              <a:buNone/>
            </a:pPr>
            <a:r>
              <a:rPr lang="en-US" sz="1000" dirty="0">
                <a:solidFill>
                  <a:srgbClr val="4CC9F0"/>
                </a:solidFill>
                <a:latin typeface="Calibri" pitchFamily="34" charset="0"/>
                <a:ea typeface="Calibri" pitchFamily="34" charset="-122"/>
                <a:cs typeface="Calibri" pitchFamily="34" charset="-120"/>
              </a:rPr>
              <a:t>🛡️ Drip irrigation (uses much less water); cover crops to protect soil</a:t>
            </a:r>
            <a:endParaRPr lang="en-US" sz="1000" dirty="0"/>
          </a:p>
        </p:txBody>
      </p:sp>
      <p:sp>
        <p:nvSpPr>
          <p:cNvPr id="25" name="Shape 23"/>
          <p:cNvSpPr/>
          <p:nvPr/>
        </p:nvSpPr>
        <p:spPr>
          <a:xfrm>
            <a:off x="0" y="6629400"/>
            <a:ext cx="12192000" cy="228600"/>
          </a:xfrm>
          <a:prstGeom prst="rect">
            <a:avLst/>
          </a:prstGeom>
          <a:solidFill>
            <a:srgbClr val="162233"/>
          </a:solidFill>
          <a:ln/>
        </p:spPr>
      </p:sp>
      <p:sp>
        <p:nvSpPr>
          <p:cNvPr id="26" name="Text 2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16.01  ·  Modern Resources &amp; Environmental Choices</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Mind-Blow: Florida State Parks on Old Mine Land</a:t>
            </a:r>
            <a:endParaRPr lang="en-US" sz="1600" dirty="0"/>
          </a:p>
        </p:txBody>
      </p:sp>
      <p:sp>
        <p:nvSpPr>
          <p:cNvPr id="5" name="Shape 3"/>
          <p:cNvSpPr/>
          <p:nvPr/>
        </p:nvSpPr>
        <p:spPr>
          <a:xfrm>
            <a:off x="365760" y="749808"/>
            <a:ext cx="11247120" cy="1993392"/>
          </a:xfrm>
          <a:prstGeom prst="roundRect">
            <a:avLst>
              <a:gd name="adj" fmla="val 3670"/>
            </a:avLst>
          </a:prstGeom>
          <a:solidFill>
            <a:srgbClr val="1A0A05"/>
          </a:solidFill>
          <a:ln w="12700">
            <a:solidFill>
              <a:srgbClr val="F4736A"/>
            </a:solidFill>
            <a:prstDash val="solid"/>
          </a:ln>
        </p:spPr>
      </p:sp>
      <p:sp>
        <p:nvSpPr>
          <p:cNvPr id="6" name="Text 4"/>
          <p:cNvSpPr/>
          <p:nvPr/>
        </p:nvSpPr>
        <p:spPr>
          <a:xfrm>
            <a:off x="548640" y="822960"/>
            <a:ext cx="10972800" cy="475488"/>
          </a:xfrm>
          <a:prstGeom prst="rect">
            <a:avLst/>
          </a:prstGeom>
          <a:noFill/>
          <a:ln/>
        </p:spPr>
        <p:txBody>
          <a:bodyPr wrap="square" rtlCol="0" anchor="ctr"/>
          <a:lstStyle/>
          <a:p>
            <a:pPr indent="0" marL="0">
              <a:buNone/>
            </a:pPr>
            <a:r>
              <a:rPr lang="en-US" sz="1500" b="1" dirty="0">
                <a:solidFill>
                  <a:srgbClr val="F4736A"/>
                </a:solidFill>
                <a:latin typeface="Calibri" pitchFamily="34" charset="0"/>
                <a:ea typeface="Calibri" pitchFamily="34" charset="-122"/>
                <a:cs typeface="Calibri" pitchFamily="34" charset="-120"/>
              </a:rPr>
              <a:t>🌿 Florida law requires mined phosphate land to be RESTORED after use.</a:t>
            </a:r>
            <a:endParaRPr lang="en-US" sz="1500" dirty="0"/>
          </a:p>
        </p:txBody>
      </p:sp>
      <p:sp>
        <p:nvSpPr>
          <p:cNvPr id="7" name="Text 5"/>
          <p:cNvSpPr/>
          <p:nvPr/>
        </p:nvSpPr>
        <p:spPr>
          <a:xfrm>
            <a:off x="548640" y="1335024"/>
            <a:ext cx="10972800" cy="1261872"/>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Some old mining areas in central Florida have become FLORIDA STATE PARKS — places where you can fish and watch birds today. The same land that was mined for phosphate is now wildlife habitat.</a:t>
            </a:r>
            <a:endParaRPr lang="en-US" sz="1200" dirty="0"/>
          </a:p>
          <a:p>
            <a:pPr indent="0" marL="0">
              <a:buNone/>
            </a:pPr>
            <a:endParaRPr lang="en-US" sz="1200" dirty="0"/>
          </a:p>
          <a:p>
            <a:pPr indent="0" marL="0">
              <a:buNone/>
            </a:pPr>
            <a:r>
              <a:rPr lang="en-US" sz="1200" i="1" dirty="0">
                <a:solidFill>
                  <a:srgbClr val="FFFFFF"/>
                </a:solidFill>
                <a:latin typeface="Calibri" pitchFamily="34" charset="0"/>
                <a:ea typeface="Calibri" pitchFamily="34" charset="-122"/>
                <a:cs typeface="Calibri" pitchFamily="34" charset="-120"/>
              </a:rPr>
              <a:t>That's a protection strategy + restoration working together: the benefit (fertilizer) was achieved AND the environmental cost was partially reversed.</a:t>
            </a:r>
            <a:endParaRPr lang="en-US" sz="1200" dirty="0"/>
          </a:p>
        </p:txBody>
      </p:sp>
      <p:sp>
        <p:nvSpPr>
          <p:cNvPr id="8" name="Shape 6"/>
          <p:cNvSpPr/>
          <p:nvPr/>
        </p:nvSpPr>
        <p:spPr>
          <a:xfrm>
            <a:off x="365760" y="2871216"/>
            <a:ext cx="5394960" cy="2359152"/>
          </a:xfrm>
          <a:prstGeom prst="roundRect">
            <a:avLst>
              <a:gd name="adj" fmla="val 3101"/>
            </a:avLst>
          </a:prstGeom>
          <a:solidFill>
            <a:srgbClr val="1E2F45"/>
          </a:solidFill>
          <a:ln w="12700">
            <a:solidFill>
              <a:srgbClr val="2DC653"/>
            </a:solidFill>
            <a:prstDash val="solid"/>
          </a:ln>
        </p:spPr>
      </p:sp>
      <p:sp>
        <p:nvSpPr>
          <p:cNvPr id="9" name="Text 7"/>
          <p:cNvSpPr/>
          <p:nvPr/>
        </p:nvSpPr>
        <p:spPr>
          <a:xfrm>
            <a:off x="548640" y="2944368"/>
            <a:ext cx="502920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 Electric Cars — The Math Has Changed</a:t>
            </a:r>
            <a:endParaRPr lang="en-US" sz="1200" dirty="0"/>
          </a:p>
        </p:txBody>
      </p:sp>
      <p:sp>
        <p:nvSpPr>
          <p:cNvPr id="10" name="Text 8"/>
          <p:cNvSpPr/>
          <p:nvPr/>
        </p:nvSpPr>
        <p:spPr>
          <a:xfrm>
            <a:off x="548640" y="3328416"/>
            <a:ext cx="5029200" cy="177393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An electric car charged using Florida solar electricity has a MUCH SMALLER environmental cost over its lifetime than a gas car — even after you count the resources used to BUILD the electric car.</a:t>
            </a:r>
            <a:endParaRPr lang="en-US" sz="1100" dirty="0"/>
          </a:p>
          <a:p>
            <a:pPr indent="0" marL="0">
              <a:buNone/>
            </a:pP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The tradeoff math has changed in the last 20 years.</a:t>
            </a:r>
            <a:endParaRPr lang="en-US" sz="1100" dirty="0"/>
          </a:p>
        </p:txBody>
      </p:sp>
      <p:sp>
        <p:nvSpPr>
          <p:cNvPr id="11" name="Shape 9"/>
          <p:cNvSpPr/>
          <p:nvPr/>
        </p:nvSpPr>
        <p:spPr>
          <a:xfrm>
            <a:off x="6035040" y="2871216"/>
            <a:ext cx="5394960" cy="2359152"/>
          </a:xfrm>
          <a:prstGeom prst="roundRect">
            <a:avLst>
              <a:gd name="adj" fmla="val 3101"/>
            </a:avLst>
          </a:prstGeom>
          <a:solidFill>
            <a:srgbClr val="1E2F45"/>
          </a:solidFill>
          <a:ln w="12700">
            <a:solidFill>
              <a:srgbClr val="4CC9F0"/>
            </a:solidFill>
            <a:prstDash val="solid"/>
          </a:ln>
        </p:spPr>
      </p:sp>
      <p:sp>
        <p:nvSpPr>
          <p:cNvPr id="12" name="Text 10"/>
          <p:cNvSpPr/>
          <p:nvPr/>
        </p:nvSpPr>
        <p:spPr>
          <a:xfrm>
            <a:off x="6217920" y="2944368"/>
            <a:ext cx="50292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What does 'Sustainable' mean?</a:t>
            </a:r>
            <a:endParaRPr lang="en-US" sz="1200" dirty="0"/>
          </a:p>
        </p:txBody>
      </p:sp>
      <p:sp>
        <p:nvSpPr>
          <p:cNvPr id="13" name="Text 11"/>
          <p:cNvSpPr/>
          <p:nvPr/>
        </p:nvSpPr>
        <p:spPr>
          <a:xfrm>
            <a:off x="6217920" y="3328416"/>
            <a:ext cx="5029200" cy="177393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 sustainable choice keeps working for a long time without using things up. A sustainable farm doesn't exhaust the soil. A sustainable city doesn't drain its water supply.</a:t>
            </a:r>
            <a:endParaRPr lang="en-US" sz="1100" dirty="0"/>
          </a:p>
          <a:p>
            <a:pPr indent="0" marL="0">
              <a:buNone/>
            </a:pP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The right protection strategies move a tradeoff in the sustainable direction.</a:t>
            </a:r>
            <a:endParaRPr lang="en-US" sz="1100" dirty="0"/>
          </a:p>
        </p:txBody>
      </p:sp>
      <p:sp>
        <p:nvSpPr>
          <p:cNvPr id="14" name="Shape 12"/>
          <p:cNvSpPr/>
          <p:nvPr/>
        </p:nvSpPr>
        <p:spPr>
          <a:xfrm>
            <a:off x="0" y="6629400"/>
            <a:ext cx="12192000" cy="228600"/>
          </a:xfrm>
          <a:prstGeom prst="rect">
            <a:avLst/>
          </a:prstGeom>
          <a:solidFill>
            <a:srgbClr val="162233"/>
          </a:solidFill>
          <a:ln/>
        </p:spPr>
      </p:sp>
      <p:sp>
        <p:nvSpPr>
          <p:cNvPr id="15" name="Text 13"/>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16.01  ·  Modern Resources &amp; Environmental Choices</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Explore: Three-Part Tradeoff Analysis</a:t>
            </a:r>
            <a:endParaRPr lang="en-US" sz="1600" dirty="0"/>
          </a:p>
        </p:txBody>
      </p:sp>
      <p:sp>
        <p:nvSpPr>
          <p:cNvPr id="5" name="Text 3"/>
          <p:cNvSpPr/>
          <p:nvPr/>
        </p:nvSpPr>
        <p:spPr>
          <a:xfrm>
            <a:off x="365760" y="713232"/>
            <a:ext cx="11247120" cy="329184"/>
          </a:xfrm>
          <a:prstGeom prst="rect">
            <a:avLst/>
          </a:prstGeom>
          <a:noFill/>
          <a:ln/>
        </p:spPr>
        <p:txBody>
          <a:bodyPr wrap="square" rtlCol="0" anchor="ctr"/>
          <a:lstStyle/>
          <a:p>
            <a:pPr indent="0" marL="0">
              <a:buNone/>
            </a:pPr>
            <a:r>
              <a:rPr lang="en-US" sz="1200" i="1" dirty="0">
                <a:solidFill>
                  <a:srgbClr val="B0C4D8"/>
                </a:solidFill>
                <a:latin typeface="Calibri" pitchFamily="34" charset="0"/>
                <a:ea typeface="Calibri" pitchFamily="34" charset="-122"/>
                <a:cs typeface="Calibri" pitchFamily="34" charset="-120"/>
              </a:rPr>
              <a:t>Pick ONE Florida resource use you care about. Break it into all three parts.</a:t>
            </a:r>
            <a:endParaRPr lang="en-US" sz="1200" dirty="0"/>
          </a:p>
        </p:txBody>
      </p:sp>
      <p:sp>
        <p:nvSpPr>
          <p:cNvPr id="6" name="Shape 4"/>
          <p:cNvSpPr/>
          <p:nvPr/>
        </p:nvSpPr>
        <p:spPr>
          <a:xfrm>
            <a:off x="365760" y="1115568"/>
            <a:ext cx="11247120" cy="1188720"/>
          </a:xfrm>
          <a:prstGeom prst="roundRect">
            <a:avLst>
              <a:gd name="adj" fmla="val 6154"/>
            </a:avLst>
          </a:prstGeom>
          <a:solidFill>
            <a:srgbClr val="1E2F45"/>
          </a:solidFill>
          <a:ln w="12700">
            <a:solidFill>
              <a:srgbClr val="2DC653"/>
            </a:solidFill>
            <a:prstDash val="solid"/>
          </a:ln>
        </p:spPr>
      </p:sp>
      <p:sp>
        <p:nvSpPr>
          <p:cNvPr id="7" name="Shape 5"/>
          <p:cNvSpPr/>
          <p:nvPr/>
        </p:nvSpPr>
        <p:spPr>
          <a:xfrm>
            <a:off x="502920" y="1188720"/>
            <a:ext cx="1554480" cy="256032"/>
          </a:xfrm>
          <a:prstGeom prst="roundRect">
            <a:avLst>
              <a:gd name="adj" fmla="val 50000"/>
            </a:avLst>
          </a:prstGeom>
          <a:solidFill>
            <a:srgbClr val="1A8C3A"/>
          </a:solidFill>
          <a:ln w="12700">
            <a:solidFill>
              <a:srgbClr val="1A8C3A"/>
            </a:solidFill>
            <a:prstDash val="solid"/>
          </a:ln>
        </p:spPr>
      </p:sp>
      <p:sp>
        <p:nvSpPr>
          <p:cNvPr id="8" name="Text 6"/>
          <p:cNvSpPr/>
          <p:nvPr/>
        </p:nvSpPr>
        <p:spPr>
          <a:xfrm>
            <a:off x="502920" y="118872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1</a:t>
            </a:r>
            <a:endParaRPr lang="en-US" sz="900" dirty="0"/>
          </a:p>
        </p:txBody>
      </p:sp>
      <p:sp>
        <p:nvSpPr>
          <p:cNvPr id="9" name="Text 7"/>
          <p:cNvSpPr/>
          <p:nvPr/>
        </p:nvSpPr>
        <p:spPr>
          <a:xfrm>
            <a:off x="2240280" y="1188720"/>
            <a:ext cx="9144000" cy="32918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Pick the resource use</a:t>
            </a:r>
            <a:endParaRPr lang="en-US" sz="1300" dirty="0"/>
          </a:p>
        </p:txBody>
      </p:sp>
      <p:sp>
        <p:nvSpPr>
          <p:cNvPr id="10" name="Text 8"/>
          <p:cNvSpPr/>
          <p:nvPr/>
        </p:nvSpPr>
        <p:spPr>
          <a:xfrm>
            <a:off x="2240280" y="1554480"/>
            <a:ext cx="9144000" cy="65836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Write the resource use at the top of a new page. Examples: solar farms, phosphate mining, citrus farming, beach tourism. Draw a horizontal balance scale below it.</a:t>
            </a:r>
            <a:endParaRPr lang="en-US" sz="1150" dirty="0"/>
          </a:p>
        </p:txBody>
      </p:sp>
      <p:sp>
        <p:nvSpPr>
          <p:cNvPr id="11" name="Shape 9"/>
          <p:cNvSpPr/>
          <p:nvPr/>
        </p:nvSpPr>
        <p:spPr>
          <a:xfrm>
            <a:off x="365760" y="2414016"/>
            <a:ext cx="11247120" cy="1188720"/>
          </a:xfrm>
          <a:prstGeom prst="roundRect">
            <a:avLst>
              <a:gd name="adj" fmla="val 6154"/>
            </a:avLst>
          </a:prstGeom>
          <a:solidFill>
            <a:srgbClr val="1E2F45"/>
          </a:solidFill>
          <a:ln w="12700">
            <a:solidFill>
              <a:srgbClr val="2DC653"/>
            </a:solidFill>
            <a:prstDash val="solid"/>
          </a:ln>
        </p:spPr>
      </p:sp>
      <p:sp>
        <p:nvSpPr>
          <p:cNvPr id="12" name="Shape 10"/>
          <p:cNvSpPr/>
          <p:nvPr/>
        </p:nvSpPr>
        <p:spPr>
          <a:xfrm>
            <a:off x="502920" y="2487168"/>
            <a:ext cx="1554480" cy="256032"/>
          </a:xfrm>
          <a:prstGeom prst="roundRect">
            <a:avLst>
              <a:gd name="adj" fmla="val 50000"/>
            </a:avLst>
          </a:prstGeom>
          <a:solidFill>
            <a:srgbClr val="1A8C3A"/>
          </a:solidFill>
          <a:ln w="12700">
            <a:solidFill>
              <a:srgbClr val="1A8C3A"/>
            </a:solidFill>
            <a:prstDash val="solid"/>
          </a:ln>
        </p:spPr>
      </p:sp>
      <p:sp>
        <p:nvSpPr>
          <p:cNvPr id="13" name="Text 11"/>
          <p:cNvSpPr/>
          <p:nvPr/>
        </p:nvSpPr>
        <p:spPr>
          <a:xfrm>
            <a:off x="502920" y="2487168"/>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2</a:t>
            </a:r>
            <a:endParaRPr lang="en-US" sz="900" dirty="0"/>
          </a:p>
        </p:txBody>
      </p:sp>
      <p:sp>
        <p:nvSpPr>
          <p:cNvPr id="14" name="Text 12"/>
          <p:cNvSpPr/>
          <p:nvPr/>
        </p:nvSpPr>
        <p:spPr>
          <a:xfrm>
            <a:off x="2240280" y="2487168"/>
            <a:ext cx="9144000" cy="32918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List the benefit (left pan)</a:t>
            </a:r>
            <a:endParaRPr lang="en-US" sz="1300" dirty="0"/>
          </a:p>
        </p:txBody>
      </p:sp>
      <p:sp>
        <p:nvSpPr>
          <p:cNvPr id="15" name="Text 13"/>
          <p:cNvSpPr/>
          <p:nvPr/>
        </p:nvSpPr>
        <p:spPr>
          <a:xfrm>
            <a:off x="2240280" y="2852928"/>
            <a:ext cx="9144000" cy="65836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On the LEFT pan of your scale, list at least TWO BENEFITS — what people gain when this resource is used.</a:t>
            </a:r>
            <a:endParaRPr lang="en-US" sz="1150" dirty="0"/>
          </a:p>
        </p:txBody>
      </p:sp>
      <p:sp>
        <p:nvSpPr>
          <p:cNvPr id="16" name="Shape 14"/>
          <p:cNvSpPr/>
          <p:nvPr/>
        </p:nvSpPr>
        <p:spPr>
          <a:xfrm>
            <a:off x="365760" y="3712464"/>
            <a:ext cx="11247120" cy="1188720"/>
          </a:xfrm>
          <a:prstGeom prst="roundRect">
            <a:avLst>
              <a:gd name="adj" fmla="val 6154"/>
            </a:avLst>
          </a:prstGeom>
          <a:solidFill>
            <a:srgbClr val="1E2F45"/>
          </a:solidFill>
          <a:ln w="12700">
            <a:solidFill>
              <a:srgbClr val="2DC653"/>
            </a:solidFill>
            <a:prstDash val="solid"/>
          </a:ln>
        </p:spPr>
      </p:sp>
      <p:sp>
        <p:nvSpPr>
          <p:cNvPr id="17" name="Shape 15"/>
          <p:cNvSpPr/>
          <p:nvPr/>
        </p:nvSpPr>
        <p:spPr>
          <a:xfrm>
            <a:off x="502920" y="3785616"/>
            <a:ext cx="1554480" cy="256032"/>
          </a:xfrm>
          <a:prstGeom prst="roundRect">
            <a:avLst>
              <a:gd name="adj" fmla="val 50000"/>
            </a:avLst>
          </a:prstGeom>
          <a:solidFill>
            <a:srgbClr val="1A8C3A"/>
          </a:solidFill>
          <a:ln w="12700">
            <a:solidFill>
              <a:srgbClr val="1A8C3A"/>
            </a:solidFill>
            <a:prstDash val="solid"/>
          </a:ln>
        </p:spPr>
      </p:sp>
      <p:sp>
        <p:nvSpPr>
          <p:cNvPr id="18" name="Text 16"/>
          <p:cNvSpPr/>
          <p:nvPr/>
        </p:nvSpPr>
        <p:spPr>
          <a:xfrm>
            <a:off x="502920" y="3785616"/>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3</a:t>
            </a:r>
            <a:endParaRPr lang="en-US" sz="900" dirty="0"/>
          </a:p>
        </p:txBody>
      </p:sp>
      <p:sp>
        <p:nvSpPr>
          <p:cNvPr id="19" name="Text 17"/>
          <p:cNvSpPr/>
          <p:nvPr/>
        </p:nvSpPr>
        <p:spPr>
          <a:xfrm>
            <a:off x="2240280" y="3785616"/>
            <a:ext cx="9144000" cy="32918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List the environmental cost (right pan)</a:t>
            </a:r>
            <a:endParaRPr lang="en-US" sz="1300" dirty="0"/>
          </a:p>
        </p:txBody>
      </p:sp>
      <p:sp>
        <p:nvSpPr>
          <p:cNvPr id="20" name="Text 18"/>
          <p:cNvSpPr/>
          <p:nvPr/>
        </p:nvSpPr>
        <p:spPr>
          <a:xfrm>
            <a:off x="2240280" y="4151376"/>
            <a:ext cx="9144000" cy="65836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On the RIGHT pan, list at least TWO ENVIRONMENTAL COSTS — what the environment loses. Be specific: air pollution? Lost habitat? Dirty water?</a:t>
            </a:r>
            <a:endParaRPr lang="en-US" sz="1150" dirty="0"/>
          </a:p>
        </p:txBody>
      </p:sp>
      <p:sp>
        <p:nvSpPr>
          <p:cNvPr id="21" name="Shape 19"/>
          <p:cNvSpPr/>
          <p:nvPr/>
        </p:nvSpPr>
        <p:spPr>
          <a:xfrm>
            <a:off x="365760" y="5010912"/>
            <a:ext cx="11247120" cy="1188720"/>
          </a:xfrm>
          <a:prstGeom prst="roundRect">
            <a:avLst>
              <a:gd name="adj" fmla="val 6154"/>
            </a:avLst>
          </a:prstGeom>
          <a:solidFill>
            <a:srgbClr val="1E2F45"/>
          </a:solidFill>
          <a:ln w="12700">
            <a:solidFill>
              <a:srgbClr val="2DC653"/>
            </a:solidFill>
            <a:prstDash val="solid"/>
          </a:ln>
        </p:spPr>
      </p:sp>
      <p:sp>
        <p:nvSpPr>
          <p:cNvPr id="22" name="Shape 20"/>
          <p:cNvSpPr/>
          <p:nvPr/>
        </p:nvSpPr>
        <p:spPr>
          <a:xfrm>
            <a:off x="502920" y="5084064"/>
            <a:ext cx="1554480" cy="256032"/>
          </a:xfrm>
          <a:prstGeom prst="roundRect">
            <a:avLst>
              <a:gd name="adj" fmla="val 50000"/>
            </a:avLst>
          </a:prstGeom>
          <a:solidFill>
            <a:srgbClr val="1A8C3A"/>
          </a:solidFill>
          <a:ln w="12700">
            <a:solidFill>
              <a:srgbClr val="1A8C3A"/>
            </a:solidFill>
            <a:prstDash val="solid"/>
          </a:ln>
        </p:spPr>
      </p:sp>
      <p:sp>
        <p:nvSpPr>
          <p:cNvPr id="23" name="Text 21"/>
          <p:cNvSpPr/>
          <p:nvPr/>
        </p:nvSpPr>
        <p:spPr>
          <a:xfrm>
            <a:off x="502920" y="5084064"/>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4</a:t>
            </a:r>
            <a:endParaRPr lang="en-US" sz="900" dirty="0"/>
          </a:p>
        </p:txBody>
      </p:sp>
      <p:sp>
        <p:nvSpPr>
          <p:cNvPr id="24" name="Text 22"/>
          <p:cNvSpPr/>
          <p:nvPr/>
        </p:nvSpPr>
        <p:spPr>
          <a:xfrm>
            <a:off x="2240280" y="5084064"/>
            <a:ext cx="9144000" cy="32918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Suggest a protection strategy</a:t>
            </a:r>
            <a:endParaRPr lang="en-US" sz="1300" dirty="0"/>
          </a:p>
        </p:txBody>
      </p:sp>
      <p:sp>
        <p:nvSpPr>
          <p:cNvPr id="25" name="Text 23"/>
          <p:cNvSpPr/>
          <p:nvPr/>
        </p:nvSpPr>
        <p:spPr>
          <a:xfrm>
            <a:off x="2240280" y="5449824"/>
            <a:ext cx="9144000" cy="65836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Below the scale, write ONE protection strategy that could lower the environmental cost. Then write: 'This strategy works because…'</a:t>
            </a:r>
            <a:endParaRPr lang="en-US" sz="1150" dirty="0"/>
          </a:p>
        </p:txBody>
      </p:sp>
      <p:sp>
        <p:nvSpPr>
          <p:cNvPr id="26" name="Shape 24"/>
          <p:cNvSpPr/>
          <p:nvPr/>
        </p:nvSpPr>
        <p:spPr>
          <a:xfrm>
            <a:off x="0" y="6629400"/>
            <a:ext cx="12192000" cy="228600"/>
          </a:xfrm>
          <a:prstGeom prst="rect">
            <a:avLst/>
          </a:prstGeom>
          <a:solidFill>
            <a:srgbClr val="162233"/>
          </a:solidFill>
          <a:ln/>
        </p:spPr>
      </p:sp>
      <p:sp>
        <p:nvSpPr>
          <p:cNvPr id="27" name="Text 2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16.01  ·  Modern Resources &amp; Environmental Choices</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CER Practice — Teacher Models First</a:t>
            </a:r>
            <a:endParaRPr lang="en-US" sz="1600" dirty="0"/>
          </a:p>
        </p:txBody>
      </p:sp>
      <p:sp>
        <p:nvSpPr>
          <p:cNvPr id="5" name="Shape 3"/>
          <p:cNvSpPr/>
          <p:nvPr/>
        </p:nvSpPr>
        <p:spPr>
          <a:xfrm>
            <a:off x="365760" y="749808"/>
            <a:ext cx="11247120" cy="585216"/>
          </a:xfrm>
          <a:prstGeom prst="roundRect">
            <a:avLst>
              <a:gd name="adj" fmla="val 12500"/>
            </a:avLst>
          </a:prstGeom>
          <a:solidFill>
            <a:srgbClr val="162233"/>
          </a:solidFill>
          <a:ln w="12700">
            <a:solidFill>
              <a:srgbClr val="4CC9F0"/>
            </a:solidFill>
            <a:prstDash val="solid"/>
          </a:ln>
        </p:spPr>
      </p:sp>
      <p:sp>
        <p:nvSpPr>
          <p:cNvPr id="6" name="Text 4"/>
          <p:cNvSpPr/>
          <p:nvPr/>
        </p:nvSpPr>
        <p:spPr>
          <a:xfrm>
            <a:off x="548640" y="804672"/>
            <a:ext cx="10972800" cy="47548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Q: Is it worth it for Florida to build a new solar farm on undeveloped land? Make a tradeoff argument.</a:t>
            </a:r>
            <a:endParaRPr lang="en-US" sz="1300" dirty="0"/>
          </a:p>
        </p:txBody>
      </p:sp>
      <p:sp>
        <p:nvSpPr>
          <p:cNvPr id="7" name="Shape 5"/>
          <p:cNvSpPr/>
          <p:nvPr/>
        </p:nvSpPr>
        <p:spPr>
          <a:xfrm>
            <a:off x="365760" y="1463040"/>
            <a:ext cx="3566160" cy="3749040"/>
          </a:xfrm>
          <a:prstGeom prst="roundRect">
            <a:avLst>
              <a:gd name="adj" fmla="val 2564"/>
            </a:avLst>
          </a:prstGeom>
          <a:solidFill>
            <a:srgbClr val="0A3D8F"/>
          </a:solidFill>
          <a:ln w="19050">
            <a:solidFill>
              <a:srgbClr val="1A5FBD"/>
            </a:solidFill>
            <a:prstDash val="solid"/>
          </a:ln>
        </p:spPr>
      </p:sp>
      <p:sp>
        <p:nvSpPr>
          <p:cNvPr id="8" name="Shape 6"/>
          <p:cNvSpPr/>
          <p:nvPr/>
        </p:nvSpPr>
        <p:spPr>
          <a:xfrm>
            <a:off x="365760" y="1463040"/>
            <a:ext cx="3566160" cy="347472"/>
          </a:xfrm>
          <a:prstGeom prst="rect">
            <a:avLst/>
          </a:prstGeom>
          <a:solidFill>
            <a:srgbClr val="1A5FBD"/>
          </a:solidFill>
          <a:ln w="12700">
            <a:solidFill>
              <a:srgbClr val="1A5FBD"/>
            </a:solidFill>
            <a:prstDash val="solid"/>
          </a:ln>
        </p:spPr>
      </p:sp>
      <p:sp>
        <p:nvSpPr>
          <p:cNvPr id="9" name="Text 7"/>
          <p:cNvSpPr/>
          <p:nvPr/>
        </p:nvSpPr>
        <p:spPr>
          <a:xfrm>
            <a:off x="457200" y="1481328"/>
            <a:ext cx="3383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CLAIM</a:t>
            </a:r>
            <a:endParaRPr lang="en-US" sz="1200" dirty="0"/>
          </a:p>
        </p:txBody>
      </p:sp>
      <p:sp>
        <p:nvSpPr>
          <p:cNvPr id="10" name="Text 8"/>
          <p:cNvSpPr/>
          <p:nvPr/>
        </p:nvSpPr>
        <p:spPr>
          <a:xfrm>
            <a:off x="502920" y="1865376"/>
            <a:ext cx="3291840" cy="3255264"/>
          </a:xfrm>
          <a:prstGeom prst="rect">
            <a:avLst/>
          </a:prstGeom>
          <a:noFill/>
          <a:ln/>
        </p:spPr>
        <p:txBody>
          <a:bodyPr wrap="square"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Building a solar farm on undeveloped land IS worth the tradeoff, as long as a protection strategy addresses the land-use cost.</a:t>
            </a:r>
            <a:endParaRPr lang="en-US" sz="1200" dirty="0"/>
          </a:p>
        </p:txBody>
      </p:sp>
      <p:sp>
        <p:nvSpPr>
          <p:cNvPr id="11" name="Shape 9"/>
          <p:cNvSpPr/>
          <p:nvPr/>
        </p:nvSpPr>
        <p:spPr>
          <a:xfrm>
            <a:off x="4114800" y="1463040"/>
            <a:ext cx="3566160" cy="3749040"/>
          </a:xfrm>
          <a:prstGeom prst="roundRect">
            <a:avLst>
              <a:gd name="adj" fmla="val 2564"/>
            </a:avLst>
          </a:prstGeom>
          <a:solidFill>
            <a:srgbClr val="145C35"/>
          </a:solidFill>
          <a:ln w="19050">
            <a:solidFill>
              <a:srgbClr val="228B50"/>
            </a:solidFill>
            <a:prstDash val="solid"/>
          </a:ln>
        </p:spPr>
      </p:sp>
      <p:sp>
        <p:nvSpPr>
          <p:cNvPr id="12" name="Shape 10"/>
          <p:cNvSpPr/>
          <p:nvPr/>
        </p:nvSpPr>
        <p:spPr>
          <a:xfrm>
            <a:off x="4114800" y="1463040"/>
            <a:ext cx="3566160" cy="347472"/>
          </a:xfrm>
          <a:prstGeom prst="rect">
            <a:avLst/>
          </a:prstGeom>
          <a:solidFill>
            <a:srgbClr val="228B50"/>
          </a:solidFill>
          <a:ln w="12700">
            <a:solidFill>
              <a:srgbClr val="228B50"/>
            </a:solidFill>
            <a:prstDash val="solid"/>
          </a:ln>
        </p:spPr>
      </p:sp>
      <p:sp>
        <p:nvSpPr>
          <p:cNvPr id="13" name="Text 11"/>
          <p:cNvSpPr/>
          <p:nvPr/>
        </p:nvSpPr>
        <p:spPr>
          <a:xfrm>
            <a:off x="4206240" y="1481328"/>
            <a:ext cx="3383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EVIDENCE</a:t>
            </a:r>
            <a:endParaRPr lang="en-US" sz="1200" dirty="0"/>
          </a:p>
        </p:txBody>
      </p:sp>
      <p:sp>
        <p:nvSpPr>
          <p:cNvPr id="14" name="Text 12"/>
          <p:cNvSpPr/>
          <p:nvPr/>
        </p:nvSpPr>
        <p:spPr>
          <a:xfrm>
            <a:off x="4251960" y="1865376"/>
            <a:ext cx="3291840" cy="3255264"/>
          </a:xfrm>
          <a:prstGeom prst="rect">
            <a:avLst/>
          </a:prstGeom>
          <a:noFill/>
          <a:ln/>
        </p:spPr>
        <p:txBody>
          <a:bodyPr wrap="square" rtlCol="0" anchor="t"/>
          <a:lstStyle/>
          <a:p>
            <a:pPr algn="l" indent="0" marL="0">
              <a:buNone/>
            </a:pPr>
            <a:r>
              <a:rPr lang="en-US" sz="1100" dirty="0">
                <a:solidFill>
                  <a:srgbClr val="FFFFFF"/>
                </a:solidFill>
                <a:latin typeface="Calibri" pitchFamily="34" charset="0"/>
                <a:ea typeface="Calibri" pitchFamily="34" charset="-122"/>
                <a:cs typeface="Calibri" pitchFamily="34" charset="-120"/>
              </a:rPr>
              <a:t>Benefit: Solar provides clean, renewable electricity with no combustion and no air pollution. Environmental cost: Building on undeveloped land can displace habitats and wildlife. Protection strategy: Florida planners now require wildlife corridor assessments before approving solar farms.</a:t>
            </a:r>
            <a:endParaRPr lang="en-US" sz="1100" dirty="0"/>
          </a:p>
        </p:txBody>
      </p:sp>
      <p:sp>
        <p:nvSpPr>
          <p:cNvPr id="15" name="Shape 13"/>
          <p:cNvSpPr/>
          <p:nvPr/>
        </p:nvSpPr>
        <p:spPr>
          <a:xfrm>
            <a:off x="7863840" y="1463040"/>
            <a:ext cx="3749040" cy="3749040"/>
          </a:xfrm>
          <a:prstGeom prst="roundRect">
            <a:avLst>
              <a:gd name="adj" fmla="val 2439"/>
            </a:avLst>
          </a:prstGeom>
          <a:solidFill>
            <a:srgbClr val="7A3200"/>
          </a:solidFill>
          <a:ln w="19050">
            <a:solidFill>
              <a:srgbClr val="B04A00"/>
            </a:solidFill>
            <a:prstDash val="solid"/>
          </a:ln>
        </p:spPr>
      </p:sp>
      <p:sp>
        <p:nvSpPr>
          <p:cNvPr id="16" name="Shape 14"/>
          <p:cNvSpPr/>
          <p:nvPr/>
        </p:nvSpPr>
        <p:spPr>
          <a:xfrm>
            <a:off x="7863840" y="1463040"/>
            <a:ext cx="3749040" cy="347472"/>
          </a:xfrm>
          <a:prstGeom prst="rect">
            <a:avLst/>
          </a:prstGeom>
          <a:solidFill>
            <a:srgbClr val="B04A00"/>
          </a:solidFill>
          <a:ln w="12700">
            <a:solidFill>
              <a:srgbClr val="B04A00"/>
            </a:solidFill>
            <a:prstDash val="solid"/>
          </a:ln>
        </p:spPr>
      </p:sp>
      <p:sp>
        <p:nvSpPr>
          <p:cNvPr id="17" name="Text 15"/>
          <p:cNvSpPr/>
          <p:nvPr/>
        </p:nvSpPr>
        <p:spPr>
          <a:xfrm>
            <a:off x="7955280" y="1481328"/>
            <a:ext cx="356616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REASONING</a:t>
            </a:r>
            <a:endParaRPr lang="en-US" sz="1200" dirty="0"/>
          </a:p>
        </p:txBody>
      </p:sp>
      <p:sp>
        <p:nvSpPr>
          <p:cNvPr id="18" name="Text 16"/>
          <p:cNvSpPr/>
          <p:nvPr/>
        </p:nvSpPr>
        <p:spPr>
          <a:xfrm>
            <a:off x="8001000" y="1865376"/>
            <a:ext cx="3474720" cy="3255264"/>
          </a:xfrm>
          <a:prstGeom prst="rect">
            <a:avLst/>
          </a:prstGeom>
          <a:noFill/>
          <a:ln/>
        </p:spPr>
        <p:txBody>
          <a:bodyPr wrap="square" rtlCol="0" anchor="t"/>
          <a:lstStyle/>
          <a:p>
            <a:pPr algn="l" indent="0" marL="0">
              <a:buNone/>
            </a:pPr>
            <a:r>
              <a:rPr lang="en-US" sz="1050" dirty="0">
                <a:solidFill>
                  <a:srgbClr val="FFFFFF"/>
                </a:solidFill>
                <a:latin typeface="Calibri" pitchFamily="34" charset="0"/>
                <a:ea typeface="Calibri" pitchFamily="34" charset="-122"/>
                <a:cs typeface="Calibri" pitchFamily="34" charset="-120"/>
              </a:rPr>
              <a:t>The benefit (clean electricity) is significant for Florida's future energy needs. The cost (land use) is real but manageable with the right protection strategy. Because the strategy exists AND the long-term benefit outweighs the cost, the tradeoff is worth it — especially compared to fossil fuels, which have larger and harder-to-reverse costs.</a:t>
            </a:r>
            <a:endParaRPr lang="en-US" sz="1050" dirty="0"/>
          </a:p>
        </p:txBody>
      </p:sp>
      <p:sp>
        <p:nvSpPr>
          <p:cNvPr id="19" name="Shape 17"/>
          <p:cNvSpPr/>
          <p:nvPr/>
        </p:nvSpPr>
        <p:spPr>
          <a:xfrm>
            <a:off x="0" y="6629400"/>
            <a:ext cx="12192000" cy="228600"/>
          </a:xfrm>
          <a:prstGeom prst="rect">
            <a:avLst/>
          </a:prstGeom>
          <a:solidFill>
            <a:srgbClr val="162233"/>
          </a:solidFill>
          <a:ln/>
        </p:spPr>
      </p:sp>
      <p:sp>
        <p:nvSpPr>
          <p:cNvPr id="20" name="Text 1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16.01  ·  Modern Resources &amp; Environmental Choices</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CER Practice — Your Turn (Independent)</a:t>
            </a:r>
            <a:endParaRPr lang="en-US" sz="1600" dirty="0"/>
          </a:p>
        </p:txBody>
      </p:sp>
      <p:sp>
        <p:nvSpPr>
          <p:cNvPr id="5" name="Shape 3"/>
          <p:cNvSpPr/>
          <p:nvPr/>
        </p:nvSpPr>
        <p:spPr>
          <a:xfrm>
            <a:off x="365760" y="749808"/>
            <a:ext cx="11247120" cy="585216"/>
          </a:xfrm>
          <a:prstGeom prst="roundRect">
            <a:avLst>
              <a:gd name="adj" fmla="val 12500"/>
            </a:avLst>
          </a:prstGeom>
          <a:solidFill>
            <a:srgbClr val="162233"/>
          </a:solidFill>
          <a:ln w="12700">
            <a:solidFill>
              <a:srgbClr val="FFB703"/>
            </a:solidFill>
            <a:prstDash val="solid"/>
          </a:ln>
        </p:spPr>
      </p:sp>
      <p:sp>
        <p:nvSpPr>
          <p:cNvPr id="6" name="Text 4"/>
          <p:cNvSpPr/>
          <p:nvPr/>
        </p:nvSpPr>
        <p:spPr>
          <a:xfrm>
            <a:off x="548640" y="804672"/>
            <a:ext cx="10972800" cy="47548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Q: Should Florida ban new gas car sales to reduce air pollution? Make a tradeoff argument.</a:t>
            </a:r>
            <a:endParaRPr lang="en-US" sz="1300" dirty="0"/>
          </a:p>
        </p:txBody>
      </p:sp>
      <p:sp>
        <p:nvSpPr>
          <p:cNvPr id="7" name="Shape 5"/>
          <p:cNvSpPr/>
          <p:nvPr/>
        </p:nvSpPr>
        <p:spPr>
          <a:xfrm>
            <a:off x="365760" y="1463040"/>
            <a:ext cx="3566160" cy="3657600"/>
          </a:xfrm>
          <a:prstGeom prst="roundRect">
            <a:avLst>
              <a:gd name="adj" fmla="val 2564"/>
            </a:avLst>
          </a:prstGeom>
          <a:solidFill>
            <a:srgbClr val="0A3D8F"/>
          </a:solidFill>
          <a:ln w="19050">
            <a:solidFill>
              <a:srgbClr val="1A5FBD"/>
            </a:solidFill>
            <a:prstDash val="solid"/>
          </a:ln>
        </p:spPr>
      </p:sp>
      <p:sp>
        <p:nvSpPr>
          <p:cNvPr id="8" name="Shape 6"/>
          <p:cNvSpPr/>
          <p:nvPr/>
        </p:nvSpPr>
        <p:spPr>
          <a:xfrm>
            <a:off x="365760" y="1463040"/>
            <a:ext cx="3566160" cy="347472"/>
          </a:xfrm>
          <a:prstGeom prst="rect">
            <a:avLst/>
          </a:prstGeom>
          <a:solidFill>
            <a:srgbClr val="1A5FBD"/>
          </a:solidFill>
          <a:ln w="12700">
            <a:solidFill>
              <a:srgbClr val="1A5FBD"/>
            </a:solidFill>
            <a:prstDash val="solid"/>
          </a:ln>
        </p:spPr>
      </p:sp>
      <p:sp>
        <p:nvSpPr>
          <p:cNvPr id="9" name="Text 7"/>
          <p:cNvSpPr/>
          <p:nvPr/>
        </p:nvSpPr>
        <p:spPr>
          <a:xfrm>
            <a:off x="457200" y="1481328"/>
            <a:ext cx="3383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CLAIM</a:t>
            </a:r>
            <a:endParaRPr lang="en-US" sz="1200" dirty="0"/>
          </a:p>
        </p:txBody>
      </p:sp>
      <p:sp>
        <p:nvSpPr>
          <p:cNvPr id="10" name="Text 8"/>
          <p:cNvSpPr/>
          <p:nvPr/>
        </p:nvSpPr>
        <p:spPr>
          <a:xfrm>
            <a:off x="502920" y="1865376"/>
            <a:ext cx="3291840" cy="3163824"/>
          </a:xfrm>
          <a:prstGeom prst="rect">
            <a:avLst/>
          </a:prstGeom>
          <a:noFill/>
          <a:ln/>
        </p:spPr>
        <p:txBody>
          <a:bodyPr wrap="square" rtlCol="0" anchor="t"/>
          <a:lstStyle/>
          <a:p>
            <a:pPr algn="l" indent="0" marL="0">
              <a:buNone/>
            </a:pPr>
            <a:r>
              <a:rPr lang="en-US" sz="1100" i="1" dirty="0">
                <a:solidFill>
                  <a:srgbClr val="FFFFFF"/>
                </a:solidFill>
                <a:latin typeface="Calibri" pitchFamily="34" charset="0"/>
                <a:ea typeface="Calibri" pitchFamily="34" charset="-122"/>
                <a:cs typeface="Calibri" pitchFamily="34" charset="-120"/>
              </a:rPr>
              <a:t>Take a POSITION — agree or disagree. State it in one sentence. (Either answer can be correct — your evidence and reasoning have to be strong.)</a:t>
            </a:r>
            <a:endParaRPr lang="en-US" sz="1100" dirty="0"/>
          </a:p>
        </p:txBody>
      </p:sp>
      <p:sp>
        <p:nvSpPr>
          <p:cNvPr id="11" name="Shape 9"/>
          <p:cNvSpPr/>
          <p:nvPr/>
        </p:nvSpPr>
        <p:spPr>
          <a:xfrm>
            <a:off x="4114800" y="1463040"/>
            <a:ext cx="3566160" cy="3657600"/>
          </a:xfrm>
          <a:prstGeom prst="roundRect">
            <a:avLst>
              <a:gd name="adj" fmla="val 2564"/>
            </a:avLst>
          </a:prstGeom>
          <a:solidFill>
            <a:srgbClr val="145C35"/>
          </a:solidFill>
          <a:ln w="19050">
            <a:solidFill>
              <a:srgbClr val="228B50"/>
            </a:solidFill>
            <a:prstDash val="solid"/>
          </a:ln>
        </p:spPr>
      </p:sp>
      <p:sp>
        <p:nvSpPr>
          <p:cNvPr id="12" name="Shape 10"/>
          <p:cNvSpPr/>
          <p:nvPr/>
        </p:nvSpPr>
        <p:spPr>
          <a:xfrm>
            <a:off x="4114800" y="1463040"/>
            <a:ext cx="3566160" cy="347472"/>
          </a:xfrm>
          <a:prstGeom prst="rect">
            <a:avLst/>
          </a:prstGeom>
          <a:solidFill>
            <a:srgbClr val="228B50"/>
          </a:solidFill>
          <a:ln w="12700">
            <a:solidFill>
              <a:srgbClr val="228B50"/>
            </a:solidFill>
            <a:prstDash val="solid"/>
          </a:ln>
        </p:spPr>
      </p:sp>
      <p:sp>
        <p:nvSpPr>
          <p:cNvPr id="13" name="Text 11"/>
          <p:cNvSpPr/>
          <p:nvPr/>
        </p:nvSpPr>
        <p:spPr>
          <a:xfrm>
            <a:off x="4206240" y="1481328"/>
            <a:ext cx="3383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EVIDENCE</a:t>
            </a:r>
            <a:endParaRPr lang="en-US" sz="1200" dirty="0"/>
          </a:p>
        </p:txBody>
      </p:sp>
      <p:sp>
        <p:nvSpPr>
          <p:cNvPr id="14" name="Text 12"/>
          <p:cNvSpPr/>
          <p:nvPr/>
        </p:nvSpPr>
        <p:spPr>
          <a:xfrm>
            <a:off x="4251960" y="1865376"/>
            <a:ext cx="3291840" cy="3163824"/>
          </a:xfrm>
          <a:prstGeom prst="rect">
            <a:avLst/>
          </a:prstGeom>
          <a:noFill/>
          <a:ln/>
        </p:spPr>
        <p:txBody>
          <a:bodyPr wrap="square" rtlCol="0" anchor="t"/>
          <a:lstStyle/>
          <a:p>
            <a:pPr algn="l" indent="0" marL="0">
              <a:buNone/>
            </a:pPr>
            <a:r>
              <a:rPr lang="en-US" sz="1100" i="1" dirty="0">
                <a:solidFill>
                  <a:srgbClr val="FFFFFF"/>
                </a:solidFill>
                <a:latin typeface="Calibri" pitchFamily="34" charset="0"/>
                <a:ea typeface="Calibri" pitchFamily="34" charset="-122"/>
                <a:cs typeface="Calibri" pitchFamily="34" charset="-120"/>
              </a:rPr>
              <a:t>Name the BENEFIT of gas cars AND the ENVIRONMENTAL COST. Name at least one PROTECTION STRATEGY. Show you understand both sides.</a:t>
            </a:r>
            <a:endParaRPr lang="en-US" sz="1100" dirty="0"/>
          </a:p>
        </p:txBody>
      </p:sp>
      <p:sp>
        <p:nvSpPr>
          <p:cNvPr id="15" name="Shape 13"/>
          <p:cNvSpPr/>
          <p:nvPr/>
        </p:nvSpPr>
        <p:spPr>
          <a:xfrm>
            <a:off x="7863840" y="1463040"/>
            <a:ext cx="3749040" cy="3657600"/>
          </a:xfrm>
          <a:prstGeom prst="roundRect">
            <a:avLst>
              <a:gd name="adj" fmla="val 2500"/>
            </a:avLst>
          </a:prstGeom>
          <a:solidFill>
            <a:srgbClr val="7A3200"/>
          </a:solidFill>
          <a:ln w="19050">
            <a:solidFill>
              <a:srgbClr val="B04A00"/>
            </a:solidFill>
            <a:prstDash val="solid"/>
          </a:ln>
        </p:spPr>
      </p:sp>
      <p:sp>
        <p:nvSpPr>
          <p:cNvPr id="16" name="Shape 14"/>
          <p:cNvSpPr/>
          <p:nvPr/>
        </p:nvSpPr>
        <p:spPr>
          <a:xfrm>
            <a:off x="7863840" y="1463040"/>
            <a:ext cx="3749040" cy="347472"/>
          </a:xfrm>
          <a:prstGeom prst="rect">
            <a:avLst/>
          </a:prstGeom>
          <a:solidFill>
            <a:srgbClr val="B04A00"/>
          </a:solidFill>
          <a:ln w="12700">
            <a:solidFill>
              <a:srgbClr val="B04A00"/>
            </a:solidFill>
            <a:prstDash val="solid"/>
          </a:ln>
        </p:spPr>
      </p:sp>
      <p:sp>
        <p:nvSpPr>
          <p:cNvPr id="17" name="Text 15"/>
          <p:cNvSpPr/>
          <p:nvPr/>
        </p:nvSpPr>
        <p:spPr>
          <a:xfrm>
            <a:off x="7955280" y="1481328"/>
            <a:ext cx="356616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REASONING</a:t>
            </a:r>
            <a:endParaRPr lang="en-US" sz="1200" dirty="0"/>
          </a:p>
        </p:txBody>
      </p:sp>
      <p:sp>
        <p:nvSpPr>
          <p:cNvPr id="18" name="Text 16"/>
          <p:cNvSpPr/>
          <p:nvPr/>
        </p:nvSpPr>
        <p:spPr>
          <a:xfrm>
            <a:off x="8001000" y="1865376"/>
            <a:ext cx="3474720" cy="3163824"/>
          </a:xfrm>
          <a:prstGeom prst="rect">
            <a:avLst/>
          </a:prstGeom>
          <a:noFill/>
          <a:ln/>
        </p:spPr>
        <p:txBody>
          <a:bodyPr wrap="square" rtlCol="0" anchor="t"/>
          <a:lstStyle/>
          <a:p>
            <a:pPr algn="l" indent="0" marL="0">
              <a:buNone/>
            </a:pPr>
            <a:r>
              <a:rPr lang="en-US" sz="1100" i="1" dirty="0">
                <a:solidFill>
                  <a:srgbClr val="FFFFFF"/>
                </a:solidFill>
                <a:latin typeface="Calibri" pitchFamily="34" charset="0"/>
                <a:ea typeface="Calibri" pitchFamily="34" charset="-122"/>
                <a:cs typeface="Calibri" pitchFamily="34" charset="-120"/>
              </a:rPr>
              <a:t>Explain WHY the benefit outweighs the cost (or vice versa). Address the other side — don't pretend it doesn't exist. Acknowledge the protection strategy.</a:t>
            </a:r>
            <a:endParaRPr lang="en-US" sz="1100" dirty="0"/>
          </a:p>
        </p:txBody>
      </p:sp>
      <p:sp>
        <p:nvSpPr>
          <p:cNvPr id="19" name="Shape 17"/>
          <p:cNvSpPr/>
          <p:nvPr/>
        </p:nvSpPr>
        <p:spPr>
          <a:xfrm>
            <a:off x="365760" y="5248656"/>
            <a:ext cx="11247120" cy="658368"/>
          </a:xfrm>
          <a:prstGeom prst="roundRect">
            <a:avLst>
              <a:gd name="adj" fmla="val 11111"/>
            </a:avLst>
          </a:prstGeom>
          <a:solidFill>
            <a:srgbClr val="1A1A2A"/>
          </a:solidFill>
          <a:ln w="12700">
            <a:solidFill>
              <a:srgbClr val="B0C4D8"/>
            </a:solidFill>
            <a:prstDash val="solid"/>
          </a:ln>
        </p:spPr>
      </p:sp>
      <p:sp>
        <p:nvSpPr>
          <p:cNvPr id="20" name="Text 18"/>
          <p:cNvSpPr/>
          <p:nvPr/>
        </p:nvSpPr>
        <p:spPr>
          <a:xfrm>
            <a:off x="548640" y="5321808"/>
            <a:ext cx="10972800" cy="512064"/>
          </a:xfrm>
          <a:prstGeom prst="rect">
            <a:avLst/>
          </a:prstGeom>
          <a:noFill/>
          <a:ln/>
        </p:spPr>
        <p:txBody>
          <a:bodyPr wrap="square" rtlCol="0" anchor="ctr"/>
          <a:lstStyle/>
          <a:p>
            <a:pPr indent="0" marL="0">
              <a:buNone/>
            </a:pPr>
            <a:r>
              <a:rPr lang="en-US" sz="1100" i="1" dirty="0">
                <a:solidFill>
                  <a:srgbClr val="B0C4D8"/>
                </a:solidFill>
                <a:latin typeface="Calibri" pitchFamily="34" charset="0"/>
                <a:ea typeface="Calibri" pitchFamily="34" charset="-122"/>
                <a:cs typeface="Calibri" pitchFamily="34" charset="-120"/>
              </a:rPr>
              <a:t>💡 Strong reasoning in Week 16: acknowledge BOTH sides, then explain which outweighs the other — and WHY.</a:t>
            </a:r>
            <a:endParaRPr lang="en-US" sz="1100" dirty="0"/>
          </a:p>
        </p:txBody>
      </p:sp>
      <p:sp>
        <p:nvSpPr>
          <p:cNvPr id="21" name="Shape 19"/>
          <p:cNvSpPr/>
          <p:nvPr/>
        </p:nvSpPr>
        <p:spPr>
          <a:xfrm>
            <a:off x="0" y="6629400"/>
            <a:ext cx="12192000" cy="228600"/>
          </a:xfrm>
          <a:prstGeom prst="rect">
            <a:avLst/>
          </a:prstGeom>
          <a:solidFill>
            <a:srgbClr val="162233"/>
          </a:solidFill>
          <a:ln/>
        </p:spPr>
      </p:sp>
      <p:sp>
        <p:nvSpPr>
          <p:cNvPr id="22" name="Text 2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16.01  ·  Modern Resources &amp; Environmental Choices</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Self-Check — Discuss Together</a:t>
            </a:r>
            <a:endParaRPr lang="en-US" sz="1600" dirty="0"/>
          </a:p>
        </p:txBody>
      </p:sp>
      <p:sp>
        <p:nvSpPr>
          <p:cNvPr id="5" name="Shape 3"/>
          <p:cNvSpPr/>
          <p:nvPr/>
        </p:nvSpPr>
        <p:spPr>
          <a:xfrm>
            <a:off x="365760" y="713232"/>
            <a:ext cx="11247120" cy="1810512"/>
          </a:xfrm>
          <a:prstGeom prst="roundRect">
            <a:avLst>
              <a:gd name="adj" fmla="val 4040"/>
            </a:avLst>
          </a:prstGeom>
          <a:solidFill>
            <a:srgbClr val="1E2F45"/>
          </a:solidFill>
          <a:ln w="12700">
            <a:solidFill>
              <a:srgbClr val="4CC9F0"/>
            </a:solidFill>
            <a:prstDash val="solid"/>
          </a:ln>
        </p:spPr>
      </p:sp>
      <p:sp>
        <p:nvSpPr>
          <p:cNvPr id="6" name="Text 4"/>
          <p:cNvSpPr/>
          <p:nvPr/>
        </p:nvSpPr>
        <p:spPr>
          <a:xfrm>
            <a:off x="548640" y="786384"/>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Q1: What are the THREE parts of a resource tradeoff?</a:t>
            </a:r>
            <a:endParaRPr lang="en-US" sz="1200" dirty="0"/>
          </a:p>
        </p:txBody>
      </p:sp>
      <p:sp>
        <p:nvSpPr>
          <p:cNvPr id="7" name="Text 5"/>
          <p:cNvSpPr/>
          <p:nvPr/>
        </p:nvSpPr>
        <p:spPr>
          <a:xfrm>
            <a:off x="731520" y="1170432"/>
            <a:ext cx="10789920" cy="27432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 Renewable, nonrenewable, and impact</a:t>
            </a:r>
            <a:endParaRPr lang="en-US" sz="1100" dirty="0"/>
          </a:p>
        </p:txBody>
      </p:sp>
      <p:sp>
        <p:nvSpPr>
          <p:cNvPr id="8" name="Text 6"/>
          <p:cNvSpPr/>
          <p:nvPr/>
        </p:nvSpPr>
        <p:spPr>
          <a:xfrm>
            <a:off x="731520" y="1472184"/>
            <a:ext cx="10789920" cy="27432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B) Distribution, location, and pattern</a:t>
            </a:r>
            <a:endParaRPr lang="en-US" sz="1100" dirty="0"/>
          </a:p>
        </p:txBody>
      </p:sp>
      <p:sp>
        <p:nvSpPr>
          <p:cNvPr id="9" name="Text 7"/>
          <p:cNvSpPr/>
          <p:nvPr/>
        </p:nvSpPr>
        <p:spPr>
          <a:xfrm>
            <a:off x="731520" y="1773936"/>
            <a:ext cx="10789920" cy="274320"/>
          </a:xfrm>
          <a:prstGeom prst="rect">
            <a:avLst/>
          </a:prstGeom>
          <a:noFill/>
          <a:ln/>
        </p:spPr>
        <p:txBody>
          <a:bodyPr wrap="square" rtlCol="0" anchor="ctr"/>
          <a:lstStyle/>
          <a:p>
            <a:pPr indent="0" marL="0">
              <a:buNone/>
            </a:pPr>
            <a:r>
              <a:rPr lang="en-US" sz="1100" dirty="0">
                <a:solidFill>
                  <a:srgbClr val="2DC653"/>
                </a:solidFill>
                <a:latin typeface="Calibri" pitchFamily="34" charset="0"/>
                <a:ea typeface="Calibri" pitchFamily="34" charset="-122"/>
                <a:cs typeface="Calibri" pitchFamily="34" charset="-120"/>
              </a:rPr>
              <a:t>C) Benefit, environmental cost, and protection strategy ✅</a:t>
            </a:r>
            <a:endParaRPr lang="en-US" sz="1100" dirty="0"/>
          </a:p>
        </p:txBody>
      </p:sp>
      <p:sp>
        <p:nvSpPr>
          <p:cNvPr id="10" name="Text 8"/>
          <p:cNvSpPr/>
          <p:nvPr/>
        </p:nvSpPr>
        <p:spPr>
          <a:xfrm>
            <a:off x="548640" y="2103120"/>
            <a:ext cx="10972800" cy="256032"/>
          </a:xfrm>
          <a:prstGeom prst="rect">
            <a:avLst/>
          </a:prstGeom>
          <a:noFill/>
          <a:ln/>
        </p:spPr>
        <p:txBody>
          <a:bodyPr wrap="square" rtlCol="0" anchor="ctr"/>
          <a:lstStyle/>
          <a:p>
            <a:pPr indent="0" marL="0">
              <a:buNone/>
            </a:pPr>
            <a:r>
              <a:rPr lang="en-US" sz="1000" i="1" dirty="0">
                <a:solidFill>
                  <a:srgbClr val="8899AA"/>
                </a:solidFill>
                <a:latin typeface="Calibri" pitchFamily="34" charset="0"/>
                <a:ea typeface="Calibri" pitchFamily="34" charset="-122"/>
                <a:cs typeface="Calibri" pitchFamily="34" charset="-120"/>
              </a:rPr>
              <a:t>→ C — all three are needed to make a smart resource decision.</a:t>
            </a:r>
            <a:endParaRPr lang="en-US" sz="1000" dirty="0"/>
          </a:p>
        </p:txBody>
      </p:sp>
      <p:sp>
        <p:nvSpPr>
          <p:cNvPr id="11" name="Shape 9"/>
          <p:cNvSpPr/>
          <p:nvPr/>
        </p:nvSpPr>
        <p:spPr>
          <a:xfrm>
            <a:off x="365760" y="2651760"/>
            <a:ext cx="11247120" cy="1810512"/>
          </a:xfrm>
          <a:prstGeom prst="roundRect">
            <a:avLst>
              <a:gd name="adj" fmla="val 4040"/>
            </a:avLst>
          </a:prstGeom>
          <a:solidFill>
            <a:srgbClr val="1E2F45"/>
          </a:solidFill>
          <a:ln w="12700">
            <a:solidFill>
              <a:srgbClr val="4CC9F0"/>
            </a:solidFill>
            <a:prstDash val="solid"/>
          </a:ln>
        </p:spPr>
      </p:sp>
      <p:sp>
        <p:nvSpPr>
          <p:cNvPr id="12" name="Text 10"/>
          <p:cNvSpPr/>
          <p:nvPr/>
        </p:nvSpPr>
        <p:spPr>
          <a:xfrm>
            <a:off x="548640" y="2724912"/>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Q2: A Florida farm uses DRIP irrigation instead of flooding fields. This is an example of:</a:t>
            </a:r>
            <a:endParaRPr lang="en-US" sz="1200" dirty="0"/>
          </a:p>
        </p:txBody>
      </p:sp>
      <p:sp>
        <p:nvSpPr>
          <p:cNvPr id="13" name="Text 11"/>
          <p:cNvSpPr/>
          <p:nvPr/>
        </p:nvSpPr>
        <p:spPr>
          <a:xfrm>
            <a:off x="731520" y="3108960"/>
            <a:ext cx="10789920" cy="274320"/>
          </a:xfrm>
          <a:prstGeom prst="rect">
            <a:avLst/>
          </a:prstGeom>
          <a:noFill/>
          <a:ln/>
        </p:spPr>
        <p:txBody>
          <a:bodyPr wrap="square" rtlCol="0" anchor="ctr"/>
          <a:lstStyle/>
          <a:p>
            <a:pPr indent="0" marL="0">
              <a:buNone/>
            </a:pPr>
            <a:r>
              <a:rPr lang="en-US" sz="1100" dirty="0">
                <a:solidFill>
                  <a:srgbClr val="2DC653"/>
                </a:solidFill>
                <a:latin typeface="Calibri" pitchFamily="34" charset="0"/>
                <a:ea typeface="Calibri" pitchFamily="34" charset="-122"/>
                <a:cs typeface="Calibri" pitchFamily="34" charset="-120"/>
              </a:rPr>
              <a:t>A) Protection strategy ✅</a:t>
            </a:r>
            <a:endParaRPr lang="en-US" sz="1100" dirty="0"/>
          </a:p>
        </p:txBody>
      </p:sp>
      <p:sp>
        <p:nvSpPr>
          <p:cNvPr id="14" name="Text 12"/>
          <p:cNvSpPr/>
          <p:nvPr/>
        </p:nvSpPr>
        <p:spPr>
          <a:xfrm>
            <a:off x="731520" y="3410712"/>
            <a:ext cx="10789920" cy="27432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B) Environmental cost</a:t>
            </a:r>
            <a:endParaRPr lang="en-US" sz="1100" dirty="0"/>
          </a:p>
        </p:txBody>
      </p:sp>
      <p:sp>
        <p:nvSpPr>
          <p:cNvPr id="15" name="Text 13"/>
          <p:cNvSpPr/>
          <p:nvPr/>
        </p:nvSpPr>
        <p:spPr>
          <a:xfrm>
            <a:off x="731520" y="3712464"/>
            <a:ext cx="10789920" cy="27432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C) Benefit</a:t>
            </a:r>
            <a:endParaRPr lang="en-US" sz="1100" dirty="0"/>
          </a:p>
        </p:txBody>
      </p:sp>
      <p:sp>
        <p:nvSpPr>
          <p:cNvPr id="16" name="Text 14"/>
          <p:cNvSpPr/>
          <p:nvPr/>
        </p:nvSpPr>
        <p:spPr>
          <a:xfrm>
            <a:off x="548640" y="4041648"/>
            <a:ext cx="10972800" cy="256032"/>
          </a:xfrm>
          <a:prstGeom prst="rect">
            <a:avLst/>
          </a:prstGeom>
          <a:noFill/>
          <a:ln/>
        </p:spPr>
        <p:txBody>
          <a:bodyPr wrap="square" rtlCol="0" anchor="ctr"/>
          <a:lstStyle/>
          <a:p>
            <a:pPr indent="0" marL="0">
              <a:buNone/>
            </a:pPr>
            <a:r>
              <a:rPr lang="en-US" sz="1000" i="1" dirty="0">
                <a:solidFill>
                  <a:srgbClr val="8899AA"/>
                </a:solidFill>
                <a:latin typeface="Calibri" pitchFamily="34" charset="0"/>
                <a:ea typeface="Calibri" pitchFamily="34" charset="-122"/>
                <a:cs typeface="Calibri" pitchFamily="34" charset="-120"/>
              </a:rPr>
              <a:t>→ A — drip irrigation lowers the environmental cost of water use.</a:t>
            </a:r>
            <a:endParaRPr lang="en-US" sz="1000" dirty="0"/>
          </a:p>
        </p:txBody>
      </p:sp>
      <p:sp>
        <p:nvSpPr>
          <p:cNvPr id="17" name="Shape 15"/>
          <p:cNvSpPr/>
          <p:nvPr/>
        </p:nvSpPr>
        <p:spPr>
          <a:xfrm>
            <a:off x="365760" y="4590288"/>
            <a:ext cx="11247120" cy="1810512"/>
          </a:xfrm>
          <a:prstGeom prst="roundRect">
            <a:avLst>
              <a:gd name="adj" fmla="val 4040"/>
            </a:avLst>
          </a:prstGeom>
          <a:solidFill>
            <a:srgbClr val="1E2F45"/>
          </a:solidFill>
          <a:ln w="12700">
            <a:solidFill>
              <a:srgbClr val="4CC9F0"/>
            </a:solidFill>
            <a:prstDash val="solid"/>
          </a:ln>
        </p:spPr>
      </p:sp>
      <p:sp>
        <p:nvSpPr>
          <p:cNvPr id="18" name="Text 16"/>
          <p:cNvSpPr/>
          <p:nvPr/>
        </p:nvSpPr>
        <p:spPr>
          <a:xfrm>
            <a:off x="548640" y="4663440"/>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Q3: City A builds coal plant. City B builds solar farm. Which BEST describes their tradeoffs?</a:t>
            </a:r>
            <a:endParaRPr lang="en-US" sz="1200" dirty="0"/>
          </a:p>
        </p:txBody>
      </p:sp>
      <p:sp>
        <p:nvSpPr>
          <p:cNvPr id="19" name="Text 17"/>
          <p:cNvSpPr/>
          <p:nvPr/>
        </p:nvSpPr>
        <p:spPr>
          <a:xfrm>
            <a:off x="731520" y="5047488"/>
            <a:ext cx="10789920" cy="27432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 Both have identical environmental costs</a:t>
            </a:r>
            <a:endParaRPr lang="en-US" sz="1100" dirty="0"/>
          </a:p>
        </p:txBody>
      </p:sp>
      <p:sp>
        <p:nvSpPr>
          <p:cNvPr id="20" name="Text 18"/>
          <p:cNvSpPr/>
          <p:nvPr/>
        </p:nvSpPr>
        <p:spPr>
          <a:xfrm>
            <a:off x="731520" y="5349240"/>
            <a:ext cx="10789920" cy="274320"/>
          </a:xfrm>
          <a:prstGeom prst="rect">
            <a:avLst/>
          </a:prstGeom>
          <a:noFill/>
          <a:ln/>
        </p:spPr>
        <p:txBody>
          <a:bodyPr wrap="square" rtlCol="0" anchor="ctr"/>
          <a:lstStyle/>
          <a:p>
            <a:pPr indent="0" marL="0">
              <a:buNone/>
            </a:pPr>
            <a:r>
              <a:rPr lang="en-US" sz="1100" dirty="0">
                <a:solidFill>
                  <a:srgbClr val="2DC653"/>
                </a:solidFill>
                <a:latin typeface="Calibri" pitchFamily="34" charset="0"/>
                <a:ea typeface="Calibri" pitchFamily="34" charset="-122"/>
                <a:cs typeface="Calibri" pitchFamily="34" charset="-120"/>
              </a:rPr>
              <a:t>B) Both gain energy, but City A has higher air-pollution cost; City B has higher land-use cost ✅</a:t>
            </a:r>
            <a:endParaRPr lang="en-US" sz="1100" dirty="0"/>
          </a:p>
        </p:txBody>
      </p:sp>
      <p:sp>
        <p:nvSpPr>
          <p:cNvPr id="21" name="Text 19"/>
          <p:cNvSpPr/>
          <p:nvPr/>
        </p:nvSpPr>
        <p:spPr>
          <a:xfrm>
            <a:off x="731520" y="5650992"/>
            <a:ext cx="10789920" cy="27432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C) City B has zero environmental cost</a:t>
            </a:r>
            <a:endParaRPr lang="en-US" sz="1100" dirty="0"/>
          </a:p>
        </p:txBody>
      </p:sp>
      <p:sp>
        <p:nvSpPr>
          <p:cNvPr id="22" name="Text 20"/>
          <p:cNvSpPr/>
          <p:nvPr/>
        </p:nvSpPr>
        <p:spPr>
          <a:xfrm>
            <a:off x="548640" y="5980176"/>
            <a:ext cx="10972800" cy="256032"/>
          </a:xfrm>
          <a:prstGeom prst="rect">
            <a:avLst/>
          </a:prstGeom>
          <a:noFill/>
          <a:ln/>
        </p:spPr>
        <p:txBody>
          <a:bodyPr wrap="square" rtlCol="0" anchor="ctr"/>
          <a:lstStyle/>
          <a:p>
            <a:pPr indent="0" marL="0">
              <a:buNone/>
            </a:pPr>
            <a:r>
              <a:rPr lang="en-US" sz="1000" i="1" dirty="0">
                <a:solidFill>
                  <a:srgbClr val="8899AA"/>
                </a:solidFill>
                <a:latin typeface="Calibri" pitchFamily="34" charset="0"/>
                <a:ea typeface="Calibri" pitchFamily="34" charset="-122"/>
                <a:cs typeface="Calibri" pitchFamily="34" charset="-120"/>
              </a:rPr>
              <a:t>→ B — both gain energy; their COSTS are different.</a:t>
            </a:r>
            <a:endParaRPr lang="en-US" sz="1000" dirty="0"/>
          </a:p>
        </p:txBody>
      </p:sp>
      <p:sp>
        <p:nvSpPr>
          <p:cNvPr id="23" name="Shape 21"/>
          <p:cNvSpPr/>
          <p:nvPr/>
        </p:nvSpPr>
        <p:spPr>
          <a:xfrm>
            <a:off x="0" y="6629400"/>
            <a:ext cx="12192000" cy="228600"/>
          </a:xfrm>
          <a:prstGeom prst="rect">
            <a:avLst/>
          </a:prstGeom>
          <a:solidFill>
            <a:srgbClr val="162233"/>
          </a:solidFill>
          <a:ln/>
        </p:spPr>
      </p:sp>
      <p:sp>
        <p:nvSpPr>
          <p:cNvPr id="24" name="Text 22"/>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16.01  ·  Modern Resources &amp; Environmental Choices</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Assignment Preview — What to Turn In</a:t>
            </a:r>
            <a:endParaRPr lang="en-US" sz="1600" dirty="0"/>
          </a:p>
        </p:txBody>
      </p:sp>
      <p:sp>
        <p:nvSpPr>
          <p:cNvPr id="5" name="Text 3"/>
          <p:cNvSpPr/>
          <p:nvPr/>
        </p:nvSpPr>
        <p:spPr>
          <a:xfrm>
            <a:off x="365760" y="713232"/>
            <a:ext cx="11247120" cy="329184"/>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Your three-part tradeoff framework from today is used in EVERY part of this assignment.</a:t>
            </a:r>
            <a:endParaRPr lang="en-US" sz="1200" dirty="0"/>
          </a:p>
        </p:txBody>
      </p:sp>
      <p:sp>
        <p:nvSpPr>
          <p:cNvPr id="6" name="Shape 4"/>
          <p:cNvSpPr/>
          <p:nvPr/>
        </p:nvSpPr>
        <p:spPr>
          <a:xfrm>
            <a:off x="365760" y="1115568"/>
            <a:ext cx="11247120" cy="1207008"/>
          </a:xfrm>
          <a:prstGeom prst="roundRect">
            <a:avLst>
              <a:gd name="adj" fmla="val 6061"/>
            </a:avLst>
          </a:prstGeom>
          <a:solidFill>
            <a:srgbClr val="1E2F45"/>
          </a:solidFill>
          <a:ln w="12700">
            <a:solidFill>
              <a:srgbClr val="FFB703"/>
            </a:solidFill>
            <a:prstDash val="solid"/>
          </a:ln>
        </p:spPr>
      </p:sp>
      <p:sp>
        <p:nvSpPr>
          <p:cNvPr id="7" name="Shape 5"/>
          <p:cNvSpPr/>
          <p:nvPr/>
        </p:nvSpPr>
        <p:spPr>
          <a:xfrm>
            <a:off x="502920" y="1225296"/>
            <a:ext cx="1554480" cy="256032"/>
          </a:xfrm>
          <a:prstGeom prst="roundRect">
            <a:avLst>
              <a:gd name="adj" fmla="val 50000"/>
            </a:avLst>
          </a:prstGeom>
          <a:solidFill>
            <a:srgbClr val="E09200"/>
          </a:solidFill>
          <a:ln w="12700">
            <a:solidFill>
              <a:srgbClr val="E09200"/>
            </a:solidFill>
            <a:prstDash val="solid"/>
          </a:ln>
        </p:spPr>
      </p:sp>
      <p:sp>
        <p:nvSpPr>
          <p:cNvPr id="8" name="Text 6"/>
          <p:cNvSpPr/>
          <p:nvPr/>
        </p:nvSpPr>
        <p:spPr>
          <a:xfrm>
            <a:off x="502920" y="1225296"/>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Part A — Match the Word</a:t>
            </a:r>
            <a:endParaRPr lang="en-US" sz="900" dirty="0"/>
          </a:p>
        </p:txBody>
      </p:sp>
      <p:sp>
        <p:nvSpPr>
          <p:cNvPr id="9" name="Text 7"/>
          <p:cNvSpPr/>
          <p:nvPr/>
        </p:nvSpPr>
        <p:spPr>
          <a:xfrm>
            <a:off x="2240280" y="1225296"/>
            <a:ext cx="7315200" cy="53035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Tradeoff, Benefit, Environmental cost, Protection strategy — 4 blanks</a:t>
            </a:r>
            <a:endParaRPr lang="en-US" sz="1200" dirty="0"/>
          </a:p>
        </p:txBody>
      </p:sp>
      <p:sp>
        <p:nvSpPr>
          <p:cNvPr id="10" name="Shape 8"/>
          <p:cNvSpPr/>
          <p:nvPr/>
        </p:nvSpPr>
        <p:spPr>
          <a:xfrm>
            <a:off x="9784080" y="1225296"/>
            <a:ext cx="1554480" cy="256032"/>
          </a:xfrm>
          <a:prstGeom prst="roundRect">
            <a:avLst>
              <a:gd name="adj" fmla="val 50000"/>
            </a:avLst>
          </a:prstGeom>
          <a:solidFill>
            <a:srgbClr val="243A52"/>
          </a:solidFill>
          <a:ln w="12700">
            <a:solidFill>
              <a:srgbClr val="243A52"/>
            </a:solidFill>
            <a:prstDash val="solid"/>
          </a:ln>
        </p:spPr>
      </p:sp>
      <p:sp>
        <p:nvSpPr>
          <p:cNvPr id="11" name="Text 9"/>
          <p:cNvSpPr/>
          <p:nvPr/>
        </p:nvSpPr>
        <p:spPr>
          <a:xfrm>
            <a:off x="9784080" y="1225296"/>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Slides 4-5</a:t>
            </a:r>
            <a:endParaRPr lang="en-US" sz="900" dirty="0"/>
          </a:p>
        </p:txBody>
      </p:sp>
      <p:sp>
        <p:nvSpPr>
          <p:cNvPr id="12" name="Shape 10"/>
          <p:cNvSpPr/>
          <p:nvPr/>
        </p:nvSpPr>
        <p:spPr>
          <a:xfrm>
            <a:off x="365760" y="2450592"/>
            <a:ext cx="11247120" cy="1207008"/>
          </a:xfrm>
          <a:prstGeom prst="roundRect">
            <a:avLst>
              <a:gd name="adj" fmla="val 6061"/>
            </a:avLst>
          </a:prstGeom>
          <a:solidFill>
            <a:srgbClr val="1E2F45"/>
          </a:solidFill>
          <a:ln w="12700">
            <a:solidFill>
              <a:srgbClr val="FFB703"/>
            </a:solidFill>
            <a:prstDash val="solid"/>
          </a:ln>
        </p:spPr>
      </p:sp>
      <p:sp>
        <p:nvSpPr>
          <p:cNvPr id="13" name="Shape 11"/>
          <p:cNvSpPr/>
          <p:nvPr/>
        </p:nvSpPr>
        <p:spPr>
          <a:xfrm>
            <a:off x="502920" y="2560320"/>
            <a:ext cx="1554480" cy="256032"/>
          </a:xfrm>
          <a:prstGeom prst="roundRect">
            <a:avLst>
              <a:gd name="adj" fmla="val 50000"/>
            </a:avLst>
          </a:prstGeom>
          <a:solidFill>
            <a:srgbClr val="E09200"/>
          </a:solidFill>
          <a:ln w="12700">
            <a:solidFill>
              <a:srgbClr val="E09200"/>
            </a:solidFill>
            <a:prstDash val="solid"/>
          </a:ln>
        </p:spPr>
      </p:sp>
      <p:sp>
        <p:nvSpPr>
          <p:cNvPr id="14" name="Text 12"/>
          <p:cNvSpPr/>
          <p:nvPr/>
        </p:nvSpPr>
        <p:spPr>
          <a:xfrm>
            <a:off x="502920" y="256032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Part B — Short Answer</a:t>
            </a:r>
            <a:endParaRPr lang="en-US" sz="900" dirty="0"/>
          </a:p>
        </p:txBody>
      </p:sp>
      <p:sp>
        <p:nvSpPr>
          <p:cNvPr id="15" name="Text 13"/>
          <p:cNvSpPr/>
          <p:nvPr/>
        </p:nvSpPr>
        <p:spPr>
          <a:xfrm>
            <a:off x="2240280" y="2560320"/>
            <a:ext cx="7315200" cy="53035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Pick a FL resource use + list benefit + environmental cost; explain drip irrigation as protection strategy; explain why one protection strategy lowers cost</a:t>
            </a:r>
            <a:endParaRPr lang="en-US" sz="1200" dirty="0"/>
          </a:p>
        </p:txBody>
      </p:sp>
      <p:sp>
        <p:nvSpPr>
          <p:cNvPr id="16" name="Shape 14"/>
          <p:cNvSpPr/>
          <p:nvPr/>
        </p:nvSpPr>
        <p:spPr>
          <a:xfrm>
            <a:off x="9784080" y="2560320"/>
            <a:ext cx="1554480" cy="256032"/>
          </a:xfrm>
          <a:prstGeom prst="roundRect">
            <a:avLst>
              <a:gd name="adj" fmla="val 50000"/>
            </a:avLst>
          </a:prstGeom>
          <a:solidFill>
            <a:srgbClr val="243A52"/>
          </a:solidFill>
          <a:ln w="12700">
            <a:solidFill>
              <a:srgbClr val="243A52"/>
            </a:solidFill>
            <a:prstDash val="solid"/>
          </a:ln>
        </p:spPr>
      </p:sp>
      <p:sp>
        <p:nvSpPr>
          <p:cNvPr id="17" name="Text 15"/>
          <p:cNvSpPr/>
          <p:nvPr/>
        </p:nvSpPr>
        <p:spPr>
          <a:xfrm>
            <a:off x="9784080" y="256032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Slides 6-9</a:t>
            </a:r>
            <a:endParaRPr lang="en-US" sz="900" dirty="0"/>
          </a:p>
        </p:txBody>
      </p:sp>
      <p:sp>
        <p:nvSpPr>
          <p:cNvPr id="18" name="Shape 16"/>
          <p:cNvSpPr/>
          <p:nvPr/>
        </p:nvSpPr>
        <p:spPr>
          <a:xfrm>
            <a:off x="365760" y="3785616"/>
            <a:ext cx="11247120" cy="1207008"/>
          </a:xfrm>
          <a:prstGeom prst="roundRect">
            <a:avLst>
              <a:gd name="adj" fmla="val 6061"/>
            </a:avLst>
          </a:prstGeom>
          <a:solidFill>
            <a:srgbClr val="1E2F45"/>
          </a:solidFill>
          <a:ln w="12700">
            <a:solidFill>
              <a:srgbClr val="FFB703"/>
            </a:solidFill>
            <a:prstDash val="solid"/>
          </a:ln>
        </p:spPr>
      </p:sp>
      <p:sp>
        <p:nvSpPr>
          <p:cNvPr id="19" name="Shape 17"/>
          <p:cNvSpPr/>
          <p:nvPr/>
        </p:nvSpPr>
        <p:spPr>
          <a:xfrm>
            <a:off x="502920" y="3895344"/>
            <a:ext cx="1554480" cy="256032"/>
          </a:xfrm>
          <a:prstGeom prst="roundRect">
            <a:avLst>
              <a:gd name="adj" fmla="val 50000"/>
            </a:avLst>
          </a:prstGeom>
          <a:solidFill>
            <a:srgbClr val="E09200"/>
          </a:solidFill>
          <a:ln w="12700">
            <a:solidFill>
              <a:srgbClr val="E09200"/>
            </a:solidFill>
            <a:prstDash val="solid"/>
          </a:ln>
        </p:spPr>
      </p:sp>
      <p:sp>
        <p:nvSpPr>
          <p:cNvPr id="20" name="Text 18"/>
          <p:cNvSpPr/>
          <p:nvPr/>
        </p:nvSpPr>
        <p:spPr>
          <a:xfrm>
            <a:off x="502920" y="3895344"/>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Evidence Argument</a:t>
            </a:r>
            <a:endParaRPr lang="en-US" sz="900" dirty="0"/>
          </a:p>
        </p:txBody>
      </p:sp>
      <p:sp>
        <p:nvSpPr>
          <p:cNvPr id="21" name="Text 19"/>
          <p:cNvSpPr/>
          <p:nvPr/>
        </p:nvSpPr>
        <p:spPr>
          <a:xfrm>
            <a:off x="2240280" y="3895344"/>
            <a:ext cx="7315200" cy="53035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'All renewable resources are good; all nonrenewable are bad.' Agree or disagree? 2 pieces of evidence — address the three-part framework.</a:t>
            </a:r>
            <a:endParaRPr lang="en-US" sz="1200" dirty="0"/>
          </a:p>
        </p:txBody>
      </p:sp>
      <p:sp>
        <p:nvSpPr>
          <p:cNvPr id="22" name="Shape 20"/>
          <p:cNvSpPr/>
          <p:nvPr/>
        </p:nvSpPr>
        <p:spPr>
          <a:xfrm>
            <a:off x="9784080" y="3895344"/>
            <a:ext cx="1554480" cy="256032"/>
          </a:xfrm>
          <a:prstGeom prst="roundRect">
            <a:avLst>
              <a:gd name="adj" fmla="val 50000"/>
            </a:avLst>
          </a:prstGeom>
          <a:solidFill>
            <a:srgbClr val="243A52"/>
          </a:solidFill>
          <a:ln w="12700">
            <a:solidFill>
              <a:srgbClr val="243A52"/>
            </a:solidFill>
            <a:prstDash val="solid"/>
          </a:ln>
        </p:spPr>
      </p:sp>
      <p:sp>
        <p:nvSpPr>
          <p:cNvPr id="23" name="Text 21"/>
          <p:cNvSpPr/>
          <p:nvPr/>
        </p:nvSpPr>
        <p:spPr>
          <a:xfrm>
            <a:off x="9784080" y="3895344"/>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Slides 10-11</a:t>
            </a:r>
            <a:endParaRPr lang="en-US" sz="900" dirty="0"/>
          </a:p>
        </p:txBody>
      </p:sp>
      <p:sp>
        <p:nvSpPr>
          <p:cNvPr id="24" name="Shape 22"/>
          <p:cNvSpPr/>
          <p:nvPr/>
        </p:nvSpPr>
        <p:spPr>
          <a:xfrm>
            <a:off x="365760" y="5120640"/>
            <a:ext cx="11247120" cy="1207008"/>
          </a:xfrm>
          <a:prstGeom prst="roundRect">
            <a:avLst>
              <a:gd name="adj" fmla="val 6061"/>
            </a:avLst>
          </a:prstGeom>
          <a:solidFill>
            <a:srgbClr val="1E2F45"/>
          </a:solidFill>
          <a:ln w="12700">
            <a:solidFill>
              <a:srgbClr val="FFB703"/>
            </a:solidFill>
            <a:prstDash val="solid"/>
          </a:ln>
        </p:spPr>
      </p:sp>
      <p:sp>
        <p:nvSpPr>
          <p:cNvPr id="25" name="Shape 23"/>
          <p:cNvSpPr/>
          <p:nvPr/>
        </p:nvSpPr>
        <p:spPr>
          <a:xfrm>
            <a:off x="502920" y="5230368"/>
            <a:ext cx="1554480" cy="256032"/>
          </a:xfrm>
          <a:prstGeom prst="roundRect">
            <a:avLst>
              <a:gd name="adj" fmla="val 50000"/>
            </a:avLst>
          </a:prstGeom>
          <a:solidFill>
            <a:srgbClr val="E09200"/>
          </a:solidFill>
          <a:ln w="12700">
            <a:solidFill>
              <a:srgbClr val="E09200"/>
            </a:solidFill>
            <a:prstDash val="solid"/>
          </a:ln>
        </p:spPr>
      </p:sp>
      <p:sp>
        <p:nvSpPr>
          <p:cNvPr id="26" name="Text 24"/>
          <p:cNvSpPr/>
          <p:nvPr/>
        </p:nvSpPr>
        <p:spPr>
          <a:xfrm>
            <a:off x="502920" y="5230368"/>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Explore: Balance Scale</a:t>
            </a:r>
            <a:endParaRPr lang="en-US" sz="900" dirty="0"/>
          </a:p>
        </p:txBody>
      </p:sp>
      <p:sp>
        <p:nvSpPr>
          <p:cNvPr id="27" name="Text 25"/>
          <p:cNvSpPr/>
          <p:nvPr/>
        </p:nvSpPr>
        <p:spPr>
          <a:xfrm>
            <a:off x="2240280" y="5230368"/>
            <a:ext cx="7315200" cy="53035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Your completed balance scale diagram with benefit, cost, and one protection strategy + 'This strategy works because…' explanation</a:t>
            </a:r>
            <a:endParaRPr lang="en-US" sz="1200" dirty="0"/>
          </a:p>
        </p:txBody>
      </p:sp>
      <p:sp>
        <p:nvSpPr>
          <p:cNvPr id="28" name="Shape 26"/>
          <p:cNvSpPr/>
          <p:nvPr/>
        </p:nvSpPr>
        <p:spPr>
          <a:xfrm>
            <a:off x="9784080" y="5230368"/>
            <a:ext cx="1554480" cy="256032"/>
          </a:xfrm>
          <a:prstGeom prst="roundRect">
            <a:avLst>
              <a:gd name="adj" fmla="val 50000"/>
            </a:avLst>
          </a:prstGeom>
          <a:solidFill>
            <a:srgbClr val="243A52"/>
          </a:solidFill>
          <a:ln w="12700">
            <a:solidFill>
              <a:srgbClr val="243A52"/>
            </a:solidFill>
            <a:prstDash val="solid"/>
          </a:ln>
        </p:spPr>
      </p:sp>
      <p:sp>
        <p:nvSpPr>
          <p:cNvPr id="29" name="Text 27"/>
          <p:cNvSpPr/>
          <p:nvPr/>
        </p:nvSpPr>
        <p:spPr>
          <a:xfrm>
            <a:off x="9784080" y="5230368"/>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Slide 9</a:t>
            </a:r>
            <a:endParaRPr lang="en-US" sz="900" dirty="0"/>
          </a:p>
        </p:txBody>
      </p:sp>
      <p:sp>
        <p:nvSpPr>
          <p:cNvPr id="30" name="Shape 28"/>
          <p:cNvSpPr/>
          <p:nvPr/>
        </p:nvSpPr>
        <p:spPr>
          <a:xfrm>
            <a:off x="0" y="6629400"/>
            <a:ext cx="12192000" cy="228600"/>
          </a:xfrm>
          <a:prstGeom prst="rect">
            <a:avLst/>
          </a:prstGeom>
          <a:solidFill>
            <a:srgbClr val="162233"/>
          </a:solidFill>
          <a:ln/>
        </p:spPr>
      </p:sp>
      <p:sp>
        <p:nvSpPr>
          <p:cNvPr id="31" name="Text 29"/>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16.01  ·  Modern Resources &amp; Environmental Choices</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Reflect + Closing</a:t>
            </a:r>
            <a:endParaRPr lang="en-US" sz="1600" dirty="0"/>
          </a:p>
        </p:txBody>
      </p:sp>
      <p:sp>
        <p:nvSpPr>
          <p:cNvPr id="5" name="Shape 3"/>
          <p:cNvSpPr/>
          <p:nvPr/>
        </p:nvSpPr>
        <p:spPr>
          <a:xfrm>
            <a:off x="365760" y="749808"/>
            <a:ext cx="11247120" cy="1417320"/>
          </a:xfrm>
          <a:prstGeom prst="roundRect">
            <a:avLst>
              <a:gd name="adj" fmla="val 5161"/>
            </a:avLst>
          </a:prstGeom>
          <a:solidFill>
            <a:srgbClr val="1E2F45"/>
          </a:solidFill>
          <a:ln w="12700">
            <a:solidFill>
              <a:srgbClr val="4CC9F0"/>
            </a:solidFill>
            <a:prstDash val="solid"/>
          </a:ln>
        </p:spPr>
      </p:sp>
      <p:sp>
        <p:nvSpPr>
          <p:cNvPr id="6" name="Text 4"/>
          <p:cNvSpPr/>
          <p:nvPr/>
        </p:nvSpPr>
        <p:spPr>
          <a:xfrm>
            <a:off x="548640" y="804672"/>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Essential Question Response — Write in your science notebook:</a:t>
            </a:r>
            <a:endParaRPr lang="en-US" sz="1200" dirty="0"/>
          </a:p>
        </p:txBody>
      </p:sp>
      <p:sp>
        <p:nvSpPr>
          <p:cNvPr id="7" name="Text 5"/>
          <p:cNvSpPr/>
          <p:nvPr/>
        </p:nvSpPr>
        <p:spPr>
          <a:xfrm>
            <a:off x="548640" y="1170432"/>
            <a:ext cx="10972800" cy="886968"/>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"When we use a resource, how do we balance what we GAIN against what we LOSE?"</a:t>
            </a:r>
            <a:endParaRPr lang="en-US" sz="1300" dirty="0"/>
          </a:p>
          <a:p>
            <a:pPr indent="0" marL="0">
              <a:buNone/>
            </a:pPr>
            <a:endParaRPr lang="en-US" sz="1300" dirty="0"/>
          </a:p>
          <a:p>
            <a:pPr indent="0" marL="0">
              <a:buNone/>
            </a:pPr>
            <a:r>
              <a:rPr lang="en-US" sz="1300" i="1" dirty="0">
                <a:solidFill>
                  <a:srgbClr val="FFFFFF"/>
                </a:solidFill>
                <a:latin typeface="Calibri" pitchFamily="34" charset="0"/>
                <a:ea typeface="Calibri" pitchFamily="34" charset="-122"/>
                <a:cs typeface="Calibri" pitchFamily="34" charset="-120"/>
              </a:rPr>
              <a:t>Write 2–3 sentences using vocab words from today.</a:t>
            </a:r>
            <a:endParaRPr lang="en-US" sz="1300" dirty="0"/>
          </a:p>
        </p:txBody>
      </p:sp>
      <p:sp>
        <p:nvSpPr>
          <p:cNvPr id="8" name="Shape 6"/>
          <p:cNvSpPr/>
          <p:nvPr/>
        </p:nvSpPr>
        <p:spPr>
          <a:xfrm>
            <a:off x="365760" y="2304288"/>
            <a:ext cx="7315200" cy="2560320"/>
          </a:xfrm>
          <a:prstGeom prst="roundRect">
            <a:avLst>
              <a:gd name="adj" fmla="val 2857"/>
            </a:avLst>
          </a:prstGeom>
          <a:solidFill>
            <a:srgbClr val="1E2F45"/>
          </a:solidFill>
          <a:ln w="12700">
            <a:solidFill>
              <a:srgbClr val="2DC653"/>
            </a:solidFill>
            <a:prstDash val="solid"/>
          </a:ln>
        </p:spPr>
      </p:sp>
      <p:sp>
        <p:nvSpPr>
          <p:cNvPr id="9" name="Text 7"/>
          <p:cNvSpPr/>
          <p:nvPr/>
        </p:nvSpPr>
        <p:spPr>
          <a:xfrm>
            <a:off x="548640" y="2359152"/>
            <a:ext cx="704088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  What to Turn In:</a:t>
            </a:r>
            <a:endParaRPr lang="en-US" sz="1200" dirty="0"/>
          </a:p>
        </p:txBody>
      </p:sp>
      <p:sp>
        <p:nvSpPr>
          <p:cNvPr id="10" name="Text 8"/>
          <p:cNvSpPr/>
          <p:nvPr/>
        </p:nvSpPr>
        <p:spPr>
          <a:xfrm>
            <a:off x="548640" y="2743200"/>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A: All 4 vocab blanks (Tradeoff, Benefit, Environmental cost, Protection strategy)</a:t>
            </a:r>
            <a:endParaRPr lang="en-US" sz="1100" dirty="0"/>
          </a:p>
        </p:txBody>
      </p:sp>
      <p:sp>
        <p:nvSpPr>
          <p:cNvPr id="11" name="Text 9"/>
          <p:cNvSpPr/>
          <p:nvPr/>
        </p:nvSpPr>
        <p:spPr>
          <a:xfrm>
            <a:off x="548640" y="3090672"/>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B: Resource use analysis using all three tradeoff parts</a:t>
            </a:r>
            <a:endParaRPr lang="en-US" sz="1100" dirty="0"/>
          </a:p>
        </p:txBody>
      </p:sp>
      <p:sp>
        <p:nvSpPr>
          <p:cNvPr id="12" name="Text 10"/>
          <p:cNvSpPr/>
          <p:nvPr/>
        </p:nvSpPr>
        <p:spPr>
          <a:xfrm>
            <a:off x="548640" y="3438144"/>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Balance Scale: Completed diagram with benefit/cost/strategy + explanation</a:t>
            </a:r>
            <a:endParaRPr lang="en-US" sz="1100" dirty="0"/>
          </a:p>
        </p:txBody>
      </p:sp>
      <p:sp>
        <p:nvSpPr>
          <p:cNvPr id="13" name="Text 11"/>
          <p:cNvSpPr/>
          <p:nvPr/>
        </p:nvSpPr>
        <p:spPr>
          <a:xfrm>
            <a:off x="548640" y="3785616"/>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Evidence Argument: Take a position on the renewable/nonrenewable claim with 2 pieces of evidence</a:t>
            </a:r>
            <a:endParaRPr lang="en-US" sz="1100" dirty="0"/>
          </a:p>
        </p:txBody>
      </p:sp>
      <p:sp>
        <p:nvSpPr>
          <p:cNvPr id="14" name="Shape 12"/>
          <p:cNvSpPr/>
          <p:nvPr/>
        </p:nvSpPr>
        <p:spPr>
          <a:xfrm>
            <a:off x="7863840" y="2304288"/>
            <a:ext cx="3931920" cy="2560320"/>
          </a:xfrm>
          <a:prstGeom prst="roundRect">
            <a:avLst>
              <a:gd name="adj" fmla="val 2857"/>
            </a:avLst>
          </a:prstGeom>
          <a:solidFill>
            <a:srgbClr val="1A1A3A"/>
          </a:solidFill>
          <a:ln w="12700">
            <a:solidFill>
              <a:srgbClr val="0096C7"/>
            </a:solidFill>
            <a:prstDash val="solid"/>
          </a:ln>
        </p:spPr>
      </p:sp>
      <p:sp>
        <p:nvSpPr>
          <p:cNvPr id="15" name="Text 13"/>
          <p:cNvSpPr/>
          <p:nvPr/>
        </p:nvSpPr>
        <p:spPr>
          <a:xfrm>
            <a:off x="8001000" y="2359152"/>
            <a:ext cx="36576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Coming Next:</a:t>
            </a:r>
            <a:endParaRPr lang="en-US" sz="1200" dirty="0"/>
          </a:p>
        </p:txBody>
      </p:sp>
      <p:sp>
        <p:nvSpPr>
          <p:cNvPr id="16" name="Text 14"/>
          <p:cNvSpPr/>
          <p:nvPr/>
        </p:nvSpPr>
        <p:spPr>
          <a:xfrm>
            <a:off x="8001000" y="2743200"/>
            <a:ext cx="3657600" cy="201168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Lesson 16.02 — Engineering: Improve a Resource Solution</a:t>
            </a:r>
            <a:endParaRPr lang="en-US" sz="1200" dirty="0"/>
          </a:p>
          <a:p>
            <a:pPr indent="0" marL="0">
              <a:buNone/>
            </a:pP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How can we compare different solutions for using resources — and pick the best one to revise and improve? Decision matrices, criteria, and constraints.</a:t>
            </a:r>
            <a:endParaRPr lang="en-US" sz="1200" dirty="0"/>
          </a:p>
        </p:txBody>
      </p:sp>
      <p:sp>
        <p:nvSpPr>
          <p:cNvPr id="17" name="Shape 15"/>
          <p:cNvSpPr/>
          <p:nvPr/>
        </p:nvSpPr>
        <p:spPr>
          <a:xfrm>
            <a:off x="0" y="5047488"/>
            <a:ext cx="12192000" cy="45720"/>
          </a:xfrm>
          <a:prstGeom prst="rect">
            <a:avLst/>
          </a:prstGeom>
          <a:solidFill>
            <a:srgbClr val="4CC9F0"/>
          </a:solidFill>
          <a:ln/>
        </p:spPr>
      </p:sp>
      <p:sp>
        <p:nvSpPr>
          <p:cNvPr id="18" name="Text 16"/>
          <p:cNvSpPr/>
          <p:nvPr/>
        </p:nvSpPr>
        <p:spPr>
          <a:xfrm>
            <a:off x="365760" y="5120640"/>
            <a:ext cx="11247120" cy="347472"/>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Excellent work today, scientists! See you next time.</a:t>
            </a:r>
            <a:endParaRPr lang="en-US" sz="1300" dirty="0"/>
          </a:p>
        </p:txBody>
      </p:sp>
      <p:sp>
        <p:nvSpPr>
          <p:cNvPr id="19" name="Shape 17"/>
          <p:cNvSpPr/>
          <p:nvPr/>
        </p:nvSpPr>
        <p:spPr>
          <a:xfrm>
            <a:off x="0" y="6629400"/>
            <a:ext cx="12192000" cy="228600"/>
          </a:xfrm>
          <a:prstGeom prst="rect">
            <a:avLst/>
          </a:prstGeom>
          <a:solidFill>
            <a:srgbClr val="162233"/>
          </a:solidFill>
          <a:ln/>
        </p:spPr>
      </p:sp>
      <p:sp>
        <p:nvSpPr>
          <p:cNvPr id="20" name="Text 1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16.01  ·  Modern Resources &amp; Environmental Choices</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Protection Strategies — Real Florida Examples</a:t>
            </a:r>
            <a:endParaRPr lang="en-US" sz="1600" dirty="0"/>
          </a:p>
        </p:txBody>
      </p:sp>
      <p:sp>
        <p:nvSpPr>
          <p:cNvPr id="5" name="Shape 3"/>
          <p:cNvSpPr/>
          <p:nvPr/>
        </p:nvSpPr>
        <p:spPr>
          <a:xfrm>
            <a:off x="365760" y="749808"/>
            <a:ext cx="11247120" cy="1298448"/>
          </a:xfrm>
          <a:prstGeom prst="roundRect">
            <a:avLst>
              <a:gd name="adj" fmla="val 5634"/>
            </a:avLst>
          </a:prstGeom>
          <a:solidFill>
            <a:srgbClr val="1E2F45"/>
          </a:solidFill>
          <a:ln w="12700">
            <a:solidFill>
              <a:srgbClr val="4CC9F0"/>
            </a:solidFill>
            <a:prstDash val="solid"/>
          </a:ln>
        </p:spPr>
      </p:sp>
      <p:sp>
        <p:nvSpPr>
          <p:cNvPr id="6" name="Shape 4"/>
          <p:cNvSpPr/>
          <p:nvPr/>
        </p:nvSpPr>
        <p:spPr>
          <a:xfrm>
            <a:off x="502920" y="822960"/>
            <a:ext cx="1554480" cy="256032"/>
          </a:xfrm>
          <a:prstGeom prst="roundRect">
            <a:avLst>
              <a:gd name="adj" fmla="val 50000"/>
            </a:avLst>
          </a:prstGeom>
          <a:solidFill>
            <a:srgbClr val="4CC9F0"/>
          </a:solidFill>
          <a:ln w="12700">
            <a:solidFill>
              <a:srgbClr val="4CC9F0"/>
            </a:solidFill>
            <a:prstDash val="solid"/>
          </a:ln>
        </p:spPr>
      </p:sp>
      <p:sp>
        <p:nvSpPr>
          <p:cNvPr id="7" name="Text 5"/>
          <p:cNvSpPr/>
          <p:nvPr/>
        </p:nvSpPr>
        <p:spPr>
          <a:xfrm>
            <a:off x="502920" y="82296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Conservation</a:t>
            </a:r>
            <a:endParaRPr lang="en-US" sz="900" dirty="0"/>
          </a:p>
        </p:txBody>
      </p:sp>
      <p:sp>
        <p:nvSpPr>
          <p:cNvPr id="8" name="Text 6"/>
          <p:cNvSpPr/>
          <p:nvPr/>
        </p:nvSpPr>
        <p:spPr>
          <a:xfrm>
            <a:off x="2240280" y="822960"/>
            <a:ext cx="7498080" cy="111556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Florida Water Management Districts limit how much water cities and farms can pump from the aquifer each year — preventing over-use of a technically renewable resource.</a:t>
            </a:r>
            <a:endParaRPr lang="en-US" sz="1150" dirty="0"/>
          </a:p>
        </p:txBody>
      </p:sp>
      <p:sp>
        <p:nvSpPr>
          <p:cNvPr id="9" name="Text 7"/>
          <p:cNvSpPr/>
          <p:nvPr/>
        </p:nvSpPr>
        <p:spPr>
          <a:xfrm>
            <a:off x="9966960" y="1097280"/>
            <a:ext cx="1828800" cy="585216"/>
          </a:xfrm>
          <a:prstGeom prst="rect">
            <a:avLst/>
          </a:prstGeom>
          <a:noFill/>
          <a:ln/>
        </p:spPr>
        <p:txBody>
          <a:bodyPr wrap="square" rtlCol="0" anchor="ctr"/>
          <a:lstStyle/>
          <a:p>
            <a:pPr algn="r" indent="0" marL="0">
              <a:buNone/>
            </a:pPr>
            <a:r>
              <a:rPr lang="en-US" sz="900" i="1" dirty="0">
                <a:solidFill>
                  <a:srgbClr val="4CC9F0"/>
                </a:solidFill>
                <a:latin typeface="Calibri" pitchFamily="34" charset="0"/>
                <a:ea typeface="Calibri" pitchFamily="34" charset="-122"/>
                <a:cs typeface="Calibri" pitchFamily="34" charset="-120"/>
              </a:rPr>
              <a:t>Florida Water Resources Act</a:t>
            </a:r>
            <a:endParaRPr lang="en-US" sz="900" dirty="0"/>
          </a:p>
        </p:txBody>
      </p:sp>
      <p:sp>
        <p:nvSpPr>
          <p:cNvPr id="10" name="Shape 8"/>
          <p:cNvSpPr/>
          <p:nvPr/>
        </p:nvSpPr>
        <p:spPr>
          <a:xfrm>
            <a:off x="365760" y="2157984"/>
            <a:ext cx="11247120" cy="1298448"/>
          </a:xfrm>
          <a:prstGeom prst="roundRect">
            <a:avLst>
              <a:gd name="adj" fmla="val 5634"/>
            </a:avLst>
          </a:prstGeom>
          <a:solidFill>
            <a:srgbClr val="1E2F45"/>
          </a:solidFill>
          <a:ln w="12700">
            <a:solidFill>
              <a:srgbClr val="2DC653"/>
            </a:solidFill>
            <a:prstDash val="solid"/>
          </a:ln>
        </p:spPr>
      </p:sp>
      <p:sp>
        <p:nvSpPr>
          <p:cNvPr id="11" name="Shape 9"/>
          <p:cNvSpPr/>
          <p:nvPr/>
        </p:nvSpPr>
        <p:spPr>
          <a:xfrm>
            <a:off x="502920" y="2231136"/>
            <a:ext cx="1554480" cy="256032"/>
          </a:xfrm>
          <a:prstGeom prst="roundRect">
            <a:avLst>
              <a:gd name="adj" fmla="val 50000"/>
            </a:avLst>
          </a:prstGeom>
          <a:solidFill>
            <a:srgbClr val="2DC653"/>
          </a:solidFill>
          <a:ln w="12700">
            <a:solidFill>
              <a:srgbClr val="2DC653"/>
            </a:solidFill>
            <a:prstDash val="solid"/>
          </a:ln>
        </p:spPr>
      </p:sp>
      <p:sp>
        <p:nvSpPr>
          <p:cNvPr id="12" name="Text 10"/>
          <p:cNvSpPr/>
          <p:nvPr/>
        </p:nvSpPr>
        <p:spPr>
          <a:xfrm>
            <a:off x="502920" y="2231136"/>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Restoration</a:t>
            </a:r>
            <a:endParaRPr lang="en-US" sz="900" dirty="0"/>
          </a:p>
        </p:txBody>
      </p:sp>
      <p:sp>
        <p:nvSpPr>
          <p:cNvPr id="13" name="Text 11"/>
          <p:cNvSpPr/>
          <p:nvPr/>
        </p:nvSpPr>
        <p:spPr>
          <a:xfrm>
            <a:off x="2240280" y="2231136"/>
            <a:ext cx="7498080" cy="111556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Florida law requires phosphate mining companies to restore mined land after use — turning old mine areas into ponds, parks, or wildlife habitat. Some are now state parks.</a:t>
            </a:r>
            <a:endParaRPr lang="en-US" sz="1150" dirty="0"/>
          </a:p>
        </p:txBody>
      </p:sp>
      <p:sp>
        <p:nvSpPr>
          <p:cNvPr id="14" name="Text 12"/>
          <p:cNvSpPr/>
          <p:nvPr/>
        </p:nvSpPr>
        <p:spPr>
          <a:xfrm>
            <a:off x="9966960" y="2505456"/>
            <a:ext cx="1828800" cy="585216"/>
          </a:xfrm>
          <a:prstGeom prst="rect">
            <a:avLst/>
          </a:prstGeom>
          <a:noFill/>
          <a:ln/>
        </p:spPr>
        <p:txBody>
          <a:bodyPr wrap="square" rtlCol="0" anchor="ctr"/>
          <a:lstStyle/>
          <a:p>
            <a:pPr algn="r" indent="0" marL="0">
              <a:buNone/>
            </a:pPr>
            <a:r>
              <a:rPr lang="en-US" sz="900" i="1" dirty="0">
                <a:solidFill>
                  <a:srgbClr val="2DC653"/>
                </a:solidFill>
                <a:latin typeface="Calibri" pitchFamily="34" charset="0"/>
                <a:ea typeface="Calibri" pitchFamily="34" charset="-122"/>
                <a:cs typeface="Calibri" pitchFamily="34" charset="-120"/>
              </a:rPr>
              <a:t>Florida Phosphate Mining Reclamation</a:t>
            </a:r>
            <a:endParaRPr lang="en-US" sz="900" dirty="0"/>
          </a:p>
        </p:txBody>
      </p:sp>
      <p:sp>
        <p:nvSpPr>
          <p:cNvPr id="15" name="Shape 13"/>
          <p:cNvSpPr/>
          <p:nvPr/>
        </p:nvSpPr>
        <p:spPr>
          <a:xfrm>
            <a:off x="365760" y="3566160"/>
            <a:ext cx="11247120" cy="1298448"/>
          </a:xfrm>
          <a:prstGeom prst="roundRect">
            <a:avLst>
              <a:gd name="adj" fmla="val 5634"/>
            </a:avLst>
          </a:prstGeom>
          <a:solidFill>
            <a:srgbClr val="1E2F45"/>
          </a:solidFill>
          <a:ln w="12700">
            <a:solidFill>
              <a:srgbClr val="FFB703"/>
            </a:solidFill>
            <a:prstDash val="solid"/>
          </a:ln>
        </p:spPr>
      </p:sp>
      <p:sp>
        <p:nvSpPr>
          <p:cNvPr id="16" name="Shape 14"/>
          <p:cNvSpPr/>
          <p:nvPr/>
        </p:nvSpPr>
        <p:spPr>
          <a:xfrm>
            <a:off x="502920" y="3639312"/>
            <a:ext cx="1554480" cy="256032"/>
          </a:xfrm>
          <a:prstGeom prst="roundRect">
            <a:avLst>
              <a:gd name="adj" fmla="val 50000"/>
            </a:avLst>
          </a:prstGeom>
          <a:solidFill>
            <a:srgbClr val="FFB703"/>
          </a:solidFill>
          <a:ln w="12700">
            <a:solidFill>
              <a:srgbClr val="FFB703"/>
            </a:solidFill>
            <a:prstDash val="solid"/>
          </a:ln>
        </p:spPr>
      </p:sp>
      <p:sp>
        <p:nvSpPr>
          <p:cNvPr id="17" name="Text 15"/>
          <p:cNvSpPr/>
          <p:nvPr/>
        </p:nvSpPr>
        <p:spPr>
          <a:xfrm>
            <a:off x="502920" y="3639312"/>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Better Technology</a:t>
            </a:r>
            <a:endParaRPr lang="en-US" sz="900" dirty="0"/>
          </a:p>
        </p:txBody>
      </p:sp>
      <p:sp>
        <p:nvSpPr>
          <p:cNvPr id="18" name="Text 16"/>
          <p:cNvSpPr/>
          <p:nvPr/>
        </p:nvSpPr>
        <p:spPr>
          <a:xfrm>
            <a:off x="2240280" y="3639312"/>
            <a:ext cx="7498080" cy="111556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Florida now requires new solar farms to assess wildlife corridors and avoid critical habitats — using smart site selection instead of just picking any open land.</a:t>
            </a:r>
            <a:endParaRPr lang="en-US" sz="1150" dirty="0"/>
          </a:p>
        </p:txBody>
      </p:sp>
      <p:sp>
        <p:nvSpPr>
          <p:cNvPr id="19" name="Text 17"/>
          <p:cNvSpPr/>
          <p:nvPr/>
        </p:nvSpPr>
        <p:spPr>
          <a:xfrm>
            <a:off x="9966960" y="3913632"/>
            <a:ext cx="1828800" cy="585216"/>
          </a:xfrm>
          <a:prstGeom prst="rect">
            <a:avLst/>
          </a:prstGeom>
          <a:noFill/>
          <a:ln/>
        </p:spPr>
        <p:txBody>
          <a:bodyPr wrap="square" rtlCol="0" anchor="ctr"/>
          <a:lstStyle/>
          <a:p>
            <a:pPr algn="r" indent="0" marL="0">
              <a:buNone/>
            </a:pPr>
            <a:r>
              <a:rPr lang="en-US" sz="900" i="1" dirty="0">
                <a:solidFill>
                  <a:srgbClr val="FFB703"/>
                </a:solidFill>
                <a:latin typeface="Calibri" pitchFamily="34" charset="0"/>
                <a:ea typeface="Calibri" pitchFamily="34" charset="-122"/>
                <a:cs typeface="Calibri" pitchFamily="34" charset="-120"/>
              </a:rPr>
              <a:t>Florida Solar Siting Guidelines</a:t>
            </a:r>
            <a:endParaRPr lang="en-US" sz="900" dirty="0"/>
          </a:p>
        </p:txBody>
      </p:sp>
      <p:sp>
        <p:nvSpPr>
          <p:cNvPr id="20" name="Shape 18"/>
          <p:cNvSpPr/>
          <p:nvPr/>
        </p:nvSpPr>
        <p:spPr>
          <a:xfrm>
            <a:off x="365760" y="4974336"/>
            <a:ext cx="11247120" cy="1298448"/>
          </a:xfrm>
          <a:prstGeom prst="roundRect">
            <a:avLst>
              <a:gd name="adj" fmla="val 5634"/>
            </a:avLst>
          </a:prstGeom>
          <a:solidFill>
            <a:srgbClr val="1E2F45"/>
          </a:solidFill>
          <a:ln w="12700">
            <a:solidFill>
              <a:srgbClr val="F4736A"/>
            </a:solidFill>
            <a:prstDash val="solid"/>
          </a:ln>
        </p:spPr>
      </p:sp>
      <p:sp>
        <p:nvSpPr>
          <p:cNvPr id="21" name="Shape 19"/>
          <p:cNvSpPr/>
          <p:nvPr/>
        </p:nvSpPr>
        <p:spPr>
          <a:xfrm>
            <a:off x="502920" y="5047488"/>
            <a:ext cx="1554480" cy="256032"/>
          </a:xfrm>
          <a:prstGeom prst="roundRect">
            <a:avLst>
              <a:gd name="adj" fmla="val 50000"/>
            </a:avLst>
          </a:prstGeom>
          <a:solidFill>
            <a:srgbClr val="F4736A"/>
          </a:solidFill>
          <a:ln w="12700">
            <a:solidFill>
              <a:srgbClr val="F4736A"/>
            </a:solidFill>
            <a:prstDash val="solid"/>
          </a:ln>
        </p:spPr>
      </p:sp>
      <p:sp>
        <p:nvSpPr>
          <p:cNvPr id="22" name="Text 20"/>
          <p:cNvSpPr/>
          <p:nvPr/>
        </p:nvSpPr>
        <p:spPr>
          <a:xfrm>
            <a:off x="502920" y="5047488"/>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Rules &amp; Laws</a:t>
            </a:r>
            <a:endParaRPr lang="en-US" sz="900" dirty="0"/>
          </a:p>
        </p:txBody>
      </p:sp>
      <p:sp>
        <p:nvSpPr>
          <p:cNvPr id="23" name="Text 21"/>
          <p:cNvSpPr/>
          <p:nvPr/>
        </p:nvSpPr>
        <p:spPr>
          <a:xfrm>
            <a:off x="2240280" y="5047488"/>
            <a:ext cx="7498080" cy="111556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Florida's Growth Management Act requires cities to plan for resource needs decades in advance — preventing the kind of sprawl that exhausts local water and land resources.</a:t>
            </a:r>
            <a:endParaRPr lang="en-US" sz="1150" dirty="0"/>
          </a:p>
        </p:txBody>
      </p:sp>
      <p:sp>
        <p:nvSpPr>
          <p:cNvPr id="24" name="Text 22"/>
          <p:cNvSpPr/>
          <p:nvPr/>
        </p:nvSpPr>
        <p:spPr>
          <a:xfrm>
            <a:off x="9966960" y="5321808"/>
            <a:ext cx="1828800" cy="585216"/>
          </a:xfrm>
          <a:prstGeom prst="rect">
            <a:avLst/>
          </a:prstGeom>
          <a:noFill/>
          <a:ln/>
        </p:spPr>
        <p:txBody>
          <a:bodyPr wrap="square" rtlCol="0" anchor="ctr"/>
          <a:lstStyle/>
          <a:p>
            <a:pPr algn="r" indent="0" marL="0">
              <a:buNone/>
            </a:pPr>
            <a:r>
              <a:rPr lang="en-US" sz="900" i="1" dirty="0">
                <a:solidFill>
                  <a:srgbClr val="F4736A"/>
                </a:solidFill>
                <a:latin typeface="Calibri" pitchFamily="34" charset="0"/>
                <a:ea typeface="Calibri" pitchFamily="34" charset="-122"/>
                <a:cs typeface="Calibri" pitchFamily="34" charset="-120"/>
              </a:rPr>
              <a:t>Florida Growth Management Act</a:t>
            </a:r>
            <a:endParaRPr lang="en-US" sz="900" dirty="0"/>
          </a:p>
        </p:txBody>
      </p:sp>
      <p:sp>
        <p:nvSpPr>
          <p:cNvPr id="25" name="Shape 23"/>
          <p:cNvSpPr/>
          <p:nvPr/>
        </p:nvSpPr>
        <p:spPr>
          <a:xfrm>
            <a:off x="0" y="6629400"/>
            <a:ext cx="12192000" cy="228600"/>
          </a:xfrm>
          <a:prstGeom prst="rect">
            <a:avLst/>
          </a:prstGeom>
          <a:solidFill>
            <a:srgbClr val="162233"/>
          </a:solidFill>
          <a:ln/>
        </p:spPr>
      </p:sp>
      <p:sp>
        <p:nvSpPr>
          <p:cNvPr id="26" name="Text 2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16.01  ·  Modern Resources &amp; Environmental Choices</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Deep Dive: Solar Farm Tradeoff — All Three Parts</a:t>
            </a:r>
            <a:endParaRPr lang="en-US" sz="1600" dirty="0"/>
          </a:p>
        </p:txBody>
      </p:sp>
      <p:sp>
        <p:nvSpPr>
          <p:cNvPr id="5" name="Shape 3"/>
          <p:cNvSpPr/>
          <p:nvPr/>
        </p:nvSpPr>
        <p:spPr>
          <a:xfrm>
            <a:off x="365760" y="749808"/>
            <a:ext cx="11247120" cy="585216"/>
          </a:xfrm>
          <a:prstGeom prst="roundRect">
            <a:avLst>
              <a:gd name="adj" fmla="val 12500"/>
            </a:avLst>
          </a:prstGeom>
          <a:solidFill>
            <a:srgbClr val="162233"/>
          </a:solidFill>
          <a:ln w="12700">
            <a:solidFill>
              <a:srgbClr val="2DC653"/>
            </a:solidFill>
            <a:prstDash val="solid"/>
          </a:ln>
        </p:spPr>
      </p:sp>
      <p:sp>
        <p:nvSpPr>
          <p:cNvPr id="6" name="Text 4"/>
          <p:cNvSpPr/>
          <p:nvPr/>
        </p:nvSpPr>
        <p:spPr>
          <a:xfrm>
            <a:off x="548640" y="822960"/>
            <a:ext cx="10972800" cy="43891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Scenario: Florida plans to build a new solar farm on 500 acres of undeveloped land near a wildlife corridor.</a:t>
            </a:r>
            <a:endParaRPr lang="en-US" sz="1300" dirty="0"/>
          </a:p>
        </p:txBody>
      </p:sp>
      <p:sp>
        <p:nvSpPr>
          <p:cNvPr id="7" name="Shape 5"/>
          <p:cNvSpPr/>
          <p:nvPr/>
        </p:nvSpPr>
        <p:spPr>
          <a:xfrm>
            <a:off x="365760" y="1463040"/>
            <a:ext cx="3566160" cy="4187952"/>
          </a:xfrm>
          <a:prstGeom prst="roundRect">
            <a:avLst>
              <a:gd name="adj" fmla="val 2051"/>
            </a:avLst>
          </a:prstGeom>
          <a:solidFill>
            <a:srgbClr val="1E2F45"/>
          </a:solidFill>
          <a:ln w="12700">
            <a:solidFill>
              <a:srgbClr val="2DC653"/>
            </a:solidFill>
            <a:prstDash val="solid"/>
          </a:ln>
        </p:spPr>
      </p:sp>
      <p:sp>
        <p:nvSpPr>
          <p:cNvPr id="8" name="Text 6"/>
          <p:cNvSpPr/>
          <p:nvPr/>
        </p:nvSpPr>
        <p:spPr>
          <a:xfrm>
            <a:off x="548640" y="1536192"/>
            <a:ext cx="3200400" cy="384048"/>
          </a:xfrm>
          <a:prstGeom prst="rect">
            <a:avLst/>
          </a:prstGeom>
          <a:noFill/>
          <a:ln/>
        </p:spPr>
        <p:txBody>
          <a:bodyPr wrap="square" rtlCol="0" anchor="ctr"/>
          <a:lstStyle/>
          <a:p>
            <a:pPr indent="0" marL="0">
              <a:buNone/>
            </a:pPr>
            <a:r>
              <a:rPr lang="en-US" sz="1400" b="1" dirty="0">
                <a:solidFill>
                  <a:srgbClr val="2DC653"/>
                </a:solidFill>
                <a:latin typeface="Calibri" pitchFamily="34" charset="0"/>
                <a:ea typeface="Calibri" pitchFamily="34" charset="-122"/>
                <a:cs typeface="Calibri" pitchFamily="34" charset="-120"/>
              </a:rPr>
              <a:t>✅ BENEFITS</a:t>
            </a:r>
            <a:endParaRPr lang="en-US" sz="1400" dirty="0"/>
          </a:p>
        </p:txBody>
      </p:sp>
      <p:sp>
        <p:nvSpPr>
          <p:cNvPr id="9" name="Text 7"/>
          <p:cNvSpPr/>
          <p:nvPr/>
        </p:nvSpPr>
        <p:spPr>
          <a:xfrm>
            <a:off x="548640" y="1956816"/>
            <a:ext cx="3200400" cy="352958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 Clean electricity for ~40,000 homes</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No air pollution or CO₂ emissions</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Renewable — sun comes back every day</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Creates construction + maintenance jobs</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Reduces dependence on out-of-state natural gas</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Panels last 25-30 years</a:t>
            </a:r>
            <a:endParaRPr lang="en-US" sz="1150" dirty="0"/>
          </a:p>
        </p:txBody>
      </p:sp>
      <p:sp>
        <p:nvSpPr>
          <p:cNvPr id="10" name="Shape 8"/>
          <p:cNvSpPr/>
          <p:nvPr/>
        </p:nvSpPr>
        <p:spPr>
          <a:xfrm>
            <a:off x="4114800" y="1463040"/>
            <a:ext cx="3566160" cy="4187952"/>
          </a:xfrm>
          <a:prstGeom prst="roundRect">
            <a:avLst>
              <a:gd name="adj" fmla="val 2051"/>
            </a:avLst>
          </a:prstGeom>
          <a:solidFill>
            <a:srgbClr val="1E2F45"/>
          </a:solidFill>
          <a:ln w="12700">
            <a:solidFill>
              <a:srgbClr val="F4736A"/>
            </a:solidFill>
            <a:prstDash val="solid"/>
          </a:ln>
        </p:spPr>
      </p:sp>
      <p:sp>
        <p:nvSpPr>
          <p:cNvPr id="11" name="Text 9"/>
          <p:cNvSpPr/>
          <p:nvPr/>
        </p:nvSpPr>
        <p:spPr>
          <a:xfrm>
            <a:off x="4297680" y="1536192"/>
            <a:ext cx="3200400" cy="384048"/>
          </a:xfrm>
          <a:prstGeom prst="rect">
            <a:avLst/>
          </a:prstGeom>
          <a:noFill/>
          <a:ln/>
        </p:spPr>
        <p:txBody>
          <a:bodyPr wrap="square" rtlCol="0" anchor="ctr"/>
          <a:lstStyle/>
          <a:p>
            <a:pPr indent="0" marL="0">
              <a:buNone/>
            </a:pPr>
            <a:r>
              <a:rPr lang="en-US" sz="1300" b="1" dirty="0">
                <a:solidFill>
                  <a:srgbClr val="F4736A"/>
                </a:solidFill>
                <a:latin typeface="Calibri" pitchFamily="34" charset="0"/>
                <a:ea typeface="Calibri" pitchFamily="34" charset="-122"/>
                <a:cs typeface="Calibri" pitchFamily="34" charset="-120"/>
              </a:rPr>
              <a:t>❌ ENVIRONMENTAL COSTS</a:t>
            </a:r>
            <a:endParaRPr lang="en-US" sz="1300" dirty="0"/>
          </a:p>
        </p:txBody>
      </p:sp>
      <p:sp>
        <p:nvSpPr>
          <p:cNvPr id="12" name="Text 10"/>
          <p:cNvSpPr/>
          <p:nvPr/>
        </p:nvSpPr>
        <p:spPr>
          <a:xfrm>
            <a:off x="4297680" y="1956816"/>
            <a:ext cx="3200400" cy="352958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 500 acres of habitat removed</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Wildlife corridor disrupted</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Heat island effect under panels</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Water used to clean panels</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Materials needed to manufacture panels</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End-of-life panel disposal challenge</a:t>
            </a:r>
            <a:endParaRPr lang="en-US" sz="1150" dirty="0"/>
          </a:p>
        </p:txBody>
      </p:sp>
      <p:sp>
        <p:nvSpPr>
          <p:cNvPr id="13" name="Shape 11"/>
          <p:cNvSpPr/>
          <p:nvPr/>
        </p:nvSpPr>
        <p:spPr>
          <a:xfrm>
            <a:off x="7863840" y="1463040"/>
            <a:ext cx="3749040" cy="4187952"/>
          </a:xfrm>
          <a:prstGeom prst="roundRect">
            <a:avLst>
              <a:gd name="adj" fmla="val 1951"/>
            </a:avLst>
          </a:prstGeom>
          <a:solidFill>
            <a:srgbClr val="1E2F45"/>
          </a:solidFill>
          <a:ln w="12700">
            <a:solidFill>
              <a:srgbClr val="4CC9F0"/>
            </a:solidFill>
            <a:prstDash val="solid"/>
          </a:ln>
        </p:spPr>
      </p:sp>
      <p:sp>
        <p:nvSpPr>
          <p:cNvPr id="14" name="Text 12"/>
          <p:cNvSpPr/>
          <p:nvPr/>
        </p:nvSpPr>
        <p:spPr>
          <a:xfrm>
            <a:off x="8046720" y="1536192"/>
            <a:ext cx="3383280" cy="384048"/>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 PROTECTION STRATEGIES</a:t>
            </a:r>
            <a:endParaRPr lang="en-US" sz="1300" dirty="0"/>
          </a:p>
        </p:txBody>
      </p:sp>
      <p:sp>
        <p:nvSpPr>
          <p:cNvPr id="15" name="Text 13"/>
          <p:cNvSpPr/>
          <p:nvPr/>
        </p:nvSpPr>
        <p:spPr>
          <a:xfrm>
            <a:off x="8046720" y="1956816"/>
            <a:ext cx="3383280" cy="352958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 Reroute around wildlife corridor</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Use brownfield or already-developed land instead</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Plant native vegetation under panels</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Design wildlife underpasses nearby</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Partner with recyclers for end-of-life panels</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Build stormwater management to reduce runoff</a:t>
            </a:r>
            <a:endParaRPr lang="en-US" sz="1150" dirty="0"/>
          </a:p>
        </p:txBody>
      </p:sp>
      <p:sp>
        <p:nvSpPr>
          <p:cNvPr id="16" name="Shape 14"/>
          <p:cNvSpPr/>
          <p:nvPr/>
        </p:nvSpPr>
        <p:spPr>
          <a:xfrm>
            <a:off x="0" y="6629400"/>
            <a:ext cx="12192000" cy="228600"/>
          </a:xfrm>
          <a:prstGeom prst="rect">
            <a:avLst/>
          </a:prstGeom>
          <a:solidFill>
            <a:srgbClr val="162233"/>
          </a:solidFill>
          <a:ln/>
        </p:spPr>
      </p:sp>
      <p:sp>
        <p:nvSpPr>
          <p:cNvPr id="17" name="Text 1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16.01  ·  Modern Resources &amp; Environmental Choices</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Who Decides Florida's Resource Tradeoffs?</a:t>
            </a:r>
            <a:endParaRPr lang="en-US" sz="1600" dirty="0"/>
          </a:p>
        </p:txBody>
      </p:sp>
      <p:sp>
        <p:nvSpPr>
          <p:cNvPr id="5" name="Shape 3"/>
          <p:cNvSpPr/>
          <p:nvPr/>
        </p:nvSpPr>
        <p:spPr>
          <a:xfrm>
            <a:off x="365760" y="749808"/>
            <a:ext cx="5303520" cy="4187952"/>
          </a:xfrm>
          <a:prstGeom prst="roundRect">
            <a:avLst>
              <a:gd name="adj" fmla="val 1747"/>
            </a:avLst>
          </a:prstGeom>
          <a:solidFill>
            <a:srgbClr val="0A1520"/>
          </a:solidFill>
          <a:ln w="19050">
            <a:solidFill>
              <a:srgbClr val="4CC9F0"/>
            </a:solidFill>
            <a:prstDash val="dash"/>
          </a:ln>
        </p:spPr>
      </p:sp>
      <p:sp>
        <p:nvSpPr>
          <p:cNvPr id="6" name="Text 4"/>
          <p:cNvSpPr/>
          <p:nvPr/>
        </p:nvSpPr>
        <p:spPr>
          <a:xfrm>
            <a:off x="457200" y="859536"/>
            <a:ext cx="51206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457200" y="1298448"/>
            <a:ext cx="512064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8" name="Text 6"/>
          <p:cNvSpPr/>
          <p:nvPr/>
        </p:nvSpPr>
        <p:spPr>
          <a:xfrm>
            <a:off x="475488" y="1591056"/>
            <a:ext cx="5084064" cy="3136392"/>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"community meeting Florida resource decision town hall planning environmental review"</a:t>
            </a:r>
            <a:endParaRPr lang="en-US" sz="950" dirty="0"/>
          </a:p>
        </p:txBody>
      </p:sp>
      <p:sp>
        <p:nvSpPr>
          <p:cNvPr id="9" name="Text 7"/>
          <p:cNvSpPr/>
          <p:nvPr/>
        </p:nvSpPr>
        <p:spPr>
          <a:xfrm>
            <a:off x="365760" y="4974336"/>
            <a:ext cx="530352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Resource tradeoff decisions involve many people — scientists, engineers, community members</a:t>
            </a:r>
            <a:endParaRPr lang="en-US" sz="900" dirty="0"/>
          </a:p>
        </p:txBody>
      </p:sp>
      <p:sp>
        <p:nvSpPr>
          <p:cNvPr id="10" name="Shape 8"/>
          <p:cNvSpPr/>
          <p:nvPr/>
        </p:nvSpPr>
        <p:spPr>
          <a:xfrm>
            <a:off x="5852160" y="749808"/>
            <a:ext cx="5760720" cy="1993392"/>
          </a:xfrm>
          <a:prstGeom prst="roundRect">
            <a:avLst>
              <a:gd name="adj" fmla="val 3670"/>
            </a:avLst>
          </a:prstGeom>
          <a:solidFill>
            <a:srgbClr val="1E2F45"/>
          </a:solidFill>
          <a:ln w="12700">
            <a:solidFill>
              <a:srgbClr val="FFB703"/>
            </a:solidFill>
            <a:prstDash val="solid"/>
          </a:ln>
        </p:spPr>
      </p:sp>
      <p:sp>
        <p:nvSpPr>
          <p:cNvPr id="11" name="Text 9"/>
          <p:cNvSpPr/>
          <p:nvPr/>
        </p:nvSpPr>
        <p:spPr>
          <a:xfrm>
            <a:off x="6035040" y="822960"/>
            <a:ext cx="5394960" cy="347472"/>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 Resource tradeoffs are decided TOGETHER:</a:t>
            </a:r>
            <a:endParaRPr lang="en-US" sz="1200" dirty="0"/>
          </a:p>
        </p:txBody>
      </p:sp>
      <p:sp>
        <p:nvSpPr>
          <p:cNvPr id="12" name="Text 10"/>
          <p:cNvSpPr/>
          <p:nvPr/>
        </p:nvSpPr>
        <p:spPr>
          <a:xfrm>
            <a:off x="6035040" y="1207008"/>
            <a:ext cx="5394960" cy="138988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 Scientists provide evidence about costs and benefits</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Engineers design protection strategies</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Businesses decide where to invest</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Residents give feedback on what matters to them</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Officials make laws and policies</a:t>
            </a:r>
            <a:endParaRPr lang="en-US" sz="1150" dirty="0"/>
          </a:p>
          <a:p>
            <a:pPr indent="0" marL="0">
              <a:buNone/>
            </a:pP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You'll be part of these decisions someday.</a:t>
            </a:r>
            <a:endParaRPr lang="en-US" sz="1150" dirty="0"/>
          </a:p>
        </p:txBody>
      </p:sp>
      <p:sp>
        <p:nvSpPr>
          <p:cNvPr id="13" name="Shape 11"/>
          <p:cNvSpPr/>
          <p:nvPr/>
        </p:nvSpPr>
        <p:spPr>
          <a:xfrm>
            <a:off x="5852160" y="2871216"/>
            <a:ext cx="5760720" cy="2066544"/>
          </a:xfrm>
          <a:prstGeom prst="roundRect">
            <a:avLst>
              <a:gd name="adj" fmla="val 3540"/>
            </a:avLst>
          </a:prstGeom>
          <a:solidFill>
            <a:srgbClr val="1E2F45"/>
          </a:solidFill>
          <a:ln w="12700">
            <a:solidFill>
              <a:srgbClr val="2DC653"/>
            </a:solidFill>
            <a:prstDash val="solid"/>
          </a:ln>
        </p:spPr>
      </p:sp>
      <p:sp>
        <p:nvSpPr>
          <p:cNvPr id="14" name="Text 12"/>
          <p:cNvSpPr/>
          <p:nvPr/>
        </p:nvSpPr>
        <p:spPr>
          <a:xfrm>
            <a:off x="6035040" y="2944368"/>
            <a:ext cx="539496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 The Mind-Blow:</a:t>
            </a:r>
            <a:endParaRPr lang="en-US" sz="1200" dirty="0"/>
          </a:p>
        </p:txBody>
      </p:sp>
      <p:sp>
        <p:nvSpPr>
          <p:cNvPr id="15" name="Text 13"/>
          <p:cNvSpPr/>
          <p:nvPr/>
        </p:nvSpPr>
        <p:spPr>
          <a:xfrm>
            <a:off x="6035040" y="3328416"/>
            <a:ext cx="5394960" cy="1444752"/>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An electric car charged using Florida solar electricity has a MUCH SMALLER environmental cost over its lifetime than a gas car — even after counting the resources to BUILD the electric car.</a:t>
            </a:r>
            <a:endParaRPr lang="en-US" sz="1150" dirty="0"/>
          </a:p>
          <a:p>
            <a:pPr indent="0" marL="0">
              <a:buNone/>
            </a:pP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The tradeoff math has changed in the last 20 years as technology improved.</a:t>
            </a:r>
            <a:endParaRPr lang="en-US" sz="1150" dirty="0"/>
          </a:p>
        </p:txBody>
      </p:sp>
      <p:sp>
        <p:nvSpPr>
          <p:cNvPr id="16" name="Shape 14"/>
          <p:cNvSpPr/>
          <p:nvPr/>
        </p:nvSpPr>
        <p:spPr>
          <a:xfrm>
            <a:off x="365760" y="5065776"/>
            <a:ext cx="11247120" cy="841248"/>
          </a:xfrm>
          <a:prstGeom prst="roundRect">
            <a:avLst>
              <a:gd name="adj" fmla="val 8696"/>
            </a:avLst>
          </a:prstGeom>
          <a:solidFill>
            <a:srgbClr val="162233"/>
          </a:solidFill>
          <a:ln w="12700">
            <a:solidFill>
              <a:srgbClr val="FFB703"/>
            </a:solidFill>
            <a:prstDash val="solid"/>
          </a:ln>
        </p:spPr>
      </p:sp>
      <p:sp>
        <p:nvSpPr>
          <p:cNvPr id="17" name="Text 15"/>
          <p:cNvSpPr/>
          <p:nvPr/>
        </p:nvSpPr>
        <p:spPr>
          <a:xfrm>
            <a:off x="530352" y="5138928"/>
            <a:ext cx="1091793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Think &amp; Write:</a:t>
            </a:r>
            <a:endParaRPr lang="en-US" sz="1300" dirty="0"/>
          </a:p>
        </p:txBody>
      </p:sp>
      <p:sp>
        <p:nvSpPr>
          <p:cNvPr id="18" name="Text 16"/>
          <p:cNvSpPr/>
          <p:nvPr/>
        </p:nvSpPr>
        <p:spPr>
          <a:xfrm>
            <a:off x="530352" y="5504688"/>
            <a:ext cx="10917936" cy="292608"/>
          </a:xfrm>
          <a:prstGeom prst="rect">
            <a:avLst/>
          </a:prstGeom>
          <a:noFill/>
          <a:ln/>
        </p:spPr>
        <p:txBody>
          <a:bodyPr wrap="square" rtlCol="0" anchor="t"/>
          <a:lstStyle/>
          <a:p>
            <a:pPr algn="l" indent="0" marL="0">
              <a:buNone/>
            </a:pPr>
            <a:r>
              <a:rPr lang="en-US" sz="1150" i="1" dirty="0">
                <a:solidFill>
                  <a:srgbClr val="FFFFFF"/>
                </a:solidFill>
                <a:latin typeface="Calibri" pitchFamily="34" charset="0"/>
                <a:ea typeface="Calibri" pitchFamily="34" charset="-122"/>
                <a:cs typeface="Calibri" pitchFamily="34" charset="-120"/>
              </a:rPr>
              <a:t>New Florida solar farm proposed on forest land. As a scientist: name ONE benefit, ONE environmental cost, ONE protection strategy. Then: is the tradeoff worth it?</a:t>
            </a:r>
            <a:endParaRPr lang="en-US" sz="1150" dirty="0"/>
          </a:p>
        </p:txBody>
      </p:sp>
      <p:sp>
        <p:nvSpPr>
          <p:cNvPr id="19" name="Shape 17"/>
          <p:cNvSpPr/>
          <p:nvPr/>
        </p:nvSpPr>
        <p:spPr>
          <a:xfrm>
            <a:off x="0" y="6629400"/>
            <a:ext cx="12192000" cy="228600"/>
          </a:xfrm>
          <a:prstGeom prst="rect">
            <a:avLst/>
          </a:prstGeom>
          <a:solidFill>
            <a:srgbClr val="162233"/>
          </a:solidFill>
          <a:ln/>
        </p:spPr>
      </p:sp>
      <p:sp>
        <p:nvSpPr>
          <p:cNvPr id="20" name="Text 1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16.01  ·  Modern Resources &amp; Environmental Choices</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Elaborate: What Would a Sustainable Florida Look Like?</a:t>
            </a:r>
            <a:endParaRPr lang="en-US" sz="1600" dirty="0"/>
          </a:p>
        </p:txBody>
      </p:sp>
      <p:sp>
        <p:nvSpPr>
          <p:cNvPr id="5" name="Shape 3"/>
          <p:cNvSpPr/>
          <p:nvPr/>
        </p:nvSpPr>
        <p:spPr>
          <a:xfrm>
            <a:off x="365760" y="749808"/>
            <a:ext cx="11247120" cy="658368"/>
          </a:xfrm>
          <a:prstGeom prst="roundRect">
            <a:avLst>
              <a:gd name="adj" fmla="val 11111"/>
            </a:avLst>
          </a:prstGeom>
          <a:solidFill>
            <a:srgbClr val="1E2F45"/>
          </a:solidFill>
          <a:ln w="12700">
            <a:solidFill>
              <a:srgbClr val="2DC653"/>
            </a:solidFill>
            <a:prstDash val="solid"/>
          </a:ln>
        </p:spPr>
      </p:sp>
      <p:sp>
        <p:nvSpPr>
          <p:cNvPr id="6" name="Text 4"/>
          <p:cNvSpPr/>
          <p:nvPr/>
        </p:nvSpPr>
        <p:spPr>
          <a:xfrm>
            <a:off x="548640" y="822960"/>
            <a:ext cx="10972800" cy="51206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Scientists and engineers are working on this RIGHT NOW. Here's what's being planned:</a:t>
            </a:r>
            <a:endParaRPr lang="en-US" sz="1300" dirty="0"/>
          </a:p>
        </p:txBody>
      </p:sp>
      <p:sp>
        <p:nvSpPr>
          <p:cNvPr id="7" name="Shape 5"/>
          <p:cNvSpPr/>
          <p:nvPr/>
        </p:nvSpPr>
        <p:spPr>
          <a:xfrm>
            <a:off x="365760" y="1536192"/>
            <a:ext cx="11247120" cy="1078992"/>
          </a:xfrm>
          <a:prstGeom prst="roundRect">
            <a:avLst>
              <a:gd name="adj" fmla="val 6780"/>
            </a:avLst>
          </a:prstGeom>
          <a:solidFill>
            <a:srgbClr val="1E2F45"/>
          </a:solidFill>
          <a:ln w="12700">
            <a:solidFill>
              <a:srgbClr val="FFB703"/>
            </a:solidFill>
            <a:prstDash val="solid"/>
          </a:ln>
        </p:spPr>
      </p:sp>
      <p:sp>
        <p:nvSpPr>
          <p:cNvPr id="8" name="Text 6"/>
          <p:cNvSpPr/>
          <p:nvPr/>
        </p:nvSpPr>
        <p:spPr>
          <a:xfrm>
            <a:off x="548640" y="1609344"/>
            <a:ext cx="1645920" cy="822960"/>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Energy:</a:t>
            </a:r>
            <a:endParaRPr lang="en-US" sz="1300" dirty="0"/>
          </a:p>
        </p:txBody>
      </p:sp>
      <p:sp>
        <p:nvSpPr>
          <p:cNvPr id="9" name="Text 7"/>
          <p:cNvSpPr/>
          <p:nvPr/>
        </p:nvSpPr>
        <p:spPr>
          <a:xfrm>
            <a:off x="2377440" y="1609344"/>
            <a:ext cx="9052560" cy="38404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Now: 5% renewable  |  Goal: 100% renewable electricity by 2050 (proposed)</a:t>
            </a:r>
            <a:endParaRPr lang="en-US" sz="1150" dirty="0"/>
          </a:p>
        </p:txBody>
      </p:sp>
      <p:sp>
        <p:nvSpPr>
          <p:cNvPr id="10" name="Text 8"/>
          <p:cNvSpPr/>
          <p:nvPr/>
        </p:nvSpPr>
        <p:spPr>
          <a:xfrm>
            <a:off x="2377440" y="2029968"/>
            <a:ext cx="9052560" cy="45720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Strategy: Massive solar expansion + offshore wind on Florida coasts</a:t>
            </a:r>
            <a:endParaRPr lang="en-US" sz="1100" dirty="0"/>
          </a:p>
        </p:txBody>
      </p:sp>
      <p:sp>
        <p:nvSpPr>
          <p:cNvPr id="11" name="Shape 9"/>
          <p:cNvSpPr/>
          <p:nvPr/>
        </p:nvSpPr>
        <p:spPr>
          <a:xfrm>
            <a:off x="365760" y="2724912"/>
            <a:ext cx="11247120" cy="1078992"/>
          </a:xfrm>
          <a:prstGeom prst="roundRect">
            <a:avLst>
              <a:gd name="adj" fmla="val 6780"/>
            </a:avLst>
          </a:prstGeom>
          <a:solidFill>
            <a:srgbClr val="1E2F45"/>
          </a:solidFill>
          <a:ln w="12700">
            <a:solidFill>
              <a:srgbClr val="4CC9F0"/>
            </a:solidFill>
            <a:prstDash val="solid"/>
          </a:ln>
        </p:spPr>
      </p:sp>
      <p:sp>
        <p:nvSpPr>
          <p:cNvPr id="12" name="Text 10"/>
          <p:cNvSpPr/>
          <p:nvPr/>
        </p:nvSpPr>
        <p:spPr>
          <a:xfrm>
            <a:off x="548640" y="2798064"/>
            <a:ext cx="1645920" cy="822960"/>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 Water:</a:t>
            </a:r>
            <a:endParaRPr lang="en-US" sz="1300" dirty="0"/>
          </a:p>
        </p:txBody>
      </p:sp>
      <p:sp>
        <p:nvSpPr>
          <p:cNvPr id="13" name="Text 11"/>
          <p:cNvSpPr/>
          <p:nvPr/>
        </p:nvSpPr>
        <p:spPr>
          <a:xfrm>
            <a:off x="2377440" y="2798064"/>
            <a:ext cx="9052560" cy="38404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Now: Aquifer pumping near limits in some areas  |  Goal: Sustainable groundwater use + water recycling</a:t>
            </a:r>
            <a:endParaRPr lang="en-US" sz="1150" dirty="0"/>
          </a:p>
        </p:txBody>
      </p:sp>
      <p:sp>
        <p:nvSpPr>
          <p:cNvPr id="14" name="Text 12"/>
          <p:cNvSpPr/>
          <p:nvPr/>
        </p:nvSpPr>
        <p:spPr>
          <a:xfrm>
            <a:off x="2377440" y="3218688"/>
            <a:ext cx="9052560" cy="45720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Strategy: Desalination for coastal cities + recycled wastewater systems</a:t>
            </a:r>
            <a:endParaRPr lang="en-US" sz="1100" dirty="0"/>
          </a:p>
        </p:txBody>
      </p:sp>
      <p:sp>
        <p:nvSpPr>
          <p:cNvPr id="15" name="Shape 13"/>
          <p:cNvSpPr/>
          <p:nvPr/>
        </p:nvSpPr>
        <p:spPr>
          <a:xfrm>
            <a:off x="365760" y="3913632"/>
            <a:ext cx="11247120" cy="1078992"/>
          </a:xfrm>
          <a:prstGeom prst="roundRect">
            <a:avLst>
              <a:gd name="adj" fmla="val 6780"/>
            </a:avLst>
          </a:prstGeom>
          <a:solidFill>
            <a:srgbClr val="1E2F45"/>
          </a:solidFill>
          <a:ln w="12700">
            <a:solidFill>
              <a:srgbClr val="2DC653"/>
            </a:solidFill>
            <a:prstDash val="solid"/>
          </a:ln>
        </p:spPr>
      </p:sp>
      <p:sp>
        <p:nvSpPr>
          <p:cNvPr id="16" name="Text 14"/>
          <p:cNvSpPr/>
          <p:nvPr/>
        </p:nvSpPr>
        <p:spPr>
          <a:xfrm>
            <a:off x="548640" y="3986784"/>
            <a:ext cx="1645920" cy="822960"/>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 Land:</a:t>
            </a:r>
            <a:endParaRPr lang="en-US" sz="1300" dirty="0"/>
          </a:p>
        </p:txBody>
      </p:sp>
      <p:sp>
        <p:nvSpPr>
          <p:cNvPr id="17" name="Text 15"/>
          <p:cNvSpPr/>
          <p:nvPr/>
        </p:nvSpPr>
        <p:spPr>
          <a:xfrm>
            <a:off x="2377440" y="3986784"/>
            <a:ext cx="9052560" cy="38404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Now: Mining + development affects wildlife habitat  |  Goal: 30% protected by 2030 (Florida Forever program)</a:t>
            </a:r>
            <a:endParaRPr lang="en-US" sz="1150" dirty="0"/>
          </a:p>
        </p:txBody>
      </p:sp>
      <p:sp>
        <p:nvSpPr>
          <p:cNvPr id="18" name="Text 16"/>
          <p:cNvSpPr/>
          <p:nvPr/>
        </p:nvSpPr>
        <p:spPr>
          <a:xfrm>
            <a:off x="2377440" y="4407408"/>
            <a:ext cx="9052560" cy="45720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Strategy: Buying land for conservation + requiring restoration after mining</a:t>
            </a:r>
            <a:endParaRPr lang="en-US" sz="1100" dirty="0"/>
          </a:p>
        </p:txBody>
      </p:sp>
      <p:sp>
        <p:nvSpPr>
          <p:cNvPr id="19" name="Shape 17"/>
          <p:cNvSpPr/>
          <p:nvPr/>
        </p:nvSpPr>
        <p:spPr>
          <a:xfrm>
            <a:off x="365760" y="5102352"/>
            <a:ext cx="11247120" cy="1078992"/>
          </a:xfrm>
          <a:prstGeom prst="roundRect">
            <a:avLst>
              <a:gd name="adj" fmla="val 6780"/>
            </a:avLst>
          </a:prstGeom>
          <a:solidFill>
            <a:srgbClr val="1E2F45"/>
          </a:solidFill>
          <a:ln w="12700">
            <a:solidFill>
              <a:srgbClr val="F4736A"/>
            </a:solidFill>
            <a:prstDash val="solid"/>
          </a:ln>
        </p:spPr>
      </p:sp>
      <p:sp>
        <p:nvSpPr>
          <p:cNvPr id="20" name="Text 18"/>
          <p:cNvSpPr/>
          <p:nvPr/>
        </p:nvSpPr>
        <p:spPr>
          <a:xfrm>
            <a:off x="548640" y="5175504"/>
            <a:ext cx="1645920" cy="822960"/>
          </a:xfrm>
          <a:prstGeom prst="rect">
            <a:avLst/>
          </a:prstGeom>
          <a:noFill/>
          <a:ln/>
        </p:spPr>
        <p:txBody>
          <a:bodyPr wrap="square" rtlCol="0" anchor="ctr"/>
          <a:lstStyle/>
          <a:p>
            <a:pPr indent="0" marL="0">
              <a:buNone/>
            </a:pPr>
            <a:r>
              <a:rPr lang="en-US" sz="1300" b="1" dirty="0">
                <a:solidFill>
                  <a:srgbClr val="F4736A"/>
                </a:solidFill>
                <a:latin typeface="Calibri" pitchFamily="34" charset="0"/>
                <a:ea typeface="Calibri" pitchFamily="34" charset="-122"/>
                <a:cs typeface="Calibri" pitchFamily="34" charset="-120"/>
              </a:rPr>
              <a:t>🏙️ Coastal Resilience:</a:t>
            </a:r>
            <a:endParaRPr lang="en-US" sz="1300" dirty="0"/>
          </a:p>
        </p:txBody>
      </p:sp>
      <p:sp>
        <p:nvSpPr>
          <p:cNvPr id="21" name="Text 19"/>
          <p:cNvSpPr/>
          <p:nvPr/>
        </p:nvSpPr>
        <p:spPr>
          <a:xfrm>
            <a:off x="2377440" y="5175504"/>
            <a:ext cx="9052560" cy="38404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Now: Sea-level rise threatening coastal communities  |  Goal: Adapt cities while protecting coastlines</a:t>
            </a:r>
            <a:endParaRPr lang="en-US" sz="1150" dirty="0"/>
          </a:p>
        </p:txBody>
      </p:sp>
      <p:sp>
        <p:nvSpPr>
          <p:cNvPr id="22" name="Text 20"/>
          <p:cNvSpPr/>
          <p:nvPr/>
        </p:nvSpPr>
        <p:spPr>
          <a:xfrm>
            <a:off x="2377440" y="5596128"/>
            <a:ext cx="9052560" cy="45720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Strategy: Elevating roads, restoring mangroves, building living shorelines</a:t>
            </a:r>
            <a:endParaRPr lang="en-US" sz="1100" dirty="0"/>
          </a:p>
        </p:txBody>
      </p:sp>
      <p:sp>
        <p:nvSpPr>
          <p:cNvPr id="23" name="Shape 21"/>
          <p:cNvSpPr/>
          <p:nvPr/>
        </p:nvSpPr>
        <p:spPr>
          <a:xfrm>
            <a:off x="0" y="6629400"/>
            <a:ext cx="12192000" cy="228600"/>
          </a:xfrm>
          <a:prstGeom prst="rect">
            <a:avLst/>
          </a:prstGeom>
          <a:solidFill>
            <a:srgbClr val="162233"/>
          </a:solidFill>
          <a:ln/>
        </p:spPr>
      </p:sp>
      <p:sp>
        <p:nvSpPr>
          <p:cNvPr id="24" name="Text 22"/>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16.01  ·  Modern Resources &amp; Environmental Choices</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CER Preparation — Tradeoff Evidence Bank</a:t>
            </a:r>
            <a:endParaRPr lang="en-US" sz="1600" dirty="0"/>
          </a:p>
        </p:txBody>
      </p:sp>
      <p:sp>
        <p:nvSpPr>
          <p:cNvPr id="5" name="Shape 3"/>
          <p:cNvSpPr/>
          <p:nvPr/>
        </p:nvSpPr>
        <p:spPr>
          <a:xfrm>
            <a:off x="365760" y="749808"/>
            <a:ext cx="11247120" cy="585216"/>
          </a:xfrm>
          <a:prstGeom prst="roundRect">
            <a:avLst>
              <a:gd name="adj" fmla="val 12500"/>
            </a:avLst>
          </a:prstGeom>
          <a:solidFill>
            <a:srgbClr val="162233"/>
          </a:solidFill>
          <a:ln w="12700">
            <a:solidFill>
              <a:srgbClr val="4CC9F0"/>
            </a:solidFill>
            <a:prstDash val="solid"/>
          </a:ln>
        </p:spPr>
      </p:sp>
      <p:sp>
        <p:nvSpPr>
          <p:cNvPr id="6" name="Text 4"/>
          <p:cNvSpPr/>
          <p:nvPr/>
        </p:nvSpPr>
        <p:spPr>
          <a:xfrm>
            <a:off x="548640" y="822960"/>
            <a:ext cx="10972800" cy="43891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Before writing your CER about the gas car ban — review the tradeoff evidence:</a:t>
            </a:r>
            <a:endParaRPr lang="en-US" sz="1300" dirty="0"/>
          </a:p>
        </p:txBody>
      </p:sp>
      <p:sp>
        <p:nvSpPr>
          <p:cNvPr id="7" name="Shape 5"/>
          <p:cNvSpPr/>
          <p:nvPr/>
        </p:nvSpPr>
        <p:spPr>
          <a:xfrm>
            <a:off x="365760" y="1463040"/>
            <a:ext cx="11247120" cy="1060704"/>
          </a:xfrm>
          <a:prstGeom prst="roundRect">
            <a:avLst>
              <a:gd name="adj" fmla="val 6897"/>
            </a:avLst>
          </a:prstGeom>
          <a:solidFill>
            <a:srgbClr val="1E2F45"/>
          </a:solidFill>
          <a:ln w="12700">
            <a:solidFill>
              <a:srgbClr val="2DC653"/>
            </a:solidFill>
            <a:prstDash val="solid"/>
          </a:ln>
        </p:spPr>
      </p:sp>
      <p:sp>
        <p:nvSpPr>
          <p:cNvPr id="8" name="Shape 6"/>
          <p:cNvSpPr/>
          <p:nvPr/>
        </p:nvSpPr>
        <p:spPr>
          <a:xfrm>
            <a:off x="502920" y="1536192"/>
            <a:ext cx="1554480" cy="256032"/>
          </a:xfrm>
          <a:prstGeom prst="roundRect">
            <a:avLst>
              <a:gd name="adj" fmla="val 50000"/>
            </a:avLst>
          </a:prstGeom>
          <a:solidFill>
            <a:srgbClr val="2DC653"/>
          </a:solidFill>
          <a:ln w="12700">
            <a:solidFill>
              <a:srgbClr val="2DC653"/>
            </a:solidFill>
            <a:prstDash val="solid"/>
          </a:ln>
        </p:spPr>
      </p:sp>
      <p:sp>
        <p:nvSpPr>
          <p:cNvPr id="9" name="Text 7"/>
          <p:cNvSpPr/>
          <p:nvPr/>
        </p:nvSpPr>
        <p:spPr>
          <a:xfrm>
            <a:off x="502920" y="1536192"/>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FOR the ban</a:t>
            </a:r>
            <a:endParaRPr lang="en-US" sz="900" dirty="0"/>
          </a:p>
        </p:txBody>
      </p:sp>
      <p:sp>
        <p:nvSpPr>
          <p:cNvPr id="10" name="Text 8"/>
          <p:cNvSpPr/>
          <p:nvPr/>
        </p:nvSpPr>
        <p:spPr>
          <a:xfrm>
            <a:off x="2240280" y="1536192"/>
            <a:ext cx="9052560" cy="87782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  Gas cars burn fossil fuels → air pollution + CO₂. Electric cars + Florida solar → much smaller environmental cost over lifetime. Many other places have already moved to electric vehicles successfully.</a:t>
            </a:r>
            <a:endParaRPr lang="en-US" sz="1150" dirty="0"/>
          </a:p>
        </p:txBody>
      </p:sp>
      <p:sp>
        <p:nvSpPr>
          <p:cNvPr id="11" name="Shape 9"/>
          <p:cNvSpPr/>
          <p:nvPr/>
        </p:nvSpPr>
        <p:spPr>
          <a:xfrm>
            <a:off x="365760" y="2633472"/>
            <a:ext cx="11247120" cy="1060704"/>
          </a:xfrm>
          <a:prstGeom prst="roundRect">
            <a:avLst>
              <a:gd name="adj" fmla="val 6897"/>
            </a:avLst>
          </a:prstGeom>
          <a:solidFill>
            <a:srgbClr val="1E2F45"/>
          </a:solidFill>
          <a:ln w="12700">
            <a:solidFill>
              <a:srgbClr val="F4736A"/>
            </a:solidFill>
            <a:prstDash val="solid"/>
          </a:ln>
        </p:spPr>
      </p:sp>
      <p:sp>
        <p:nvSpPr>
          <p:cNvPr id="12" name="Shape 10"/>
          <p:cNvSpPr/>
          <p:nvPr/>
        </p:nvSpPr>
        <p:spPr>
          <a:xfrm>
            <a:off x="502920" y="2706624"/>
            <a:ext cx="1554480" cy="256032"/>
          </a:xfrm>
          <a:prstGeom prst="roundRect">
            <a:avLst>
              <a:gd name="adj" fmla="val 50000"/>
            </a:avLst>
          </a:prstGeom>
          <a:solidFill>
            <a:srgbClr val="F4736A"/>
          </a:solidFill>
          <a:ln w="12700">
            <a:solidFill>
              <a:srgbClr val="F4736A"/>
            </a:solidFill>
            <a:prstDash val="solid"/>
          </a:ln>
        </p:spPr>
      </p:sp>
      <p:sp>
        <p:nvSpPr>
          <p:cNvPr id="13" name="Text 11"/>
          <p:cNvSpPr/>
          <p:nvPr/>
        </p:nvSpPr>
        <p:spPr>
          <a:xfrm>
            <a:off x="502920" y="2706624"/>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AGAINST the ban</a:t>
            </a:r>
            <a:endParaRPr lang="en-US" sz="900" dirty="0"/>
          </a:p>
        </p:txBody>
      </p:sp>
      <p:sp>
        <p:nvSpPr>
          <p:cNvPr id="14" name="Text 12"/>
          <p:cNvSpPr/>
          <p:nvPr/>
        </p:nvSpPr>
        <p:spPr>
          <a:xfrm>
            <a:off x="2240280" y="2706624"/>
            <a:ext cx="9052560" cy="87782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  Not everyone can afford an electric car. Not enough charging stations yet, especially in rural Florida. A sudden ban could cause economic hardship for car dealerships and workers.</a:t>
            </a:r>
            <a:endParaRPr lang="en-US" sz="1150" dirty="0"/>
          </a:p>
        </p:txBody>
      </p:sp>
      <p:sp>
        <p:nvSpPr>
          <p:cNvPr id="15" name="Shape 13"/>
          <p:cNvSpPr/>
          <p:nvPr/>
        </p:nvSpPr>
        <p:spPr>
          <a:xfrm>
            <a:off x="365760" y="3803904"/>
            <a:ext cx="11247120" cy="1060704"/>
          </a:xfrm>
          <a:prstGeom prst="roundRect">
            <a:avLst>
              <a:gd name="adj" fmla="val 6897"/>
            </a:avLst>
          </a:prstGeom>
          <a:solidFill>
            <a:srgbClr val="1E2F45"/>
          </a:solidFill>
          <a:ln w="12700">
            <a:solidFill>
              <a:srgbClr val="4CC9F0"/>
            </a:solidFill>
            <a:prstDash val="solid"/>
          </a:ln>
        </p:spPr>
      </p:sp>
      <p:sp>
        <p:nvSpPr>
          <p:cNvPr id="16" name="Shape 14"/>
          <p:cNvSpPr/>
          <p:nvPr/>
        </p:nvSpPr>
        <p:spPr>
          <a:xfrm>
            <a:off x="502920" y="3877056"/>
            <a:ext cx="1554480" cy="256032"/>
          </a:xfrm>
          <a:prstGeom prst="roundRect">
            <a:avLst>
              <a:gd name="adj" fmla="val 50000"/>
            </a:avLst>
          </a:prstGeom>
          <a:solidFill>
            <a:srgbClr val="4CC9F0"/>
          </a:solidFill>
          <a:ln w="12700">
            <a:solidFill>
              <a:srgbClr val="4CC9F0"/>
            </a:solidFill>
            <a:prstDash val="solid"/>
          </a:ln>
        </p:spPr>
      </p:sp>
      <p:sp>
        <p:nvSpPr>
          <p:cNvPr id="17" name="Text 15"/>
          <p:cNvSpPr/>
          <p:nvPr/>
        </p:nvSpPr>
        <p:spPr>
          <a:xfrm>
            <a:off x="502920" y="3877056"/>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Protection strategies</a:t>
            </a:r>
            <a:endParaRPr lang="en-US" sz="900" dirty="0"/>
          </a:p>
        </p:txBody>
      </p:sp>
      <p:sp>
        <p:nvSpPr>
          <p:cNvPr id="18" name="Text 16"/>
          <p:cNvSpPr/>
          <p:nvPr/>
        </p:nvSpPr>
        <p:spPr>
          <a:xfrm>
            <a:off x="2240280" y="3877056"/>
            <a:ext cx="9052560" cy="87782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  Phase-in approach (ban on NEW cars only, not existing ones). Subsidies to help lower-income families afford EVs. Infrastructure investment in charging stations.</a:t>
            </a:r>
            <a:endParaRPr lang="en-US" sz="1150" dirty="0"/>
          </a:p>
        </p:txBody>
      </p:sp>
      <p:sp>
        <p:nvSpPr>
          <p:cNvPr id="19" name="Shape 17"/>
          <p:cNvSpPr/>
          <p:nvPr/>
        </p:nvSpPr>
        <p:spPr>
          <a:xfrm>
            <a:off x="365760" y="4974336"/>
            <a:ext cx="11247120" cy="1060704"/>
          </a:xfrm>
          <a:prstGeom prst="roundRect">
            <a:avLst>
              <a:gd name="adj" fmla="val 6897"/>
            </a:avLst>
          </a:prstGeom>
          <a:solidFill>
            <a:srgbClr val="1E2F45"/>
          </a:solidFill>
          <a:ln w="12700">
            <a:solidFill>
              <a:srgbClr val="FFB703"/>
            </a:solidFill>
            <a:prstDash val="solid"/>
          </a:ln>
        </p:spPr>
      </p:sp>
      <p:sp>
        <p:nvSpPr>
          <p:cNvPr id="20" name="Shape 18"/>
          <p:cNvSpPr/>
          <p:nvPr/>
        </p:nvSpPr>
        <p:spPr>
          <a:xfrm>
            <a:off x="502920" y="5047488"/>
            <a:ext cx="1554480" cy="256032"/>
          </a:xfrm>
          <a:prstGeom prst="roundRect">
            <a:avLst>
              <a:gd name="adj" fmla="val 50000"/>
            </a:avLst>
          </a:prstGeom>
          <a:solidFill>
            <a:srgbClr val="FFB703"/>
          </a:solidFill>
          <a:ln w="12700">
            <a:solidFill>
              <a:srgbClr val="FFB703"/>
            </a:solidFill>
            <a:prstDash val="solid"/>
          </a:ln>
        </p:spPr>
      </p:sp>
      <p:sp>
        <p:nvSpPr>
          <p:cNvPr id="21" name="Text 19"/>
          <p:cNvSpPr/>
          <p:nvPr/>
        </p:nvSpPr>
        <p:spPr>
          <a:xfrm>
            <a:off x="502920" y="5047488"/>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Nuanced reasoning</a:t>
            </a:r>
            <a:endParaRPr lang="en-US" sz="900" dirty="0"/>
          </a:p>
        </p:txBody>
      </p:sp>
      <p:sp>
        <p:nvSpPr>
          <p:cNvPr id="22" name="Text 20"/>
          <p:cNvSpPr/>
          <p:nvPr/>
        </p:nvSpPr>
        <p:spPr>
          <a:xfrm>
            <a:off x="2240280" y="5047488"/>
            <a:ext cx="9052560" cy="87782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  A well-designed policy includes all three parts: benefit (cleaner air), cost (economic disruption), and protection strategy (phase-in + subsidies). A ban without strategies = higher cost. A ban with strategies = better tradeoff.</a:t>
            </a:r>
            <a:endParaRPr lang="en-US" sz="1150" dirty="0"/>
          </a:p>
        </p:txBody>
      </p:sp>
      <p:sp>
        <p:nvSpPr>
          <p:cNvPr id="23" name="Shape 21"/>
          <p:cNvSpPr/>
          <p:nvPr/>
        </p:nvSpPr>
        <p:spPr>
          <a:xfrm>
            <a:off x="0" y="6629400"/>
            <a:ext cx="12192000" cy="228600"/>
          </a:xfrm>
          <a:prstGeom prst="rect">
            <a:avLst/>
          </a:prstGeom>
          <a:solidFill>
            <a:srgbClr val="162233"/>
          </a:solidFill>
          <a:ln/>
        </p:spPr>
      </p:sp>
      <p:sp>
        <p:nvSpPr>
          <p:cNvPr id="24" name="Text 22"/>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16.01  ·  Modern Resources &amp; Environmental Choices</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Assignment: Tradeoff CER — Modern Resource Use</a:t>
            </a:r>
            <a:endParaRPr lang="en-US" sz="1600" dirty="0"/>
          </a:p>
        </p:txBody>
      </p:sp>
      <p:sp>
        <p:nvSpPr>
          <p:cNvPr id="5" name="Shape 3"/>
          <p:cNvSpPr/>
          <p:nvPr/>
        </p:nvSpPr>
        <p:spPr>
          <a:xfrm>
            <a:off x="365760" y="749808"/>
            <a:ext cx="11247120" cy="585216"/>
          </a:xfrm>
          <a:prstGeom prst="roundRect">
            <a:avLst>
              <a:gd name="adj" fmla="val 12500"/>
            </a:avLst>
          </a:prstGeom>
          <a:solidFill>
            <a:srgbClr val="162233"/>
          </a:solidFill>
          <a:ln w="12700">
            <a:solidFill>
              <a:srgbClr val="FFB703"/>
            </a:solidFill>
            <a:prstDash val="solid"/>
          </a:ln>
        </p:spPr>
      </p:sp>
      <p:sp>
        <p:nvSpPr>
          <p:cNvPr id="6" name="Text 4"/>
          <p:cNvSpPr/>
          <p:nvPr/>
        </p:nvSpPr>
        <p:spPr>
          <a:xfrm>
            <a:off x="548640" y="804672"/>
            <a:ext cx="10972800" cy="47548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Write a CER that evaluates a real resource use tradeoff in Florida.</a:t>
            </a:r>
            <a:endParaRPr lang="en-US" sz="1300" dirty="0"/>
          </a:p>
        </p:txBody>
      </p:sp>
      <p:sp>
        <p:nvSpPr>
          <p:cNvPr id="7" name="Shape 5"/>
          <p:cNvSpPr/>
          <p:nvPr/>
        </p:nvSpPr>
        <p:spPr>
          <a:xfrm>
            <a:off x="365760" y="1463040"/>
            <a:ext cx="11247120" cy="1316736"/>
          </a:xfrm>
          <a:prstGeom prst="roundRect">
            <a:avLst>
              <a:gd name="adj" fmla="val 5556"/>
            </a:avLst>
          </a:prstGeom>
          <a:solidFill>
            <a:srgbClr val="1E2F45"/>
          </a:solidFill>
          <a:ln w="12700">
            <a:solidFill>
              <a:srgbClr val="FFB703"/>
            </a:solidFill>
            <a:prstDash val="solid"/>
          </a:ln>
        </p:spPr>
      </p:sp>
      <p:sp>
        <p:nvSpPr>
          <p:cNvPr id="8" name="Text 6"/>
          <p:cNvSpPr/>
          <p:nvPr/>
        </p:nvSpPr>
        <p:spPr>
          <a:xfrm>
            <a:off x="548640" y="1536192"/>
            <a:ext cx="10972800" cy="1170432"/>
          </a:xfrm>
          <a:prstGeom prst="rect">
            <a:avLst/>
          </a:prstGeom>
          <a:noFill/>
          <a:ln/>
        </p:spPr>
        <p:txBody>
          <a:bodyPr wrap="square" rtlCol="0" anchor="ctr"/>
          <a:lstStyle/>
          <a:p>
            <a:pPr indent="0" marL="0">
              <a:buNone/>
            </a:pPr>
            <a:r>
              <a:rPr lang="en-US" sz="1200" dirty="0">
                <a:solidFill>
                  <a:srgbClr val="FFB703"/>
                </a:solidFill>
                <a:latin typeface="Calibri" pitchFamily="34" charset="0"/>
                <a:ea typeface="Calibri" pitchFamily="34" charset="-122"/>
                <a:cs typeface="Calibri" pitchFamily="34" charset="-120"/>
              </a:rPr>
              <a:t>PROMPT: Florida is considering expanding phosphate mining in a region near a wildlife preserve. A community member says: the benefits outweigh the costs. Use evidence to evaluate whether you agree — and explain your reasoning.</a:t>
            </a:r>
            <a:endParaRPr lang="en-US" sz="1200" dirty="0"/>
          </a:p>
        </p:txBody>
      </p:sp>
      <p:sp>
        <p:nvSpPr>
          <p:cNvPr id="9" name="Shape 7"/>
          <p:cNvSpPr/>
          <p:nvPr/>
        </p:nvSpPr>
        <p:spPr>
          <a:xfrm>
            <a:off x="365760" y="2926080"/>
            <a:ext cx="3566160" cy="2377440"/>
          </a:xfrm>
          <a:prstGeom prst="roundRect">
            <a:avLst>
              <a:gd name="adj" fmla="val 3846"/>
            </a:avLst>
          </a:prstGeom>
          <a:solidFill>
            <a:srgbClr val="0A3D8F"/>
          </a:solidFill>
          <a:ln w="19050">
            <a:solidFill>
              <a:srgbClr val="1A5FBD"/>
            </a:solidFill>
            <a:prstDash val="solid"/>
          </a:ln>
        </p:spPr>
      </p:sp>
      <p:sp>
        <p:nvSpPr>
          <p:cNvPr id="10" name="Shape 8"/>
          <p:cNvSpPr/>
          <p:nvPr/>
        </p:nvSpPr>
        <p:spPr>
          <a:xfrm>
            <a:off x="365760" y="2926080"/>
            <a:ext cx="3566160" cy="347472"/>
          </a:xfrm>
          <a:prstGeom prst="rect">
            <a:avLst/>
          </a:prstGeom>
          <a:solidFill>
            <a:srgbClr val="1A5FBD"/>
          </a:solidFill>
          <a:ln w="12700">
            <a:solidFill>
              <a:srgbClr val="1A5FBD"/>
            </a:solidFill>
            <a:prstDash val="solid"/>
          </a:ln>
        </p:spPr>
      </p:sp>
      <p:sp>
        <p:nvSpPr>
          <p:cNvPr id="11" name="Text 9"/>
          <p:cNvSpPr/>
          <p:nvPr/>
        </p:nvSpPr>
        <p:spPr>
          <a:xfrm>
            <a:off x="457200" y="2944368"/>
            <a:ext cx="3383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CLAIM</a:t>
            </a:r>
            <a:endParaRPr lang="en-US" sz="1200" dirty="0"/>
          </a:p>
        </p:txBody>
      </p:sp>
      <p:sp>
        <p:nvSpPr>
          <p:cNvPr id="12" name="Text 10"/>
          <p:cNvSpPr/>
          <p:nvPr/>
        </p:nvSpPr>
        <p:spPr>
          <a:xfrm>
            <a:off x="502920" y="3328416"/>
            <a:ext cx="3291840" cy="1883664"/>
          </a:xfrm>
          <a:prstGeom prst="rect">
            <a:avLst/>
          </a:prstGeom>
          <a:noFill/>
          <a:ln/>
        </p:spPr>
        <p:txBody>
          <a:bodyPr wrap="square" rtlCol="0" anchor="t"/>
          <a:lstStyle/>
          <a:p>
            <a:pPr algn="l" indent="0" marL="0">
              <a:buNone/>
            </a:pPr>
            <a:r>
              <a:rPr lang="en-US" sz="1050" dirty="0">
                <a:solidFill>
                  <a:srgbClr val="FFFFFF"/>
                </a:solidFill>
                <a:latin typeface="Calibri" pitchFamily="34" charset="0"/>
                <a:ea typeface="Calibri" pitchFamily="34" charset="-122"/>
                <a:cs typeface="Calibri" pitchFamily="34" charset="-120"/>
              </a:rPr>
              <a:t>State your position: do the benefits outweigh the environmental costs, or not? Be specific about which tradeoff you are evaluating.</a:t>
            </a:r>
            <a:endParaRPr lang="en-US" sz="1050" dirty="0"/>
          </a:p>
        </p:txBody>
      </p:sp>
      <p:sp>
        <p:nvSpPr>
          <p:cNvPr id="13" name="Shape 11"/>
          <p:cNvSpPr/>
          <p:nvPr/>
        </p:nvSpPr>
        <p:spPr>
          <a:xfrm>
            <a:off x="4114800" y="2926080"/>
            <a:ext cx="3566160" cy="2377440"/>
          </a:xfrm>
          <a:prstGeom prst="roundRect">
            <a:avLst>
              <a:gd name="adj" fmla="val 3846"/>
            </a:avLst>
          </a:prstGeom>
          <a:solidFill>
            <a:srgbClr val="145C35"/>
          </a:solidFill>
          <a:ln w="19050">
            <a:solidFill>
              <a:srgbClr val="228B50"/>
            </a:solidFill>
            <a:prstDash val="solid"/>
          </a:ln>
        </p:spPr>
      </p:sp>
      <p:sp>
        <p:nvSpPr>
          <p:cNvPr id="14" name="Shape 12"/>
          <p:cNvSpPr/>
          <p:nvPr/>
        </p:nvSpPr>
        <p:spPr>
          <a:xfrm>
            <a:off x="4114800" y="2926080"/>
            <a:ext cx="3566160" cy="347472"/>
          </a:xfrm>
          <a:prstGeom prst="rect">
            <a:avLst/>
          </a:prstGeom>
          <a:solidFill>
            <a:srgbClr val="228B50"/>
          </a:solidFill>
          <a:ln w="12700">
            <a:solidFill>
              <a:srgbClr val="228B50"/>
            </a:solidFill>
            <a:prstDash val="solid"/>
          </a:ln>
        </p:spPr>
      </p:sp>
      <p:sp>
        <p:nvSpPr>
          <p:cNvPr id="15" name="Text 13"/>
          <p:cNvSpPr/>
          <p:nvPr/>
        </p:nvSpPr>
        <p:spPr>
          <a:xfrm>
            <a:off x="4206240" y="2944368"/>
            <a:ext cx="3383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EVIDENCE</a:t>
            </a:r>
            <a:endParaRPr lang="en-US" sz="1200" dirty="0"/>
          </a:p>
        </p:txBody>
      </p:sp>
      <p:sp>
        <p:nvSpPr>
          <p:cNvPr id="16" name="Text 14"/>
          <p:cNvSpPr/>
          <p:nvPr/>
        </p:nvSpPr>
        <p:spPr>
          <a:xfrm>
            <a:off x="4251960" y="3328416"/>
            <a:ext cx="3291840" cy="1883664"/>
          </a:xfrm>
          <a:prstGeom prst="rect">
            <a:avLst/>
          </a:prstGeom>
          <a:noFill/>
          <a:ln/>
        </p:spPr>
        <p:txBody>
          <a:bodyPr wrap="square" rtlCol="0" anchor="t"/>
          <a:lstStyle/>
          <a:p>
            <a:pPr algn="l" indent="0" marL="0">
              <a:buNone/>
            </a:pPr>
            <a:r>
              <a:rPr lang="en-US" sz="1050" dirty="0">
                <a:solidFill>
                  <a:srgbClr val="FFFFFF"/>
                </a:solidFill>
                <a:latin typeface="Calibri" pitchFamily="34" charset="0"/>
                <a:ea typeface="Calibri" pitchFamily="34" charset="-122"/>
                <a:cs typeface="Calibri" pitchFamily="34" charset="-120"/>
              </a:rPr>
              <a:t>Name at least one specific benefit AND one specific environmental cost with detail — not just 'it is good' or 'it is bad'.</a:t>
            </a:r>
            <a:endParaRPr lang="en-US" sz="1050" dirty="0"/>
          </a:p>
        </p:txBody>
      </p:sp>
      <p:sp>
        <p:nvSpPr>
          <p:cNvPr id="17" name="Shape 15"/>
          <p:cNvSpPr/>
          <p:nvPr/>
        </p:nvSpPr>
        <p:spPr>
          <a:xfrm>
            <a:off x="7863840" y="2926080"/>
            <a:ext cx="3566160" cy="2377440"/>
          </a:xfrm>
          <a:prstGeom prst="roundRect">
            <a:avLst>
              <a:gd name="adj" fmla="val 3846"/>
            </a:avLst>
          </a:prstGeom>
          <a:solidFill>
            <a:srgbClr val="7A3200"/>
          </a:solidFill>
          <a:ln w="19050">
            <a:solidFill>
              <a:srgbClr val="B04A00"/>
            </a:solidFill>
            <a:prstDash val="solid"/>
          </a:ln>
        </p:spPr>
      </p:sp>
      <p:sp>
        <p:nvSpPr>
          <p:cNvPr id="18" name="Shape 16"/>
          <p:cNvSpPr/>
          <p:nvPr/>
        </p:nvSpPr>
        <p:spPr>
          <a:xfrm>
            <a:off x="7863840" y="2926080"/>
            <a:ext cx="3566160" cy="347472"/>
          </a:xfrm>
          <a:prstGeom prst="rect">
            <a:avLst/>
          </a:prstGeom>
          <a:solidFill>
            <a:srgbClr val="B04A00"/>
          </a:solidFill>
          <a:ln w="12700">
            <a:solidFill>
              <a:srgbClr val="B04A00"/>
            </a:solidFill>
            <a:prstDash val="solid"/>
          </a:ln>
        </p:spPr>
      </p:sp>
      <p:sp>
        <p:nvSpPr>
          <p:cNvPr id="19" name="Text 17"/>
          <p:cNvSpPr/>
          <p:nvPr/>
        </p:nvSpPr>
        <p:spPr>
          <a:xfrm>
            <a:off x="7955280" y="2944368"/>
            <a:ext cx="3383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REASONING</a:t>
            </a:r>
            <a:endParaRPr lang="en-US" sz="1200" dirty="0"/>
          </a:p>
        </p:txBody>
      </p:sp>
      <p:sp>
        <p:nvSpPr>
          <p:cNvPr id="20" name="Text 18"/>
          <p:cNvSpPr/>
          <p:nvPr/>
        </p:nvSpPr>
        <p:spPr>
          <a:xfrm>
            <a:off x="8001000" y="3328416"/>
            <a:ext cx="3291840" cy="1883664"/>
          </a:xfrm>
          <a:prstGeom prst="rect">
            <a:avLst/>
          </a:prstGeom>
          <a:noFill/>
          <a:ln/>
        </p:spPr>
        <p:txBody>
          <a:bodyPr wrap="square" rtlCol="0" anchor="t"/>
          <a:lstStyle/>
          <a:p>
            <a:pPr algn="l" indent="0" marL="0">
              <a:buNone/>
            </a:pPr>
            <a:r>
              <a:rPr lang="en-US" sz="1050" dirty="0">
                <a:solidFill>
                  <a:srgbClr val="FFFFFF"/>
                </a:solidFill>
                <a:latin typeface="Calibri" pitchFamily="34" charset="0"/>
                <a:ea typeface="Calibri" pitchFamily="34" charset="-122"/>
                <a:cs typeface="Calibri" pitchFamily="34" charset="-120"/>
              </a:rPr>
              <a:t>Explain WHY the benefit is worth the cost — or why it is not. Connect to the concept of protection strategies.</a:t>
            </a:r>
            <a:endParaRPr lang="en-US" sz="1050" dirty="0"/>
          </a:p>
        </p:txBody>
      </p:sp>
      <p:sp>
        <p:nvSpPr>
          <p:cNvPr id="21" name="Shape 19"/>
          <p:cNvSpPr/>
          <p:nvPr/>
        </p:nvSpPr>
        <p:spPr>
          <a:xfrm>
            <a:off x="0" y="6629400"/>
            <a:ext cx="12192000" cy="228600"/>
          </a:xfrm>
          <a:prstGeom prst="rect">
            <a:avLst/>
          </a:prstGeom>
          <a:solidFill>
            <a:srgbClr val="162233"/>
          </a:solidFill>
          <a:ln/>
        </p:spPr>
      </p:sp>
      <p:sp>
        <p:nvSpPr>
          <p:cNvPr id="22" name="Text 2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16.01  ·  Modern Resources &amp; Environmental Choices</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2026-07-13T20:40:20Z</dcterms:created>
  <dcterms:modified xsi:type="dcterms:W3CDTF">2026-07-13T20:40:20Z</dcterms:modified>
</cp:coreProperties>
</file>