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Ask: Has anyone ever seen a caterpillar? Did you know it turns into a butterfly? Today we explore HOW and WHY living things change throughout their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Accept all answers. Tell students the scientific answer is stunning — the caterpillar actually liquefies inside the chrysalis before rebuilding as a butterfly. Save the reveal for slide 8. Give 2-3 minutes for pair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predictions (cold call 2-3 students). Revisit at the end — were they right? This sets up the core distinction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Ask students to give a thumbs up if they've heard each word before. For Life Cycle: ask for an example. For Stage: ask what stages they go through in a day (wake up, eat breakfast, go to school...). Vocabulary sticks when students connect it to their own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facilitation: Address misconception explicitly — 'metamorphosis' is not just 'changing.' Elicit from students: can they think of an animal that grows but does NOT go through metamorphosis? (Bears, fish, birds.) Use that contrast to cement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Call on 2-3 students for their examples. Push for specificity — not just 'butterfly' but 'adult butterfly that lays eggs.' The 'makes the next generation' part is the end of the cycle, not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content slide. Point to both image placeholders and compare side by side. Emphasize: COMPLETE = baby looks totally different from adult. INCOMPLETE = baby looks like a mini adult. Ask: which one looks more like its parent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'Two of these four go through metamorphosis. Two do not. Pick one organism from each group and explain how you can tell.' Cold call students to explain their reasoning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stage. Ask students to describe what they see in their own words. Key question: why would it help a butterfly that the caterpillar eats leaves and the adult drinks nectar? (They don't compete for food!) This connects to the assignment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6-8 minutes. Circulate and check Step 3 — students often confuse 'no metamorphosis' with 'incomplete metamorphosis.' Remind them: incomplete metamorphosis is still metamorphosis (still a big change). No metamorphosis = looks like a small adult from birth (like a bear cub).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'wow' moment — lean into it! Ask students: if your body was going to completely rebuild itself, what parts would YOU want to change? What does it tell us that insects evolved to go through this incredibly complex process? (Answer: it MUST offer a survival advantage — and it does: caterpillars and butterflies don't compete for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Walk through each panel aloud. Claim: I'm saying what IS true. Evidence: I'm pointing to specific information from the lesson. Reasoning: I'm explaining WHY the evidence proves my claim. Emphasize that the reasoning is the hardest part — and the most important. Model your thinking process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4-5 minutes to write independently. Circulate — look for reasoning that explains the connection between the evidence and claim, not just restatement. After writing, have 2 students share. Ask the class: did they agree on the claim? How was the reasoning different?
SAMPLE CER: Claim: Bear cubs don't go through metamorphosis because mammals don't change body shape during growth. Evidence: The lesson explains that birds, mammals, and reptiles don't go through metamorphosis — their babies look like smaller versions of the adult from the start. Reasoning: Metamorphosis is a complete change in body shape, which insects evolved to do. Mammals evolved a different strategy — their young are born looking like the adult because they have a completely different growth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each question in their notebooks BEFORE showing answers. Use turn-and-talk for each one. For Q2, the key follow-up is: 'Both start with eggs — so what IS the difference?' Make sure students articulate the pupa stage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quickly. For Part C specifically, show an example of what a good labeled circle diagram looks like — sketch one on the board with: organism name, all stages in order, arrows between them, metamorphosis type labeled. Students who did the Explore activity (Step 4) already have the written parts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'Write the type of metamorphosis for ONE Florida insect, and name its stages in order.' Check for understanding before dismissing.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four has the LONGEST life cycle? (sea turtle — 30 years). Which is FASTEST? (mosquito — 1 week). What does that difference tell us about how these organisms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scientist question is excellent for showing how metamorphosis knowledge is actually USEFUL in practice. She would: (1) check if the sizes suggest one is a juvenile of the other, (2) collect both and compare body structures, (3) look up local species in a field guide (second source). The metamorphosis knowledge would make her SUSPECT they're connected rather than assuming two different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connects to Assignment Part B, Question 3 — which asks exactly this question. Students who discuss it here will have the evidence and vocabulary to answer it in writing. Key vocabulary: stage, complete metamorphosis, competition. Let students discuss, then write for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review these and circle the 2 pieces of evidence they plan to use in their CER. This preparation step improves the quality of written CERs significantly — students who plan their evidence before writing produce better reasoned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Circle of Life</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Life Cycles: Complete vs. Incomplete Metamorphosis</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SC.4.L.16.4 — Compare the life cycles of Florida plants &amp; animals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Name the main stages in an animal or plant life cycle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Tell the difference between complete and incomplete metamorphosis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Compare two Florida life cycles using a chart with evidence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Warm-Up: Stages Out of Order</a:t>
            </a:r>
            <a:endParaRPr lang="en-US" sz="1600" dirty="0"/>
          </a:p>
        </p:txBody>
      </p:sp>
      <p:sp>
        <p:nvSpPr>
          <p:cNvPr id="5" name="Shape 3"/>
          <p:cNvSpPr/>
          <p:nvPr/>
        </p:nvSpPr>
        <p:spPr>
          <a:xfrm>
            <a:off x="365760" y="749808"/>
            <a:ext cx="11247120" cy="1920240"/>
          </a:xfrm>
          <a:prstGeom prst="roundRect">
            <a:avLst>
              <a:gd name="adj" fmla="val 3810"/>
            </a:avLst>
          </a:prstGeom>
          <a:solidFill>
            <a:srgbClr val="1E2F45"/>
          </a:solidFill>
          <a:ln w="12700">
            <a:solidFill>
              <a:srgbClr val="FFB70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monarch butterfly goes through FOUR stages. Can you put them in order?</a:t>
            </a:r>
            <a:endParaRPr lang="en-US" sz="1400" dirty="0"/>
          </a:p>
        </p:txBody>
      </p:sp>
      <p:sp>
        <p:nvSpPr>
          <p:cNvPr id="7" name="Shape 5"/>
          <p:cNvSpPr/>
          <p:nvPr/>
        </p:nvSpPr>
        <p:spPr>
          <a:xfrm>
            <a:off x="548640" y="1261872"/>
            <a:ext cx="2560320" cy="658368"/>
          </a:xfrm>
          <a:prstGeom prst="roundRect">
            <a:avLst>
              <a:gd name="adj" fmla="val 11111"/>
            </a:avLst>
          </a:prstGeom>
          <a:solidFill>
            <a:srgbClr val="243A52"/>
          </a:solidFill>
          <a:ln w="12700">
            <a:solidFill>
              <a:srgbClr val="4CC9F0"/>
            </a:solidFill>
            <a:prstDash val="solid"/>
          </a:ln>
        </p:spPr>
      </p:sp>
      <p:sp>
        <p:nvSpPr>
          <p:cNvPr id="8" name="Text 6"/>
          <p:cNvSpPr/>
          <p:nvPr/>
        </p:nvSpPr>
        <p:spPr>
          <a:xfrm>
            <a:off x="594360" y="1325880"/>
            <a:ext cx="2468880" cy="53035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 Caterpillar</a:t>
            </a:r>
            <a:endParaRPr lang="en-US" sz="1300" dirty="0"/>
          </a:p>
        </p:txBody>
      </p:sp>
      <p:sp>
        <p:nvSpPr>
          <p:cNvPr id="9" name="Shape 7"/>
          <p:cNvSpPr/>
          <p:nvPr/>
        </p:nvSpPr>
        <p:spPr>
          <a:xfrm>
            <a:off x="3337560" y="1261872"/>
            <a:ext cx="2560320" cy="658368"/>
          </a:xfrm>
          <a:prstGeom prst="roundRect">
            <a:avLst>
              <a:gd name="adj" fmla="val 11111"/>
            </a:avLst>
          </a:prstGeom>
          <a:solidFill>
            <a:srgbClr val="243A52"/>
          </a:solidFill>
          <a:ln w="12700">
            <a:solidFill>
              <a:srgbClr val="4CC9F0"/>
            </a:solidFill>
            <a:prstDash val="solid"/>
          </a:ln>
        </p:spPr>
      </p:sp>
      <p:sp>
        <p:nvSpPr>
          <p:cNvPr id="10" name="Text 8"/>
          <p:cNvSpPr/>
          <p:nvPr/>
        </p:nvSpPr>
        <p:spPr>
          <a:xfrm>
            <a:off x="3383280" y="1325880"/>
            <a:ext cx="2468880" cy="53035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 Chrysalis</a:t>
            </a:r>
            <a:endParaRPr lang="en-US" sz="1300" dirty="0"/>
          </a:p>
        </p:txBody>
      </p:sp>
      <p:sp>
        <p:nvSpPr>
          <p:cNvPr id="11" name="Shape 9"/>
          <p:cNvSpPr/>
          <p:nvPr/>
        </p:nvSpPr>
        <p:spPr>
          <a:xfrm>
            <a:off x="6126480" y="1261872"/>
            <a:ext cx="2560320" cy="658368"/>
          </a:xfrm>
          <a:prstGeom prst="roundRect">
            <a:avLst>
              <a:gd name="adj" fmla="val 11111"/>
            </a:avLst>
          </a:prstGeom>
          <a:solidFill>
            <a:srgbClr val="243A52"/>
          </a:solidFill>
          <a:ln w="12700">
            <a:solidFill>
              <a:srgbClr val="4CC9F0"/>
            </a:solidFill>
            <a:prstDash val="solid"/>
          </a:ln>
        </p:spPr>
      </p:sp>
      <p:sp>
        <p:nvSpPr>
          <p:cNvPr id="12" name="Text 10"/>
          <p:cNvSpPr/>
          <p:nvPr/>
        </p:nvSpPr>
        <p:spPr>
          <a:xfrm>
            <a:off x="6172200" y="1325880"/>
            <a:ext cx="2468880" cy="53035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 Adult Butterfly</a:t>
            </a:r>
            <a:endParaRPr lang="en-US" sz="1300" dirty="0"/>
          </a:p>
        </p:txBody>
      </p:sp>
      <p:sp>
        <p:nvSpPr>
          <p:cNvPr id="13" name="Shape 11"/>
          <p:cNvSpPr/>
          <p:nvPr/>
        </p:nvSpPr>
        <p:spPr>
          <a:xfrm>
            <a:off x="8915400" y="1261872"/>
            <a:ext cx="2560320" cy="658368"/>
          </a:xfrm>
          <a:prstGeom prst="roundRect">
            <a:avLst>
              <a:gd name="adj" fmla="val 11111"/>
            </a:avLst>
          </a:prstGeom>
          <a:solidFill>
            <a:srgbClr val="243A52"/>
          </a:solidFill>
          <a:ln w="12700">
            <a:solidFill>
              <a:srgbClr val="4CC9F0"/>
            </a:solidFill>
            <a:prstDash val="solid"/>
          </a:ln>
        </p:spPr>
      </p:sp>
      <p:sp>
        <p:nvSpPr>
          <p:cNvPr id="14" name="Text 12"/>
          <p:cNvSpPr/>
          <p:nvPr/>
        </p:nvSpPr>
        <p:spPr>
          <a:xfrm>
            <a:off x="8961120" y="1325880"/>
            <a:ext cx="2468880" cy="53035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 Egg</a:t>
            </a:r>
            <a:endParaRPr lang="en-US" sz="1300" dirty="0"/>
          </a:p>
        </p:txBody>
      </p:sp>
      <p:sp>
        <p:nvSpPr>
          <p:cNvPr id="15" name="Text 13"/>
          <p:cNvSpPr/>
          <p:nvPr/>
        </p:nvSpPr>
        <p:spPr>
          <a:xfrm>
            <a:off x="548640" y="2029968"/>
            <a:ext cx="1097280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Write the order in your science notebook — then we'll check together!</a:t>
            </a:r>
            <a:endParaRPr lang="en-US" sz="1200" dirty="0"/>
          </a:p>
        </p:txBody>
      </p:sp>
      <p:sp>
        <p:nvSpPr>
          <p:cNvPr id="16" name="Shape 14"/>
          <p:cNvSpPr/>
          <p:nvPr/>
        </p:nvSpPr>
        <p:spPr>
          <a:xfrm>
            <a:off x="365760" y="2514600"/>
            <a:ext cx="11247120" cy="347472"/>
          </a:xfrm>
          <a:prstGeom prst="roundRect">
            <a:avLst>
              <a:gd name="adj" fmla="val 23684"/>
            </a:avLst>
          </a:prstGeom>
          <a:solidFill>
            <a:srgbClr val="E09200"/>
          </a:solidFill>
          <a:ln w="19050">
            <a:solidFill>
              <a:srgbClr val="FFB703"/>
            </a:solidFill>
            <a:prstDash val="solid"/>
          </a:ln>
        </p:spPr>
      </p:sp>
      <p:sp>
        <p:nvSpPr>
          <p:cNvPr id="17" name="Text 15"/>
          <p:cNvSpPr/>
          <p:nvPr/>
        </p:nvSpPr>
        <p:spPr>
          <a:xfrm>
            <a:off x="365760" y="2514600"/>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8" name="Shape 16"/>
          <p:cNvSpPr/>
          <p:nvPr/>
        </p:nvSpPr>
        <p:spPr>
          <a:xfrm>
            <a:off x="365760" y="2944368"/>
            <a:ext cx="11247120" cy="1188720"/>
          </a:xfrm>
          <a:prstGeom prst="roundRect">
            <a:avLst>
              <a:gd name="adj" fmla="val 6154"/>
            </a:avLst>
          </a:prstGeom>
          <a:solidFill>
            <a:srgbClr val="162233"/>
          </a:solidFill>
          <a:ln w="12700">
            <a:solidFill>
              <a:srgbClr val="FFB703"/>
            </a:solidFill>
            <a:prstDash val="solid"/>
          </a:ln>
        </p:spPr>
      </p:sp>
      <p:sp>
        <p:nvSpPr>
          <p:cNvPr id="19" name="Text 17"/>
          <p:cNvSpPr/>
          <p:nvPr/>
        </p:nvSpPr>
        <p:spPr>
          <a:xfrm>
            <a:off x="548640" y="3017520"/>
            <a:ext cx="10972800" cy="10058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caterpillar and the adult butterfly look almost nothing alike — yet they're the same animal at different points in its life. How can one body change that much?"</a:t>
            </a:r>
            <a:endParaRPr lang="en-US" sz="1300" dirty="0"/>
          </a:p>
        </p:txBody>
      </p:sp>
      <p:sp>
        <p:nvSpPr>
          <p:cNvPr id="20" name="Shape 18"/>
          <p:cNvSpPr/>
          <p:nvPr/>
        </p:nvSpPr>
        <p:spPr>
          <a:xfrm>
            <a:off x="365760" y="4297680"/>
            <a:ext cx="11247120" cy="1261872"/>
          </a:xfrm>
          <a:prstGeom prst="roundRect">
            <a:avLst>
              <a:gd name="adj" fmla="val 5797"/>
            </a:avLst>
          </a:prstGeom>
          <a:solidFill>
            <a:srgbClr val="162233"/>
          </a:solidFill>
          <a:ln w="12700">
            <a:solidFill>
              <a:srgbClr val="FFB703"/>
            </a:solidFill>
            <a:prstDash val="solid"/>
          </a:ln>
        </p:spPr>
      </p:sp>
      <p:sp>
        <p:nvSpPr>
          <p:cNvPr id="21" name="Text 19"/>
          <p:cNvSpPr/>
          <p:nvPr/>
        </p:nvSpPr>
        <p:spPr>
          <a:xfrm>
            <a:off x="530352" y="437083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Turn &amp; Talk:</a:t>
            </a:r>
            <a:endParaRPr lang="en-US" sz="1300" dirty="0"/>
          </a:p>
        </p:txBody>
      </p:sp>
      <p:sp>
        <p:nvSpPr>
          <p:cNvPr id="22" name="Text 20"/>
          <p:cNvSpPr/>
          <p:nvPr/>
        </p:nvSpPr>
        <p:spPr>
          <a:xfrm>
            <a:off x="530352" y="4736592"/>
            <a:ext cx="10917936" cy="71323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With a partner: What do YOU think happens inside a chrysalis? Be as specific as you can. Then share with the class.</a:t>
            </a:r>
            <a:endParaRPr lang="en-US" sz="12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a:t>
            </a:r>
            <a:endParaRPr lang="en-US" sz="1600" dirty="0"/>
          </a:p>
        </p:txBody>
      </p:sp>
      <p:sp>
        <p:nvSpPr>
          <p:cNvPr id="5" name="Shape 3"/>
          <p:cNvSpPr/>
          <p:nvPr/>
        </p:nvSpPr>
        <p:spPr>
          <a:xfrm>
            <a:off x="365760" y="749808"/>
            <a:ext cx="11247120" cy="621792"/>
          </a:xfrm>
          <a:prstGeom prst="roundRect">
            <a:avLst>
              <a:gd name="adj" fmla="val 11765"/>
            </a:avLst>
          </a:prstGeom>
          <a:solidFill>
            <a:srgbClr val="1E2F45"/>
          </a:solidFill>
          <a:ln w="12700">
            <a:solidFill>
              <a:srgbClr val="4CC9F0"/>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Before we explore life cycles — make a prediction you can test!</a:t>
            </a:r>
            <a:endParaRPr lang="en-US" sz="1400" dirty="0"/>
          </a:p>
        </p:txBody>
      </p:sp>
      <p:sp>
        <p:nvSpPr>
          <p:cNvPr id="7" name="Shape 5"/>
          <p:cNvSpPr/>
          <p:nvPr/>
        </p:nvSpPr>
        <p:spPr>
          <a:xfrm>
            <a:off x="365760" y="1508760"/>
            <a:ext cx="11247120" cy="1417320"/>
          </a:xfrm>
          <a:prstGeom prst="roundRect">
            <a:avLst>
              <a:gd name="adj" fmla="val 5161"/>
            </a:avLst>
          </a:prstGeom>
          <a:solidFill>
            <a:srgbClr val="162233"/>
          </a:solidFill>
          <a:ln w="12700">
            <a:solidFill>
              <a:srgbClr val="4CC9F0"/>
            </a:solidFill>
            <a:prstDash val="solid"/>
          </a:ln>
        </p:spPr>
      </p:sp>
      <p:sp>
        <p:nvSpPr>
          <p:cNvPr id="8" name="Text 6"/>
          <p:cNvSpPr/>
          <p:nvPr/>
        </p:nvSpPr>
        <p:spPr>
          <a:xfrm>
            <a:off x="548640" y="1572768"/>
            <a:ext cx="10972800" cy="31089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Write in your notebook:</a:t>
            </a:r>
            <a:endParaRPr lang="en-US" sz="1200" dirty="0"/>
          </a:p>
        </p:txBody>
      </p:sp>
      <p:sp>
        <p:nvSpPr>
          <p:cNvPr id="9" name="Text 7"/>
          <p:cNvSpPr/>
          <p:nvPr/>
        </p:nvSpPr>
        <p:spPr>
          <a:xfrm>
            <a:off x="548640" y="1920240"/>
            <a:ext cx="10972800" cy="877824"/>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"I predict a baby grasshopper looks ___ because ___."</a:t>
            </a:r>
            <a:endParaRPr lang="en-US" sz="1500" dirty="0"/>
          </a:p>
        </p:txBody>
      </p:sp>
      <p:sp>
        <p:nvSpPr>
          <p:cNvPr id="10" name="Shape 8"/>
          <p:cNvSpPr/>
          <p:nvPr/>
        </p:nvSpPr>
        <p:spPr>
          <a:xfrm>
            <a:off x="365760" y="3090672"/>
            <a:ext cx="5394960" cy="2450592"/>
          </a:xfrm>
          <a:prstGeom prst="roundRect">
            <a:avLst>
              <a:gd name="adj" fmla="val 2985"/>
            </a:avLst>
          </a:prstGeom>
          <a:solidFill>
            <a:srgbClr val="1E2F45"/>
          </a:solidFill>
          <a:ln w="12700">
            <a:solidFill>
              <a:srgbClr val="2DC653"/>
            </a:solidFill>
            <a:prstDash val="solid"/>
          </a:ln>
        </p:spPr>
      </p:sp>
      <p:sp>
        <p:nvSpPr>
          <p:cNvPr id="11" name="Text 9"/>
          <p:cNvSpPr/>
          <p:nvPr/>
        </p:nvSpPr>
        <p:spPr>
          <a:xfrm>
            <a:off x="548640" y="3163824"/>
            <a:ext cx="502920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Complete Metamorphosis</a:t>
            </a:r>
            <a:endParaRPr lang="en-US" sz="1300" dirty="0"/>
          </a:p>
        </p:txBody>
      </p:sp>
      <p:sp>
        <p:nvSpPr>
          <p:cNvPr id="12" name="Text 10"/>
          <p:cNvSpPr/>
          <p:nvPr/>
        </p:nvSpPr>
        <p:spPr>
          <a:xfrm>
            <a:off x="548640" y="3529584"/>
            <a:ext cx="5029200" cy="19202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4 stages: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Egg → Larva → Pupa → Adult</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The larva looks NOTHING like the adult.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Example: Monarch Butterfly 🦋</a:t>
            </a:r>
            <a:endParaRPr lang="en-US" sz="1200" dirty="0"/>
          </a:p>
        </p:txBody>
      </p:sp>
      <p:sp>
        <p:nvSpPr>
          <p:cNvPr id="13" name="Shape 11"/>
          <p:cNvSpPr/>
          <p:nvPr/>
        </p:nvSpPr>
        <p:spPr>
          <a:xfrm>
            <a:off x="6035040" y="3090672"/>
            <a:ext cx="5394960" cy="2450592"/>
          </a:xfrm>
          <a:prstGeom prst="roundRect">
            <a:avLst>
              <a:gd name="adj" fmla="val 2985"/>
            </a:avLst>
          </a:prstGeom>
          <a:solidFill>
            <a:srgbClr val="1E2F45"/>
          </a:solidFill>
          <a:ln w="12700">
            <a:solidFill>
              <a:srgbClr val="FFB703"/>
            </a:solidFill>
            <a:prstDash val="solid"/>
          </a:ln>
        </p:spPr>
      </p:sp>
      <p:sp>
        <p:nvSpPr>
          <p:cNvPr id="14" name="Text 12"/>
          <p:cNvSpPr/>
          <p:nvPr/>
        </p:nvSpPr>
        <p:spPr>
          <a:xfrm>
            <a:off x="6217920" y="3163824"/>
            <a:ext cx="502920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Incomplete Metamorphosis</a:t>
            </a:r>
            <a:endParaRPr lang="en-US" sz="1300" dirty="0"/>
          </a:p>
        </p:txBody>
      </p:sp>
      <p:sp>
        <p:nvSpPr>
          <p:cNvPr id="15" name="Text 13"/>
          <p:cNvSpPr/>
          <p:nvPr/>
        </p:nvSpPr>
        <p:spPr>
          <a:xfrm>
            <a:off x="6217920" y="3529584"/>
            <a:ext cx="5029200" cy="19202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3 stages: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Egg → Nymph → Adult</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The nymph looks like a SMALL adult.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Example: Grasshopper 🦗</a:t>
            </a:r>
            <a:endParaRPr lang="en-US" sz="1200" dirty="0"/>
          </a:p>
        </p:txBody>
      </p:sp>
      <p:sp>
        <p:nvSpPr>
          <p:cNvPr id="16" name="Shape 14"/>
          <p:cNvSpPr/>
          <p:nvPr/>
        </p:nvSpPr>
        <p:spPr>
          <a:xfrm>
            <a:off x="5303520" y="4114800"/>
            <a:ext cx="1554480" cy="256032"/>
          </a:xfrm>
          <a:prstGeom prst="roundRect">
            <a:avLst>
              <a:gd name="adj" fmla="val 50000"/>
            </a:avLst>
          </a:prstGeom>
          <a:solidFill>
            <a:srgbClr val="F4736A"/>
          </a:solidFill>
          <a:ln w="12700">
            <a:solidFill>
              <a:srgbClr val="F4736A"/>
            </a:solidFill>
            <a:prstDash val="solid"/>
          </a:ln>
        </p:spPr>
      </p:sp>
      <p:sp>
        <p:nvSpPr>
          <p:cNvPr id="17" name="Text 15"/>
          <p:cNvSpPr/>
          <p:nvPr/>
        </p:nvSpPr>
        <p:spPr>
          <a:xfrm>
            <a:off x="5303520" y="41148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vs.</a:t>
            </a:r>
            <a:endParaRPr lang="en-US" sz="9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1 of 2</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These words unlock the whole lesson. Read, then use them!</a:t>
            </a:r>
            <a:endParaRPr lang="en-US" sz="1200" dirty="0"/>
          </a:p>
        </p:txBody>
      </p:sp>
      <p:sp>
        <p:nvSpPr>
          <p:cNvPr id="6" name="Shape 4"/>
          <p:cNvSpPr/>
          <p:nvPr/>
        </p:nvSpPr>
        <p:spPr>
          <a:xfrm>
            <a:off x="365760" y="1097280"/>
            <a:ext cx="3566160" cy="1325880"/>
          </a:xfrm>
          <a:prstGeom prst="roundRect">
            <a:avLst>
              <a:gd name="adj" fmla="val 6897"/>
            </a:avLst>
          </a:prstGeom>
          <a:solidFill>
            <a:srgbClr val="1E2F45"/>
          </a:solidFill>
          <a:ln w="25400">
            <a:solidFill>
              <a:srgbClr val="4CC9F0"/>
            </a:solidFill>
            <a:prstDash val="solid"/>
          </a:ln>
        </p:spPr>
      </p:sp>
      <p:sp>
        <p:nvSpPr>
          <p:cNvPr id="7" name="Shape 5"/>
          <p:cNvSpPr/>
          <p:nvPr/>
        </p:nvSpPr>
        <p:spPr>
          <a:xfrm>
            <a:off x="365760" y="1097280"/>
            <a:ext cx="3566160" cy="347472"/>
          </a:xfrm>
          <a:prstGeom prst="roundRect">
            <a:avLst>
              <a:gd name="adj" fmla="val 21053"/>
            </a:avLst>
          </a:prstGeom>
          <a:solidFill>
            <a:srgbClr val="4CC9F0"/>
          </a:solidFill>
          <a:ln w="12700">
            <a:solidFill>
              <a:srgbClr val="4CC9F0"/>
            </a:solidFill>
            <a:prstDash val="solid"/>
          </a:ln>
        </p:spPr>
      </p:sp>
      <p:sp>
        <p:nvSpPr>
          <p:cNvPr id="8" name="Text 6"/>
          <p:cNvSpPr/>
          <p:nvPr/>
        </p:nvSpPr>
        <p:spPr>
          <a:xfrm>
            <a:off x="457200" y="112471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Life Cycle</a:t>
            </a:r>
            <a:endParaRPr lang="en-US" sz="1200" dirty="0"/>
          </a:p>
        </p:txBody>
      </p:sp>
      <p:sp>
        <p:nvSpPr>
          <p:cNvPr id="9" name="Text 7"/>
          <p:cNvSpPr/>
          <p:nvPr/>
        </p:nvSpPr>
        <p:spPr>
          <a:xfrm>
            <a:off x="475488" y="1499616"/>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whole path a plant or animal takes from when it begins to when it makes the next generation — then it starts over.</a:t>
            </a:r>
            <a:endParaRPr lang="en-US" sz="1050" dirty="0"/>
          </a:p>
        </p:txBody>
      </p:sp>
      <p:sp>
        <p:nvSpPr>
          <p:cNvPr id="10" name="Shape 8"/>
          <p:cNvSpPr/>
          <p:nvPr/>
        </p:nvSpPr>
        <p:spPr>
          <a:xfrm>
            <a:off x="4206240" y="1097280"/>
            <a:ext cx="3566160" cy="1325880"/>
          </a:xfrm>
          <a:prstGeom prst="roundRect">
            <a:avLst>
              <a:gd name="adj" fmla="val 6897"/>
            </a:avLst>
          </a:prstGeom>
          <a:solidFill>
            <a:srgbClr val="1E2F45"/>
          </a:solidFill>
          <a:ln w="25400">
            <a:solidFill>
              <a:srgbClr val="2DC653"/>
            </a:solidFill>
            <a:prstDash val="solid"/>
          </a:ln>
        </p:spPr>
      </p:sp>
      <p:sp>
        <p:nvSpPr>
          <p:cNvPr id="11" name="Shape 9"/>
          <p:cNvSpPr/>
          <p:nvPr/>
        </p:nvSpPr>
        <p:spPr>
          <a:xfrm>
            <a:off x="4206240" y="1097280"/>
            <a:ext cx="3566160" cy="347472"/>
          </a:xfrm>
          <a:prstGeom prst="roundRect">
            <a:avLst>
              <a:gd name="adj" fmla="val 21053"/>
            </a:avLst>
          </a:prstGeom>
          <a:solidFill>
            <a:srgbClr val="2DC653"/>
          </a:solidFill>
          <a:ln w="12700">
            <a:solidFill>
              <a:srgbClr val="2DC653"/>
            </a:solidFill>
            <a:prstDash val="solid"/>
          </a:ln>
        </p:spPr>
      </p:sp>
      <p:sp>
        <p:nvSpPr>
          <p:cNvPr id="12" name="Text 10"/>
          <p:cNvSpPr/>
          <p:nvPr/>
        </p:nvSpPr>
        <p:spPr>
          <a:xfrm>
            <a:off x="4297680" y="112471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Metamorphosis</a:t>
            </a:r>
            <a:endParaRPr lang="en-US" sz="1200" dirty="0"/>
          </a:p>
        </p:txBody>
      </p:sp>
      <p:sp>
        <p:nvSpPr>
          <p:cNvPr id="13" name="Text 11"/>
          <p:cNvSpPr/>
          <p:nvPr/>
        </p:nvSpPr>
        <p:spPr>
          <a:xfrm>
            <a:off x="4315968" y="1499616"/>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big change in an animal's body shape as it goes through its life cycle — like a caterpillar turning into a butterfly.</a:t>
            </a:r>
            <a:endParaRPr lang="en-US" sz="1050" dirty="0"/>
          </a:p>
        </p:txBody>
      </p:sp>
      <p:sp>
        <p:nvSpPr>
          <p:cNvPr id="14" name="Shape 12"/>
          <p:cNvSpPr/>
          <p:nvPr/>
        </p:nvSpPr>
        <p:spPr>
          <a:xfrm>
            <a:off x="8046720" y="1097280"/>
            <a:ext cx="3566160" cy="1325880"/>
          </a:xfrm>
          <a:prstGeom prst="roundRect">
            <a:avLst>
              <a:gd name="adj" fmla="val 6897"/>
            </a:avLst>
          </a:prstGeom>
          <a:solidFill>
            <a:srgbClr val="1E2F45"/>
          </a:solidFill>
          <a:ln w="25400">
            <a:solidFill>
              <a:srgbClr val="FFB703"/>
            </a:solidFill>
            <a:prstDash val="solid"/>
          </a:ln>
        </p:spPr>
      </p:sp>
      <p:sp>
        <p:nvSpPr>
          <p:cNvPr id="15" name="Shape 13"/>
          <p:cNvSpPr/>
          <p:nvPr/>
        </p:nvSpPr>
        <p:spPr>
          <a:xfrm>
            <a:off x="8046720" y="1097280"/>
            <a:ext cx="3566160" cy="347472"/>
          </a:xfrm>
          <a:prstGeom prst="roundRect">
            <a:avLst>
              <a:gd name="adj" fmla="val 21053"/>
            </a:avLst>
          </a:prstGeom>
          <a:solidFill>
            <a:srgbClr val="FFB703"/>
          </a:solidFill>
          <a:ln w="12700">
            <a:solidFill>
              <a:srgbClr val="FFB703"/>
            </a:solidFill>
            <a:prstDash val="solid"/>
          </a:ln>
        </p:spPr>
      </p:sp>
      <p:sp>
        <p:nvSpPr>
          <p:cNvPr id="16" name="Text 14"/>
          <p:cNvSpPr/>
          <p:nvPr/>
        </p:nvSpPr>
        <p:spPr>
          <a:xfrm>
            <a:off x="8138160" y="112471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p>
        </p:txBody>
      </p:sp>
      <p:sp>
        <p:nvSpPr>
          <p:cNvPr id="17" name="Text 15"/>
          <p:cNvSpPr/>
          <p:nvPr/>
        </p:nvSpPr>
        <p:spPr>
          <a:xfrm>
            <a:off x="8156448" y="1499616"/>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step or phase in a life cycle. Egg, caterpillar, chrysalis, and butterfly are four stages in a monarch's life cycle.</a:t>
            </a:r>
            <a:endParaRPr lang="en-US" sz="1050" dirty="0"/>
          </a:p>
        </p:txBody>
      </p:sp>
      <p:sp>
        <p:nvSpPr>
          <p:cNvPr id="18" name="Shape 16"/>
          <p:cNvSpPr/>
          <p:nvPr/>
        </p:nvSpPr>
        <p:spPr>
          <a:xfrm>
            <a:off x="365760" y="2606040"/>
            <a:ext cx="3566160" cy="1325880"/>
          </a:xfrm>
          <a:prstGeom prst="roundRect">
            <a:avLst>
              <a:gd name="adj" fmla="val 6897"/>
            </a:avLst>
          </a:prstGeom>
          <a:solidFill>
            <a:srgbClr val="1E2F45"/>
          </a:solidFill>
          <a:ln w="25400">
            <a:solidFill>
              <a:srgbClr val="F4736A"/>
            </a:solidFill>
            <a:prstDash val="solid"/>
          </a:ln>
        </p:spPr>
      </p:sp>
      <p:sp>
        <p:nvSpPr>
          <p:cNvPr id="19" name="Shape 17"/>
          <p:cNvSpPr/>
          <p:nvPr/>
        </p:nvSpPr>
        <p:spPr>
          <a:xfrm>
            <a:off x="365760" y="2606040"/>
            <a:ext cx="3566160" cy="347472"/>
          </a:xfrm>
          <a:prstGeom prst="roundRect">
            <a:avLst>
              <a:gd name="adj" fmla="val 21053"/>
            </a:avLst>
          </a:prstGeom>
          <a:solidFill>
            <a:srgbClr val="F4736A"/>
          </a:solidFill>
          <a:ln w="12700">
            <a:solidFill>
              <a:srgbClr val="F4736A"/>
            </a:solidFill>
            <a:prstDash val="solid"/>
          </a:ln>
        </p:spPr>
      </p:sp>
      <p:sp>
        <p:nvSpPr>
          <p:cNvPr id="20" name="Text 18"/>
          <p:cNvSpPr/>
          <p:nvPr/>
        </p:nvSpPr>
        <p:spPr>
          <a:xfrm>
            <a:off x="457200" y="263347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Offspring</a:t>
            </a:r>
            <a:endParaRPr lang="en-US" sz="1200" dirty="0"/>
          </a:p>
        </p:txBody>
      </p:sp>
      <p:sp>
        <p:nvSpPr>
          <p:cNvPr id="21" name="Text 19"/>
          <p:cNvSpPr/>
          <p:nvPr/>
        </p:nvSpPr>
        <p:spPr>
          <a:xfrm>
            <a:off x="475488" y="3008376"/>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new generation — the babies, chicks, eggs, or seeds an organism makes that continue its life cycle.</a:t>
            </a:r>
            <a:endParaRPr lang="en-US" sz="1050" dirty="0"/>
          </a:p>
        </p:txBody>
      </p:sp>
      <p:sp>
        <p:nvSpPr>
          <p:cNvPr id="22" name="Shape 20"/>
          <p:cNvSpPr/>
          <p:nvPr/>
        </p:nvSpPr>
        <p:spPr>
          <a:xfrm>
            <a:off x="4206240" y="2606040"/>
            <a:ext cx="7406640" cy="1325880"/>
          </a:xfrm>
          <a:prstGeom prst="roundRect">
            <a:avLst>
              <a:gd name="adj" fmla="val 5517"/>
            </a:avLst>
          </a:prstGeom>
          <a:solidFill>
            <a:srgbClr val="162233"/>
          </a:solidFill>
          <a:ln w="12700">
            <a:solidFill>
              <a:srgbClr val="FFB703"/>
            </a:solidFill>
            <a:prstDash val="solid"/>
          </a:ln>
        </p:spPr>
      </p:sp>
      <p:sp>
        <p:nvSpPr>
          <p:cNvPr id="23" name="Text 21"/>
          <p:cNvSpPr/>
          <p:nvPr/>
        </p:nvSpPr>
        <p:spPr>
          <a:xfrm>
            <a:off x="4370832" y="2679192"/>
            <a:ext cx="707745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Quick Discussion:</a:t>
            </a:r>
            <a:endParaRPr lang="en-US" sz="1300" dirty="0"/>
          </a:p>
        </p:txBody>
      </p:sp>
      <p:sp>
        <p:nvSpPr>
          <p:cNvPr id="24" name="Text 22"/>
          <p:cNvSpPr/>
          <p:nvPr/>
        </p:nvSpPr>
        <p:spPr>
          <a:xfrm>
            <a:off x="4370832" y="3044952"/>
            <a:ext cx="7077456" cy="7772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"Which of these four words do you already know? Use it in a sentence about a Florida animal."</a:t>
            </a:r>
            <a:endParaRPr lang="en-US" sz="1200" dirty="0"/>
          </a:p>
        </p:txBody>
      </p:sp>
      <p:sp>
        <p:nvSpPr>
          <p:cNvPr id="25" name="Text 23"/>
          <p:cNvSpPr/>
          <p:nvPr/>
        </p:nvSpPr>
        <p:spPr>
          <a:xfrm>
            <a:off x="365760" y="5376672"/>
            <a:ext cx="11247120" cy="310896"/>
          </a:xfrm>
          <a:prstGeom prst="rect">
            <a:avLst/>
          </a:prstGeom>
          <a:noFill/>
          <a:ln/>
        </p:spPr>
        <p:txBody>
          <a:bodyPr wrap="square" rtlCol="0" anchor="ctr"/>
          <a:lstStyle/>
          <a:p>
            <a:pPr indent="0" marL="0">
              <a:buNone/>
            </a:pPr>
            <a:r>
              <a:rPr lang="en-US" sz="1050" i="1" dirty="0">
                <a:solidFill>
                  <a:srgbClr val="B0C4D8"/>
                </a:solidFill>
                <a:latin typeface="Calibri" pitchFamily="34" charset="0"/>
                <a:ea typeface="Calibri" pitchFamily="34" charset="-122"/>
                <a:cs typeface="Calibri" pitchFamily="34" charset="-120"/>
              </a:rPr>
              <a:t>✏️ Add these to your vocab section now. You'll use them throughout the lesson and assignment.</a:t>
            </a:r>
            <a:endParaRPr lang="en-US" sz="10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2 of 2</a:t>
            </a:r>
            <a:endParaRPr lang="en-US" sz="1600" dirty="0"/>
          </a:p>
        </p:txBody>
      </p:sp>
      <p:sp>
        <p:nvSpPr>
          <p:cNvPr id="5" name="Shape 3"/>
          <p:cNvSpPr/>
          <p:nvPr/>
        </p:nvSpPr>
        <p:spPr>
          <a:xfrm>
            <a:off x="365760" y="804672"/>
            <a:ext cx="5394960" cy="1325880"/>
          </a:xfrm>
          <a:prstGeom prst="roundRect">
            <a:avLst>
              <a:gd name="adj" fmla="val 6897"/>
            </a:avLst>
          </a:prstGeom>
          <a:solidFill>
            <a:srgbClr val="1E2F45"/>
          </a:solidFill>
          <a:ln w="25400">
            <a:solidFill>
              <a:srgbClr val="2DC653"/>
            </a:solidFill>
            <a:prstDash val="solid"/>
          </a:ln>
        </p:spPr>
      </p:sp>
      <p:sp>
        <p:nvSpPr>
          <p:cNvPr id="6" name="Shape 4"/>
          <p:cNvSpPr/>
          <p:nvPr/>
        </p:nvSpPr>
        <p:spPr>
          <a:xfrm>
            <a:off x="365760" y="804672"/>
            <a:ext cx="5394960" cy="347472"/>
          </a:xfrm>
          <a:prstGeom prst="roundRect">
            <a:avLst>
              <a:gd name="adj" fmla="val 21053"/>
            </a:avLst>
          </a:prstGeom>
          <a:solidFill>
            <a:srgbClr val="2DC653"/>
          </a:solidFill>
          <a:ln w="12700">
            <a:solidFill>
              <a:srgbClr val="2DC653"/>
            </a:solidFill>
            <a:prstDash val="solid"/>
          </a:ln>
        </p:spPr>
      </p:sp>
      <p:sp>
        <p:nvSpPr>
          <p:cNvPr id="7" name="Text 5"/>
          <p:cNvSpPr/>
          <p:nvPr/>
        </p:nvSpPr>
        <p:spPr>
          <a:xfrm>
            <a:off x="45720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Complete Metamorphosis</a:t>
            </a:r>
            <a:endParaRPr lang="en-US" sz="1200" dirty="0"/>
          </a:p>
        </p:txBody>
      </p:sp>
      <p:sp>
        <p:nvSpPr>
          <p:cNvPr id="8" name="Text 6"/>
          <p:cNvSpPr/>
          <p:nvPr/>
        </p:nvSpPr>
        <p:spPr>
          <a:xfrm>
            <a:off x="47548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life cycle with FOUR very different stages: egg → larva (caterpillar) → pupa (chrysalis) → adult. The larva looks nothing like the adult.</a:t>
            </a:r>
            <a:endParaRPr lang="en-US" sz="1050" dirty="0"/>
          </a:p>
        </p:txBody>
      </p:sp>
      <p:sp>
        <p:nvSpPr>
          <p:cNvPr id="9" name="Shape 7"/>
          <p:cNvSpPr/>
          <p:nvPr/>
        </p:nvSpPr>
        <p:spPr>
          <a:xfrm>
            <a:off x="6035040" y="804672"/>
            <a:ext cx="539496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6035040" y="804672"/>
            <a:ext cx="539496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612648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Incomplete Metamorphosis</a:t>
            </a:r>
            <a:endParaRPr lang="en-US" sz="1200" dirty="0"/>
          </a:p>
        </p:txBody>
      </p:sp>
      <p:sp>
        <p:nvSpPr>
          <p:cNvPr id="12" name="Text 10"/>
          <p:cNvSpPr/>
          <p:nvPr/>
        </p:nvSpPr>
        <p:spPr>
          <a:xfrm>
            <a:off x="614476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life cycle with THREE stages: egg → nymph → adult. The young nymph looks like a smaller version of the adult — it just grows bigger.</a:t>
            </a:r>
            <a:endParaRPr lang="en-US" sz="1050" dirty="0"/>
          </a:p>
        </p:txBody>
      </p:sp>
      <p:sp>
        <p:nvSpPr>
          <p:cNvPr id="13" name="Shape 11"/>
          <p:cNvSpPr/>
          <p:nvPr/>
        </p:nvSpPr>
        <p:spPr>
          <a:xfrm>
            <a:off x="365760" y="2286000"/>
            <a:ext cx="11247120" cy="2194560"/>
          </a:xfrm>
          <a:prstGeom prst="roundRect">
            <a:avLst>
              <a:gd name="adj" fmla="val 3333"/>
            </a:avLst>
          </a:prstGeom>
          <a:solidFill>
            <a:srgbClr val="162233"/>
          </a:solidFill>
          <a:ln w="12700">
            <a:solidFill>
              <a:srgbClr val="4CC9F0"/>
            </a:solidFill>
            <a:prstDash val="solid"/>
          </a:ln>
        </p:spPr>
      </p:sp>
      <p:sp>
        <p:nvSpPr>
          <p:cNvPr id="14" name="Text 12"/>
          <p:cNvSpPr/>
          <p:nvPr/>
        </p:nvSpPr>
        <p:spPr>
          <a:xfrm>
            <a:off x="548640" y="2359152"/>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Key Distinction — Complete vs. Incomplete:</a:t>
            </a:r>
            <a:endParaRPr lang="en-US" sz="1300" dirty="0"/>
          </a:p>
        </p:txBody>
      </p:sp>
      <p:sp>
        <p:nvSpPr>
          <p:cNvPr id="15" name="Text 13"/>
          <p:cNvSpPr/>
          <p:nvPr/>
        </p:nvSpPr>
        <p:spPr>
          <a:xfrm>
            <a:off x="548640" y="2724912"/>
            <a:ext cx="10972800" cy="162763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Complete: The young looks COMPLETELY DIFFERENT from the adult (caterpillar ≠ butterfly)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Incomplete: The young looks like a SMALLER VERSION of the adult (nymph ≈ tiny grasshopper)</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Common misconception: 'Metamorphosis' means any kind of growing up. It really means a BIG SHAPE CHANGE — a puppy growing into a dog is just growth, not metamorphosis.</a:t>
            </a:r>
            <a:endParaRPr lang="en-US" sz="1200" dirty="0"/>
          </a:p>
        </p:txBody>
      </p:sp>
      <p:sp>
        <p:nvSpPr>
          <p:cNvPr id="16" name="Shape 14"/>
          <p:cNvSpPr/>
          <p:nvPr/>
        </p:nvSpPr>
        <p:spPr>
          <a:xfrm>
            <a:off x="365760" y="4663440"/>
            <a:ext cx="11247120" cy="1261872"/>
          </a:xfrm>
          <a:prstGeom prst="roundRect">
            <a:avLst>
              <a:gd name="adj" fmla="val 5797"/>
            </a:avLst>
          </a:prstGeom>
          <a:solidFill>
            <a:srgbClr val="162233"/>
          </a:solidFill>
          <a:ln w="12700">
            <a:solidFill>
              <a:srgbClr val="FFB703"/>
            </a:solidFill>
            <a:prstDash val="solid"/>
          </a:ln>
        </p:spPr>
      </p:sp>
      <p:sp>
        <p:nvSpPr>
          <p:cNvPr id="17" name="Text 15"/>
          <p:cNvSpPr/>
          <p:nvPr/>
        </p:nvSpPr>
        <p:spPr>
          <a:xfrm>
            <a:off x="530352" y="473659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Check Your Prediction:</a:t>
            </a:r>
            <a:endParaRPr lang="en-US" sz="1300" dirty="0"/>
          </a:p>
        </p:txBody>
      </p:sp>
      <p:sp>
        <p:nvSpPr>
          <p:cNvPr id="18" name="Text 16"/>
          <p:cNvSpPr/>
          <p:nvPr/>
        </p:nvSpPr>
        <p:spPr>
          <a:xfrm>
            <a:off x="530352" y="5102352"/>
            <a:ext cx="10917936" cy="71323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Go back to your prediction from slide 3. Was the grasshopper nymph what you expected? How does seeing the nymph confirm or revise your prediction?</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Core Content: Every Living Thing Has a Life Cycle</a:t>
            </a:r>
            <a:endParaRPr lang="en-US" sz="1600" dirty="0"/>
          </a:p>
        </p:txBody>
      </p:sp>
      <p:sp>
        <p:nvSpPr>
          <p:cNvPr id="5" name="Shape 3"/>
          <p:cNvSpPr/>
          <p:nvPr/>
        </p:nvSpPr>
        <p:spPr>
          <a:xfrm>
            <a:off x="365760" y="749808"/>
            <a:ext cx="11247120" cy="1115568"/>
          </a:xfrm>
          <a:prstGeom prst="roundRect">
            <a:avLst>
              <a:gd name="adj" fmla="val 6557"/>
            </a:avLst>
          </a:prstGeom>
          <a:solidFill>
            <a:srgbClr val="1E2F45"/>
          </a:solidFill>
          <a:ln w="12700">
            <a:solidFill>
              <a:srgbClr val="4CC9F0"/>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Every organism goes through a life cycle — it starts, grows, and makes the next generation.</a:t>
            </a:r>
            <a:endParaRPr lang="en-US" sz="1400" dirty="0"/>
          </a:p>
        </p:txBody>
      </p:sp>
      <p:sp>
        <p:nvSpPr>
          <p:cNvPr id="7" name="Text 5"/>
          <p:cNvSpPr/>
          <p:nvPr/>
        </p:nvSpPr>
        <p:spPr>
          <a:xfrm>
            <a:off x="548640" y="1225296"/>
            <a:ext cx="10972800" cy="530352"/>
          </a:xfrm>
          <a:prstGeom prst="rect">
            <a:avLst/>
          </a:prstGeom>
          <a:noFill/>
          <a:ln/>
        </p:spPr>
        <p:txBody>
          <a:bodyPr wrap="square" rtlCol="0" anchor="ctr"/>
          <a:lstStyle/>
          <a:p>
            <a:pPr algn="ctr" indent="0" marL="0">
              <a:buNone/>
            </a:pPr>
            <a:r>
              <a:rPr lang="en-US" sz="1300" dirty="0">
                <a:solidFill>
                  <a:srgbClr val="4CC9F0"/>
                </a:solidFill>
                <a:latin typeface="Calibri" pitchFamily="34" charset="0"/>
                <a:ea typeface="Calibri" pitchFamily="34" charset="-122"/>
                <a:cs typeface="Calibri" pitchFamily="34" charset="-120"/>
              </a:rPr>
              <a:t>Start → Grow → Make the next generation → Repeat</a:t>
            </a:r>
            <a:endParaRPr lang="en-US" sz="1300" dirty="0"/>
          </a:p>
        </p:txBody>
      </p:sp>
      <p:sp>
        <p:nvSpPr>
          <p:cNvPr id="8" name="Shape 6"/>
          <p:cNvSpPr/>
          <p:nvPr/>
        </p:nvSpPr>
        <p:spPr>
          <a:xfrm>
            <a:off x="365760" y="1993392"/>
            <a:ext cx="5394960" cy="2542032"/>
          </a:xfrm>
          <a:prstGeom prst="roundRect">
            <a:avLst>
              <a:gd name="adj" fmla="val 2878"/>
            </a:avLst>
          </a:prstGeom>
          <a:solidFill>
            <a:srgbClr val="1E2F45"/>
          </a:solidFill>
          <a:ln w="12700">
            <a:solidFill>
              <a:srgbClr val="2DC653"/>
            </a:solidFill>
            <a:prstDash val="solid"/>
          </a:ln>
        </p:spPr>
      </p:sp>
      <p:sp>
        <p:nvSpPr>
          <p:cNvPr id="9" name="Text 7"/>
          <p:cNvSpPr/>
          <p:nvPr/>
        </p:nvSpPr>
        <p:spPr>
          <a:xfrm>
            <a:off x="548640" y="2066544"/>
            <a:ext cx="502920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Plant Life Cycle (Sunflower)</a:t>
            </a:r>
            <a:endParaRPr lang="en-US" sz="1300" dirty="0"/>
          </a:p>
        </p:txBody>
      </p:sp>
      <p:sp>
        <p:nvSpPr>
          <p:cNvPr id="10" name="Text 8"/>
          <p:cNvSpPr/>
          <p:nvPr/>
        </p:nvSpPr>
        <p:spPr>
          <a:xfrm>
            <a:off x="548640" y="2432304"/>
            <a:ext cx="5029200" cy="199339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Seed</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Seedling (sprout)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Growing plant (leaves)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Flowering plant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Makes new seeds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Cycle repeats</a:t>
            </a:r>
            <a:endParaRPr lang="en-US" sz="1200" dirty="0"/>
          </a:p>
        </p:txBody>
      </p:sp>
      <p:sp>
        <p:nvSpPr>
          <p:cNvPr id="11" name="Shape 9"/>
          <p:cNvSpPr/>
          <p:nvPr/>
        </p:nvSpPr>
        <p:spPr>
          <a:xfrm>
            <a:off x="6035040" y="1993392"/>
            <a:ext cx="5394960" cy="2542032"/>
          </a:xfrm>
          <a:prstGeom prst="roundRect">
            <a:avLst>
              <a:gd name="adj" fmla="val 2878"/>
            </a:avLst>
          </a:prstGeom>
          <a:solidFill>
            <a:srgbClr val="1E2F45"/>
          </a:solidFill>
          <a:ln w="12700">
            <a:solidFill>
              <a:srgbClr val="4CC9F0"/>
            </a:solidFill>
            <a:prstDash val="solid"/>
          </a:ln>
        </p:spPr>
      </p:sp>
      <p:sp>
        <p:nvSpPr>
          <p:cNvPr id="12" name="Text 10"/>
          <p:cNvSpPr/>
          <p:nvPr/>
        </p:nvSpPr>
        <p:spPr>
          <a:xfrm>
            <a:off x="6217920" y="2066544"/>
            <a:ext cx="50292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Animal Life Cycle (Monarch)</a:t>
            </a:r>
            <a:endParaRPr lang="en-US" sz="1300" dirty="0"/>
          </a:p>
        </p:txBody>
      </p:sp>
      <p:sp>
        <p:nvSpPr>
          <p:cNvPr id="13" name="Text 11"/>
          <p:cNvSpPr/>
          <p:nvPr/>
        </p:nvSpPr>
        <p:spPr>
          <a:xfrm>
            <a:off x="6217920" y="2432304"/>
            <a:ext cx="5029200" cy="199339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Egg (on milkweed)</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Caterpillar (larva) — eats leaves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Chrysalis (pupa) — body rebuilds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Adult butterfly — flies, drinks nectar</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Lays eggs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Cycle repeats</a:t>
            </a:r>
            <a:endParaRPr lang="en-US" sz="1200" dirty="0"/>
          </a:p>
        </p:txBody>
      </p:sp>
      <p:sp>
        <p:nvSpPr>
          <p:cNvPr id="14" name="Shape 12"/>
          <p:cNvSpPr/>
          <p:nvPr/>
        </p:nvSpPr>
        <p:spPr>
          <a:xfrm>
            <a:off x="365760" y="4700016"/>
            <a:ext cx="11247120" cy="1234440"/>
          </a:xfrm>
          <a:prstGeom prst="roundRect">
            <a:avLst>
              <a:gd name="adj" fmla="val 5926"/>
            </a:avLst>
          </a:prstGeom>
          <a:solidFill>
            <a:srgbClr val="162233"/>
          </a:solidFill>
          <a:ln w="12700">
            <a:solidFill>
              <a:srgbClr val="FFB703"/>
            </a:solidFill>
            <a:prstDash val="solid"/>
          </a:ln>
        </p:spPr>
      </p:sp>
      <p:sp>
        <p:nvSpPr>
          <p:cNvPr id="15" name="Text 13"/>
          <p:cNvSpPr/>
          <p:nvPr/>
        </p:nvSpPr>
        <p:spPr>
          <a:xfrm>
            <a:off x="530352" y="4773168"/>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Think:</a:t>
            </a:r>
            <a:endParaRPr lang="en-US" sz="1300" dirty="0"/>
          </a:p>
        </p:txBody>
      </p:sp>
      <p:sp>
        <p:nvSpPr>
          <p:cNvPr id="16" name="Text 14"/>
          <p:cNvSpPr/>
          <p:nvPr/>
        </p:nvSpPr>
        <p:spPr>
          <a:xfrm>
            <a:off x="530352" y="5138928"/>
            <a:ext cx="10917936" cy="68580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Pick any Florida plant or animal you know. What's its very first stage? What's its last stage before it makes offspring of its own?</a:t>
            </a:r>
            <a:endParaRPr lang="en-US" sz="12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Two Kinds of Metamorphosis</a:t>
            </a:r>
            <a:endParaRPr lang="en-US" sz="1600" dirty="0"/>
          </a:p>
        </p:txBody>
      </p:sp>
      <p:sp>
        <p:nvSpPr>
          <p:cNvPr id="5" name="Shape 3"/>
          <p:cNvSpPr/>
          <p:nvPr/>
        </p:nvSpPr>
        <p:spPr>
          <a:xfrm>
            <a:off x="365760" y="749808"/>
            <a:ext cx="6583680" cy="4206240"/>
          </a:xfrm>
          <a:prstGeom prst="roundRect">
            <a:avLst>
              <a:gd name="adj" fmla="val 1739"/>
            </a:avLst>
          </a:prstGeom>
          <a:solidFill>
            <a:srgbClr val="0A1520"/>
          </a:solidFill>
          <a:ln w="19050">
            <a:solidFill>
              <a:srgbClr val="4CC9F0"/>
            </a:solidFill>
            <a:prstDash val="dash"/>
          </a:ln>
        </p:spPr>
      </p:sp>
      <p:sp>
        <p:nvSpPr>
          <p:cNvPr id="6" name="Text 4"/>
          <p:cNvSpPr/>
          <p:nvPr/>
        </p:nvSpPr>
        <p:spPr>
          <a:xfrm>
            <a:off x="457200" y="859536"/>
            <a:ext cx="64008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64008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6364224" cy="3154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"butterfly life cycle complete metamorphosis egg caterpillar chrysalis adult labeled diagram"</a:t>
            </a:r>
            <a:endParaRPr lang="en-US" sz="950" dirty="0"/>
          </a:p>
        </p:txBody>
      </p:sp>
      <p:sp>
        <p:nvSpPr>
          <p:cNvPr id="9" name="Text 7"/>
          <p:cNvSpPr/>
          <p:nvPr/>
        </p:nvSpPr>
        <p:spPr>
          <a:xfrm>
            <a:off x="365760" y="4992624"/>
            <a:ext cx="65836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Complete metamorphosis — 4 very different stages</a:t>
            </a:r>
            <a:endParaRPr lang="en-US" sz="900" dirty="0"/>
          </a:p>
        </p:txBody>
      </p:sp>
      <p:sp>
        <p:nvSpPr>
          <p:cNvPr id="10" name="Shape 8"/>
          <p:cNvSpPr/>
          <p:nvPr/>
        </p:nvSpPr>
        <p:spPr>
          <a:xfrm>
            <a:off x="7132320" y="749808"/>
            <a:ext cx="4389120" cy="1993392"/>
          </a:xfrm>
          <a:prstGeom prst="roundRect">
            <a:avLst>
              <a:gd name="adj" fmla="val 3670"/>
            </a:avLst>
          </a:prstGeom>
          <a:solidFill>
            <a:srgbClr val="1E2F45"/>
          </a:solidFill>
          <a:ln w="12700">
            <a:solidFill>
              <a:srgbClr val="2DC653"/>
            </a:solidFill>
            <a:prstDash val="solid"/>
          </a:ln>
        </p:spPr>
      </p:sp>
      <p:sp>
        <p:nvSpPr>
          <p:cNvPr id="11" name="Text 9"/>
          <p:cNvSpPr/>
          <p:nvPr/>
        </p:nvSpPr>
        <p:spPr>
          <a:xfrm>
            <a:off x="7315200" y="822960"/>
            <a:ext cx="402336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Complete (4 stages)</a:t>
            </a:r>
            <a:endParaRPr lang="en-US" sz="1300" dirty="0"/>
          </a:p>
        </p:txBody>
      </p:sp>
      <p:sp>
        <p:nvSpPr>
          <p:cNvPr id="12" name="Text 10"/>
          <p:cNvSpPr/>
          <p:nvPr/>
        </p:nvSpPr>
        <p:spPr>
          <a:xfrm>
            <a:off x="7315200" y="1188720"/>
            <a:ext cx="4023360" cy="14264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Egg → Larva → Pupa → Adult</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Examples: Monarch butterfly, honeybee, beetle</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The larva looks NOTHING like the adult.</a:t>
            </a:r>
            <a:endParaRPr lang="en-US" sz="1150" dirty="0"/>
          </a:p>
        </p:txBody>
      </p:sp>
      <p:sp>
        <p:nvSpPr>
          <p:cNvPr id="13" name="Shape 11"/>
          <p:cNvSpPr/>
          <p:nvPr/>
        </p:nvSpPr>
        <p:spPr>
          <a:xfrm>
            <a:off x="7132320" y="2871216"/>
            <a:ext cx="4389120" cy="1993392"/>
          </a:xfrm>
          <a:prstGeom prst="roundRect">
            <a:avLst>
              <a:gd name="adj" fmla="val 3670"/>
            </a:avLst>
          </a:prstGeom>
          <a:solidFill>
            <a:srgbClr val="1E2F45"/>
          </a:solidFill>
          <a:ln w="12700">
            <a:solidFill>
              <a:srgbClr val="FFB703"/>
            </a:solidFill>
            <a:prstDash val="solid"/>
          </a:ln>
        </p:spPr>
      </p:sp>
      <p:sp>
        <p:nvSpPr>
          <p:cNvPr id="14" name="Text 12"/>
          <p:cNvSpPr/>
          <p:nvPr/>
        </p:nvSpPr>
        <p:spPr>
          <a:xfrm>
            <a:off x="7315200" y="2944368"/>
            <a:ext cx="402336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Incomplete (3 stages)</a:t>
            </a:r>
            <a:endParaRPr lang="en-US" sz="1300" dirty="0"/>
          </a:p>
        </p:txBody>
      </p:sp>
      <p:sp>
        <p:nvSpPr>
          <p:cNvPr id="15" name="Text 13"/>
          <p:cNvSpPr/>
          <p:nvPr/>
        </p:nvSpPr>
        <p:spPr>
          <a:xfrm>
            <a:off x="7315200" y="3310128"/>
            <a:ext cx="4023360" cy="14264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Egg → Nymph → Adult</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Examples: Grasshopper, dragonfly, cockroach</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The nymph looks like a small adult — just grows bigger.</a:t>
            </a:r>
            <a:endParaRPr lang="en-US" sz="1150" dirty="0"/>
          </a:p>
        </p:txBody>
      </p:sp>
      <p:sp>
        <p:nvSpPr>
          <p:cNvPr id="16" name="Shape 14"/>
          <p:cNvSpPr/>
          <p:nvPr/>
        </p:nvSpPr>
        <p:spPr>
          <a:xfrm>
            <a:off x="365760" y="5084064"/>
            <a:ext cx="11247120" cy="658368"/>
          </a:xfrm>
          <a:prstGeom prst="roundRect">
            <a:avLst>
              <a:gd name="adj" fmla="val 11111"/>
            </a:avLst>
          </a:prstGeom>
          <a:solidFill>
            <a:srgbClr val="0A2510"/>
          </a:solidFill>
          <a:ln w="12700">
            <a:solidFill>
              <a:srgbClr val="2DC653"/>
            </a:solidFill>
            <a:prstDash val="solid"/>
          </a:ln>
        </p:spPr>
      </p:sp>
      <p:sp>
        <p:nvSpPr>
          <p:cNvPr id="17" name="Text 15"/>
          <p:cNvSpPr/>
          <p:nvPr/>
        </p:nvSpPr>
        <p:spPr>
          <a:xfrm>
            <a:off x="548640" y="5157216"/>
            <a:ext cx="10972800" cy="493776"/>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 Florida Fact: Monarchs travel through Florida every fall on their way to Mexico. Several life cycles later, their great-grandchildren make the trip back north!</a:t>
            </a:r>
            <a:endParaRPr lang="en-US" sz="11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Florida Life Cycles</a:t>
            </a:r>
            <a:endParaRPr lang="en-US" sz="1600" dirty="0"/>
          </a:p>
        </p:txBody>
      </p:sp>
      <p:sp>
        <p:nvSpPr>
          <p:cNvPr id="5" name="Text 3"/>
          <p:cNvSpPr/>
          <p:nvPr/>
        </p:nvSpPr>
        <p:spPr>
          <a:xfrm>
            <a:off x="365760" y="658368"/>
            <a:ext cx="11247120" cy="347472"/>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Two go through metamorphosis. Two do not. Can you tell which is which?</a:t>
            </a:r>
            <a:endParaRPr lang="en-US" sz="1200" dirty="0"/>
          </a:p>
        </p:txBody>
      </p:sp>
      <p:sp>
        <p:nvSpPr>
          <p:cNvPr id="6" name="Shape 4"/>
          <p:cNvSpPr/>
          <p:nvPr/>
        </p:nvSpPr>
        <p:spPr>
          <a:xfrm>
            <a:off x="365760" y="1078992"/>
            <a:ext cx="5486400" cy="2212848"/>
          </a:xfrm>
          <a:prstGeom prst="roundRect">
            <a:avLst>
              <a:gd name="adj" fmla="val 3306"/>
            </a:avLst>
          </a:prstGeom>
          <a:solidFill>
            <a:srgbClr val="1E2F45"/>
          </a:solidFill>
          <a:ln w="12700">
            <a:solidFill>
              <a:srgbClr val="2DC653"/>
            </a:solidFill>
            <a:prstDash val="solid"/>
          </a:ln>
        </p:spPr>
      </p:sp>
      <p:sp>
        <p:nvSpPr>
          <p:cNvPr id="7" name="Text 5"/>
          <p:cNvSpPr/>
          <p:nvPr/>
        </p:nvSpPr>
        <p:spPr>
          <a:xfrm>
            <a:off x="548640" y="1170432"/>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Monarch Butterfly</a:t>
            </a:r>
            <a:endParaRPr lang="en-US" sz="1400" dirty="0"/>
          </a:p>
        </p:txBody>
      </p:sp>
      <p:sp>
        <p:nvSpPr>
          <p:cNvPr id="8" name="Shape 6"/>
          <p:cNvSpPr/>
          <p:nvPr/>
        </p:nvSpPr>
        <p:spPr>
          <a:xfrm>
            <a:off x="548640" y="1591056"/>
            <a:ext cx="1554480" cy="256032"/>
          </a:xfrm>
          <a:prstGeom prst="roundRect">
            <a:avLst>
              <a:gd name="adj" fmla="val 50000"/>
            </a:avLst>
          </a:prstGeom>
          <a:solidFill>
            <a:srgbClr val="2DC653"/>
          </a:solidFill>
          <a:ln w="12700">
            <a:solidFill>
              <a:srgbClr val="2DC653"/>
            </a:solidFill>
            <a:prstDash val="solid"/>
          </a:ln>
        </p:spPr>
      </p:sp>
      <p:sp>
        <p:nvSpPr>
          <p:cNvPr id="9" name="Text 7"/>
          <p:cNvSpPr/>
          <p:nvPr/>
        </p:nvSpPr>
        <p:spPr>
          <a:xfrm>
            <a:off x="548640" y="159105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Complete Metamorphosis</a:t>
            </a:r>
            <a:endParaRPr lang="en-US" sz="900" dirty="0"/>
          </a:p>
        </p:txBody>
      </p:sp>
      <p:sp>
        <p:nvSpPr>
          <p:cNvPr id="10" name="Text 8"/>
          <p:cNvSpPr/>
          <p:nvPr/>
        </p:nvSpPr>
        <p:spPr>
          <a:xfrm>
            <a:off x="548640" y="1975104"/>
            <a:ext cx="5120640" cy="11887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Egg → Caterpillar → Chrysalis → Adult</a:t>
            </a:r>
            <a:endParaRPr lang="en-US" sz="1150" dirty="0"/>
          </a:p>
        </p:txBody>
      </p:sp>
      <p:sp>
        <p:nvSpPr>
          <p:cNvPr id="11" name="Shape 9"/>
          <p:cNvSpPr/>
          <p:nvPr/>
        </p:nvSpPr>
        <p:spPr>
          <a:xfrm>
            <a:off x="6126480" y="1078992"/>
            <a:ext cx="5486400" cy="2212848"/>
          </a:xfrm>
          <a:prstGeom prst="roundRect">
            <a:avLst>
              <a:gd name="adj" fmla="val 3306"/>
            </a:avLst>
          </a:prstGeom>
          <a:solidFill>
            <a:srgbClr val="1E2F45"/>
          </a:solidFill>
          <a:ln w="12700">
            <a:solidFill>
              <a:srgbClr val="FFB703"/>
            </a:solidFill>
            <a:prstDash val="solid"/>
          </a:ln>
        </p:spPr>
      </p:sp>
      <p:sp>
        <p:nvSpPr>
          <p:cNvPr id="12" name="Text 10"/>
          <p:cNvSpPr/>
          <p:nvPr/>
        </p:nvSpPr>
        <p:spPr>
          <a:xfrm>
            <a:off x="6309360" y="1170432"/>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Grasshopper</a:t>
            </a:r>
            <a:endParaRPr lang="en-US" sz="1400" dirty="0"/>
          </a:p>
        </p:txBody>
      </p:sp>
      <p:sp>
        <p:nvSpPr>
          <p:cNvPr id="13" name="Shape 11"/>
          <p:cNvSpPr/>
          <p:nvPr/>
        </p:nvSpPr>
        <p:spPr>
          <a:xfrm>
            <a:off x="6309360" y="1591056"/>
            <a:ext cx="1554480" cy="256032"/>
          </a:xfrm>
          <a:prstGeom prst="roundRect">
            <a:avLst>
              <a:gd name="adj" fmla="val 50000"/>
            </a:avLst>
          </a:prstGeom>
          <a:solidFill>
            <a:srgbClr val="FFB703"/>
          </a:solidFill>
          <a:ln w="12700">
            <a:solidFill>
              <a:srgbClr val="FFB703"/>
            </a:solidFill>
            <a:prstDash val="solid"/>
          </a:ln>
        </p:spPr>
      </p:sp>
      <p:sp>
        <p:nvSpPr>
          <p:cNvPr id="14" name="Text 12"/>
          <p:cNvSpPr/>
          <p:nvPr/>
        </p:nvSpPr>
        <p:spPr>
          <a:xfrm>
            <a:off x="6309360" y="159105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Incomplete Metamorphosis</a:t>
            </a:r>
            <a:endParaRPr lang="en-US" sz="900" dirty="0"/>
          </a:p>
        </p:txBody>
      </p:sp>
      <p:sp>
        <p:nvSpPr>
          <p:cNvPr id="15" name="Text 13"/>
          <p:cNvSpPr/>
          <p:nvPr/>
        </p:nvSpPr>
        <p:spPr>
          <a:xfrm>
            <a:off x="6309360" y="1975104"/>
            <a:ext cx="5120640" cy="11887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Egg → Nymph → Adult</a:t>
            </a:r>
            <a:endParaRPr lang="en-US" sz="1150" dirty="0"/>
          </a:p>
        </p:txBody>
      </p:sp>
      <p:sp>
        <p:nvSpPr>
          <p:cNvPr id="16" name="Shape 14"/>
          <p:cNvSpPr/>
          <p:nvPr/>
        </p:nvSpPr>
        <p:spPr>
          <a:xfrm>
            <a:off x="365760" y="3456432"/>
            <a:ext cx="5486400" cy="2212848"/>
          </a:xfrm>
          <a:prstGeom prst="roundRect">
            <a:avLst>
              <a:gd name="adj" fmla="val 3306"/>
            </a:avLst>
          </a:prstGeom>
          <a:solidFill>
            <a:srgbClr val="1E2F45"/>
          </a:solidFill>
          <a:ln w="12700">
            <a:solidFill>
              <a:srgbClr val="4CC9F0"/>
            </a:solidFill>
            <a:prstDash val="solid"/>
          </a:ln>
        </p:spPr>
      </p:sp>
      <p:sp>
        <p:nvSpPr>
          <p:cNvPr id="17" name="Text 15"/>
          <p:cNvSpPr/>
          <p:nvPr/>
        </p:nvSpPr>
        <p:spPr>
          <a:xfrm>
            <a:off x="548640" y="3547872"/>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Sea Turtle</a:t>
            </a:r>
            <a:endParaRPr lang="en-US" sz="1400" dirty="0"/>
          </a:p>
        </p:txBody>
      </p:sp>
      <p:sp>
        <p:nvSpPr>
          <p:cNvPr id="18" name="Shape 16"/>
          <p:cNvSpPr/>
          <p:nvPr/>
        </p:nvSpPr>
        <p:spPr>
          <a:xfrm>
            <a:off x="548640" y="3968496"/>
            <a:ext cx="1554480" cy="256032"/>
          </a:xfrm>
          <a:prstGeom prst="roundRect">
            <a:avLst>
              <a:gd name="adj" fmla="val 50000"/>
            </a:avLst>
          </a:prstGeom>
          <a:solidFill>
            <a:srgbClr val="4CC9F0"/>
          </a:solidFill>
          <a:ln w="12700">
            <a:solidFill>
              <a:srgbClr val="4CC9F0"/>
            </a:solidFill>
            <a:prstDash val="solid"/>
          </a:ln>
        </p:spPr>
      </p:sp>
      <p:sp>
        <p:nvSpPr>
          <p:cNvPr id="19" name="Text 17"/>
          <p:cNvSpPr/>
          <p:nvPr/>
        </p:nvSpPr>
        <p:spPr>
          <a:xfrm>
            <a:off x="548640" y="39684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Metamorphosis</a:t>
            </a:r>
            <a:endParaRPr lang="en-US" sz="900" dirty="0"/>
          </a:p>
        </p:txBody>
      </p:sp>
      <p:sp>
        <p:nvSpPr>
          <p:cNvPr id="20" name="Text 18"/>
          <p:cNvSpPr/>
          <p:nvPr/>
        </p:nvSpPr>
        <p:spPr>
          <a:xfrm>
            <a:off x="548640" y="4352544"/>
            <a:ext cx="5120640" cy="11887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Egg → Hatchling → Juvenile → Adult</a:t>
            </a:r>
            <a:endParaRPr lang="en-US" sz="1150" dirty="0"/>
          </a:p>
        </p:txBody>
      </p:sp>
      <p:sp>
        <p:nvSpPr>
          <p:cNvPr id="21" name="Shape 19"/>
          <p:cNvSpPr/>
          <p:nvPr/>
        </p:nvSpPr>
        <p:spPr>
          <a:xfrm>
            <a:off x="6126480" y="3456432"/>
            <a:ext cx="5486400" cy="2212848"/>
          </a:xfrm>
          <a:prstGeom prst="roundRect">
            <a:avLst>
              <a:gd name="adj" fmla="val 3306"/>
            </a:avLst>
          </a:prstGeom>
          <a:solidFill>
            <a:srgbClr val="1E2F45"/>
          </a:solidFill>
          <a:ln w="12700">
            <a:solidFill>
              <a:srgbClr val="F4736A"/>
            </a:solidFill>
            <a:prstDash val="solid"/>
          </a:ln>
        </p:spPr>
      </p:sp>
      <p:sp>
        <p:nvSpPr>
          <p:cNvPr id="22" name="Text 20"/>
          <p:cNvSpPr/>
          <p:nvPr/>
        </p:nvSpPr>
        <p:spPr>
          <a:xfrm>
            <a:off x="6309360" y="3547872"/>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Sunflower</a:t>
            </a:r>
            <a:endParaRPr lang="en-US" sz="1400" dirty="0"/>
          </a:p>
        </p:txBody>
      </p:sp>
      <p:sp>
        <p:nvSpPr>
          <p:cNvPr id="23" name="Shape 21"/>
          <p:cNvSpPr/>
          <p:nvPr/>
        </p:nvSpPr>
        <p:spPr>
          <a:xfrm>
            <a:off x="6309360" y="3968496"/>
            <a:ext cx="1554480" cy="256032"/>
          </a:xfrm>
          <a:prstGeom prst="roundRect">
            <a:avLst>
              <a:gd name="adj" fmla="val 50000"/>
            </a:avLst>
          </a:prstGeom>
          <a:solidFill>
            <a:srgbClr val="F4736A"/>
          </a:solidFill>
          <a:ln w="12700">
            <a:solidFill>
              <a:srgbClr val="F4736A"/>
            </a:solidFill>
            <a:prstDash val="solid"/>
          </a:ln>
        </p:spPr>
      </p:sp>
      <p:sp>
        <p:nvSpPr>
          <p:cNvPr id="24" name="Text 22"/>
          <p:cNvSpPr/>
          <p:nvPr/>
        </p:nvSpPr>
        <p:spPr>
          <a:xfrm>
            <a:off x="6309360" y="39684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Metamorphosis (Plant)</a:t>
            </a:r>
            <a:endParaRPr lang="en-US" sz="900" dirty="0"/>
          </a:p>
        </p:txBody>
      </p:sp>
      <p:sp>
        <p:nvSpPr>
          <p:cNvPr id="25" name="Text 23"/>
          <p:cNvSpPr/>
          <p:nvPr/>
        </p:nvSpPr>
        <p:spPr>
          <a:xfrm>
            <a:off x="6309360" y="4352544"/>
            <a:ext cx="5120640" cy="11887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Seed → Sprout → Plant → Flowers → Seeds</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Diagram: Complete vs. Incomplete Metamorphosis</a:t>
            </a:r>
            <a:endParaRPr lang="en-US" sz="1600" dirty="0"/>
          </a:p>
        </p:txBody>
      </p:sp>
      <p:sp>
        <p:nvSpPr>
          <p:cNvPr id="5" name="Shape 3"/>
          <p:cNvSpPr/>
          <p:nvPr/>
        </p:nvSpPr>
        <p:spPr>
          <a:xfrm>
            <a:off x="365760" y="749808"/>
            <a:ext cx="11247120" cy="4370832"/>
          </a:xfrm>
          <a:prstGeom prst="roundRect">
            <a:avLst>
              <a:gd name="adj" fmla="val 1674"/>
            </a:avLst>
          </a:prstGeom>
          <a:solidFill>
            <a:srgbClr val="0A1520"/>
          </a:solidFill>
          <a:ln w="19050">
            <a:solidFill>
              <a:srgbClr val="4CC9F0"/>
            </a:solidFill>
            <a:prstDash val="dash"/>
          </a:ln>
        </p:spPr>
      </p:sp>
      <p:sp>
        <p:nvSpPr>
          <p:cNvPr id="6" name="Text 4"/>
          <p:cNvSpPr/>
          <p:nvPr/>
        </p:nvSpPr>
        <p:spPr>
          <a:xfrm>
            <a:off x="457200" y="859536"/>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11027664" cy="33192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"complete vs incomplete metamorphosis side by side comparison butterfly grasshopper labeled stages diagram"</a:t>
            </a:r>
            <a:endParaRPr lang="en-US" sz="950" dirty="0"/>
          </a:p>
        </p:txBody>
      </p:sp>
      <p:sp>
        <p:nvSpPr>
          <p:cNvPr id="9" name="Text 7"/>
          <p:cNvSpPr/>
          <p:nvPr/>
        </p:nvSpPr>
        <p:spPr>
          <a:xfrm>
            <a:off x="365760" y="5157216"/>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Same idea, two patterns — complete (4 stages) vs. incomplete (3 stages)</a:t>
            </a:r>
            <a:endParaRPr lang="en-US" sz="900" dirty="0"/>
          </a:p>
        </p:txBody>
      </p:sp>
      <p:sp>
        <p:nvSpPr>
          <p:cNvPr id="10" name="Shape 8"/>
          <p:cNvSpPr/>
          <p:nvPr/>
        </p:nvSpPr>
        <p:spPr>
          <a:xfrm>
            <a:off x="365760" y="5248656"/>
            <a:ext cx="11247120" cy="731520"/>
          </a:xfrm>
          <a:prstGeom prst="roundRect">
            <a:avLst>
              <a:gd name="adj" fmla="val 10000"/>
            </a:avLst>
          </a:prstGeom>
          <a:solidFill>
            <a:srgbClr val="162233"/>
          </a:solidFill>
          <a:ln w="12700">
            <a:solidFill>
              <a:srgbClr val="4CC9F0"/>
            </a:solidFill>
            <a:prstDash val="solid"/>
          </a:ln>
        </p:spPr>
      </p:sp>
      <p:sp>
        <p:nvSpPr>
          <p:cNvPr id="11" name="Text 9"/>
          <p:cNvSpPr/>
          <p:nvPr/>
        </p:nvSpPr>
        <p:spPr>
          <a:xfrm>
            <a:off x="548640" y="5321808"/>
            <a:ext cx="10972800" cy="566928"/>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 Observe &amp; Reason: Look at both cycles. What's the biggest difference between how a baby monarch looks vs. a baby grasshopper? What does that tell you about how each one grows?</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Build a Life-Cycle Chart</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Pick two Florida organisms and compare them side by side.</a:t>
            </a:r>
            <a:endParaRPr lang="en-US" sz="1200" dirty="0"/>
          </a:p>
        </p:txBody>
      </p:sp>
      <p:sp>
        <p:nvSpPr>
          <p:cNvPr id="6" name="Shape 4"/>
          <p:cNvSpPr/>
          <p:nvPr/>
        </p:nvSpPr>
        <p:spPr>
          <a:xfrm>
            <a:off x="365760" y="1115568"/>
            <a:ext cx="11247120" cy="1234440"/>
          </a:xfrm>
          <a:prstGeom prst="roundRect">
            <a:avLst>
              <a:gd name="adj" fmla="val 5926"/>
            </a:avLst>
          </a:prstGeom>
          <a:solidFill>
            <a:srgbClr val="1E2F45"/>
          </a:solidFill>
          <a:ln w="12700">
            <a:solidFill>
              <a:srgbClr val="2DC653"/>
            </a:solidFill>
            <a:prstDash val="solid"/>
          </a:ln>
        </p:spPr>
      </p:sp>
      <p:sp>
        <p:nvSpPr>
          <p:cNvPr id="7" name="Shape 5"/>
          <p:cNvSpPr/>
          <p:nvPr/>
        </p:nvSpPr>
        <p:spPr>
          <a:xfrm>
            <a:off x="502920" y="1188720"/>
            <a:ext cx="1554480" cy="256032"/>
          </a:xfrm>
          <a:prstGeom prst="roundRect">
            <a:avLst>
              <a:gd name="adj" fmla="val 50000"/>
            </a:avLst>
          </a:prstGeom>
          <a:solidFill>
            <a:srgbClr val="1A8C3A"/>
          </a:solidFill>
          <a:ln w="12700">
            <a:solidFill>
              <a:srgbClr val="1A8C3A"/>
            </a:solidFill>
            <a:prstDash val="solid"/>
          </a:ln>
        </p:spPr>
      </p:sp>
      <p:sp>
        <p:nvSpPr>
          <p:cNvPr id="8" name="Text 6"/>
          <p:cNvSpPr/>
          <p:nvPr/>
        </p:nvSpPr>
        <p:spPr>
          <a:xfrm>
            <a:off x="502920" y="11887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40280" y="1188720"/>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Pick your two organisms</a:t>
            </a:r>
            <a:endParaRPr lang="en-US" sz="1300" dirty="0"/>
          </a:p>
        </p:txBody>
      </p:sp>
      <p:sp>
        <p:nvSpPr>
          <p:cNvPr id="10" name="Text 8"/>
          <p:cNvSpPr/>
          <p:nvPr/>
        </p:nvSpPr>
        <p:spPr>
          <a:xfrm>
            <a:off x="2240280" y="1554480"/>
            <a:ext cx="9144000" cy="69494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Choose ONE with metamorphosis (monarch, dragonfly, mosquito) and ONE without (gopher tortoise, alligator, mockingbird).</a:t>
            </a:r>
            <a:endParaRPr lang="en-US" sz="1150" dirty="0"/>
          </a:p>
        </p:txBody>
      </p:sp>
      <p:sp>
        <p:nvSpPr>
          <p:cNvPr id="11" name="Shape 9"/>
          <p:cNvSpPr/>
          <p:nvPr/>
        </p:nvSpPr>
        <p:spPr>
          <a:xfrm>
            <a:off x="365760" y="2468880"/>
            <a:ext cx="11247120" cy="1234440"/>
          </a:xfrm>
          <a:prstGeom prst="roundRect">
            <a:avLst>
              <a:gd name="adj" fmla="val 5926"/>
            </a:avLst>
          </a:prstGeom>
          <a:solidFill>
            <a:srgbClr val="1E2F45"/>
          </a:solidFill>
          <a:ln w="12700">
            <a:solidFill>
              <a:srgbClr val="2DC653"/>
            </a:solidFill>
            <a:prstDash val="solid"/>
          </a:ln>
        </p:spPr>
      </p:sp>
      <p:sp>
        <p:nvSpPr>
          <p:cNvPr id="12" name="Shape 10"/>
          <p:cNvSpPr/>
          <p:nvPr/>
        </p:nvSpPr>
        <p:spPr>
          <a:xfrm>
            <a:off x="502920" y="2542032"/>
            <a:ext cx="1554480" cy="256032"/>
          </a:xfrm>
          <a:prstGeom prst="roundRect">
            <a:avLst>
              <a:gd name="adj" fmla="val 50000"/>
            </a:avLst>
          </a:prstGeom>
          <a:solidFill>
            <a:srgbClr val="1A8C3A"/>
          </a:solidFill>
          <a:ln w="12700">
            <a:solidFill>
              <a:srgbClr val="1A8C3A"/>
            </a:solidFill>
            <a:prstDash val="solid"/>
          </a:ln>
        </p:spPr>
      </p:sp>
      <p:sp>
        <p:nvSpPr>
          <p:cNvPr id="13" name="Text 11"/>
          <p:cNvSpPr/>
          <p:nvPr/>
        </p:nvSpPr>
        <p:spPr>
          <a:xfrm>
            <a:off x="502920" y="25420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240280" y="2542032"/>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the stages</a:t>
            </a:r>
            <a:endParaRPr lang="en-US" sz="1300" dirty="0"/>
          </a:p>
        </p:txBody>
      </p:sp>
      <p:sp>
        <p:nvSpPr>
          <p:cNvPr id="15" name="Text 13"/>
          <p:cNvSpPr/>
          <p:nvPr/>
        </p:nvSpPr>
        <p:spPr>
          <a:xfrm>
            <a:off x="2240280" y="2907792"/>
            <a:ext cx="9144000" cy="69494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Under each name, list the stages in order. Use arrows or numbers. Don't skip the egg/seed stage.</a:t>
            </a:r>
            <a:endParaRPr lang="en-US" sz="1150" dirty="0"/>
          </a:p>
        </p:txBody>
      </p:sp>
      <p:sp>
        <p:nvSpPr>
          <p:cNvPr id="16" name="Shape 14"/>
          <p:cNvSpPr/>
          <p:nvPr/>
        </p:nvSpPr>
        <p:spPr>
          <a:xfrm>
            <a:off x="365760" y="3822192"/>
            <a:ext cx="11247120" cy="1234440"/>
          </a:xfrm>
          <a:prstGeom prst="roundRect">
            <a:avLst>
              <a:gd name="adj" fmla="val 5926"/>
            </a:avLst>
          </a:prstGeom>
          <a:solidFill>
            <a:srgbClr val="1E2F45"/>
          </a:solidFill>
          <a:ln w="12700">
            <a:solidFill>
              <a:srgbClr val="2DC653"/>
            </a:solidFill>
            <a:prstDash val="solid"/>
          </a:ln>
        </p:spPr>
      </p:sp>
      <p:sp>
        <p:nvSpPr>
          <p:cNvPr id="17" name="Shape 15"/>
          <p:cNvSpPr/>
          <p:nvPr/>
        </p:nvSpPr>
        <p:spPr>
          <a:xfrm>
            <a:off x="502920" y="3895344"/>
            <a:ext cx="1554480" cy="256032"/>
          </a:xfrm>
          <a:prstGeom prst="roundRect">
            <a:avLst>
              <a:gd name="adj" fmla="val 50000"/>
            </a:avLst>
          </a:prstGeom>
          <a:solidFill>
            <a:srgbClr val="1A8C3A"/>
          </a:solidFill>
          <a:ln w="12700">
            <a:solidFill>
              <a:srgbClr val="1A8C3A"/>
            </a:solidFill>
            <a:prstDash val="solid"/>
          </a:ln>
        </p:spPr>
      </p:sp>
      <p:sp>
        <p:nvSpPr>
          <p:cNvPr id="18" name="Text 16"/>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2240280" y="3895344"/>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Mark complete vs. incomplete</a:t>
            </a:r>
            <a:endParaRPr lang="en-US" sz="1300" dirty="0"/>
          </a:p>
        </p:txBody>
      </p:sp>
      <p:sp>
        <p:nvSpPr>
          <p:cNvPr id="20" name="Text 18"/>
          <p:cNvSpPr/>
          <p:nvPr/>
        </p:nvSpPr>
        <p:spPr>
          <a:xfrm>
            <a:off x="2240280" y="4261104"/>
            <a:ext cx="9144000" cy="69494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the type: complete metamorphosis, incomplete metamorphosis, or no metamorphosis. Use evidence from the stages you listed.</a:t>
            </a:r>
            <a:endParaRPr lang="en-US" sz="1150" dirty="0"/>
          </a:p>
        </p:txBody>
      </p:sp>
      <p:sp>
        <p:nvSpPr>
          <p:cNvPr id="21" name="Shape 19"/>
          <p:cNvSpPr/>
          <p:nvPr/>
        </p:nvSpPr>
        <p:spPr>
          <a:xfrm>
            <a:off x="365760" y="5175504"/>
            <a:ext cx="11247120" cy="1234440"/>
          </a:xfrm>
          <a:prstGeom prst="roundRect">
            <a:avLst>
              <a:gd name="adj" fmla="val 5926"/>
            </a:avLst>
          </a:prstGeom>
          <a:solidFill>
            <a:srgbClr val="1E2F45"/>
          </a:solidFill>
          <a:ln w="12700">
            <a:solidFill>
              <a:srgbClr val="2DC653"/>
            </a:solidFill>
            <a:prstDash val="solid"/>
          </a:ln>
        </p:spPr>
      </p:sp>
      <p:sp>
        <p:nvSpPr>
          <p:cNvPr id="22" name="Shape 20"/>
          <p:cNvSpPr/>
          <p:nvPr/>
        </p:nvSpPr>
        <p:spPr>
          <a:xfrm>
            <a:off x="502920" y="5248656"/>
            <a:ext cx="1554480" cy="256032"/>
          </a:xfrm>
          <a:prstGeom prst="roundRect">
            <a:avLst>
              <a:gd name="adj" fmla="val 50000"/>
            </a:avLst>
          </a:prstGeom>
          <a:solidFill>
            <a:srgbClr val="1A8C3A"/>
          </a:solidFill>
          <a:ln w="12700">
            <a:solidFill>
              <a:srgbClr val="1A8C3A"/>
            </a:solidFill>
            <a:prstDash val="solid"/>
          </a:ln>
        </p:spPr>
      </p:sp>
      <p:sp>
        <p:nvSpPr>
          <p:cNvPr id="23" name="Text 21"/>
          <p:cNvSpPr/>
          <p:nvPr/>
        </p:nvSpPr>
        <p:spPr>
          <a:xfrm>
            <a:off x="502920" y="524865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240280" y="5248656"/>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Compare with evidence</a:t>
            </a:r>
            <a:endParaRPr lang="en-US" sz="1300" dirty="0"/>
          </a:p>
        </p:txBody>
      </p:sp>
      <p:sp>
        <p:nvSpPr>
          <p:cNvPr id="25" name="Text 23"/>
          <p:cNvSpPr/>
          <p:nvPr/>
        </p:nvSpPr>
        <p:spPr>
          <a:xfrm>
            <a:off x="2240280" y="5614416"/>
            <a:ext cx="9144000" cy="69494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2 sentences: (1) 'These life cycles are alike because…' and (2) 'These life cycles are different because…' Use evidence from your stage lists.</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Mind-Blow: What Actually Happens Inside a Chrysalis?</a:t>
            </a:r>
            <a:endParaRPr lang="en-US" sz="1600" dirty="0"/>
          </a:p>
        </p:txBody>
      </p:sp>
      <p:sp>
        <p:nvSpPr>
          <p:cNvPr id="5" name="Shape 3"/>
          <p:cNvSpPr/>
          <p:nvPr/>
        </p:nvSpPr>
        <p:spPr>
          <a:xfrm>
            <a:off x="365760" y="749808"/>
            <a:ext cx="11247120" cy="2176272"/>
          </a:xfrm>
          <a:prstGeom prst="roundRect">
            <a:avLst>
              <a:gd name="adj" fmla="val 3361"/>
            </a:avLst>
          </a:prstGeom>
          <a:solidFill>
            <a:srgbClr val="1A0A05"/>
          </a:solidFill>
          <a:ln w="12700">
            <a:solidFill>
              <a:srgbClr val="F4736A"/>
            </a:solidFill>
            <a:prstDash val="solid"/>
          </a:ln>
        </p:spPr>
      </p:sp>
      <p:sp>
        <p:nvSpPr>
          <p:cNvPr id="6" name="Text 4"/>
          <p:cNvSpPr/>
          <p:nvPr/>
        </p:nvSpPr>
        <p:spPr>
          <a:xfrm>
            <a:off x="548640" y="822960"/>
            <a:ext cx="10972800" cy="438912"/>
          </a:xfrm>
          <a:prstGeom prst="rect">
            <a:avLst/>
          </a:prstGeom>
          <a:noFill/>
          <a:ln/>
        </p:spPr>
        <p:txBody>
          <a:bodyPr wrap="square" rtlCol="0" anchor="ctr"/>
          <a:lstStyle/>
          <a:p>
            <a:pPr indent="0" marL="0">
              <a:buNone/>
            </a:pPr>
            <a:r>
              <a:rPr lang="en-US" sz="1600" b="1" dirty="0">
                <a:solidFill>
                  <a:srgbClr val="F4736A"/>
                </a:solidFill>
                <a:latin typeface="Calibri" pitchFamily="34" charset="0"/>
                <a:ea typeface="Calibri" pitchFamily="34" charset="-122"/>
                <a:cs typeface="Calibri" pitchFamily="34" charset="-120"/>
              </a:rPr>
              <a:t>🧬 The monarch caterpillar literally turns into LIQUID inside the chrysalis.</a:t>
            </a:r>
            <a:endParaRPr lang="en-US" sz="1600" dirty="0"/>
          </a:p>
        </p:txBody>
      </p:sp>
      <p:sp>
        <p:nvSpPr>
          <p:cNvPr id="7" name="Text 5"/>
          <p:cNvSpPr/>
          <p:nvPr/>
        </p:nvSpPr>
        <p:spPr>
          <a:xfrm>
            <a:off x="548640" y="1298448"/>
            <a:ext cx="10972800" cy="148132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body parts you see in the adult butterfly are NOT the same parts the caterpillar had — they're completely newly grown. The chrysalis is not a resting stage: it's a total body reconstruction from the inside out.</a:t>
            </a:r>
            <a:endParaRPr lang="en-US" sz="1300" dirty="0"/>
          </a:p>
        </p:txBody>
      </p:sp>
      <p:sp>
        <p:nvSpPr>
          <p:cNvPr id="8" name="Shape 6"/>
          <p:cNvSpPr/>
          <p:nvPr/>
        </p:nvSpPr>
        <p:spPr>
          <a:xfrm>
            <a:off x="365760" y="3090672"/>
            <a:ext cx="5394960" cy="2542032"/>
          </a:xfrm>
          <a:prstGeom prst="roundRect">
            <a:avLst>
              <a:gd name="adj" fmla="val 2878"/>
            </a:avLst>
          </a:prstGeom>
          <a:solidFill>
            <a:srgbClr val="1E2F45"/>
          </a:solidFill>
          <a:ln w="12700">
            <a:solidFill>
              <a:srgbClr val="FFB703"/>
            </a:solidFill>
            <a:prstDash val="solid"/>
          </a:ln>
        </p:spPr>
      </p:sp>
      <p:sp>
        <p:nvSpPr>
          <p:cNvPr id="9" name="Text 7"/>
          <p:cNvSpPr/>
          <p:nvPr/>
        </p:nvSpPr>
        <p:spPr>
          <a:xfrm>
            <a:off x="548640" y="3163824"/>
            <a:ext cx="50292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Why do mosquitoes have such FAST life cycles?</a:t>
            </a:r>
            <a:endParaRPr lang="en-US" sz="1200" dirty="0"/>
          </a:p>
        </p:txBody>
      </p:sp>
      <p:sp>
        <p:nvSpPr>
          <p:cNvPr id="10" name="Text 8"/>
          <p:cNvSpPr/>
          <p:nvPr/>
        </p:nvSpPr>
        <p:spPr>
          <a:xfrm>
            <a:off x="548640" y="3547872"/>
            <a:ext cx="5029200" cy="195681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Florida mosquito can go from egg to adult in about ONE WEEK. Fast cycles = millions of new mosquitoes quickly. They can respond to good conditions (warm, wet) before those conditions change.</a:t>
            </a:r>
            <a:endParaRPr lang="en-US" sz="1150" dirty="0"/>
          </a:p>
        </p:txBody>
      </p:sp>
      <p:sp>
        <p:nvSpPr>
          <p:cNvPr id="11" name="Shape 9"/>
          <p:cNvSpPr/>
          <p:nvPr/>
        </p:nvSpPr>
        <p:spPr>
          <a:xfrm>
            <a:off x="6035040" y="3090672"/>
            <a:ext cx="5394960" cy="2542032"/>
          </a:xfrm>
          <a:prstGeom prst="roundRect">
            <a:avLst>
              <a:gd name="adj" fmla="val 2878"/>
            </a:avLst>
          </a:prstGeom>
          <a:solidFill>
            <a:srgbClr val="1E2F45"/>
          </a:solidFill>
          <a:ln w="12700">
            <a:solidFill>
              <a:srgbClr val="2DC653"/>
            </a:solidFill>
            <a:prstDash val="solid"/>
          </a:ln>
        </p:spPr>
      </p:sp>
      <p:sp>
        <p:nvSpPr>
          <p:cNvPr id="12" name="Text 10"/>
          <p:cNvSpPr/>
          <p:nvPr/>
        </p:nvSpPr>
        <p:spPr>
          <a:xfrm>
            <a:off x="6217920" y="3163824"/>
            <a:ext cx="50292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Why do bald eagles have such SLOW life cycles?</a:t>
            </a:r>
            <a:endParaRPr lang="en-US" sz="1200" dirty="0"/>
          </a:p>
        </p:txBody>
      </p:sp>
      <p:sp>
        <p:nvSpPr>
          <p:cNvPr id="13" name="Text 11"/>
          <p:cNvSpPr/>
          <p:nvPr/>
        </p:nvSpPr>
        <p:spPr>
          <a:xfrm>
            <a:off x="6217920" y="3547872"/>
            <a:ext cx="5029200" cy="195681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Florida bald eagle takes 4-5 years to be ready to raise offspring. Slower cycles give larger animals time to grow strong, learn survival skills, and find a mate before raising young.</a:t>
            </a:r>
            <a:endParaRPr lang="en-US" sz="11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Teacher Models First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Why do caterpillars and butterflies look so different if they're the same animal?</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Caterpillars and butterflies are the same animal at different stages of a complete metamorphosis life cycle.</a:t>
            </a:r>
            <a:endParaRPr lang="en-US" sz="120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The lesson shows a monarch's 4 stages: egg → caterpillar → chrysalis → adult butterfly. The caterpillar (larva) stage and the adult stage are part of the same continuous life cycle.</a:t>
            </a:r>
            <a:endParaRPr lang="en-US" sz="120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Complete metamorphosis involves 4 very different stages — the larva stage is specialized for eating and growing, while the adult stage is specialized for flying and reproducing. They look different because they do different jobs.</a:t>
            </a:r>
            <a:endParaRPr lang="en-US" sz="1100" dirty="0"/>
          </a:p>
        </p:txBody>
      </p:sp>
      <p:sp>
        <p:nvSpPr>
          <p:cNvPr id="19" name="Shape 17"/>
          <p:cNvSpPr/>
          <p:nvPr/>
        </p:nvSpPr>
        <p:spPr>
          <a:xfrm>
            <a:off x="365760" y="5248656"/>
            <a:ext cx="11247120" cy="658368"/>
          </a:xfrm>
          <a:prstGeom prst="roundRect">
            <a:avLst>
              <a:gd name="adj" fmla="val 11111"/>
            </a:avLst>
          </a:prstGeom>
          <a:solidFill>
            <a:srgbClr val="162233"/>
          </a:solidFill>
          <a:ln w="12700">
            <a:solidFill>
              <a:srgbClr val="4CC9F0"/>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Watch how I fill in each panel. Notice how the reasoning EXPLAINS why the evidence supports the claim — it's the 'connecting' thinking.</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Your Turn (Independent)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Why doesn't a Florida bear cub go through metamorphosis the way a monarch does?</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Write your claim here — one sentence that answers the question directly.</a:t>
            </a:r>
            <a:endParaRPr lang="en-US" sz="120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Write specific information from the lesson — refer to what you learned about metamorphosis and mammals.</a:t>
            </a:r>
            <a:endParaRPr lang="en-US" sz="120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Explain WHY your evidence proves your claim. What is it about mammals vs. insects that explains the difference?</a:t>
            </a:r>
            <a:endParaRPr lang="en-US" sz="1100" dirty="0"/>
          </a:p>
        </p:txBody>
      </p:sp>
      <p:sp>
        <p:nvSpPr>
          <p:cNvPr id="19" name="Shape 17"/>
          <p:cNvSpPr/>
          <p:nvPr/>
        </p:nvSpPr>
        <p:spPr>
          <a:xfrm>
            <a:off x="365760" y="5248656"/>
            <a:ext cx="1124712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Hint: Think about what you learned about complete metamorphosis, incomplete metamorphosis, and NO metamorphosis. Which group do bears belong to?</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Discuss Together</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These are the same questions from your Canvas lesson. Discuss each one before revealing.</a:t>
            </a:r>
            <a:endParaRPr lang="en-US" sz="1200" dirty="0"/>
          </a:p>
        </p:txBody>
      </p:sp>
      <p:sp>
        <p:nvSpPr>
          <p:cNvPr id="6" name="Shape 4"/>
          <p:cNvSpPr/>
          <p:nvPr/>
        </p:nvSpPr>
        <p:spPr>
          <a:xfrm>
            <a:off x="365760" y="1097280"/>
            <a:ext cx="11247120" cy="1627632"/>
          </a:xfrm>
          <a:prstGeom prst="roundRect">
            <a:avLst>
              <a:gd name="adj" fmla="val 4494"/>
            </a:avLst>
          </a:prstGeom>
          <a:solidFill>
            <a:srgbClr val="1E2F45"/>
          </a:solidFill>
          <a:ln w="12700">
            <a:solidFill>
              <a:srgbClr val="4CC9F0"/>
            </a:solidFill>
            <a:prstDash val="solid"/>
          </a:ln>
        </p:spPr>
      </p:sp>
      <p:sp>
        <p:nvSpPr>
          <p:cNvPr id="7" name="Text 5"/>
          <p:cNvSpPr/>
          <p:nvPr/>
        </p:nvSpPr>
        <p:spPr>
          <a:xfrm>
            <a:off x="548640" y="1170432"/>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Put a monarch's life cycle in order.</a:t>
            </a:r>
            <a:endParaRPr lang="en-US" sz="1200" dirty="0"/>
          </a:p>
        </p:txBody>
      </p:sp>
      <p:sp>
        <p:nvSpPr>
          <p:cNvPr id="8" name="Text 6"/>
          <p:cNvSpPr/>
          <p:nvPr/>
        </p:nvSpPr>
        <p:spPr>
          <a:xfrm>
            <a:off x="731520" y="1536192"/>
            <a:ext cx="10789920" cy="2743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A) Caterpillar → egg → butterfly → chrysalis</a:t>
            </a:r>
            <a:endParaRPr lang="en-US" sz="1050" dirty="0"/>
          </a:p>
        </p:txBody>
      </p:sp>
      <p:sp>
        <p:nvSpPr>
          <p:cNvPr id="9" name="Text 7"/>
          <p:cNvSpPr/>
          <p:nvPr/>
        </p:nvSpPr>
        <p:spPr>
          <a:xfrm>
            <a:off x="731520" y="1837944"/>
            <a:ext cx="10789920" cy="2743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B) Egg → caterpillar → chrysalis → adult butterfly ✅</a:t>
            </a:r>
            <a:endParaRPr lang="en-US" sz="1050" dirty="0"/>
          </a:p>
        </p:txBody>
      </p:sp>
      <p:sp>
        <p:nvSpPr>
          <p:cNvPr id="10" name="Text 8"/>
          <p:cNvSpPr/>
          <p:nvPr/>
        </p:nvSpPr>
        <p:spPr>
          <a:xfrm>
            <a:off x="731520" y="2139696"/>
            <a:ext cx="10789920" cy="2743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C) Adult → chrysalis → egg → caterpillar</a:t>
            </a:r>
            <a:endParaRPr lang="en-US" sz="1050" dirty="0"/>
          </a:p>
        </p:txBody>
      </p:sp>
      <p:sp>
        <p:nvSpPr>
          <p:cNvPr id="11" name="Shape 9"/>
          <p:cNvSpPr/>
          <p:nvPr/>
        </p:nvSpPr>
        <p:spPr>
          <a:xfrm>
            <a:off x="365760" y="2852928"/>
            <a:ext cx="11247120" cy="1627632"/>
          </a:xfrm>
          <a:prstGeom prst="roundRect">
            <a:avLst>
              <a:gd name="adj" fmla="val 4494"/>
            </a:avLst>
          </a:prstGeom>
          <a:solidFill>
            <a:srgbClr val="1E2F45"/>
          </a:solidFill>
          <a:ln w="12700">
            <a:solidFill>
              <a:srgbClr val="4CC9F0"/>
            </a:solidFill>
            <a:prstDash val="solid"/>
          </a:ln>
        </p:spPr>
      </p:sp>
      <p:sp>
        <p:nvSpPr>
          <p:cNvPr id="12" name="Text 10"/>
          <p:cNvSpPr/>
          <p:nvPr/>
        </p:nvSpPr>
        <p:spPr>
          <a:xfrm>
            <a:off x="548640" y="2926080"/>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Q2: Biggest difference between complete and incomplete metamorphosis?</a:t>
            </a:r>
            <a:endParaRPr lang="en-US" sz="1200" dirty="0"/>
          </a:p>
        </p:txBody>
      </p:sp>
      <p:sp>
        <p:nvSpPr>
          <p:cNvPr id="13" name="Text 11"/>
          <p:cNvSpPr/>
          <p:nvPr/>
        </p:nvSpPr>
        <p:spPr>
          <a:xfrm>
            <a:off x="731520" y="3291840"/>
            <a:ext cx="10789920" cy="2743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A) Complete has a pupa/chrysalis stage; incomplete does not ✅</a:t>
            </a:r>
            <a:endParaRPr lang="en-US" sz="1050" dirty="0"/>
          </a:p>
        </p:txBody>
      </p:sp>
      <p:sp>
        <p:nvSpPr>
          <p:cNvPr id="14" name="Text 12"/>
          <p:cNvSpPr/>
          <p:nvPr/>
        </p:nvSpPr>
        <p:spPr>
          <a:xfrm>
            <a:off x="731520" y="3593592"/>
            <a:ext cx="10789920" cy="2743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B) Incomplete has more stages</a:t>
            </a:r>
            <a:endParaRPr lang="en-US" sz="1050" dirty="0"/>
          </a:p>
        </p:txBody>
      </p:sp>
      <p:sp>
        <p:nvSpPr>
          <p:cNvPr id="15" name="Text 13"/>
          <p:cNvSpPr/>
          <p:nvPr/>
        </p:nvSpPr>
        <p:spPr>
          <a:xfrm>
            <a:off x="731520" y="3895344"/>
            <a:ext cx="10789920" cy="2743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C) Only complete starts with an egg</a:t>
            </a:r>
            <a:endParaRPr lang="en-US" sz="1050" dirty="0"/>
          </a:p>
        </p:txBody>
      </p:sp>
      <p:sp>
        <p:nvSpPr>
          <p:cNvPr id="16" name="Shape 14"/>
          <p:cNvSpPr/>
          <p:nvPr/>
        </p:nvSpPr>
        <p:spPr>
          <a:xfrm>
            <a:off x="365760" y="4608576"/>
            <a:ext cx="11247120" cy="1627632"/>
          </a:xfrm>
          <a:prstGeom prst="roundRect">
            <a:avLst>
              <a:gd name="adj" fmla="val 4494"/>
            </a:avLst>
          </a:prstGeom>
          <a:solidFill>
            <a:srgbClr val="1E2F45"/>
          </a:solidFill>
          <a:ln w="12700">
            <a:solidFill>
              <a:srgbClr val="4CC9F0"/>
            </a:solidFill>
            <a:prstDash val="solid"/>
          </a:ln>
        </p:spPr>
      </p:sp>
      <p:sp>
        <p:nvSpPr>
          <p:cNvPr id="17" name="Text 15"/>
          <p:cNvSpPr/>
          <p:nvPr/>
        </p:nvSpPr>
        <p:spPr>
          <a:xfrm>
            <a:off x="548640" y="4681728"/>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Q3: Bear cub looks like a tiny bear. Monarch caterpillar looks nothing like a butterfly. Why?</a:t>
            </a:r>
            <a:endParaRPr lang="en-US" sz="1200" dirty="0"/>
          </a:p>
        </p:txBody>
      </p:sp>
      <p:sp>
        <p:nvSpPr>
          <p:cNvPr id="18" name="Text 16"/>
          <p:cNvSpPr/>
          <p:nvPr/>
        </p:nvSpPr>
        <p:spPr>
          <a:xfrm>
            <a:off x="731520" y="5047488"/>
            <a:ext cx="10789920" cy="2743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A) The bear is invasive</a:t>
            </a:r>
            <a:endParaRPr lang="en-US" sz="1050" dirty="0"/>
          </a:p>
        </p:txBody>
      </p:sp>
      <p:sp>
        <p:nvSpPr>
          <p:cNvPr id="19" name="Text 17"/>
          <p:cNvSpPr/>
          <p:nvPr/>
        </p:nvSpPr>
        <p:spPr>
          <a:xfrm>
            <a:off x="731520" y="5349240"/>
            <a:ext cx="10789920" cy="2743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B) The bear is younger</a:t>
            </a:r>
            <a:endParaRPr lang="en-US" sz="1050" dirty="0"/>
          </a:p>
        </p:txBody>
      </p:sp>
      <p:sp>
        <p:nvSpPr>
          <p:cNvPr id="20" name="Text 18"/>
          <p:cNvSpPr/>
          <p:nvPr/>
        </p:nvSpPr>
        <p:spPr>
          <a:xfrm>
            <a:off x="731520" y="5650992"/>
            <a:ext cx="10789920" cy="274320"/>
          </a:xfrm>
          <a:prstGeom prst="rect">
            <a:avLst/>
          </a:prstGeom>
          <a:noFill/>
          <a:ln/>
        </p:spPr>
        <p:txBody>
          <a:bodyPr wrap="square" rtlCol="0" anchor="ctr"/>
          <a:lstStyle/>
          <a:p>
            <a:pPr indent="0" marL="0">
              <a:buNone/>
            </a:pPr>
            <a:r>
              <a:rPr lang="en-US" sz="1050" dirty="0">
                <a:solidFill>
                  <a:srgbClr val="2DC653"/>
                </a:solidFill>
                <a:latin typeface="Calibri" pitchFamily="34" charset="0"/>
                <a:ea typeface="Calibri" pitchFamily="34" charset="-122"/>
                <a:cs typeface="Calibri" pitchFamily="34" charset="-120"/>
              </a:rPr>
              <a:t>C) Mammals don't go through metamorphosis; butterflies do ✅</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What to Turn In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You've already practiced everything in this assignment today!</a:t>
            </a:r>
            <a:endParaRPr lang="en-US" sz="1200" dirty="0"/>
          </a:p>
        </p:txBody>
      </p:sp>
      <p:sp>
        <p:nvSpPr>
          <p:cNvPr id="6" name="Shape 4"/>
          <p:cNvSpPr/>
          <p:nvPr/>
        </p:nvSpPr>
        <p:spPr>
          <a:xfrm>
            <a:off x="365760" y="1115568"/>
            <a:ext cx="11247120" cy="1207008"/>
          </a:xfrm>
          <a:prstGeom prst="roundRect">
            <a:avLst>
              <a:gd name="adj" fmla="val 6061"/>
            </a:avLst>
          </a:prstGeom>
          <a:solidFill>
            <a:srgbClr val="1E2F45"/>
          </a:solidFill>
          <a:ln w="12700">
            <a:solidFill>
              <a:srgbClr val="FFB703"/>
            </a:solidFill>
            <a:prstDash val="solid"/>
          </a:ln>
        </p:spPr>
      </p:sp>
      <p:sp>
        <p:nvSpPr>
          <p:cNvPr id="7" name="Shape 5"/>
          <p:cNvSpPr/>
          <p:nvPr/>
        </p:nvSpPr>
        <p:spPr>
          <a:xfrm>
            <a:off x="502920" y="1225296"/>
            <a:ext cx="1554480" cy="256032"/>
          </a:xfrm>
          <a:prstGeom prst="roundRect">
            <a:avLst>
              <a:gd name="adj" fmla="val 50000"/>
            </a:avLst>
          </a:prstGeom>
          <a:solidFill>
            <a:srgbClr val="E09200"/>
          </a:solidFill>
          <a:ln w="12700">
            <a:solidFill>
              <a:srgbClr val="E09200"/>
            </a:solidFill>
            <a:prstDash val="solid"/>
          </a:ln>
        </p:spPr>
      </p:sp>
      <p:sp>
        <p:nvSpPr>
          <p:cNvPr id="8" name="Text 6"/>
          <p:cNvSpPr/>
          <p:nvPr/>
        </p:nvSpPr>
        <p:spPr>
          <a:xfrm>
            <a:off x="50292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 Match the Word</a:t>
            </a:r>
            <a:endParaRPr lang="en-US" sz="900" dirty="0"/>
          </a:p>
        </p:txBody>
      </p:sp>
      <p:sp>
        <p:nvSpPr>
          <p:cNvPr id="9" name="Text 7"/>
          <p:cNvSpPr/>
          <p:nvPr/>
        </p:nvSpPr>
        <p:spPr>
          <a:xfrm>
            <a:off x="2240280" y="1225296"/>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Fill in 4 blanks: Life cycle, Metamorphosis, Stage, Offspring</a:t>
            </a:r>
            <a:endParaRPr lang="en-US" sz="1200" dirty="0"/>
          </a:p>
        </p:txBody>
      </p:sp>
      <p:sp>
        <p:nvSpPr>
          <p:cNvPr id="10" name="Shape 8"/>
          <p:cNvSpPr/>
          <p:nvPr/>
        </p:nvSpPr>
        <p:spPr>
          <a:xfrm>
            <a:off x="9784080" y="1225296"/>
            <a:ext cx="1554480" cy="256032"/>
          </a:xfrm>
          <a:prstGeom prst="roundRect">
            <a:avLst>
              <a:gd name="adj" fmla="val 50000"/>
            </a:avLst>
          </a:prstGeom>
          <a:solidFill>
            <a:srgbClr val="243A52"/>
          </a:solidFill>
          <a:ln w="12700">
            <a:solidFill>
              <a:srgbClr val="243A52"/>
            </a:solidFill>
            <a:prstDash val="solid"/>
          </a:ln>
        </p:spPr>
      </p:sp>
      <p:sp>
        <p:nvSpPr>
          <p:cNvPr id="11" name="Text 9"/>
          <p:cNvSpPr/>
          <p:nvPr/>
        </p:nvSpPr>
        <p:spPr>
          <a:xfrm>
            <a:off x="978408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4-5</a:t>
            </a:r>
            <a:endParaRPr lang="en-US" sz="900" dirty="0"/>
          </a:p>
        </p:txBody>
      </p:sp>
      <p:sp>
        <p:nvSpPr>
          <p:cNvPr id="12" name="Shape 10"/>
          <p:cNvSpPr/>
          <p:nvPr/>
        </p:nvSpPr>
        <p:spPr>
          <a:xfrm>
            <a:off x="365760" y="2450592"/>
            <a:ext cx="11247120" cy="1207008"/>
          </a:xfrm>
          <a:prstGeom prst="roundRect">
            <a:avLst>
              <a:gd name="adj" fmla="val 6061"/>
            </a:avLst>
          </a:prstGeom>
          <a:solidFill>
            <a:srgbClr val="1E2F45"/>
          </a:solidFill>
          <a:ln w="12700">
            <a:solidFill>
              <a:srgbClr val="FFB703"/>
            </a:solidFill>
            <a:prstDash val="solid"/>
          </a:ln>
        </p:spPr>
      </p:sp>
      <p:sp>
        <p:nvSpPr>
          <p:cNvPr id="13" name="Shape 11"/>
          <p:cNvSpPr/>
          <p:nvPr/>
        </p:nvSpPr>
        <p:spPr>
          <a:xfrm>
            <a:off x="502920" y="2560320"/>
            <a:ext cx="1554480" cy="256032"/>
          </a:xfrm>
          <a:prstGeom prst="roundRect">
            <a:avLst>
              <a:gd name="adj" fmla="val 50000"/>
            </a:avLst>
          </a:prstGeom>
          <a:solidFill>
            <a:srgbClr val="E09200"/>
          </a:solidFill>
          <a:ln w="12700">
            <a:solidFill>
              <a:srgbClr val="E09200"/>
            </a:solidFill>
            <a:prstDash val="solid"/>
          </a:ln>
        </p:spPr>
      </p:sp>
      <p:sp>
        <p:nvSpPr>
          <p:cNvPr id="14" name="Text 12"/>
          <p:cNvSpPr/>
          <p:nvPr/>
        </p:nvSpPr>
        <p:spPr>
          <a:xfrm>
            <a:off x="50292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 Short Answer (Q5-7)</a:t>
            </a:r>
            <a:endParaRPr lang="en-US" sz="900" dirty="0"/>
          </a:p>
        </p:txBody>
      </p:sp>
      <p:sp>
        <p:nvSpPr>
          <p:cNvPr id="15" name="Text 13"/>
          <p:cNvSpPr/>
          <p:nvPr/>
        </p:nvSpPr>
        <p:spPr>
          <a:xfrm>
            <a:off x="2240280" y="2560320"/>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Pick one organism and list its stages + type; explain complete vs. incomplete; explain why different food at different stages helps survival</a:t>
            </a:r>
            <a:endParaRPr lang="en-US" sz="1200" dirty="0"/>
          </a:p>
        </p:txBody>
      </p:sp>
      <p:sp>
        <p:nvSpPr>
          <p:cNvPr id="16" name="Shape 14"/>
          <p:cNvSpPr/>
          <p:nvPr/>
        </p:nvSpPr>
        <p:spPr>
          <a:xfrm>
            <a:off x="9784080" y="2560320"/>
            <a:ext cx="1554480" cy="256032"/>
          </a:xfrm>
          <a:prstGeom prst="roundRect">
            <a:avLst>
              <a:gd name="adj" fmla="val 50000"/>
            </a:avLst>
          </a:prstGeom>
          <a:solidFill>
            <a:srgbClr val="243A52"/>
          </a:solidFill>
          <a:ln w="12700">
            <a:solidFill>
              <a:srgbClr val="243A52"/>
            </a:solidFill>
            <a:prstDash val="solid"/>
          </a:ln>
        </p:spPr>
      </p:sp>
      <p:sp>
        <p:nvSpPr>
          <p:cNvPr id="17" name="Text 15"/>
          <p:cNvSpPr/>
          <p:nvPr/>
        </p:nvSpPr>
        <p:spPr>
          <a:xfrm>
            <a:off x="978408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6-9</a:t>
            </a:r>
            <a:endParaRPr lang="en-US" sz="900" dirty="0"/>
          </a:p>
        </p:txBody>
      </p:sp>
      <p:sp>
        <p:nvSpPr>
          <p:cNvPr id="18" name="Shape 16"/>
          <p:cNvSpPr/>
          <p:nvPr/>
        </p:nvSpPr>
        <p:spPr>
          <a:xfrm>
            <a:off x="365760" y="3785616"/>
            <a:ext cx="11247120" cy="1207008"/>
          </a:xfrm>
          <a:prstGeom prst="roundRect">
            <a:avLst>
              <a:gd name="adj" fmla="val 6061"/>
            </a:avLst>
          </a:prstGeom>
          <a:solidFill>
            <a:srgbClr val="1E2F45"/>
          </a:solidFill>
          <a:ln w="12700">
            <a:solidFill>
              <a:srgbClr val="FFB703"/>
            </a:solidFill>
            <a:prstDash val="solid"/>
          </a:ln>
        </p:spPr>
      </p:sp>
      <p:sp>
        <p:nvSpPr>
          <p:cNvPr id="19" name="Shape 17"/>
          <p:cNvSpPr/>
          <p:nvPr/>
        </p:nvSpPr>
        <p:spPr>
          <a:xfrm>
            <a:off x="502920" y="3895344"/>
            <a:ext cx="1554480" cy="256032"/>
          </a:xfrm>
          <a:prstGeom prst="roundRect">
            <a:avLst>
              <a:gd name="adj" fmla="val 50000"/>
            </a:avLst>
          </a:prstGeom>
          <a:solidFill>
            <a:srgbClr val="E09200"/>
          </a:solidFill>
          <a:ln w="12700">
            <a:solidFill>
              <a:srgbClr val="E09200"/>
            </a:solidFill>
            <a:prstDash val="solid"/>
          </a:ln>
        </p:spPr>
      </p:sp>
      <p:sp>
        <p:nvSpPr>
          <p:cNvPr id="20" name="Text 18"/>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C — Draw a Life Cycle</a:t>
            </a:r>
            <a:endParaRPr lang="en-US" sz="900" dirty="0"/>
          </a:p>
        </p:txBody>
      </p:sp>
      <p:sp>
        <p:nvSpPr>
          <p:cNvPr id="21" name="Text 19"/>
          <p:cNvSpPr/>
          <p:nvPr/>
        </p:nvSpPr>
        <p:spPr>
          <a:xfrm>
            <a:off x="2240280" y="3895344"/>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Draw a Florida organism's life cycle in a circle with arrows, every stage labeled, metamorphosis type explained</a:t>
            </a:r>
            <a:endParaRPr lang="en-US" sz="1200" dirty="0"/>
          </a:p>
        </p:txBody>
      </p:sp>
      <p:sp>
        <p:nvSpPr>
          <p:cNvPr id="22" name="Shape 20"/>
          <p:cNvSpPr/>
          <p:nvPr/>
        </p:nvSpPr>
        <p:spPr>
          <a:xfrm>
            <a:off x="9784080" y="3895344"/>
            <a:ext cx="1554480" cy="256032"/>
          </a:xfrm>
          <a:prstGeom prst="roundRect">
            <a:avLst>
              <a:gd name="adj" fmla="val 50000"/>
            </a:avLst>
          </a:prstGeom>
          <a:solidFill>
            <a:srgbClr val="243A52"/>
          </a:solidFill>
          <a:ln w="12700">
            <a:solidFill>
              <a:srgbClr val="243A52"/>
            </a:solidFill>
            <a:prstDash val="solid"/>
          </a:ln>
        </p:spPr>
      </p:sp>
      <p:sp>
        <p:nvSpPr>
          <p:cNvPr id="23" name="Text 21"/>
          <p:cNvSpPr/>
          <p:nvPr/>
        </p:nvSpPr>
        <p:spPr>
          <a:xfrm>
            <a:off x="978408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7-9</a:t>
            </a:r>
            <a:endParaRPr lang="en-US" sz="900" dirty="0"/>
          </a:p>
        </p:txBody>
      </p:sp>
      <p:sp>
        <p:nvSpPr>
          <p:cNvPr id="24" name="Shape 22"/>
          <p:cNvSpPr/>
          <p:nvPr/>
        </p:nvSpPr>
        <p:spPr>
          <a:xfrm>
            <a:off x="365760" y="5120640"/>
            <a:ext cx="11247120" cy="1207008"/>
          </a:xfrm>
          <a:prstGeom prst="roundRect">
            <a:avLst>
              <a:gd name="adj" fmla="val 6061"/>
            </a:avLst>
          </a:prstGeom>
          <a:solidFill>
            <a:srgbClr val="1E2F45"/>
          </a:solidFill>
          <a:ln w="12700">
            <a:solidFill>
              <a:srgbClr val="FFB703"/>
            </a:solidFill>
            <a:prstDash val="solid"/>
          </a:ln>
        </p:spPr>
      </p:sp>
      <p:sp>
        <p:nvSpPr>
          <p:cNvPr id="25" name="Shape 23"/>
          <p:cNvSpPr/>
          <p:nvPr/>
        </p:nvSpPr>
        <p:spPr>
          <a:xfrm>
            <a:off x="502920" y="5230368"/>
            <a:ext cx="1554480" cy="256032"/>
          </a:xfrm>
          <a:prstGeom prst="roundRect">
            <a:avLst>
              <a:gd name="adj" fmla="val 50000"/>
            </a:avLst>
          </a:prstGeom>
          <a:solidFill>
            <a:srgbClr val="E09200"/>
          </a:solidFill>
          <a:ln w="12700">
            <a:solidFill>
              <a:srgbClr val="E09200"/>
            </a:solidFill>
            <a:prstDash val="solid"/>
          </a:ln>
        </p:spPr>
      </p:sp>
      <p:sp>
        <p:nvSpPr>
          <p:cNvPr id="26" name="Text 24"/>
          <p:cNvSpPr/>
          <p:nvPr/>
        </p:nvSpPr>
        <p:spPr>
          <a:xfrm>
            <a:off x="50292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Evidence Argument</a:t>
            </a:r>
            <a:endParaRPr lang="en-US" sz="900" dirty="0"/>
          </a:p>
        </p:txBody>
      </p:sp>
      <p:sp>
        <p:nvSpPr>
          <p:cNvPr id="27" name="Text 25"/>
          <p:cNvSpPr/>
          <p:nvPr/>
        </p:nvSpPr>
        <p:spPr>
          <a:xfrm>
            <a:off x="2240280" y="5230368"/>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Claim: Is a caterpillar and butterfly the same animal? Use 2 pieces of evidence from the lesson.</a:t>
            </a:r>
            <a:endParaRPr lang="en-US" sz="1200" dirty="0"/>
          </a:p>
        </p:txBody>
      </p:sp>
      <p:sp>
        <p:nvSpPr>
          <p:cNvPr id="28" name="Shape 26"/>
          <p:cNvSpPr/>
          <p:nvPr/>
        </p:nvSpPr>
        <p:spPr>
          <a:xfrm>
            <a:off x="9784080" y="5230368"/>
            <a:ext cx="1554480" cy="256032"/>
          </a:xfrm>
          <a:prstGeom prst="roundRect">
            <a:avLst>
              <a:gd name="adj" fmla="val 50000"/>
            </a:avLst>
          </a:prstGeom>
          <a:solidFill>
            <a:srgbClr val="243A52"/>
          </a:solidFill>
          <a:ln w="12700">
            <a:solidFill>
              <a:srgbClr val="243A52"/>
            </a:solidFill>
            <a:prstDash val="solid"/>
          </a:ln>
        </p:spPr>
      </p:sp>
      <p:sp>
        <p:nvSpPr>
          <p:cNvPr id="29" name="Text 27"/>
          <p:cNvSpPr/>
          <p:nvPr/>
        </p:nvSpPr>
        <p:spPr>
          <a:xfrm>
            <a:off x="978408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12-13</a:t>
            </a:r>
            <a:endParaRPr lang="en-US" sz="9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are the life cycles of Florida plants and animals alike — and how are they different?"</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vocab blanks filled in</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Q5-7 answered in complete sentences using lesson vocabulary</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Florida organism life cycle drawing — circle with arrows, all stages labeled, metamorphosis type explained</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Evidence Argument: Claim + 2 pieces of evidence about caterpillar/butterfly</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14.02 — Model: Interdependence Across Seasons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Florida plants and animals depend on each other AND on the seasons to survive.</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More Florida Life Cycles — Beyond Insects</a:t>
            </a:r>
            <a:endParaRPr lang="en-US" sz="1600" dirty="0"/>
          </a:p>
        </p:txBody>
      </p:sp>
      <p:sp>
        <p:nvSpPr>
          <p:cNvPr id="5" name="Shape 3"/>
          <p:cNvSpPr/>
          <p:nvPr/>
        </p:nvSpPr>
        <p:spPr>
          <a:xfrm>
            <a:off x="365760" y="749808"/>
            <a:ext cx="11247120" cy="749808"/>
          </a:xfrm>
          <a:prstGeom prst="roundRect">
            <a:avLst>
              <a:gd name="adj" fmla="val 9756"/>
            </a:avLst>
          </a:prstGeom>
          <a:solidFill>
            <a:srgbClr val="1E2F45"/>
          </a:solidFill>
          <a:ln w="12700">
            <a:solidFill>
              <a:srgbClr val="4CC9F0"/>
            </a:solidFill>
            <a:prstDash val="solid"/>
          </a:ln>
        </p:spPr>
      </p:sp>
      <p:sp>
        <p:nvSpPr>
          <p:cNvPr id="6" name="Text 4"/>
          <p:cNvSpPr/>
          <p:nvPr/>
        </p:nvSpPr>
        <p:spPr>
          <a:xfrm>
            <a:off x="548640" y="822960"/>
            <a:ext cx="10972800" cy="58521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 all Florida animals change shape. But ALL have a life cycle — start, grow, make offspring.</a:t>
            </a:r>
            <a:endParaRPr lang="en-US" sz="1400" dirty="0"/>
          </a:p>
        </p:txBody>
      </p:sp>
      <p:sp>
        <p:nvSpPr>
          <p:cNvPr id="7" name="Shape 5"/>
          <p:cNvSpPr/>
          <p:nvPr/>
        </p:nvSpPr>
        <p:spPr>
          <a:xfrm>
            <a:off x="365760" y="1627632"/>
            <a:ext cx="5486400" cy="2176272"/>
          </a:xfrm>
          <a:prstGeom prst="roundRect">
            <a:avLst>
              <a:gd name="adj" fmla="val 3361"/>
            </a:avLst>
          </a:prstGeom>
          <a:solidFill>
            <a:srgbClr val="1E2F45"/>
          </a:solidFill>
          <a:ln w="12700">
            <a:solidFill>
              <a:srgbClr val="2DC653"/>
            </a:solidFill>
            <a:prstDash val="solid"/>
          </a:ln>
        </p:spPr>
      </p:sp>
      <p:sp>
        <p:nvSpPr>
          <p:cNvPr id="8" name="Text 6"/>
          <p:cNvSpPr/>
          <p:nvPr/>
        </p:nvSpPr>
        <p:spPr>
          <a:xfrm>
            <a:off x="548640" y="1719072"/>
            <a:ext cx="5120640" cy="36576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Alligator</a:t>
            </a:r>
            <a:endParaRPr lang="en-US" sz="1300" dirty="0"/>
          </a:p>
        </p:txBody>
      </p:sp>
      <p:sp>
        <p:nvSpPr>
          <p:cNvPr id="9" name="Shape 7"/>
          <p:cNvSpPr/>
          <p:nvPr/>
        </p:nvSpPr>
        <p:spPr>
          <a:xfrm>
            <a:off x="548640" y="2139696"/>
            <a:ext cx="1554480" cy="256032"/>
          </a:xfrm>
          <a:prstGeom prst="roundRect">
            <a:avLst>
              <a:gd name="adj" fmla="val 50000"/>
            </a:avLst>
          </a:prstGeom>
          <a:solidFill>
            <a:srgbClr val="2DC653"/>
          </a:solidFill>
          <a:ln w="12700">
            <a:solidFill>
              <a:srgbClr val="2DC653"/>
            </a:solidFill>
            <a:prstDash val="solid"/>
          </a:ln>
        </p:spPr>
      </p:sp>
      <p:sp>
        <p:nvSpPr>
          <p:cNvPr id="10" name="Text 8"/>
          <p:cNvSpPr/>
          <p:nvPr/>
        </p:nvSpPr>
        <p:spPr>
          <a:xfrm>
            <a:off x="548640" y="21396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metamorphosis</a:t>
            </a:r>
            <a:endParaRPr lang="en-US" sz="900" dirty="0"/>
          </a:p>
        </p:txBody>
      </p:sp>
      <p:sp>
        <p:nvSpPr>
          <p:cNvPr id="11" name="Text 9"/>
          <p:cNvSpPr/>
          <p:nvPr/>
        </p:nvSpPr>
        <p:spPr>
          <a:xfrm>
            <a:off x="548640" y="2523744"/>
            <a:ext cx="5120640" cy="402336"/>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Egg → Hatchling → Juvenile → Adult</a:t>
            </a:r>
            <a:endParaRPr lang="en-US" sz="1050" dirty="0"/>
          </a:p>
        </p:txBody>
      </p:sp>
      <p:sp>
        <p:nvSpPr>
          <p:cNvPr id="12" name="Text 10"/>
          <p:cNvSpPr/>
          <p:nvPr/>
        </p:nvSpPr>
        <p:spPr>
          <a:xfrm>
            <a:off x="548640" y="2962656"/>
            <a:ext cx="5120640" cy="71323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Mother protects nest; babies hatch and stay near mother for ~2 years</a:t>
            </a:r>
            <a:endParaRPr lang="en-US" sz="1000" dirty="0"/>
          </a:p>
        </p:txBody>
      </p:sp>
      <p:sp>
        <p:nvSpPr>
          <p:cNvPr id="13" name="Shape 11"/>
          <p:cNvSpPr/>
          <p:nvPr/>
        </p:nvSpPr>
        <p:spPr>
          <a:xfrm>
            <a:off x="6126480" y="1627632"/>
            <a:ext cx="5486400" cy="2176272"/>
          </a:xfrm>
          <a:prstGeom prst="roundRect">
            <a:avLst>
              <a:gd name="adj" fmla="val 3361"/>
            </a:avLst>
          </a:prstGeom>
          <a:solidFill>
            <a:srgbClr val="1E2F45"/>
          </a:solidFill>
          <a:ln w="12700">
            <a:solidFill>
              <a:srgbClr val="4CC9F0"/>
            </a:solidFill>
            <a:prstDash val="solid"/>
          </a:ln>
        </p:spPr>
      </p:sp>
      <p:sp>
        <p:nvSpPr>
          <p:cNvPr id="14" name="Text 12"/>
          <p:cNvSpPr/>
          <p:nvPr/>
        </p:nvSpPr>
        <p:spPr>
          <a:xfrm>
            <a:off x="6309360" y="1719072"/>
            <a:ext cx="5120640" cy="36576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Sea Turtle</a:t>
            </a:r>
            <a:endParaRPr lang="en-US" sz="1300" dirty="0"/>
          </a:p>
        </p:txBody>
      </p:sp>
      <p:sp>
        <p:nvSpPr>
          <p:cNvPr id="15" name="Shape 13"/>
          <p:cNvSpPr/>
          <p:nvPr/>
        </p:nvSpPr>
        <p:spPr>
          <a:xfrm>
            <a:off x="6309360" y="2139696"/>
            <a:ext cx="1554480" cy="256032"/>
          </a:xfrm>
          <a:prstGeom prst="roundRect">
            <a:avLst>
              <a:gd name="adj" fmla="val 50000"/>
            </a:avLst>
          </a:prstGeom>
          <a:solidFill>
            <a:srgbClr val="4CC9F0"/>
          </a:solidFill>
          <a:ln w="12700">
            <a:solidFill>
              <a:srgbClr val="4CC9F0"/>
            </a:solidFill>
            <a:prstDash val="solid"/>
          </a:ln>
        </p:spPr>
      </p:sp>
      <p:sp>
        <p:nvSpPr>
          <p:cNvPr id="16" name="Text 14"/>
          <p:cNvSpPr/>
          <p:nvPr/>
        </p:nvSpPr>
        <p:spPr>
          <a:xfrm>
            <a:off x="6309360" y="21396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metamorphosis</a:t>
            </a:r>
            <a:endParaRPr lang="en-US" sz="900" dirty="0"/>
          </a:p>
        </p:txBody>
      </p:sp>
      <p:sp>
        <p:nvSpPr>
          <p:cNvPr id="17" name="Text 15"/>
          <p:cNvSpPr/>
          <p:nvPr/>
        </p:nvSpPr>
        <p:spPr>
          <a:xfrm>
            <a:off x="6309360" y="2523744"/>
            <a:ext cx="5120640" cy="402336"/>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Egg (on FL beach) → Hatchling → Juvenile (ocean) → Adult → Returns to same beach</a:t>
            </a:r>
            <a:endParaRPr lang="en-US" sz="1050" dirty="0"/>
          </a:p>
        </p:txBody>
      </p:sp>
      <p:sp>
        <p:nvSpPr>
          <p:cNvPr id="18" name="Text 16"/>
          <p:cNvSpPr/>
          <p:nvPr/>
        </p:nvSpPr>
        <p:spPr>
          <a:xfrm>
            <a:off x="6309360" y="2962656"/>
            <a:ext cx="5120640" cy="71323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Takes 30 years to reach adulthood — every adult that returns took decades to get there</a:t>
            </a:r>
            <a:endParaRPr lang="en-US" sz="1000" dirty="0"/>
          </a:p>
        </p:txBody>
      </p:sp>
      <p:sp>
        <p:nvSpPr>
          <p:cNvPr id="19" name="Shape 17"/>
          <p:cNvSpPr/>
          <p:nvPr/>
        </p:nvSpPr>
        <p:spPr>
          <a:xfrm>
            <a:off x="365760" y="3986784"/>
            <a:ext cx="5486400" cy="2176272"/>
          </a:xfrm>
          <a:prstGeom prst="roundRect">
            <a:avLst>
              <a:gd name="adj" fmla="val 3361"/>
            </a:avLst>
          </a:prstGeom>
          <a:solidFill>
            <a:srgbClr val="1E2F45"/>
          </a:solidFill>
          <a:ln w="12700">
            <a:solidFill>
              <a:srgbClr val="FFB703"/>
            </a:solidFill>
            <a:prstDash val="solid"/>
          </a:ln>
        </p:spPr>
      </p:sp>
      <p:sp>
        <p:nvSpPr>
          <p:cNvPr id="20" name="Text 18"/>
          <p:cNvSpPr/>
          <p:nvPr/>
        </p:nvSpPr>
        <p:spPr>
          <a:xfrm>
            <a:off x="548640" y="4078224"/>
            <a:ext cx="5120640" cy="3657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Mosquito</a:t>
            </a:r>
            <a:endParaRPr lang="en-US" sz="1300" dirty="0"/>
          </a:p>
        </p:txBody>
      </p:sp>
      <p:sp>
        <p:nvSpPr>
          <p:cNvPr id="21" name="Shape 19"/>
          <p:cNvSpPr/>
          <p:nvPr/>
        </p:nvSpPr>
        <p:spPr>
          <a:xfrm>
            <a:off x="548640" y="4498848"/>
            <a:ext cx="1554480" cy="256032"/>
          </a:xfrm>
          <a:prstGeom prst="roundRect">
            <a:avLst>
              <a:gd name="adj" fmla="val 50000"/>
            </a:avLst>
          </a:prstGeom>
          <a:solidFill>
            <a:srgbClr val="FFB703"/>
          </a:solidFill>
          <a:ln w="12700">
            <a:solidFill>
              <a:srgbClr val="FFB703"/>
            </a:solidFill>
            <a:prstDash val="solid"/>
          </a:ln>
        </p:spPr>
      </p:sp>
      <p:sp>
        <p:nvSpPr>
          <p:cNvPr id="22" name="Text 20"/>
          <p:cNvSpPr/>
          <p:nvPr/>
        </p:nvSpPr>
        <p:spPr>
          <a:xfrm>
            <a:off x="548640" y="44988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Complete metamorphosis</a:t>
            </a:r>
            <a:endParaRPr lang="en-US" sz="900" dirty="0"/>
          </a:p>
        </p:txBody>
      </p:sp>
      <p:sp>
        <p:nvSpPr>
          <p:cNvPr id="23" name="Text 21"/>
          <p:cNvSpPr/>
          <p:nvPr/>
        </p:nvSpPr>
        <p:spPr>
          <a:xfrm>
            <a:off x="548640" y="4882896"/>
            <a:ext cx="5120640" cy="402336"/>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Egg (in water) → Larva → Pupa → Adult (flying)</a:t>
            </a:r>
            <a:endParaRPr lang="en-US" sz="1050" dirty="0"/>
          </a:p>
        </p:txBody>
      </p:sp>
      <p:sp>
        <p:nvSpPr>
          <p:cNvPr id="24" name="Text 22"/>
          <p:cNvSpPr/>
          <p:nvPr/>
        </p:nvSpPr>
        <p:spPr>
          <a:xfrm>
            <a:off x="548640" y="5321808"/>
            <a:ext cx="5120640" cy="71323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Entire cycle in 1 week! Fast cycles = millions of new mosquitoes quickly</a:t>
            </a:r>
            <a:endParaRPr lang="en-US" sz="1000" dirty="0"/>
          </a:p>
        </p:txBody>
      </p:sp>
      <p:sp>
        <p:nvSpPr>
          <p:cNvPr id="25" name="Shape 23"/>
          <p:cNvSpPr/>
          <p:nvPr/>
        </p:nvSpPr>
        <p:spPr>
          <a:xfrm>
            <a:off x="6126480" y="3986784"/>
            <a:ext cx="5486400" cy="2176272"/>
          </a:xfrm>
          <a:prstGeom prst="roundRect">
            <a:avLst>
              <a:gd name="adj" fmla="val 3361"/>
            </a:avLst>
          </a:prstGeom>
          <a:solidFill>
            <a:srgbClr val="1E2F45"/>
          </a:solidFill>
          <a:ln w="12700">
            <a:solidFill>
              <a:srgbClr val="F4736A"/>
            </a:solidFill>
            <a:prstDash val="solid"/>
          </a:ln>
        </p:spPr>
      </p:sp>
      <p:sp>
        <p:nvSpPr>
          <p:cNvPr id="26" name="Text 24"/>
          <p:cNvSpPr/>
          <p:nvPr/>
        </p:nvSpPr>
        <p:spPr>
          <a:xfrm>
            <a:off x="6309360" y="4078224"/>
            <a:ext cx="5120640" cy="36576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Sabal Palm</a:t>
            </a:r>
            <a:endParaRPr lang="en-US" sz="1300" dirty="0"/>
          </a:p>
        </p:txBody>
      </p:sp>
      <p:sp>
        <p:nvSpPr>
          <p:cNvPr id="27" name="Shape 25"/>
          <p:cNvSpPr/>
          <p:nvPr/>
        </p:nvSpPr>
        <p:spPr>
          <a:xfrm>
            <a:off x="6309360" y="4498848"/>
            <a:ext cx="1554480" cy="256032"/>
          </a:xfrm>
          <a:prstGeom prst="roundRect">
            <a:avLst>
              <a:gd name="adj" fmla="val 50000"/>
            </a:avLst>
          </a:prstGeom>
          <a:solidFill>
            <a:srgbClr val="F4736A"/>
          </a:solidFill>
          <a:ln w="12700">
            <a:solidFill>
              <a:srgbClr val="F4736A"/>
            </a:solidFill>
            <a:prstDash val="solid"/>
          </a:ln>
        </p:spPr>
      </p:sp>
      <p:sp>
        <p:nvSpPr>
          <p:cNvPr id="28" name="Text 26"/>
          <p:cNvSpPr/>
          <p:nvPr/>
        </p:nvSpPr>
        <p:spPr>
          <a:xfrm>
            <a:off x="6309360" y="44988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Plant (no metamorphosis)</a:t>
            </a:r>
            <a:endParaRPr lang="en-US" sz="900" dirty="0"/>
          </a:p>
        </p:txBody>
      </p:sp>
      <p:sp>
        <p:nvSpPr>
          <p:cNvPr id="29" name="Text 27"/>
          <p:cNvSpPr/>
          <p:nvPr/>
        </p:nvSpPr>
        <p:spPr>
          <a:xfrm>
            <a:off x="6309360" y="4882896"/>
            <a:ext cx="5120640" cy="402336"/>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Seed → Seedling → Young palm → Mature palm → Makes seeds</a:t>
            </a:r>
            <a:endParaRPr lang="en-US" sz="1050" dirty="0"/>
          </a:p>
        </p:txBody>
      </p:sp>
      <p:sp>
        <p:nvSpPr>
          <p:cNvPr id="30" name="Text 28"/>
          <p:cNvSpPr/>
          <p:nvPr/>
        </p:nvSpPr>
        <p:spPr>
          <a:xfrm>
            <a:off x="6309360" y="5321808"/>
            <a:ext cx="5120640" cy="713232"/>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Florida's state tree — slow growing, but can live for centuries</a:t>
            </a:r>
            <a:endParaRPr lang="en-US" sz="100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Go Deeper: The 17-Year Cicada — Incomplete Metamorphosis Record</a:t>
            </a:r>
            <a:endParaRPr lang="en-US" sz="1600" dirty="0"/>
          </a:p>
        </p:txBody>
      </p:sp>
      <p:sp>
        <p:nvSpPr>
          <p:cNvPr id="5" name="Shape 3"/>
          <p:cNvSpPr/>
          <p:nvPr/>
        </p:nvSpPr>
        <p:spPr>
          <a:xfrm>
            <a:off x="365760" y="749808"/>
            <a:ext cx="7132320" cy="4462272"/>
          </a:xfrm>
          <a:prstGeom prst="roundRect">
            <a:avLst>
              <a:gd name="adj" fmla="val 1639"/>
            </a:avLst>
          </a:prstGeom>
          <a:solidFill>
            <a:srgbClr val="0A0A1A"/>
          </a:solidFill>
          <a:ln w="12700">
            <a:solidFill>
              <a:srgbClr val="FFB703"/>
            </a:solidFill>
            <a:prstDash val="solid"/>
          </a:ln>
        </p:spPr>
      </p:sp>
      <p:sp>
        <p:nvSpPr>
          <p:cNvPr id="6" name="Text 4"/>
          <p:cNvSpPr/>
          <p:nvPr/>
        </p:nvSpPr>
        <p:spPr>
          <a:xfrm>
            <a:off x="548640" y="822960"/>
            <a:ext cx="6766560" cy="438912"/>
          </a:xfrm>
          <a:prstGeom prst="rect">
            <a:avLst/>
          </a:prstGeom>
          <a:noFill/>
          <a:ln/>
        </p:spPr>
        <p:txBody>
          <a:bodyPr wrap="square" rtlCol="0" anchor="ctr"/>
          <a:lstStyle/>
          <a:p>
            <a:pPr indent="0" marL="0">
              <a:buNone/>
            </a:pPr>
            <a:r>
              <a:rPr lang="en-US" sz="1500" b="1" dirty="0">
                <a:solidFill>
                  <a:srgbClr val="FFB703"/>
                </a:solidFill>
                <a:latin typeface="Calibri" pitchFamily="34" charset="0"/>
                <a:ea typeface="Calibri" pitchFamily="34" charset="-122"/>
                <a:cs typeface="Calibri" pitchFamily="34" charset="-120"/>
              </a:rPr>
              <a:t>🦟 17 Years Underground... Then 2 Weeks Above Ground</a:t>
            </a:r>
            <a:endParaRPr lang="en-US" sz="1500" dirty="0"/>
          </a:p>
        </p:txBody>
      </p:sp>
      <p:sp>
        <p:nvSpPr>
          <p:cNvPr id="7" name="Text 5"/>
          <p:cNvSpPr/>
          <p:nvPr/>
        </p:nvSpPr>
        <p:spPr>
          <a:xfrm>
            <a:off x="548640" y="1298448"/>
            <a:ext cx="6766560" cy="37490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 Florida cicada can spend up to 17 YEARS underground as a nymph before crawling up, shedding its skin, and emerging as an adult — all to live for just a few weeks above ground.</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This is incomplete metamorphosis taken to the extreme:</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Egg → Nymph (underground, 17 years) → Adult (2-4 weeks)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During those 17 years, the nymph is feeding on tree roots, slowly growing. When the right conditions arrive, millions emerge at exactly the same time.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The strategy: overwhelming predators with sheer numbers means enough survive to reproduce.</a:t>
            </a:r>
            <a:endParaRPr lang="en-US" sz="1200" dirty="0"/>
          </a:p>
        </p:txBody>
      </p:sp>
      <p:sp>
        <p:nvSpPr>
          <p:cNvPr id="8" name="Shape 6"/>
          <p:cNvSpPr/>
          <p:nvPr/>
        </p:nvSpPr>
        <p:spPr>
          <a:xfrm>
            <a:off x="7863840" y="749808"/>
            <a:ext cx="3749040" cy="4462272"/>
          </a:xfrm>
          <a:prstGeom prst="roundRect">
            <a:avLst>
              <a:gd name="adj" fmla="val 1951"/>
            </a:avLst>
          </a:prstGeom>
          <a:solidFill>
            <a:srgbClr val="1E2F45"/>
          </a:solidFill>
          <a:ln w="12700">
            <a:solidFill>
              <a:srgbClr val="4CC9F0"/>
            </a:solidFill>
            <a:prstDash val="solid"/>
          </a:ln>
        </p:spPr>
      </p:sp>
      <p:sp>
        <p:nvSpPr>
          <p:cNvPr id="9" name="Text 7"/>
          <p:cNvSpPr/>
          <p:nvPr/>
        </p:nvSpPr>
        <p:spPr>
          <a:xfrm>
            <a:off x="8046720" y="822960"/>
            <a:ext cx="33832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Think Like a Scientist:</a:t>
            </a:r>
            <a:endParaRPr lang="en-US" sz="1200" dirty="0"/>
          </a:p>
        </p:txBody>
      </p:sp>
      <p:sp>
        <p:nvSpPr>
          <p:cNvPr id="10" name="Text 8"/>
          <p:cNvSpPr/>
          <p:nvPr/>
        </p:nvSpPr>
        <p:spPr>
          <a:xfrm>
            <a:off x="8046720" y="1207008"/>
            <a:ext cx="3383280" cy="380390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Florida scientist finds a strange insect with wings, then six months later finds what looks like a totally different bug in the same spot.</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How could she use the idea of metamorphosis to investigate whether they might be the same species at different stages?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What evidence would she look for?</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What two sources would she check?</a:t>
            </a:r>
            <a:endParaRPr lang="en-US" sz="115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Discussion — Why Metamorphosis?</a:t>
            </a:r>
            <a:endParaRPr lang="en-US" sz="1600" dirty="0"/>
          </a:p>
        </p:txBody>
      </p:sp>
      <p:sp>
        <p:nvSpPr>
          <p:cNvPr id="5" name="Shape 3"/>
          <p:cNvSpPr/>
          <p:nvPr/>
        </p:nvSpPr>
        <p:spPr>
          <a:xfrm>
            <a:off x="365760" y="749808"/>
            <a:ext cx="11247120" cy="1024128"/>
          </a:xfrm>
          <a:prstGeom prst="roundRect">
            <a:avLst>
              <a:gd name="adj" fmla="val 7143"/>
            </a:avLst>
          </a:prstGeom>
          <a:solidFill>
            <a:srgbClr val="1E2F45"/>
          </a:solidFill>
          <a:ln w="12700">
            <a:solidFill>
              <a:srgbClr val="2DC653"/>
            </a:solidFill>
            <a:prstDash val="solid"/>
          </a:ln>
        </p:spPr>
      </p:sp>
      <p:sp>
        <p:nvSpPr>
          <p:cNvPr id="6" name="Text 4"/>
          <p:cNvSpPr/>
          <p:nvPr/>
        </p:nvSpPr>
        <p:spPr>
          <a:xfrm>
            <a:off x="548640" y="822960"/>
            <a:ext cx="10972800" cy="78638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Scientists ask WHY as well as WHAT. Complete metamorphosis is incredibly complex — why would evolution produce it?</a:t>
            </a:r>
            <a:endParaRPr lang="en-US" sz="1400" dirty="0"/>
          </a:p>
        </p:txBody>
      </p:sp>
      <p:sp>
        <p:nvSpPr>
          <p:cNvPr id="7" name="Shape 5"/>
          <p:cNvSpPr/>
          <p:nvPr/>
        </p:nvSpPr>
        <p:spPr>
          <a:xfrm>
            <a:off x="365760" y="1901952"/>
            <a:ext cx="5394960" cy="2084832"/>
          </a:xfrm>
          <a:prstGeom prst="roundRect">
            <a:avLst>
              <a:gd name="adj" fmla="val 3509"/>
            </a:avLst>
          </a:prstGeom>
          <a:solidFill>
            <a:srgbClr val="1E2F45"/>
          </a:solidFill>
          <a:ln w="12700">
            <a:solidFill>
              <a:srgbClr val="4CC9F0"/>
            </a:solidFill>
            <a:prstDash val="solid"/>
          </a:ln>
        </p:spPr>
      </p:sp>
      <p:sp>
        <p:nvSpPr>
          <p:cNvPr id="8" name="Text 6"/>
          <p:cNvSpPr/>
          <p:nvPr/>
        </p:nvSpPr>
        <p:spPr>
          <a:xfrm>
            <a:off x="548640" y="1975104"/>
            <a:ext cx="502920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The Food Competition Solution</a:t>
            </a:r>
            <a:endParaRPr lang="en-US" sz="1300" dirty="0"/>
          </a:p>
        </p:txBody>
      </p:sp>
      <p:sp>
        <p:nvSpPr>
          <p:cNvPr id="9" name="Text 7"/>
          <p:cNvSpPr/>
          <p:nvPr/>
        </p:nvSpPr>
        <p:spPr>
          <a:xfrm>
            <a:off x="548640" y="2359152"/>
            <a:ext cx="5029200" cy="148132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 monarch caterpillar eats leaves. An adult butterfly drinks nectar. THEY NEVER COMPETE FOR FOOD.</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If the caterpillar and butterfly ate the same food, they'd compete — and a parent would reduce the offspring's survival. Complete metamorphosis elegantly separates the two phases.</a:t>
            </a:r>
            <a:endParaRPr lang="en-US" sz="1200" dirty="0"/>
          </a:p>
        </p:txBody>
      </p:sp>
      <p:sp>
        <p:nvSpPr>
          <p:cNvPr id="10" name="Shape 8"/>
          <p:cNvSpPr/>
          <p:nvPr/>
        </p:nvSpPr>
        <p:spPr>
          <a:xfrm>
            <a:off x="6035040" y="1901952"/>
            <a:ext cx="5394960" cy="2084832"/>
          </a:xfrm>
          <a:prstGeom prst="roundRect">
            <a:avLst>
              <a:gd name="adj" fmla="val 3509"/>
            </a:avLst>
          </a:prstGeom>
          <a:solidFill>
            <a:srgbClr val="1E2F45"/>
          </a:solidFill>
          <a:ln w="12700">
            <a:solidFill>
              <a:srgbClr val="FFB703"/>
            </a:solidFill>
            <a:prstDash val="solid"/>
          </a:ln>
        </p:spPr>
      </p:sp>
      <p:sp>
        <p:nvSpPr>
          <p:cNvPr id="11" name="Text 9"/>
          <p:cNvSpPr/>
          <p:nvPr/>
        </p:nvSpPr>
        <p:spPr>
          <a:xfrm>
            <a:off x="6217920" y="1975104"/>
            <a:ext cx="50292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The Specialization Solution</a:t>
            </a:r>
            <a:endParaRPr lang="en-US" sz="1300" dirty="0"/>
          </a:p>
        </p:txBody>
      </p:sp>
      <p:sp>
        <p:nvSpPr>
          <p:cNvPr id="12" name="Text 10"/>
          <p:cNvSpPr/>
          <p:nvPr/>
        </p:nvSpPr>
        <p:spPr>
          <a:xfrm>
            <a:off x="6217920" y="2359152"/>
            <a:ext cx="5029200" cy="148132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The larva stage is specialized for ONE job: EAT AND GROW.</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The adult stage is specialized for TWO jobs: FLY AND REPRODUCE.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By separating these jobs into different body forms, each stage can be perfectly designed for its purpose.</a:t>
            </a:r>
            <a:endParaRPr lang="en-US" sz="1200" dirty="0"/>
          </a:p>
        </p:txBody>
      </p:sp>
      <p:sp>
        <p:nvSpPr>
          <p:cNvPr id="13" name="Shape 11"/>
          <p:cNvSpPr/>
          <p:nvPr/>
        </p:nvSpPr>
        <p:spPr>
          <a:xfrm>
            <a:off x="365760" y="4114800"/>
            <a:ext cx="11247120" cy="1536192"/>
          </a:xfrm>
          <a:prstGeom prst="roundRect">
            <a:avLst>
              <a:gd name="adj" fmla="val 4762"/>
            </a:avLst>
          </a:prstGeom>
          <a:solidFill>
            <a:srgbClr val="162233"/>
          </a:solidFill>
          <a:ln w="12700">
            <a:solidFill>
              <a:srgbClr val="FFB703"/>
            </a:solidFill>
            <a:prstDash val="solid"/>
          </a:ln>
        </p:spPr>
      </p:sp>
      <p:sp>
        <p:nvSpPr>
          <p:cNvPr id="14" name="Text 12"/>
          <p:cNvSpPr/>
          <p:nvPr/>
        </p:nvSpPr>
        <p:spPr>
          <a:xfrm>
            <a:off x="530352" y="418795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Discuss &amp; Write:</a:t>
            </a:r>
            <a:endParaRPr lang="en-US" sz="1300" dirty="0"/>
          </a:p>
        </p:txBody>
      </p:sp>
      <p:sp>
        <p:nvSpPr>
          <p:cNvPr id="15" name="Text 13"/>
          <p:cNvSpPr/>
          <p:nvPr/>
        </p:nvSpPr>
        <p:spPr>
          <a:xfrm>
            <a:off x="530352" y="4553712"/>
            <a:ext cx="10917936" cy="98755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Using the evidence above, write a sentence that explains WHY it helps a butterfly that the caterpillar and adult eat completely different foods. Use the word STAGE in your answer.</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Preparation — Review the Evidence</a:t>
            </a:r>
            <a:endParaRPr lang="en-US" sz="1600" dirty="0"/>
          </a:p>
        </p:txBody>
      </p:sp>
      <p:sp>
        <p:nvSpPr>
          <p:cNvPr id="5" name="Shape 3"/>
          <p:cNvSpPr/>
          <p:nvPr/>
        </p:nvSpPr>
        <p:spPr>
          <a:xfrm>
            <a:off x="365760" y="749808"/>
            <a:ext cx="11247120" cy="621792"/>
          </a:xfrm>
          <a:prstGeom prst="roundRect">
            <a:avLst>
              <a:gd name="adj" fmla="val 11765"/>
            </a:avLst>
          </a:prstGeom>
          <a:solidFill>
            <a:srgbClr val="162233"/>
          </a:solidFill>
          <a:ln w="12700">
            <a:solidFill>
              <a:srgbClr val="4CC9F0"/>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writing your CER, review the key evidence from today's lesson:</a:t>
            </a:r>
            <a:endParaRPr lang="en-US" sz="1300" dirty="0"/>
          </a:p>
        </p:txBody>
      </p:sp>
      <p:sp>
        <p:nvSpPr>
          <p:cNvPr id="7" name="Shape 5"/>
          <p:cNvSpPr/>
          <p:nvPr/>
        </p:nvSpPr>
        <p:spPr>
          <a:xfrm>
            <a:off x="365760" y="1499616"/>
            <a:ext cx="11247120" cy="841248"/>
          </a:xfrm>
          <a:prstGeom prst="roundRect">
            <a:avLst>
              <a:gd name="adj" fmla="val 8696"/>
            </a:avLst>
          </a:prstGeom>
          <a:solidFill>
            <a:srgbClr val="1E2F45"/>
          </a:solidFill>
          <a:ln w="12700">
            <a:solidFill>
              <a:srgbClr val="4CC9F0"/>
            </a:solidFill>
            <a:prstDash val="solid"/>
          </a:ln>
        </p:spPr>
      </p:sp>
      <p:sp>
        <p:nvSpPr>
          <p:cNvPr id="8" name="Text 6"/>
          <p:cNvSpPr/>
          <p:nvPr/>
        </p:nvSpPr>
        <p:spPr>
          <a:xfrm>
            <a:off x="548640" y="1572768"/>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Complete metamorphosis: 4 stages (egg → larva → pupa → adult). Young looks NOTHING like adult. Examples: monarch butterfly, honeybee, beetle.</a:t>
            </a:r>
            <a:endParaRPr lang="en-US" sz="1150" dirty="0"/>
          </a:p>
        </p:txBody>
      </p:sp>
      <p:sp>
        <p:nvSpPr>
          <p:cNvPr id="9" name="Shape 7"/>
          <p:cNvSpPr/>
          <p:nvPr/>
        </p:nvSpPr>
        <p:spPr>
          <a:xfrm>
            <a:off x="365760" y="2450592"/>
            <a:ext cx="11247120" cy="841248"/>
          </a:xfrm>
          <a:prstGeom prst="roundRect">
            <a:avLst>
              <a:gd name="adj" fmla="val 8696"/>
            </a:avLst>
          </a:prstGeom>
          <a:solidFill>
            <a:srgbClr val="1E2F45"/>
          </a:solidFill>
          <a:ln w="12700">
            <a:solidFill>
              <a:srgbClr val="2DC653"/>
            </a:solidFill>
            <a:prstDash val="solid"/>
          </a:ln>
        </p:spPr>
      </p:sp>
      <p:sp>
        <p:nvSpPr>
          <p:cNvPr id="10" name="Text 8"/>
          <p:cNvSpPr/>
          <p:nvPr/>
        </p:nvSpPr>
        <p:spPr>
          <a:xfrm>
            <a:off x="548640" y="2523744"/>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Incomplete metamorphosis: 3 stages (egg → nymph → adult). Young looks like a SMALL version of the adult. Examples: grasshopper, dragonfly.</a:t>
            </a:r>
            <a:endParaRPr lang="en-US" sz="1150" dirty="0"/>
          </a:p>
        </p:txBody>
      </p:sp>
      <p:sp>
        <p:nvSpPr>
          <p:cNvPr id="11" name="Shape 9"/>
          <p:cNvSpPr/>
          <p:nvPr/>
        </p:nvSpPr>
        <p:spPr>
          <a:xfrm>
            <a:off x="365760" y="3401568"/>
            <a:ext cx="11247120" cy="841248"/>
          </a:xfrm>
          <a:prstGeom prst="roundRect">
            <a:avLst>
              <a:gd name="adj" fmla="val 8696"/>
            </a:avLst>
          </a:prstGeom>
          <a:solidFill>
            <a:srgbClr val="1E2F45"/>
          </a:solidFill>
          <a:ln w="12700">
            <a:solidFill>
              <a:srgbClr val="4CC9F0"/>
            </a:solidFill>
            <a:prstDash val="solid"/>
          </a:ln>
        </p:spPr>
      </p:sp>
      <p:sp>
        <p:nvSpPr>
          <p:cNvPr id="12" name="Text 10"/>
          <p:cNvSpPr/>
          <p:nvPr/>
        </p:nvSpPr>
        <p:spPr>
          <a:xfrm>
            <a:off x="548640" y="3474720"/>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Mammals, birds, and reptiles do NOT go through metamorphosis — their babies look like small versions of adults from birth.</a:t>
            </a:r>
            <a:endParaRPr lang="en-US" sz="1150" dirty="0"/>
          </a:p>
        </p:txBody>
      </p:sp>
      <p:sp>
        <p:nvSpPr>
          <p:cNvPr id="13" name="Shape 11"/>
          <p:cNvSpPr/>
          <p:nvPr/>
        </p:nvSpPr>
        <p:spPr>
          <a:xfrm>
            <a:off x="365760" y="4352544"/>
            <a:ext cx="11247120" cy="841248"/>
          </a:xfrm>
          <a:prstGeom prst="roundRect">
            <a:avLst>
              <a:gd name="adj" fmla="val 8696"/>
            </a:avLst>
          </a:prstGeom>
          <a:solidFill>
            <a:srgbClr val="1E2F45"/>
          </a:solidFill>
          <a:ln w="12700">
            <a:solidFill>
              <a:srgbClr val="2DC653"/>
            </a:solidFill>
            <a:prstDash val="solid"/>
          </a:ln>
        </p:spPr>
      </p:sp>
      <p:sp>
        <p:nvSpPr>
          <p:cNvPr id="14" name="Text 12"/>
          <p:cNvSpPr/>
          <p:nvPr/>
        </p:nvSpPr>
        <p:spPr>
          <a:xfrm>
            <a:off x="548640" y="4425696"/>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Inside a chrysalis, the caterpillar literally liquefies before rebuilding — the adult body parts are NEWLY GROWN, not the same as the caterpillar's.</a:t>
            </a:r>
            <a:endParaRPr lang="en-US" sz="1150" dirty="0"/>
          </a:p>
        </p:txBody>
      </p:sp>
      <p:sp>
        <p:nvSpPr>
          <p:cNvPr id="15" name="Shape 13"/>
          <p:cNvSpPr/>
          <p:nvPr/>
        </p:nvSpPr>
        <p:spPr>
          <a:xfrm>
            <a:off x="365760" y="5303520"/>
            <a:ext cx="11247120" cy="841248"/>
          </a:xfrm>
          <a:prstGeom prst="roundRect">
            <a:avLst>
              <a:gd name="adj" fmla="val 8696"/>
            </a:avLst>
          </a:prstGeom>
          <a:solidFill>
            <a:srgbClr val="1E2F45"/>
          </a:solidFill>
          <a:ln w="12700">
            <a:solidFill>
              <a:srgbClr val="4CC9F0"/>
            </a:solidFill>
            <a:prstDash val="solid"/>
          </a:ln>
        </p:spPr>
      </p:sp>
      <p:sp>
        <p:nvSpPr>
          <p:cNvPr id="16" name="Text 14"/>
          <p:cNvSpPr/>
          <p:nvPr/>
        </p:nvSpPr>
        <p:spPr>
          <a:xfrm>
            <a:off x="548640" y="5376672"/>
            <a:ext cx="10972800" cy="67665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Caterpillars eat leaves; adult butterflies drink nectar. Different food = different stages = no competition between parent and offspring.</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14.01  ·  Circle of Life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2026-07-13T20:29:40Z</dcterms:created>
  <dcterms:modified xsi:type="dcterms:W3CDTF">2026-07-13T20:29:40Z</dcterms:modified>
</cp:coreProperties>
</file>