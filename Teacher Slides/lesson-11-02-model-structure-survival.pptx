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students and explain today's modeling focus. Students will build annotated models of Florida adaptations — a drawing, build, or diagram that explains a relationship, not just labels a 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5 min to draw both versions. Then cold-call: 'What does Drawing 2 have that Drawing 1 doesn't?' Guide toward: arrows + captions explain a relationship. Facilitation: Ask 'Could someone who'd never seen an alligator learn from Drawing 1? Drawing 2?'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big question aloud. Ask students to 'Hold this in your head — by the end of class you'll be able to answer it with your own model.' Preview the deliverable: a drawing with labels, arrows, and a survival need caption.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Briefly define each word. Ask a student to use 'function' in a sentence about something in the classroom. Ask another to explain the difference between a model and a label.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write 2 sentences. Cold-call 2–3 responses. Guide: 'A label names a part. A model needs an arrow and a caption that explains what the shell DOES for the turtle's survival need for safety.' Introduce the word 'annotate'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'Which version teaches more? Why?' The key is explaining the RELATIONSHIP — not the beauty of the art. Point out the misconception explicitly: science models are judged by how well they explain, not how nice they look.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Cold-call students for each model type. Ask: 'When would a 3D model be better than a drawing?' Lead toward: when you need to show movement or how parts fit together. Key facilitation move: 'Can someone give me an example of a mental model they've already used today?'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2 minutes to write predictions. This sets up the evidence-based prediction habit. Cold-call 2–3 before revealing. Ask: 'What evidence made you choose that survival need?' Facilitation: 'Is this a fair test if we just look at one structure?'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student predictions to the model. Ask: 'Which of your predictions matched? Which surprised you?' Key question: 'If you removed the arrows but kept the labels, would this still be a model or just a labeled drawing?' Guide toward: no arrows = no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observe all four. Ask: 'Each description is written as: structure → action → survival need. Does that make it a model?' Guide: yes, because the format shows the RELATIONSHIP between the structure and what it does for the organism. Florida pine amazing fact: seeds actually NEED fire!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key Q2 rigor habit for model lessons: Draw → Investigate → Revise. Give students 3 min to add to their prediction boxes. Ask: 'What changed between your first sketch and your revision? What new understanding made you add that arrow?'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the first sentence of the Claim aloud. Ask students to copy and complete each panel in their notebooks. Facilitation: 'Does your reasoning explain WHY the evidence supports the claim, or does it just repeat the evidence? Those are different things.' This is full CER — all 3 panels required.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5 minutes to complete all 3 panels. Circulate and ask: 'Does your reasoning connect the evidence back to your claim, or does it just repeat the evidence?' Pair-share before whole-class debrief. Facilitation: 'Can you write a model of this adaptation in 3 boxes?' (structure → action → need).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Circulate during model-building. Ask: 'Does your arrow go FROM the structure TO what it does?' and 'Does your caption name a specific survival need?' These two questions catch the most common errors. Facilitation move: 'Show me which survival need your structure helps with.'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time allows, ask students: 'What kind of model would a scientist use to show how a bee finds a flower?' (mental model = describe the pathway; 3-D = build the bee's eye; computer = simulate how they find flowers from hundreds of meters away). Each type answers a different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write their answers in notebooks before revealing. Cold-call before showing the correct answer. For Q1: 'What's the difference between a pretty drawing and a strong model?' For Q2: 'Why isn't green color a survival need? What survival need does it help meet?'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part and point to the slide where it was practiced. Assignment alignment check: every component was modeled or practiced during class. Note that Part C is the core deliverable — students should be able to start it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Closing: Ask students to share one thing they know NOW about models that they didn't know at the start. Exit ticket idea: 'Write one arrow-and-caption that could go in a model of any Florida organism you choose.'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85800"/>
            <a:ext cx="8503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Structure and Survival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208483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Week 11  ·  Life Science  ·  4-LS1-1 / SC.4.N.3.1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87168"/>
            <a:ext cx="4937760" cy="475488"/>
          </a:xfrm>
          <a:prstGeom prst="roundRect">
            <a:avLst>
              <a:gd name="adj" fmla="val 15385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487168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4-LS1-1 — Construct an argument that plants and animals have internal and external structures that support survival.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235440" y="411480"/>
            <a:ext cx="2651760" cy="2651760"/>
          </a:xfrm>
          <a:prstGeom prst="ellipse">
            <a:avLst/>
          </a:prstGeom>
          <a:solidFill>
            <a:srgbClr val="162233"/>
          </a:solidFill>
          <a:ln w="25400">
            <a:solidFill>
              <a:srgbClr val="4CC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0" y="10058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dirty="0">
                <a:solidFill>
                  <a:srgbClr val="000000"/>
                </a:solidFill>
              </a:rPr>
              <a:t>🔬</a:t>
            </a:r>
            <a:endParaRPr lang="en-US" sz="6800" dirty="0"/>
          </a:p>
        </p:txBody>
      </p:sp>
      <p:sp>
        <p:nvSpPr>
          <p:cNvPr id="9" name="Shape 7"/>
          <p:cNvSpPr/>
          <p:nvPr/>
        </p:nvSpPr>
        <p:spPr>
          <a:xfrm>
            <a:off x="548640" y="3127248"/>
            <a:ext cx="7406640" cy="1645920"/>
          </a:xfrm>
          <a:prstGeom prst="roundRect">
            <a:avLst>
              <a:gd name="adj" fmla="val 4444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182112"/>
            <a:ext cx="7132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Learning Goals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529584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build a model that shows how a structure helps an organism survive.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867912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label my model with arrows showing what each part DOES, not just what it's called.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206240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pick the right kind of model for what I want to explain.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956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need: 📓 Science notebook   ✏️ Colored pencils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11.02  ·  Model: Structure and Survival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🌅  Warm-Up: Two Drawings, One Idea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label tells you the name. A model tells you the story.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5303520" cy="3383280"/>
          </a:xfrm>
          <a:prstGeom prst="roundRect">
            <a:avLst>
              <a:gd name="adj" fmla="val 2162"/>
            </a:avLst>
          </a:prstGeom>
          <a:solidFill>
            <a:srgbClr val="1E2F45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1 — Just a Label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Florida alligator.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"teeth" next to the teeth.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it.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834640"/>
            <a:ext cx="5029200" cy="1554480"/>
          </a:xfrm>
          <a:prstGeom prst="roundRect">
            <a:avLst>
              <a:gd name="adj" fmla="val 4706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94360" y="29443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94360" y="338328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2648" y="3675888"/>
            <a:ext cx="48097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"alligator drawing label teeth simple sketch"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442569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drawing — names the part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1261872"/>
            <a:ext cx="5303520" cy="3383280"/>
          </a:xfrm>
          <a:prstGeom prst="roundRect">
            <a:avLst>
              <a:gd name="adj" fmla="val 2162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325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2 — A Tiny Model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169164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alligator.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from teeth → fish.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the arrow: "grab and hold prey".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it explains something!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2834640"/>
            <a:ext cx="5029200" cy="1554480"/>
          </a:xfrm>
          <a:prstGeom prst="roundRect">
            <a:avLst>
              <a:gd name="adj" fmla="val 4706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6263640" y="29443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63640" y="338328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81928" y="3675888"/>
            <a:ext cx="48097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"alligator model diagram arrow prey teeth survival annotation"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172200" y="442569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— explains the relationship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4773168"/>
            <a:ext cx="11430000" cy="347472"/>
          </a:xfrm>
          <a:prstGeom prst="roundRect">
            <a:avLst>
              <a:gd name="adj" fmla="val 23684"/>
            </a:avLst>
          </a:prstGeom>
          <a:solidFill>
            <a:srgbClr val="E09200"/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773168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👀  Notice &amp; Wonder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51663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drawing tells a friend MORE about how the alligator survives? Why?"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6" name="Text 24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11.02  ·  Model: Structure and Survival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Our Big Question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1247120" cy="1828800"/>
          </a:xfrm>
          <a:prstGeom prst="roundRect">
            <a:avLst>
              <a:gd name="adj" fmla="val 4000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41248"/>
            <a:ext cx="10881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can a model show WHY a structure helps an organism survive — not just what it's called?"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7132320" cy="2377440"/>
          </a:xfrm>
          <a:prstGeom prst="roundRect">
            <a:avLst>
              <a:gd name="adj" fmla="val 3077"/>
            </a:avLst>
          </a:prstGeom>
          <a:solidFill>
            <a:srgbClr val="16223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798064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Key Difference to Discover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 label:  "This is a beak."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(Names a structure.)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model:  "This long beak → reaches deep into a flower → to sip nectar → so the bird can eat."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(Explains the structure's JOB.)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63840" y="2743200"/>
            <a:ext cx="3840480" cy="2377440"/>
          </a:xfrm>
          <a:prstGeom prst="roundRect">
            <a:avLst>
              <a:gd name="adj" fmla="val 3077"/>
            </a:avLst>
          </a:prstGeom>
          <a:solidFill>
            <a:srgbClr val="1A3A2A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01000" y="279806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Today's Goal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01000" y="315468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model that uses arrows + captions to explain how a Florida organism's structure helps it meet a survival need.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4" name="Text 12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11.02  ·  Model: Structure and Survival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Vocabulary — Set 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347472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4CC9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49808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7724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152144"/>
            <a:ext cx="32552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way to show how something works. Can be a drawing, diagram, 3-D build, or explanation. Explains a relationship — not just names parts.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0" y="749808"/>
            <a:ext cx="347472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FFB70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749808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77724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24528" y="1152144"/>
            <a:ext cx="32552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JOB that a structure does. Leaves function by catching sunlight to make food. Beak functions by spearing fish.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863840" y="749808"/>
            <a:ext cx="347472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2DC65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749808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77724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73568" y="1152144"/>
            <a:ext cx="32552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 or trait that helps an organism survive in the place where it lives. A gecko's sticky toes are an adaptation for climbing.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212848"/>
            <a:ext cx="11430000" cy="1463040"/>
          </a:xfrm>
          <a:prstGeom prst="roundRect">
            <a:avLst>
              <a:gd name="adj" fmla="val 5000"/>
            </a:avLst>
          </a:prstGeom>
          <a:solidFill>
            <a:srgbClr val="16223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286000"/>
            <a:ext cx="11100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Quick Discussion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" y="2651760"/>
            <a:ext cx="1110081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"You've seen models before — like a globe or a map. How is a science model different from a model airplane? What does each one explain?"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65760" y="3803904"/>
            <a:ext cx="11430000" cy="822960"/>
          </a:xfrm>
          <a:prstGeom prst="roundRect">
            <a:avLst>
              <a:gd name="adj" fmla="val 8889"/>
            </a:avLst>
          </a:prstGeom>
          <a:solidFill>
            <a:srgbClr val="1E2F45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8587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Use in a sentence:  "When I annotate my drawing of the anhinga, I show that the bird's long beak is an adaptation that has the function of spearing fish — that makes it a model."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3" name="Text 21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11.02  ·  Model: Structure and Survival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Vocabulary — Set 2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347472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F473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49808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F4736A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7724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Need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152144"/>
            <a:ext cx="32552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every living thing must have: food, water, air, shelter, and safety. Structures help an organism meet these needs.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0" y="749808"/>
            <a:ext cx="347472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0096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749808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77724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24528" y="1152144"/>
            <a:ext cx="32552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add labels, arrows, and short notes to a drawing or diagram so it explains itself. Annotated drawings are the building blocks of science models.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863840" y="749808"/>
            <a:ext cx="347472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2DC65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749808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77724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Camouflage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73568" y="1152144"/>
            <a:ext cx="32552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color or pattern that helps an animal blend into its surroundings. A Florida green tree frog's color is a kind of camouflage adaptation.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212848"/>
            <a:ext cx="11430000" cy="2011680"/>
          </a:xfrm>
          <a:prstGeom prst="roundRect">
            <a:avLst>
              <a:gd name="adj" fmla="val 3636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26771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🐢  Stop &amp; Think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2615184"/>
            <a:ext cx="11064240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see a drawing of a turtle with the word 'shell' next to its shell. Is that a model? Why or why not?"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at least ONE vocab word in your answer. Write 2 sentences in your notebook.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11.02  ·  Model: Structure and Survival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  Part 1 — What Makes a Good Model?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1371600"/>
          </a:xfrm>
          <a:prstGeom prst="roundRect">
            <a:avLst>
              <a:gd name="adj" fmla="val 5333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Every Good Model Has: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15214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Labels — Name the structure clearly.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Arrows that show action — From the structure TO what it does.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 short caption — "This [structure] helps the animal meet its [survival need] by [what it does]."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162233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40864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 Label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670048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is a beak."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Names a structure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Doesn't explain its function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NOT a model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228600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0A2A18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2340864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72200" y="2670048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long, thin, curved beak → reaches deep into a flower → to sip nectar → so the bird can eat."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Shows the relationship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Explains the FUNCTION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Ties to SURVIVAL NEED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5623560"/>
            <a:ext cx="11430000" cy="594360"/>
          </a:xfrm>
          <a:prstGeom prst="roundRect">
            <a:avLst>
              <a:gd name="adj" fmla="val 12308"/>
            </a:avLst>
          </a:prstGeom>
          <a:solidFill>
            <a:srgbClr val="1A1A0A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Common Misconception: A really pretty drawing is NOT the same as a strong model. A simple stick-figure drawing with good labels and arrows can be a STRONGER model than beautiful artwork with no explanation.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11.02  ·  Model: Structure and Survival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  Four Types of Science Models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NGSS recognizes 4 types — each useful for a different job: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697480" cy="4114800"/>
          </a:xfrm>
          <a:prstGeom prst="roundRect">
            <a:avLst>
              <a:gd name="adj" fmla="val 2712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98448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🖼️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Drawing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414016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diagram, great for showing what something looks like from one angle. Easiest to make.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234440"/>
            <a:ext cx="2697480" cy="4114800"/>
          </a:xfrm>
          <a:prstGeom prst="roundRect">
            <a:avLst>
              <a:gd name="adj" fmla="val 2712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298448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🧱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337560" y="202996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Build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414016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Clay, blocks, or paper. Shows how parts move and fit together. Good for understanding structure.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234440"/>
            <a:ext cx="2697480" cy="4114800"/>
          </a:xfrm>
          <a:prstGeom prst="roundRect">
            <a:avLst>
              <a:gd name="adj" fmla="val 2712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298448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217920" y="202996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2414016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explanation you say OUT LOUD. 'The frog's green skin matches leaves so predators don't see it.' Counts!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06840" y="1234440"/>
            <a:ext cx="2697480" cy="4114800"/>
          </a:xfrm>
          <a:prstGeom prst="roundRect">
            <a:avLst>
              <a:gd name="adj" fmla="val 2712"/>
            </a:avLst>
          </a:prstGeom>
          <a:solidFill>
            <a:srgbClr val="1E2F45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06840" y="1298448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💻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098280" y="202996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Model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098280" y="2414016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change over time, movement, or complex systems. Used by scientists to model how fish swim.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5486400"/>
            <a:ext cx="11430000" cy="1097280"/>
          </a:xfrm>
          <a:prstGeom prst="roundRect">
            <a:avLst>
              <a:gd name="adj" fmla="val 6667"/>
            </a:avLst>
          </a:prstGeom>
          <a:solidFill>
            <a:srgbClr val="16223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5559552"/>
            <a:ext cx="11100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Discuss: Which model type would you use?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0352" y="5925312"/>
            <a:ext cx="1110081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you wanted to show HOW a manatee fluke pushes through water, which model type would be BEST? Which would be hardest? Why?"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6" name="Text 24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11.02  ·  Model: Structure and Survival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 Prediction Before Reveal — The Anhinga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1005840"/>
          </a:xfrm>
          <a:prstGeom prst="roundRect">
            <a:avLst>
              <a:gd name="adj" fmla="val 7273"/>
            </a:avLst>
          </a:prstGeom>
          <a:solidFill>
            <a:srgbClr val="16223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look at the model — make your own prediction: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152144"/>
            <a:ext cx="11064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Florida anhinga has: a long sharp beak, a sleek streamlined body, and dark feathers that let water soak in. Predict what each structure DOES — what survival need does each one help meet?"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01952"/>
            <a:ext cx="5303520" cy="3931920"/>
          </a:xfrm>
          <a:prstGeom prst="roundRect">
            <a:avLst>
              <a:gd name="adj" fmla="val 1860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57200" y="2011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245059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2743200"/>
            <a:ext cx="5084064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"Florida anhinga waterbird long sharp beak underwater fish hunting"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587044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Florida anhinga — a masterful underwater hunter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0" y="1901952"/>
            <a:ext cx="5852160" cy="3931920"/>
          </a:xfrm>
          <a:prstGeom prst="roundRect">
            <a:avLst>
              <a:gd name="adj" fmla="val 1860"/>
            </a:avLst>
          </a:prstGeom>
          <a:solidFill>
            <a:srgbClr val="1E2F45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956816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notebook, draw 3 boxes: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80760" y="2286000"/>
            <a:ext cx="5577840" cy="3364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1:  Long sharp beak → ? → survival need for 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2:  Sleek body → ? → survival need for 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3:  Dark feathers → ? → survival need for 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an arrow in each box showing what you PREDICT the structure does. We'll check your predictions in a moment!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11.02  ·  Model: Structure and Survival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Anhinga Model — Reveal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6400800" cy="5029200"/>
          </a:xfrm>
          <a:prstGeom prst="roundRect">
            <a:avLst>
              <a:gd name="adj" fmla="val 1455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859536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91056"/>
            <a:ext cx="6181344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"anhinga annotated explanatory model diagram arrows survival need spears fish streamlined body dark feathers Florida waterbird"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581558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Explanatory model: each arrow shows what the structure DOES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040880" y="749808"/>
            <a:ext cx="4754880" cy="5029200"/>
          </a:xfrm>
          <a:prstGeom prst="roundRect">
            <a:avLst>
              <a:gd name="adj" fmla="val 1538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8040" y="80467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Model Works: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178040" y="1170432"/>
            <a:ext cx="4480560" cy="1325880"/>
          </a:xfrm>
          <a:prstGeom prst="roundRect">
            <a:avLst>
              <a:gd name="adj" fmla="val 5517"/>
            </a:avLst>
          </a:prstGeom>
          <a:solidFill>
            <a:srgbClr val="162233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0" y="122529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Long sharp beak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0" y="151790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SPEARS FISH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0" y="179222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need: food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78040" y="2633472"/>
            <a:ext cx="4480560" cy="1325880"/>
          </a:xfrm>
          <a:prstGeom prst="roundRect">
            <a:avLst>
              <a:gd name="adj" fmla="val 5517"/>
            </a:avLst>
          </a:prstGeom>
          <a:solidFill>
            <a:srgbClr val="162233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268833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Sleek streamlined body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0" y="298094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CUTS THROUGH WATER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0" y="325526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need: food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78040" y="4096512"/>
            <a:ext cx="4480560" cy="1325880"/>
          </a:xfrm>
          <a:prstGeom prst="roundRect">
            <a:avLst>
              <a:gd name="adj" fmla="val 5517"/>
            </a:avLst>
          </a:prstGeom>
          <a:solidFill>
            <a:srgbClr val="162233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415137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Dark water-absorbing feathers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0" y="444398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LETS WATER IN — stays submerged longer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0" y="471830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need: food/hunting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5897880"/>
            <a:ext cx="11430000" cy="658368"/>
          </a:xfrm>
          <a:prstGeom prst="roundRect">
            <a:avLst>
              <a:gd name="adj" fmla="val 11111"/>
            </a:avLst>
          </a:prstGeom>
          <a:solidFill>
            <a:srgbClr val="1A3A1A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Key Concept: A strong model uses arrows and short captions to show how each structure does its job — not just what it's called.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7" name="Text 25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11.02  ·  Model: Structure and Survival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Florida Adaptations — Four Cases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5577840" cy="2468880"/>
          </a:xfrm>
          <a:prstGeom prst="roundRect">
            <a:avLst>
              <a:gd name="adj" fmla="val 2963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841248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4124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Tree Frog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Green camouflage skin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149961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blends with leaves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181051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need: safety from predators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139696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40080" y="224942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" y="268833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" y="2980944"/>
            <a:ext cx="2157984" cy="-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"green tree frog Florida structural adaptation"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0" y="2139696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→ Action → Survival Need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749808"/>
            <a:ext cx="5577840" cy="2468880"/>
          </a:xfrm>
          <a:prstGeom prst="roundRect">
            <a:avLst>
              <a:gd name="adj" fmla="val 2963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841248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84124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Gopher Tortoise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92240" y="118872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Powerful digging legs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92240" y="149961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digs deep burrows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92240" y="181051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need: shelter + temperature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92240" y="2139696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6583680" y="224942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583680" y="268833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01968" y="2980944"/>
            <a:ext cx="2157984" cy="-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"gopher tortoise Florida structural adaptation"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144000" y="2139696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→ Action → Survival Need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447288"/>
            <a:ext cx="5577840" cy="2468880"/>
          </a:xfrm>
          <a:prstGeom prst="roundRect">
            <a:avLst>
              <a:gd name="adj" fmla="val 2963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3538728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5387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Anhinga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388620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Long sharp beak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419709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spears fish underwater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450799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need: food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4837176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640080" y="494690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40080" y="538581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58368" y="5678424"/>
            <a:ext cx="2157984" cy="-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"anhinga Florida structural adaptation"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200400" y="4837176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→ Action → Survival Need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09360" y="3447288"/>
            <a:ext cx="5577840" cy="2468880"/>
          </a:xfrm>
          <a:prstGeom prst="roundRect">
            <a:avLst>
              <a:gd name="adj" fmla="val 2963"/>
            </a:avLst>
          </a:prstGeom>
          <a:solidFill>
            <a:srgbClr val="1E2F45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46520" y="3538728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F4736A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46520" y="35387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 Pine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92240" y="388620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Resin-sealed cones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492240" y="419709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opens WITH fire — releases seeds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492240" y="450799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need: reproduction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492240" y="4837176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6583680" y="494690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6583680" y="538581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601968" y="5678424"/>
            <a:ext cx="2157984" cy="-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"florida pine Florida structural adaptation"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9144000" y="4837176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→ Action → Survival Need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50" name="Text 48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11.02  ·  Model: Structure and Survival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Revise Your Model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685800"/>
          </a:xfrm>
          <a:prstGeom prst="roundRect">
            <a:avLst>
              <a:gd name="adj" fmla="val 10667"/>
            </a:avLst>
          </a:prstGeom>
          <a:solidFill>
            <a:srgbClr val="0A2A18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Model Lesson Habit: Draw your model → Investigate → REVISE your model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2763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Your First Sketch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975104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back at your prediction boxes from slide 8.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Name the structure?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Write what it DOES?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Name the survival need?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any box where you only named the structure — that's a label, not a model.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0" y="1572768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162763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Your Revised Model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80760" y="1975104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the boxes you circled: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Add an arrow from the structure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Write what the structure DOES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Add a caption: "This helps the [animal] meet its survival need for [need] by [action]."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— that's how science models grow!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4" name="Text 12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11.02  ·  Model: Structure and Survival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1A5FB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5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CER Practice — Let's Build an Argument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822960"/>
          </a:xfrm>
          <a:prstGeom prst="roundRect">
            <a:avLst>
              <a:gd name="adj" fmla="val 8889"/>
            </a:avLst>
          </a:prstGeom>
          <a:solidFill>
            <a:srgbClr val="1E2F45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1064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Question: "A classmate says a drawing ISN'T science — real scientists only use numbers and graphs. Do you agree?"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11430000" cy="822960"/>
          </a:xfrm>
          <a:prstGeom prst="roundRect">
            <a:avLst>
              <a:gd name="adj" fmla="val 8889"/>
            </a:avLst>
          </a:prstGeom>
          <a:solidFill>
            <a:srgbClr val="0A203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4650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First: Teacher models how to START each panel. Then you fill them in!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633472"/>
            <a:ext cx="3474720" cy="3383280"/>
          </a:xfrm>
          <a:prstGeom prst="roundRect">
            <a:avLst>
              <a:gd name="adj" fmla="val 2703"/>
            </a:avLst>
          </a:prstGeom>
          <a:solidFill>
            <a:srgbClr val="0A3D8F"/>
          </a:solidFill>
          <a:ln w="19050">
            <a:solidFill>
              <a:srgbClr val="1A5FB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633472"/>
            <a:ext cx="3474720" cy="347472"/>
          </a:xfrm>
          <a:prstGeom prst="rect">
            <a:avLst/>
          </a:prstGeom>
          <a:solidFill>
            <a:srgbClr val="1A5FBD"/>
          </a:solidFill>
          <a:ln w="12700">
            <a:solidFill>
              <a:srgbClr val="1A5F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5176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CLAIM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035808"/>
            <a:ext cx="3200400" cy="2889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disagree. Scientists DO use drawings and visual models. NGSS recognizes drawings, 3-D builds, mental models, and computer models as science.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starter: "I claim that drawings are a form of science because..."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0" y="2633472"/>
            <a:ext cx="3474720" cy="3383280"/>
          </a:xfrm>
          <a:prstGeom prst="roundRect">
            <a:avLst>
              <a:gd name="adj" fmla="val 2703"/>
            </a:avLst>
          </a:prstGeom>
          <a:solidFill>
            <a:srgbClr val="145C35"/>
          </a:solidFill>
          <a:ln w="19050">
            <a:solidFill>
              <a:srgbClr val="228B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0" y="2633472"/>
            <a:ext cx="3474720" cy="347472"/>
          </a:xfrm>
          <a:prstGeom prst="rect">
            <a:avLst/>
          </a:prstGeom>
          <a:solidFill>
            <a:srgbClr val="228B50"/>
          </a:solidFill>
          <a:ln w="12700">
            <a:solidFill>
              <a:srgbClr val="228B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265176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EVIDENCE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51960" y="3035808"/>
            <a:ext cx="3200400" cy="2889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from today's lesson: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 anhinga model uses a drawing to explain how its beak function leads to catching fish.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NGSS lists 4 model types — two of them are drawings.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starter: "I know this because..."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863840" y="2633472"/>
            <a:ext cx="3474720" cy="3383280"/>
          </a:xfrm>
          <a:prstGeom prst="roundRect">
            <a:avLst>
              <a:gd name="adj" fmla="val 2703"/>
            </a:avLst>
          </a:prstGeom>
          <a:solidFill>
            <a:srgbClr val="7A3200"/>
          </a:solidFill>
          <a:ln w="19050">
            <a:solidFill>
              <a:srgbClr val="B04A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0" y="2633472"/>
            <a:ext cx="3474720" cy="347472"/>
          </a:xfrm>
          <a:prstGeom prst="rect">
            <a:avLst/>
          </a:prstGeom>
          <a:solidFill>
            <a:srgbClr val="B04A00"/>
          </a:solidFill>
          <a:ln w="12700">
            <a:solidFill>
              <a:srgbClr val="B04A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0" y="265176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REASONING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01000" y="3035808"/>
            <a:ext cx="3200400" cy="2889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Drawings explain RELATIONSHIPS that numbers alone can't show. An arrow from a beak to a fish tells a story that a measurement cannot.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starter: "This evidence supports my claim because..."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2" name="Text 20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11.02  ·  Model: Structure and Survival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1A5FB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5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Your Turn — Complete the CER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685800"/>
          </a:xfrm>
          <a:prstGeom prst="roundRect">
            <a:avLst>
              <a:gd name="adj" fmla="val 10667"/>
            </a:avLst>
          </a:prstGeom>
          <a:solidFill>
            <a:srgbClr val="1E2F45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Question: "Is the Florida panther's large paw a model-worthy adaptation? Why?"  Build a full CER in your notebook.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0A3D8F"/>
          </a:solidFill>
          <a:ln w="19050">
            <a:solidFill>
              <a:srgbClr val="1A5FB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72768"/>
            <a:ext cx="3611880" cy="347472"/>
          </a:xfrm>
          <a:prstGeom prst="rect">
            <a:avLst/>
          </a:prstGeom>
          <a:solidFill>
            <a:srgbClr val="1A5FBD"/>
          </a:solidFill>
          <a:ln w="12700">
            <a:solidFill>
              <a:srgbClr val="1A5F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9105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CLAIM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975104"/>
            <a:ext cx="3337560" cy="3621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starter: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claim the large paw IS/IS NOT a model-worthy adaptation because..."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60520" y="1572768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145C35"/>
          </a:solidFill>
          <a:ln w="19050">
            <a:solidFill>
              <a:srgbClr val="228B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60520" y="1572768"/>
            <a:ext cx="3611880" cy="347472"/>
          </a:xfrm>
          <a:prstGeom prst="rect">
            <a:avLst/>
          </a:prstGeom>
          <a:solidFill>
            <a:srgbClr val="228B50"/>
          </a:solidFill>
          <a:ln w="12700">
            <a:solidFill>
              <a:srgbClr val="228B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159105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EVIDENCE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97680" y="1975104"/>
            <a:ext cx="3337560" cy="3621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evidence from today: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does the large paw DO?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survival need does it meet?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"I know this because..."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55280" y="1572768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7A3200"/>
          </a:solidFill>
          <a:ln w="19050">
            <a:solidFill>
              <a:srgbClr val="B04A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1572768"/>
            <a:ext cx="3611880" cy="347472"/>
          </a:xfrm>
          <a:prstGeom prst="rect">
            <a:avLst/>
          </a:prstGeom>
          <a:solidFill>
            <a:srgbClr val="B04A00"/>
          </a:solidFill>
          <a:ln w="12700">
            <a:solidFill>
              <a:srgbClr val="B04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159105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REASONING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92440" y="1975104"/>
            <a:ext cx="3337560" cy="3621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CONNECTION: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Why does that evidence prove your claim?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does the structure → action → survival need chain show it?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"This evidence supports my claim because..."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5806440"/>
            <a:ext cx="11430000" cy="749808"/>
          </a:xfrm>
          <a:prstGeom prst="roundRect">
            <a:avLst>
              <a:gd name="adj" fmla="val 9756"/>
            </a:avLst>
          </a:prstGeom>
          <a:solidFill>
            <a:srgbClr val="1A1A2A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Panther fact: Florida panthers have extra-large paws compared to other big cats — perfect for moving silently through soft, swampy ground. Scientists model: big paws → spread weight → quiet steps → sneak up on deer.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2" name="Text 20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11.02  ·  Model: Structure and Survival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Explore — Build Your Own Model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Florida organism. By Step 4 you'll have a model that explains how one structure works.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61872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618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59105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Your Organism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938528"/>
            <a:ext cx="53035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your Florida organism (green tree frog, gopher tortoise, Florida pine, anhinga, or manatee). Pick ONE structure to focus on. Circle it.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09360" y="1170432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261872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2618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92240" y="159105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Label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1938528"/>
            <a:ext cx="53035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structure's name next to your circle. (Example: spoonbill beak.) Now you have a labeled drawing — but not yet a model.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685032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776472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7764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410565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Action Arrow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453128"/>
            <a:ext cx="53035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an arrow FROM the structure TO whatever it acts on. Above the arrow, write what the structure DOES. (spears fish / clings to bark / stores water)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09360" y="3685032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1E2F45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0" y="3776472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F4736A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7764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92240" y="410565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to a Survival Need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92240" y="4453128"/>
            <a:ext cx="53035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drawing: "This structure helps the [organism] meet its survival need for [food/water/shelter/safety] by [what it does]." NOW it's a model!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7" name="Text 25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11.02  ·  Model: Structure and Survival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F4736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 Elaborate — Mind-Blow + Go Deeper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1691640"/>
          </a:xfrm>
          <a:prstGeom prst="roundRect">
            <a:avLst>
              <a:gd name="adj" fmla="val 4324"/>
            </a:avLst>
          </a:prstGeom>
          <a:solidFill>
            <a:srgbClr val="1E2F45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🤯  Amazing Florida Fact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152144"/>
            <a:ext cx="1106424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 pine trees actually NEED FIRE to release their seeds — their cones are sealed with sticky resin until the heat of a wildfire melts it open. A structure shaped to USE a disaster, not avoid it. Scientists built a model of this: sealed cone → resin melts with heat → cone opens → seeds release → seeds germinate in ash-rich soil → forest regenerates.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578608"/>
            <a:ext cx="5577840" cy="3200400"/>
          </a:xfrm>
          <a:prstGeom prst="roundRect">
            <a:avLst>
              <a:gd name="adj" fmla="val 2286"/>
            </a:avLst>
          </a:prstGeom>
          <a:solidFill>
            <a:srgbClr val="162233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63347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 Go Deeper: Why So Many Types of Models?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980944"/>
            <a:ext cx="53035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pick the model that fits the question: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Flat drawing: good for showing what something looks like.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3-D model: shows how parts move and fit together.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Computer model: shows change over time (how a fish swims).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kind is good for a different job — just like structures.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2578608"/>
            <a:ext cx="5577840" cy="3200400"/>
          </a:xfrm>
          <a:prstGeom prst="roundRect">
            <a:avLst>
              <a:gd name="adj" fmla="val 2286"/>
            </a:avLst>
          </a:prstGeom>
          <a:solidFill>
            <a:srgbClr val="16223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263347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Florida Connection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55080" y="2980944"/>
            <a:ext cx="53035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Florida panther has extra-large paws compared to other big cats — perfect for moving silently through soft, swampy ground. Scientists model that adaptation as: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paws → spread weight → quiet steps → sneak up on deer.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4-box model. Built entirely from observations — no computer required.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5" name="Text 13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11.02  ·  Model: Structure and Survival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Quick Self-Check — Not Graded!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2606040"/>
          </a:xfrm>
          <a:prstGeom prst="roundRect">
            <a:avLst>
              <a:gd name="adj" fmla="val 2807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 What makes a science model stronger than just a labeled drawing?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16736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It uses fancier colors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6420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It is bigger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It uses arrows and short captions to show how parts work together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359152"/>
            <a:ext cx="11064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 model explains a RELATIONSHIP — that's what arrows and captions do. Colors and size don't make a model strong.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584448"/>
            <a:ext cx="11430000" cy="2606040"/>
          </a:xfrm>
          <a:prstGeom prst="roundRect">
            <a:avLst>
              <a:gd name="adj" fmla="val 2807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639312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 A green tree frog's color matches the leaves where it lives. The frog's color is best described as…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151376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A survival need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49884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An adaptation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846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An internal structure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193792"/>
            <a:ext cx="11064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frog's color is camouflage — a kind of ADAPTATION that helps it survive. A survival need is what it must have (food, water…). The color is a trait that helps it meet that need.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8" name="Text 16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11.02  ·  Model: Structure and Survival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Assignment Preview — Show What You Know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502920"/>
          </a:xfrm>
          <a:prstGeom prst="roundRect">
            <a:avLst>
              <a:gd name="adj" fmla="val 14545"/>
            </a:avLst>
          </a:prstGeom>
          <a:solidFill>
            <a:srgbClr val="162233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this assignment was practiced today. Check the slide number where we did each part.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3474720" cy="4754880"/>
          </a:xfrm>
          <a:prstGeom prst="roundRect">
            <a:avLst>
              <a:gd name="adj" fmla="val 2105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2646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Match the Word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32918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Adaptation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Survival need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Annotate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4 blanks.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(Practiced: Slides 4–5)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0" y="1371600"/>
            <a:ext cx="3474720" cy="4754880"/>
          </a:xfrm>
          <a:prstGeom prst="roundRect">
            <a:avLst>
              <a:gd name="adj" fmla="val 2105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51960" y="142646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Answer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51960" y="1783080"/>
            <a:ext cx="32918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questions — complete sentences + vocab: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Write adaptation as model: structure → action → survival need (Slide 10)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Difference between labeled drawing and model — use 'annotate' (Slides 6–7)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Why 3-D model of manatee fluke? Use 'function' (Slide 7)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63840" y="1371600"/>
            <a:ext cx="3840480" cy="4754880"/>
          </a:xfrm>
          <a:prstGeom prst="roundRect">
            <a:avLst>
              <a:gd name="adj" fmla="val 1905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142646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Build Your Own Model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01000" y="1783080"/>
            <a:ext cx="35661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science notebook: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Draw a Florida organism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Pick 1 structure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arrow showing action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Caption ties to survival need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PLUS: Key Question response (2–3 sentences + 3 vocab words)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Evidence argument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(Practiced: Slides 11, 14)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11.02  ·  Model: Structure and Survival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Reflect + Closing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Essential Question Response — Write in your science notebook: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1097280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can a model show WHY a structure helps an organism survive — not just what it's called?"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2–3 sentences using vocab words from today.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04288"/>
            <a:ext cx="7315200" cy="2560320"/>
          </a:xfrm>
          <a:prstGeom prst="roundRect">
            <a:avLst>
              <a:gd name="adj" fmla="val 2857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59152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What to Turn In: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A: All 4 blanks filled in using the word bank.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090672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B: Questions 5, 6, and 7 in complete sentences with vocab.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438144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C: Annotated model — organism, structure, action arrow, survival need caption.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785616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Key Question Response: 2–3 sentences, at least 3 vocab words.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133088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Evidence Response: Claim about drawings as science + 2 pieces of evidence.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63840" y="2304288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1A1A3A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23591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 Coming Next: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01000" y="274320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12.01 — Sensing the World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animals notice what's happening around them — and decide what to do about it?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trace the four-step stimulus → sense organ → brain → response pathway in Florida animals.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5047488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512064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work today, scientists! See you next time.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11.02  ·  Model: Structure and Survival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2026-07-13T20:20:06Z</dcterms:created>
  <dcterms:modified xsi:type="dcterms:W3CDTF">2026-07-13T20:20:06Z</dcterms:modified>
</cp:coreProperties>
</file>