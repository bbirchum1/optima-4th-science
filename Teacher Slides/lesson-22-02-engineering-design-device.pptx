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full engineering design lesson. Students will walk through the entire Ask→Imagine→Plan→Build→Test→Redesign cycle. The big idea: engineers EXPECT failure and use it to improve. CER is introduced in the context of justifying design choices. Key misconception to bust: 'Engineers get it right the first time.' They don't — and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to write their idea. Don't reveal answers. Accept all responses — solar panels, water wheel generator, hand crank, windmill. Ask: 'What energy form do you start with? What energy form do you want?' This sets up the INPUT→OUTPUT framework for the whole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student predictions on the board. You'll return to them during REDESIGN slides. The Wright Brothers fact is a preview of Slide 13 — plant the seed now. Ask: 'What makes you predict that energy type?' / 'Has anyone seen a device that does something like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A=Criterion, B=Constraint, C=Constraint, D=Criterion. The distinction: Criteria = what it MUST DO (goals). Constraints = what you CANNOT DO (limits). Ask: 'Can you think of a real constraint from your daily life?' / 'Why would engineers need to know the constraints before they start designing?'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three-step loop (Prototype→Test→Redesign) repeats many times in real engineering. Ask: 'Why is it important to change only ONE thing between tests?' (So you know what caused the improvement.) / 'What is the difference between a prototype and a final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Phase = defining success and limits BEFORE you try to solve anything. Ask: 'Why would an engineer want to know ALL the constraints before spending time designing?' / 'What happens if you skip the ASK phase and just start building?' / 'Can you add two more criteria for our hiking flashlight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 quantity of ideas; PLAN = quality check. Ask: 'Why brainstorm multiple ideas before picking one?' / 'Which design would you pick and why — what evidence supports that choice?' / Remind students: the best engineers hold all ideas loosely until they test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sketch — 5 to 7 minutes. Circulate and ask: 'Point to where the energy conversion happens in your sketch.' / 'Does your design meet both criteria? How do you know?' / 'What do you think might break or not work? That's your first test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scientific method — variables. Ask: 'Why do engineers test BEFORE declaring the design finished?' / 'What's the difference between a test that tells you something useful vs. one that doesn't?' / 'If your design produces SOME light but not enough — did it pass or fail? What does that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change only ONE thing between redesigns?' (So you know what caused the improvement.) / 'Is there a difference between a redesign that improves a design and one that just changes it?' / 'How would you describe your redesign idea using the sentence frame: I would change ___ because the test showed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analysis is one of the most important engineering thinking skills. Ask: 'If you NEEDED to charge a phone at night, what redesign would address the GIVE UP column?' / 'Can you add a storage battery to fix the night problem — what new trade-offs does THAT create?' / 'Is a trade-off always bad, or is it just a factor to consider?'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evidence-based argument exercise. Students should identify what CONTEXT would make each design better or worse. Ask: 'For a 3-day camping trip in Florida summer, which would you pick?' / 'For a hurricane shelter with no sun for a week?' / 'What does this tell us about how context shapes design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core of the lesson — reframing failure as data. Ask: 'Has anyone ever tried something and it didn't work the first time?' / 'What did you learn from it?' / 'Does knowing that professionals fail hundreds of times make you feel differently about redesigning your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scientific method from earlier lessons. Ask: 'For a hand-crank flashlight, what would be your independent variable if you were testing to improve it?' / 'What would you measure?' / 'Why can't you change two things at once?' This also previews science fair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claim is NOT just a preference — it must state what the design DOES and why that matters. Ask: 'What's the difference between saying I prefer solar and I claim solar is better because...' / 'Does your claim address the criteria specifically?' / 'What would make your claim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must be specific and come from a test. Ask: 'Is a prediction evidence? No — it's a hypothesis.' / 'What's the difference between evidence and opinion in engineering?' / 'Could you use your trade-off analysis from earlier as evidence? Yes — it's based on observable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is the hardest part — it's not just restating the evidence but connecting it to why the evidence matters in light of a principle. Ask: 'What engineering principle connects solar energy to this specific criterion?' / 'Could someone use the same evidence to support a different claim? How would their reasoning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pick ONE challenge for deeper exploration. This is the main Explore activity. Give 8-10 minutes. Circulate and ask: 'Where exactly does the energy conversion happen in your design?' / 'If you couldn't build it exactly as planned due to your constraint, what would you change?' / 'How does your design compare to a classmate's different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Florida context makes this personally relevant. Ask: 'Has anyone experienced a power outage during a storm?' / 'What energy conversion device would be most useful in that situation?' / 'If you were designing a Florida hurricane power solution, which of your four design challenges would you choose? Why?' This also previews environmental impact connections to 4-ESS3-1.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 minutes to write answers in their notebooks before revealing. Ask: 'Which question was hardest? Why?' / 'Did anyone word Q3 differently but still get the same idea?' / 'Can you think of a 4th question you'd want to add to this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Part C carefully — students often forget to label the conversion POINT (where energy changes form), not just the input and output. Remind: 'Your sketch needs all 7 labels checked off.' For the Evidence Response, remind students to use at least one piece of specific evidence — the Wright Brothers example is fair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reflection: Ask 'What is one thing you learned today that surprised you?' / 'What would you change about your design after today's lesson?' / 'What question about engineering design do you still have?' Return to student predictions from Slide 3 — ask who was right and who was surprised.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Engineering: Design a Device That Converts Energy</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Q3 · Unit 22 · Engineering Design</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4-ESS3-1 — Obtain and combine information to describe that energy and fuels are derived from natural resources and their uses affect the environment.</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list criteria and constraints for an energy-converting device.</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sketch a prototype showing the input, conversion, and output.</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describe one test I would run AND one possible redesign I would try.</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Colored pencils</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ENGAGE — Your Flashlight Just Died!</a:t>
            </a:r>
            <a:endParaRPr lang="en-US" sz="1600" dirty="0"/>
          </a:p>
        </p:txBody>
      </p:sp>
      <p:sp>
        <p:nvSpPr>
          <p:cNvPr id="5" name="Shape 3"/>
          <p:cNvSpPr/>
          <p:nvPr/>
        </p:nvSpPr>
        <p:spPr>
          <a:xfrm>
            <a:off x="365760" y="713232"/>
            <a:ext cx="502920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22960"/>
            <a:ext cx="48463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48463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480974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state park hiking trail sunset sunlight stream nature forest"</a:t>
            </a:r>
            <a:endParaRPr lang="en-US" sz="950" dirty="0"/>
          </a:p>
        </p:txBody>
      </p:sp>
      <p:sp>
        <p:nvSpPr>
          <p:cNvPr id="9" name="Text 7"/>
          <p:cNvSpPr/>
          <p:nvPr/>
        </p:nvSpPr>
        <p:spPr>
          <a:xfrm>
            <a:off x="365760" y="5779008"/>
            <a:ext cx="50292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Deep in a Florida state park — no battery, no store, no signal.</a:t>
            </a:r>
            <a:endParaRPr lang="en-US" sz="900" dirty="0"/>
          </a:p>
        </p:txBody>
      </p:sp>
      <p:sp>
        <p:nvSpPr>
          <p:cNvPr id="10" name="Shape 8"/>
          <p:cNvSpPr/>
          <p:nvPr/>
        </p:nvSpPr>
        <p:spPr>
          <a:xfrm>
            <a:off x="5577840" y="713232"/>
            <a:ext cx="6400800" cy="5029200"/>
          </a:xfrm>
          <a:prstGeom prst="roundRect">
            <a:avLst>
              <a:gd name="adj" fmla="val 1455"/>
            </a:avLst>
          </a:prstGeom>
          <a:solidFill>
            <a:srgbClr val="1E2F45"/>
          </a:solidFill>
          <a:ln w="12700">
            <a:solidFill>
              <a:srgbClr val="FFB703"/>
            </a:solidFill>
            <a:prstDash val="solid"/>
          </a:ln>
        </p:spPr>
      </p:sp>
      <p:sp>
        <p:nvSpPr>
          <p:cNvPr id="11" name="Text 9"/>
          <p:cNvSpPr/>
          <p:nvPr/>
        </p:nvSpPr>
        <p:spPr>
          <a:xfrm>
            <a:off x="5760720" y="804672"/>
            <a:ext cx="603504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The Scenario:</a:t>
            </a:r>
            <a:endParaRPr lang="en-US" sz="1300" dirty="0"/>
          </a:p>
        </p:txBody>
      </p:sp>
      <p:sp>
        <p:nvSpPr>
          <p:cNvPr id="12" name="Text 10"/>
          <p:cNvSpPr/>
          <p:nvPr/>
        </p:nvSpPr>
        <p:spPr>
          <a:xfrm>
            <a:off x="5760720" y="1170432"/>
            <a:ext cx="6035040" cy="22860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You're hiking in a Florida state park. It's getting dark.</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Your flashlight battery just DIED — and the nearest store is miles away.</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Look around: You have sunlight, wind, your own hands, and a nearby stream.</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Sunlight   Wind   Your Hands   Stream</a:t>
            </a:r>
            <a:endParaRPr lang="en-US" sz="1200" dirty="0"/>
          </a:p>
        </p:txBody>
      </p:sp>
      <p:sp>
        <p:nvSpPr>
          <p:cNvPr id="13" name="Shape 11"/>
          <p:cNvSpPr/>
          <p:nvPr/>
        </p:nvSpPr>
        <p:spPr>
          <a:xfrm>
            <a:off x="5577840" y="3520440"/>
            <a:ext cx="6400800" cy="36576"/>
          </a:xfrm>
          <a:prstGeom prst="rect">
            <a:avLst/>
          </a:prstGeom>
          <a:solidFill>
            <a:srgbClr val="243A52"/>
          </a:solidFill>
          <a:ln/>
        </p:spPr>
      </p:sp>
      <p:sp>
        <p:nvSpPr>
          <p:cNvPr id="14" name="Text 12"/>
          <p:cNvSpPr/>
          <p:nvPr/>
        </p:nvSpPr>
        <p:spPr>
          <a:xfrm>
            <a:off x="5760720" y="3611880"/>
            <a:ext cx="603504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The Challenge:</a:t>
            </a:r>
            <a:endParaRPr lang="en-US" sz="1200" dirty="0"/>
          </a:p>
        </p:txBody>
      </p:sp>
      <p:sp>
        <p:nvSpPr>
          <p:cNvPr id="15" name="Text 13"/>
          <p:cNvSpPr/>
          <p:nvPr/>
        </p:nvSpPr>
        <p:spPr>
          <a:xfrm>
            <a:off x="5760720" y="3977640"/>
            <a:ext cx="6035040" cy="160020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"What device could you design to give you light — without a regular battery?"</a:t>
            </a:r>
            <a:endParaRPr lang="en-US" sz="1200" dirty="0"/>
          </a:p>
          <a:p>
            <a:pPr indent="0" marL="0">
              <a:buNone/>
            </a:pPr>
            <a:endParaRPr lang="en-US" sz="1200" dirty="0"/>
          </a:p>
          <a:p>
            <a:pPr indent="0" marL="0">
              <a:buNone/>
            </a:pPr>
            <a:r>
              <a:rPr lang="en-US" sz="1200" i="1" dirty="0">
                <a:solidFill>
                  <a:srgbClr val="FFFFFF"/>
                </a:solidFill>
                <a:latin typeface="Calibri" pitchFamily="34" charset="0"/>
                <a:ea typeface="Calibri" pitchFamily="34" charset="-122"/>
                <a:cs typeface="Calibri" pitchFamily="34" charset="-120"/>
              </a:rPr>
              <a:t>Write 1 idea in your science notebook before we go further.</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ENGAGE — Your Engineering Prediction</a:t>
            </a:r>
            <a:endParaRPr lang="en-US" sz="1600" dirty="0"/>
          </a:p>
        </p:txBody>
      </p:sp>
      <p:sp>
        <p:nvSpPr>
          <p:cNvPr id="5" name="Shape 3"/>
          <p:cNvSpPr/>
          <p:nvPr/>
        </p:nvSpPr>
        <p:spPr>
          <a:xfrm>
            <a:off x="365760" y="713232"/>
            <a:ext cx="11430000" cy="1325880"/>
          </a:xfrm>
          <a:prstGeom prst="roundRect">
            <a:avLst>
              <a:gd name="adj" fmla="val 5517"/>
            </a:avLst>
          </a:prstGeom>
          <a:solidFill>
            <a:srgbClr val="1E2F45"/>
          </a:solidFill>
          <a:ln w="12700">
            <a:solidFill>
              <a:srgbClr val="FFB703"/>
            </a:solidFill>
            <a:prstDash val="solid"/>
          </a:ln>
        </p:spPr>
      </p:sp>
      <p:sp>
        <p:nvSpPr>
          <p:cNvPr id="6" name="Text 4"/>
          <p:cNvSpPr/>
          <p:nvPr/>
        </p:nvSpPr>
        <p:spPr>
          <a:xfrm>
            <a:off x="548640" y="777240"/>
            <a:ext cx="10972800" cy="320040"/>
          </a:xfrm>
          <a:prstGeom prst="rect">
            <a:avLst/>
          </a:prstGeom>
          <a:noFill/>
          <a:ln/>
        </p:spPr>
        <p:txBody>
          <a:bodyPr wrap="square" rtlCol="0" anchor="ctr"/>
          <a:lstStyle/>
          <a:p>
            <a:pPr indent="0" marL="0">
              <a:buNone/>
            </a:pPr>
            <a:r>
              <a:rPr lang="en-US" sz="1100" b="1" dirty="0">
                <a:solidFill>
                  <a:srgbClr val="FFB703"/>
                </a:solidFill>
                <a:latin typeface="Calibri" pitchFamily="34" charset="0"/>
                <a:ea typeface="Calibri" pitchFamily="34" charset="-122"/>
                <a:cs typeface="Calibri" pitchFamily="34" charset="-120"/>
              </a:rPr>
              <a:t>Key Question:</a:t>
            </a:r>
            <a:endParaRPr lang="en-US" sz="1100" dirty="0"/>
          </a:p>
        </p:txBody>
      </p:sp>
      <p:sp>
        <p:nvSpPr>
          <p:cNvPr id="7" name="Text 5"/>
          <p:cNvSpPr/>
          <p:nvPr/>
        </p:nvSpPr>
        <p:spPr>
          <a:xfrm>
            <a:off x="548640" y="1115568"/>
            <a:ext cx="10972800" cy="7772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YOU design a working device that converts one form of energy into another?"</a:t>
            </a:r>
            <a:endParaRPr lang="en-US" sz="1300" dirty="0"/>
          </a:p>
        </p:txBody>
      </p:sp>
      <p:sp>
        <p:nvSpPr>
          <p:cNvPr id="8" name="Shape 6"/>
          <p:cNvSpPr/>
          <p:nvPr/>
        </p:nvSpPr>
        <p:spPr>
          <a:xfrm>
            <a:off x="365760" y="2176272"/>
            <a:ext cx="7132320" cy="3383280"/>
          </a:xfrm>
          <a:prstGeom prst="roundRect">
            <a:avLst>
              <a:gd name="adj" fmla="val 2162"/>
            </a:avLst>
          </a:prstGeom>
          <a:solidFill>
            <a:srgbClr val="132040"/>
          </a:solidFill>
          <a:ln w="12700">
            <a:solidFill>
              <a:srgbClr val="4CC9F0"/>
            </a:solidFill>
            <a:prstDash val="solid"/>
          </a:ln>
        </p:spPr>
      </p:sp>
      <p:sp>
        <p:nvSpPr>
          <p:cNvPr id="9" name="Text 7"/>
          <p:cNvSpPr/>
          <p:nvPr/>
        </p:nvSpPr>
        <p:spPr>
          <a:xfrm>
            <a:off x="548640" y="2267712"/>
            <a:ext cx="676656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Make Your Prediction</a:t>
            </a:r>
            <a:endParaRPr lang="en-US" sz="1300" dirty="0"/>
          </a:p>
        </p:txBody>
      </p:sp>
      <p:sp>
        <p:nvSpPr>
          <p:cNvPr id="10" name="Text 8"/>
          <p:cNvSpPr/>
          <p:nvPr/>
        </p:nvSpPr>
        <p:spPr>
          <a:xfrm>
            <a:off x="548640" y="2633472"/>
            <a:ext cx="6766560" cy="28346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your science notebook, write:</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 predict my design would use ___ (input energy) and convert it to ___ (output energy) because ___.</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One challenge I think I would face is ___."</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Draw a quick first sketch — even a rough one!</a:t>
            </a:r>
            <a:endParaRPr lang="en-US" sz="1200" dirty="0"/>
          </a:p>
        </p:txBody>
      </p:sp>
      <p:sp>
        <p:nvSpPr>
          <p:cNvPr id="11" name="Shape 9"/>
          <p:cNvSpPr/>
          <p:nvPr/>
        </p:nvSpPr>
        <p:spPr>
          <a:xfrm>
            <a:off x="7680960" y="2176272"/>
            <a:ext cx="4206240" cy="3383280"/>
          </a:xfrm>
          <a:prstGeom prst="roundRect">
            <a:avLst>
              <a:gd name="adj" fmla="val 2162"/>
            </a:avLst>
          </a:prstGeom>
          <a:solidFill>
            <a:srgbClr val="1E2F45"/>
          </a:solidFill>
          <a:ln w="12700">
            <a:solidFill>
              <a:srgbClr val="2DC653"/>
            </a:solidFill>
            <a:prstDash val="solid"/>
          </a:ln>
        </p:spPr>
      </p:sp>
      <p:sp>
        <p:nvSpPr>
          <p:cNvPr id="12" name="Text 10"/>
          <p:cNvSpPr/>
          <p:nvPr/>
        </p:nvSpPr>
        <p:spPr>
          <a:xfrm>
            <a:off x="7863840" y="2267712"/>
            <a:ext cx="3840480" cy="329184"/>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Mind-Blowing Fact!</a:t>
            </a:r>
            <a:endParaRPr lang="en-US" sz="1100" dirty="0"/>
          </a:p>
        </p:txBody>
      </p:sp>
      <p:sp>
        <p:nvSpPr>
          <p:cNvPr id="13" name="Text 11"/>
          <p:cNvSpPr/>
          <p:nvPr/>
        </p:nvSpPr>
        <p:spPr>
          <a:xfrm>
            <a:off x="7863840" y="2633472"/>
            <a:ext cx="3840480" cy="2834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Wright Brothers tested their wing designs MORE THAN 200 TIMES before their first successful flight.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Each failure taught them something new.</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Redesign IS the process — not proof of failure!</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 Engineering Design Words: Set 1</a:t>
            </a:r>
            <a:endParaRPr lang="en-US" sz="1600" dirty="0"/>
          </a:p>
        </p:txBody>
      </p:sp>
      <p:sp>
        <p:nvSpPr>
          <p:cNvPr id="5" name="Shape 3"/>
          <p:cNvSpPr/>
          <p:nvPr/>
        </p:nvSpPr>
        <p:spPr>
          <a:xfrm>
            <a:off x="365760" y="713232"/>
            <a:ext cx="539496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365760" y="713232"/>
            <a:ext cx="539496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457200" y="740664"/>
            <a:ext cx="52120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Criteria</a:t>
            </a:r>
            <a:endParaRPr lang="en-US" sz="1200" dirty="0"/>
          </a:p>
        </p:txBody>
      </p:sp>
      <p:sp>
        <p:nvSpPr>
          <p:cNvPr id="8" name="Text 6"/>
          <p:cNvSpPr/>
          <p:nvPr/>
        </p:nvSpPr>
        <p:spPr>
          <a:xfrm>
            <a:off x="475488" y="1115568"/>
            <a:ext cx="51755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What a good design NEEDS to do — the goals.</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Example: 'The device must produce enough light to read a map at night.'</a:t>
            </a:r>
            <a:endParaRPr lang="en-US" sz="1050" dirty="0"/>
          </a:p>
        </p:txBody>
      </p:sp>
      <p:sp>
        <p:nvSpPr>
          <p:cNvPr id="9" name="Shape 7"/>
          <p:cNvSpPr/>
          <p:nvPr/>
        </p:nvSpPr>
        <p:spPr>
          <a:xfrm>
            <a:off x="6035040" y="713232"/>
            <a:ext cx="5806440" cy="1325880"/>
          </a:xfrm>
          <a:prstGeom prst="roundRect">
            <a:avLst>
              <a:gd name="adj" fmla="val 6897"/>
            </a:avLst>
          </a:prstGeom>
          <a:solidFill>
            <a:srgbClr val="1E2F45"/>
          </a:solidFill>
          <a:ln w="25400">
            <a:solidFill>
              <a:srgbClr val="F4736A"/>
            </a:solidFill>
            <a:prstDash val="solid"/>
          </a:ln>
        </p:spPr>
      </p:sp>
      <p:sp>
        <p:nvSpPr>
          <p:cNvPr id="10" name="Shape 8"/>
          <p:cNvSpPr/>
          <p:nvPr/>
        </p:nvSpPr>
        <p:spPr>
          <a:xfrm>
            <a:off x="6035040" y="713232"/>
            <a:ext cx="5806440" cy="347472"/>
          </a:xfrm>
          <a:prstGeom prst="roundRect">
            <a:avLst>
              <a:gd name="adj" fmla="val 21053"/>
            </a:avLst>
          </a:prstGeom>
          <a:solidFill>
            <a:srgbClr val="F4736A"/>
          </a:solidFill>
          <a:ln w="12700">
            <a:solidFill>
              <a:srgbClr val="F4736A"/>
            </a:solidFill>
            <a:prstDash val="solid"/>
          </a:ln>
        </p:spPr>
      </p:sp>
      <p:sp>
        <p:nvSpPr>
          <p:cNvPr id="11" name="Text 9"/>
          <p:cNvSpPr/>
          <p:nvPr/>
        </p:nvSpPr>
        <p:spPr>
          <a:xfrm>
            <a:off x="6126480" y="740664"/>
            <a:ext cx="562356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Constraint</a:t>
            </a:r>
            <a:endParaRPr lang="en-US" sz="1200" dirty="0"/>
          </a:p>
        </p:txBody>
      </p:sp>
      <p:sp>
        <p:nvSpPr>
          <p:cNvPr id="12" name="Text 10"/>
          <p:cNvSpPr/>
          <p:nvPr/>
        </p:nvSpPr>
        <p:spPr>
          <a:xfrm>
            <a:off x="6144768" y="1115568"/>
            <a:ext cx="558698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LIMIT on what you can do — budget, available materials, time, or safety rules.</a:t>
            </a:r>
            <a:endParaRPr lang="en-US" sz="1050" dirty="0"/>
          </a:p>
          <a:p>
            <a:pPr algn="l" indent="0" marL="0">
              <a:buNone/>
            </a:pPr>
            <a:endParaRPr lang="en-US" sz="1050" dirty="0"/>
          </a:p>
          <a:p>
            <a:pPr algn="l" indent="0" marL="0">
              <a:buNone/>
            </a:pPr>
            <a:r>
              <a:rPr lang="en-US" sz="1050" dirty="0">
                <a:solidFill>
                  <a:srgbClr val="B0C4D8"/>
                </a:solidFill>
                <a:latin typeface="Calibri" pitchFamily="34" charset="0"/>
                <a:ea typeface="Calibri" pitchFamily="34" charset="-122"/>
                <a:cs typeface="Calibri" pitchFamily="34" charset="-120"/>
              </a:rPr>
              <a:t>Example: 'You cannot use batteries or any stored electricity.'</a:t>
            </a:r>
            <a:endParaRPr lang="en-US" sz="1050" dirty="0"/>
          </a:p>
        </p:txBody>
      </p:sp>
      <p:sp>
        <p:nvSpPr>
          <p:cNvPr id="13" name="Shape 11"/>
          <p:cNvSpPr/>
          <p:nvPr/>
        </p:nvSpPr>
        <p:spPr>
          <a:xfrm>
            <a:off x="365760" y="2267712"/>
            <a:ext cx="11430000" cy="3108960"/>
          </a:xfrm>
          <a:prstGeom prst="roundRect">
            <a:avLst>
              <a:gd name="adj" fmla="val 2353"/>
            </a:avLst>
          </a:prstGeom>
          <a:solidFill>
            <a:srgbClr val="162233"/>
          </a:solidFill>
          <a:ln w="12700">
            <a:solidFill>
              <a:srgbClr val="FFB703"/>
            </a:solidFill>
            <a:prstDash val="solid"/>
          </a:ln>
        </p:spPr>
      </p:sp>
      <p:sp>
        <p:nvSpPr>
          <p:cNvPr id="14" name="Text 12"/>
          <p:cNvSpPr/>
          <p:nvPr/>
        </p:nvSpPr>
        <p:spPr>
          <a:xfrm>
            <a:off x="530352" y="2340864"/>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Criteria vs. Constraint — Try It!</a:t>
            </a:r>
            <a:endParaRPr lang="en-US" sz="1300" dirty="0"/>
          </a:p>
        </p:txBody>
      </p:sp>
      <p:sp>
        <p:nvSpPr>
          <p:cNvPr id="15" name="Text 13"/>
          <p:cNvSpPr/>
          <p:nvPr/>
        </p:nvSpPr>
        <p:spPr>
          <a:xfrm>
            <a:off x="530352" y="2706624"/>
            <a:ext cx="11100816" cy="2560320"/>
          </a:xfrm>
          <a:prstGeom prst="rect">
            <a:avLst/>
          </a:prstGeom>
          <a:noFill/>
          <a:ln/>
        </p:spPr>
        <p:txBody>
          <a:bodyPr wrap="square" rtlCol="0" anchor="t"/>
          <a:lstStyle/>
          <a:p>
            <a:pPr algn="l" indent="0" marL="0">
              <a:buNone/>
            </a:pPr>
            <a:r>
              <a:rPr lang="en-US" sz="1150" i="1" dirty="0">
                <a:solidFill>
                  <a:srgbClr val="FFFFFF"/>
                </a:solidFill>
                <a:latin typeface="Calibri" pitchFamily="34" charset="0"/>
                <a:ea typeface="Calibri" pitchFamily="34" charset="-122"/>
                <a:cs typeface="Calibri" pitchFamily="34" charset="-120"/>
              </a:rPr>
              <a:t>A design challenge: "Build a device that turns water into electricity for a small cabin."</a:t>
            </a:r>
            <a:endParaRPr lang="en-US" sz="1150" dirty="0"/>
          </a:p>
          <a:p>
            <a:pPr algn="l" indent="0" marL="0">
              <a:buNone/>
            </a:pP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Is each one a CRITERION or a CONSTRAINT?</a:t>
            </a:r>
            <a:endParaRPr lang="en-US" sz="1150" dirty="0"/>
          </a:p>
          <a:p>
            <a:pPr algn="l" indent="0" marL="0">
              <a:buNone/>
            </a:pP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  A) The device must power at least one light bulb.       ___________</a:t>
            </a: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  B) The device must cost less than $50 to build.        ___________</a:t>
            </a: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  C) The device cannot use any non-renewable fuel.       ___________</a:t>
            </a: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  D) The device must work even when the stream is slow.  ___________</a:t>
            </a:r>
            <a:endParaRPr lang="en-US" sz="1150" dirty="0"/>
          </a:p>
          <a:p>
            <a:pPr algn="l" indent="0" marL="0">
              <a:buNone/>
            </a:pPr>
            <a:endParaRPr lang="en-US" sz="1150" dirty="0"/>
          </a:p>
          <a:p>
            <a:pPr algn="l" indent="0" marL="0">
              <a:buNone/>
            </a:pPr>
            <a:r>
              <a:rPr lang="en-US" sz="1150" i="1" dirty="0">
                <a:solidFill>
                  <a:srgbClr val="FFFFFF"/>
                </a:solidFill>
                <a:latin typeface="Calibri" pitchFamily="34" charset="0"/>
                <a:ea typeface="Calibri" pitchFamily="34" charset="-122"/>
                <a:cs typeface="Calibri" pitchFamily="34" charset="-120"/>
              </a:rPr>
              <a:t>Turn and talk: How would adding more constraints make designing HARDER?</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 Engineering Design Words: Set 2</a:t>
            </a:r>
            <a:endParaRPr lang="en-US" sz="1600" dirty="0"/>
          </a:p>
        </p:txBody>
      </p:sp>
      <p:sp>
        <p:nvSpPr>
          <p:cNvPr id="5" name="Shape 3"/>
          <p:cNvSpPr/>
          <p:nvPr/>
        </p:nvSpPr>
        <p:spPr>
          <a:xfrm>
            <a:off x="365760" y="713232"/>
            <a:ext cx="3566160" cy="1325880"/>
          </a:xfrm>
          <a:prstGeom prst="roundRect">
            <a:avLst>
              <a:gd name="adj" fmla="val 6897"/>
            </a:avLst>
          </a:prstGeom>
          <a:solidFill>
            <a:srgbClr val="1E2F45"/>
          </a:solidFill>
          <a:ln w="25400">
            <a:solidFill>
              <a:srgbClr val="2DC653"/>
            </a:solidFill>
            <a:prstDash val="solid"/>
          </a:ln>
        </p:spPr>
      </p:sp>
      <p:sp>
        <p:nvSpPr>
          <p:cNvPr id="6" name="Shape 4"/>
          <p:cNvSpPr/>
          <p:nvPr/>
        </p:nvSpPr>
        <p:spPr>
          <a:xfrm>
            <a:off x="365760" y="713232"/>
            <a:ext cx="3566160" cy="347472"/>
          </a:xfrm>
          <a:prstGeom prst="roundRect">
            <a:avLst>
              <a:gd name="adj" fmla="val 21053"/>
            </a:avLst>
          </a:prstGeom>
          <a:solidFill>
            <a:srgbClr val="2DC653"/>
          </a:solidFill>
          <a:ln w="12700">
            <a:solidFill>
              <a:srgbClr val="2DC653"/>
            </a:solidFill>
            <a:prstDash val="solid"/>
          </a:ln>
        </p:spPr>
      </p:sp>
      <p:sp>
        <p:nvSpPr>
          <p:cNvPr id="7" name="Text 5"/>
          <p:cNvSpPr/>
          <p:nvPr/>
        </p:nvSpPr>
        <p:spPr>
          <a:xfrm>
            <a:off x="457200" y="740664"/>
            <a:ext cx="338328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Prototype</a:t>
            </a:r>
            <a:endParaRPr lang="en-US" sz="1200" dirty="0"/>
          </a:p>
        </p:txBody>
      </p:sp>
      <p:sp>
        <p:nvSpPr>
          <p:cNvPr id="8" name="Text 6"/>
          <p:cNvSpPr/>
          <p:nvPr/>
        </p:nvSpPr>
        <p:spPr>
          <a:xfrm>
            <a:off x="475488" y="1115568"/>
            <a:ext cx="334670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FIRST version of a design — built to test ideas before making the final version.</a:t>
            </a:r>
            <a:endParaRPr lang="en-US" sz="1050" dirty="0"/>
          </a:p>
        </p:txBody>
      </p:sp>
      <p:sp>
        <p:nvSpPr>
          <p:cNvPr id="9" name="Shape 7"/>
          <p:cNvSpPr/>
          <p:nvPr/>
        </p:nvSpPr>
        <p:spPr>
          <a:xfrm>
            <a:off x="4114800" y="713232"/>
            <a:ext cx="3657600" cy="1325880"/>
          </a:xfrm>
          <a:prstGeom prst="roundRect">
            <a:avLst>
              <a:gd name="adj" fmla="val 6897"/>
            </a:avLst>
          </a:prstGeom>
          <a:solidFill>
            <a:srgbClr val="1E2F45"/>
          </a:solidFill>
          <a:ln w="25400">
            <a:solidFill>
              <a:srgbClr val="FFB703"/>
            </a:solidFill>
            <a:prstDash val="solid"/>
          </a:ln>
        </p:spPr>
      </p:sp>
      <p:sp>
        <p:nvSpPr>
          <p:cNvPr id="10" name="Shape 8"/>
          <p:cNvSpPr/>
          <p:nvPr/>
        </p:nvSpPr>
        <p:spPr>
          <a:xfrm>
            <a:off x="4114800" y="713232"/>
            <a:ext cx="3657600" cy="347472"/>
          </a:xfrm>
          <a:prstGeom prst="roundRect">
            <a:avLst>
              <a:gd name="adj" fmla="val 21053"/>
            </a:avLst>
          </a:prstGeom>
          <a:solidFill>
            <a:srgbClr val="FFB703"/>
          </a:solidFill>
          <a:ln w="12700">
            <a:solidFill>
              <a:srgbClr val="FFB703"/>
            </a:solidFill>
            <a:prstDash val="solid"/>
          </a:ln>
        </p:spPr>
      </p:sp>
      <p:sp>
        <p:nvSpPr>
          <p:cNvPr id="11" name="Text 9"/>
          <p:cNvSpPr/>
          <p:nvPr/>
        </p:nvSpPr>
        <p:spPr>
          <a:xfrm>
            <a:off x="4206240" y="740664"/>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Redesign</a:t>
            </a:r>
            <a:endParaRPr lang="en-US" sz="1200" dirty="0"/>
          </a:p>
        </p:txBody>
      </p:sp>
      <p:sp>
        <p:nvSpPr>
          <p:cNvPr id="12" name="Text 10"/>
          <p:cNvSpPr/>
          <p:nvPr/>
        </p:nvSpPr>
        <p:spPr>
          <a:xfrm>
            <a:off x="4224528" y="1115568"/>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CHANGE and IMPROVE a design based on testing results. What you learn from failure.</a:t>
            </a:r>
            <a:endParaRPr lang="en-US" sz="1050" dirty="0"/>
          </a:p>
        </p:txBody>
      </p:sp>
      <p:sp>
        <p:nvSpPr>
          <p:cNvPr id="13" name="Shape 11"/>
          <p:cNvSpPr/>
          <p:nvPr/>
        </p:nvSpPr>
        <p:spPr>
          <a:xfrm>
            <a:off x="7955280" y="713232"/>
            <a:ext cx="3886200" cy="1325880"/>
          </a:xfrm>
          <a:prstGeom prst="roundRect">
            <a:avLst>
              <a:gd name="adj" fmla="val 6897"/>
            </a:avLst>
          </a:prstGeom>
          <a:solidFill>
            <a:srgbClr val="1E2F45"/>
          </a:solidFill>
          <a:ln w="25400">
            <a:solidFill>
              <a:srgbClr val="4CC9F0"/>
            </a:solidFill>
            <a:prstDash val="solid"/>
          </a:ln>
        </p:spPr>
      </p:sp>
      <p:sp>
        <p:nvSpPr>
          <p:cNvPr id="14" name="Shape 12"/>
          <p:cNvSpPr/>
          <p:nvPr/>
        </p:nvSpPr>
        <p:spPr>
          <a:xfrm>
            <a:off x="7955280" y="713232"/>
            <a:ext cx="3886200" cy="347472"/>
          </a:xfrm>
          <a:prstGeom prst="roundRect">
            <a:avLst>
              <a:gd name="adj" fmla="val 21053"/>
            </a:avLst>
          </a:prstGeom>
          <a:solidFill>
            <a:srgbClr val="4CC9F0"/>
          </a:solidFill>
          <a:ln w="12700">
            <a:solidFill>
              <a:srgbClr val="4CC9F0"/>
            </a:solidFill>
            <a:prstDash val="solid"/>
          </a:ln>
        </p:spPr>
      </p:sp>
      <p:sp>
        <p:nvSpPr>
          <p:cNvPr id="15" name="Text 13"/>
          <p:cNvSpPr/>
          <p:nvPr/>
        </p:nvSpPr>
        <p:spPr>
          <a:xfrm>
            <a:off x="8046720" y="740664"/>
            <a:ext cx="37033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6" name="Text 14"/>
          <p:cNvSpPr/>
          <p:nvPr/>
        </p:nvSpPr>
        <p:spPr>
          <a:xfrm>
            <a:off x="8065008" y="1115568"/>
            <a:ext cx="36667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A PLANNED CHECK of how well a prototype works — measures what you want to improve.</a:t>
            </a:r>
            <a:endParaRPr lang="en-US" sz="1050" dirty="0"/>
          </a:p>
        </p:txBody>
      </p:sp>
      <p:sp>
        <p:nvSpPr>
          <p:cNvPr id="17" name="Shape 15"/>
          <p:cNvSpPr/>
          <p:nvPr/>
        </p:nvSpPr>
        <p:spPr>
          <a:xfrm>
            <a:off x="365760" y="2267712"/>
            <a:ext cx="11430000" cy="3108960"/>
          </a:xfrm>
          <a:prstGeom prst="roundRect">
            <a:avLst>
              <a:gd name="adj" fmla="val 2353"/>
            </a:avLst>
          </a:prstGeom>
          <a:solidFill>
            <a:srgbClr val="1E2F45"/>
          </a:solidFill>
          <a:ln w="12700">
            <a:solidFill>
              <a:srgbClr val="243A52"/>
            </a:solidFill>
            <a:prstDash val="solid"/>
          </a:ln>
        </p:spPr>
      </p:sp>
      <p:sp>
        <p:nvSpPr>
          <p:cNvPr id="18" name="Text 16"/>
          <p:cNvSpPr/>
          <p:nvPr/>
        </p:nvSpPr>
        <p:spPr>
          <a:xfrm>
            <a:off x="548640" y="2340864"/>
            <a:ext cx="10972800" cy="329184"/>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Engineering Cycle in 3 Words:</a:t>
            </a:r>
            <a:endParaRPr lang="en-US" sz="1300" dirty="0"/>
          </a:p>
        </p:txBody>
      </p:sp>
      <p:sp>
        <p:nvSpPr>
          <p:cNvPr id="19" name="Shape 17"/>
          <p:cNvSpPr/>
          <p:nvPr/>
        </p:nvSpPr>
        <p:spPr>
          <a:xfrm>
            <a:off x="548640" y="2743200"/>
            <a:ext cx="3383280" cy="1554480"/>
          </a:xfrm>
          <a:prstGeom prst="roundRect">
            <a:avLst>
              <a:gd name="adj" fmla="val 4706"/>
            </a:avLst>
          </a:prstGeom>
          <a:solidFill>
            <a:srgbClr val="0D2A1A"/>
          </a:solidFill>
          <a:ln w="12700">
            <a:solidFill>
              <a:srgbClr val="2DC653"/>
            </a:solidFill>
            <a:prstDash val="solid"/>
          </a:ln>
        </p:spPr>
      </p:sp>
      <p:sp>
        <p:nvSpPr>
          <p:cNvPr id="20" name="Text 18"/>
          <p:cNvSpPr/>
          <p:nvPr/>
        </p:nvSpPr>
        <p:spPr>
          <a:xfrm>
            <a:off x="640080" y="2798064"/>
            <a:ext cx="3200400" cy="329184"/>
          </a:xfrm>
          <a:prstGeom prst="rect">
            <a:avLst/>
          </a:prstGeom>
          <a:noFill/>
          <a:ln/>
        </p:spPr>
        <p:txBody>
          <a:bodyPr wrap="square" rtlCol="0" anchor="ctr"/>
          <a:lstStyle/>
          <a:p>
            <a:pPr algn="ctr" indent="0" marL="0">
              <a:buNone/>
            </a:pPr>
            <a:r>
              <a:rPr lang="en-US" sz="1300" b="1" dirty="0">
                <a:solidFill>
                  <a:srgbClr val="2DC653"/>
                </a:solidFill>
                <a:latin typeface="Calibri" pitchFamily="34" charset="0"/>
                <a:ea typeface="Calibri" pitchFamily="34" charset="-122"/>
                <a:cs typeface="Calibri" pitchFamily="34" charset="-120"/>
              </a:rPr>
              <a:t>PROTOTYPE</a:t>
            </a:r>
            <a:endParaRPr lang="en-US" sz="1300" dirty="0"/>
          </a:p>
        </p:txBody>
      </p:sp>
      <p:sp>
        <p:nvSpPr>
          <p:cNvPr id="21" name="Text 19"/>
          <p:cNvSpPr/>
          <p:nvPr/>
        </p:nvSpPr>
        <p:spPr>
          <a:xfrm>
            <a:off x="640080" y="3163824"/>
            <a:ext cx="3200400" cy="10515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Build a first version.</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It doesn't have to be perfect —</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it has to teach you something.</a:t>
            </a:r>
            <a:endParaRPr lang="en-US" sz="1050" dirty="0"/>
          </a:p>
        </p:txBody>
      </p:sp>
      <p:sp>
        <p:nvSpPr>
          <p:cNvPr id="22" name="Text 20"/>
          <p:cNvSpPr/>
          <p:nvPr/>
        </p:nvSpPr>
        <p:spPr>
          <a:xfrm>
            <a:off x="4069080" y="2743200"/>
            <a:ext cx="548640" cy="1554480"/>
          </a:xfrm>
          <a:prstGeom prst="rect">
            <a:avLst/>
          </a:prstGeom>
          <a:noFill/>
          <a:ln/>
        </p:spPr>
        <p:txBody>
          <a:bodyPr wrap="square" rtlCol="0" anchor="ctr"/>
          <a:lstStyle/>
          <a:p>
            <a:pPr algn="ctr" indent="0" marL="0">
              <a:buNone/>
            </a:pPr>
            <a:r>
              <a:rPr lang="en-US" sz="3000" b="1" dirty="0">
                <a:solidFill>
                  <a:srgbClr val="FFB703"/>
                </a:solidFill>
                <a:latin typeface="Calibri" pitchFamily="34" charset="0"/>
                <a:ea typeface="Calibri" pitchFamily="34" charset="-122"/>
                <a:cs typeface="Calibri" pitchFamily="34" charset="-120"/>
              </a:rPr>
              <a:t>-&gt;</a:t>
            </a:r>
            <a:endParaRPr lang="en-US" sz="3000" dirty="0"/>
          </a:p>
        </p:txBody>
      </p:sp>
      <p:sp>
        <p:nvSpPr>
          <p:cNvPr id="23" name="Shape 21"/>
          <p:cNvSpPr/>
          <p:nvPr/>
        </p:nvSpPr>
        <p:spPr>
          <a:xfrm>
            <a:off x="4663440" y="2743200"/>
            <a:ext cx="3383280" cy="1554480"/>
          </a:xfrm>
          <a:prstGeom prst="roundRect">
            <a:avLst>
              <a:gd name="adj" fmla="val 4706"/>
            </a:avLst>
          </a:prstGeom>
          <a:solidFill>
            <a:srgbClr val="2A2000"/>
          </a:solidFill>
          <a:ln w="12700">
            <a:solidFill>
              <a:srgbClr val="FFB703"/>
            </a:solidFill>
            <a:prstDash val="solid"/>
          </a:ln>
        </p:spPr>
      </p:sp>
      <p:sp>
        <p:nvSpPr>
          <p:cNvPr id="24" name="Text 22"/>
          <p:cNvSpPr/>
          <p:nvPr/>
        </p:nvSpPr>
        <p:spPr>
          <a:xfrm>
            <a:off x="4754880" y="2798064"/>
            <a:ext cx="3200400" cy="329184"/>
          </a:xfrm>
          <a:prstGeom prst="rect">
            <a:avLst/>
          </a:prstGeom>
          <a:noFill/>
          <a:ln/>
        </p:spPr>
        <p:txBody>
          <a:bodyPr wrap="square"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TEST</a:t>
            </a:r>
            <a:endParaRPr lang="en-US" sz="1300" dirty="0"/>
          </a:p>
        </p:txBody>
      </p:sp>
      <p:sp>
        <p:nvSpPr>
          <p:cNvPr id="25" name="Text 23"/>
          <p:cNvSpPr/>
          <p:nvPr/>
        </p:nvSpPr>
        <p:spPr>
          <a:xfrm>
            <a:off x="4754880" y="3163824"/>
            <a:ext cx="3200400" cy="10515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Run a planned check.</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Measure what works and</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what doesn't.</a:t>
            </a:r>
            <a:endParaRPr lang="en-US" sz="1050" dirty="0"/>
          </a:p>
        </p:txBody>
      </p:sp>
      <p:sp>
        <p:nvSpPr>
          <p:cNvPr id="26" name="Text 24"/>
          <p:cNvSpPr/>
          <p:nvPr/>
        </p:nvSpPr>
        <p:spPr>
          <a:xfrm>
            <a:off x="8183880" y="2743200"/>
            <a:ext cx="548640" cy="1554480"/>
          </a:xfrm>
          <a:prstGeom prst="rect">
            <a:avLst/>
          </a:prstGeom>
          <a:noFill/>
          <a:ln/>
        </p:spPr>
        <p:txBody>
          <a:bodyPr wrap="square" rtlCol="0" anchor="ctr"/>
          <a:lstStyle/>
          <a:p>
            <a:pPr algn="ctr" indent="0" marL="0">
              <a:buNone/>
            </a:pPr>
            <a:r>
              <a:rPr lang="en-US" sz="3000" b="1" dirty="0">
                <a:solidFill>
                  <a:srgbClr val="4CC9F0"/>
                </a:solidFill>
                <a:latin typeface="Calibri" pitchFamily="34" charset="0"/>
                <a:ea typeface="Calibri" pitchFamily="34" charset="-122"/>
                <a:cs typeface="Calibri" pitchFamily="34" charset="-120"/>
              </a:rPr>
              <a:t>-&gt;</a:t>
            </a:r>
            <a:endParaRPr lang="en-US" sz="3000" dirty="0"/>
          </a:p>
        </p:txBody>
      </p:sp>
      <p:sp>
        <p:nvSpPr>
          <p:cNvPr id="27" name="Shape 25"/>
          <p:cNvSpPr/>
          <p:nvPr/>
        </p:nvSpPr>
        <p:spPr>
          <a:xfrm>
            <a:off x="8778240" y="2743200"/>
            <a:ext cx="2834640" cy="1554480"/>
          </a:xfrm>
          <a:prstGeom prst="roundRect">
            <a:avLst>
              <a:gd name="adj" fmla="val 4706"/>
            </a:avLst>
          </a:prstGeom>
          <a:solidFill>
            <a:srgbClr val="0A1F2A"/>
          </a:solidFill>
          <a:ln w="12700">
            <a:solidFill>
              <a:srgbClr val="4CC9F0"/>
            </a:solidFill>
            <a:prstDash val="solid"/>
          </a:ln>
        </p:spPr>
      </p:sp>
      <p:sp>
        <p:nvSpPr>
          <p:cNvPr id="28" name="Text 26"/>
          <p:cNvSpPr/>
          <p:nvPr/>
        </p:nvSpPr>
        <p:spPr>
          <a:xfrm>
            <a:off x="8869680" y="2798064"/>
            <a:ext cx="2651760" cy="329184"/>
          </a:xfrm>
          <a:prstGeom prst="rect">
            <a:avLst/>
          </a:prstGeom>
          <a:noFill/>
          <a:ln/>
        </p:spPr>
        <p:txBody>
          <a:bodyPr wrap="square" rtlCol="0" anchor="ctr"/>
          <a:lstStyle/>
          <a:p>
            <a:pPr algn="ctr" indent="0" marL="0">
              <a:buNone/>
            </a:pPr>
            <a:r>
              <a:rPr lang="en-US" sz="1300" b="1" dirty="0">
                <a:solidFill>
                  <a:srgbClr val="4CC9F0"/>
                </a:solidFill>
                <a:latin typeface="Calibri" pitchFamily="34" charset="0"/>
                <a:ea typeface="Calibri" pitchFamily="34" charset="-122"/>
                <a:cs typeface="Calibri" pitchFamily="34" charset="-120"/>
              </a:rPr>
              <a:t>REDESIGN</a:t>
            </a:r>
            <a:endParaRPr lang="en-US" sz="1300" dirty="0"/>
          </a:p>
        </p:txBody>
      </p:sp>
      <p:sp>
        <p:nvSpPr>
          <p:cNvPr id="29" name="Text 27"/>
          <p:cNvSpPr/>
          <p:nvPr/>
        </p:nvSpPr>
        <p:spPr>
          <a:xfrm>
            <a:off x="8869680" y="3163824"/>
            <a:ext cx="2651760" cy="1051560"/>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Use what you learned.</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Change one thing and</a:t>
            </a:r>
            <a:endParaRPr lang="en-US" sz="1050" dirty="0"/>
          </a:p>
          <a:p>
            <a:pPr algn="ctr" indent="0" marL="0">
              <a:buNone/>
            </a:pPr>
            <a:r>
              <a:rPr lang="en-US" sz="1050" dirty="0">
                <a:solidFill>
                  <a:srgbClr val="FFFFFF"/>
                </a:solidFill>
                <a:latin typeface="Calibri" pitchFamily="34" charset="0"/>
                <a:ea typeface="Calibri" pitchFamily="34" charset="-122"/>
                <a:cs typeface="Calibri" pitchFamily="34" charset="-120"/>
              </a:rPr>
              <a:t>try again.</a:t>
            </a:r>
            <a:endParaRPr lang="en-US" sz="105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ENGINEERING DESIGN — Step 1: ASK (Define the Problem)</a:t>
            </a:r>
            <a:endParaRPr lang="en-US" sz="1600" dirty="0"/>
          </a:p>
        </p:txBody>
      </p:sp>
      <p:sp>
        <p:nvSpPr>
          <p:cNvPr id="5" name="Shape 3"/>
          <p:cNvSpPr/>
          <p:nvPr/>
        </p:nvSpPr>
        <p:spPr>
          <a:xfrm>
            <a:off x="365760" y="713232"/>
            <a:ext cx="1554480" cy="256032"/>
          </a:xfrm>
          <a:prstGeom prst="roundRect">
            <a:avLst>
              <a:gd name="adj" fmla="val 50000"/>
            </a:avLst>
          </a:prstGeom>
          <a:solidFill>
            <a:srgbClr val="2DC653"/>
          </a:solidFill>
          <a:ln w="12700">
            <a:solidFill>
              <a:srgbClr val="2DC653"/>
            </a:solidFill>
            <a:prstDash val="solid"/>
          </a:ln>
        </p:spPr>
      </p:sp>
      <p:sp>
        <p:nvSpPr>
          <p:cNvPr id="6" name="Text 4"/>
          <p:cNvSpPr/>
          <p:nvPr/>
        </p:nvSpPr>
        <p:spPr>
          <a:xfrm>
            <a:off x="365760" y="7132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ASK PHASE</a:t>
            </a:r>
            <a:endParaRPr lang="en-US" sz="900" dirty="0"/>
          </a:p>
        </p:txBody>
      </p:sp>
      <p:sp>
        <p:nvSpPr>
          <p:cNvPr id="7" name="Shape 5"/>
          <p:cNvSpPr/>
          <p:nvPr/>
        </p:nvSpPr>
        <p:spPr>
          <a:xfrm>
            <a:off x="365760" y="1051560"/>
            <a:ext cx="11430000" cy="1554480"/>
          </a:xfrm>
          <a:prstGeom prst="roundRect">
            <a:avLst>
              <a:gd name="adj" fmla="val 4706"/>
            </a:avLst>
          </a:prstGeom>
          <a:solidFill>
            <a:srgbClr val="1E2F45"/>
          </a:solidFill>
          <a:ln w="12700">
            <a:solidFill>
              <a:srgbClr val="2DC653"/>
            </a:solidFill>
            <a:prstDash val="solid"/>
          </a:ln>
        </p:spPr>
      </p:sp>
      <p:sp>
        <p:nvSpPr>
          <p:cNvPr id="8" name="Text 6"/>
          <p:cNvSpPr/>
          <p:nvPr/>
        </p:nvSpPr>
        <p:spPr>
          <a:xfrm>
            <a:off x="548640" y="1115568"/>
            <a:ext cx="10972800" cy="329184"/>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Before you design ANYTHING, engineers ask three defining questions:</a:t>
            </a:r>
            <a:endParaRPr lang="en-US" sz="1200" dirty="0"/>
          </a:p>
        </p:txBody>
      </p:sp>
      <p:sp>
        <p:nvSpPr>
          <p:cNvPr id="9" name="Text 7"/>
          <p:cNvSpPr/>
          <p:nvPr/>
        </p:nvSpPr>
        <p:spPr>
          <a:xfrm>
            <a:off x="548640" y="1463040"/>
            <a:ext cx="10972800" cy="100584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"What problem am I trying to solve?"   "What must my design DO (criteria)?"   "What limits do I have (constraints)?"</a:t>
            </a:r>
            <a:endParaRPr lang="en-US" sz="1200" dirty="0"/>
          </a:p>
        </p:txBody>
      </p:sp>
      <p:sp>
        <p:nvSpPr>
          <p:cNvPr id="10" name="Shape 8"/>
          <p:cNvSpPr/>
          <p:nvPr/>
        </p:nvSpPr>
        <p:spPr>
          <a:xfrm>
            <a:off x="365760" y="2724912"/>
            <a:ext cx="5486400" cy="3200400"/>
          </a:xfrm>
          <a:prstGeom prst="roundRect">
            <a:avLst>
              <a:gd name="adj" fmla="val 2286"/>
            </a:avLst>
          </a:prstGeom>
          <a:solidFill>
            <a:srgbClr val="082015"/>
          </a:solidFill>
          <a:ln w="12700">
            <a:solidFill>
              <a:srgbClr val="2DC653"/>
            </a:solidFill>
            <a:prstDash val="solid"/>
          </a:ln>
        </p:spPr>
      </p:sp>
      <p:sp>
        <p:nvSpPr>
          <p:cNvPr id="11" name="Text 9"/>
          <p:cNvSpPr/>
          <p:nvPr/>
        </p:nvSpPr>
        <p:spPr>
          <a:xfrm>
            <a:off x="548640" y="2798064"/>
            <a:ext cx="512064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CRITERIA (Goals)</a:t>
            </a:r>
            <a:endParaRPr lang="en-US" sz="1300" dirty="0"/>
          </a:p>
        </p:txBody>
      </p:sp>
      <p:sp>
        <p:nvSpPr>
          <p:cNvPr id="12" name="Text 10"/>
          <p:cNvSpPr/>
          <p:nvPr/>
        </p:nvSpPr>
        <p:spPr>
          <a:xfrm>
            <a:off x="548640" y="3182112"/>
            <a:ext cx="5120640" cy="2651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What the design MUST do:</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Produce visible light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Work when there is sunlight or moving water</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Be safe to handle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Be portable enough to carry while hiking</a:t>
            </a:r>
            <a:endParaRPr lang="en-US" sz="1200" dirty="0"/>
          </a:p>
        </p:txBody>
      </p:sp>
      <p:sp>
        <p:nvSpPr>
          <p:cNvPr id="13" name="Shape 11"/>
          <p:cNvSpPr/>
          <p:nvPr/>
        </p:nvSpPr>
        <p:spPr>
          <a:xfrm>
            <a:off x="6035040" y="2724912"/>
            <a:ext cx="5760720" cy="3200400"/>
          </a:xfrm>
          <a:prstGeom prst="roundRect">
            <a:avLst>
              <a:gd name="adj" fmla="val 2286"/>
            </a:avLst>
          </a:prstGeom>
          <a:solidFill>
            <a:srgbClr val="200808"/>
          </a:solidFill>
          <a:ln w="12700">
            <a:solidFill>
              <a:srgbClr val="F4736A"/>
            </a:solidFill>
            <a:prstDash val="solid"/>
          </a:ln>
        </p:spPr>
      </p:sp>
      <p:sp>
        <p:nvSpPr>
          <p:cNvPr id="14" name="Text 12"/>
          <p:cNvSpPr/>
          <p:nvPr/>
        </p:nvSpPr>
        <p:spPr>
          <a:xfrm>
            <a:off x="6217920" y="2798064"/>
            <a:ext cx="5394960" cy="347472"/>
          </a:xfrm>
          <a:prstGeom prst="rect">
            <a:avLst/>
          </a:prstGeom>
          <a:noFill/>
          <a:ln/>
        </p:spPr>
        <p:txBody>
          <a:bodyPr wrap="square" rtlCol="0" anchor="ctr"/>
          <a:lstStyle/>
          <a:p>
            <a:pPr indent="0" marL="0">
              <a:buNone/>
            </a:pPr>
            <a:r>
              <a:rPr lang="en-US" sz="1300" b="1" dirty="0">
                <a:solidFill>
                  <a:srgbClr val="F4736A"/>
                </a:solidFill>
                <a:latin typeface="Calibri" pitchFamily="34" charset="0"/>
                <a:ea typeface="Calibri" pitchFamily="34" charset="-122"/>
                <a:cs typeface="Calibri" pitchFamily="34" charset="-120"/>
              </a:rPr>
              <a:t>CONSTRAINTS (Limits)</a:t>
            </a:r>
            <a:endParaRPr lang="en-US" sz="1300" dirty="0"/>
          </a:p>
        </p:txBody>
      </p:sp>
      <p:sp>
        <p:nvSpPr>
          <p:cNvPr id="15" name="Text 13"/>
          <p:cNvSpPr/>
          <p:nvPr/>
        </p:nvSpPr>
        <p:spPr>
          <a:xfrm>
            <a:off x="6217920" y="3182112"/>
            <a:ext cx="5394960" cy="2651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What the design CANNOT use or do:</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No traditional batteries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No access to a store or electricity grid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Must be built from natural or simple materials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Cannot take more than one day to build</a:t>
            </a:r>
            <a:endParaRPr lang="en-US" sz="12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ENGINEERING DESIGN — Step 2: IMAGINE + PLAN</a:t>
            </a:r>
            <a:endParaRPr lang="en-US" sz="1600" dirty="0"/>
          </a:p>
        </p:txBody>
      </p:sp>
      <p:sp>
        <p:nvSpPr>
          <p:cNvPr id="5" name="Shape 3"/>
          <p:cNvSpPr/>
          <p:nvPr/>
        </p:nvSpPr>
        <p:spPr>
          <a:xfrm>
            <a:off x="365760" y="713232"/>
            <a:ext cx="1554480" cy="256032"/>
          </a:xfrm>
          <a:prstGeom prst="roundRect">
            <a:avLst>
              <a:gd name="adj" fmla="val 50000"/>
            </a:avLst>
          </a:prstGeom>
          <a:solidFill>
            <a:srgbClr val="0096C7"/>
          </a:solidFill>
          <a:ln w="12700">
            <a:solidFill>
              <a:srgbClr val="0096C7"/>
            </a:solidFill>
            <a:prstDash val="solid"/>
          </a:ln>
        </p:spPr>
      </p:sp>
      <p:sp>
        <p:nvSpPr>
          <p:cNvPr id="6" name="Text 4"/>
          <p:cNvSpPr/>
          <p:nvPr/>
        </p:nvSpPr>
        <p:spPr>
          <a:xfrm>
            <a:off x="365760" y="7132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IMAGINE + PLAN</a:t>
            </a:r>
            <a:endParaRPr lang="en-US" sz="900" dirty="0"/>
          </a:p>
        </p:txBody>
      </p:sp>
      <p:sp>
        <p:nvSpPr>
          <p:cNvPr id="7" name="Shape 5"/>
          <p:cNvSpPr/>
          <p:nvPr/>
        </p:nvSpPr>
        <p:spPr>
          <a:xfrm>
            <a:off x="365760" y="1051560"/>
            <a:ext cx="5029200" cy="5029200"/>
          </a:xfrm>
          <a:prstGeom prst="roundRect">
            <a:avLst>
              <a:gd name="adj" fmla="val 1455"/>
            </a:avLst>
          </a:prstGeom>
          <a:solidFill>
            <a:srgbClr val="0A1520"/>
          </a:solidFill>
          <a:ln w="19050">
            <a:solidFill>
              <a:srgbClr val="4CC9F0"/>
            </a:solidFill>
            <a:prstDash val="dash"/>
          </a:ln>
        </p:spPr>
      </p:sp>
      <p:sp>
        <p:nvSpPr>
          <p:cNvPr id="8" name="Text 6"/>
          <p:cNvSpPr/>
          <p:nvPr/>
        </p:nvSpPr>
        <p:spPr>
          <a:xfrm>
            <a:off x="457200" y="1161288"/>
            <a:ext cx="48463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600200"/>
            <a:ext cx="48463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892808"/>
            <a:ext cx="480974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"engineering design cycle diagram Ask Imagine Plan Build Test Redesign circular arrows"</a:t>
            </a:r>
            <a:endParaRPr lang="en-US" sz="950" dirty="0"/>
          </a:p>
        </p:txBody>
      </p:sp>
      <p:sp>
        <p:nvSpPr>
          <p:cNvPr id="11" name="Text 9"/>
          <p:cNvSpPr/>
          <p:nvPr/>
        </p:nvSpPr>
        <p:spPr>
          <a:xfrm>
            <a:off x="365760" y="6117336"/>
            <a:ext cx="50292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The engineering design cycle — a loop, not a straight line</a:t>
            </a:r>
            <a:endParaRPr lang="en-US" sz="900" dirty="0"/>
          </a:p>
        </p:txBody>
      </p:sp>
      <p:sp>
        <p:nvSpPr>
          <p:cNvPr id="12" name="Shape 10"/>
          <p:cNvSpPr/>
          <p:nvPr/>
        </p:nvSpPr>
        <p:spPr>
          <a:xfrm>
            <a:off x="5577840" y="1051560"/>
            <a:ext cx="6400800" cy="2331720"/>
          </a:xfrm>
          <a:prstGeom prst="roundRect">
            <a:avLst>
              <a:gd name="adj" fmla="val 3137"/>
            </a:avLst>
          </a:prstGeom>
          <a:solidFill>
            <a:srgbClr val="1E2F45"/>
          </a:solidFill>
          <a:ln w="12700">
            <a:solidFill>
              <a:srgbClr val="4CC9F0"/>
            </a:solidFill>
            <a:prstDash val="solid"/>
          </a:ln>
        </p:spPr>
      </p:sp>
      <p:sp>
        <p:nvSpPr>
          <p:cNvPr id="13" name="Text 11"/>
          <p:cNvSpPr/>
          <p:nvPr/>
        </p:nvSpPr>
        <p:spPr>
          <a:xfrm>
            <a:off x="5760720" y="1124712"/>
            <a:ext cx="6035040" cy="329184"/>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IMAGINE: Brainstorm Without Limits</a:t>
            </a:r>
            <a:endParaRPr lang="en-US" sz="1300" dirty="0"/>
          </a:p>
        </p:txBody>
      </p:sp>
      <p:sp>
        <p:nvSpPr>
          <p:cNvPr id="14" name="Text 12"/>
          <p:cNvSpPr/>
          <p:nvPr/>
        </p:nvSpPr>
        <p:spPr>
          <a:xfrm>
            <a:off x="5760720" y="1490472"/>
            <a:ext cx="6035040" cy="1810512"/>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Sketch 3 different ideas — even wild ones.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Solar panel -&gt; battery -&gt; LED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Water wheel -&gt; generator -&gt; bulb</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Hand crank -&gt; gear -&gt; light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No idea is too weird at this stage!</a:t>
            </a:r>
            <a:endParaRPr lang="en-US" sz="1200" dirty="0"/>
          </a:p>
        </p:txBody>
      </p:sp>
      <p:sp>
        <p:nvSpPr>
          <p:cNvPr id="15" name="Shape 13"/>
          <p:cNvSpPr/>
          <p:nvPr/>
        </p:nvSpPr>
        <p:spPr>
          <a:xfrm>
            <a:off x="5577840" y="3493008"/>
            <a:ext cx="6400800" cy="2633472"/>
          </a:xfrm>
          <a:prstGeom prst="roundRect">
            <a:avLst>
              <a:gd name="adj" fmla="val 2778"/>
            </a:avLst>
          </a:prstGeom>
          <a:solidFill>
            <a:srgbClr val="0D2030"/>
          </a:solidFill>
          <a:ln w="12700">
            <a:solidFill>
              <a:srgbClr val="FFB703"/>
            </a:solidFill>
            <a:prstDash val="solid"/>
          </a:ln>
        </p:spPr>
      </p:sp>
      <p:sp>
        <p:nvSpPr>
          <p:cNvPr id="16" name="Text 14"/>
          <p:cNvSpPr/>
          <p:nvPr/>
        </p:nvSpPr>
        <p:spPr>
          <a:xfrm>
            <a:off x="5760720" y="3566160"/>
            <a:ext cx="603504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PLAN: Pick Your Best Idea</a:t>
            </a:r>
            <a:endParaRPr lang="en-US" sz="1300" dirty="0"/>
          </a:p>
        </p:txBody>
      </p:sp>
      <p:sp>
        <p:nvSpPr>
          <p:cNvPr id="17" name="Text 15"/>
          <p:cNvSpPr/>
          <p:nvPr/>
        </p:nvSpPr>
        <p:spPr>
          <a:xfrm>
            <a:off x="5760720" y="3931920"/>
            <a:ext cx="6035040" cy="21031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Choose ONE design and plan it in detail.</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Label the INPUT (energy in)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Label the CONVERSION point (where it changes)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Label the OUTPUT (energy out)</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List your 2 criteria + 1 constraint you must meet.</a:t>
            </a:r>
            <a:endParaRPr lang="en-US" sz="12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ENGINEERING DESIGN — Step 3: BUILD (Your Prototype)</a:t>
            </a:r>
            <a:endParaRPr lang="en-US" sz="1600" dirty="0"/>
          </a:p>
        </p:txBody>
      </p:sp>
      <p:sp>
        <p:nvSpPr>
          <p:cNvPr id="5" name="Shape 3"/>
          <p:cNvSpPr/>
          <p:nvPr/>
        </p:nvSpPr>
        <p:spPr>
          <a:xfrm>
            <a:off x="365760" y="713232"/>
            <a:ext cx="1554480" cy="256032"/>
          </a:xfrm>
          <a:prstGeom prst="roundRect">
            <a:avLst>
              <a:gd name="adj" fmla="val 50000"/>
            </a:avLst>
          </a:prstGeom>
          <a:solidFill>
            <a:srgbClr val="E09200"/>
          </a:solidFill>
          <a:ln w="12700">
            <a:solidFill>
              <a:srgbClr val="E09200"/>
            </a:solidFill>
            <a:prstDash val="solid"/>
          </a:ln>
        </p:spPr>
      </p:sp>
      <p:sp>
        <p:nvSpPr>
          <p:cNvPr id="6" name="Text 4"/>
          <p:cNvSpPr/>
          <p:nvPr/>
        </p:nvSpPr>
        <p:spPr>
          <a:xfrm>
            <a:off x="365760" y="7132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 PHASE</a:t>
            </a:r>
            <a:endParaRPr lang="en-US" sz="900" dirty="0"/>
          </a:p>
        </p:txBody>
      </p:sp>
      <p:sp>
        <p:nvSpPr>
          <p:cNvPr id="7" name="Shape 5"/>
          <p:cNvSpPr/>
          <p:nvPr/>
        </p:nvSpPr>
        <p:spPr>
          <a:xfrm>
            <a:off x="365760" y="1051560"/>
            <a:ext cx="5303520" cy="5029200"/>
          </a:xfrm>
          <a:prstGeom prst="roundRect">
            <a:avLst>
              <a:gd name="adj" fmla="val 1455"/>
            </a:avLst>
          </a:prstGeom>
          <a:solidFill>
            <a:srgbClr val="0A1520"/>
          </a:solidFill>
          <a:ln w="19050">
            <a:solidFill>
              <a:srgbClr val="4CC9F0"/>
            </a:solidFill>
            <a:prstDash val="dash"/>
          </a:ln>
        </p:spPr>
      </p:sp>
      <p:sp>
        <p:nvSpPr>
          <p:cNvPr id="8" name="Text 6"/>
          <p:cNvSpPr/>
          <p:nvPr/>
        </p:nvSpPr>
        <p:spPr>
          <a:xfrm>
            <a:off x="457200" y="1161288"/>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57200" y="1600200"/>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0" name="Text 8"/>
          <p:cNvSpPr/>
          <p:nvPr/>
        </p:nvSpPr>
        <p:spPr>
          <a:xfrm>
            <a:off x="475488" y="1892808"/>
            <a:ext cx="508406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"student sketching engineering prototype design notebook pencil diagram science class"</a:t>
            </a:r>
            <a:endParaRPr lang="en-US" sz="950" dirty="0"/>
          </a:p>
        </p:txBody>
      </p:sp>
      <p:sp>
        <p:nvSpPr>
          <p:cNvPr id="11" name="Text 9"/>
          <p:cNvSpPr/>
          <p:nvPr/>
        </p:nvSpPr>
        <p:spPr>
          <a:xfrm>
            <a:off x="365760" y="6117336"/>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Sketching your prototype — the first version is built to LEARN</a:t>
            </a:r>
            <a:endParaRPr lang="en-US" sz="900" dirty="0"/>
          </a:p>
        </p:txBody>
      </p:sp>
      <p:sp>
        <p:nvSpPr>
          <p:cNvPr id="12" name="Shape 10"/>
          <p:cNvSpPr/>
          <p:nvPr/>
        </p:nvSpPr>
        <p:spPr>
          <a:xfrm>
            <a:off x="5852160" y="1051560"/>
            <a:ext cx="6126480" cy="5029200"/>
          </a:xfrm>
          <a:prstGeom prst="roundRect">
            <a:avLst>
              <a:gd name="adj" fmla="val 1455"/>
            </a:avLst>
          </a:prstGeom>
          <a:solidFill>
            <a:srgbClr val="1E2F45"/>
          </a:solidFill>
          <a:ln w="12700">
            <a:solidFill>
              <a:srgbClr val="FFB703"/>
            </a:solidFill>
            <a:prstDash val="solid"/>
          </a:ln>
        </p:spPr>
      </p:sp>
      <p:sp>
        <p:nvSpPr>
          <p:cNvPr id="13" name="Text 11"/>
          <p:cNvSpPr/>
          <p:nvPr/>
        </p:nvSpPr>
        <p:spPr>
          <a:xfrm>
            <a:off x="6035040" y="1124712"/>
            <a:ext cx="5760720" cy="329184"/>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BUILD: Your Prototype Sketch</a:t>
            </a:r>
            <a:endParaRPr lang="en-US" sz="1300" dirty="0"/>
          </a:p>
        </p:txBody>
      </p:sp>
      <p:sp>
        <p:nvSpPr>
          <p:cNvPr id="14" name="Text 12"/>
          <p:cNvSpPr/>
          <p:nvPr/>
        </p:nvSpPr>
        <p:spPr>
          <a:xfrm>
            <a:off x="6035040" y="1490472"/>
            <a:ext cx="5760720" cy="502920"/>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In your science notebook, draw your prototype with colored pencils.</a:t>
            </a:r>
            <a:endParaRPr lang="en-US" sz="1150" dirty="0"/>
          </a:p>
        </p:txBody>
      </p:sp>
      <p:sp>
        <p:nvSpPr>
          <p:cNvPr id="15" name="Shape 13"/>
          <p:cNvSpPr/>
          <p:nvPr/>
        </p:nvSpPr>
        <p:spPr>
          <a:xfrm>
            <a:off x="5852160" y="2084832"/>
            <a:ext cx="6126480" cy="640080"/>
          </a:xfrm>
          <a:prstGeom prst="roundRect">
            <a:avLst>
              <a:gd name="adj" fmla="val 11429"/>
            </a:avLst>
          </a:prstGeom>
          <a:solidFill>
            <a:srgbClr val="0D1E30"/>
          </a:solidFill>
          <a:ln w="12700">
            <a:solidFill>
              <a:srgbClr val="243A52"/>
            </a:solidFill>
            <a:prstDash val="solid"/>
          </a:ln>
        </p:spPr>
      </p:sp>
      <p:sp>
        <p:nvSpPr>
          <p:cNvPr id="16" name="Text 14"/>
          <p:cNvSpPr/>
          <p:nvPr/>
        </p:nvSpPr>
        <p:spPr>
          <a:xfrm>
            <a:off x="5989320" y="2121408"/>
            <a:ext cx="2194560" cy="4572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  INPUT arrow</a:t>
            </a:r>
            <a:endParaRPr lang="en-US" sz="1100" dirty="0"/>
          </a:p>
        </p:txBody>
      </p:sp>
      <p:sp>
        <p:nvSpPr>
          <p:cNvPr id="17" name="Text 15"/>
          <p:cNvSpPr/>
          <p:nvPr/>
        </p:nvSpPr>
        <p:spPr>
          <a:xfrm>
            <a:off x="8229600" y="2121408"/>
            <a:ext cx="3657600" cy="45720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Where does the energy START? (sun, water, hand movement)</a:t>
            </a:r>
            <a:endParaRPr lang="en-US" sz="1050" dirty="0"/>
          </a:p>
        </p:txBody>
      </p:sp>
      <p:sp>
        <p:nvSpPr>
          <p:cNvPr id="18" name="Shape 16"/>
          <p:cNvSpPr/>
          <p:nvPr/>
        </p:nvSpPr>
        <p:spPr>
          <a:xfrm>
            <a:off x="5852160" y="2816352"/>
            <a:ext cx="6126480" cy="640080"/>
          </a:xfrm>
          <a:prstGeom prst="roundRect">
            <a:avLst>
              <a:gd name="adj" fmla="val 11429"/>
            </a:avLst>
          </a:prstGeom>
          <a:solidFill>
            <a:srgbClr val="0D1E30"/>
          </a:solidFill>
          <a:ln w="12700">
            <a:solidFill>
              <a:srgbClr val="243A52"/>
            </a:solidFill>
            <a:prstDash val="solid"/>
          </a:ln>
        </p:spPr>
      </p:sp>
      <p:sp>
        <p:nvSpPr>
          <p:cNvPr id="19" name="Text 17"/>
          <p:cNvSpPr/>
          <p:nvPr/>
        </p:nvSpPr>
        <p:spPr>
          <a:xfrm>
            <a:off x="5989320" y="2852928"/>
            <a:ext cx="2194560" cy="4572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  CONVERSION point</a:t>
            </a:r>
            <a:endParaRPr lang="en-US" sz="1100" dirty="0"/>
          </a:p>
        </p:txBody>
      </p:sp>
      <p:sp>
        <p:nvSpPr>
          <p:cNvPr id="20" name="Text 18"/>
          <p:cNvSpPr/>
          <p:nvPr/>
        </p:nvSpPr>
        <p:spPr>
          <a:xfrm>
            <a:off x="8229600" y="2852928"/>
            <a:ext cx="3657600" cy="45720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Where does the energy CHANGE form? (motor, panel, wheel)</a:t>
            </a:r>
            <a:endParaRPr lang="en-US" sz="1050" dirty="0"/>
          </a:p>
        </p:txBody>
      </p:sp>
      <p:sp>
        <p:nvSpPr>
          <p:cNvPr id="21" name="Shape 19"/>
          <p:cNvSpPr/>
          <p:nvPr/>
        </p:nvSpPr>
        <p:spPr>
          <a:xfrm>
            <a:off x="5852160" y="3547872"/>
            <a:ext cx="6126480" cy="640080"/>
          </a:xfrm>
          <a:prstGeom prst="roundRect">
            <a:avLst>
              <a:gd name="adj" fmla="val 11429"/>
            </a:avLst>
          </a:prstGeom>
          <a:solidFill>
            <a:srgbClr val="0D1E30"/>
          </a:solidFill>
          <a:ln w="12700">
            <a:solidFill>
              <a:srgbClr val="243A52"/>
            </a:solidFill>
            <a:prstDash val="solid"/>
          </a:ln>
        </p:spPr>
      </p:sp>
      <p:sp>
        <p:nvSpPr>
          <p:cNvPr id="22" name="Text 20"/>
          <p:cNvSpPr/>
          <p:nvPr/>
        </p:nvSpPr>
        <p:spPr>
          <a:xfrm>
            <a:off x="5989320" y="3584448"/>
            <a:ext cx="2194560" cy="4572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  OUTPUT arrow</a:t>
            </a:r>
            <a:endParaRPr lang="en-US" sz="1100" dirty="0"/>
          </a:p>
        </p:txBody>
      </p:sp>
      <p:sp>
        <p:nvSpPr>
          <p:cNvPr id="23" name="Text 21"/>
          <p:cNvSpPr/>
          <p:nvPr/>
        </p:nvSpPr>
        <p:spPr>
          <a:xfrm>
            <a:off x="8229600" y="3584448"/>
            <a:ext cx="3657600" cy="45720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What energy do you produce? (light, electrical, motion)</a:t>
            </a:r>
            <a:endParaRPr lang="en-US" sz="1050" dirty="0"/>
          </a:p>
        </p:txBody>
      </p:sp>
      <p:sp>
        <p:nvSpPr>
          <p:cNvPr id="24" name="Shape 22"/>
          <p:cNvSpPr/>
          <p:nvPr/>
        </p:nvSpPr>
        <p:spPr>
          <a:xfrm>
            <a:off x="5852160" y="4279392"/>
            <a:ext cx="6126480" cy="640080"/>
          </a:xfrm>
          <a:prstGeom prst="roundRect">
            <a:avLst>
              <a:gd name="adj" fmla="val 11429"/>
            </a:avLst>
          </a:prstGeom>
          <a:solidFill>
            <a:srgbClr val="0D1E30"/>
          </a:solidFill>
          <a:ln w="12700">
            <a:solidFill>
              <a:srgbClr val="243A52"/>
            </a:solidFill>
            <a:prstDash val="solid"/>
          </a:ln>
        </p:spPr>
      </p:sp>
      <p:sp>
        <p:nvSpPr>
          <p:cNvPr id="25" name="Text 23"/>
          <p:cNvSpPr/>
          <p:nvPr/>
        </p:nvSpPr>
        <p:spPr>
          <a:xfrm>
            <a:off x="5989320" y="4315968"/>
            <a:ext cx="2194560" cy="4572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  2 CRITERIA</a:t>
            </a:r>
            <a:endParaRPr lang="en-US" sz="1100" dirty="0"/>
          </a:p>
        </p:txBody>
      </p:sp>
      <p:sp>
        <p:nvSpPr>
          <p:cNvPr id="26" name="Text 24"/>
          <p:cNvSpPr/>
          <p:nvPr/>
        </p:nvSpPr>
        <p:spPr>
          <a:xfrm>
            <a:off x="8229600" y="4315968"/>
            <a:ext cx="3657600" cy="45720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Label how your design meets each goal</a:t>
            </a:r>
            <a:endParaRPr lang="en-US" sz="1050" dirty="0"/>
          </a:p>
        </p:txBody>
      </p:sp>
      <p:sp>
        <p:nvSpPr>
          <p:cNvPr id="27" name="Shape 25"/>
          <p:cNvSpPr/>
          <p:nvPr/>
        </p:nvSpPr>
        <p:spPr>
          <a:xfrm>
            <a:off x="5852160" y="5010912"/>
            <a:ext cx="6126480" cy="640080"/>
          </a:xfrm>
          <a:prstGeom prst="roundRect">
            <a:avLst>
              <a:gd name="adj" fmla="val 11429"/>
            </a:avLst>
          </a:prstGeom>
          <a:solidFill>
            <a:srgbClr val="0D1E30"/>
          </a:solidFill>
          <a:ln w="12700">
            <a:solidFill>
              <a:srgbClr val="243A52"/>
            </a:solidFill>
            <a:prstDash val="solid"/>
          </a:ln>
        </p:spPr>
      </p:sp>
      <p:sp>
        <p:nvSpPr>
          <p:cNvPr id="28" name="Text 26"/>
          <p:cNvSpPr/>
          <p:nvPr/>
        </p:nvSpPr>
        <p:spPr>
          <a:xfrm>
            <a:off x="5989320" y="5047488"/>
            <a:ext cx="2194560" cy="45720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  1 CONSTRAINT</a:t>
            </a:r>
            <a:endParaRPr lang="en-US" sz="1100" dirty="0"/>
          </a:p>
        </p:txBody>
      </p:sp>
      <p:sp>
        <p:nvSpPr>
          <p:cNvPr id="29" name="Text 27"/>
          <p:cNvSpPr/>
          <p:nvPr/>
        </p:nvSpPr>
        <p:spPr>
          <a:xfrm>
            <a:off x="8229600" y="5047488"/>
            <a:ext cx="3657600" cy="457200"/>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Label which constraint you're working within</a:t>
            </a:r>
            <a:endParaRPr lang="en-US" sz="1050" dirty="0"/>
          </a:p>
        </p:txBody>
      </p:sp>
      <p:sp>
        <p:nvSpPr>
          <p:cNvPr id="30" name="Shape 28"/>
          <p:cNvSpPr/>
          <p:nvPr/>
        </p:nvSpPr>
        <p:spPr>
          <a:xfrm>
            <a:off x="0" y="6629400"/>
            <a:ext cx="12192000" cy="228600"/>
          </a:xfrm>
          <a:prstGeom prst="rect">
            <a:avLst/>
          </a:prstGeom>
          <a:solidFill>
            <a:srgbClr val="162233"/>
          </a:solidFill>
          <a:ln/>
        </p:spPr>
      </p:sp>
      <p:sp>
        <p:nvSpPr>
          <p:cNvPr id="31" name="Text 2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ENGINEERING DESIGN — Step 4: TEST Your Prototype</a:t>
            </a:r>
            <a:endParaRPr lang="en-US" sz="1600" dirty="0"/>
          </a:p>
        </p:txBody>
      </p:sp>
      <p:sp>
        <p:nvSpPr>
          <p:cNvPr id="5" name="Shape 3"/>
          <p:cNvSpPr/>
          <p:nvPr/>
        </p:nvSpPr>
        <p:spPr>
          <a:xfrm>
            <a:off x="365760" y="713232"/>
            <a:ext cx="1554480" cy="256032"/>
          </a:xfrm>
          <a:prstGeom prst="roundRect">
            <a:avLst>
              <a:gd name="adj" fmla="val 50000"/>
            </a:avLst>
          </a:prstGeom>
          <a:solidFill>
            <a:srgbClr val="0096C7"/>
          </a:solidFill>
          <a:ln w="12700">
            <a:solidFill>
              <a:srgbClr val="0096C7"/>
            </a:solidFill>
            <a:prstDash val="solid"/>
          </a:ln>
        </p:spPr>
      </p:sp>
      <p:sp>
        <p:nvSpPr>
          <p:cNvPr id="6" name="Text 4"/>
          <p:cNvSpPr/>
          <p:nvPr/>
        </p:nvSpPr>
        <p:spPr>
          <a:xfrm>
            <a:off x="365760" y="7132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TEST PHASE</a:t>
            </a:r>
            <a:endParaRPr lang="en-US" sz="900" dirty="0"/>
          </a:p>
        </p:txBody>
      </p:sp>
      <p:sp>
        <p:nvSpPr>
          <p:cNvPr id="7" name="Shape 5"/>
          <p:cNvSpPr/>
          <p:nvPr/>
        </p:nvSpPr>
        <p:spPr>
          <a:xfrm>
            <a:off x="365760" y="1051560"/>
            <a:ext cx="11430000" cy="1508760"/>
          </a:xfrm>
          <a:prstGeom prst="roundRect">
            <a:avLst>
              <a:gd name="adj" fmla="val 4848"/>
            </a:avLst>
          </a:prstGeom>
          <a:solidFill>
            <a:srgbClr val="1E2F45"/>
          </a:solidFill>
          <a:ln w="12700">
            <a:solidFill>
              <a:srgbClr val="4CC9F0"/>
            </a:solidFill>
            <a:prstDash val="solid"/>
          </a:ln>
        </p:spPr>
      </p:sp>
      <p:sp>
        <p:nvSpPr>
          <p:cNvPr id="8" name="Text 6"/>
          <p:cNvSpPr/>
          <p:nvPr/>
        </p:nvSpPr>
        <p:spPr>
          <a:xfrm>
            <a:off x="548640" y="1115568"/>
            <a:ext cx="1097280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A TEST is NOT random — it's a planned check with ONE thing changing at a time.</a:t>
            </a:r>
            <a:endParaRPr lang="en-US" sz="1300" dirty="0"/>
          </a:p>
        </p:txBody>
      </p:sp>
      <p:sp>
        <p:nvSpPr>
          <p:cNvPr id="9" name="Text 7"/>
          <p:cNvSpPr/>
          <p:nvPr/>
        </p:nvSpPr>
        <p:spPr>
          <a:xfrm>
            <a:off x="548640" y="1490472"/>
            <a:ext cx="10972800" cy="9144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Before you test, decide: What are you measuring? What counts as 'working'? What would tell you your design FAILED the criterion?</a:t>
            </a:r>
            <a:endParaRPr lang="en-US" sz="1200" dirty="0"/>
          </a:p>
        </p:txBody>
      </p:sp>
      <p:sp>
        <p:nvSpPr>
          <p:cNvPr id="10" name="Shape 8"/>
          <p:cNvSpPr/>
          <p:nvPr/>
        </p:nvSpPr>
        <p:spPr>
          <a:xfrm>
            <a:off x="365760" y="2651760"/>
            <a:ext cx="3566160" cy="3383280"/>
          </a:xfrm>
          <a:prstGeom prst="roundRect">
            <a:avLst>
              <a:gd name="adj" fmla="val 2162"/>
            </a:avLst>
          </a:prstGeom>
          <a:solidFill>
            <a:srgbClr val="061A28"/>
          </a:solidFill>
          <a:ln w="12700">
            <a:solidFill>
              <a:srgbClr val="2DC653"/>
            </a:solidFill>
            <a:prstDash val="solid"/>
          </a:ln>
        </p:spPr>
      </p:sp>
      <p:sp>
        <p:nvSpPr>
          <p:cNvPr id="11" name="Text 9"/>
          <p:cNvSpPr/>
          <p:nvPr/>
        </p:nvSpPr>
        <p:spPr>
          <a:xfrm>
            <a:off x="502920" y="2724912"/>
            <a:ext cx="329184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What to MEASURE</a:t>
            </a:r>
            <a:endParaRPr lang="en-US" sz="1200" dirty="0"/>
          </a:p>
        </p:txBody>
      </p:sp>
      <p:sp>
        <p:nvSpPr>
          <p:cNvPr id="12" name="Text 10"/>
          <p:cNvSpPr/>
          <p:nvPr/>
        </p:nvSpPr>
        <p:spPr>
          <a:xfrm>
            <a:off x="502920" y="3108960"/>
            <a:ext cx="3291840" cy="2834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Amount of light produced</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How bright is it? Can you read with it?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How long does it produce light?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Does it work in different conditions (cloudy, slow stream)?</a:t>
            </a:r>
            <a:endParaRPr lang="en-US" sz="1100" dirty="0"/>
          </a:p>
        </p:txBody>
      </p:sp>
      <p:sp>
        <p:nvSpPr>
          <p:cNvPr id="13" name="Shape 11"/>
          <p:cNvSpPr/>
          <p:nvPr/>
        </p:nvSpPr>
        <p:spPr>
          <a:xfrm>
            <a:off x="4114800" y="2651760"/>
            <a:ext cx="3657600" cy="3383280"/>
          </a:xfrm>
          <a:prstGeom prst="roundRect">
            <a:avLst>
              <a:gd name="adj" fmla="val 2162"/>
            </a:avLst>
          </a:prstGeom>
          <a:solidFill>
            <a:srgbClr val="1A1206"/>
          </a:solidFill>
          <a:ln w="12700">
            <a:solidFill>
              <a:srgbClr val="FFB703"/>
            </a:solidFill>
            <a:prstDash val="solid"/>
          </a:ln>
        </p:spPr>
      </p:sp>
      <p:sp>
        <p:nvSpPr>
          <p:cNvPr id="14" name="Text 12"/>
          <p:cNvSpPr/>
          <p:nvPr/>
        </p:nvSpPr>
        <p:spPr>
          <a:xfrm>
            <a:off x="4251960" y="2724912"/>
            <a:ext cx="338328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What to LOOK FOR</a:t>
            </a:r>
            <a:endParaRPr lang="en-US" sz="1200" dirty="0"/>
          </a:p>
        </p:txBody>
      </p:sp>
      <p:sp>
        <p:nvSpPr>
          <p:cNvPr id="15" name="Text 13"/>
          <p:cNvSpPr/>
          <p:nvPr/>
        </p:nvSpPr>
        <p:spPr>
          <a:xfrm>
            <a:off x="4251960" y="3108960"/>
            <a:ext cx="3383280" cy="2834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Does energy actually convert?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Where does energy get LOST?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Which part performs worst?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Does the design meet BOTH criteria?</a:t>
            </a:r>
            <a:endParaRPr lang="en-US" sz="1100" dirty="0"/>
          </a:p>
        </p:txBody>
      </p:sp>
      <p:sp>
        <p:nvSpPr>
          <p:cNvPr id="16" name="Shape 14"/>
          <p:cNvSpPr/>
          <p:nvPr/>
        </p:nvSpPr>
        <p:spPr>
          <a:xfrm>
            <a:off x="7955280" y="2651760"/>
            <a:ext cx="3840480" cy="3383280"/>
          </a:xfrm>
          <a:prstGeom prst="roundRect">
            <a:avLst>
              <a:gd name="adj" fmla="val 2162"/>
            </a:avLst>
          </a:prstGeom>
          <a:solidFill>
            <a:srgbClr val="200A18"/>
          </a:solidFill>
          <a:ln w="12700">
            <a:solidFill>
              <a:srgbClr val="F4736A"/>
            </a:solidFill>
            <a:prstDash val="solid"/>
          </a:ln>
        </p:spPr>
      </p:sp>
      <p:sp>
        <p:nvSpPr>
          <p:cNvPr id="17" name="Text 15"/>
          <p:cNvSpPr/>
          <p:nvPr/>
        </p:nvSpPr>
        <p:spPr>
          <a:xfrm>
            <a:off x="8092440" y="2724912"/>
            <a:ext cx="3566160" cy="347472"/>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What Counts as FAILURE</a:t>
            </a:r>
            <a:endParaRPr lang="en-US" sz="1200" dirty="0"/>
          </a:p>
        </p:txBody>
      </p:sp>
      <p:sp>
        <p:nvSpPr>
          <p:cNvPr id="18" name="Text 16"/>
          <p:cNvSpPr/>
          <p:nvPr/>
        </p:nvSpPr>
        <p:spPr>
          <a:xfrm>
            <a:off x="8092440" y="3108960"/>
            <a:ext cx="3566160" cy="283464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No visible light produced</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Breaks a constraint (uses a battery)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Works only in perfect conditions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Too complex — can't be carried</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Failure = data!</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Each failure teaches you what to redesign.</a:t>
            </a:r>
            <a:endParaRPr lang="en-US" sz="11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ENGINEERING DESIGN — Step 5: REDESIGN (Improve!)</a:t>
            </a:r>
            <a:endParaRPr lang="en-US" sz="1600" dirty="0"/>
          </a:p>
        </p:txBody>
      </p:sp>
      <p:sp>
        <p:nvSpPr>
          <p:cNvPr id="5" name="Shape 3"/>
          <p:cNvSpPr/>
          <p:nvPr/>
        </p:nvSpPr>
        <p:spPr>
          <a:xfrm>
            <a:off x="365760" y="713232"/>
            <a:ext cx="1554480" cy="256032"/>
          </a:xfrm>
          <a:prstGeom prst="roundRect">
            <a:avLst>
              <a:gd name="adj" fmla="val 50000"/>
            </a:avLst>
          </a:prstGeom>
          <a:solidFill>
            <a:srgbClr val="1A8C3A"/>
          </a:solidFill>
          <a:ln w="12700">
            <a:solidFill>
              <a:srgbClr val="1A8C3A"/>
            </a:solidFill>
            <a:prstDash val="solid"/>
          </a:ln>
        </p:spPr>
      </p:sp>
      <p:sp>
        <p:nvSpPr>
          <p:cNvPr id="6" name="Text 4"/>
          <p:cNvSpPr/>
          <p:nvPr/>
        </p:nvSpPr>
        <p:spPr>
          <a:xfrm>
            <a:off x="365760" y="713232"/>
            <a:ext cx="15544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REDESIGN PHASE</a:t>
            </a:r>
            <a:endParaRPr lang="en-US" sz="900" dirty="0"/>
          </a:p>
        </p:txBody>
      </p:sp>
      <p:sp>
        <p:nvSpPr>
          <p:cNvPr id="7" name="Shape 5"/>
          <p:cNvSpPr/>
          <p:nvPr/>
        </p:nvSpPr>
        <p:spPr>
          <a:xfrm>
            <a:off x="365760" y="1051560"/>
            <a:ext cx="11430000" cy="1234440"/>
          </a:xfrm>
          <a:prstGeom prst="roundRect">
            <a:avLst>
              <a:gd name="adj" fmla="val 5926"/>
            </a:avLst>
          </a:prstGeom>
          <a:solidFill>
            <a:srgbClr val="1E2F45"/>
          </a:solidFill>
          <a:ln w="12700">
            <a:solidFill>
              <a:srgbClr val="2DC653"/>
            </a:solidFill>
            <a:prstDash val="solid"/>
          </a:ln>
        </p:spPr>
      </p:sp>
      <p:sp>
        <p:nvSpPr>
          <p:cNvPr id="8" name="Text 6"/>
          <p:cNvSpPr/>
          <p:nvPr/>
        </p:nvSpPr>
        <p:spPr>
          <a:xfrm>
            <a:off x="548640" y="1115568"/>
            <a:ext cx="10972800" cy="10058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REDESIGN is not starting over — it's UPDATING one specific thing based on test evidence.</a:t>
            </a:r>
            <a:endParaRPr lang="en-US" sz="1300" dirty="0"/>
          </a:p>
        </p:txBody>
      </p:sp>
      <p:sp>
        <p:nvSpPr>
          <p:cNvPr id="9" name="Shape 7"/>
          <p:cNvSpPr/>
          <p:nvPr/>
        </p:nvSpPr>
        <p:spPr>
          <a:xfrm>
            <a:off x="365760" y="2423160"/>
            <a:ext cx="3474720" cy="3566160"/>
          </a:xfrm>
          <a:prstGeom prst="roundRect">
            <a:avLst>
              <a:gd name="adj" fmla="val 2105"/>
            </a:avLst>
          </a:prstGeom>
          <a:solidFill>
            <a:srgbClr val="0A2010"/>
          </a:solidFill>
          <a:ln w="12700">
            <a:solidFill>
              <a:srgbClr val="2DC653"/>
            </a:solidFill>
            <a:prstDash val="solid"/>
          </a:ln>
        </p:spPr>
      </p:sp>
      <p:sp>
        <p:nvSpPr>
          <p:cNvPr id="10" name="Text 8"/>
          <p:cNvSpPr/>
          <p:nvPr/>
        </p:nvSpPr>
        <p:spPr>
          <a:xfrm>
            <a:off x="502920" y="2496312"/>
            <a:ext cx="320040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WHAT YOU LEARNED</a:t>
            </a:r>
            <a:endParaRPr lang="en-US" sz="1200" dirty="0"/>
          </a:p>
        </p:txBody>
      </p:sp>
      <p:sp>
        <p:nvSpPr>
          <p:cNvPr id="11" name="Text 9"/>
          <p:cNvSpPr/>
          <p:nvPr/>
        </p:nvSpPr>
        <p:spPr>
          <a:xfrm>
            <a:off x="502920" y="2889504"/>
            <a:ext cx="3200400" cy="29443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From the test: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solar panel produces light in bright sun, but NONE on a cloudy day.'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Test result = specific, measurable evidence.</a:t>
            </a:r>
            <a:endParaRPr lang="en-US" sz="1100" dirty="0"/>
          </a:p>
        </p:txBody>
      </p:sp>
      <p:sp>
        <p:nvSpPr>
          <p:cNvPr id="12" name="Text 10"/>
          <p:cNvSpPr/>
          <p:nvPr/>
        </p:nvSpPr>
        <p:spPr>
          <a:xfrm>
            <a:off x="3977640" y="3337560"/>
            <a:ext cx="640080" cy="1463040"/>
          </a:xfrm>
          <a:prstGeom prst="rect">
            <a:avLst/>
          </a:prstGeom>
          <a:noFill/>
          <a:ln/>
        </p:spPr>
        <p:txBody>
          <a:bodyPr wrap="square" rtlCol="0" anchor="ctr"/>
          <a:lstStyle/>
          <a:p>
            <a:pPr algn="ctr" indent="0" marL="0">
              <a:buNone/>
            </a:pPr>
            <a:r>
              <a:rPr lang="en-US" sz="3000" b="1" dirty="0">
                <a:solidFill>
                  <a:srgbClr val="FFB703"/>
                </a:solidFill>
                <a:latin typeface="Calibri" pitchFamily="34" charset="0"/>
                <a:ea typeface="Calibri" pitchFamily="34" charset="-122"/>
                <a:cs typeface="Calibri" pitchFamily="34" charset="-120"/>
              </a:rPr>
              <a:t>-&gt;</a:t>
            </a:r>
            <a:endParaRPr lang="en-US" sz="3000" dirty="0"/>
          </a:p>
        </p:txBody>
      </p:sp>
      <p:sp>
        <p:nvSpPr>
          <p:cNvPr id="13" name="Shape 11"/>
          <p:cNvSpPr/>
          <p:nvPr/>
        </p:nvSpPr>
        <p:spPr>
          <a:xfrm>
            <a:off x="4663440" y="2423160"/>
            <a:ext cx="3474720" cy="3566160"/>
          </a:xfrm>
          <a:prstGeom prst="roundRect">
            <a:avLst>
              <a:gd name="adj" fmla="val 2105"/>
            </a:avLst>
          </a:prstGeom>
          <a:solidFill>
            <a:srgbClr val="1C1400"/>
          </a:solidFill>
          <a:ln w="12700">
            <a:solidFill>
              <a:srgbClr val="FFB703"/>
            </a:solidFill>
            <a:prstDash val="solid"/>
          </a:ln>
        </p:spPr>
      </p:sp>
      <p:sp>
        <p:nvSpPr>
          <p:cNvPr id="14" name="Text 12"/>
          <p:cNvSpPr/>
          <p:nvPr/>
        </p:nvSpPr>
        <p:spPr>
          <a:xfrm>
            <a:off x="4800600" y="2496312"/>
            <a:ext cx="32004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WHAT YOU'D CHANGE</a:t>
            </a:r>
            <a:endParaRPr lang="en-US" sz="1200" dirty="0"/>
          </a:p>
        </p:txBody>
      </p:sp>
      <p:sp>
        <p:nvSpPr>
          <p:cNvPr id="15" name="Text 13"/>
          <p:cNvSpPr/>
          <p:nvPr/>
        </p:nvSpPr>
        <p:spPr>
          <a:xfrm>
            <a:off x="4800600" y="2889504"/>
            <a:ext cx="3200400" cy="29443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One specific redesign: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'Add a small battery storage unit so solar energy collected during the day can be used at night.'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Change ONE variable at a time.</a:t>
            </a:r>
            <a:endParaRPr lang="en-US" sz="1100" dirty="0"/>
          </a:p>
        </p:txBody>
      </p:sp>
      <p:sp>
        <p:nvSpPr>
          <p:cNvPr id="16" name="Text 14"/>
          <p:cNvSpPr/>
          <p:nvPr/>
        </p:nvSpPr>
        <p:spPr>
          <a:xfrm>
            <a:off x="8275320" y="3337560"/>
            <a:ext cx="640080" cy="1463040"/>
          </a:xfrm>
          <a:prstGeom prst="rect">
            <a:avLst/>
          </a:prstGeom>
          <a:noFill/>
          <a:ln/>
        </p:spPr>
        <p:txBody>
          <a:bodyPr wrap="square" rtlCol="0" anchor="ctr"/>
          <a:lstStyle/>
          <a:p>
            <a:pPr algn="ctr" indent="0" marL="0">
              <a:buNone/>
            </a:pPr>
            <a:r>
              <a:rPr lang="en-US" sz="3000" b="1" dirty="0">
                <a:solidFill>
                  <a:srgbClr val="4CC9F0"/>
                </a:solidFill>
                <a:latin typeface="Calibri" pitchFamily="34" charset="0"/>
                <a:ea typeface="Calibri" pitchFamily="34" charset="-122"/>
                <a:cs typeface="Calibri" pitchFamily="34" charset="-120"/>
              </a:rPr>
              <a:t>-&gt;</a:t>
            </a:r>
            <a:endParaRPr lang="en-US" sz="3000" dirty="0"/>
          </a:p>
        </p:txBody>
      </p:sp>
      <p:sp>
        <p:nvSpPr>
          <p:cNvPr id="17" name="Shape 15"/>
          <p:cNvSpPr/>
          <p:nvPr/>
        </p:nvSpPr>
        <p:spPr>
          <a:xfrm>
            <a:off x="8961120" y="2423160"/>
            <a:ext cx="2834640" cy="3566160"/>
          </a:xfrm>
          <a:prstGeom prst="roundRect">
            <a:avLst>
              <a:gd name="adj" fmla="val 2581"/>
            </a:avLst>
          </a:prstGeom>
          <a:solidFill>
            <a:srgbClr val="06141E"/>
          </a:solidFill>
          <a:ln w="12700">
            <a:solidFill>
              <a:srgbClr val="4CC9F0"/>
            </a:solidFill>
            <a:prstDash val="solid"/>
          </a:ln>
        </p:spPr>
      </p:sp>
      <p:sp>
        <p:nvSpPr>
          <p:cNvPr id="18" name="Text 16"/>
          <p:cNvSpPr/>
          <p:nvPr/>
        </p:nvSpPr>
        <p:spPr>
          <a:xfrm>
            <a:off x="9098280" y="2496312"/>
            <a:ext cx="256032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NEXT PROTOTYPE</a:t>
            </a:r>
            <a:endParaRPr lang="en-US" sz="1200" dirty="0"/>
          </a:p>
        </p:txBody>
      </p:sp>
      <p:sp>
        <p:nvSpPr>
          <p:cNvPr id="19" name="Text 17"/>
          <p:cNvSpPr/>
          <p:nvPr/>
        </p:nvSpPr>
        <p:spPr>
          <a:xfrm>
            <a:off x="9098280" y="2889504"/>
            <a:ext cx="2560320" cy="29443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Prototype 2 — refined from test evidence.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Then test AGAIN.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loop continues until the design meets ALL criteria within constraints.</a:t>
            </a:r>
            <a:endParaRPr lang="en-US" sz="1100" dirty="0"/>
          </a:p>
        </p:txBody>
      </p:sp>
      <p:sp>
        <p:nvSpPr>
          <p:cNvPr id="20" name="Shape 18"/>
          <p:cNvSpPr/>
          <p:nvPr/>
        </p:nvSpPr>
        <p:spPr>
          <a:xfrm>
            <a:off x="0" y="6629400"/>
            <a:ext cx="12192000" cy="228600"/>
          </a:xfrm>
          <a:prstGeom prst="rect">
            <a:avLst/>
          </a:prstGeom>
          <a:solidFill>
            <a:srgbClr val="162233"/>
          </a:solidFill>
          <a:ln/>
        </p:spPr>
      </p:sp>
      <p:sp>
        <p:nvSpPr>
          <p:cNvPr id="21" name="Text 19"/>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TRADE-OFF ANALYSIS — What Do You Gain? What Do You Give Up?</a:t>
            </a:r>
            <a:endParaRPr lang="en-US" sz="1600" dirty="0"/>
          </a:p>
        </p:txBody>
      </p:sp>
      <p:sp>
        <p:nvSpPr>
          <p:cNvPr id="5" name="Shape 3"/>
          <p:cNvSpPr/>
          <p:nvPr/>
        </p:nvSpPr>
        <p:spPr>
          <a:xfrm>
            <a:off x="365760" y="713232"/>
            <a:ext cx="11430000" cy="658368"/>
          </a:xfrm>
          <a:prstGeom prst="roundRect">
            <a:avLst>
              <a:gd name="adj" fmla="val 11111"/>
            </a:avLst>
          </a:prstGeom>
          <a:solidFill>
            <a:srgbClr val="1A1000"/>
          </a:solidFill>
          <a:ln w="12700">
            <a:solidFill>
              <a:srgbClr val="FFB703"/>
            </a:solidFill>
            <a:prstDash val="solid"/>
          </a:ln>
        </p:spPr>
      </p:sp>
      <p:sp>
        <p:nvSpPr>
          <p:cNvPr id="6" name="Text 4"/>
          <p:cNvSpPr/>
          <p:nvPr/>
        </p:nvSpPr>
        <p:spPr>
          <a:xfrm>
            <a:off x="548640" y="768096"/>
            <a:ext cx="10972800" cy="53035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Every design choice is a trade-off. You can't maximize EVERYTHING — more of one thing usually means less of another.</a:t>
            </a:r>
            <a:endParaRPr lang="en-US" sz="1200" dirty="0"/>
          </a:p>
        </p:txBody>
      </p:sp>
      <p:sp>
        <p:nvSpPr>
          <p:cNvPr id="7" name="Text 5"/>
          <p:cNvSpPr/>
          <p:nvPr/>
        </p:nvSpPr>
        <p:spPr>
          <a:xfrm>
            <a:off x="365760" y="1463040"/>
            <a:ext cx="1143000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Example: Solar Phone Charger</a:t>
            </a:r>
            <a:endParaRPr lang="en-US" sz="1300" dirty="0"/>
          </a:p>
        </p:txBody>
      </p:sp>
      <p:sp>
        <p:nvSpPr>
          <p:cNvPr id="8" name="Shape 6"/>
          <p:cNvSpPr/>
          <p:nvPr/>
        </p:nvSpPr>
        <p:spPr>
          <a:xfrm>
            <a:off x="365760" y="1874520"/>
            <a:ext cx="5440680" cy="3840480"/>
          </a:xfrm>
          <a:prstGeom prst="roundRect">
            <a:avLst>
              <a:gd name="adj" fmla="val 1905"/>
            </a:avLst>
          </a:prstGeom>
          <a:solidFill>
            <a:srgbClr val="062010"/>
          </a:solidFill>
          <a:ln w="12700">
            <a:solidFill>
              <a:srgbClr val="2DC653"/>
            </a:solidFill>
            <a:prstDash val="solid"/>
          </a:ln>
        </p:spPr>
      </p:sp>
      <p:sp>
        <p:nvSpPr>
          <p:cNvPr id="9" name="Text 7"/>
          <p:cNvSpPr/>
          <p:nvPr/>
        </p:nvSpPr>
        <p:spPr>
          <a:xfrm>
            <a:off x="502920" y="1947672"/>
            <a:ext cx="5166360" cy="347472"/>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WHAT YOU GAIN</a:t>
            </a:r>
            <a:endParaRPr lang="en-US" sz="1400" dirty="0"/>
          </a:p>
        </p:txBody>
      </p:sp>
      <p:sp>
        <p:nvSpPr>
          <p:cNvPr id="10" name="Text 8"/>
          <p:cNvSpPr/>
          <p:nvPr/>
        </p:nvSpPr>
        <p:spPr>
          <a:xfrm>
            <a:off x="502920" y="2359152"/>
            <a:ext cx="5166360" cy="3200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Works without regular batteries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Uses FREE renewable energy from the sun</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No fuel cost</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Works anywhere there is sunlight</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Environmentally friendly</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Light to carry — no heavy fuel</a:t>
            </a:r>
            <a:endParaRPr lang="en-US" sz="1250" dirty="0"/>
          </a:p>
        </p:txBody>
      </p:sp>
      <p:sp>
        <p:nvSpPr>
          <p:cNvPr id="11" name="Shape 9"/>
          <p:cNvSpPr/>
          <p:nvPr/>
        </p:nvSpPr>
        <p:spPr>
          <a:xfrm>
            <a:off x="6035040" y="1874520"/>
            <a:ext cx="5532120" cy="3840480"/>
          </a:xfrm>
          <a:prstGeom prst="roundRect">
            <a:avLst>
              <a:gd name="adj" fmla="val 1905"/>
            </a:avLst>
          </a:prstGeom>
          <a:solidFill>
            <a:srgbClr val="200606"/>
          </a:solidFill>
          <a:ln w="12700">
            <a:solidFill>
              <a:srgbClr val="F4736A"/>
            </a:solidFill>
            <a:prstDash val="solid"/>
          </a:ln>
        </p:spPr>
      </p:sp>
      <p:sp>
        <p:nvSpPr>
          <p:cNvPr id="12" name="Text 10"/>
          <p:cNvSpPr/>
          <p:nvPr/>
        </p:nvSpPr>
        <p:spPr>
          <a:xfrm>
            <a:off x="6172200" y="1947672"/>
            <a:ext cx="5257800" cy="347472"/>
          </a:xfrm>
          <a:prstGeom prst="rect">
            <a:avLst/>
          </a:prstGeom>
          <a:noFill/>
          <a:ln/>
        </p:spPr>
        <p:txBody>
          <a:bodyPr wrap="square" rtlCol="0" anchor="ctr"/>
          <a:lstStyle/>
          <a:p>
            <a:pPr indent="0" marL="0">
              <a:buNone/>
            </a:pPr>
            <a:r>
              <a:rPr lang="en-US" sz="1400" b="1" dirty="0">
                <a:solidFill>
                  <a:srgbClr val="F4736A"/>
                </a:solidFill>
                <a:latin typeface="Calibri" pitchFamily="34" charset="0"/>
                <a:ea typeface="Calibri" pitchFamily="34" charset="-122"/>
                <a:cs typeface="Calibri" pitchFamily="34" charset="-120"/>
              </a:rPr>
              <a:t>WHAT YOU GIVE UP</a:t>
            </a:r>
            <a:endParaRPr lang="en-US" sz="1400" dirty="0"/>
          </a:p>
        </p:txBody>
      </p:sp>
      <p:sp>
        <p:nvSpPr>
          <p:cNvPr id="13" name="Text 11"/>
          <p:cNvSpPr/>
          <p:nvPr/>
        </p:nvSpPr>
        <p:spPr>
          <a:xfrm>
            <a:off x="6172200" y="2359152"/>
            <a:ext cx="5257800" cy="32004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Doesn't work at night</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Slower charging than a wall outlet</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Works less well on cloudy days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Needs to face the sun — can't be in a bag</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Can be damaged by rain</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More expensive upfront than a cable charger</a:t>
            </a:r>
            <a:endParaRPr lang="en-US" sz="125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DISCUSSION — Could Another Design Solve the Same Problem?</a:t>
            </a:r>
            <a:endParaRPr lang="en-US" sz="1600" dirty="0"/>
          </a:p>
        </p:txBody>
      </p:sp>
      <p:sp>
        <p:nvSpPr>
          <p:cNvPr id="5" name="Shape 3"/>
          <p:cNvSpPr/>
          <p:nvPr/>
        </p:nvSpPr>
        <p:spPr>
          <a:xfrm>
            <a:off x="365760" y="713232"/>
            <a:ext cx="11430000" cy="2240280"/>
          </a:xfrm>
          <a:prstGeom prst="roundRect">
            <a:avLst>
              <a:gd name="adj" fmla="val 3265"/>
            </a:avLst>
          </a:prstGeom>
          <a:solidFill>
            <a:srgbClr val="162233"/>
          </a:solidFill>
          <a:ln w="12700">
            <a:solidFill>
              <a:srgbClr val="FFB703"/>
            </a:solidFill>
            <a:prstDash val="solid"/>
          </a:ln>
        </p:spPr>
      </p:sp>
      <p:sp>
        <p:nvSpPr>
          <p:cNvPr id="6" name="Text 4"/>
          <p:cNvSpPr/>
          <p:nvPr/>
        </p:nvSpPr>
        <p:spPr>
          <a:xfrm>
            <a:off x="530352" y="786384"/>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Competing Designs Discussion</a:t>
            </a:r>
            <a:endParaRPr lang="en-US" sz="1300" dirty="0"/>
          </a:p>
        </p:txBody>
      </p:sp>
      <p:sp>
        <p:nvSpPr>
          <p:cNvPr id="7" name="Text 5"/>
          <p:cNvSpPr/>
          <p:nvPr/>
        </p:nvSpPr>
        <p:spPr>
          <a:xfrm>
            <a:off x="530352" y="1152144"/>
            <a:ext cx="11100816" cy="1691640"/>
          </a:xfrm>
          <a:prstGeom prst="rect">
            <a:avLst/>
          </a:prstGeom>
          <a:noFill/>
          <a:ln/>
        </p:spPr>
        <p:txBody>
          <a:bodyPr wrap="square" rtlCol="0" anchor="t"/>
          <a:lstStyle/>
          <a:p>
            <a:pPr algn="l" indent="0" marL="0">
              <a:buNone/>
            </a:pPr>
            <a:r>
              <a:rPr lang="en-US" sz="1200" i="1" dirty="0">
                <a:solidFill>
                  <a:srgbClr val="FFFFFF"/>
                </a:solidFill>
                <a:latin typeface="Calibri" pitchFamily="34" charset="0"/>
                <a:ea typeface="Calibri" pitchFamily="34" charset="-122"/>
                <a:cs typeface="Calibri" pitchFamily="34" charset="-120"/>
              </a:rPr>
              <a:t>"One engineer says a HAND-CRANK FLASHLIGHT is better. Another says a SOLAR CHARGER is better. Which is more reliable? What evidence would change your mind?"</a:t>
            </a:r>
            <a:endParaRPr lang="en-US" sz="1200" dirty="0"/>
          </a:p>
          <a:p>
            <a:pPr algn="l" indent="0" marL="0">
              <a:buNone/>
            </a:pPr>
            <a:endParaRPr lang="en-US" sz="1200" dirty="0"/>
          </a:p>
          <a:p>
            <a:pPr algn="l" indent="0" marL="0">
              <a:buNone/>
            </a:pPr>
            <a:r>
              <a:rPr lang="en-US" sz="1200" i="1" dirty="0">
                <a:solidFill>
                  <a:srgbClr val="FFFFFF"/>
                </a:solidFill>
                <a:latin typeface="Calibri" pitchFamily="34" charset="0"/>
                <a:ea typeface="Calibri" pitchFamily="34" charset="-122"/>
                <a:cs typeface="Calibri" pitchFamily="34" charset="-120"/>
              </a:rPr>
              <a:t>Write your reasoning: "I think ___ is more reliable because ___. Evidence that would change my mind is ___."</a:t>
            </a:r>
            <a:endParaRPr lang="en-US" sz="1200" dirty="0"/>
          </a:p>
        </p:txBody>
      </p:sp>
      <p:sp>
        <p:nvSpPr>
          <p:cNvPr id="8" name="Shape 6"/>
          <p:cNvSpPr/>
          <p:nvPr/>
        </p:nvSpPr>
        <p:spPr>
          <a:xfrm>
            <a:off x="365760" y="3090672"/>
            <a:ext cx="5394960" cy="3200400"/>
          </a:xfrm>
          <a:prstGeom prst="roundRect">
            <a:avLst>
              <a:gd name="adj" fmla="val 2286"/>
            </a:avLst>
          </a:prstGeom>
          <a:solidFill>
            <a:srgbClr val="0D1A2A"/>
          </a:solidFill>
          <a:ln w="12700">
            <a:solidFill>
              <a:srgbClr val="4CC9F0"/>
            </a:solidFill>
            <a:prstDash val="solid"/>
          </a:ln>
        </p:spPr>
      </p:sp>
      <p:sp>
        <p:nvSpPr>
          <p:cNvPr id="9" name="Text 7"/>
          <p:cNvSpPr/>
          <p:nvPr/>
        </p:nvSpPr>
        <p:spPr>
          <a:xfrm>
            <a:off x="502920" y="3163824"/>
            <a:ext cx="5120640" cy="347472"/>
          </a:xfrm>
          <a:prstGeom prst="rect">
            <a:avLst/>
          </a:prstGeom>
          <a:noFill/>
          <a:ln/>
        </p:spPr>
        <p:txBody>
          <a:bodyPr wrap="square" rtlCol="0" anchor="ctr"/>
          <a:lstStyle/>
          <a:p>
            <a:pPr indent="0" marL="0">
              <a:buNone/>
            </a:pPr>
            <a:r>
              <a:rPr lang="en-US" sz="1300" b="1" dirty="0">
                <a:solidFill>
                  <a:srgbClr val="4CC9F0"/>
                </a:solidFill>
                <a:latin typeface="Calibri" pitchFamily="34" charset="0"/>
                <a:ea typeface="Calibri" pitchFamily="34" charset="-122"/>
                <a:cs typeface="Calibri" pitchFamily="34" charset="-120"/>
              </a:rPr>
              <a:t>Hand-Crank Flashlight</a:t>
            </a:r>
            <a:endParaRPr lang="en-US" sz="1300" dirty="0"/>
          </a:p>
        </p:txBody>
      </p:sp>
      <p:sp>
        <p:nvSpPr>
          <p:cNvPr id="10" name="Text 8"/>
          <p:cNvSpPr/>
          <p:nvPr/>
        </p:nvSpPr>
        <p:spPr>
          <a:xfrm>
            <a:off x="502920" y="3547872"/>
            <a:ext cx="5120640" cy="2651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INPUT: Kinetic energy (hand motion)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OUTPUT: Light energy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Pros: Works ANY time — day or night, cloudy or clear. You control the energy input.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Cons: Requires continuous effort. You stop cranking, the light stops. Tiring over long periods.</a:t>
            </a:r>
            <a:endParaRPr lang="en-US" sz="1100" dirty="0"/>
          </a:p>
        </p:txBody>
      </p:sp>
      <p:sp>
        <p:nvSpPr>
          <p:cNvPr id="11" name="Shape 9"/>
          <p:cNvSpPr/>
          <p:nvPr/>
        </p:nvSpPr>
        <p:spPr>
          <a:xfrm>
            <a:off x="5989320" y="3090672"/>
            <a:ext cx="5806440" cy="3200400"/>
          </a:xfrm>
          <a:prstGeom prst="roundRect">
            <a:avLst>
              <a:gd name="adj" fmla="val 2286"/>
            </a:avLst>
          </a:prstGeom>
          <a:solidFill>
            <a:srgbClr val="1A1400"/>
          </a:solidFill>
          <a:ln w="12700">
            <a:solidFill>
              <a:srgbClr val="FFB703"/>
            </a:solidFill>
            <a:prstDash val="solid"/>
          </a:ln>
        </p:spPr>
      </p:sp>
      <p:sp>
        <p:nvSpPr>
          <p:cNvPr id="12" name="Text 10"/>
          <p:cNvSpPr/>
          <p:nvPr/>
        </p:nvSpPr>
        <p:spPr>
          <a:xfrm>
            <a:off x="6126480" y="3163824"/>
            <a:ext cx="553212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Solar Charger + Light</a:t>
            </a:r>
            <a:endParaRPr lang="en-US" sz="1300" dirty="0"/>
          </a:p>
        </p:txBody>
      </p:sp>
      <p:sp>
        <p:nvSpPr>
          <p:cNvPr id="13" name="Text 11"/>
          <p:cNvSpPr/>
          <p:nvPr/>
        </p:nvSpPr>
        <p:spPr>
          <a:xfrm>
            <a:off x="6126480" y="3547872"/>
            <a:ext cx="5532120" cy="265176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INPUT: Solar (radiant) energy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OUTPUT: Electrical -&gt; light energy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Pros: Passive — no effort needed. Can store energy for later use.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Cons: Depends on sunlight. Won't work at night unless battery added. Can fail if damaged.</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4736A"/>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4736A"/>
                </a:solidFill>
                <a:latin typeface="Calibri" pitchFamily="34" charset="0"/>
                <a:ea typeface="Calibri" pitchFamily="34" charset="-122"/>
                <a:cs typeface="Calibri" pitchFamily="34" charset="-120"/>
              </a:rPr>
              <a:t>COMMON MISCONCEPTION — Busted!</a:t>
            </a:r>
            <a:endParaRPr lang="en-US" sz="1600" dirty="0"/>
          </a:p>
        </p:txBody>
      </p:sp>
      <p:sp>
        <p:nvSpPr>
          <p:cNvPr id="5" name="Shape 3"/>
          <p:cNvSpPr/>
          <p:nvPr/>
        </p:nvSpPr>
        <p:spPr>
          <a:xfrm>
            <a:off x="365760" y="713232"/>
            <a:ext cx="11430000" cy="1207008"/>
          </a:xfrm>
          <a:prstGeom prst="roundRect">
            <a:avLst>
              <a:gd name="adj" fmla="val 6061"/>
            </a:avLst>
          </a:prstGeom>
          <a:solidFill>
            <a:srgbClr val="200808"/>
          </a:solidFill>
          <a:ln w="12700">
            <a:solidFill>
              <a:srgbClr val="F4736A"/>
            </a:solidFill>
            <a:prstDash val="solid"/>
          </a:ln>
        </p:spPr>
      </p:sp>
      <p:sp>
        <p:nvSpPr>
          <p:cNvPr id="6" name="Text 4"/>
          <p:cNvSpPr/>
          <p:nvPr/>
        </p:nvSpPr>
        <p:spPr>
          <a:xfrm>
            <a:off x="548640" y="777240"/>
            <a:ext cx="10972800" cy="548640"/>
          </a:xfrm>
          <a:prstGeom prst="rect">
            <a:avLst/>
          </a:prstGeom>
          <a:noFill/>
          <a:ln/>
        </p:spPr>
        <p:txBody>
          <a:bodyPr wrap="square" rtlCol="0" anchor="ctr"/>
          <a:lstStyle/>
          <a:p>
            <a:pPr algn="ctr" indent="0" marL="0">
              <a:buNone/>
            </a:pPr>
            <a:r>
              <a:rPr lang="en-US" sz="1600" b="1" i="1" dirty="0">
                <a:solidFill>
                  <a:srgbClr val="F4736A"/>
                </a:solidFill>
                <a:latin typeface="Calibri" pitchFamily="34" charset="0"/>
                <a:ea typeface="Calibri" pitchFamily="34" charset="-122"/>
                <a:cs typeface="Calibri" pitchFamily="34" charset="-120"/>
              </a:rPr>
              <a:t>"Real engineers come up with perfect designs on their first try."</a:t>
            </a:r>
            <a:endParaRPr lang="en-US" sz="1600" dirty="0"/>
          </a:p>
        </p:txBody>
      </p:sp>
      <p:sp>
        <p:nvSpPr>
          <p:cNvPr id="7" name="Text 5"/>
          <p:cNvSpPr/>
          <p:nvPr/>
        </p:nvSpPr>
        <p:spPr>
          <a:xfrm>
            <a:off x="548640" y="1353312"/>
            <a:ext cx="109728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THIS IS FALSE — and here's the evidence:</a:t>
            </a:r>
            <a:endParaRPr lang="en-US" sz="1300" dirty="0"/>
          </a:p>
        </p:txBody>
      </p:sp>
      <p:sp>
        <p:nvSpPr>
          <p:cNvPr id="8" name="Shape 6"/>
          <p:cNvSpPr/>
          <p:nvPr/>
        </p:nvSpPr>
        <p:spPr>
          <a:xfrm>
            <a:off x="365760" y="2057400"/>
            <a:ext cx="5394960" cy="3840480"/>
          </a:xfrm>
          <a:prstGeom prst="roundRect">
            <a:avLst>
              <a:gd name="adj" fmla="val 1905"/>
            </a:avLst>
          </a:prstGeom>
          <a:solidFill>
            <a:srgbClr val="1E2F45"/>
          </a:solidFill>
          <a:ln w="12700">
            <a:solidFill>
              <a:srgbClr val="FFB703"/>
            </a:solidFill>
            <a:prstDash val="solid"/>
          </a:ln>
        </p:spPr>
      </p:sp>
      <p:sp>
        <p:nvSpPr>
          <p:cNvPr id="9" name="Text 7"/>
          <p:cNvSpPr/>
          <p:nvPr/>
        </p:nvSpPr>
        <p:spPr>
          <a:xfrm>
            <a:off x="502920" y="2130552"/>
            <a:ext cx="512064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The Wright Brothers</a:t>
            </a:r>
            <a:endParaRPr lang="en-US" sz="1300" dirty="0"/>
          </a:p>
        </p:txBody>
      </p:sp>
      <p:sp>
        <p:nvSpPr>
          <p:cNvPr id="10" name="Text 8"/>
          <p:cNvSpPr/>
          <p:nvPr/>
        </p:nvSpPr>
        <p:spPr>
          <a:xfrm>
            <a:off x="502920" y="2514600"/>
            <a:ext cx="5120640" cy="32461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Built MORE than 200 different wing prototypes before the first successful flight in 1903.</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They used a homemade wind tunnel to test each wing shape — measuring lift and drag on each version.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Every 'failed' prototype taught them something that made the next one better.</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Wright Brothers didn't succeed DESPITE failure — they succeeded BECAUSE of it.</a:t>
            </a:r>
            <a:endParaRPr lang="en-US" sz="1100" dirty="0"/>
          </a:p>
        </p:txBody>
      </p:sp>
      <p:sp>
        <p:nvSpPr>
          <p:cNvPr id="11" name="Shape 9"/>
          <p:cNvSpPr/>
          <p:nvPr/>
        </p:nvSpPr>
        <p:spPr>
          <a:xfrm>
            <a:off x="5943600" y="2057400"/>
            <a:ext cx="5852160" cy="3840480"/>
          </a:xfrm>
          <a:prstGeom prst="roundRect">
            <a:avLst>
              <a:gd name="adj" fmla="val 1905"/>
            </a:avLst>
          </a:prstGeom>
          <a:solidFill>
            <a:srgbClr val="1E2F45"/>
          </a:solidFill>
          <a:ln w="12700">
            <a:solidFill>
              <a:srgbClr val="2DC653"/>
            </a:solidFill>
            <a:prstDash val="solid"/>
          </a:ln>
        </p:spPr>
      </p:sp>
      <p:sp>
        <p:nvSpPr>
          <p:cNvPr id="12" name="Text 10"/>
          <p:cNvSpPr/>
          <p:nvPr/>
        </p:nvSpPr>
        <p:spPr>
          <a:xfrm>
            <a:off x="6080760" y="2130552"/>
            <a:ext cx="5577840" cy="347472"/>
          </a:xfrm>
          <a:prstGeom prst="rect">
            <a:avLst/>
          </a:prstGeom>
          <a:noFill/>
          <a:ln/>
        </p:spPr>
        <p:txBody>
          <a:bodyPr wrap="square" rtlCol="0" anchor="ctr"/>
          <a:lstStyle/>
          <a:p>
            <a:pPr indent="0" marL="0">
              <a:buNone/>
            </a:pPr>
            <a:r>
              <a:rPr lang="en-US" sz="1300" b="1" dirty="0">
                <a:solidFill>
                  <a:srgbClr val="2DC653"/>
                </a:solidFill>
                <a:latin typeface="Calibri" pitchFamily="34" charset="0"/>
                <a:ea typeface="Calibri" pitchFamily="34" charset="-122"/>
                <a:cs typeface="Calibri" pitchFamily="34" charset="-120"/>
              </a:rPr>
              <a:t>Other Real Examples:</a:t>
            </a:r>
            <a:endParaRPr lang="en-US" sz="1300" dirty="0"/>
          </a:p>
        </p:txBody>
      </p:sp>
      <p:sp>
        <p:nvSpPr>
          <p:cNvPr id="13" name="Text 11"/>
          <p:cNvSpPr/>
          <p:nvPr/>
        </p:nvSpPr>
        <p:spPr>
          <a:xfrm>
            <a:off x="6080760" y="2514600"/>
            <a:ext cx="5577840" cy="32461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James Dyson: 5,126 vacuum prototypes over 15 years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The Post-It Note: discovered from a 'failed' adhesive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NASA Apollo 13: crew survived because engineers redesigned a CO2 filter MID-MISSION using only onboard materials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Tesla EVs: hundreds of battery chemistry redesigns to reach current range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Best engineers EXPECT failure. They plan for it and use it.</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TESTING YOUR PROTOTYPE — Identifying Variables</a:t>
            </a:r>
            <a:endParaRPr lang="en-US" sz="1600" dirty="0"/>
          </a:p>
        </p:txBody>
      </p:sp>
      <p:sp>
        <p:nvSpPr>
          <p:cNvPr id="5" name="Shape 3"/>
          <p:cNvSpPr/>
          <p:nvPr/>
        </p:nvSpPr>
        <p:spPr>
          <a:xfrm>
            <a:off x="365760" y="713232"/>
            <a:ext cx="11430000" cy="658368"/>
          </a:xfrm>
          <a:prstGeom prst="roundRect">
            <a:avLst>
              <a:gd name="adj" fmla="val 11111"/>
            </a:avLst>
          </a:prstGeom>
          <a:solidFill>
            <a:srgbClr val="1E2F45"/>
          </a:solidFill>
          <a:ln w="12700">
            <a:solidFill>
              <a:srgbClr val="4CC9F0"/>
            </a:solidFill>
            <a:prstDash val="solid"/>
          </a:ln>
        </p:spPr>
      </p:sp>
      <p:sp>
        <p:nvSpPr>
          <p:cNvPr id="6" name="Text 4"/>
          <p:cNvSpPr/>
          <p:nvPr/>
        </p:nvSpPr>
        <p:spPr>
          <a:xfrm>
            <a:off x="548640" y="768096"/>
            <a:ext cx="10972800" cy="53035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good test changes ONE thing at a time. Identify your variables BEFORE you test.</a:t>
            </a:r>
            <a:endParaRPr lang="en-US" sz="1200" dirty="0"/>
          </a:p>
        </p:txBody>
      </p:sp>
      <p:sp>
        <p:nvSpPr>
          <p:cNvPr id="7" name="Shape 5"/>
          <p:cNvSpPr/>
          <p:nvPr/>
        </p:nvSpPr>
        <p:spPr>
          <a:xfrm>
            <a:off x="365760" y="1508760"/>
            <a:ext cx="3566160" cy="4297680"/>
          </a:xfrm>
          <a:prstGeom prst="roundRect">
            <a:avLst>
              <a:gd name="adj" fmla="val 2051"/>
            </a:avLst>
          </a:prstGeom>
          <a:solidFill>
            <a:srgbClr val="061A20"/>
          </a:solidFill>
          <a:ln w="12700">
            <a:solidFill>
              <a:srgbClr val="4CC9F0"/>
            </a:solidFill>
            <a:prstDash val="solid"/>
          </a:ln>
        </p:spPr>
      </p:sp>
      <p:sp>
        <p:nvSpPr>
          <p:cNvPr id="8" name="Text 6"/>
          <p:cNvSpPr/>
          <p:nvPr/>
        </p:nvSpPr>
        <p:spPr>
          <a:xfrm>
            <a:off x="502920" y="1581912"/>
            <a:ext cx="3291840" cy="384048"/>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INDEPENDENT Variable</a:t>
            </a:r>
            <a:endParaRPr lang="en-US" sz="1200" dirty="0"/>
          </a:p>
        </p:txBody>
      </p:sp>
      <p:sp>
        <p:nvSpPr>
          <p:cNvPr id="9" name="Text 7"/>
          <p:cNvSpPr/>
          <p:nvPr/>
        </p:nvSpPr>
        <p:spPr>
          <a:xfrm>
            <a:off x="502920" y="2029968"/>
            <a:ext cx="3291840" cy="3694176"/>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WHAT YOU CHANGE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ONE thing you change between tests to see if it improves the design.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Example: The size of the solar panel (small vs. large).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You can only change ONE independent variable per test — otherwise you won't know what caused the change in results.</a:t>
            </a:r>
            <a:endParaRPr lang="en-US" sz="1100" dirty="0"/>
          </a:p>
        </p:txBody>
      </p:sp>
      <p:sp>
        <p:nvSpPr>
          <p:cNvPr id="10" name="Shape 8"/>
          <p:cNvSpPr/>
          <p:nvPr/>
        </p:nvSpPr>
        <p:spPr>
          <a:xfrm>
            <a:off x="4114800" y="1508760"/>
            <a:ext cx="3657600" cy="4297680"/>
          </a:xfrm>
          <a:prstGeom prst="roundRect">
            <a:avLst>
              <a:gd name="adj" fmla="val 2000"/>
            </a:avLst>
          </a:prstGeom>
          <a:solidFill>
            <a:srgbClr val="1A1400"/>
          </a:solidFill>
          <a:ln w="12700">
            <a:solidFill>
              <a:srgbClr val="FFB703"/>
            </a:solidFill>
            <a:prstDash val="solid"/>
          </a:ln>
        </p:spPr>
      </p:sp>
      <p:sp>
        <p:nvSpPr>
          <p:cNvPr id="11" name="Text 9"/>
          <p:cNvSpPr/>
          <p:nvPr/>
        </p:nvSpPr>
        <p:spPr>
          <a:xfrm>
            <a:off x="4251960" y="1581912"/>
            <a:ext cx="3383280" cy="384048"/>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DEPENDENT Variable</a:t>
            </a:r>
            <a:endParaRPr lang="en-US" sz="1200" dirty="0"/>
          </a:p>
        </p:txBody>
      </p:sp>
      <p:sp>
        <p:nvSpPr>
          <p:cNvPr id="12" name="Text 10"/>
          <p:cNvSpPr/>
          <p:nvPr/>
        </p:nvSpPr>
        <p:spPr>
          <a:xfrm>
            <a:off x="4251960" y="2029968"/>
            <a:ext cx="3383280" cy="3694176"/>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WHAT YOU MEASURE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result you observe or measure to see if your change helped.</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Example: The brightness of the light produced.</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This is your DATA — the evidence that tells you whether the redesign worked.</a:t>
            </a:r>
            <a:endParaRPr lang="en-US" sz="1100" dirty="0"/>
          </a:p>
        </p:txBody>
      </p:sp>
      <p:sp>
        <p:nvSpPr>
          <p:cNvPr id="13" name="Shape 11"/>
          <p:cNvSpPr/>
          <p:nvPr/>
        </p:nvSpPr>
        <p:spPr>
          <a:xfrm>
            <a:off x="7955280" y="1508760"/>
            <a:ext cx="3886200" cy="4297680"/>
          </a:xfrm>
          <a:prstGeom prst="roundRect">
            <a:avLst>
              <a:gd name="adj" fmla="val 1882"/>
            </a:avLst>
          </a:prstGeom>
          <a:solidFill>
            <a:srgbClr val="0A0A20"/>
          </a:solidFill>
          <a:ln w="12700">
            <a:solidFill>
              <a:srgbClr val="B0C4D8"/>
            </a:solidFill>
            <a:prstDash val="solid"/>
          </a:ln>
        </p:spPr>
      </p:sp>
      <p:sp>
        <p:nvSpPr>
          <p:cNvPr id="14" name="Text 12"/>
          <p:cNvSpPr/>
          <p:nvPr/>
        </p:nvSpPr>
        <p:spPr>
          <a:xfrm>
            <a:off x="8092440" y="1581912"/>
            <a:ext cx="3611880" cy="384048"/>
          </a:xfrm>
          <a:prstGeom prst="rect">
            <a:avLst/>
          </a:prstGeom>
          <a:noFill/>
          <a:ln/>
        </p:spPr>
        <p:txBody>
          <a:bodyPr wrap="square" rtlCol="0" anchor="ctr"/>
          <a:lstStyle/>
          <a:p>
            <a:pPr indent="0" marL="0">
              <a:buNone/>
            </a:pPr>
            <a:r>
              <a:rPr lang="en-US" sz="1200" b="1" dirty="0">
                <a:solidFill>
                  <a:srgbClr val="B0C4D8"/>
                </a:solidFill>
                <a:latin typeface="Calibri" pitchFamily="34" charset="0"/>
                <a:ea typeface="Calibri" pitchFamily="34" charset="-122"/>
                <a:cs typeface="Calibri" pitchFamily="34" charset="-120"/>
              </a:rPr>
              <a:t>CONTROLLED Variables</a:t>
            </a:r>
            <a:endParaRPr lang="en-US" sz="1200" dirty="0"/>
          </a:p>
        </p:txBody>
      </p:sp>
      <p:sp>
        <p:nvSpPr>
          <p:cNvPr id="15" name="Text 13"/>
          <p:cNvSpPr/>
          <p:nvPr/>
        </p:nvSpPr>
        <p:spPr>
          <a:xfrm>
            <a:off x="8092440" y="2029968"/>
            <a:ext cx="3611880" cy="3694176"/>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WHAT YOU KEEP THE SAME</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Everything else you hold constant so they don't affect your results.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Example: Same sunlight level, same time of day, same test duration.</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Controlled variables make your results trustworthy.</a:t>
            </a:r>
            <a:endParaRPr lang="en-US" sz="11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1A5FBD"/>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1A5FBD"/>
                </a:solidFill>
                <a:latin typeface="Calibri" pitchFamily="34" charset="0"/>
                <a:ea typeface="Calibri" pitchFamily="34" charset="-122"/>
                <a:cs typeface="Calibri" pitchFamily="34" charset="-120"/>
              </a:rPr>
              <a:t>CER — CLAIM: Justify Your Design Choice</a:t>
            </a:r>
            <a:endParaRPr lang="en-US" sz="1600" dirty="0"/>
          </a:p>
        </p:txBody>
      </p:sp>
      <p:sp>
        <p:nvSpPr>
          <p:cNvPr id="5" name="Shape 3"/>
          <p:cNvSpPr/>
          <p:nvPr/>
        </p:nvSpPr>
        <p:spPr>
          <a:xfrm>
            <a:off x="365760" y="713232"/>
            <a:ext cx="11430000" cy="2148840"/>
          </a:xfrm>
          <a:prstGeom prst="roundRect">
            <a:avLst>
              <a:gd name="adj" fmla="val 4255"/>
            </a:avLst>
          </a:prstGeom>
          <a:solidFill>
            <a:srgbClr val="0A3D8F"/>
          </a:solidFill>
          <a:ln w="19050">
            <a:solidFill>
              <a:srgbClr val="1A5FBD"/>
            </a:solidFill>
            <a:prstDash val="solid"/>
          </a:ln>
        </p:spPr>
      </p:sp>
      <p:sp>
        <p:nvSpPr>
          <p:cNvPr id="6" name="Shape 4"/>
          <p:cNvSpPr/>
          <p:nvPr/>
        </p:nvSpPr>
        <p:spPr>
          <a:xfrm>
            <a:off x="365760" y="713232"/>
            <a:ext cx="11430000" cy="347472"/>
          </a:xfrm>
          <a:prstGeom prst="rect">
            <a:avLst/>
          </a:prstGeom>
          <a:solidFill>
            <a:srgbClr val="1A5FBD"/>
          </a:solidFill>
          <a:ln w="12700">
            <a:solidFill>
              <a:srgbClr val="1A5FBD"/>
            </a:solidFill>
            <a:prstDash val="solid"/>
          </a:ln>
        </p:spPr>
      </p:sp>
      <p:sp>
        <p:nvSpPr>
          <p:cNvPr id="7" name="Text 5"/>
          <p:cNvSpPr/>
          <p:nvPr/>
        </p:nvSpPr>
        <p:spPr>
          <a:xfrm>
            <a:off x="457200" y="731520"/>
            <a:ext cx="1124712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  CLAIM</a:t>
            </a:r>
            <a:endParaRPr lang="en-US" sz="1200" dirty="0"/>
          </a:p>
        </p:txBody>
      </p:sp>
      <p:sp>
        <p:nvSpPr>
          <p:cNvPr id="8" name="Text 6"/>
          <p:cNvSpPr/>
          <p:nvPr/>
        </p:nvSpPr>
        <p:spPr>
          <a:xfrm>
            <a:off x="502920" y="1115568"/>
            <a:ext cx="11155680" cy="1655064"/>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CLAIM is a clear statement of your design decision.</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"I claim my design choice of a SOLAR CHARGER is better for the Florida hiking scenario because solar energy is available every day in Florida and converts directly to usable electricity without any ongoing effort from the user."</a:t>
            </a:r>
            <a:endParaRPr lang="en-US" sz="1200" dirty="0"/>
          </a:p>
        </p:txBody>
      </p:sp>
      <p:sp>
        <p:nvSpPr>
          <p:cNvPr id="9" name="Shape 7"/>
          <p:cNvSpPr/>
          <p:nvPr/>
        </p:nvSpPr>
        <p:spPr>
          <a:xfrm>
            <a:off x="365760" y="2971800"/>
            <a:ext cx="11430000" cy="1143000"/>
          </a:xfrm>
          <a:prstGeom prst="roundRect">
            <a:avLst>
              <a:gd name="adj" fmla="val 6400"/>
            </a:avLst>
          </a:prstGeom>
          <a:solidFill>
            <a:srgbClr val="1E2F45"/>
          </a:solidFill>
          <a:ln w="12700">
            <a:solidFill>
              <a:srgbClr val="243A52"/>
            </a:solidFill>
            <a:prstDash val="solid"/>
          </a:ln>
        </p:spPr>
      </p:sp>
      <p:sp>
        <p:nvSpPr>
          <p:cNvPr id="10" name="Text 8"/>
          <p:cNvSpPr/>
          <p:nvPr/>
        </p:nvSpPr>
        <p:spPr>
          <a:xfrm>
            <a:off x="548640" y="3035808"/>
            <a:ext cx="10972800" cy="32004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Claim sentence frame:</a:t>
            </a:r>
            <a:endParaRPr lang="en-US" sz="1100" dirty="0"/>
          </a:p>
        </p:txBody>
      </p:sp>
      <p:sp>
        <p:nvSpPr>
          <p:cNvPr id="11" name="Text 9"/>
          <p:cNvSpPr/>
          <p:nvPr/>
        </p:nvSpPr>
        <p:spPr>
          <a:xfrm>
            <a:off x="548640" y="3383280"/>
            <a:ext cx="10972800" cy="65836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"I claim my design choice of ___ is better for ___ because ___ (what the design does) and ___ (how it meets the criteria)."</a:t>
            </a:r>
            <a:endParaRPr lang="en-US" sz="1200" dirty="0"/>
          </a:p>
        </p:txBody>
      </p:sp>
      <p:sp>
        <p:nvSpPr>
          <p:cNvPr id="12" name="Shape 10"/>
          <p:cNvSpPr/>
          <p:nvPr/>
        </p:nvSpPr>
        <p:spPr>
          <a:xfrm>
            <a:off x="365760" y="4224528"/>
            <a:ext cx="11430000" cy="1554480"/>
          </a:xfrm>
          <a:prstGeom prst="roundRect">
            <a:avLst>
              <a:gd name="adj" fmla="val 4706"/>
            </a:avLst>
          </a:prstGeom>
          <a:solidFill>
            <a:srgbClr val="0A1520"/>
          </a:solidFill>
          <a:ln w="12700">
            <a:solidFill>
              <a:srgbClr val="1A5FBD"/>
            </a:solidFill>
            <a:prstDash val="solid"/>
          </a:ln>
        </p:spPr>
      </p:sp>
      <p:sp>
        <p:nvSpPr>
          <p:cNvPr id="13" name="Text 11"/>
          <p:cNvSpPr/>
          <p:nvPr/>
        </p:nvSpPr>
        <p:spPr>
          <a:xfrm>
            <a:off x="548640" y="4297680"/>
            <a:ext cx="10972800" cy="329184"/>
          </a:xfrm>
          <a:prstGeom prst="rect">
            <a:avLst/>
          </a:prstGeom>
          <a:noFill/>
          <a:ln/>
        </p:spPr>
        <p:txBody>
          <a:bodyPr wrap="square" rtlCol="0" anchor="ctr"/>
          <a:lstStyle/>
          <a:p>
            <a:pPr indent="0" marL="0">
              <a:buNone/>
            </a:pPr>
            <a:r>
              <a:rPr lang="en-US" sz="1200" b="1" dirty="0">
                <a:solidFill>
                  <a:srgbClr val="1A5FBD"/>
                </a:solidFill>
                <a:latin typeface="Calibri" pitchFamily="34" charset="0"/>
                <a:ea typeface="Calibri" pitchFamily="34" charset="-122"/>
                <a:cs typeface="Calibri" pitchFamily="34" charset="-120"/>
              </a:rPr>
              <a:t>Your turn — write a CLAIM for your own design:</a:t>
            </a:r>
            <a:endParaRPr lang="en-US" sz="1200" dirty="0"/>
          </a:p>
        </p:txBody>
      </p:sp>
      <p:sp>
        <p:nvSpPr>
          <p:cNvPr id="14" name="Text 12"/>
          <p:cNvSpPr/>
          <p:nvPr/>
        </p:nvSpPr>
        <p:spPr>
          <a:xfrm>
            <a:off x="548640" y="4663440"/>
            <a:ext cx="10972800" cy="10241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your science notebook, write your claim. Use the sentence frame above. Your claim should name your design choice AND explain what it does. 2-3 sentences.</a:t>
            </a:r>
            <a:endParaRPr lang="en-US" sz="12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28B5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28B50"/>
                </a:solidFill>
                <a:latin typeface="Calibri" pitchFamily="34" charset="0"/>
                <a:ea typeface="Calibri" pitchFamily="34" charset="-122"/>
                <a:cs typeface="Calibri" pitchFamily="34" charset="-120"/>
              </a:rPr>
              <a:t>CER — EVIDENCE: What Did Your Test Show?</a:t>
            </a:r>
            <a:endParaRPr lang="en-US" sz="1600" dirty="0"/>
          </a:p>
        </p:txBody>
      </p:sp>
      <p:sp>
        <p:nvSpPr>
          <p:cNvPr id="5" name="Shape 3"/>
          <p:cNvSpPr/>
          <p:nvPr/>
        </p:nvSpPr>
        <p:spPr>
          <a:xfrm>
            <a:off x="365760" y="713232"/>
            <a:ext cx="11430000" cy="2148840"/>
          </a:xfrm>
          <a:prstGeom prst="roundRect">
            <a:avLst>
              <a:gd name="adj" fmla="val 4255"/>
            </a:avLst>
          </a:prstGeom>
          <a:solidFill>
            <a:srgbClr val="145C35"/>
          </a:solidFill>
          <a:ln w="19050">
            <a:solidFill>
              <a:srgbClr val="228B50"/>
            </a:solidFill>
            <a:prstDash val="solid"/>
          </a:ln>
        </p:spPr>
      </p:sp>
      <p:sp>
        <p:nvSpPr>
          <p:cNvPr id="6" name="Shape 4"/>
          <p:cNvSpPr/>
          <p:nvPr/>
        </p:nvSpPr>
        <p:spPr>
          <a:xfrm>
            <a:off x="365760" y="713232"/>
            <a:ext cx="11430000" cy="347472"/>
          </a:xfrm>
          <a:prstGeom prst="rect">
            <a:avLst/>
          </a:prstGeom>
          <a:solidFill>
            <a:srgbClr val="228B50"/>
          </a:solidFill>
          <a:ln w="12700">
            <a:solidFill>
              <a:srgbClr val="228B50"/>
            </a:solidFill>
            <a:prstDash val="solid"/>
          </a:ln>
        </p:spPr>
      </p:sp>
      <p:sp>
        <p:nvSpPr>
          <p:cNvPr id="7" name="Text 5"/>
          <p:cNvSpPr/>
          <p:nvPr/>
        </p:nvSpPr>
        <p:spPr>
          <a:xfrm>
            <a:off x="457200" y="731520"/>
            <a:ext cx="1124712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  EVIDENCE</a:t>
            </a:r>
            <a:endParaRPr lang="en-US" sz="1200" dirty="0"/>
          </a:p>
        </p:txBody>
      </p:sp>
      <p:sp>
        <p:nvSpPr>
          <p:cNvPr id="8" name="Text 6"/>
          <p:cNvSpPr/>
          <p:nvPr/>
        </p:nvSpPr>
        <p:spPr>
          <a:xfrm>
            <a:off x="502920" y="1115568"/>
            <a:ext cx="11155680" cy="16550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EVIDENCE is specific data or observations from testing — not opinions.</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"My evidence from testing is that the solar panel produced bright visible light within 3 seconds of sun exposure. On a partly cloudy day, the light was still visible but dimmer, meaning partial sunlight still produced usable output. The hand-crank produced brighter light but required constant motion."</a:t>
            </a:r>
            <a:endParaRPr lang="en-US" sz="1150" dirty="0"/>
          </a:p>
        </p:txBody>
      </p:sp>
      <p:sp>
        <p:nvSpPr>
          <p:cNvPr id="9" name="Shape 7"/>
          <p:cNvSpPr/>
          <p:nvPr/>
        </p:nvSpPr>
        <p:spPr>
          <a:xfrm>
            <a:off x="365760" y="2971800"/>
            <a:ext cx="11430000" cy="1143000"/>
          </a:xfrm>
          <a:prstGeom prst="roundRect">
            <a:avLst>
              <a:gd name="adj" fmla="val 6400"/>
            </a:avLst>
          </a:prstGeom>
          <a:solidFill>
            <a:srgbClr val="1E2F45"/>
          </a:solidFill>
          <a:ln w="12700">
            <a:solidFill>
              <a:srgbClr val="243A52"/>
            </a:solidFill>
            <a:prstDash val="solid"/>
          </a:ln>
        </p:spPr>
      </p:sp>
      <p:sp>
        <p:nvSpPr>
          <p:cNvPr id="10" name="Text 8"/>
          <p:cNvSpPr/>
          <p:nvPr/>
        </p:nvSpPr>
        <p:spPr>
          <a:xfrm>
            <a:off x="548640" y="3035808"/>
            <a:ext cx="10972800" cy="32004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Evidence sentence frame:</a:t>
            </a:r>
            <a:endParaRPr lang="en-US" sz="1100" dirty="0"/>
          </a:p>
        </p:txBody>
      </p:sp>
      <p:sp>
        <p:nvSpPr>
          <p:cNvPr id="11" name="Text 9"/>
          <p:cNvSpPr/>
          <p:nvPr/>
        </p:nvSpPr>
        <p:spPr>
          <a:xfrm>
            <a:off x="548640" y="3383280"/>
            <a:ext cx="10972800" cy="65836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"My evidence from testing is ___ (what you observed/measured). This shows that ___ (what the data means for your design)."</a:t>
            </a:r>
            <a:endParaRPr lang="en-US" sz="1200" dirty="0"/>
          </a:p>
        </p:txBody>
      </p:sp>
      <p:sp>
        <p:nvSpPr>
          <p:cNvPr id="12" name="Shape 10"/>
          <p:cNvSpPr/>
          <p:nvPr/>
        </p:nvSpPr>
        <p:spPr>
          <a:xfrm>
            <a:off x="365760" y="4224528"/>
            <a:ext cx="11430000" cy="1554480"/>
          </a:xfrm>
          <a:prstGeom prst="roundRect">
            <a:avLst>
              <a:gd name="adj" fmla="val 4706"/>
            </a:avLst>
          </a:prstGeom>
          <a:solidFill>
            <a:srgbClr val="062010"/>
          </a:solidFill>
          <a:ln w="12700">
            <a:solidFill>
              <a:srgbClr val="228B50"/>
            </a:solidFill>
            <a:prstDash val="solid"/>
          </a:ln>
        </p:spPr>
      </p:sp>
      <p:sp>
        <p:nvSpPr>
          <p:cNvPr id="13" name="Text 11"/>
          <p:cNvSpPr/>
          <p:nvPr/>
        </p:nvSpPr>
        <p:spPr>
          <a:xfrm>
            <a:off x="548640" y="4297680"/>
            <a:ext cx="10972800" cy="329184"/>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What evidence does NOT look like:</a:t>
            </a:r>
            <a:endParaRPr lang="en-US" sz="1200" dirty="0"/>
          </a:p>
        </p:txBody>
      </p:sp>
      <p:sp>
        <p:nvSpPr>
          <p:cNvPr id="14" name="Text 12"/>
          <p:cNvSpPr/>
          <p:nvPr/>
        </p:nvSpPr>
        <p:spPr>
          <a:xfrm>
            <a:off x="548640" y="4663440"/>
            <a:ext cx="10972800" cy="102412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NOT: "I think it worked pretty well."  (no measurement)</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NOT: "Solar is better because I like it."  (opinion, not data)</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YES: "The solar panel charged the device in 45 minutes of full sun."  (specific, measurable)</a:t>
            </a:r>
            <a:endParaRPr lang="en-US" sz="12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B04A0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B04A00"/>
                </a:solidFill>
                <a:latin typeface="Calibri" pitchFamily="34" charset="0"/>
                <a:ea typeface="Calibri" pitchFamily="34" charset="-122"/>
                <a:cs typeface="Calibri" pitchFamily="34" charset="-120"/>
              </a:rPr>
              <a:t>CER — REASONING: Connect Evidence to the Engineering Principle</a:t>
            </a:r>
            <a:endParaRPr lang="en-US" sz="1600" dirty="0"/>
          </a:p>
        </p:txBody>
      </p:sp>
      <p:sp>
        <p:nvSpPr>
          <p:cNvPr id="5" name="Shape 3"/>
          <p:cNvSpPr/>
          <p:nvPr/>
        </p:nvSpPr>
        <p:spPr>
          <a:xfrm>
            <a:off x="365760" y="713232"/>
            <a:ext cx="11430000" cy="2240280"/>
          </a:xfrm>
          <a:prstGeom prst="roundRect">
            <a:avLst>
              <a:gd name="adj" fmla="val 4082"/>
            </a:avLst>
          </a:prstGeom>
          <a:solidFill>
            <a:srgbClr val="7A3200"/>
          </a:solidFill>
          <a:ln w="19050">
            <a:solidFill>
              <a:srgbClr val="B04A00"/>
            </a:solidFill>
            <a:prstDash val="solid"/>
          </a:ln>
        </p:spPr>
      </p:sp>
      <p:sp>
        <p:nvSpPr>
          <p:cNvPr id="6" name="Shape 4"/>
          <p:cNvSpPr/>
          <p:nvPr/>
        </p:nvSpPr>
        <p:spPr>
          <a:xfrm>
            <a:off x="365760" y="713232"/>
            <a:ext cx="11430000" cy="347472"/>
          </a:xfrm>
          <a:prstGeom prst="rect">
            <a:avLst/>
          </a:prstGeom>
          <a:solidFill>
            <a:srgbClr val="B04A00"/>
          </a:solidFill>
          <a:ln w="12700">
            <a:solidFill>
              <a:srgbClr val="B04A00"/>
            </a:solidFill>
            <a:prstDash val="solid"/>
          </a:ln>
        </p:spPr>
      </p:sp>
      <p:sp>
        <p:nvSpPr>
          <p:cNvPr id="7" name="Text 5"/>
          <p:cNvSpPr/>
          <p:nvPr/>
        </p:nvSpPr>
        <p:spPr>
          <a:xfrm>
            <a:off x="457200" y="731520"/>
            <a:ext cx="1124712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  REASONING</a:t>
            </a:r>
            <a:endParaRPr lang="en-US" sz="1200" dirty="0"/>
          </a:p>
        </p:txBody>
      </p:sp>
      <p:sp>
        <p:nvSpPr>
          <p:cNvPr id="8" name="Text 6"/>
          <p:cNvSpPr/>
          <p:nvPr/>
        </p:nvSpPr>
        <p:spPr>
          <a:xfrm>
            <a:off x="502920" y="1115568"/>
            <a:ext cx="11155680" cy="1746504"/>
          </a:xfrm>
          <a:prstGeom prst="rect">
            <a:avLst/>
          </a:prstGeom>
          <a:noFill/>
          <a:ln/>
        </p:spPr>
        <p:txBody>
          <a:bodyPr wrap="square" rtlCol="0" anchor="t"/>
          <a:lstStyle/>
          <a:p>
            <a:pPr algn="l" indent="0" marL="0">
              <a:buNone/>
            </a:pPr>
            <a:r>
              <a:rPr lang="en-US" sz="1100" dirty="0">
                <a:solidFill>
                  <a:srgbClr val="FFFFFF"/>
                </a:solidFill>
                <a:latin typeface="Calibri" pitchFamily="34" charset="0"/>
                <a:ea typeface="Calibri" pitchFamily="34" charset="-122"/>
                <a:cs typeface="Calibri" pitchFamily="34" charset="-120"/>
              </a:rPr>
              <a:t>REASONING explains WHY the evidence supports the claim — using science/engineering principles.</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"This connects to the engineering principle of matching energy INPUT to OUTPUT: Florida gets an average of 237 sunny days per year, meaning solar energy is reliably available. Because criteria 1 requires continuous light and solar panels passively collect energy, the solar design meets both criteria without requiring the hiker to expend physical energy."</a:t>
            </a:r>
            <a:endParaRPr lang="en-US" sz="1100" dirty="0"/>
          </a:p>
        </p:txBody>
      </p:sp>
      <p:sp>
        <p:nvSpPr>
          <p:cNvPr id="9" name="Shape 7"/>
          <p:cNvSpPr/>
          <p:nvPr/>
        </p:nvSpPr>
        <p:spPr>
          <a:xfrm>
            <a:off x="365760" y="3063240"/>
            <a:ext cx="11430000" cy="1143000"/>
          </a:xfrm>
          <a:prstGeom prst="roundRect">
            <a:avLst>
              <a:gd name="adj" fmla="val 6400"/>
            </a:avLst>
          </a:prstGeom>
          <a:solidFill>
            <a:srgbClr val="1E2F45"/>
          </a:solidFill>
          <a:ln w="12700">
            <a:solidFill>
              <a:srgbClr val="243A52"/>
            </a:solidFill>
            <a:prstDash val="solid"/>
          </a:ln>
        </p:spPr>
      </p:sp>
      <p:sp>
        <p:nvSpPr>
          <p:cNvPr id="10" name="Text 8"/>
          <p:cNvSpPr/>
          <p:nvPr/>
        </p:nvSpPr>
        <p:spPr>
          <a:xfrm>
            <a:off x="548640" y="3127248"/>
            <a:ext cx="10972800" cy="320040"/>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Reasoning sentence frame:</a:t>
            </a:r>
            <a:endParaRPr lang="en-US" sz="1100" dirty="0"/>
          </a:p>
        </p:txBody>
      </p:sp>
      <p:sp>
        <p:nvSpPr>
          <p:cNvPr id="11" name="Text 9"/>
          <p:cNvSpPr/>
          <p:nvPr/>
        </p:nvSpPr>
        <p:spPr>
          <a:xfrm>
            <a:off x="548640" y="3474720"/>
            <a:ext cx="10972800" cy="658368"/>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"This connects to the engineering principle of ___ because ___. This matters for my design because ___, which means it meets the criterion that ___."</a:t>
            </a:r>
            <a:endParaRPr lang="en-US" sz="1200" dirty="0"/>
          </a:p>
        </p:txBody>
      </p:sp>
      <p:sp>
        <p:nvSpPr>
          <p:cNvPr id="12" name="Shape 10"/>
          <p:cNvSpPr/>
          <p:nvPr/>
        </p:nvSpPr>
        <p:spPr>
          <a:xfrm>
            <a:off x="365760" y="4297680"/>
            <a:ext cx="11430000" cy="1463040"/>
          </a:xfrm>
          <a:prstGeom prst="roundRect">
            <a:avLst>
              <a:gd name="adj" fmla="val 5000"/>
            </a:avLst>
          </a:prstGeom>
          <a:solidFill>
            <a:srgbClr val="1C0E04"/>
          </a:solidFill>
          <a:ln w="12700">
            <a:solidFill>
              <a:srgbClr val="B04A00"/>
            </a:solidFill>
            <a:prstDash val="solid"/>
          </a:ln>
        </p:spPr>
      </p:sp>
      <p:sp>
        <p:nvSpPr>
          <p:cNvPr id="13" name="Text 11"/>
          <p:cNvSpPr/>
          <p:nvPr/>
        </p:nvSpPr>
        <p:spPr>
          <a:xfrm>
            <a:off x="548640" y="4370832"/>
            <a:ext cx="10972800" cy="329184"/>
          </a:xfrm>
          <a:prstGeom prst="rect">
            <a:avLst/>
          </a:prstGeom>
          <a:noFill/>
          <a:ln/>
        </p:spPr>
        <p:txBody>
          <a:bodyPr wrap="square" rtlCol="0" anchor="ctr"/>
          <a:lstStyle/>
          <a:p>
            <a:pPr indent="0" marL="0">
              <a:buNone/>
            </a:pPr>
            <a:r>
              <a:rPr lang="en-US" sz="1200" b="1" dirty="0">
                <a:solidFill>
                  <a:srgbClr val="B04A00"/>
                </a:solidFill>
                <a:latin typeface="Calibri" pitchFamily="34" charset="0"/>
                <a:ea typeface="Calibri" pitchFamily="34" charset="-122"/>
                <a:cs typeface="Calibri" pitchFamily="34" charset="-120"/>
              </a:rPr>
              <a:t>Put the full CER together:</a:t>
            </a:r>
            <a:endParaRPr lang="en-US" sz="1200" dirty="0"/>
          </a:p>
        </p:txBody>
      </p:sp>
      <p:sp>
        <p:nvSpPr>
          <p:cNvPr id="14" name="Text 12"/>
          <p:cNvSpPr/>
          <p:nvPr/>
        </p:nvSpPr>
        <p:spPr>
          <a:xfrm>
            <a:off x="548640" y="4736592"/>
            <a:ext cx="10972800" cy="9326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 your science notebook — write your full CER response (Claim + Evidence + Reasoning) for your design choice. Aim for 4-6 sentences total. Use all three vocabulary words: criteria, constraint, and prototype.</a:t>
            </a:r>
            <a:endParaRPr lang="en-US" sz="12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ELABORATE — Four Design Challenges: Choose Yours!</a:t>
            </a:r>
            <a:endParaRPr lang="en-US" sz="1600" dirty="0"/>
          </a:p>
        </p:txBody>
      </p:sp>
      <p:sp>
        <p:nvSpPr>
          <p:cNvPr id="5" name="Shape 3"/>
          <p:cNvSpPr/>
          <p:nvPr/>
        </p:nvSpPr>
        <p:spPr>
          <a:xfrm>
            <a:off x="365760" y="713232"/>
            <a:ext cx="3657600" cy="5303520"/>
          </a:xfrm>
          <a:prstGeom prst="roundRect">
            <a:avLst>
              <a:gd name="adj" fmla="val 2000"/>
            </a:avLst>
          </a:prstGeom>
          <a:solidFill>
            <a:srgbClr val="0A1520"/>
          </a:solidFill>
          <a:ln w="19050">
            <a:solidFill>
              <a:srgbClr val="4CC9F0"/>
            </a:solidFill>
            <a:prstDash val="dash"/>
          </a:ln>
        </p:spPr>
      </p:sp>
      <p:sp>
        <p:nvSpPr>
          <p:cNvPr id="6" name="Text 4"/>
          <p:cNvSpPr/>
          <p:nvPr/>
        </p:nvSpPr>
        <p:spPr>
          <a:xfrm>
            <a:off x="457200" y="822960"/>
            <a:ext cx="34747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34747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3438144" cy="425196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"solar phone charger hand crank flashlight bicycle fan water wheel four energy devices comparison"</a:t>
            </a:r>
            <a:endParaRPr lang="en-US" sz="950" dirty="0"/>
          </a:p>
        </p:txBody>
      </p:sp>
      <p:sp>
        <p:nvSpPr>
          <p:cNvPr id="9" name="Text 7"/>
          <p:cNvSpPr/>
          <p:nvPr/>
        </p:nvSpPr>
        <p:spPr>
          <a:xfrm>
            <a:off x="365760" y="6053328"/>
            <a:ext cx="36576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Four energy-converting devices — each with different trade-offs</a:t>
            </a:r>
            <a:endParaRPr lang="en-US" sz="900" dirty="0"/>
          </a:p>
        </p:txBody>
      </p:sp>
      <p:sp>
        <p:nvSpPr>
          <p:cNvPr id="10" name="Shape 8"/>
          <p:cNvSpPr/>
          <p:nvPr/>
        </p:nvSpPr>
        <p:spPr>
          <a:xfrm>
            <a:off x="4206240" y="713232"/>
            <a:ext cx="3886200" cy="2514600"/>
          </a:xfrm>
          <a:prstGeom prst="roundRect">
            <a:avLst>
              <a:gd name="adj" fmla="val 2909"/>
            </a:avLst>
          </a:prstGeom>
          <a:solidFill>
            <a:srgbClr val="1E2F45"/>
          </a:solidFill>
          <a:ln w="12700">
            <a:solidFill>
              <a:srgbClr val="FFB703"/>
            </a:solidFill>
            <a:prstDash val="solid"/>
          </a:ln>
        </p:spPr>
      </p:sp>
      <p:sp>
        <p:nvSpPr>
          <p:cNvPr id="11" name="Text 9"/>
          <p:cNvSpPr/>
          <p:nvPr/>
        </p:nvSpPr>
        <p:spPr>
          <a:xfrm>
            <a:off x="4315968" y="804672"/>
            <a:ext cx="3666744" cy="365760"/>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Solar Phone Charger</a:t>
            </a:r>
            <a:endParaRPr lang="en-US" sz="1200" dirty="0"/>
          </a:p>
        </p:txBody>
      </p:sp>
      <p:sp>
        <p:nvSpPr>
          <p:cNvPr id="12" name="Text 10"/>
          <p:cNvSpPr/>
          <p:nvPr/>
        </p:nvSpPr>
        <p:spPr>
          <a:xfrm>
            <a:off x="4315968" y="1216152"/>
            <a:ext cx="3666744"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INPUT: Solar (radiant)</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OUTPUT: Electrical</a:t>
            </a:r>
            <a:endParaRPr lang="en-US" sz="1100" dirty="0"/>
          </a:p>
        </p:txBody>
      </p:sp>
      <p:sp>
        <p:nvSpPr>
          <p:cNvPr id="13" name="Text 11"/>
          <p:cNvSpPr/>
          <p:nvPr/>
        </p:nvSpPr>
        <p:spPr>
          <a:xfrm>
            <a:off x="4315968" y="1856232"/>
            <a:ext cx="3666744" cy="126187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 your notebook: List 2 criteria + 1 constraint for this design. Sketch the INPUT-&gt;OUTPUT flow.</a:t>
            </a:r>
            <a:endParaRPr lang="en-US" sz="1050" dirty="0"/>
          </a:p>
        </p:txBody>
      </p:sp>
      <p:sp>
        <p:nvSpPr>
          <p:cNvPr id="14" name="Shape 12"/>
          <p:cNvSpPr/>
          <p:nvPr/>
        </p:nvSpPr>
        <p:spPr>
          <a:xfrm>
            <a:off x="4206240" y="3410712"/>
            <a:ext cx="3886200" cy="2514600"/>
          </a:xfrm>
          <a:prstGeom prst="roundRect">
            <a:avLst>
              <a:gd name="adj" fmla="val 2909"/>
            </a:avLst>
          </a:prstGeom>
          <a:solidFill>
            <a:srgbClr val="1E2F45"/>
          </a:solidFill>
          <a:ln w="12700">
            <a:solidFill>
              <a:srgbClr val="4CC9F0"/>
            </a:solidFill>
            <a:prstDash val="solid"/>
          </a:ln>
        </p:spPr>
      </p:sp>
      <p:sp>
        <p:nvSpPr>
          <p:cNvPr id="15" name="Text 13"/>
          <p:cNvSpPr/>
          <p:nvPr/>
        </p:nvSpPr>
        <p:spPr>
          <a:xfrm>
            <a:off x="4315968" y="3502152"/>
            <a:ext cx="3666744" cy="365760"/>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Hand-Crank Flashlight</a:t>
            </a:r>
            <a:endParaRPr lang="en-US" sz="1200" dirty="0"/>
          </a:p>
        </p:txBody>
      </p:sp>
      <p:sp>
        <p:nvSpPr>
          <p:cNvPr id="16" name="Text 14"/>
          <p:cNvSpPr/>
          <p:nvPr/>
        </p:nvSpPr>
        <p:spPr>
          <a:xfrm>
            <a:off x="4315968" y="3913632"/>
            <a:ext cx="3666744"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INPUT: Kinetic (hand)</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OUTPUT: Light</a:t>
            </a:r>
            <a:endParaRPr lang="en-US" sz="1100" dirty="0"/>
          </a:p>
        </p:txBody>
      </p:sp>
      <p:sp>
        <p:nvSpPr>
          <p:cNvPr id="17" name="Text 15"/>
          <p:cNvSpPr/>
          <p:nvPr/>
        </p:nvSpPr>
        <p:spPr>
          <a:xfrm>
            <a:off x="4315968" y="4553712"/>
            <a:ext cx="3666744" cy="126187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 your notebook: List 2 criteria + 1 constraint for this design. Sketch the INPUT-&gt;OUTPUT flow.</a:t>
            </a:r>
            <a:endParaRPr lang="en-US" sz="1050" dirty="0"/>
          </a:p>
        </p:txBody>
      </p:sp>
      <p:sp>
        <p:nvSpPr>
          <p:cNvPr id="18" name="Shape 16"/>
          <p:cNvSpPr/>
          <p:nvPr/>
        </p:nvSpPr>
        <p:spPr>
          <a:xfrm>
            <a:off x="8321040" y="713232"/>
            <a:ext cx="3886200" cy="2514600"/>
          </a:xfrm>
          <a:prstGeom prst="roundRect">
            <a:avLst>
              <a:gd name="adj" fmla="val 2909"/>
            </a:avLst>
          </a:prstGeom>
          <a:solidFill>
            <a:srgbClr val="1E2F45"/>
          </a:solidFill>
          <a:ln w="12700">
            <a:solidFill>
              <a:srgbClr val="2DC653"/>
            </a:solidFill>
            <a:prstDash val="solid"/>
          </a:ln>
        </p:spPr>
      </p:sp>
      <p:sp>
        <p:nvSpPr>
          <p:cNvPr id="19" name="Text 17"/>
          <p:cNvSpPr/>
          <p:nvPr/>
        </p:nvSpPr>
        <p:spPr>
          <a:xfrm>
            <a:off x="8430768" y="804672"/>
            <a:ext cx="3666744" cy="365760"/>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Bike Generator Fan</a:t>
            </a:r>
            <a:endParaRPr lang="en-US" sz="1200" dirty="0"/>
          </a:p>
        </p:txBody>
      </p:sp>
      <p:sp>
        <p:nvSpPr>
          <p:cNvPr id="20" name="Text 18"/>
          <p:cNvSpPr/>
          <p:nvPr/>
        </p:nvSpPr>
        <p:spPr>
          <a:xfrm>
            <a:off x="8430768" y="1216152"/>
            <a:ext cx="3666744"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INPUT: Kinetic (pedal)</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OUTPUT: Motion (fan)</a:t>
            </a:r>
            <a:endParaRPr lang="en-US" sz="1100" dirty="0"/>
          </a:p>
        </p:txBody>
      </p:sp>
      <p:sp>
        <p:nvSpPr>
          <p:cNvPr id="21" name="Text 19"/>
          <p:cNvSpPr/>
          <p:nvPr/>
        </p:nvSpPr>
        <p:spPr>
          <a:xfrm>
            <a:off x="8430768" y="1856232"/>
            <a:ext cx="3666744" cy="126187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 your notebook: List 2 criteria + 1 constraint for this design. Sketch the INPUT-&gt;OUTPUT flow.</a:t>
            </a:r>
            <a:endParaRPr lang="en-US" sz="1050" dirty="0"/>
          </a:p>
        </p:txBody>
      </p:sp>
      <p:sp>
        <p:nvSpPr>
          <p:cNvPr id="22" name="Shape 20"/>
          <p:cNvSpPr/>
          <p:nvPr/>
        </p:nvSpPr>
        <p:spPr>
          <a:xfrm>
            <a:off x="8321040" y="3410712"/>
            <a:ext cx="3886200" cy="2514600"/>
          </a:xfrm>
          <a:prstGeom prst="roundRect">
            <a:avLst>
              <a:gd name="adj" fmla="val 2909"/>
            </a:avLst>
          </a:prstGeom>
          <a:solidFill>
            <a:srgbClr val="1E2F45"/>
          </a:solidFill>
          <a:ln w="12700">
            <a:solidFill>
              <a:srgbClr val="F4736A"/>
            </a:solidFill>
            <a:prstDash val="solid"/>
          </a:ln>
        </p:spPr>
      </p:sp>
      <p:sp>
        <p:nvSpPr>
          <p:cNvPr id="23" name="Text 21"/>
          <p:cNvSpPr/>
          <p:nvPr/>
        </p:nvSpPr>
        <p:spPr>
          <a:xfrm>
            <a:off x="8430768" y="3502152"/>
            <a:ext cx="3666744" cy="365760"/>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Water Wheel Generator</a:t>
            </a:r>
            <a:endParaRPr lang="en-US" sz="1200" dirty="0"/>
          </a:p>
        </p:txBody>
      </p:sp>
      <p:sp>
        <p:nvSpPr>
          <p:cNvPr id="24" name="Text 22"/>
          <p:cNvSpPr/>
          <p:nvPr/>
        </p:nvSpPr>
        <p:spPr>
          <a:xfrm>
            <a:off x="8430768" y="3913632"/>
            <a:ext cx="3666744" cy="594360"/>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INPUT: Kinetic (water)</a:t>
            </a:r>
            <a:endParaRPr lang="en-US" sz="1100" dirty="0"/>
          </a:p>
          <a:p>
            <a:pPr indent="0" marL="0">
              <a:buNone/>
            </a:pPr>
            <a:r>
              <a:rPr lang="en-US" sz="1100" dirty="0">
                <a:solidFill>
                  <a:srgbClr val="B0C4D8"/>
                </a:solidFill>
                <a:latin typeface="Calibri" pitchFamily="34" charset="0"/>
                <a:ea typeface="Calibri" pitchFamily="34" charset="-122"/>
                <a:cs typeface="Calibri" pitchFamily="34" charset="-120"/>
              </a:rPr>
              <a:t>OUTPUT: Electrical</a:t>
            </a:r>
            <a:endParaRPr lang="en-US" sz="1100" dirty="0"/>
          </a:p>
        </p:txBody>
      </p:sp>
      <p:sp>
        <p:nvSpPr>
          <p:cNvPr id="25" name="Text 23"/>
          <p:cNvSpPr/>
          <p:nvPr/>
        </p:nvSpPr>
        <p:spPr>
          <a:xfrm>
            <a:off x="8430768" y="4553712"/>
            <a:ext cx="3666744" cy="1261872"/>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 your notebook: List 2 criteria + 1 constraint for this design. Sketch the INPUT-&gt;OUTPUT flow.</a:t>
            </a:r>
            <a:endParaRPr lang="en-US" sz="1050" dirty="0"/>
          </a:p>
        </p:txBody>
      </p:sp>
      <p:sp>
        <p:nvSpPr>
          <p:cNvPr id="26" name="Shape 24"/>
          <p:cNvSpPr/>
          <p:nvPr/>
        </p:nvSpPr>
        <p:spPr>
          <a:xfrm>
            <a:off x="0" y="6629400"/>
            <a:ext cx="12192000" cy="228600"/>
          </a:xfrm>
          <a:prstGeom prst="rect">
            <a:avLst/>
          </a:prstGeom>
          <a:solidFill>
            <a:srgbClr val="162233"/>
          </a:solidFill>
          <a:ln/>
        </p:spPr>
      </p:sp>
      <p:sp>
        <p:nvSpPr>
          <p:cNvPr id="27" name="Text 2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ELABORATE — Florida Engineers Design for Hurricane Constraints!</a:t>
            </a:r>
            <a:endParaRPr lang="en-US" sz="1600" dirty="0"/>
          </a:p>
        </p:txBody>
      </p:sp>
      <p:sp>
        <p:nvSpPr>
          <p:cNvPr id="5" name="Shape 3"/>
          <p:cNvSpPr/>
          <p:nvPr/>
        </p:nvSpPr>
        <p:spPr>
          <a:xfrm>
            <a:off x="365760" y="713232"/>
            <a:ext cx="11430000" cy="1280160"/>
          </a:xfrm>
          <a:prstGeom prst="roundRect">
            <a:avLst>
              <a:gd name="adj" fmla="val 5714"/>
            </a:avLst>
          </a:prstGeom>
          <a:solidFill>
            <a:srgbClr val="061A08"/>
          </a:solidFill>
          <a:ln w="12700">
            <a:solidFill>
              <a:srgbClr val="2DC653"/>
            </a:solidFill>
            <a:prstDash val="solid"/>
          </a:ln>
        </p:spPr>
      </p:sp>
      <p:sp>
        <p:nvSpPr>
          <p:cNvPr id="6" name="Text 4"/>
          <p:cNvSpPr/>
          <p:nvPr/>
        </p:nvSpPr>
        <p:spPr>
          <a:xfrm>
            <a:off x="548640" y="777240"/>
            <a:ext cx="10972800" cy="347472"/>
          </a:xfrm>
          <a:prstGeom prst="rect">
            <a:avLst/>
          </a:prstGeom>
          <a:noFill/>
          <a:ln/>
        </p:spPr>
        <p:txBody>
          <a:bodyPr wrap="square" rtlCol="0" anchor="ctr"/>
          <a:lstStyle/>
          <a:p>
            <a:pPr indent="0" marL="0">
              <a:buNone/>
            </a:pPr>
            <a:r>
              <a:rPr lang="en-US" sz="1400" b="1" dirty="0">
                <a:solidFill>
                  <a:srgbClr val="2DC653"/>
                </a:solidFill>
                <a:latin typeface="Calibri" pitchFamily="34" charset="0"/>
                <a:ea typeface="Calibri" pitchFamily="34" charset="-122"/>
                <a:cs typeface="Calibri" pitchFamily="34" charset="-120"/>
              </a:rPr>
              <a:t>Mind-Blowing Florida Connection</a:t>
            </a:r>
            <a:endParaRPr lang="en-US" sz="1400" dirty="0"/>
          </a:p>
        </p:txBody>
      </p:sp>
      <p:sp>
        <p:nvSpPr>
          <p:cNvPr id="7" name="Text 5"/>
          <p:cNvSpPr/>
          <p:nvPr/>
        </p:nvSpPr>
        <p:spPr>
          <a:xfrm>
            <a:off x="548640" y="1152144"/>
            <a:ext cx="10972800" cy="7498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Real Florida engineers must design every energy device with hurricane constraints — winds over 150 mph, flooding, days without grid power. The same criteria and constraint thinking you're doing today is EXACTLY what they do.</a:t>
            </a:r>
            <a:endParaRPr lang="en-US" sz="1200" dirty="0"/>
          </a:p>
        </p:txBody>
      </p:sp>
      <p:sp>
        <p:nvSpPr>
          <p:cNvPr id="8" name="Shape 6"/>
          <p:cNvSpPr/>
          <p:nvPr/>
        </p:nvSpPr>
        <p:spPr>
          <a:xfrm>
            <a:off x="365760" y="2121408"/>
            <a:ext cx="5029200" cy="4206240"/>
          </a:xfrm>
          <a:prstGeom prst="roundRect">
            <a:avLst>
              <a:gd name="adj" fmla="val 1739"/>
            </a:avLst>
          </a:prstGeom>
          <a:solidFill>
            <a:srgbClr val="0A1520"/>
          </a:solidFill>
          <a:ln w="19050">
            <a:solidFill>
              <a:srgbClr val="4CC9F0"/>
            </a:solidFill>
            <a:prstDash val="dash"/>
          </a:ln>
        </p:spPr>
      </p:sp>
      <p:sp>
        <p:nvSpPr>
          <p:cNvPr id="9" name="Text 7"/>
          <p:cNvSpPr/>
          <p:nvPr/>
        </p:nvSpPr>
        <p:spPr>
          <a:xfrm>
            <a:off x="457200" y="2231136"/>
            <a:ext cx="48463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457200" y="2670048"/>
            <a:ext cx="484632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11" name="Text 9"/>
          <p:cNvSpPr/>
          <p:nvPr/>
        </p:nvSpPr>
        <p:spPr>
          <a:xfrm>
            <a:off x="475488" y="2962656"/>
            <a:ext cx="4809744" cy="315468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"Florida hurricane preparation solar panels home energy storage backup power engineering design"</a:t>
            </a:r>
            <a:endParaRPr lang="en-US" sz="950" dirty="0"/>
          </a:p>
        </p:txBody>
      </p:sp>
      <p:sp>
        <p:nvSpPr>
          <p:cNvPr id="12" name="Text 10"/>
          <p:cNvSpPr/>
          <p:nvPr/>
        </p:nvSpPr>
        <p:spPr>
          <a:xfrm>
            <a:off x="365760" y="6364224"/>
            <a:ext cx="502920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Florida homes with solar + battery backup — designed for extreme constraints</a:t>
            </a:r>
            <a:endParaRPr lang="en-US" sz="900" dirty="0"/>
          </a:p>
        </p:txBody>
      </p:sp>
      <p:sp>
        <p:nvSpPr>
          <p:cNvPr id="13" name="Shape 11"/>
          <p:cNvSpPr/>
          <p:nvPr/>
        </p:nvSpPr>
        <p:spPr>
          <a:xfrm>
            <a:off x="5577840" y="2121408"/>
            <a:ext cx="6400800" cy="4206240"/>
          </a:xfrm>
          <a:prstGeom prst="roundRect">
            <a:avLst>
              <a:gd name="adj" fmla="val 1739"/>
            </a:avLst>
          </a:prstGeom>
          <a:solidFill>
            <a:srgbClr val="1E2F45"/>
          </a:solidFill>
          <a:ln w="12700">
            <a:solidFill>
              <a:srgbClr val="FFB703"/>
            </a:solidFill>
            <a:prstDash val="solid"/>
          </a:ln>
        </p:spPr>
      </p:sp>
      <p:sp>
        <p:nvSpPr>
          <p:cNvPr id="14" name="Text 12"/>
          <p:cNvSpPr/>
          <p:nvPr/>
        </p:nvSpPr>
        <p:spPr>
          <a:xfrm>
            <a:off x="5760720" y="2212848"/>
            <a:ext cx="603504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The Engineer's Challenge:</a:t>
            </a:r>
            <a:endParaRPr lang="en-US" sz="1300" dirty="0"/>
          </a:p>
        </p:txBody>
      </p:sp>
      <p:sp>
        <p:nvSpPr>
          <p:cNvPr id="15" name="Text 13"/>
          <p:cNvSpPr/>
          <p:nvPr/>
        </p:nvSpPr>
        <p:spPr>
          <a:xfrm>
            <a:off x="5760720" y="2606040"/>
            <a:ext cx="6035040" cy="361188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CRITERIA:</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Must power a refrigerator for 3+ days without grid electricity</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Must survive 150+ mph winds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Must withstand flooding up to 3 feet</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CONSTRAINTS: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Cannot cost more than $8,000</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Must be installed BEFORE a hurricane arrives</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 Cannot require fuel deliveries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Current solution: Solar panels + large battery storage + wind-rated mounting systems. Each part was redesigned dozens of times from Hurricane Andrew (1992) lessons.</a:t>
            </a:r>
            <a:endParaRPr lang="en-US" sz="110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2DC65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2DC653"/>
                </a:solidFill>
                <a:latin typeface="Calibri" pitchFamily="34" charset="0"/>
                <a:ea typeface="Calibri" pitchFamily="34" charset="-122"/>
                <a:cs typeface="Calibri" pitchFamily="34" charset="-120"/>
              </a:rPr>
              <a:t>SELF-CHECK — Test Your Engineering Knowledge!</a:t>
            </a:r>
            <a:endParaRPr lang="en-US" sz="1600" dirty="0"/>
          </a:p>
        </p:txBody>
      </p:sp>
      <p:sp>
        <p:nvSpPr>
          <p:cNvPr id="5" name="Shape 3"/>
          <p:cNvSpPr/>
          <p:nvPr/>
        </p:nvSpPr>
        <p:spPr>
          <a:xfrm>
            <a:off x="365760" y="749808"/>
            <a:ext cx="11430000" cy="1792224"/>
          </a:xfrm>
          <a:prstGeom prst="roundRect">
            <a:avLst>
              <a:gd name="adj" fmla="val 4082"/>
            </a:avLst>
          </a:prstGeom>
          <a:solidFill>
            <a:srgbClr val="1E2F45"/>
          </a:solidFill>
          <a:ln w="12700">
            <a:solidFill>
              <a:srgbClr val="4CC9F0"/>
            </a:solidFill>
            <a:prstDash val="solid"/>
          </a:ln>
        </p:spPr>
      </p:sp>
      <p:sp>
        <p:nvSpPr>
          <p:cNvPr id="6" name="Text 4"/>
          <p:cNvSpPr/>
          <p:nvPr/>
        </p:nvSpPr>
        <p:spPr>
          <a:xfrm>
            <a:off x="548640" y="841248"/>
            <a:ext cx="10972800" cy="402336"/>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Q1: What is the difference between a CRITERION and a CONSTRAINT?</a:t>
            </a:r>
            <a:endParaRPr lang="en-US" sz="1200" dirty="0"/>
          </a:p>
        </p:txBody>
      </p:sp>
      <p:sp>
        <p:nvSpPr>
          <p:cNvPr id="7" name="Text 5"/>
          <p:cNvSpPr/>
          <p:nvPr/>
        </p:nvSpPr>
        <p:spPr>
          <a:xfrm>
            <a:off x="548640" y="1280160"/>
            <a:ext cx="10972800" cy="11704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Answer: A criterion is a goal — what the design MUST DO (e.g., "produce bright light"). A constraint is a limit — what the design CANNOT do or use (e.g., "no batteries").</a:t>
            </a:r>
            <a:endParaRPr lang="en-US" sz="1100" dirty="0"/>
          </a:p>
        </p:txBody>
      </p:sp>
      <p:sp>
        <p:nvSpPr>
          <p:cNvPr id="8" name="Shape 6"/>
          <p:cNvSpPr/>
          <p:nvPr/>
        </p:nvSpPr>
        <p:spPr>
          <a:xfrm>
            <a:off x="365760" y="2651760"/>
            <a:ext cx="11430000" cy="1792224"/>
          </a:xfrm>
          <a:prstGeom prst="roundRect">
            <a:avLst>
              <a:gd name="adj" fmla="val 4082"/>
            </a:avLst>
          </a:prstGeom>
          <a:solidFill>
            <a:srgbClr val="1E2F45"/>
          </a:solidFill>
          <a:ln w="12700">
            <a:solidFill>
              <a:srgbClr val="FFB703"/>
            </a:solidFill>
            <a:prstDash val="solid"/>
          </a:ln>
        </p:spPr>
      </p:sp>
      <p:sp>
        <p:nvSpPr>
          <p:cNvPr id="9" name="Text 7"/>
          <p:cNvSpPr/>
          <p:nvPr/>
        </p:nvSpPr>
        <p:spPr>
          <a:xfrm>
            <a:off x="548640" y="2743200"/>
            <a:ext cx="10972800" cy="402336"/>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Q2: An engineer tests a solar charger and finds it works great in full sun but fails at dusk. What should the redesign focus on?</a:t>
            </a:r>
            <a:endParaRPr lang="en-US" sz="1200" dirty="0"/>
          </a:p>
        </p:txBody>
      </p:sp>
      <p:sp>
        <p:nvSpPr>
          <p:cNvPr id="10" name="Text 8"/>
          <p:cNvSpPr/>
          <p:nvPr/>
        </p:nvSpPr>
        <p:spPr>
          <a:xfrm>
            <a:off x="548640" y="3182112"/>
            <a:ext cx="10972800" cy="11704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Answer: Adding energy storage (a battery) so solar energy collected during the day can be used when sunlight is low. The test identified ONE specific weakness to improve.</a:t>
            </a:r>
            <a:endParaRPr lang="en-US" sz="1100" dirty="0"/>
          </a:p>
        </p:txBody>
      </p:sp>
      <p:sp>
        <p:nvSpPr>
          <p:cNvPr id="11" name="Shape 9"/>
          <p:cNvSpPr/>
          <p:nvPr/>
        </p:nvSpPr>
        <p:spPr>
          <a:xfrm>
            <a:off x="365760" y="4553712"/>
            <a:ext cx="11430000" cy="1792224"/>
          </a:xfrm>
          <a:prstGeom prst="roundRect">
            <a:avLst>
              <a:gd name="adj" fmla="val 4082"/>
            </a:avLst>
          </a:prstGeom>
          <a:solidFill>
            <a:srgbClr val="1E2F45"/>
          </a:solidFill>
          <a:ln w="12700">
            <a:solidFill>
              <a:srgbClr val="F4736A"/>
            </a:solidFill>
            <a:prstDash val="solid"/>
          </a:ln>
        </p:spPr>
      </p:sp>
      <p:sp>
        <p:nvSpPr>
          <p:cNvPr id="12" name="Text 10"/>
          <p:cNvSpPr/>
          <p:nvPr/>
        </p:nvSpPr>
        <p:spPr>
          <a:xfrm>
            <a:off x="548640" y="4645152"/>
            <a:ext cx="10972800" cy="402336"/>
          </a:xfrm>
          <a:prstGeom prst="rect">
            <a:avLst/>
          </a:prstGeom>
          <a:noFill/>
          <a:ln/>
        </p:spPr>
        <p:txBody>
          <a:bodyPr wrap="square" rtlCol="0" anchor="ctr"/>
          <a:lstStyle/>
          <a:p>
            <a:pPr indent="0" marL="0">
              <a:buNone/>
            </a:pPr>
            <a:r>
              <a:rPr lang="en-US" sz="1200" b="1" dirty="0">
                <a:solidFill>
                  <a:srgbClr val="F4736A"/>
                </a:solidFill>
                <a:latin typeface="Calibri" pitchFamily="34" charset="0"/>
                <a:ea typeface="Calibri" pitchFamily="34" charset="-122"/>
                <a:cs typeface="Calibri" pitchFamily="34" charset="-120"/>
              </a:rPr>
              <a:t>Q3: Why do engineers build MANY prototypes instead of trying to make a perfect first design?</a:t>
            </a:r>
            <a:endParaRPr lang="en-US" sz="1200" dirty="0"/>
          </a:p>
        </p:txBody>
      </p:sp>
      <p:sp>
        <p:nvSpPr>
          <p:cNvPr id="13" name="Text 11"/>
          <p:cNvSpPr/>
          <p:nvPr/>
        </p:nvSpPr>
        <p:spPr>
          <a:xfrm>
            <a:off x="548640" y="5084064"/>
            <a:ext cx="10972800" cy="117043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Answer: Each prototype produces test evidence that reveals what works and what doesn't. Redesigning from real data produces better results than trying to predict every problem in advance.</a:t>
            </a:r>
            <a:endParaRPr lang="en-US" sz="1100" dirty="0"/>
          </a:p>
        </p:txBody>
      </p:sp>
      <p:sp>
        <p:nvSpPr>
          <p:cNvPr id="14" name="Shape 12"/>
          <p:cNvSpPr/>
          <p:nvPr/>
        </p:nvSpPr>
        <p:spPr>
          <a:xfrm>
            <a:off x="0" y="6629400"/>
            <a:ext cx="12192000" cy="228600"/>
          </a:xfrm>
          <a:prstGeom prst="rect">
            <a:avLst/>
          </a:prstGeom>
          <a:solidFill>
            <a:srgbClr val="162233"/>
          </a:solidFill>
          <a:ln/>
        </p:spPr>
      </p:sp>
      <p:sp>
        <p:nvSpPr>
          <p:cNvPr id="15" name="Text 13"/>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FFB703"/>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FFB703"/>
                </a:solidFill>
                <a:latin typeface="Calibri" pitchFamily="34" charset="0"/>
                <a:ea typeface="Calibri" pitchFamily="34" charset="-122"/>
                <a:cs typeface="Calibri" pitchFamily="34" charset="-120"/>
              </a:rPr>
              <a:t>ASSIGNMENT PREVIEW — What You'll Complete</a:t>
            </a:r>
            <a:endParaRPr lang="en-US" sz="1600" dirty="0"/>
          </a:p>
        </p:txBody>
      </p:sp>
      <p:sp>
        <p:nvSpPr>
          <p:cNvPr id="5" name="Shape 3"/>
          <p:cNvSpPr/>
          <p:nvPr/>
        </p:nvSpPr>
        <p:spPr>
          <a:xfrm>
            <a:off x="365760" y="713232"/>
            <a:ext cx="11430000" cy="658368"/>
          </a:xfrm>
          <a:prstGeom prst="roundRect">
            <a:avLst>
              <a:gd name="adj" fmla="val 11111"/>
            </a:avLst>
          </a:prstGeom>
          <a:solidFill>
            <a:srgbClr val="1E2F45"/>
          </a:solidFill>
          <a:ln w="12700">
            <a:solidFill>
              <a:srgbClr val="FFB703"/>
            </a:solidFill>
            <a:prstDash val="solid"/>
          </a:ln>
        </p:spPr>
      </p:sp>
      <p:sp>
        <p:nvSpPr>
          <p:cNvPr id="6" name="Text 4"/>
          <p:cNvSpPr/>
          <p:nvPr/>
        </p:nvSpPr>
        <p:spPr>
          <a:xfrm>
            <a:off x="548640" y="822960"/>
            <a:ext cx="10972800" cy="438912"/>
          </a:xfrm>
          <a:prstGeom prst="rect">
            <a:avLst/>
          </a:prstGeom>
          <a:noFill/>
          <a:ln/>
        </p:spPr>
        <p:txBody>
          <a:bodyPr wrap="square" rtlCol="0" anchor="ctr"/>
          <a:lstStyle/>
          <a:p>
            <a:pPr indent="0" marL="0">
              <a:buNone/>
            </a:pPr>
            <a:r>
              <a:rPr lang="en-US" sz="1200" b="1" dirty="0">
                <a:solidFill>
                  <a:srgbClr val="B0C4D8"/>
                </a:solidFill>
                <a:latin typeface="Calibri" pitchFamily="34" charset="0"/>
                <a:ea typeface="Calibri" pitchFamily="34" charset="-122"/>
                <a:cs typeface="Calibri" pitchFamily="34" charset="-120"/>
              </a:rPr>
              <a:t>Complete in Canvas after class. Use your science notebook for reference.</a:t>
            </a:r>
            <a:endParaRPr lang="en-US" sz="1200" dirty="0"/>
          </a:p>
        </p:txBody>
      </p:sp>
      <p:sp>
        <p:nvSpPr>
          <p:cNvPr id="7" name="Shape 5"/>
          <p:cNvSpPr/>
          <p:nvPr/>
        </p:nvSpPr>
        <p:spPr>
          <a:xfrm>
            <a:off x="365760" y="1463040"/>
            <a:ext cx="5394960" cy="2468880"/>
          </a:xfrm>
          <a:prstGeom prst="roundRect">
            <a:avLst>
              <a:gd name="adj" fmla="val 2963"/>
            </a:avLst>
          </a:prstGeom>
          <a:solidFill>
            <a:srgbClr val="1E2F45"/>
          </a:solidFill>
          <a:ln w="12700">
            <a:solidFill>
              <a:srgbClr val="4CC9F0"/>
            </a:solidFill>
            <a:prstDash val="solid"/>
          </a:ln>
        </p:spPr>
      </p:sp>
      <p:sp>
        <p:nvSpPr>
          <p:cNvPr id="8" name="Text 6"/>
          <p:cNvSpPr/>
          <p:nvPr/>
        </p:nvSpPr>
        <p:spPr>
          <a:xfrm>
            <a:off x="502920" y="1536192"/>
            <a:ext cx="512064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Part A — Word Bank (4 questions)</a:t>
            </a:r>
            <a:endParaRPr lang="en-US" sz="1200" dirty="0"/>
          </a:p>
        </p:txBody>
      </p:sp>
      <p:sp>
        <p:nvSpPr>
          <p:cNvPr id="9" name="Text 7"/>
          <p:cNvSpPr/>
          <p:nvPr/>
        </p:nvSpPr>
        <p:spPr>
          <a:xfrm>
            <a:off x="502920" y="1920240"/>
            <a:ext cx="5120640" cy="193852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Word bank: Criteria  Constraint  Prototype  Redesign</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'What a good design needs to do — the goals' -&gt; ?</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'A limit on what you can do' -&gt; ?</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'A first version of a design — built to test and improve' -&gt; ?</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'Change and improve a design based on testing' -&gt; ?</a:t>
            </a:r>
            <a:endParaRPr lang="en-US" sz="1050" dirty="0"/>
          </a:p>
        </p:txBody>
      </p:sp>
      <p:sp>
        <p:nvSpPr>
          <p:cNvPr id="10" name="Shape 8"/>
          <p:cNvSpPr/>
          <p:nvPr/>
        </p:nvSpPr>
        <p:spPr>
          <a:xfrm>
            <a:off x="5943600" y="1463040"/>
            <a:ext cx="5852160" cy="2468880"/>
          </a:xfrm>
          <a:prstGeom prst="roundRect">
            <a:avLst>
              <a:gd name="adj" fmla="val 2963"/>
            </a:avLst>
          </a:prstGeom>
          <a:solidFill>
            <a:srgbClr val="1E2F45"/>
          </a:solidFill>
          <a:ln w="12700">
            <a:solidFill>
              <a:srgbClr val="2DC653"/>
            </a:solidFill>
            <a:prstDash val="solid"/>
          </a:ln>
        </p:spPr>
      </p:sp>
      <p:sp>
        <p:nvSpPr>
          <p:cNvPr id="11" name="Text 9"/>
          <p:cNvSpPr/>
          <p:nvPr/>
        </p:nvSpPr>
        <p:spPr>
          <a:xfrm>
            <a:off x="6080760" y="1536192"/>
            <a:ext cx="557784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Part B — Short Answer (3 questions + Evidence Response)</a:t>
            </a:r>
            <a:endParaRPr lang="en-US" sz="1200" dirty="0"/>
          </a:p>
        </p:txBody>
      </p:sp>
      <p:sp>
        <p:nvSpPr>
          <p:cNvPr id="12" name="Text 10"/>
          <p:cNvSpPr/>
          <p:nvPr/>
        </p:nvSpPr>
        <p:spPr>
          <a:xfrm>
            <a:off x="6080760" y="1920240"/>
            <a:ext cx="5577840" cy="1938528"/>
          </a:xfrm>
          <a:prstGeom prst="rect">
            <a:avLst/>
          </a:prstGeom>
          <a:noFill/>
          <a:ln/>
        </p:spPr>
        <p:txBody>
          <a:bodyPr wrap="square" rtlCol="0" anchor="ctr"/>
          <a:lstStyle/>
          <a:p>
            <a:pPr indent="0" marL="0">
              <a:buNone/>
            </a:pPr>
            <a:r>
              <a:rPr lang="en-US" sz="1050" dirty="0">
                <a:solidFill>
                  <a:srgbClr val="FFFFFF"/>
                </a:solidFill>
                <a:latin typeface="Calibri" pitchFamily="34" charset="0"/>
                <a:ea typeface="Calibri" pitchFamily="34" charset="-122"/>
                <a:cs typeface="Calibri" pitchFamily="34" charset="-120"/>
              </a:rPr>
              <a:t>Q5: Pick one challenge. Name INPUT, OUTPUT, 1 criterion, 1 constraint.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Q6: Explain criterion vs. constraint with examples.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Q7: Why is REDESIGN important? Example with flashlight.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Evidence Response: 'A classmate says engineers get it right the first try. Agree or disagree?'</a:t>
            </a:r>
            <a:endParaRPr lang="en-US" sz="1050" dirty="0"/>
          </a:p>
        </p:txBody>
      </p:sp>
      <p:sp>
        <p:nvSpPr>
          <p:cNvPr id="13" name="Shape 11"/>
          <p:cNvSpPr/>
          <p:nvPr/>
        </p:nvSpPr>
        <p:spPr>
          <a:xfrm>
            <a:off x="365760" y="4041648"/>
            <a:ext cx="11430000" cy="2194560"/>
          </a:xfrm>
          <a:prstGeom prst="roundRect">
            <a:avLst>
              <a:gd name="adj" fmla="val 3333"/>
            </a:avLst>
          </a:prstGeom>
          <a:solidFill>
            <a:srgbClr val="1E2F45"/>
          </a:solidFill>
          <a:ln w="12700">
            <a:solidFill>
              <a:srgbClr val="FFB703"/>
            </a:solidFill>
            <a:prstDash val="solid"/>
          </a:ln>
        </p:spPr>
      </p:sp>
      <p:sp>
        <p:nvSpPr>
          <p:cNvPr id="14" name="Text 12"/>
          <p:cNvSpPr/>
          <p:nvPr/>
        </p:nvSpPr>
        <p:spPr>
          <a:xfrm>
            <a:off x="548640" y="4114800"/>
            <a:ext cx="10972800" cy="347472"/>
          </a:xfrm>
          <a:prstGeom prst="rect">
            <a:avLst/>
          </a:prstGeom>
          <a:noFill/>
          <a:ln/>
        </p:spPr>
        <p:txBody>
          <a:bodyPr wrap="square" rtlCol="0" anchor="ctr"/>
          <a:lstStyle/>
          <a:p>
            <a:pPr indent="0" marL="0">
              <a:buNone/>
            </a:pPr>
            <a:r>
              <a:rPr lang="en-US" sz="1200" b="1" dirty="0">
                <a:solidFill>
                  <a:srgbClr val="FFB703"/>
                </a:solidFill>
                <a:latin typeface="Calibri" pitchFamily="34" charset="0"/>
                <a:ea typeface="Calibri" pitchFamily="34" charset="-122"/>
                <a:cs typeface="Calibri" pitchFamily="34" charset="-120"/>
              </a:rPr>
              <a:t>Part C — Prototype Sketch (in your science notebook)</a:t>
            </a:r>
            <a:endParaRPr lang="en-US" sz="1200" dirty="0"/>
          </a:p>
        </p:txBody>
      </p:sp>
      <p:sp>
        <p:nvSpPr>
          <p:cNvPr id="15" name="Text 13"/>
          <p:cNvSpPr/>
          <p:nvPr/>
        </p:nvSpPr>
        <p:spPr>
          <a:xfrm>
            <a:off x="548640" y="4498848"/>
            <a:ext cx="10972800" cy="1627632"/>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Draw your prototype sketch with colored pencils. Label: INPUT energy -&gt; CONVERSION point -&gt; OUTPUT energy. Include: 2 criteria your design meets, 1 constraint your design works within, your test plan (what you'd measure), your redesign idea (what you'd change after testing).</a:t>
            </a:r>
            <a:endParaRPr lang="en-US" sz="1150" dirty="0"/>
          </a:p>
          <a:p>
            <a:pPr indent="0" marL="0">
              <a:buNone/>
            </a:pP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Submit a photo of your sketch in Canvas.</a:t>
            </a:r>
            <a:endParaRPr lang="en-US" sz="1150" dirty="0"/>
          </a:p>
        </p:txBody>
      </p:sp>
      <p:sp>
        <p:nvSpPr>
          <p:cNvPr id="16" name="Shape 14"/>
          <p:cNvSpPr/>
          <p:nvPr/>
        </p:nvSpPr>
        <p:spPr>
          <a:xfrm>
            <a:off x="0" y="6629400"/>
            <a:ext cx="12192000" cy="228600"/>
          </a:xfrm>
          <a:prstGeom prst="rect">
            <a:avLst/>
          </a:prstGeom>
          <a:solidFill>
            <a:srgbClr val="162233"/>
          </a:solidFill>
          <a:ln/>
        </p:spPr>
      </p:sp>
      <p:sp>
        <p:nvSpPr>
          <p:cNvPr id="17" name="Text 15"/>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"How can YOU design a working device that converts one form of energy into another?"</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Science notebook: Prediction sketch from Slide 3</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Science notebook: Full CER response (Claim + Evidence + Reasoning)</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Science notebook: Prototype sketch with all 7 labels</a:t>
            </a:r>
            <a:endParaRPr lang="en-US" sz="1100" dirty="0"/>
          </a:p>
        </p:txBody>
      </p:sp>
      <p:sp>
        <p:nvSpPr>
          <p:cNvPr id="13" name="Text 11"/>
          <p:cNvSpPr/>
          <p:nvPr/>
        </p:nvSpPr>
        <p:spPr>
          <a:xfrm>
            <a:off x="548640" y="3785616"/>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Canvas Part A: Word bank (4 questions)</a:t>
            </a:r>
            <a:endParaRPr lang="en-US" sz="1100" dirty="0"/>
          </a:p>
        </p:txBody>
      </p:sp>
      <p:sp>
        <p:nvSpPr>
          <p:cNvPr id="14" name="Text 12"/>
          <p:cNvSpPr/>
          <p:nvPr/>
        </p:nvSpPr>
        <p:spPr>
          <a:xfrm>
            <a:off x="548640" y="4133088"/>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Canvas Part B: Short answer + Evidence Response</a:t>
            </a:r>
            <a:endParaRPr lang="en-US" sz="1100" dirty="0"/>
          </a:p>
        </p:txBody>
      </p:sp>
      <p:sp>
        <p:nvSpPr>
          <p:cNvPr id="15" name="Text 13"/>
          <p:cNvSpPr/>
          <p:nvPr/>
        </p:nvSpPr>
        <p:spPr>
          <a:xfrm>
            <a:off x="548640" y="448056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Canvas Part C: Photo of prototype sketch</a:t>
            </a:r>
            <a:endParaRPr lang="en-US" sz="1100" dirty="0"/>
          </a:p>
        </p:txBody>
      </p:sp>
      <p:sp>
        <p:nvSpPr>
          <p:cNvPr id="16" name="Shape 14"/>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7" name="Text 15"/>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8" name="Text 16"/>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22.03 — Evaluating Energy Solutions: Which Design Is Best for Florida?</a:t>
            </a:r>
            <a:endParaRPr lang="en-US" sz="1200" dirty="0"/>
          </a:p>
          <a:p>
            <a:pPr indent="0" marL="0">
              <a:buNone/>
            </a:pPr>
            <a:endParaRPr lang="en-US" sz="1200" dirty="0"/>
          </a:p>
          <a:p>
            <a:pPr indent="0" marL="0">
              <a:buNone/>
            </a:pPr>
            <a:r>
              <a:rPr lang="en-US" sz="1200" dirty="0">
                <a:solidFill>
                  <a:srgbClr val="B0C4D8"/>
                </a:solidFill>
                <a:latin typeface="Calibri" pitchFamily="34" charset="0"/>
                <a:ea typeface="Calibri" pitchFamily="34" charset="-122"/>
                <a:cs typeface="Calibri" pitchFamily="34" charset="-120"/>
              </a:rPr>
              <a:t>We'll compare all four design challenges and evaluate them against real-world Florida criteria including hurricane resilience and environmental impact.</a:t>
            </a:r>
            <a:endParaRPr lang="en-US" sz="1200" dirty="0"/>
          </a:p>
        </p:txBody>
      </p:sp>
      <p:sp>
        <p:nvSpPr>
          <p:cNvPr id="19" name="Shape 17"/>
          <p:cNvSpPr/>
          <p:nvPr/>
        </p:nvSpPr>
        <p:spPr>
          <a:xfrm>
            <a:off x="0" y="5047488"/>
            <a:ext cx="12192000" cy="45720"/>
          </a:xfrm>
          <a:prstGeom prst="rect">
            <a:avLst/>
          </a:prstGeom>
          <a:solidFill>
            <a:srgbClr val="4CC9F0"/>
          </a:solidFill>
          <a:ln/>
        </p:spPr>
      </p:sp>
      <p:sp>
        <p:nvSpPr>
          <p:cNvPr id="20" name="Text 18"/>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22.02  ·  Engineering: Design a Device That Converts Energy</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2026-07-13T20:57:08Z</dcterms:created>
  <dcterms:modified xsi:type="dcterms:W3CDTF">2026-07-13T20:57:08Z</dcterms:modified>
</cp:coreProperties>
</file>