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4 forms of energy transfer. Investigation stations in next lesson (20-02).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campfire demonstrates all 4 forms: heat (you feel it), light (you see it), sound (crackling), and chemical-to-electrical (if using electricity to ignite). Tease this out with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does the campfire demonstrate? (all 4! though electrical is less obvious). Which can travel through empty space? (only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Name one way energy moved today IN THIS CLASSROOM (hint: the lights, your voice, the warm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CC9F0"/>
          </a:solidFill>
          <a:ln/>
        </p:spPr>
      </p:sp>
      <p:sp>
        <p:nvSpPr>
          <p:cNvPr id="3" name="Text 1"/>
          <p:cNvSpPr/>
          <p:nvPr/>
        </p:nvSpPr>
        <p:spPr>
          <a:xfrm>
            <a:off x="548640" y="685800"/>
            <a:ext cx="8503920" cy="1463040"/>
          </a:xfrm>
          <a:prstGeom prst="rect">
            <a:avLst/>
          </a:prstGeom>
          <a:noFill/>
          <a:ln/>
        </p:spPr>
        <p:txBody>
          <a:bodyPr wrap="square"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How Does Energy Move?</a:t>
            </a:r>
            <a:endParaRPr lang="en-US" sz="4600" dirty="0"/>
          </a:p>
        </p:txBody>
      </p:sp>
      <p:sp>
        <p:nvSpPr>
          <p:cNvPr id="4" name="Text 2"/>
          <p:cNvSpPr/>
          <p:nvPr/>
        </p:nvSpPr>
        <p:spPr>
          <a:xfrm>
            <a:off x="548640" y="2084832"/>
            <a:ext cx="8503920" cy="347472"/>
          </a:xfrm>
          <a:prstGeom prst="rect">
            <a:avLst/>
          </a:prstGeom>
          <a:noFill/>
          <a:ln/>
        </p:spPr>
        <p:txBody>
          <a:bodyPr wrap="square" rtlCol="0" anchor="ctr"/>
          <a:lstStyle/>
          <a:p>
            <a:pPr algn="l" indent="0" marL="0">
              <a:buNone/>
            </a:pPr>
            <a:r>
              <a:rPr lang="en-US" sz="1300" dirty="0">
                <a:solidFill>
                  <a:srgbClr val="4CC9F0"/>
                </a:solidFill>
                <a:latin typeface="Calibri" pitchFamily="34" charset="0"/>
                <a:ea typeface="Calibri" pitchFamily="34" charset="-122"/>
                <a:cs typeface="Calibri" pitchFamily="34" charset="-120"/>
              </a:rPr>
              <a:t>What are the different ways energy can move from place to place?</a:t>
            </a:r>
            <a:endParaRPr lang="en-US" sz="1300" dirty="0"/>
          </a:p>
        </p:txBody>
      </p:sp>
      <p:sp>
        <p:nvSpPr>
          <p:cNvPr id="5" name="Shape 3"/>
          <p:cNvSpPr/>
          <p:nvPr/>
        </p:nvSpPr>
        <p:spPr>
          <a:xfrm>
            <a:off x="548640" y="2487168"/>
            <a:ext cx="4937760" cy="475488"/>
          </a:xfrm>
          <a:prstGeom prst="roundRect">
            <a:avLst>
              <a:gd name="adj" fmla="val 15385"/>
            </a:avLst>
          </a:prstGeom>
          <a:solidFill>
            <a:srgbClr val="1E2F45"/>
          </a:solidFill>
          <a:ln w="12700">
            <a:solidFill>
              <a:srgbClr val="4CC9F0"/>
            </a:solidFill>
            <a:prstDash val="solid"/>
          </a:ln>
        </p:spPr>
      </p:sp>
      <p:sp>
        <p:nvSpPr>
          <p:cNvPr id="6" name="Text 4"/>
          <p:cNvSpPr/>
          <p:nvPr/>
        </p:nvSpPr>
        <p:spPr>
          <a:xfrm>
            <a:off x="685800" y="2487168"/>
            <a:ext cx="4754880" cy="475488"/>
          </a:xfrm>
          <a:prstGeom prst="rect">
            <a:avLst/>
          </a:prstGeom>
          <a:noFill/>
          <a:ln/>
        </p:spPr>
        <p:txBody>
          <a:bodyPr wrap="square" rtlCol="0" anchor="ctr"/>
          <a:lstStyle/>
          <a:p>
            <a:pPr algn="l" indent="0" marL="0">
              <a:buNone/>
            </a:pPr>
            <a:r>
              <a:rPr lang="en-US" sz="1150" dirty="0">
                <a:solidFill>
                  <a:srgbClr val="B0C4D8"/>
                </a:solidFill>
                <a:latin typeface="Calibri" pitchFamily="34" charset="0"/>
                <a:ea typeface="Calibri" pitchFamily="34" charset="-122"/>
                <a:cs typeface="Calibri" pitchFamily="34" charset="-120"/>
              </a:rPr>
              <a:t>📋  4-PS3-2 | 4-PS3-3 — Energy transfer: heat, light, sound, electrical</a:t>
            </a:r>
            <a:endParaRPr lang="en-US" sz="1150" dirty="0"/>
          </a:p>
        </p:txBody>
      </p:sp>
      <p:sp>
        <p:nvSpPr>
          <p:cNvPr id="7" name="Shape 5"/>
          <p:cNvSpPr/>
          <p:nvPr/>
        </p:nvSpPr>
        <p:spPr>
          <a:xfrm>
            <a:off x="9235440" y="411480"/>
            <a:ext cx="2651760" cy="2651760"/>
          </a:xfrm>
          <a:prstGeom prst="ellipse">
            <a:avLst/>
          </a:prstGeom>
          <a:solidFill>
            <a:srgbClr val="162233"/>
          </a:solidFill>
          <a:ln w="25400">
            <a:solidFill>
              <a:srgbClr val="4CC9F0"/>
            </a:solidFill>
            <a:prstDash val="solid"/>
          </a:ln>
        </p:spPr>
      </p:sp>
      <p:sp>
        <p:nvSpPr>
          <p:cNvPr id="8" name="Text 6"/>
          <p:cNvSpPr/>
          <p:nvPr/>
        </p:nvSpPr>
        <p:spPr>
          <a:xfrm>
            <a:off x="9326880" y="1005840"/>
            <a:ext cx="2468880" cy="1463040"/>
          </a:xfrm>
          <a:prstGeom prst="rect">
            <a:avLst/>
          </a:prstGeom>
          <a:noFill/>
          <a:ln/>
        </p:spPr>
        <p:txBody>
          <a:bodyPr wrap="square" rtlCol="0" anchor="ctr"/>
          <a:lstStyle/>
          <a:p>
            <a:pPr algn="ctr" indent="0" marL="0">
              <a:buNone/>
            </a:pPr>
            <a:r>
              <a:rPr lang="en-US" sz="6800" dirty="0">
                <a:solidFill>
                  <a:srgbClr val="000000"/>
                </a:solidFill>
              </a:rPr>
              <a:t>🔬</a:t>
            </a:r>
            <a:endParaRPr lang="en-US" sz="6800" dirty="0"/>
          </a:p>
        </p:txBody>
      </p:sp>
      <p:sp>
        <p:nvSpPr>
          <p:cNvPr id="9" name="Shape 7"/>
          <p:cNvSpPr/>
          <p:nvPr/>
        </p:nvSpPr>
        <p:spPr>
          <a:xfrm>
            <a:off x="548640" y="3127248"/>
            <a:ext cx="7406640" cy="1645920"/>
          </a:xfrm>
          <a:prstGeom prst="roundRect">
            <a:avLst>
              <a:gd name="adj" fmla="val 4444"/>
            </a:avLst>
          </a:prstGeom>
          <a:solidFill>
            <a:srgbClr val="1E2F45"/>
          </a:solidFill>
          <a:ln w="12700">
            <a:solidFill>
              <a:srgbClr val="243A52"/>
            </a:solidFill>
            <a:prstDash val="solid"/>
          </a:ln>
        </p:spPr>
      </p:sp>
      <p:sp>
        <p:nvSpPr>
          <p:cNvPr id="10" name="Text 8"/>
          <p:cNvSpPr/>
          <p:nvPr/>
        </p:nvSpPr>
        <p:spPr>
          <a:xfrm>
            <a:off x="685800" y="3182112"/>
            <a:ext cx="7132320" cy="310896"/>
          </a:xfrm>
          <a:prstGeom prst="rect">
            <a:avLst/>
          </a:prstGeom>
          <a:noFill/>
          <a:ln/>
        </p:spPr>
        <p:txBody>
          <a:bodyPr wrap="square" rtlCol="0" anchor="ctr"/>
          <a:lstStyle/>
          <a:p>
            <a:pPr indent="0" marL="0">
              <a:buNone/>
            </a:pPr>
            <a:r>
              <a:rPr lang="en-US" sz="1100" b="1" dirty="0">
                <a:solidFill>
                  <a:srgbClr val="4CC9F0"/>
                </a:solidFill>
                <a:latin typeface="Calibri" pitchFamily="34" charset="0"/>
                <a:ea typeface="Calibri" pitchFamily="34" charset="-122"/>
                <a:cs typeface="Calibri" pitchFamily="34" charset="-120"/>
              </a:rPr>
              <a:t>Today's Learning Goals</a:t>
            </a:r>
            <a:endParaRPr lang="en-US" sz="1100" dirty="0"/>
          </a:p>
        </p:txBody>
      </p:sp>
      <p:sp>
        <p:nvSpPr>
          <p:cNvPr id="11" name="Text 9"/>
          <p:cNvSpPr/>
          <p:nvPr/>
        </p:nvSpPr>
        <p:spPr>
          <a:xfrm>
            <a:off x="777240" y="3529584"/>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identify 4 ways energy moves: heat, light, sound, and electrical.</a:t>
            </a:r>
            <a:endParaRPr lang="en-US" sz="1100" dirty="0"/>
          </a:p>
        </p:txBody>
      </p:sp>
      <p:sp>
        <p:nvSpPr>
          <p:cNvPr id="12" name="Text 10"/>
          <p:cNvSpPr/>
          <p:nvPr/>
        </p:nvSpPr>
        <p:spPr>
          <a:xfrm>
            <a:off x="777240" y="3867912"/>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give examples of each type of energy transfer from everyday life.</a:t>
            </a:r>
            <a:endParaRPr lang="en-US" sz="1100" dirty="0"/>
          </a:p>
        </p:txBody>
      </p:sp>
      <p:sp>
        <p:nvSpPr>
          <p:cNvPr id="13" name="Text 11"/>
          <p:cNvSpPr/>
          <p:nvPr/>
        </p:nvSpPr>
        <p:spPr>
          <a:xfrm>
            <a:off x="777240" y="4206240"/>
            <a:ext cx="7040880" cy="301752"/>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I can write a claim + evidence about how energy moves in a specific situation.</a:t>
            </a:r>
            <a:endParaRPr lang="en-US" sz="1100" dirty="0"/>
          </a:p>
        </p:txBody>
      </p:sp>
      <p:sp>
        <p:nvSpPr>
          <p:cNvPr id="14" name="Text 12"/>
          <p:cNvSpPr/>
          <p:nvPr/>
        </p:nvSpPr>
        <p:spPr>
          <a:xfrm>
            <a:off x="548640" y="4956048"/>
            <a:ext cx="9144000" cy="292608"/>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You'll need: Science notebook   pencil</a:t>
            </a:r>
            <a:endParaRPr lang="en-US" sz="1100" dirty="0"/>
          </a:p>
        </p:txBody>
      </p:sp>
      <p:sp>
        <p:nvSpPr>
          <p:cNvPr id="15" name="Shape 13"/>
          <p:cNvSpPr/>
          <p:nvPr/>
        </p:nvSpPr>
        <p:spPr>
          <a:xfrm>
            <a:off x="0" y="6629400"/>
            <a:ext cx="12192000" cy="228600"/>
          </a:xfrm>
          <a:prstGeom prst="rect">
            <a:avLst/>
          </a:prstGeom>
          <a:solidFill>
            <a:srgbClr val="162233"/>
          </a:solidFill>
          <a:ln/>
        </p:spPr>
      </p:sp>
      <p:sp>
        <p:nvSpPr>
          <p:cNvPr id="16" name="Text 14"/>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20-01  ·  How Does Energy Move?</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Phenomenon: The Campfire</a:t>
            </a:r>
            <a:endParaRPr lang="en-US" sz="1600" dirty="0"/>
          </a:p>
        </p:txBody>
      </p:sp>
      <p:sp>
        <p:nvSpPr>
          <p:cNvPr id="5" name="Shape 3"/>
          <p:cNvSpPr/>
          <p:nvPr/>
        </p:nvSpPr>
        <p:spPr>
          <a:xfrm>
            <a:off x="365760" y="713232"/>
            <a:ext cx="5303520" cy="5029200"/>
          </a:xfrm>
          <a:prstGeom prst="roundRect">
            <a:avLst>
              <a:gd name="adj" fmla="val 1455"/>
            </a:avLst>
          </a:prstGeom>
          <a:solidFill>
            <a:srgbClr val="0A1520"/>
          </a:solidFill>
          <a:ln w="19050">
            <a:solidFill>
              <a:srgbClr val="4CC9F0"/>
            </a:solidFill>
            <a:prstDash val="dash"/>
          </a:ln>
        </p:spPr>
      </p:sp>
      <p:sp>
        <p:nvSpPr>
          <p:cNvPr id="6" name="Text 4"/>
          <p:cNvSpPr/>
          <p:nvPr/>
        </p:nvSpPr>
        <p:spPr>
          <a:xfrm>
            <a:off x="457200" y="822960"/>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61872"/>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54480"/>
            <a:ext cx="5084064" cy="39776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"campfire at night glowing flames heat light sound energy"</a:t>
            </a:r>
            <a:endParaRPr lang="en-US" sz="950" dirty="0"/>
          </a:p>
        </p:txBody>
      </p:sp>
      <p:sp>
        <p:nvSpPr>
          <p:cNvPr id="9" name="Text 7"/>
          <p:cNvSpPr/>
          <p:nvPr/>
        </p:nvSpPr>
        <p:spPr>
          <a:xfrm>
            <a:off x="365760" y="5779008"/>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A campfire — multiple forms of energy transfer happening at once</a:t>
            </a:r>
            <a:endParaRPr lang="en-US" sz="900" dirty="0"/>
          </a:p>
        </p:txBody>
      </p:sp>
      <p:sp>
        <p:nvSpPr>
          <p:cNvPr id="10" name="Shape 8"/>
          <p:cNvSpPr/>
          <p:nvPr/>
        </p:nvSpPr>
        <p:spPr>
          <a:xfrm>
            <a:off x="5852160" y="713232"/>
            <a:ext cx="5943600" cy="5029200"/>
          </a:xfrm>
          <a:prstGeom prst="roundRect">
            <a:avLst>
              <a:gd name="adj" fmla="val 1455"/>
            </a:avLst>
          </a:prstGeom>
          <a:solidFill>
            <a:srgbClr val="1E2F45"/>
          </a:solidFill>
          <a:ln w="12700">
            <a:solidFill>
              <a:srgbClr val="FFB703"/>
            </a:solidFill>
            <a:prstDash val="solid"/>
          </a:ln>
        </p:spPr>
      </p:sp>
      <p:sp>
        <p:nvSpPr>
          <p:cNvPr id="11" name="Text 9"/>
          <p:cNvSpPr/>
          <p:nvPr/>
        </p:nvSpPr>
        <p:spPr>
          <a:xfrm>
            <a:off x="6035040" y="777240"/>
            <a:ext cx="5669280"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Think About a Campfire:</a:t>
            </a:r>
            <a:endParaRPr lang="en-US" sz="1300" dirty="0"/>
          </a:p>
        </p:txBody>
      </p:sp>
      <p:sp>
        <p:nvSpPr>
          <p:cNvPr id="12" name="Text 10"/>
          <p:cNvSpPr/>
          <p:nvPr/>
        </p:nvSpPr>
        <p:spPr>
          <a:xfrm>
            <a:off x="6035040" y="1170432"/>
            <a:ext cx="5669280" cy="443484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Imagine you are sitting near a campfire. In your notebook:</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1. What do you feel? (even from a distance?)</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2. What do you see?</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3. What do you hear?</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Evidence-based prediction:</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"I predict the campfire moves energy as ___ because I can observe ___"</a:t>
            </a:r>
            <a:endParaRPr lang="en-US" sz="1200" dirty="0"/>
          </a:p>
        </p:txBody>
      </p:sp>
      <p:sp>
        <p:nvSpPr>
          <p:cNvPr id="13" name="Shape 11"/>
          <p:cNvSpPr/>
          <p:nvPr/>
        </p:nvSpPr>
        <p:spPr>
          <a:xfrm>
            <a:off x="0" y="6629400"/>
            <a:ext cx="12192000" cy="228600"/>
          </a:xfrm>
          <a:prstGeom prst="rect">
            <a:avLst/>
          </a:prstGeom>
          <a:solidFill>
            <a:srgbClr val="162233"/>
          </a:solidFill>
          <a:ln/>
        </p:spPr>
      </p:sp>
      <p:sp>
        <p:nvSpPr>
          <p:cNvPr id="14" name="Text 1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20-01  ·  How Does Energy Move?</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Essential Question</a:t>
            </a:r>
            <a:endParaRPr lang="en-US" sz="1600" dirty="0"/>
          </a:p>
        </p:txBody>
      </p:sp>
      <p:sp>
        <p:nvSpPr>
          <p:cNvPr id="5" name="Shape 3"/>
          <p:cNvSpPr/>
          <p:nvPr/>
        </p:nvSpPr>
        <p:spPr>
          <a:xfrm>
            <a:off x="457200" y="749808"/>
            <a:ext cx="11247120" cy="1371600"/>
          </a:xfrm>
          <a:prstGeom prst="roundRect">
            <a:avLst>
              <a:gd name="adj" fmla="val 5333"/>
            </a:avLst>
          </a:prstGeom>
          <a:solidFill>
            <a:srgbClr val="162233"/>
          </a:solidFill>
          <a:ln w="12700">
            <a:solidFill>
              <a:srgbClr val="4CC9F0"/>
            </a:solidFill>
            <a:prstDash val="solid"/>
          </a:ln>
        </p:spPr>
      </p:sp>
      <p:sp>
        <p:nvSpPr>
          <p:cNvPr id="6" name="Text 4"/>
          <p:cNvSpPr/>
          <p:nvPr/>
        </p:nvSpPr>
        <p:spPr>
          <a:xfrm>
            <a:off x="640080" y="804672"/>
            <a:ext cx="10972800" cy="118872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What are the different ways energy can move from one place to another?</a:t>
            </a:r>
            <a:endParaRPr lang="en-US" sz="2400" dirty="0"/>
          </a:p>
        </p:txBody>
      </p:sp>
      <p:sp>
        <p:nvSpPr>
          <p:cNvPr id="7" name="Shape 5"/>
          <p:cNvSpPr/>
          <p:nvPr/>
        </p:nvSpPr>
        <p:spPr>
          <a:xfrm>
            <a:off x="457200" y="2331720"/>
            <a:ext cx="11247120" cy="1143000"/>
          </a:xfrm>
          <a:prstGeom prst="roundRect">
            <a:avLst>
              <a:gd name="adj" fmla="val 6400"/>
            </a:avLst>
          </a:prstGeom>
          <a:solidFill>
            <a:srgbClr val="1E2F45"/>
          </a:solidFill>
          <a:ln w="12700">
            <a:solidFill>
              <a:srgbClr val="FFB703"/>
            </a:solidFill>
            <a:prstDash val="solid"/>
          </a:ln>
        </p:spPr>
      </p:sp>
      <p:sp>
        <p:nvSpPr>
          <p:cNvPr id="8" name="Text 6"/>
          <p:cNvSpPr/>
          <p:nvPr/>
        </p:nvSpPr>
        <p:spPr>
          <a:xfrm>
            <a:off x="640080" y="2487168"/>
            <a:ext cx="10972800" cy="822960"/>
          </a:xfrm>
          <a:prstGeom prst="rect">
            <a:avLst/>
          </a:prstGeom>
          <a:noFill/>
          <a:ln/>
        </p:spPr>
        <p:txBody>
          <a:bodyPr wrap="square" rtlCol="0" anchor="ctr"/>
          <a:lstStyle/>
          <a:p>
            <a:pPr indent="0" marL="0">
              <a:buNone/>
            </a:pPr>
            <a:r>
              <a:rPr lang="en-US" sz="1300" i="1" dirty="0">
                <a:solidFill>
                  <a:srgbClr val="B0C4D8"/>
                </a:solidFill>
                <a:latin typeface="Calibri" pitchFamily="34" charset="0"/>
                <a:ea typeface="Calibri" pitchFamily="34" charset="-122"/>
                <a:cs typeface="Calibri" pitchFamily="34" charset="-120"/>
              </a:rPr>
              <a:t>Prediction: "I think energy moves by ___. I have seen evidence of this when ___"</a:t>
            </a:r>
            <a:endParaRPr lang="en-US" sz="1300" dirty="0"/>
          </a:p>
        </p:txBody>
      </p:sp>
      <p:sp>
        <p:nvSpPr>
          <p:cNvPr id="9" name="Shape 7"/>
          <p:cNvSpPr/>
          <p:nvPr/>
        </p:nvSpPr>
        <p:spPr>
          <a:xfrm>
            <a:off x="0" y="6629400"/>
            <a:ext cx="12192000" cy="228600"/>
          </a:xfrm>
          <a:prstGeom prst="rect">
            <a:avLst/>
          </a:prstGeom>
          <a:solidFill>
            <a:srgbClr val="162233"/>
          </a:solidFill>
          <a:ln/>
        </p:spPr>
      </p:sp>
      <p:sp>
        <p:nvSpPr>
          <p:cNvPr id="10" name="Text 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20-01  ·  How Does Energy Move?</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Vocabulary: Energy Transfer</a:t>
            </a:r>
            <a:endParaRPr lang="en-US" sz="1600" dirty="0"/>
          </a:p>
        </p:txBody>
      </p:sp>
      <p:sp>
        <p:nvSpPr>
          <p:cNvPr id="5" name="Shape 3"/>
          <p:cNvSpPr/>
          <p:nvPr/>
        </p:nvSpPr>
        <p:spPr>
          <a:xfrm>
            <a:off x="274320" y="749808"/>
            <a:ext cx="3657600" cy="1325880"/>
          </a:xfrm>
          <a:prstGeom prst="roundRect">
            <a:avLst>
              <a:gd name="adj" fmla="val 6897"/>
            </a:avLst>
          </a:prstGeom>
          <a:solidFill>
            <a:srgbClr val="1E2F45"/>
          </a:solidFill>
          <a:ln w="25400">
            <a:solidFill>
              <a:srgbClr val="4CC9F0"/>
            </a:solidFill>
            <a:prstDash val="solid"/>
          </a:ln>
        </p:spPr>
      </p:sp>
      <p:sp>
        <p:nvSpPr>
          <p:cNvPr id="6" name="Shape 4"/>
          <p:cNvSpPr/>
          <p:nvPr/>
        </p:nvSpPr>
        <p:spPr>
          <a:xfrm>
            <a:off x="274320" y="749808"/>
            <a:ext cx="3657600" cy="347472"/>
          </a:xfrm>
          <a:prstGeom prst="roundRect">
            <a:avLst>
              <a:gd name="adj" fmla="val 21053"/>
            </a:avLst>
          </a:prstGeom>
          <a:solidFill>
            <a:srgbClr val="4CC9F0"/>
          </a:solidFill>
          <a:ln w="12700">
            <a:solidFill>
              <a:srgbClr val="4CC9F0"/>
            </a:solidFill>
            <a:prstDash val="solid"/>
          </a:ln>
        </p:spPr>
      </p:sp>
      <p:sp>
        <p:nvSpPr>
          <p:cNvPr id="7" name="Text 5"/>
          <p:cNvSpPr/>
          <p:nvPr/>
        </p:nvSpPr>
        <p:spPr>
          <a:xfrm>
            <a:off x="36576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transfer</a:t>
            </a:r>
            <a:endParaRPr lang="en-US" sz="1200" dirty="0"/>
          </a:p>
        </p:txBody>
      </p:sp>
      <p:sp>
        <p:nvSpPr>
          <p:cNvPr id="8" name="Text 6"/>
          <p:cNvSpPr/>
          <p:nvPr/>
        </p:nvSpPr>
        <p:spPr>
          <a:xfrm>
            <a:off x="38404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To move something from one place or object to another. Energy can be transferred.</a:t>
            </a:r>
            <a:endParaRPr lang="en-US" sz="1050" dirty="0"/>
          </a:p>
        </p:txBody>
      </p:sp>
      <p:sp>
        <p:nvSpPr>
          <p:cNvPr id="9" name="Shape 7"/>
          <p:cNvSpPr/>
          <p:nvPr/>
        </p:nvSpPr>
        <p:spPr>
          <a:xfrm>
            <a:off x="4069080" y="749808"/>
            <a:ext cx="3657600" cy="1325880"/>
          </a:xfrm>
          <a:prstGeom prst="roundRect">
            <a:avLst>
              <a:gd name="adj" fmla="val 6897"/>
            </a:avLst>
          </a:prstGeom>
          <a:solidFill>
            <a:srgbClr val="1E2F45"/>
          </a:solidFill>
          <a:ln w="25400">
            <a:solidFill>
              <a:srgbClr val="F4736A"/>
            </a:solidFill>
            <a:prstDash val="solid"/>
          </a:ln>
        </p:spPr>
      </p:sp>
      <p:sp>
        <p:nvSpPr>
          <p:cNvPr id="10" name="Shape 8"/>
          <p:cNvSpPr/>
          <p:nvPr/>
        </p:nvSpPr>
        <p:spPr>
          <a:xfrm>
            <a:off x="4069080" y="749808"/>
            <a:ext cx="3657600" cy="347472"/>
          </a:xfrm>
          <a:prstGeom prst="roundRect">
            <a:avLst>
              <a:gd name="adj" fmla="val 21053"/>
            </a:avLst>
          </a:prstGeom>
          <a:solidFill>
            <a:srgbClr val="F4736A"/>
          </a:solidFill>
          <a:ln w="12700">
            <a:solidFill>
              <a:srgbClr val="F4736A"/>
            </a:solidFill>
            <a:prstDash val="solid"/>
          </a:ln>
        </p:spPr>
      </p:sp>
      <p:sp>
        <p:nvSpPr>
          <p:cNvPr id="11" name="Text 9"/>
          <p:cNvSpPr/>
          <p:nvPr/>
        </p:nvSpPr>
        <p:spPr>
          <a:xfrm>
            <a:off x="416052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heat</a:t>
            </a:r>
            <a:endParaRPr lang="en-US" sz="1200" dirty="0"/>
          </a:p>
        </p:txBody>
      </p:sp>
      <p:sp>
        <p:nvSpPr>
          <p:cNvPr id="12" name="Text 10"/>
          <p:cNvSpPr/>
          <p:nvPr/>
        </p:nvSpPr>
        <p:spPr>
          <a:xfrm>
            <a:off x="417880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Energy that moves from warmer objects to cooler ones. Also called thermal energy transfer.</a:t>
            </a:r>
            <a:endParaRPr lang="en-US" sz="1050" dirty="0"/>
          </a:p>
        </p:txBody>
      </p:sp>
      <p:sp>
        <p:nvSpPr>
          <p:cNvPr id="13" name="Shape 11"/>
          <p:cNvSpPr/>
          <p:nvPr/>
        </p:nvSpPr>
        <p:spPr>
          <a:xfrm>
            <a:off x="7863840" y="749808"/>
            <a:ext cx="3657600" cy="1325880"/>
          </a:xfrm>
          <a:prstGeom prst="roundRect">
            <a:avLst>
              <a:gd name="adj" fmla="val 6897"/>
            </a:avLst>
          </a:prstGeom>
          <a:solidFill>
            <a:srgbClr val="1E2F45"/>
          </a:solidFill>
          <a:ln w="25400">
            <a:solidFill>
              <a:srgbClr val="FFB703"/>
            </a:solidFill>
            <a:prstDash val="solid"/>
          </a:ln>
        </p:spPr>
      </p:sp>
      <p:sp>
        <p:nvSpPr>
          <p:cNvPr id="14" name="Shape 12"/>
          <p:cNvSpPr/>
          <p:nvPr/>
        </p:nvSpPr>
        <p:spPr>
          <a:xfrm>
            <a:off x="7863840" y="749808"/>
            <a:ext cx="3657600" cy="347472"/>
          </a:xfrm>
          <a:prstGeom prst="roundRect">
            <a:avLst>
              <a:gd name="adj" fmla="val 21053"/>
            </a:avLst>
          </a:prstGeom>
          <a:solidFill>
            <a:srgbClr val="FFB703"/>
          </a:solidFill>
          <a:ln w="12700">
            <a:solidFill>
              <a:srgbClr val="FFB703"/>
            </a:solidFill>
            <a:prstDash val="solid"/>
          </a:ln>
        </p:spPr>
      </p:sp>
      <p:sp>
        <p:nvSpPr>
          <p:cNvPr id="15" name="Text 13"/>
          <p:cNvSpPr/>
          <p:nvPr/>
        </p:nvSpPr>
        <p:spPr>
          <a:xfrm>
            <a:off x="7955280" y="77724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light</a:t>
            </a:r>
            <a:endParaRPr lang="en-US" sz="1200" dirty="0"/>
          </a:p>
        </p:txBody>
      </p:sp>
      <p:sp>
        <p:nvSpPr>
          <p:cNvPr id="16" name="Text 14"/>
          <p:cNvSpPr/>
          <p:nvPr/>
        </p:nvSpPr>
        <p:spPr>
          <a:xfrm>
            <a:off x="7973568" y="115214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Energy that travels in waves and can be seen. The sun transfers energy to Earth as light.</a:t>
            </a:r>
            <a:endParaRPr lang="en-US" sz="1050" dirty="0"/>
          </a:p>
        </p:txBody>
      </p:sp>
      <p:sp>
        <p:nvSpPr>
          <p:cNvPr id="17" name="Shape 15"/>
          <p:cNvSpPr/>
          <p:nvPr/>
        </p:nvSpPr>
        <p:spPr>
          <a:xfrm>
            <a:off x="274320" y="2304288"/>
            <a:ext cx="3657600" cy="1325880"/>
          </a:xfrm>
          <a:prstGeom prst="roundRect">
            <a:avLst>
              <a:gd name="adj" fmla="val 6897"/>
            </a:avLst>
          </a:prstGeom>
          <a:solidFill>
            <a:srgbClr val="1E2F45"/>
          </a:solidFill>
          <a:ln w="25400">
            <a:solidFill>
              <a:srgbClr val="2DC653"/>
            </a:solidFill>
            <a:prstDash val="solid"/>
          </a:ln>
        </p:spPr>
      </p:sp>
      <p:sp>
        <p:nvSpPr>
          <p:cNvPr id="18" name="Shape 16"/>
          <p:cNvSpPr/>
          <p:nvPr/>
        </p:nvSpPr>
        <p:spPr>
          <a:xfrm>
            <a:off x="274320" y="2304288"/>
            <a:ext cx="3657600" cy="347472"/>
          </a:xfrm>
          <a:prstGeom prst="roundRect">
            <a:avLst>
              <a:gd name="adj" fmla="val 21053"/>
            </a:avLst>
          </a:prstGeom>
          <a:solidFill>
            <a:srgbClr val="2DC653"/>
          </a:solidFill>
          <a:ln w="12700">
            <a:solidFill>
              <a:srgbClr val="2DC653"/>
            </a:solidFill>
            <a:prstDash val="solid"/>
          </a:ln>
        </p:spPr>
      </p:sp>
      <p:sp>
        <p:nvSpPr>
          <p:cNvPr id="19" name="Text 17"/>
          <p:cNvSpPr/>
          <p:nvPr/>
        </p:nvSpPr>
        <p:spPr>
          <a:xfrm>
            <a:off x="365760" y="233172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sound</a:t>
            </a:r>
            <a:endParaRPr lang="en-US" sz="1200" dirty="0"/>
          </a:p>
        </p:txBody>
      </p:sp>
      <p:sp>
        <p:nvSpPr>
          <p:cNvPr id="20" name="Text 18"/>
          <p:cNvSpPr/>
          <p:nvPr/>
        </p:nvSpPr>
        <p:spPr>
          <a:xfrm>
            <a:off x="384048" y="270662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Energy that travels as vibrations through matter (solids, liquids, gases).</a:t>
            </a:r>
            <a:endParaRPr lang="en-US" sz="1050" dirty="0"/>
          </a:p>
        </p:txBody>
      </p:sp>
      <p:sp>
        <p:nvSpPr>
          <p:cNvPr id="21" name="Shape 19"/>
          <p:cNvSpPr/>
          <p:nvPr/>
        </p:nvSpPr>
        <p:spPr>
          <a:xfrm>
            <a:off x="4069080" y="2304288"/>
            <a:ext cx="3657600" cy="1325880"/>
          </a:xfrm>
          <a:prstGeom prst="roundRect">
            <a:avLst>
              <a:gd name="adj" fmla="val 6897"/>
            </a:avLst>
          </a:prstGeom>
          <a:solidFill>
            <a:srgbClr val="1E2F45"/>
          </a:solidFill>
          <a:ln w="25400">
            <a:solidFill>
              <a:srgbClr val="0096C7"/>
            </a:solidFill>
            <a:prstDash val="solid"/>
          </a:ln>
        </p:spPr>
      </p:sp>
      <p:sp>
        <p:nvSpPr>
          <p:cNvPr id="22" name="Shape 20"/>
          <p:cNvSpPr/>
          <p:nvPr/>
        </p:nvSpPr>
        <p:spPr>
          <a:xfrm>
            <a:off x="4069080" y="2304288"/>
            <a:ext cx="3657600" cy="347472"/>
          </a:xfrm>
          <a:prstGeom prst="roundRect">
            <a:avLst>
              <a:gd name="adj" fmla="val 21053"/>
            </a:avLst>
          </a:prstGeom>
          <a:solidFill>
            <a:srgbClr val="0096C7"/>
          </a:solidFill>
          <a:ln w="12700">
            <a:solidFill>
              <a:srgbClr val="0096C7"/>
            </a:solidFill>
            <a:prstDash val="solid"/>
          </a:ln>
        </p:spPr>
      </p:sp>
      <p:sp>
        <p:nvSpPr>
          <p:cNvPr id="23" name="Text 21"/>
          <p:cNvSpPr/>
          <p:nvPr/>
        </p:nvSpPr>
        <p:spPr>
          <a:xfrm>
            <a:off x="4160520" y="233172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electrical</a:t>
            </a:r>
            <a:endParaRPr lang="en-US" sz="1200" dirty="0"/>
          </a:p>
        </p:txBody>
      </p:sp>
      <p:sp>
        <p:nvSpPr>
          <p:cNvPr id="24" name="Text 22"/>
          <p:cNvSpPr/>
          <p:nvPr/>
        </p:nvSpPr>
        <p:spPr>
          <a:xfrm>
            <a:off x="4178808" y="270662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Energy that moves through conductors (like wires) as moving electric charges.</a:t>
            </a:r>
            <a:endParaRPr lang="en-US" sz="1050" dirty="0"/>
          </a:p>
        </p:txBody>
      </p:sp>
      <p:sp>
        <p:nvSpPr>
          <p:cNvPr id="25" name="Shape 23"/>
          <p:cNvSpPr/>
          <p:nvPr/>
        </p:nvSpPr>
        <p:spPr>
          <a:xfrm>
            <a:off x="7863840" y="2304288"/>
            <a:ext cx="3657600" cy="1325880"/>
          </a:xfrm>
          <a:prstGeom prst="roundRect">
            <a:avLst>
              <a:gd name="adj" fmla="val 6897"/>
            </a:avLst>
          </a:prstGeom>
          <a:solidFill>
            <a:srgbClr val="1E2F45"/>
          </a:solidFill>
          <a:ln w="25400">
            <a:solidFill>
              <a:srgbClr val="F4736A"/>
            </a:solidFill>
            <a:prstDash val="solid"/>
          </a:ln>
        </p:spPr>
      </p:sp>
      <p:sp>
        <p:nvSpPr>
          <p:cNvPr id="26" name="Shape 24"/>
          <p:cNvSpPr/>
          <p:nvPr/>
        </p:nvSpPr>
        <p:spPr>
          <a:xfrm>
            <a:off x="7863840" y="2304288"/>
            <a:ext cx="3657600" cy="347472"/>
          </a:xfrm>
          <a:prstGeom prst="roundRect">
            <a:avLst>
              <a:gd name="adj" fmla="val 21053"/>
            </a:avLst>
          </a:prstGeom>
          <a:solidFill>
            <a:srgbClr val="F4736A"/>
          </a:solidFill>
          <a:ln w="12700">
            <a:solidFill>
              <a:srgbClr val="F4736A"/>
            </a:solidFill>
            <a:prstDash val="solid"/>
          </a:ln>
        </p:spPr>
      </p:sp>
      <p:sp>
        <p:nvSpPr>
          <p:cNvPr id="27" name="Text 25"/>
          <p:cNvSpPr/>
          <p:nvPr/>
        </p:nvSpPr>
        <p:spPr>
          <a:xfrm>
            <a:off x="7955280" y="2331720"/>
            <a:ext cx="3474720"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p>
        </p:txBody>
      </p:sp>
      <p:sp>
        <p:nvSpPr>
          <p:cNvPr id="28" name="Text 26"/>
          <p:cNvSpPr/>
          <p:nvPr/>
        </p:nvSpPr>
        <p:spPr>
          <a:xfrm>
            <a:off x="7973568" y="2706624"/>
            <a:ext cx="3438144" cy="868680"/>
          </a:xfrm>
          <a:prstGeom prst="rect">
            <a:avLst/>
          </a:prstGeom>
          <a:noFill/>
          <a:ln/>
        </p:spPr>
        <p:txBody>
          <a:bodyPr wrap="square" rtlCol="0" anchor="t"/>
          <a:lstStyle/>
          <a:p>
            <a:pPr algn="l" indent="0" marL="0">
              <a:buNone/>
            </a:pPr>
            <a:r>
              <a:rPr lang="en-US" sz="1050" dirty="0">
                <a:solidFill>
                  <a:srgbClr val="B0C4D8"/>
                </a:solidFill>
                <a:latin typeface="Calibri" pitchFamily="34" charset="0"/>
                <a:ea typeface="Calibri" pitchFamily="34" charset="-122"/>
                <a:cs typeface="Calibri" pitchFamily="34" charset="-120"/>
              </a:rPr>
              <a:t>Where energy comes from. The sun is a source of light and heat energy.</a:t>
            </a:r>
            <a:endParaRPr lang="en-US" sz="1050" dirty="0"/>
          </a:p>
        </p:txBody>
      </p:sp>
      <p:sp>
        <p:nvSpPr>
          <p:cNvPr id="29" name="Shape 27"/>
          <p:cNvSpPr/>
          <p:nvPr/>
        </p:nvSpPr>
        <p:spPr>
          <a:xfrm>
            <a:off x="0" y="6629400"/>
            <a:ext cx="12192000" cy="228600"/>
          </a:xfrm>
          <a:prstGeom prst="rect">
            <a:avLst/>
          </a:prstGeom>
          <a:solidFill>
            <a:srgbClr val="162233"/>
          </a:solidFill>
          <a:ln/>
        </p:spPr>
      </p:sp>
      <p:sp>
        <p:nvSpPr>
          <p:cNvPr id="30" name="Text 2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20-01  ·  How Does Energy Move?</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4 Forms of Energy Transfer</a:t>
            </a:r>
            <a:endParaRPr lang="en-US" sz="1600" dirty="0"/>
          </a:p>
        </p:txBody>
      </p:sp>
      <p:sp>
        <p:nvSpPr>
          <p:cNvPr id="5" name="Shape 3"/>
          <p:cNvSpPr/>
          <p:nvPr/>
        </p:nvSpPr>
        <p:spPr>
          <a:xfrm>
            <a:off x="365760" y="749808"/>
            <a:ext cx="5486400" cy="2651760"/>
          </a:xfrm>
          <a:prstGeom prst="roundRect">
            <a:avLst>
              <a:gd name="adj" fmla="val 2759"/>
            </a:avLst>
          </a:prstGeom>
          <a:solidFill>
            <a:srgbClr val="1E2F45"/>
          </a:solidFill>
          <a:ln w="12700">
            <a:solidFill>
              <a:srgbClr val="F4736A"/>
            </a:solidFill>
            <a:prstDash val="solid"/>
          </a:ln>
        </p:spPr>
      </p:sp>
      <p:sp>
        <p:nvSpPr>
          <p:cNvPr id="6" name="Text 4"/>
          <p:cNvSpPr/>
          <p:nvPr/>
        </p:nvSpPr>
        <p:spPr>
          <a:xfrm>
            <a:off x="365760" y="841248"/>
            <a:ext cx="1005840" cy="2377440"/>
          </a:xfrm>
          <a:prstGeom prst="rect">
            <a:avLst/>
          </a:prstGeom>
          <a:noFill/>
          <a:ln/>
        </p:spPr>
        <p:txBody>
          <a:bodyPr wrap="square" rtlCol="0" anchor="ctr"/>
          <a:lstStyle/>
          <a:p>
            <a:pPr algn="ctr" indent="0" marL="0">
              <a:buNone/>
            </a:pPr>
            <a:r>
              <a:rPr lang="en-US" sz="3800" dirty="0">
                <a:solidFill>
                  <a:srgbClr val="000000"/>
                </a:solidFill>
              </a:rPr>
              <a:t>🔥</a:t>
            </a:r>
            <a:endParaRPr lang="en-US" sz="3800" dirty="0"/>
          </a:p>
        </p:txBody>
      </p:sp>
      <p:sp>
        <p:nvSpPr>
          <p:cNvPr id="7" name="Text 5"/>
          <p:cNvSpPr/>
          <p:nvPr/>
        </p:nvSpPr>
        <p:spPr>
          <a:xfrm>
            <a:off x="1463040" y="841248"/>
            <a:ext cx="4206240" cy="475488"/>
          </a:xfrm>
          <a:prstGeom prst="rect">
            <a:avLst/>
          </a:prstGeom>
          <a:noFill/>
          <a:ln/>
        </p:spPr>
        <p:txBody>
          <a:bodyPr wrap="square" rtlCol="0" anchor="ctr"/>
          <a:lstStyle/>
          <a:p>
            <a:pPr indent="0" marL="0">
              <a:buNone/>
            </a:pPr>
            <a:r>
              <a:rPr lang="en-US" sz="1600" b="1" dirty="0">
                <a:solidFill>
                  <a:srgbClr val="F4736A"/>
                </a:solidFill>
                <a:latin typeface="Calibri" pitchFamily="34" charset="0"/>
                <a:ea typeface="Calibri" pitchFamily="34" charset="-122"/>
                <a:cs typeface="Calibri" pitchFamily="34" charset="-120"/>
              </a:rPr>
              <a:t>HEAT</a:t>
            </a:r>
            <a:endParaRPr lang="en-US" sz="1600" dirty="0"/>
          </a:p>
        </p:txBody>
      </p:sp>
      <p:sp>
        <p:nvSpPr>
          <p:cNvPr id="8" name="Text 6"/>
          <p:cNvSpPr/>
          <p:nvPr/>
        </p:nvSpPr>
        <p:spPr>
          <a:xfrm>
            <a:off x="1463040" y="1389888"/>
            <a:ext cx="4206240" cy="18288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Moves from warm to cool objects. You feel it without touching the source (campfire, sun, stove).</a:t>
            </a:r>
            <a:endParaRPr lang="en-US" sz="1200" dirty="0"/>
          </a:p>
        </p:txBody>
      </p:sp>
      <p:sp>
        <p:nvSpPr>
          <p:cNvPr id="9" name="Shape 7"/>
          <p:cNvSpPr/>
          <p:nvPr/>
        </p:nvSpPr>
        <p:spPr>
          <a:xfrm>
            <a:off x="6126480" y="749808"/>
            <a:ext cx="5486400" cy="2651760"/>
          </a:xfrm>
          <a:prstGeom prst="roundRect">
            <a:avLst>
              <a:gd name="adj" fmla="val 2759"/>
            </a:avLst>
          </a:prstGeom>
          <a:solidFill>
            <a:srgbClr val="1E2F45"/>
          </a:solidFill>
          <a:ln w="12700">
            <a:solidFill>
              <a:srgbClr val="FFB703"/>
            </a:solidFill>
            <a:prstDash val="solid"/>
          </a:ln>
        </p:spPr>
      </p:sp>
      <p:sp>
        <p:nvSpPr>
          <p:cNvPr id="10" name="Text 8"/>
          <p:cNvSpPr/>
          <p:nvPr/>
        </p:nvSpPr>
        <p:spPr>
          <a:xfrm>
            <a:off x="6126480" y="841248"/>
            <a:ext cx="1005840" cy="2377440"/>
          </a:xfrm>
          <a:prstGeom prst="rect">
            <a:avLst/>
          </a:prstGeom>
          <a:noFill/>
          <a:ln/>
        </p:spPr>
        <p:txBody>
          <a:bodyPr wrap="square" rtlCol="0" anchor="ctr"/>
          <a:lstStyle/>
          <a:p>
            <a:pPr algn="ctr" indent="0" marL="0">
              <a:buNone/>
            </a:pPr>
            <a:r>
              <a:rPr lang="en-US" sz="3800" dirty="0">
                <a:solidFill>
                  <a:srgbClr val="000000"/>
                </a:solidFill>
              </a:rPr>
              <a:t>💡</a:t>
            </a:r>
            <a:endParaRPr lang="en-US" sz="3800" dirty="0"/>
          </a:p>
        </p:txBody>
      </p:sp>
      <p:sp>
        <p:nvSpPr>
          <p:cNvPr id="11" name="Text 9"/>
          <p:cNvSpPr/>
          <p:nvPr/>
        </p:nvSpPr>
        <p:spPr>
          <a:xfrm>
            <a:off x="7223760" y="841248"/>
            <a:ext cx="4206240" cy="475488"/>
          </a:xfrm>
          <a:prstGeom prst="rect">
            <a:avLst/>
          </a:prstGeom>
          <a:noFill/>
          <a:ln/>
        </p:spPr>
        <p:txBody>
          <a:bodyPr wrap="square" rtlCol="0" anchor="ctr"/>
          <a:lstStyle/>
          <a:p>
            <a:pPr indent="0" marL="0">
              <a:buNone/>
            </a:pPr>
            <a:r>
              <a:rPr lang="en-US" sz="1600" b="1" dirty="0">
                <a:solidFill>
                  <a:srgbClr val="FFB703"/>
                </a:solidFill>
                <a:latin typeface="Calibri" pitchFamily="34" charset="0"/>
                <a:ea typeface="Calibri" pitchFamily="34" charset="-122"/>
                <a:cs typeface="Calibri" pitchFamily="34" charset="-120"/>
              </a:rPr>
              <a:t>LIGHT</a:t>
            </a:r>
            <a:endParaRPr lang="en-US" sz="1600" dirty="0"/>
          </a:p>
        </p:txBody>
      </p:sp>
      <p:sp>
        <p:nvSpPr>
          <p:cNvPr id="12" name="Text 10"/>
          <p:cNvSpPr/>
          <p:nvPr/>
        </p:nvSpPr>
        <p:spPr>
          <a:xfrm>
            <a:off x="7223760" y="1389888"/>
            <a:ext cx="4206240" cy="18288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Travels as electromagnetic waves. Can travel through empty space (sun to Earth in 8 minutes).</a:t>
            </a:r>
            <a:endParaRPr lang="en-US" sz="1200" dirty="0"/>
          </a:p>
        </p:txBody>
      </p:sp>
      <p:sp>
        <p:nvSpPr>
          <p:cNvPr id="13" name="Shape 11"/>
          <p:cNvSpPr/>
          <p:nvPr/>
        </p:nvSpPr>
        <p:spPr>
          <a:xfrm>
            <a:off x="365760" y="3584448"/>
            <a:ext cx="5486400" cy="2651760"/>
          </a:xfrm>
          <a:prstGeom prst="roundRect">
            <a:avLst>
              <a:gd name="adj" fmla="val 2759"/>
            </a:avLst>
          </a:prstGeom>
          <a:solidFill>
            <a:srgbClr val="1E2F45"/>
          </a:solidFill>
          <a:ln w="12700">
            <a:solidFill>
              <a:srgbClr val="4CC9F0"/>
            </a:solidFill>
            <a:prstDash val="solid"/>
          </a:ln>
        </p:spPr>
      </p:sp>
      <p:sp>
        <p:nvSpPr>
          <p:cNvPr id="14" name="Text 12"/>
          <p:cNvSpPr/>
          <p:nvPr/>
        </p:nvSpPr>
        <p:spPr>
          <a:xfrm>
            <a:off x="365760" y="3675888"/>
            <a:ext cx="1005840" cy="2377440"/>
          </a:xfrm>
          <a:prstGeom prst="rect">
            <a:avLst/>
          </a:prstGeom>
          <a:noFill/>
          <a:ln/>
        </p:spPr>
        <p:txBody>
          <a:bodyPr wrap="square" rtlCol="0" anchor="ctr"/>
          <a:lstStyle/>
          <a:p>
            <a:pPr algn="ctr" indent="0" marL="0">
              <a:buNone/>
            </a:pPr>
            <a:r>
              <a:rPr lang="en-US" sz="3800" dirty="0">
                <a:solidFill>
                  <a:srgbClr val="000000"/>
                </a:solidFill>
              </a:rPr>
              <a:t>🔊</a:t>
            </a:r>
            <a:endParaRPr lang="en-US" sz="3800" dirty="0"/>
          </a:p>
        </p:txBody>
      </p:sp>
      <p:sp>
        <p:nvSpPr>
          <p:cNvPr id="15" name="Text 13"/>
          <p:cNvSpPr/>
          <p:nvPr/>
        </p:nvSpPr>
        <p:spPr>
          <a:xfrm>
            <a:off x="1463040" y="3675888"/>
            <a:ext cx="4206240" cy="475488"/>
          </a:xfrm>
          <a:prstGeom prst="rect">
            <a:avLst/>
          </a:prstGeom>
          <a:noFill/>
          <a:ln/>
        </p:spPr>
        <p:txBody>
          <a:bodyPr wrap="square" rtlCol="0" anchor="ctr"/>
          <a:lstStyle/>
          <a:p>
            <a:pPr indent="0" marL="0">
              <a:buNone/>
            </a:pPr>
            <a:r>
              <a:rPr lang="en-US" sz="1600" b="1" dirty="0">
                <a:solidFill>
                  <a:srgbClr val="4CC9F0"/>
                </a:solidFill>
                <a:latin typeface="Calibri" pitchFamily="34" charset="0"/>
                <a:ea typeface="Calibri" pitchFamily="34" charset="-122"/>
                <a:cs typeface="Calibri" pitchFamily="34" charset="-120"/>
              </a:rPr>
              <a:t>SOUND</a:t>
            </a:r>
            <a:endParaRPr lang="en-US" sz="1600" dirty="0"/>
          </a:p>
        </p:txBody>
      </p:sp>
      <p:sp>
        <p:nvSpPr>
          <p:cNvPr id="16" name="Text 14"/>
          <p:cNvSpPr/>
          <p:nvPr/>
        </p:nvSpPr>
        <p:spPr>
          <a:xfrm>
            <a:off x="1463040" y="4224528"/>
            <a:ext cx="4206240" cy="18288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Travels as vibrations through matter. Cannot travel through empty space — needs a medium.</a:t>
            </a:r>
            <a:endParaRPr lang="en-US" sz="1200" dirty="0"/>
          </a:p>
        </p:txBody>
      </p:sp>
      <p:sp>
        <p:nvSpPr>
          <p:cNvPr id="17" name="Shape 15"/>
          <p:cNvSpPr/>
          <p:nvPr/>
        </p:nvSpPr>
        <p:spPr>
          <a:xfrm>
            <a:off x="6126480" y="3584448"/>
            <a:ext cx="5486400" cy="2651760"/>
          </a:xfrm>
          <a:prstGeom prst="roundRect">
            <a:avLst>
              <a:gd name="adj" fmla="val 2759"/>
            </a:avLst>
          </a:prstGeom>
          <a:solidFill>
            <a:srgbClr val="1E2F45"/>
          </a:solidFill>
          <a:ln w="12700">
            <a:solidFill>
              <a:srgbClr val="2DC653"/>
            </a:solidFill>
            <a:prstDash val="solid"/>
          </a:ln>
        </p:spPr>
      </p:sp>
      <p:sp>
        <p:nvSpPr>
          <p:cNvPr id="18" name="Text 16"/>
          <p:cNvSpPr/>
          <p:nvPr/>
        </p:nvSpPr>
        <p:spPr>
          <a:xfrm>
            <a:off x="6126480" y="3675888"/>
            <a:ext cx="1005840" cy="2377440"/>
          </a:xfrm>
          <a:prstGeom prst="rect">
            <a:avLst/>
          </a:prstGeom>
          <a:noFill/>
          <a:ln/>
        </p:spPr>
        <p:txBody>
          <a:bodyPr wrap="square" rtlCol="0" anchor="ctr"/>
          <a:lstStyle/>
          <a:p>
            <a:pPr algn="ctr" indent="0" marL="0">
              <a:buNone/>
            </a:pPr>
            <a:r>
              <a:rPr lang="en-US" sz="3800" dirty="0">
                <a:solidFill>
                  <a:srgbClr val="000000"/>
                </a:solidFill>
              </a:rPr>
              <a:t>⚡</a:t>
            </a:r>
            <a:endParaRPr lang="en-US" sz="3800" dirty="0"/>
          </a:p>
        </p:txBody>
      </p:sp>
      <p:sp>
        <p:nvSpPr>
          <p:cNvPr id="19" name="Text 17"/>
          <p:cNvSpPr/>
          <p:nvPr/>
        </p:nvSpPr>
        <p:spPr>
          <a:xfrm>
            <a:off x="7223760" y="3675888"/>
            <a:ext cx="4206240" cy="475488"/>
          </a:xfrm>
          <a:prstGeom prst="rect">
            <a:avLst/>
          </a:prstGeom>
          <a:noFill/>
          <a:ln/>
        </p:spPr>
        <p:txBody>
          <a:bodyPr wrap="square" rtlCol="0" anchor="ctr"/>
          <a:lstStyle/>
          <a:p>
            <a:pPr indent="0" marL="0">
              <a:buNone/>
            </a:pPr>
            <a:r>
              <a:rPr lang="en-US" sz="1600" b="1" dirty="0">
                <a:solidFill>
                  <a:srgbClr val="2DC653"/>
                </a:solidFill>
                <a:latin typeface="Calibri" pitchFamily="34" charset="0"/>
                <a:ea typeface="Calibri" pitchFamily="34" charset="-122"/>
                <a:cs typeface="Calibri" pitchFamily="34" charset="-120"/>
              </a:rPr>
              <a:t>ELECTRICAL</a:t>
            </a:r>
            <a:endParaRPr lang="en-US" sz="1600" dirty="0"/>
          </a:p>
        </p:txBody>
      </p:sp>
      <p:sp>
        <p:nvSpPr>
          <p:cNvPr id="20" name="Text 18"/>
          <p:cNvSpPr/>
          <p:nvPr/>
        </p:nvSpPr>
        <p:spPr>
          <a:xfrm>
            <a:off x="7223760" y="4224528"/>
            <a:ext cx="4206240" cy="18288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Moves through conducting materials (wires, metals). Powers lights, motors, and devices.</a:t>
            </a:r>
            <a:endParaRPr lang="en-US" sz="1200" dirty="0"/>
          </a:p>
        </p:txBody>
      </p:sp>
      <p:sp>
        <p:nvSpPr>
          <p:cNvPr id="21" name="Shape 19"/>
          <p:cNvSpPr/>
          <p:nvPr/>
        </p:nvSpPr>
        <p:spPr>
          <a:xfrm>
            <a:off x="0" y="6629400"/>
            <a:ext cx="12192000" cy="228600"/>
          </a:xfrm>
          <a:prstGeom prst="rect">
            <a:avLst/>
          </a:prstGeom>
          <a:solidFill>
            <a:srgbClr val="162233"/>
          </a:solidFill>
          <a:ln/>
        </p:spPr>
      </p:sp>
      <p:sp>
        <p:nvSpPr>
          <p:cNvPr id="22" name="Text 2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20-01  ·  How Does Energy Move?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Heat Transfer: 3 Ways Heat Moves</a:t>
            </a:r>
            <a:endParaRPr lang="en-US" sz="1600" dirty="0"/>
          </a:p>
        </p:txBody>
      </p:sp>
      <p:sp>
        <p:nvSpPr>
          <p:cNvPr id="5" name="Shape 3"/>
          <p:cNvSpPr/>
          <p:nvPr/>
        </p:nvSpPr>
        <p:spPr>
          <a:xfrm>
            <a:off x="365760" y="749808"/>
            <a:ext cx="3749040" cy="5212080"/>
          </a:xfrm>
          <a:prstGeom prst="roundRect">
            <a:avLst>
              <a:gd name="adj" fmla="val 1951"/>
            </a:avLst>
          </a:prstGeom>
          <a:solidFill>
            <a:srgbClr val="1E2F45"/>
          </a:solidFill>
          <a:ln w="12700">
            <a:solidFill>
              <a:srgbClr val="F4736A"/>
            </a:solidFill>
            <a:prstDash val="solid"/>
          </a:ln>
        </p:spPr>
      </p:sp>
      <p:sp>
        <p:nvSpPr>
          <p:cNvPr id="6" name="Text 4"/>
          <p:cNvSpPr/>
          <p:nvPr/>
        </p:nvSpPr>
        <p:spPr>
          <a:xfrm>
            <a:off x="365760" y="841248"/>
            <a:ext cx="3749040" cy="749808"/>
          </a:xfrm>
          <a:prstGeom prst="rect">
            <a:avLst/>
          </a:prstGeom>
          <a:noFill/>
          <a:ln/>
        </p:spPr>
        <p:txBody>
          <a:bodyPr wrap="square" rtlCol="0" anchor="ctr"/>
          <a:lstStyle/>
          <a:p>
            <a:pPr algn="ctr" indent="0" marL="0">
              <a:buNone/>
            </a:pPr>
            <a:r>
              <a:rPr lang="en-US" sz="3800" dirty="0">
                <a:solidFill>
                  <a:srgbClr val="000000"/>
                </a:solidFill>
              </a:rPr>
              <a:t>🍳</a:t>
            </a:r>
            <a:endParaRPr lang="en-US" sz="3800" dirty="0"/>
          </a:p>
        </p:txBody>
      </p:sp>
      <p:sp>
        <p:nvSpPr>
          <p:cNvPr id="7" name="Text 5"/>
          <p:cNvSpPr/>
          <p:nvPr/>
        </p:nvSpPr>
        <p:spPr>
          <a:xfrm>
            <a:off x="457200" y="1645920"/>
            <a:ext cx="3566160" cy="438912"/>
          </a:xfrm>
          <a:prstGeom prst="rect">
            <a:avLst/>
          </a:prstGeom>
          <a:noFill/>
          <a:ln/>
        </p:spPr>
        <p:txBody>
          <a:bodyPr wrap="square" rtlCol="0" anchor="ctr"/>
          <a:lstStyle/>
          <a:p>
            <a:pPr algn="ctr" indent="0" marL="0">
              <a:buNone/>
            </a:pPr>
            <a:r>
              <a:rPr lang="en-US" sz="1400" b="1" dirty="0">
                <a:solidFill>
                  <a:srgbClr val="F4736A"/>
                </a:solidFill>
                <a:latin typeface="Calibri" pitchFamily="34" charset="0"/>
                <a:ea typeface="Calibri" pitchFamily="34" charset="-122"/>
                <a:cs typeface="Calibri" pitchFamily="34" charset="-120"/>
              </a:rPr>
              <a:t>CONDUCTION</a:t>
            </a:r>
            <a:endParaRPr lang="en-US" sz="1400" dirty="0"/>
          </a:p>
        </p:txBody>
      </p:sp>
      <p:sp>
        <p:nvSpPr>
          <p:cNvPr id="8" name="Text 6"/>
          <p:cNvSpPr/>
          <p:nvPr/>
        </p:nvSpPr>
        <p:spPr>
          <a:xfrm>
            <a:off x="502920" y="2148840"/>
            <a:ext cx="3566160" cy="36576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Heat moves through direct contact between objects. Example: metal spoon gets hot in soup.</a:t>
            </a:r>
            <a:endParaRPr lang="en-US" sz="1200" dirty="0"/>
          </a:p>
        </p:txBody>
      </p:sp>
      <p:sp>
        <p:nvSpPr>
          <p:cNvPr id="9" name="Shape 7"/>
          <p:cNvSpPr/>
          <p:nvPr/>
        </p:nvSpPr>
        <p:spPr>
          <a:xfrm>
            <a:off x="4297680" y="749808"/>
            <a:ext cx="3749040" cy="5212080"/>
          </a:xfrm>
          <a:prstGeom prst="roundRect">
            <a:avLst>
              <a:gd name="adj" fmla="val 1951"/>
            </a:avLst>
          </a:prstGeom>
          <a:solidFill>
            <a:srgbClr val="1E2F45"/>
          </a:solidFill>
          <a:ln w="12700">
            <a:solidFill>
              <a:srgbClr val="FFB703"/>
            </a:solidFill>
            <a:prstDash val="solid"/>
          </a:ln>
        </p:spPr>
      </p:sp>
      <p:sp>
        <p:nvSpPr>
          <p:cNvPr id="10" name="Text 8"/>
          <p:cNvSpPr/>
          <p:nvPr/>
        </p:nvSpPr>
        <p:spPr>
          <a:xfrm>
            <a:off x="4297680" y="841248"/>
            <a:ext cx="3749040" cy="749808"/>
          </a:xfrm>
          <a:prstGeom prst="rect">
            <a:avLst/>
          </a:prstGeom>
          <a:noFill/>
          <a:ln/>
        </p:spPr>
        <p:txBody>
          <a:bodyPr wrap="square" rtlCol="0" anchor="ctr"/>
          <a:lstStyle/>
          <a:p>
            <a:pPr algn="ctr" indent="0" marL="0">
              <a:buNone/>
            </a:pPr>
            <a:r>
              <a:rPr lang="en-US" sz="3800" dirty="0">
                <a:solidFill>
                  <a:srgbClr val="000000"/>
                </a:solidFill>
              </a:rPr>
              <a:t>🌊</a:t>
            </a:r>
            <a:endParaRPr lang="en-US" sz="3800" dirty="0"/>
          </a:p>
        </p:txBody>
      </p:sp>
      <p:sp>
        <p:nvSpPr>
          <p:cNvPr id="11" name="Text 9"/>
          <p:cNvSpPr/>
          <p:nvPr/>
        </p:nvSpPr>
        <p:spPr>
          <a:xfrm>
            <a:off x="4389120" y="1645920"/>
            <a:ext cx="3566160" cy="438912"/>
          </a:xfrm>
          <a:prstGeom prst="rect">
            <a:avLst/>
          </a:prstGeom>
          <a:noFill/>
          <a:ln/>
        </p:spPr>
        <p:txBody>
          <a:bodyPr wrap="square" rtlCol="0" anchor="ctr"/>
          <a:lstStyle/>
          <a:p>
            <a:pPr algn="ctr" indent="0" marL="0">
              <a:buNone/>
            </a:pPr>
            <a:r>
              <a:rPr lang="en-US" sz="1400" b="1" dirty="0">
                <a:solidFill>
                  <a:srgbClr val="FFB703"/>
                </a:solidFill>
                <a:latin typeface="Calibri" pitchFamily="34" charset="0"/>
                <a:ea typeface="Calibri" pitchFamily="34" charset="-122"/>
                <a:cs typeface="Calibri" pitchFamily="34" charset="-120"/>
              </a:rPr>
              <a:t>CONVECTION</a:t>
            </a:r>
            <a:endParaRPr lang="en-US" sz="1400" dirty="0"/>
          </a:p>
        </p:txBody>
      </p:sp>
      <p:sp>
        <p:nvSpPr>
          <p:cNvPr id="12" name="Text 10"/>
          <p:cNvSpPr/>
          <p:nvPr/>
        </p:nvSpPr>
        <p:spPr>
          <a:xfrm>
            <a:off x="4434840" y="2148840"/>
            <a:ext cx="3566160" cy="36576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Heat moves through fluids (liquids and gases) by currents. Example: warm air rises, cool air sinks.</a:t>
            </a:r>
            <a:endParaRPr lang="en-US" sz="1200" dirty="0"/>
          </a:p>
        </p:txBody>
      </p:sp>
      <p:sp>
        <p:nvSpPr>
          <p:cNvPr id="13" name="Shape 11"/>
          <p:cNvSpPr/>
          <p:nvPr/>
        </p:nvSpPr>
        <p:spPr>
          <a:xfrm>
            <a:off x="8229600" y="749808"/>
            <a:ext cx="3749040" cy="5212080"/>
          </a:xfrm>
          <a:prstGeom prst="roundRect">
            <a:avLst>
              <a:gd name="adj" fmla="val 1951"/>
            </a:avLst>
          </a:prstGeom>
          <a:solidFill>
            <a:srgbClr val="1E2F45"/>
          </a:solidFill>
          <a:ln w="12700">
            <a:solidFill>
              <a:srgbClr val="4CC9F0"/>
            </a:solidFill>
            <a:prstDash val="solid"/>
          </a:ln>
        </p:spPr>
      </p:sp>
      <p:sp>
        <p:nvSpPr>
          <p:cNvPr id="14" name="Text 12"/>
          <p:cNvSpPr/>
          <p:nvPr/>
        </p:nvSpPr>
        <p:spPr>
          <a:xfrm>
            <a:off x="8229600" y="841248"/>
            <a:ext cx="3749040" cy="749808"/>
          </a:xfrm>
          <a:prstGeom prst="rect">
            <a:avLst/>
          </a:prstGeom>
          <a:noFill/>
          <a:ln/>
        </p:spPr>
        <p:txBody>
          <a:bodyPr wrap="square" rtlCol="0" anchor="ctr"/>
          <a:lstStyle/>
          <a:p>
            <a:pPr algn="ctr" indent="0" marL="0">
              <a:buNone/>
            </a:pPr>
            <a:r>
              <a:rPr lang="en-US" sz="3800" dirty="0">
                <a:solidFill>
                  <a:srgbClr val="000000"/>
                </a:solidFill>
              </a:rPr>
              <a:t>☀️</a:t>
            </a:r>
            <a:endParaRPr lang="en-US" sz="3800" dirty="0"/>
          </a:p>
        </p:txBody>
      </p:sp>
      <p:sp>
        <p:nvSpPr>
          <p:cNvPr id="15" name="Text 13"/>
          <p:cNvSpPr/>
          <p:nvPr/>
        </p:nvSpPr>
        <p:spPr>
          <a:xfrm>
            <a:off x="8321040" y="1645920"/>
            <a:ext cx="3566160" cy="438912"/>
          </a:xfrm>
          <a:prstGeom prst="rect">
            <a:avLst/>
          </a:prstGeom>
          <a:noFill/>
          <a:ln/>
        </p:spPr>
        <p:txBody>
          <a:bodyPr wrap="square" rtlCol="0" anchor="ctr"/>
          <a:lstStyle/>
          <a:p>
            <a:pPr algn="ctr" indent="0" marL="0">
              <a:buNone/>
            </a:pPr>
            <a:r>
              <a:rPr lang="en-US" sz="1400" b="1" dirty="0">
                <a:solidFill>
                  <a:srgbClr val="4CC9F0"/>
                </a:solidFill>
                <a:latin typeface="Calibri" pitchFamily="34" charset="0"/>
                <a:ea typeface="Calibri" pitchFamily="34" charset="-122"/>
                <a:cs typeface="Calibri" pitchFamily="34" charset="-120"/>
              </a:rPr>
              <a:t>RADIATION</a:t>
            </a:r>
            <a:endParaRPr lang="en-US" sz="1400" dirty="0"/>
          </a:p>
        </p:txBody>
      </p:sp>
      <p:sp>
        <p:nvSpPr>
          <p:cNvPr id="16" name="Text 14"/>
          <p:cNvSpPr/>
          <p:nvPr/>
        </p:nvSpPr>
        <p:spPr>
          <a:xfrm>
            <a:off x="8366760" y="2148840"/>
            <a:ext cx="3566160" cy="365760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Heat travels as energy waves — no matter needed. Example: the sun warms Earth through empty space.</a:t>
            </a:r>
            <a:endParaRPr lang="en-US" sz="1200" dirty="0"/>
          </a:p>
        </p:txBody>
      </p:sp>
      <p:sp>
        <p:nvSpPr>
          <p:cNvPr id="17" name="Shape 15"/>
          <p:cNvSpPr/>
          <p:nvPr/>
        </p:nvSpPr>
        <p:spPr>
          <a:xfrm>
            <a:off x="0" y="6629400"/>
            <a:ext cx="12192000" cy="228600"/>
          </a:xfrm>
          <a:prstGeom prst="rect">
            <a:avLst/>
          </a:prstGeom>
          <a:solidFill>
            <a:srgbClr val="162233"/>
          </a:solidFill>
          <a:ln/>
        </p:spPr>
      </p:sp>
      <p:sp>
        <p:nvSpPr>
          <p:cNvPr id="18" name="Text 16"/>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20-01  ·  How Does Energy Move?</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Energy Sources and How Energy Moves</a:t>
            </a:r>
            <a:endParaRPr lang="en-US" sz="1600" dirty="0"/>
          </a:p>
        </p:txBody>
      </p:sp>
      <p:sp>
        <p:nvSpPr>
          <p:cNvPr id="5" name="Shape 3"/>
          <p:cNvSpPr/>
          <p:nvPr/>
        </p:nvSpPr>
        <p:spPr>
          <a:xfrm>
            <a:off x="365760" y="749808"/>
            <a:ext cx="5303520" cy="5029200"/>
          </a:xfrm>
          <a:prstGeom prst="roundRect">
            <a:avLst>
              <a:gd name="adj" fmla="val 1455"/>
            </a:avLst>
          </a:prstGeom>
          <a:solidFill>
            <a:srgbClr val="0A1520"/>
          </a:solidFill>
          <a:ln w="19050">
            <a:solidFill>
              <a:srgbClr val="4CC9F0"/>
            </a:solidFill>
            <a:prstDash val="dash"/>
          </a:ln>
        </p:spPr>
      </p:sp>
      <p:sp>
        <p:nvSpPr>
          <p:cNvPr id="6" name="Text 4"/>
          <p:cNvSpPr/>
          <p:nvPr/>
        </p:nvSpPr>
        <p:spPr>
          <a:xfrm>
            <a:off x="457200" y="859536"/>
            <a:ext cx="51206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457200" y="1298448"/>
            <a:ext cx="5120640" cy="292608"/>
          </a:xfrm>
          <a:prstGeom prst="rect">
            <a:avLst/>
          </a:prstGeom>
          <a:noFill/>
          <a:ln/>
        </p:spPr>
        <p:txBody>
          <a:bodyPr wrap="square" rtlCol="0" anchor="ctr"/>
          <a:lstStyle/>
          <a:p>
            <a:pPr algn="ctr" indent="0" marL="0">
              <a:buNone/>
            </a:pPr>
            <a:r>
              <a:rPr lang="en-US" sz="1000" b="1" dirty="0">
                <a:solidFill>
                  <a:srgbClr val="4CC9F0"/>
                </a:solidFill>
                <a:latin typeface="Calibri" pitchFamily="34" charset="0"/>
                <a:ea typeface="Calibri" pitchFamily="34" charset="-122"/>
                <a:cs typeface="Calibri" pitchFamily="34" charset="-120"/>
              </a:rPr>
              <a:t>INSERT IMAGE</a:t>
            </a:r>
            <a:endParaRPr lang="en-US" sz="1000" dirty="0"/>
          </a:p>
        </p:txBody>
      </p:sp>
      <p:sp>
        <p:nvSpPr>
          <p:cNvPr id="8" name="Text 6"/>
          <p:cNvSpPr/>
          <p:nvPr/>
        </p:nvSpPr>
        <p:spPr>
          <a:xfrm>
            <a:off x="475488" y="1591056"/>
            <a:ext cx="5084064" cy="3977640"/>
          </a:xfrm>
          <a:prstGeom prst="rect">
            <a:avLst/>
          </a:prstGeom>
          <a:noFill/>
          <a:ln/>
        </p:spPr>
        <p:txBody>
          <a:bodyPr wrap="square" rtlCol="0" anchor="t"/>
          <a:lstStyle/>
          <a:p>
            <a:pPr algn="ctr" indent="0" marL="0">
              <a:buNone/>
            </a:pPr>
            <a:r>
              <a:rPr lang="en-US" sz="950" i="1" dirty="0">
                <a:solidFill>
                  <a:srgbClr val="B0C4D8"/>
                </a:solidFill>
                <a:latin typeface="Calibri" pitchFamily="34" charset="0"/>
                <a:ea typeface="Calibri" pitchFamily="34" charset="-122"/>
                <a:cs typeface="Calibri" pitchFamily="34" charset="-120"/>
              </a:rPr>
              <a:t>🔍 Suggested search:</a:t>
            </a:r>
            <a:endParaRPr lang="en-US" sz="950" dirty="0"/>
          </a:p>
          <a:p>
            <a:pPr algn="ctr" indent="0" marL="0">
              <a:buNone/>
            </a:pPr>
            <a:r>
              <a:rPr lang="en-US" sz="950" i="1" dirty="0">
                <a:solidFill>
                  <a:srgbClr val="B0C4D8"/>
                </a:solidFill>
                <a:latin typeface="Calibri" pitchFamily="34" charset="0"/>
                <a:ea typeface="Calibri" pitchFamily="34" charset="-122"/>
                <a:cs typeface="Calibri" pitchFamily="34" charset="-120"/>
              </a:rPr>
              <a:t>"energy flow diagram sun to plant to animal food chain heat light"</a:t>
            </a:r>
            <a:endParaRPr lang="en-US" sz="950" dirty="0"/>
          </a:p>
        </p:txBody>
      </p:sp>
      <p:sp>
        <p:nvSpPr>
          <p:cNvPr id="9" name="Text 7"/>
          <p:cNvSpPr/>
          <p:nvPr/>
        </p:nvSpPr>
        <p:spPr>
          <a:xfrm>
            <a:off x="365760" y="5815584"/>
            <a:ext cx="5303520" cy="256032"/>
          </a:xfrm>
          <a:prstGeom prst="rect">
            <a:avLst/>
          </a:prstGeom>
          <a:noFill/>
          <a:ln/>
        </p:spPr>
        <p:txBody>
          <a:bodyPr wrap="square" rtlCol="0" anchor="ctr"/>
          <a:lstStyle/>
          <a:p>
            <a:pPr algn="ctr" indent="0" marL="0">
              <a:buNone/>
            </a:pPr>
            <a:r>
              <a:rPr lang="en-US" sz="900" i="1" dirty="0">
                <a:solidFill>
                  <a:srgbClr val="8899AA"/>
                </a:solidFill>
                <a:latin typeface="Calibri" pitchFamily="34" charset="0"/>
                <a:ea typeface="Calibri" pitchFamily="34" charset="-122"/>
                <a:cs typeface="Calibri" pitchFamily="34" charset="-120"/>
              </a:rPr>
              <a:t>Energy flow: from source to receiver — light, heat, sound, electrical</a:t>
            </a:r>
            <a:endParaRPr lang="en-US" sz="900" dirty="0"/>
          </a:p>
        </p:txBody>
      </p:sp>
      <p:sp>
        <p:nvSpPr>
          <p:cNvPr id="10" name="Shape 8"/>
          <p:cNvSpPr/>
          <p:nvPr/>
        </p:nvSpPr>
        <p:spPr>
          <a:xfrm>
            <a:off x="5852160" y="749808"/>
            <a:ext cx="5943600" cy="5029200"/>
          </a:xfrm>
          <a:prstGeom prst="roundRect">
            <a:avLst>
              <a:gd name="adj" fmla="val 1455"/>
            </a:avLst>
          </a:prstGeom>
          <a:solidFill>
            <a:srgbClr val="1E2F45"/>
          </a:solidFill>
          <a:ln w="12700">
            <a:solidFill>
              <a:srgbClr val="2DC653"/>
            </a:solidFill>
            <a:prstDash val="solid"/>
          </a:ln>
        </p:spPr>
      </p:sp>
      <p:sp>
        <p:nvSpPr>
          <p:cNvPr id="11" name="Text 9"/>
          <p:cNvSpPr/>
          <p:nvPr/>
        </p:nvSpPr>
        <p:spPr>
          <a:xfrm>
            <a:off x="6035040" y="822960"/>
            <a:ext cx="56692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In your notebook — trace the energy:</a:t>
            </a:r>
            <a:endParaRPr lang="en-US" sz="1200" dirty="0"/>
          </a:p>
        </p:txBody>
      </p:sp>
      <p:sp>
        <p:nvSpPr>
          <p:cNvPr id="12" name="Text 10"/>
          <p:cNvSpPr/>
          <p:nvPr/>
        </p:nvSpPr>
        <p:spPr>
          <a:xfrm>
            <a:off x="6035040" y="1234440"/>
            <a:ext cx="5669280" cy="440740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Pick ONE energy transfer from today. Draw and label:</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1. The SOURCE (where energy starts)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2. HOW it travels (heat/light/sound/electrical)</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3. The RECEIVER (what gets the energy)</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4. What happens to the receiver when it gets the energy?</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Example: Sun (source) → light waves → plant leaf (receiver) → plant grows</a:t>
            </a:r>
            <a:endParaRPr lang="en-US" sz="1200" dirty="0"/>
          </a:p>
        </p:txBody>
      </p:sp>
      <p:sp>
        <p:nvSpPr>
          <p:cNvPr id="13" name="Shape 11"/>
          <p:cNvSpPr/>
          <p:nvPr/>
        </p:nvSpPr>
        <p:spPr>
          <a:xfrm>
            <a:off x="0" y="6629400"/>
            <a:ext cx="12192000" cy="228600"/>
          </a:xfrm>
          <a:prstGeom prst="rect">
            <a:avLst/>
          </a:prstGeom>
          <a:solidFill>
            <a:srgbClr val="162233"/>
          </a:solidFill>
          <a:ln/>
        </p:spPr>
      </p:sp>
      <p:sp>
        <p:nvSpPr>
          <p:cNvPr id="14" name="Text 1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20-01  ·  How Does Energy Move?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Scientific Discussion</a:t>
            </a:r>
            <a:endParaRPr lang="en-US" sz="1600" dirty="0"/>
          </a:p>
        </p:txBody>
      </p:sp>
      <p:sp>
        <p:nvSpPr>
          <p:cNvPr id="5" name="Shape 3"/>
          <p:cNvSpPr/>
          <p:nvPr/>
        </p:nvSpPr>
        <p:spPr>
          <a:xfrm>
            <a:off x="365760" y="749808"/>
            <a:ext cx="11430000" cy="2011680"/>
          </a:xfrm>
          <a:prstGeom prst="roundRect">
            <a:avLst>
              <a:gd name="adj" fmla="val 3636"/>
            </a:avLst>
          </a:prstGeom>
          <a:solidFill>
            <a:srgbClr val="162233"/>
          </a:solidFill>
          <a:ln w="12700">
            <a:solidFill>
              <a:srgbClr val="FFB703"/>
            </a:solidFill>
            <a:prstDash val="solid"/>
          </a:ln>
        </p:spPr>
      </p:sp>
      <p:sp>
        <p:nvSpPr>
          <p:cNvPr id="6" name="Text 4"/>
          <p:cNvSpPr/>
          <p:nvPr/>
        </p:nvSpPr>
        <p:spPr>
          <a:xfrm>
            <a:off x="530352" y="822960"/>
            <a:ext cx="11100816" cy="347472"/>
          </a:xfrm>
          <a:prstGeom prst="rect">
            <a:avLst/>
          </a:prstGeom>
          <a:noFill/>
          <a:ln/>
        </p:spPr>
        <p:txBody>
          <a:bodyPr wrap="square" rtlCol="0" anchor="ctr"/>
          <a:lstStyle/>
          <a:p>
            <a:pPr indent="0" marL="0">
              <a:buNone/>
            </a:pPr>
            <a:r>
              <a:rPr lang="en-US" sz="1300" b="1" dirty="0">
                <a:solidFill>
                  <a:srgbClr val="FFB703"/>
                </a:solidFill>
                <a:latin typeface="Calibri" pitchFamily="34" charset="0"/>
                <a:ea typeface="Calibri" pitchFamily="34" charset="-122"/>
                <a:cs typeface="Calibri" pitchFamily="34" charset="-120"/>
              </a:rPr>
              <a:t>Discussion Question:</a:t>
            </a:r>
            <a:endParaRPr lang="en-US" sz="1300" dirty="0"/>
          </a:p>
        </p:txBody>
      </p:sp>
      <p:sp>
        <p:nvSpPr>
          <p:cNvPr id="7" name="Text 5"/>
          <p:cNvSpPr/>
          <p:nvPr/>
        </p:nvSpPr>
        <p:spPr>
          <a:xfrm>
            <a:off x="530352" y="1188720"/>
            <a:ext cx="11100816" cy="1463040"/>
          </a:xfrm>
          <a:prstGeom prst="rect">
            <a:avLst/>
          </a:prstGeom>
          <a:noFill/>
          <a:ln/>
        </p:spPr>
        <p:txBody>
          <a:bodyPr wrap="square" rtlCol="0" anchor="t"/>
          <a:lstStyle/>
          <a:p>
            <a:pPr algn="l" indent="0" marL="0">
              <a:buNone/>
            </a:pPr>
            <a:r>
              <a:rPr lang="en-US" sz="1300" i="1" dirty="0">
                <a:solidFill>
                  <a:srgbClr val="FFFFFF"/>
                </a:solidFill>
                <a:latin typeface="Calibri" pitchFamily="34" charset="0"/>
                <a:ea typeface="Calibri" pitchFamily="34" charset="-122"/>
                <a:cs typeface="Calibri" pitchFamily="34" charset="-120"/>
              </a:rPr>
              <a:t>Sound cannot travel through empty space, but light can. This means astronauts in space can see each other but cannot hear each other without radios. Why? What does this tell us about how these two types of energy travel?</a:t>
            </a:r>
            <a:endParaRPr lang="en-US" sz="1300" dirty="0"/>
          </a:p>
        </p:txBody>
      </p:sp>
      <p:sp>
        <p:nvSpPr>
          <p:cNvPr id="8" name="Shape 6"/>
          <p:cNvSpPr/>
          <p:nvPr/>
        </p:nvSpPr>
        <p:spPr>
          <a:xfrm>
            <a:off x="365760" y="2907792"/>
            <a:ext cx="11430000" cy="1298448"/>
          </a:xfrm>
          <a:prstGeom prst="roundRect">
            <a:avLst>
              <a:gd name="adj" fmla="val 5634"/>
            </a:avLst>
          </a:prstGeom>
          <a:solidFill>
            <a:srgbClr val="1E2F45"/>
          </a:solidFill>
          <a:ln w="12700">
            <a:solidFill>
              <a:srgbClr val="2DC653"/>
            </a:solidFill>
            <a:prstDash val="solid"/>
          </a:ln>
        </p:spPr>
      </p:sp>
      <p:sp>
        <p:nvSpPr>
          <p:cNvPr id="9" name="Text 7"/>
          <p:cNvSpPr/>
          <p:nvPr/>
        </p:nvSpPr>
        <p:spPr>
          <a:xfrm>
            <a:off x="548640" y="2971800"/>
            <a:ext cx="11155680" cy="329184"/>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Argumentation Starters:</a:t>
            </a:r>
            <a:endParaRPr lang="en-US" sz="1200" dirty="0"/>
          </a:p>
        </p:txBody>
      </p:sp>
      <p:sp>
        <p:nvSpPr>
          <p:cNvPr id="10" name="Text 8"/>
          <p:cNvSpPr/>
          <p:nvPr/>
        </p:nvSpPr>
        <p:spPr>
          <a:xfrm>
            <a:off x="548640" y="3337560"/>
            <a:ext cx="11155680" cy="749808"/>
          </a:xfrm>
          <a:prstGeom prst="rect">
            <a:avLst/>
          </a:prstGeom>
          <a:noFill/>
          <a:ln/>
        </p:spPr>
        <p:txBody>
          <a:bodyPr wrap="square" rtlCol="0" anchor="ctr"/>
          <a:lstStyle/>
          <a:p>
            <a:pPr indent="0" marL="0">
              <a:buNone/>
            </a:pPr>
            <a:r>
              <a:rPr lang="en-US" sz="1200" i="1" dirty="0">
                <a:solidFill>
                  <a:srgbClr val="B0C4D8"/>
                </a:solidFill>
                <a:latin typeface="Calibri" pitchFamily="34" charset="0"/>
                <a:ea typeface="Calibri" pitchFamily="34" charset="-122"/>
                <a:cs typeface="Calibri" pitchFamily="34" charset="-120"/>
              </a:rPr>
              <a:t>"Sound cannot travel through space because it needs ___."  "Light can travel through space because ___."  "This evidence shows that the two types of energy are different because ___."</a:t>
            </a:r>
            <a:endParaRPr lang="en-US" sz="1200" dirty="0"/>
          </a:p>
        </p:txBody>
      </p:sp>
      <p:sp>
        <p:nvSpPr>
          <p:cNvPr id="11" name="Shape 9"/>
          <p:cNvSpPr/>
          <p:nvPr/>
        </p:nvSpPr>
        <p:spPr>
          <a:xfrm>
            <a:off x="0" y="6629400"/>
            <a:ext cx="12192000" cy="228600"/>
          </a:xfrm>
          <a:prstGeom prst="rect">
            <a:avLst/>
          </a:prstGeom>
          <a:solidFill>
            <a:srgbClr val="162233"/>
          </a:solidFill>
          <a:ln/>
        </p:spPr>
      </p:sp>
      <p:sp>
        <p:nvSpPr>
          <p:cNvPr id="12" name="Text 10"/>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20-01  ·  How Does Energy Move?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CER Stage 2: Claim + Evidence — Energy Transfer</a:t>
            </a:r>
            <a:endParaRPr lang="en-US" sz="1600" dirty="0"/>
          </a:p>
        </p:txBody>
      </p:sp>
      <p:sp>
        <p:nvSpPr>
          <p:cNvPr id="5" name="Shape 3"/>
          <p:cNvSpPr/>
          <p:nvPr/>
        </p:nvSpPr>
        <p:spPr>
          <a:xfrm>
            <a:off x="365760" y="749808"/>
            <a:ext cx="5394960" cy="5349240"/>
          </a:xfrm>
          <a:prstGeom prst="roundRect">
            <a:avLst>
              <a:gd name="adj" fmla="val 1709"/>
            </a:avLst>
          </a:prstGeom>
          <a:solidFill>
            <a:srgbClr val="0A3D8F"/>
          </a:solidFill>
          <a:ln w="19050">
            <a:solidFill>
              <a:srgbClr val="1A5FBD"/>
            </a:solidFill>
            <a:prstDash val="solid"/>
          </a:ln>
        </p:spPr>
      </p:sp>
      <p:sp>
        <p:nvSpPr>
          <p:cNvPr id="6" name="Shape 4"/>
          <p:cNvSpPr/>
          <p:nvPr/>
        </p:nvSpPr>
        <p:spPr>
          <a:xfrm>
            <a:off x="365760" y="749808"/>
            <a:ext cx="5394960" cy="347472"/>
          </a:xfrm>
          <a:prstGeom prst="rect">
            <a:avLst/>
          </a:prstGeom>
          <a:solidFill>
            <a:srgbClr val="1A5FBD"/>
          </a:solidFill>
          <a:ln w="12700">
            <a:solidFill>
              <a:srgbClr val="1A5FBD"/>
            </a:solidFill>
            <a:prstDash val="solid"/>
          </a:ln>
        </p:spPr>
      </p:sp>
      <p:sp>
        <p:nvSpPr>
          <p:cNvPr id="7" name="Text 5"/>
          <p:cNvSpPr/>
          <p:nvPr/>
        </p:nvSpPr>
        <p:spPr>
          <a:xfrm>
            <a:off x="457200" y="768096"/>
            <a:ext cx="52120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CLAIM</a:t>
            </a:r>
            <a:endParaRPr lang="en-US" sz="1200" dirty="0"/>
          </a:p>
        </p:txBody>
      </p:sp>
      <p:sp>
        <p:nvSpPr>
          <p:cNvPr id="8" name="Text 6"/>
          <p:cNvSpPr/>
          <p:nvPr/>
        </p:nvSpPr>
        <p:spPr>
          <a:xfrm>
            <a:off x="502920" y="1152144"/>
            <a:ext cx="5120640" cy="48554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Write:</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"I claim that in [situation], energy moves as [form] because ___."</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Example: "I claim that in a campfire, energy moves as heat and light because..."</a:t>
            </a:r>
            <a:endParaRPr lang="en-US" sz="1150" dirty="0"/>
          </a:p>
        </p:txBody>
      </p:sp>
      <p:sp>
        <p:nvSpPr>
          <p:cNvPr id="9" name="Shape 7"/>
          <p:cNvSpPr/>
          <p:nvPr/>
        </p:nvSpPr>
        <p:spPr>
          <a:xfrm>
            <a:off x="5943600" y="749808"/>
            <a:ext cx="5852160" cy="5349240"/>
          </a:xfrm>
          <a:prstGeom prst="roundRect">
            <a:avLst>
              <a:gd name="adj" fmla="val 1709"/>
            </a:avLst>
          </a:prstGeom>
          <a:solidFill>
            <a:srgbClr val="145C35"/>
          </a:solidFill>
          <a:ln w="19050">
            <a:solidFill>
              <a:srgbClr val="228B50"/>
            </a:solidFill>
            <a:prstDash val="solid"/>
          </a:ln>
        </p:spPr>
      </p:sp>
      <p:sp>
        <p:nvSpPr>
          <p:cNvPr id="10" name="Shape 8"/>
          <p:cNvSpPr/>
          <p:nvPr/>
        </p:nvSpPr>
        <p:spPr>
          <a:xfrm>
            <a:off x="5943600" y="749808"/>
            <a:ext cx="5852160" cy="347472"/>
          </a:xfrm>
          <a:prstGeom prst="rect">
            <a:avLst/>
          </a:prstGeom>
          <a:solidFill>
            <a:srgbClr val="228B50"/>
          </a:solidFill>
          <a:ln w="12700">
            <a:solidFill>
              <a:srgbClr val="228B50"/>
            </a:solidFill>
            <a:prstDash val="solid"/>
          </a:ln>
        </p:spPr>
      </p:sp>
      <p:sp>
        <p:nvSpPr>
          <p:cNvPr id="11" name="Text 9"/>
          <p:cNvSpPr/>
          <p:nvPr/>
        </p:nvSpPr>
        <p:spPr>
          <a:xfrm>
            <a:off x="6035040" y="768096"/>
            <a:ext cx="566928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EVIDENCE</a:t>
            </a:r>
            <a:endParaRPr lang="en-US" sz="1200" dirty="0"/>
          </a:p>
        </p:txBody>
      </p:sp>
      <p:sp>
        <p:nvSpPr>
          <p:cNvPr id="12" name="Text 10"/>
          <p:cNvSpPr/>
          <p:nvPr/>
        </p:nvSpPr>
        <p:spPr>
          <a:xfrm>
            <a:off x="6080760" y="1152144"/>
            <a:ext cx="5577840" cy="4855464"/>
          </a:xfrm>
          <a:prstGeom prst="rect">
            <a:avLst/>
          </a:prstGeom>
          <a:noFill/>
          <a:ln/>
        </p:spPr>
        <p:txBody>
          <a:bodyPr wrap="square"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Write 2 pieces of evidence:</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1. "I can observe ___ which shows energy is moving as ___"</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2. "The source is ___ and the receiver is ___, and the transfer happens by ___"</a:t>
            </a:r>
            <a:endParaRPr lang="en-US" sz="1150" dirty="0"/>
          </a:p>
          <a:p>
            <a:pPr algn="l" indent="0" marL="0">
              <a:buNone/>
            </a:pP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Evidence must be observable!</a:t>
            </a:r>
            <a:endParaRPr lang="en-US" sz="1150" dirty="0"/>
          </a:p>
        </p:txBody>
      </p:sp>
      <p:sp>
        <p:nvSpPr>
          <p:cNvPr id="13" name="Shape 11"/>
          <p:cNvSpPr/>
          <p:nvPr/>
        </p:nvSpPr>
        <p:spPr>
          <a:xfrm>
            <a:off x="0" y="6629400"/>
            <a:ext cx="12192000" cy="228600"/>
          </a:xfrm>
          <a:prstGeom prst="rect">
            <a:avLst/>
          </a:prstGeom>
          <a:solidFill>
            <a:srgbClr val="162233"/>
          </a:solidFill>
          <a:ln/>
        </p:spPr>
      </p:sp>
      <p:sp>
        <p:nvSpPr>
          <p:cNvPr id="14" name="Text 12"/>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20-01  ·  How Does Energy Move?</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Check for Understanding</a:t>
            </a:r>
            <a:endParaRPr lang="en-US" sz="1600" dirty="0"/>
          </a:p>
        </p:txBody>
      </p:sp>
      <p:sp>
        <p:nvSpPr>
          <p:cNvPr id="5" name="Shape 3"/>
          <p:cNvSpPr/>
          <p:nvPr/>
        </p:nvSpPr>
        <p:spPr>
          <a:xfrm>
            <a:off x="365760" y="749808"/>
            <a:ext cx="11430000" cy="2697480"/>
          </a:xfrm>
          <a:prstGeom prst="roundRect">
            <a:avLst>
              <a:gd name="adj" fmla="val 2712"/>
            </a:avLst>
          </a:prstGeom>
          <a:solidFill>
            <a:srgbClr val="1E2F45"/>
          </a:solidFill>
          <a:ln w="12700">
            <a:solidFill>
              <a:srgbClr val="243A52"/>
            </a:solidFill>
            <a:prstDash val="solid"/>
          </a:ln>
        </p:spPr>
      </p:sp>
      <p:sp>
        <p:nvSpPr>
          <p:cNvPr id="6" name="Text 4"/>
          <p:cNvSpPr/>
          <p:nvPr/>
        </p:nvSpPr>
        <p:spPr>
          <a:xfrm>
            <a:off x="548640" y="822960"/>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 Which type of energy transfer requires direct contact between objects?</a:t>
            </a:r>
            <a:endParaRPr lang="en-US" sz="1250" dirty="0"/>
          </a:p>
        </p:txBody>
      </p:sp>
      <p:sp>
        <p:nvSpPr>
          <p:cNvPr id="7" name="Text 5"/>
          <p:cNvSpPr/>
          <p:nvPr/>
        </p:nvSpPr>
        <p:spPr>
          <a:xfrm>
            <a:off x="731520" y="1371600"/>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Radiation</a:t>
            </a:r>
            <a:endParaRPr lang="en-US" sz="1150" dirty="0"/>
          </a:p>
        </p:txBody>
      </p:sp>
      <p:sp>
        <p:nvSpPr>
          <p:cNvPr id="8" name="Text 6"/>
          <p:cNvSpPr/>
          <p:nvPr/>
        </p:nvSpPr>
        <p:spPr>
          <a:xfrm>
            <a:off x="6400800" y="1371600"/>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B. Convection</a:t>
            </a:r>
            <a:endParaRPr lang="en-US" sz="1150" dirty="0"/>
          </a:p>
        </p:txBody>
      </p:sp>
      <p:sp>
        <p:nvSpPr>
          <p:cNvPr id="9" name="Text 7"/>
          <p:cNvSpPr/>
          <p:nvPr/>
        </p:nvSpPr>
        <p:spPr>
          <a:xfrm>
            <a:off x="731520" y="1847088"/>
            <a:ext cx="5486400" cy="420624"/>
          </a:xfrm>
          <a:prstGeom prst="rect">
            <a:avLst/>
          </a:prstGeom>
          <a:noFill/>
          <a:ln/>
        </p:spPr>
        <p:txBody>
          <a:bodyPr wrap="square" rtlCol="0" anchor="ctr"/>
          <a:lstStyle/>
          <a:p>
            <a:pPr indent="0" marL="0">
              <a:buNone/>
            </a:pPr>
            <a:r>
              <a:rPr lang="en-US" sz="1150" dirty="0">
                <a:solidFill>
                  <a:srgbClr val="2DC653"/>
                </a:solidFill>
                <a:latin typeface="Calibri" pitchFamily="34" charset="0"/>
                <a:ea typeface="Calibri" pitchFamily="34" charset="-122"/>
                <a:cs typeface="Calibri" pitchFamily="34" charset="-120"/>
              </a:rPr>
              <a:t>C. Conduction</a:t>
            </a:r>
            <a:endParaRPr lang="en-US" sz="1150" dirty="0"/>
          </a:p>
        </p:txBody>
      </p:sp>
      <p:sp>
        <p:nvSpPr>
          <p:cNvPr id="10" name="Text 8"/>
          <p:cNvSpPr/>
          <p:nvPr/>
        </p:nvSpPr>
        <p:spPr>
          <a:xfrm>
            <a:off x="6400800" y="1847088"/>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D. Light</a:t>
            </a:r>
            <a:endParaRPr lang="en-US" sz="1150" dirty="0"/>
          </a:p>
        </p:txBody>
      </p:sp>
      <p:sp>
        <p:nvSpPr>
          <p:cNvPr id="11" name="Text 9"/>
          <p:cNvSpPr/>
          <p:nvPr/>
        </p:nvSpPr>
        <p:spPr>
          <a:xfrm>
            <a:off x="9601200" y="3017520"/>
            <a:ext cx="2103120" cy="320040"/>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Answer: C</a:t>
            </a:r>
            <a:endParaRPr lang="en-US" sz="1000" dirty="0"/>
          </a:p>
        </p:txBody>
      </p:sp>
      <p:sp>
        <p:nvSpPr>
          <p:cNvPr id="12" name="Shape 10"/>
          <p:cNvSpPr/>
          <p:nvPr/>
        </p:nvSpPr>
        <p:spPr>
          <a:xfrm>
            <a:off x="365760" y="3630168"/>
            <a:ext cx="11430000" cy="2697480"/>
          </a:xfrm>
          <a:prstGeom prst="roundRect">
            <a:avLst>
              <a:gd name="adj" fmla="val 2712"/>
            </a:avLst>
          </a:prstGeom>
          <a:solidFill>
            <a:srgbClr val="1E2F45"/>
          </a:solidFill>
          <a:ln w="12700">
            <a:solidFill>
              <a:srgbClr val="243A52"/>
            </a:solidFill>
            <a:prstDash val="solid"/>
          </a:ln>
        </p:spPr>
      </p:sp>
      <p:sp>
        <p:nvSpPr>
          <p:cNvPr id="13" name="Text 11"/>
          <p:cNvSpPr/>
          <p:nvPr/>
        </p:nvSpPr>
        <p:spPr>
          <a:xfrm>
            <a:off x="548640" y="3703320"/>
            <a:ext cx="11155680" cy="50292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2. Why can't sound travel through empty space?</a:t>
            </a:r>
            <a:endParaRPr lang="en-US" sz="1250" dirty="0"/>
          </a:p>
        </p:txBody>
      </p:sp>
      <p:sp>
        <p:nvSpPr>
          <p:cNvPr id="14" name="Text 12"/>
          <p:cNvSpPr/>
          <p:nvPr/>
        </p:nvSpPr>
        <p:spPr>
          <a:xfrm>
            <a:off x="731520" y="4251960"/>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A. Sound is too slow</a:t>
            </a:r>
            <a:endParaRPr lang="en-US" sz="1150" dirty="0"/>
          </a:p>
        </p:txBody>
      </p:sp>
      <p:sp>
        <p:nvSpPr>
          <p:cNvPr id="15" name="Text 13"/>
          <p:cNvSpPr/>
          <p:nvPr/>
        </p:nvSpPr>
        <p:spPr>
          <a:xfrm>
            <a:off x="6400800" y="4251960"/>
            <a:ext cx="5486400" cy="420624"/>
          </a:xfrm>
          <a:prstGeom prst="rect">
            <a:avLst/>
          </a:prstGeom>
          <a:noFill/>
          <a:ln/>
        </p:spPr>
        <p:txBody>
          <a:bodyPr wrap="square" rtlCol="0" anchor="ctr"/>
          <a:lstStyle/>
          <a:p>
            <a:pPr indent="0" marL="0">
              <a:buNone/>
            </a:pPr>
            <a:r>
              <a:rPr lang="en-US" sz="1150" dirty="0">
                <a:solidFill>
                  <a:srgbClr val="2DC653"/>
                </a:solidFill>
                <a:latin typeface="Calibri" pitchFamily="34" charset="0"/>
                <a:ea typeface="Calibri" pitchFamily="34" charset="-122"/>
                <a:cs typeface="Calibri" pitchFamily="34" charset="-120"/>
              </a:rPr>
              <a:t>B. Sound needs matter to travel through</a:t>
            </a:r>
            <a:endParaRPr lang="en-US" sz="1150" dirty="0"/>
          </a:p>
        </p:txBody>
      </p:sp>
      <p:sp>
        <p:nvSpPr>
          <p:cNvPr id="16" name="Text 14"/>
          <p:cNvSpPr/>
          <p:nvPr/>
        </p:nvSpPr>
        <p:spPr>
          <a:xfrm>
            <a:off x="731520" y="4727448"/>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C. Sound is blocked by gravity</a:t>
            </a:r>
            <a:endParaRPr lang="en-US" sz="1150" dirty="0"/>
          </a:p>
        </p:txBody>
      </p:sp>
      <p:sp>
        <p:nvSpPr>
          <p:cNvPr id="17" name="Text 15"/>
          <p:cNvSpPr/>
          <p:nvPr/>
        </p:nvSpPr>
        <p:spPr>
          <a:xfrm>
            <a:off x="6400800" y="4727448"/>
            <a:ext cx="5486400" cy="420624"/>
          </a:xfrm>
          <a:prstGeom prst="rect">
            <a:avLst/>
          </a:prstGeom>
          <a:noFill/>
          <a:ln/>
        </p:spPr>
        <p:txBody>
          <a:bodyPr wrap="square" rtlCol="0" anchor="ctr"/>
          <a:lstStyle/>
          <a:p>
            <a:pPr indent="0" marL="0">
              <a:buNone/>
            </a:pPr>
            <a:r>
              <a:rPr lang="en-US" sz="1150" dirty="0">
                <a:solidFill>
                  <a:srgbClr val="B0C4D8"/>
                </a:solidFill>
                <a:latin typeface="Calibri" pitchFamily="34" charset="0"/>
                <a:ea typeface="Calibri" pitchFamily="34" charset="-122"/>
                <a:cs typeface="Calibri" pitchFamily="34" charset="-120"/>
              </a:rPr>
              <a:t>D. Sound only travels in water</a:t>
            </a:r>
            <a:endParaRPr lang="en-US" sz="1150" dirty="0"/>
          </a:p>
        </p:txBody>
      </p:sp>
      <p:sp>
        <p:nvSpPr>
          <p:cNvPr id="18" name="Text 16"/>
          <p:cNvSpPr/>
          <p:nvPr/>
        </p:nvSpPr>
        <p:spPr>
          <a:xfrm>
            <a:off x="9601200" y="5897880"/>
            <a:ext cx="2103120" cy="320040"/>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Answer: B</a:t>
            </a:r>
            <a:endParaRPr lang="en-US" sz="1000" dirty="0"/>
          </a:p>
        </p:txBody>
      </p:sp>
      <p:sp>
        <p:nvSpPr>
          <p:cNvPr id="19" name="Shape 17"/>
          <p:cNvSpPr/>
          <p:nvPr/>
        </p:nvSpPr>
        <p:spPr>
          <a:xfrm>
            <a:off x="0" y="6629400"/>
            <a:ext cx="12192000" cy="228600"/>
          </a:xfrm>
          <a:prstGeom prst="rect">
            <a:avLst/>
          </a:prstGeom>
          <a:solidFill>
            <a:srgbClr val="162233"/>
          </a:solidFill>
          <a:ln/>
        </p:spPr>
      </p:sp>
      <p:sp>
        <p:nvSpPr>
          <p:cNvPr id="20" name="Text 18"/>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20-01  ·  How Does Energy Move?</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594360"/>
          </a:xfrm>
          <a:prstGeom prst="rect">
            <a:avLst/>
          </a:prstGeom>
          <a:solidFill>
            <a:srgbClr val="162233"/>
          </a:solidFill>
          <a:ln/>
        </p:spPr>
      </p:sp>
      <p:sp>
        <p:nvSpPr>
          <p:cNvPr id="3" name="Shape 1"/>
          <p:cNvSpPr/>
          <p:nvPr/>
        </p:nvSpPr>
        <p:spPr>
          <a:xfrm>
            <a:off x="0" y="548640"/>
            <a:ext cx="12192000" cy="45720"/>
          </a:xfrm>
          <a:prstGeom prst="rect">
            <a:avLst/>
          </a:prstGeom>
          <a:solidFill>
            <a:srgbClr val="4CC9F0"/>
          </a:solidFill>
          <a:ln/>
        </p:spPr>
      </p:sp>
      <p:sp>
        <p:nvSpPr>
          <p:cNvPr id="4" name="Text 2"/>
          <p:cNvSpPr/>
          <p:nvPr/>
        </p:nvSpPr>
        <p:spPr>
          <a:xfrm>
            <a:off x="274320" y="45720"/>
            <a:ext cx="11612880" cy="502920"/>
          </a:xfrm>
          <a:prstGeom prst="rect">
            <a:avLst/>
          </a:prstGeom>
          <a:noFill/>
          <a:ln/>
        </p:spPr>
        <p:txBody>
          <a:bodyPr wrap="square" rtlCol="0" anchor="ctr"/>
          <a:lstStyle/>
          <a:p>
            <a:pPr algn="l" indent="0" marL="0">
              <a:buNone/>
            </a:pPr>
            <a:r>
              <a:rPr lang="en-US" sz="1600" b="1" dirty="0">
                <a:solidFill>
                  <a:srgbClr val="4CC9F0"/>
                </a:solidFill>
                <a:latin typeface="Calibri" pitchFamily="34" charset="0"/>
                <a:ea typeface="Calibri" pitchFamily="34" charset="-122"/>
                <a:cs typeface="Calibri" pitchFamily="34" charset="-120"/>
              </a:rPr>
              <a:t>🌟  Reflect + Closing</a:t>
            </a:r>
            <a:endParaRPr lang="en-US" sz="1600" dirty="0"/>
          </a:p>
        </p:txBody>
      </p:sp>
      <p:sp>
        <p:nvSpPr>
          <p:cNvPr id="5" name="Shape 3"/>
          <p:cNvSpPr/>
          <p:nvPr/>
        </p:nvSpPr>
        <p:spPr>
          <a:xfrm>
            <a:off x="365760" y="749808"/>
            <a:ext cx="11247120" cy="1417320"/>
          </a:xfrm>
          <a:prstGeom prst="roundRect">
            <a:avLst>
              <a:gd name="adj" fmla="val 5161"/>
            </a:avLst>
          </a:prstGeom>
          <a:solidFill>
            <a:srgbClr val="1E2F45"/>
          </a:solidFill>
          <a:ln w="12700">
            <a:solidFill>
              <a:srgbClr val="4CC9F0"/>
            </a:solidFill>
            <a:prstDash val="solid"/>
          </a:ln>
        </p:spPr>
      </p:sp>
      <p:sp>
        <p:nvSpPr>
          <p:cNvPr id="6" name="Text 4"/>
          <p:cNvSpPr/>
          <p:nvPr/>
        </p:nvSpPr>
        <p:spPr>
          <a:xfrm>
            <a:off x="548640" y="804672"/>
            <a:ext cx="109728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Essential Question Response — Write in your science notebook:</a:t>
            </a:r>
            <a:endParaRPr lang="en-US" sz="1200" dirty="0"/>
          </a:p>
        </p:txBody>
      </p:sp>
      <p:sp>
        <p:nvSpPr>
          <p:cNvPr id="7" name="Text 5"/>
          <p:cNvSpPr/>
          <p:nvPr/>
        </p:nvSpPr>
        <p:spPr>
          <a:xfrm>
            <a:off x="548640" y="1170432"/>
            <a:ext cx="10972800" cy="88696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"What are the different ways energy can move from one place to another?"</a:t>
            </a:r>
            <a:endParaRPr lang="en-US" sz="1300" dirty="0"/>
          </a:p>
          <a:p>
            <a:pPr indent="0" marL="0">
              <a:buNone/>
            </a:pPr>
            <a:endParaRPr lang="en-US" sz="1300" dirty="0"/>
          </a:p>
          <a:p>
            <a:pPr indent="0" marL="0">
              <a:buNone/>
            </a:pPr>
            <a:r>
              <a:rPr lang="en-US" sz="1300" i="1" dirty="0">
                <a:solidFill>
                  <a:srgbClr val="FFFFFF"/>
                </a:solidFill>
                <a:latin typeface="Calibri" pitchFamily="34" charset="0"/>
                <a:ea typeface="Calibri" pitchFamily="34" charset="-122"/>
                <a:cs typeface="Calibri" pitchFamily="34" charset="-120"/>
              </a:rPr>
              <a:t>Write 2–3 sentences using vocab words from today.</a:t>
            </a:r>
            <a:endParaRPr lang="en-US" sz="1300" dirty="0"/>
          </a:p>
        </p:txBody>
      </p:sp>
      <p:sp>
        <p:nvSpPr>
          <p:cNvPr id="8" name="Shape 6"/>
          <p:cNvSpPr/>
          <p:nvPr/>
        </p:nvSpPr>
        <p:spPr>
          <a:xfrm>
            <a:off x="365760" y="2304288"/>
            <a:ext cx="7315200" cy="2560320"/>
          </a:xfrm>
          <a:prstGeom prst="roundRect">
            <a:avLst>
              <a:gd name="adj" fmla="val 2857"/>
            </a:avLst>
          </a:prstGeom>
          <a:solidFill>
            <a:srgbClr val="1E2F45"/>
          </a:solidFill>
          <a:ln w="12700">
            <a:solidFill>
              <a:srgbClr val="2DC653"/>
            </a:solidFill>
            <a:prstDash val="solid"/>
          </a:ln>
        </p:spPr>
      </p:sp>
      <p:sp>
        <p:nvSpPr>
          <p:cNvPr id="9" name="Text 7"/>
          <p:cNvSpPr/>
          <p:nvPr/>
        </p:nvSpPr>
        <p:spPr>
          <a:xfrm>
            <a:off x="548640" y="2359152"/>
            <a:ext cx="7040880" cy="347472"/>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  What to Turn In:</a:t>
            </a:r>
            <a:endParaRPr lang="en-US" sz="1200" dirty="0"/>
          </a:p>
        </p:txBody>
      </p:sp>
      <p:sp>
        <p:nvSpPr>
          <p:cNvPr id="10" name="Text 8"/>
          <p:cNvSpPr/>
          <p:nvPr/>
        </p:nvSpPr>
        <p:spPr>
          <a:xfrm>
            <a:off x="548640" y="2743200"/>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Campfire phenomenon observations + prediction (notebook)</a:t>
            </a:r>
            <a:endParaRPr lang="en-US" sz="1100" dirty="0"/>
          </a:p>
        </p:txBody>
      </p:sp>
      <p:sp>
        <p:nvSpPr>
          <p:cNvPr id="11" name="Text 9"/>
          <p:cNvSpPr/>
          <p:nvPr/>
        </p:nvSpPr>
        <p:spPr>
          <a:xfrm>
            <a:off x="548640" y="3090672"/>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Energy source-to-receiver diagram (notebook)</a:t>
            </a:r>
            <a:endParaRPr lang="en-US" sz="1100" dirty="0"/>
          </a:p>
        </p:txBody>
      </p:sp>
      <p:sp>
        <p:nvSpPr>
          <p:cNvPr id="12" name="Text 10"/>
          <p:cNvSpPr/>
          <p:nvPr/>
        </p:nvSpPr>
        <p:spPr>
          <a:xfrm>
            <a:off x="548640" y="3438144"/>
            <a:ext cx="7040880" cy="310896"/>
          </a:xfrm>
          <a:prstGeom prst="rect">
            <a:avLst/>
          </a:prstGeom>
          <a:noFill/>
          <a:ln/>
        </p:spPr>
        <p:txBody>
          <a:bodyPr wrap="square" rtlCol="0" anchor="ctr"/>
          <a:lstStyle/>
          <a:p>
            <a:pPr indent="0" marL="0">
              <a:buNone/>
            </a:pPr>
            <a:r>
              <a:rPr lang="en-US" sz="1100" dirty="0">
                <a:solidFill>
                  <a:srgbClr val="B0C4D8"/>
                </a:solidFill>
                <a:latin typeface="Calibri" pitchFamily="34" charset="0"/>
                <a:ea typeface="Calibri" pitchFamily="34" charset="-122"/>
                <a:cs typeface="Calibri" pitchFamily="34" charset="-120"/>
              </a:rPr>
              <a:t>☐  CER Stage 2: Claim + Evidence for an energy transfer (notebook)</a:t>
            </a:r>
            <a:endParaRPr lang="en-US" sz="1100" dirty="0"/>
          </a:p>
        </p:txBody>
      </p:sp>
      <p:sp>
        <p:nvSpPr>
          <p:cNvPr id="13" name="Shape 11"/>
          <p:cNvSpPr/>
          <p:nvPr/>
        </p:nvSpPr>
        <p:spPr>
          <a:xfrm>
            <a:off x="7863840" y="2304288"/>
            <a:ext cx="3931920" cy="2560320"/>
          </a:xfrm>
          <a:prstGeom prst="roundRect">
            <a:avLst>
              <a:gd name="adj" fmla="val 2857"/>
            </a:avLst>
          </a:prstGeom>
          <a:solidFill>
            <a:srgbClr val="1A1A3A"/>
          </a:solidFill>
          <a:ln w="12700">
            <a:solidFill>
              <a:srgbClr val="0096C7"/>
            </a:solidFill>
            <a:prstDash val="solid"/>
          </a:ln>
        </p:spPr>
      </p:sp>
      <p:sp>
        <p:nvSpPr>
          <p:cNvPr id="14" name="Text 12"/>
          <p:cNvSpPr/>
          <p:nvPr/>
        </p:nvSpPr>
        <p:spPr>
          <a:xfrm>
            <a:off x="8001000" y="2359152"/>
            <a:ext cx="3657600" cy="347472"/>
          </a:xfrm>
          <a:prstGeom prst="rect">
            <a:avLst/>
          </a:prstGeom>
          <a:noFill/>
          <a:ln/>
        </p:spPr>
        <p:txBody>
          <a:bodyPr wrap="square" rtlCol="0" anchor="ctr"/>
          <a:lstStyle/>
          <a:p>
            <a:pPr indent="0" marL="0">
              <a:buNone/>
            </a:pPr>
            <a:r>
              <a:rPr lang="en-US" sz="1200" b="1" dirty="0">
                <a:solidFill>
                  <a:srgbClr val="4CC9F0"/>
                </a:solidFill>
                <a:latin typeface="Calibri" pitchFamily="34" charset="0"/>
                <a:ea typeface="Calibri" pitchFamily="34" charset="-122"/>
                <a:cs typeface="Calibri" pitchFamily="34" charset="-120"/>
              </a:rPr>
              <a:t>🔜  Coming Next:</a:t>
            </a:r>
            <a:endParaRPr lang="en-US" sz="1200" dirty="0"/>
          </a:p>
        </p:txBody>
      </p:sp>
      <p:sp>
        <p:nvSpPr>
          <p:cNvPr id="15" name="Text 13"/>
          <p:cNvSpPr/>
          <p:nvPr/>
        </p:nvSpPr>
        <p:spPr>
          <a:xfrm>
            <a:off x="8001000" y="2743200"/>
            <a:ext cx="3657600" cy="201168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Lesson 20-02: Investigation — Observing Energy Moving (4 stations)</a:t>
            </a:r>
            <a:endParaRPr lang="en-US" sz="1200" dirty="0"/>
          </a:p>
        </p:txBody>
      </p:sp>
      <p:sp>
        <p:nvSpPr>
          <p:cNvPr id="16" name="Shape 14"/>
          <p:cNvSpPr/>
          <p:nvPr/>
        </p:nvSpPr>
        <p:spPr>
          <a:xfrm>
            <a:off x="0" y="5047488"/>
            <a:ext cx="12192000" cy="45720"/>
          </a:xfrm>
          <a:prstGeom prst="rect">
            <a:avLst/>
          </a:prstGeom>
          <a:solidFill>
            <a:srgbClr val="4CC9F0"/>
          </a:solidFill>
          <a:ln/>
        </p:spPr>
      </p:sp>
      <p:sp>
        <p:nvSpPr>
          <p:cNvPr id="17" name="Text 15"/>
          <p:cNvSpPr/>
          <p:nvPr/>
        </p:nvSpPr>
        <p:spPr>
          <a:xfrm>
            <a:off x="365760" y="5120640"/>
            <a:ext cx="11247120" cy="347472"/>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Excellent work today, scientists! See you next time.</a:t>
            </a:r>
            <a:endParaRPr lang="en-US" sz="1300" dirty="0"/>
          </a:p>
        </p:txBody>
      </p:sp>
      <p:sp>
        <p:nvSpPr>
          <p:cNvPr id="18" name="Shape 16"/>
          <p:cNvSpPr/>
          <p:nvPr/>
        </p:nvSpPr>
        <p:spPr>
          <a:xfrm>
            <a:off x="0" y="6629400"/>
            <a:ext cx="12192000" cy="228600"/>
          </a:xfrm>
          <a:prstGeom prst="rect">
            <a:avLst/>
          </a:prstGeom>
          <a:solidFill>
            <a:srgbClr val="162233"/>
          </a:solidFill>
          <a:ln/>
        </p:spPr>
      </p:sp>
      <p:sp>
        <p:nvSpPr>
          <p:cNvPr id="19" name="Text 17"/>
          <p:cNvSpPr/>
          <p:nvPr/>
        </p:nvSpPr>
        <p:spPr>
          <a:xfrm>
            <a:off x="0" y="6638544"/>
            <a:ext cx="12192000" cy="201168"/>
          </a:xfrm>
          <a:prstGeom prst="rect">
            <a:avLst/>
          </a:prstGeom>
          <a:noFill/>
          <a:ln/>
        </p:spPr>
        <p:txBody>
          <a:bodyPr wrap="square"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Optima Academy Online  ·  4th Grade Science  ·  Lesson 20-01  ·  How Does Energy Move?</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2026-07-14T00:31:43Z</dcterms:created>
  <dcterms:modified xsi:type="dcterms:W3CDTF">2026-07-14T00:31:43Z</dcterms:modified>
</cp:coreProperties>
</file>