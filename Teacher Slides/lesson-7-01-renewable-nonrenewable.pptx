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students become energy detectives! Open with: 'How many of you used energy this morning? Where did it come from?' Connect to students' lived experience from the moment they woke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3-4 minutes for listing. Circulate and listen for interesting examples.
Facilitation: 'Share one item. What do you think it's made from? Does it need energy to work?'
Save lists — students revisit at end of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and talk: make your prediction now, before we learn anything. Could our energy run out? Why or why not?'
Save predictions mentally — return to them after the lesson. Scientific thinking means being willing to revise your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word 'renew' — 'to make new again.' Ask: 'Can sunlight renew? Does it come back every day? What about coal?'
The fossil in fossil fuel is key — DEAD THINGS, millions of years ago. That's ancient energy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already have enough solar energy to power everything, why don't we use it? This is a great discussion point — technology, cost, location, infrastructure.'
Conservation: we practice it every day when we turn off lights, take shorter showers, recycle.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cookie analogy makes the abstract concept concrete. Key question: 'If the cookies took 300 million years to bake — when should you start worrying about running out?'
Connect: This is why scientists care so much about when we will run out of fossil fuels.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makes the time difference visceral. Coal's bar is supposed to be MUCH longer — emphasize that 300 million years is longer than dinosaurs have existed!
'I predict solar energy will become more important because... This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 and sunlight are free and clean. Fossil fuels cause pollution and will run out. So why do humans still use so much coal and oil?'
This is the key argumentation question. Look for: infrastructure costs, energy storage challenges, habits,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rich discussion! Acknowledge complexity — there are good reasons why transition is slow. But also push: 'Given what we know about fossil fuels running out, what's the long-term evidence?'
Scientific argumentation: What evidence supports staying with fossil fuels? What supports switching?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NUANCE: Renewable doesn't mean unlimited! If we cut forests faster than they grow, or pollute rivers faster than they clean, we lose those resources.
'I know renewables can run out because... This shows that conservation is important even for renewable resources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ride in a gasoline car, you're using energy that ancient plants collected from the sun 300 million years ago — fossil fuels are ancient solar energy in storage!'
Ask: 'At which step does the renewable vs nonrenewable choice have the MOST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be making claims with specific evidence now. Look for: time comparison (300 million years), CO₂/pollution argument, or cost/availability evidence.
Challenge: 'Can someone argue the OTHER side? What evidence supports continuing to use fossil fuels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individually first, then discuss. Ask 'Why?' before revealing answers.
Check: Are students making the connection between 'renewable' and TIME? That's the core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each part. Remind students: 'The resource map in Part C revisits your warm-up list — you've already done the hardest work!'
CER tip: The renewal-time comparison (1 million years of oil burned every month) is powerful evidence for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warm-up lists! Ask: 'Look at your 10 items. Now that you know about renewable vs. nonrenewable — any surprises? Would you change anything about how you use those things?'
Exit ticket: 'In one sentence, explain why fossil fuels are nonrenewable using the word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Renewable &amp; Nonrenewable Resources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Where does our energy come from — and could it ever run out?</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NGSS 4-ESS3-1 · Earth's Resources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Explain the difference between renewable and nonrenewable resources and give examples of each.</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Describe how humans use natural resources to get energy and materials in everyday life.</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Explain why conservation is important and how it helps protect resources for future generations.</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Warm-Up: 10 Things You Used Today</a:t>
            </a:r>
            <a:endParaRPr lang="en-US" sz="1600" dirty="0"/>
          </a:p>
        </p:txBody>
      </p:sp>
      <p:sp>
        <p:nvSpPr>
          <p:cNvPr id="5" name="Shape 3"/>
          <p:cNvSpPr/>
          <p:nvPr/>
        </p:nvSpPr>
        <p:spPr>
          <a:xfrm>
            <a:off x="365760" y="749808"/>
            <a:ext cx="11247120" cy="347472"/>
          </a:xfrm>
          <a:prstGeom prst="roundRect">
            <a:avLst>
              <a:gd name="adj" fmla="val 23684"/>
            </a:avLst>
          </a:prstGeom>
          <a:solidFill>
            <a:srgbClr val="E09200"/>
          </a:solidFill>
          <a:ln w="19050">
            <a:solidFill>
              <a:srgbClr val="FFB703"/>
            </a:solidFill>
            <a:prstDash val="solid"/>
          </a:ln>
        </p:spPr>
      </p:sp>
      <p:sp>
        <p:nvSpPr>
          <p:cNvPr id="6" name="Text 4"/>
          <p:cNvSpPr/>
          <p:nvPr/>
        </p:nvSpPr>
        <p:spPr>
          <a:xfrm>
            <a:off x="365760" y="749808"/>
            <a:ext cx="112471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7" name="Shape 5"/>
          <p:cNvSpPr/>
          <p:nvPr/>
        </p:nvSpPr>
        <p:spPr>
          <a:xfrm>
            <a:off x="365760" y="1207008"/>
            <a:ext cx="6858000" cy="4572000"/>
          </a:xfrm>
          <a:prstGeom prst="roundRect">
            <a:avLst>
              <a:gd name="adj" fmla="val 1600"/>
            </a:avLst>
          </a:prstGeom>
          <a:solidFill>
            <a:srgbClr val="1E2F45"/>
          </a:solidFill>
          <a:ln w="12700">
            <a:solidFill>
              <a:srgbClr val="FFB703"/>
            </a:solidFill>
            <a:prstDash val="solid"/>
          </a:ln>
        </p:spPr>
      </p:sp>
      <p:sp>
        <p:nvSpPr>
          <p:cNvPr id="8" name="Text 6"/>
          <p:cNvSpPr/>
          <p:nvPr/>
        </p:nvSpPr>
        <p:spPr>
          <a:xfrm>
            <a:off x="548640" y="1280160"/>
            <a:ext cx="6583680" cy="100584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 your science notebook, list 10 things you used today from the moment you woke up. Think about breakfast, clothes, lights, how you got to school.</a:t>
            </a:r>
            <a:endParaRPr lang="en-US" sz="1250" dirty="0"/>
          </a:p>
        </p:txBody>
      </p:sp>
      <p:sp>
        <p:nvSpPr>
          <p:cNvPr id="9" name="Text 7"/>
          <p:cNvSpPr/>
          <p:nvPr/>
        </p:nvSpPr>
        <p:spPr>
          <a:xfrm>
            <a:off x="548640" y="2377440"/>
            <a:ext cx="6583680" cy="36576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Then ask yourself:</a:t>
            </a:r>
            <a:endParaRPr lang="en-US" sz="1300" dirty="0"/>
          </a:p>
        </p:txBody>
      </p:sp>
      <p:sp>
        <p:nvSpPr>
          <p:cNvPr id="10" name="Text 8"/>
          <p:cNvSpPr/>
          <p:nvPr/>
        </p:nvSpPr>
        <p:spPr>
          <a:xfrm>
            <a:off x="548640" y="2788920"/>
            <a:ext cx="6583680" cy="1371600"/>
          </a:xfrm>
          <a:prstGeom prst="rect">
            <a:avLst/>
          </a:prstGeom>
          <a:noFill/>
          <a:ln/>
        </p:spPr>
        <p:txBody>
          <a:bodyPr wrap="square" rtlCol="0" anchor="ctr"/>
          <a:lstStyle/>
          <a:p>
            <a:pPr indent="0" marL="0">
              <a:buNone/>
            </a:pPr>
            <a:r>
              <a:rPr lang="en-US" sz="1250" i="1" dirty="0">
                <a:solidFill>
                  <a:srgbClr val="B0C4D8"/>
                </a:solidFill>
                <a:latin typeface="Calibri" pitchFamily="34" charset="0"/>
                <a:ea typeface="Calibri" pitchFamily="34" charset="-122"/>
                <a:cs typeface="Calibri" pitchFamily="34" charset="-120"/>
              </a:rPr>
              <a:t>"Look at your list. Which items came from the Earth? Circle them. Now: if we kept using these things forever, would they ever run out?"</a:t>
            </a:r>
            <a:endParaRPr lang="en-US" sz="1250" dirty="0"/>
          </a:p>
        </p:txBody>
      </p:sp>
      <p:sp>
        <p:nvSpPr>
          <p:cNvPr id="11" name="Text 9"/>
          <p:cNvSpPr/>
          <p:nvPr/>
        </p:nvSpPr>
        <p:spPr>
          <a:xfrm>
            <a:off x="548640" y="4251960"/>
            <a:ext cx="6583680" cy="1371600"/>
          </a:xfrm>
          <a:prstGeom prst="rect">
            <a:avLst/>
          </a:prstGeom>
          <a:noFill/>
          <a:ln/>
        </p:spPr>
        <p:txBody>
          <a:bodyPr wrap="square" rtlCol="0" anchor="ctr"/>
          <a:lstStyle/>
          <a:p>
            <a:pPr indent="0" marL="0">
              <a:buNone/>
            </a:pPr>
            <a:r>
              <a:rPr lang="en-US" sz="1150" i="1" dirty="0">
                <a:solidFill>
                  <a:srgbClr val="8899AA"/>
                </a:solidFill>
                <a:latin typeface="Calibri" pitchFamily="34" charset="0"/>
                <a:ea typeface="Calibri" pitchFamily="34" charset="-122"/>
                <a:cs typeface="Calibri" pitchFamily="34" charset="-120"/>
              </a:rPr>
              <a:t>We'll come back to your list at the end — you might be surprised how much your thinking changes!</a:t>
            </a:r>
            <a:endParaRPr lang="en-US" sz="1150" dirty="0"/>
          </a:p>
        </p:txBody>
      </p:sp>
      <p:sp>
        <p:nvSpPr>
          <p:cNvPr id="12" name="Shape 10"/>
          <p:cNvSpPr/>
          <p:nvPr/>
        </p:nvSpPr>
        <p:spPr>
          <a:xfrm>
            <a:off x="7406640" y="1207008"/>
            <a:ext cx="4663440" cy="4572000"/>
          </a:xfrm>
          <a:prstGeom prst="roundRect">
            <a:avLst>
              <a:gd name="adj" fmla="val 1600"/>
            </a:avLst>
          </a:prstGeom>
          <a:solidFill>
            <a:srgbClr val="0A1520"/>
          </a:solidFill>
          <a:ln w="19050">
            <a:solidFill>
              <a:srgbClr val="4CC9F0"/>
            </a:solidFill>
            <a:prstDash val="dash"/>
          </a:ln>
        </p:spPr>
      </p:sp>
      <p:sp>
        <p:nvSpPr>
          <p:cNvPr id="13" name="Text 11"/>
          <p:cNvSpPr/>
          <p:nvPr/>
        </p:nvSpPr>
        <p:spPr>
          <a:xfrm>
            <a:off x="7498080" y="1316736"/>
            <a:ext cx="44805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7498080" y="1755648"/>
            <a:ext cx="44805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5" name="Text 13"/>
          <p:cNvSpPr/>
          <p:nvPr/>
        </p:nvSpPr>
        <p:spPr>
          <a:xfrm>
            <a:off x="7516368" y="2048256"/>
            <a:ext cx="4443984" cy="35204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"everyday items energy use lights food electronics morning routine home"</a:t>
            </a:r>
            <a:endParaRPr lang="en-US" sz="950" dirty="0"/>
          </a:p>
        </p:txBody>
      </p:sp>
      <p:sp>
        <p:nvSpPr>
          <p:cNvPr id="16" name="Text 14"/>
          <p:cNvSpPr/>
          <p:nvPr/>
        </p:nvSpPr>
        <p:spPr>
          <a:xfrm>
            <a:off x="7406640" y="5815584"/>
            <a:ext cx="46634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All of these require natural resources!</a:t>
            </a:r>
            <a:endParaRPr lang="en-US" sz="9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Essential Question Prediction</a:t>
            </a:r>
            <a:endParaRPr lang="en-US" sz="1600" dirty="0"/>
          </a:p>
        </p:txBody>
      </p:sp>
      <p:sp>
        <p:nvSpPr>
          <p:cNvPr id="5" name="Shape 3"/>
          <p:cNvSpPr/>
          <p:nvPr/>
        </p:nvSpPr>
        <p:spPr>
          <a:xfrm>
            <a:off x="365760" y="749808"/>
            <a:ext cx="11247120" cy="1097280"/>
          </a:xfrm>
          <a:prstGeom prst="roundRect">
            <a:avLst>
              <a:gd name="adj" fmla="val 6667"/>
            </a:avLst>
          </a:prstGeom>
          <a:solidFill>
            <a:srgbClr val="1E2F45"/>
          </a:solidFill>
          <a:ln w="12700">
            <a:solidFill>
              <a:srgbClr val="4CC9F0"/>
            </a:solidFill>
            <a:prstDash val="solid"/>
          </a:ln>
        </p:spPr>
      </p:sp>
      <p:sp>
        <p:nvSpPr>
          <p:cNvPr id="6" name="Text 4"/>
          <p:cNvSpPr/>
          <p:nvPr/>
        </p:nvSpPr>
        <p:spPr>
          <a:xfrm>
            <a:off x="548640" y="822960"/>
            <a:ext cx="10972800" cy="914400"/>
          </a:xfrm>
          <a:prstGeom prst="rect">
            <a:avLst/>
          </a:prstGeom>
          <a:noFill/>
          <a:ln/>
        </p:spPr>
        <p:txBody>
          <a:bodyPr wrap="square" rtlCol="0" anchor="ctr"/>
          <a:lstStyle/>
          <a:p>
            <a:pPr algn="ctr" indent="0" marL="0">
              <a:buNone/>
            </a:pPr>
            <a:r>
              <a:rPr lang="en-US" sz="1400" i="1" dirty="0">
                <a:solidFill>
                  <a:srgbClr val="4CC9F0"/>
                </a:solidFill>
                <a:latin typeface="Calibri" pitchFamily="34" charset="0"/>
                <a:ea typeface="Calibri" pitchFamily="34" charset="-122"/>
                <a:cs typeface="Calibri" pitchFamily="34" charset="-120"/>
              </a:rPr>
              <a:t>"If you could see all the energy powering your home, your school, and your entire city — where do you think all of it comes from? Could it ever run out?"</a:t>
            </a:r>
            <a:endParaRPr lang="en-US" sz="1400" dirty="0"/>
          </a:p>
        </p:txBody>
      </p:sp>
      <p:sp>
        <p:nvSpPr>
          <p:cNvPr id="7" name="Text 5"/>
          <p:cNvSpPr/>
          <p:nvPr/>
        </p:nvSpPr>
        <p:spPr>
          <a:xfrm>
            <a:off x="365760" y="1993392"/>
            <a:ext cx="11247120"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 predict ___ because ___</a:t>
            </a:r>
            <a:endParaRPr lang="en-US" sz="1600" dirty="0"/>
          </a:p>
        </p:txBody>
      </p:sp>
      <p:sp>
        <p:nvSpPr>
          <p:cNvPr id="8" name="Shape 6"/>
          <p:cNvSpPr/>
          <p:nvPr/>
        </p:nvSpPr>
        <p:spPr>
          <a:xfrm>
            <a:off x="365760" y="2606040"/>
            <a:ext cx="5394960" cy="3108960"/>
          </a:xfrm>
          <a:prstGeom prst="roundRect">
            <a:avLst>
              <a:gd name="adj" fmla="val 2353"/>
            </a:avLst>
          </a:prstGeom>
          <a:solidFill>
            <a:srgbClr val="0A1520"/>
          </a:solidFill>
          <a:ln w="19050">
            <a:solidFill>
              <a:srgbClr val="4CC9F0"/>
            </a:solidFill>
            <a:prstDash val="dash"/>
          </a:ln>
        </p:spPr>
      </p:sp>
      <p:sp>
        <p:nvSpPr>
          <p:cNvPr id="9" name="Text 7"/>
          <p:cNvSpPr/>
          <p:nvPr/>
        </p:nvSpPr>
        <p:spPr>
          <a:xfrm>
            <a:off x="457200" y="2715768"/>
            <a:ext cx="5212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457200" y="3154680"/>
            <a:ext cx="52120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1" name="Text 9"/>
          <p:cNvSpPr/>
          <p:nvPr/>
        </p:nvSpPr>
        <p:spPr>
          <a:xfrm>
            <a:off x="475488" y="3447288"/>
            <a:ext cx="5175504" cy="20574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"coal power plant smokestacks fossil fuel energy generation aerial view"</a:t>
            </a:r>
            <a:endParaRPr lang="en-US" sz="950" dirty="0"/>
          </a:p>
        </p:txBody>
      </p:sp>
      <p:sp>
        <p:nvSpPr>
          <p:cNvPr id="12" name="Text 10"/>
          <p:cNvSpPr/>
          <p:nvPr/>
        </p:nvSpPr>
        <p:spPr>
          <a:xfrm>
            <a:off x="365760" y="5751576"/>
            <a:ext cx="53949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 fossil fuel power plant — where much of our energy comes from</a:t>
            </a:r>
            <a:endParaRPr lang="en-US" sz="900" dirty="0"/>
          </a:p>
        </p:txBody>
      </p:sp>
      <p:sp>
        <p:nvSpPr>
          <p:cNvPr id="13" name="Shape 11"/>
          <p:cNvSpPr/>
          <p:nvPr/>
        </p:nvSpPr>
        <p:spPr>
          <a:xfrm>
            <a:off x="5943600" y="2606040"/>
            <a:ext cx="5394960" cy="3108960"/>
          </a:xfrm>
          <a:prstGeom prst="roundRect">
            <a:avLst>
              <a:gd name="adj" fmla="val 2353"/>
            </a:avLst>
          </a:prstGeom>
          <a:solidFill>
            <a:srgbClr val="0A1520"/>
          </a:solidFill>
          <a:ln w="19050">
            <a:solidFill>
              <a:srgbClr val="4CC9F0"/>
            </a:solidFill>
            <a:prstDash val="dash"/>
          </a:ln>
        </p:spPr>
      </p:sp>
      <p:sp>
        <p:nvSpPr>
          <p:cNvPr id="14" name="Text 12"/>
          <p:cNvSpPr/>
          <p:nvPr/>
        </p:nvSpPr>
        <p:spPr>
          <a:xfrm>
            <a:off x="6035040" y="2715768"/>
            <a:ext cx="5212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6035040" y="3154680"/>
            <a:ext cx="52120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6" name="Text 14"/>
          <p:cNvSpPr/>
          <p:nvPr/>
        </p:nvSpPr>
        <p:spPr>
          <a:xfrm>
            <a:off x="6053328" y="3447288"/>
            <a:ext cx="5175504" cy="20574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"solar farm wind turbines renewable energy side by side aerial"</a:t>
            </a:r>
            <a:endParaRPr lang="en-US" sz="950" dirty="0"/>
          </a:p>
        </p:txBody>
      </p:sp>
      <p:sp>
        <p:nvSpPr>
          <p:cNvPr id="17" name="Text 15"/>
          <p:cNvSpPr/>
          <p:nvPr/>
        </p:nvSpPr>
        <p:spPr>
          <a:xfrm>
            <a:off x="5943600" y="5751576"/>
            <a:ext cx="53949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Renewable energy sources — solar and wind</a:t>
            </a:r>
            <a:endParaRPr lang="en-US" sz="9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Key Vocabulary — Part 1</a:t>
            </a:r>
            <a:endParaRPr lang="en-US" sz="1600" dirty="0"/>
          </a:p>
        </p:txBody>
      </p:sp>
      <p:sp>
        <p:nvSpPr>
          <p:cNvPr id="5" name="Shape 3"/>
          <p:cNvSpPr/>
          <p:nvPr/>
        </p:nvSpPr>
        <p:spPr>
          <a:xfrm>
            <a:off x="365760" y="749808"/>
            <a:ext cx="53949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49808"/>
            <a:ext cx="53949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77240"/>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Natural Resource</a:t>
            </a:r>
            <a:endParaRPr lang="en-US" sz="1200" dirty="0"/>
          </a:p>
        </p:txBody>
      </p:sp>
      <p:sp>
        <p:nvSpPr>
          <p:cNvPr id="8" name="Text 6"/>
          <p:cNvSpPr/>
          <p:nvPr/>
        </p:nvSpPr>
        <p:spPr>
          <a:xfrm>
            <a:off x="475488" y="1152144"/>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Anything found in nature that people use — like water, wood, sunlight, coal, or air.</a:t>
            </a:r>
            <a:endParaRPr lang="en-US" sz="1050" dirty="0"/>
          </a:p>
        </p:txBody>
      </p:sp>
      <p:sp>
        <p:nvSpPr>
          <p:cNvPr id="9" name="Shape 7"/>
          <p:cNvSpPr/>
          <p:nvPr/>
        </p:nvSpPr>
        <p:spPr>
          <a:xfrm>
            <a:off x="6035040" y="749808"/>
            <a:ext cx="557784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6035040" y="749808"/>
            <a:ext cx="557784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6126480" y="777240"/>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Renewable Resource</a:t>
            </a:r>
            <a:endParaRPr lang="en-US" sz="1200" dirty="0"/>
          </a:p>
        </p:txBody>
      </p:sp>
      <p:sp>
        <p:nvSpPr>
          <p:cNvPr id="12" name="Text 10"/>
          <p:cNvSpPr/>
          <p:nvPr/>
        </p:nvSpPr>
        <p:spPr>
          <a:xfrm>
            <a:off x="6144768" y="1152144"/>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natural resource that can be replaced or replenished naturally over time, like sunlight, wind, or forests.</a:t>
            </a:r>
            <a:endParaRPr lang="en-US" sz="1050" dirty="0"/>
          </a:p>
        </p:txBody>
      </p:sp>
      <p:sp>
        <p:nvSpPr>
          <p:cNvPr id="13" name="Shape 11"/>
          <p:cNvSpPr/>
          <p:nvPr/>
        </p:nvSpPr>
        <p:spPr>
          <a:xfrm>
            <a:off x="365760" y="3200400"/>
            <a:ext cx="5394960" cy="1325880"/>
          </a:xfrm>
          <a:prstGeom prst="roundRect">
            <a:avLst>
              <a:gd name="adj" fmla="val 6897"/>
            </a:avLst>
          </a:prstGeom>
          <a:solidFill>
            <a:srgbClr val="1E2F45"/>
          </a:solidFill>
          <a:ln w="25400">
            <a:solidFill>
              <a:srgbClr val="F4736A"/>
            </a:solidFill>
            <a:prstDash val="solid"/>
          </a:ln>
        </p:spPr>
      </p:sp>
      <p:sp>
        <p:nvSpPr>
          <p:cNvPr id="14" name="Shape 12"/>
          <p:cNvSpPr/>
          <p:nvPr/>
        </p:nvSpPr>
        <p:spPr>
          <a:xfrm>
            <a:off x="365760" y="3200400"/>
            <a:ext cx="5394960" cy="347472"/>
          </a:xfrm>
          <a:prstGeom prst="roundRect">
            <a:avLst>
              <a:gd name="adj" fmla="val 21053"/>
            </a:avLst>
          </a:prstGeom>
          <a:solidFill>
            <a:srgbClr val="F4736A"/>
          </a:solidFill>
          <a:ln w="12700">
            <a:solidFill>
              <a:srgbClr val="F4736A"/>
            </a:solidFill>
            <a:prstDash val="solid"/>
          </a:ln>
        </p:spPr>
      </p:sp>
      <p:sp>
        <p:nvSpPr>
          <p:cNvPr id="15" name="Text 13"/>
          <p:cNvSpPr/>
          <p:nvPr/>
        </p:nvSpPr>
        <p:spPr>
          <a:xfrm>
            <a:off x="457200" y="3227832"/>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Nonrenewable Resource</a:t>
            </a:r>
            <a:endParaRPr lang="en-US" sz="1200" dirty="0"/>
          </a:p>
        </p:txBody>
      </p:sp>
      <p:sp>
        <p:nvSpPr>
          <p:cNvPr id="16" name="Text 14"/>
          <p:cNvSpPr/>
          <p:nvPr/>
        </p:nvSpPr>
        <p:spPr>
          <a:xfrm>
            <a:off x="475488" y="3602736"/>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resource that cannot be replaced quickly once used up — like coal, oil, and natural gas. Takes millions of years to form.</a:t>
            </a:r>
            <a:endParaRPr lang="en-US" sz="1050" dirty="0"/>
          </a:p>
        </p:txBody>
      </p:sp>
      <p:sp>
        <p:nvSpPr>
          <p:cNvPr id="17" name="Shape 15"/>
          <p:cNvSpPr/>
          <p:nvPr/>
        </p:nvSpPr>
        <p:spPr>
          <a:xfrm>
            <a:off x="6035040" y="3200400"/>
            <a:ext cx="5577840" cy="1325880"/>
          </a:xfrm>
          <a:prstGeom prst="roundRect">
            <a:avLst>
              <a:gd name="adj" fmla="val 6897"/>
            </a:avLst>
          </a:prstGeom>
          <a:solidFill>
            <a:srgbClr val="1E2F45"/>
          </a:solidFill>
          <a:ln w="25400">
            <a:solidFill>
              <a:srgbClr val="FFB703"/>
            </a:solidFill>
            <a:prstDash val="solid"/>
          </a:ln>
        </p:spPr>
      </p:sp>
      <p:sp>
        <p:nvSpPr>
          <p:cNvPr id="18" name="Shape 16"/>
          <p:cNvSpPr/>
          <p:nvPr/>
        </p:nvSpPr>
        <p:spPr>
          <a:xfrm>
            <a:off x="6035040" y="3200400"/>
            <a:ext cx="5577840" cy="347472"/>
          </a:xfrm>
          <a:prstGeom prst="roundRect">
            <a:avLst>
              <a:gd name="adj" fmla="val 21053"/>
            </a:avLst>
          </a:prstGeom>
          <a:solidFill>
            <a:srgbClr val="FFB703"/>
          </a:solidFill>
          <a:ln w="12700">
            <a:solidFill>
              <a:srgbClr val="FFB703"/>
            </a:solidFill>
            <a:prstDash val="solid"/>
          </a:ln>
        </p:spPr>
      </p:sp>
      <p:sp>
        <p:nvSpPr>
          <p:cNvPr id="19" name="Text 17"/>
          <p:cNvSpPr/>
          <p:nvPr/>
        </p:nvSpPr>
        <p:spPr>
          <a:xfrm>
            <a:off x="6126480" y="3227832"/>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Fossil Fuel</a:t>
            </a:r>
            <a:endParaRPr lang="en-US" sz="1200" dirty="0"/>
          </a:p>
        </p:txBody>
      </p:sp>
      <p:sp>
        <p:nvSpPr>
          <p:cNvPr id="20" name="Text 18"/>
          <p:cNvSpPr/>
          <p:nvPr/>
        </p:nvSpPr>
        <p:spPr>
          <a:xfrm>
            <a:off x="6144768" y="3602736"/>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An energy-rich material (coal, oil, or natural gas) formed from the remains of ancient plants and animals over millions of years underground.</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Key Vocabulary — Part 2</a:t>
            </a:r>
            <a:endParaRPr lang="en-US" sz="1600" dirty="0"/>
          </a:p>
        </p:txBody>
      </p:sp>
      <p:sp>
        <p:nvSpPr>
          <p:cNvPr id="5" name="Shape 3"/>
          <p:cNvSpPr/>
          <p:nvPr/>
        </p:nvSpPr>
        <p:spPr>
          <a:xfrm>
            <a:off x="365760" y="749808"/>
            <a:ext cx="5394960" cy="1325880"/>
          </a:xfrm>
          <a:prstGeom prst="roundRect">
            <a:avLst>
              <a:gd name="adj" fmla="val 6897"/>
            </a:avLst>
          </a:prstGeom>
          <a:solidFill>
            <a:srgbClr val="1E2F45"/>
          </a:solidFill>
          <a:ln w="25400">
            <a:solidFill>
              <a:srgbClr val="FFB703"/>
            </a:solidFill>
            <a:prstDash val="solid"/>
          </a:ln>
        </p:spPr>
      </p:sp>
      <p:sp>
        <p:nvSpPr>
          <p:cNvPr id="6" name="Shape 4"/>
          <p:cNvSpPr/>
          <p:nvPr/>
        </p:nvSpPr>
        <p:spPr>
          <a:xfrm>
            <a:off x="365760" y="749808"/>
            <a:ext cx="5394960" cy="347472"/>
          </a:xfrm>
          <a:prstGeom prst="roundRect">
            <a:avLst>
              <a:gd name="adj" fmla="val 21053"/>
            </a:avLst>
          </a:prstGeom>
          <a:solidFill>
            <a:srgbClr val="FFB703"/>
          </a:solidFill>
          <a:ln w="12700">
            <a:solidFill>
              <a:srgbClr val="FFB703"/>
            </a:solidFill>
            <a:prstDash val="solid"/>
          </a:ln>
        </p:spPr>
      </p:sp>
      <p:sp>
        <p:nvSpPr>
          <p:cNvPr id="7" name="Text 5"/>
          <p:cNvSpPr/>
          <p:nvPr/>
        </p:nvSpPr>
        <p:spPr>
          <a:xfrm>
            <a:off x="457200" y="777240"/>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Solar Energy</a:t>
            </a:r>
            <a:endParaRPr lang="en-US" sz="1200" dirty="0"/>
          </a:p>
        </p:txBody>
      </p:sp>
      <p:sp>
        <p:nvSpPr>
          <p:cNvPr id="8" name="Text 6"/>
          <p:cNvSpPr/>
          <p:nvPr/>
        </p:nvSpPr>
        <p:spPr>
          <a:xfrm>
            <a:off x="475488" y="1152144"/>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Energy that comes from sunlight. We can capture it with solar panels to make electricity or heat buildings.</a:t>
            </a:r>
            <a:endParaRPr lang="en-US" sz="1050" dirty="0"/>
          </a:p>
        </p:txBody>
      </p:sp>
      <p:sp>
        <p:nvSpPr>
          <p:cNvPr id="9" name="Shape 7"/>
          <p:cNvSpPr/>
          <p:nvPr/>
        </p:nvSpPr>
        <p:spPr>
          <a:xfrm>
            <a:off x="6035040" y="749808"/>
            <a:ext cx="557784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6035040" y="749808"/>
            <a:ext cx="557784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6126480" y="777240"/>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Conservation</a:t>
            </a:r>
            <a:endParaRPr lang="en-US" sz="1200" dirty="0"/>
          </a:p>
        </p:txBody>
      </p:sp>
      <p:sp>
        <p:nvSpPr>
          <p:cNvPr id="12" name="Text 10"/>
          <p:cNvSpPr/>
          <p:nvPr/>
        </p:nvSpPr>
        <p:spPr>
          <a:xfrm>
            <a:off x="6144768" y="1152144"/>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careful use and protection of natural resources to prevent waste and make sure future generations have what they need.</a:t>
            </a:r>
            <a:endParaRPr lang="en-US" sz="1050" dirty="0"/>
          </a:p>
        </p:txBody>
      </p:sp>
      <p:sp>
        <p:nvSpPr>
          <p:cNvPr id="13" name="Shape 11"/>
          <p:cNvSpPr/>
          <p:nvPr/>
        </p:nvSpPr>
        <p:spPr>
          <a:xfrm>
            <a:off x="365760" y="3017520"/>
            <a:ext cx="11247120" cy="2194560"/>
          </a:xfrm>
          <a:prstGeom prst="roundRect">
            <a:avLst>
              <a:gd name="adj" fmla="val 3333"/>
            </a:avLst>
          </a:prstGeom>
          <a:solidFill>
            <a:srgbClr val="1E2F45"/>
          </a:solidFill>
          <a:ln w="12700">
            <a:solidFill>
              <a:srgbClr val="FFB703"/>
            </a:solidFill>
            <a:prstDash val="solid"/>
          </a:ln>
        </p:spPr>
      </p:sp>
      <p:sp>
        <p:nvSpPr>
          <p:cNvPr id="14" name="Text 12"/>
          <p:cNvSpPr/>
          <p:nvPr/>
        </p:nvSpPr>
        <p:spPr>
          <a:xfrm>
            <a:off x="548640" y="3108960"/>
            <a:ext cx="10972800" cy="411480"/>
          </a:xfrm>
          <a:prstGeom prst="rect">
            <a:avLst/>
          </a:prstGeom>
          <a:noFill/>
          <a:ln/>
        </p:spPr>
        <p:txBody>
          <a:bodyPr wrap="square" rtlCol="0" anchor="ctr"/>
          <a:lstStyle/>
          <a:p>
            <a:pPr indent="0" marL="0">
              <a:buNone/>
            </a:pPr>
            <a:r>
              <a:rPr lang="en-US" sz="1500" b="1" dirty="0">
                <a:solidFill>
                  <a:srgbClr val="FFB703"/>
                </a:solidFill>
                <a:latin typeface="Calibri" pitchFamily="34" charset="0"/>
                <a:ea typeface="Calibri" pitchFamily="34" charset="-122"/>
                <a:cs typeface="Calibri" pitchFamily="34" charset="-120"/>
              </a:rPr>
              <a:t>Mind-Blowing Fact 🤯</a:t>
            </a:r>
            <a:endParaRPr lang="en-US" sz="1500" dirty="0"/>
          </a:p>
        </p:txBody>
      </p:sp>
      <p:sp>
        <p:nvSpPr>
          <p:cNvPr id="15" name="Text 13"/>
          <p:cNvSpPr/>
          <p:nvPr/>
        </p:nvSpPr>
        <p:spPr>
          <a:xfrm>
            <a:off x="548640" y="3566160"/>
            <a:ext cx="10972800" cy="1508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In just ONE HOUR, the sun sends enough energy to Earth to power every home, school, car, and factory on the entire planet for a whole year! Yet we currently capture less than 1% of it.</a:t>
            </a:r>
            <a:endParaRPr lang="en-US" sz="14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Discussion: The Cookie Jar Analogy</a:t>
            </a:r>
            <a:endParaRPr lang="en-US" sz="1600" dirty="0"/>
          </a:p>
        </p:txBody>
      </p:sp>
      <p:sp>
        <p:nvSpPr>
          <p:cNvPr id="5" name="Shape 3"/>
          <p:cNvSpPr/>
          <p:nvPr/>
        </p:nvSpPr>
        <p:spPr>
          <a:xfrm>
            <a:off x="365760" y="749808"/>
            <a:ext cx="11247120" cy="1828800"/>
          </a:xfrm>
          <a:prstGeom prst="roundRect">
            <a:avLst>
              <a:gd name="adj" fmla="val 4000"/>
            </a:avLst>
          </a:prstGeom>
          <a:solidFill>
            <a:srgbClr val="162233"/>
          </a:solidFill>
          <a:ln w="12700">
            <a:solidFill>
              <a:srgbClr val="FFB703"/>
            </a:solidFill>
            <a:prstDash val="solid"/>
          </a:ln>
        </p:spPr>
      </p:sp>
      <p:sp>
        <p:nvSpPr>
          <p:cNvPr id="6" name="Text 4"/>
          <p:cNvSpPr/>
          <p:nvPr/>
        </p:nvSpPr>
        <p:spPr>
          <a:xfrm>
            <a:off x="530352" y="82296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Think About This...</a:t>
            </a:r>
            <a:endParaRPr lang="en-US" sz="1300" dirty="0"/>
          </a:p>
        </p:txBody>
      </p:sp>
      <p:sp>
        <p:nvSpPr>
          <p:cNvPr id="7" name="Text 5"/>
          <p:cNvSpPr/>
          <p:nvPr/>
        </p:nvSpPr>
        <p:spPr>
          <a:xfrm>
            <a:off x="530352" y="1188720"/>
            <a:ext cx="10917936" cy="1280160"/>
          </a:xfrm>
          <a:prstGeom prst="rect">
            <a:avLst/>
          </a:prstGeom>
          <a:noFill/>
          <a:ln/>
        </p:spPr>
        <p:txBody>
          <a:bodyPr wrap="square" rtlCol="0" anchor="t"/>
          <a:lstStyle/>
          <a:p>
            <a:pPr algn="l" indent="0" marL="0">
              <a:buNone/>
            </a:pPr>
            <a:r>
              <a:rPr lang="en-US" sz="1350" i="1" dirty="0">
                <a:solidFill>
                  <a:srgbClr val="FFFFFF"/>
                </a:solidFill>
                <a:latin typeface="Calibri" pitchFamily="34" charset="0"/>
                <a:ea typeface="Calibri" pitchFamily="34" charset="-122"/>
                <a:cs typeface="Calibri" pitchFamily="34" charset="-120"/>
              </a:rPr>
              <a:t>"Imagine you have a jar of cookies. If you eat one per day and someone bakes new ones every morning, are the cookies renewable or nonrenewable? What if the cookies took 300 MILLION years to bake?"</a:t>
            </a:r>
            <a:endParaRPr lang="en-US" sz="1350" dirty="0"/>
          </a:p>
        </p:txBody>
      </p:sp>
      <p:sp>
        <p:nvSpPr>
          <p:cNvPr id="8" name="Shape 6"/>
          <p:cNvSpPr/>
          <p:nvPr/>
        </p:nvSpPr>
        <p:spPr>
          <a:xfrm>
            <a:off x="365760" y="2743200"/>
            <a:ext cx="5394960" cy="3154680"/>
          </a:xfrm>
          <a:prstGeom prst="roundRect">
            <a:avLst>
              <a:gd name="adj" fmla="val 2319"/>
            </a:avLst>
          </a:prstGeom>
          <a:solidFill>
            <a:srgbClr val="1E2F45"/>
          </a:solidFill>
          <a:ln w="12700">
            <a:solidFill>
              <a:srgbClr val="2DC653"/>
            </a:solidFill>
            <a:prstDash val="solid"/>
          </a:ln>
        </p:spPr>
      </p:sp>
      <p:sp>
        <p:nvSpPr>
          <p:cNvPr id="9" name="Text 7"/>
          <p:cNvSpPr/>
          <p:nvPr/>
        </p:nvSpPr>
        <p:spPr>
          <a:xfrm>
            <a:off x="548640" y="2816352"/>
            <a:ext cx="5120640" cy="713232"/>
          </a:xfrm>
          <a:prstGeom prst="rect">
            <a:avLst/>
          </a:prstGeom>
          <a:noFill/>
          <a:ln/>
        </p:spPr>
        <p:txBody>
          <a:bodyPr wrap="square" rtlCol="0" anchor="ctr"/>
          <a:lstStyle/>
          <a:p>
            <a:pPr indent="0" marL="0">
              <a:buNone/>
            </a:pPr>
            <a:r>
              <a:rPr lang="en-US" sz="1400" b="1" dirty="0">
                <a:solidFill>
                  <a:srgbClr val="2DC653"/>
                </a:solidFill>
                <a:latin typeface="Calibri" pitchFamily="34" charset="0"/>
                <a:ea typeface="Calibri" pitchFamily="34" charset="-122"/>
                <a:cs typeface="Calibri" pitchFamily="34" charset="-120"/>
              </a:rPr>
              <a:t>Renewable = Cookie jar</a:t>
            </a:r>
            <a:endParaRPr lang="en-US" sz="1400" dirty="0"/>
          </a:p>
          <a:p>
            <a:pPr indent="0" marL="0">
              <a:buNone/>
            </a:pPr>
            <a:r>
              <a:rPr lang="en-US" sz="1400" b="1" dirty="0">
                <a:solidFill>
                  <a:srgbClr val="2DC653"/>
                </a:solidFill>
                <a:latin typeface="Calibri" pitchFamily="34" charset="0"/>
                <a:ea typeface="Calibri" pitchFamily="34" charset="-122"/>
                <a:cs typeface="Calibri" pitchFamily="34" charset="-120"/>
              </a:rPr>
              <a:t>that refills overnight</a:t>
            </a:r>
            <a:endParaRPr lang="en-US" sz="1400" dirty="0"/>
          </a:p>
        </p:txBody>
      </p:sp>
      <p:sp>
        <p:nvSpPr>
          <p:cNvPr id="10" name="Text 8"/>
          <p:cNvSpPr/>
          <p:nvPr/>
        </p:nvSpPr>
        <p:spPr>
          <a:xfrm>
            <a:off x="548640" y="3584448"/>
            <a:ext cx="5120640" cy="21762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Examples: sunlight (comes back every day), wind (always moving), water (water cycle keeps it coming), forests (grow back in 20-50 years)</a:t>
            </a:r>
            <a:endParaRPr lang="en-US" sz="1200" dirty="0"/>
          </a:p>
        </p:txBody>
      </p:sp>
      <p:sp>
        <p:nvSpPr>
          <p:cNvPr id="11" name="Shape 9"/>
          <p:cNvSpPr/>
          <p:nvPr/>
        </p:nvSpPr>
        <p:spPr>
          <a:xfrm>
            <a:off x="5943600" y="2743200"/>
            <a:ext cx="5760720" cy="3154680"/>
          </a:xfrm>
          <a:prstGeom prst="roundRect">
            <a:avLst>
              <a:gd name="adj" fmla="val 2319"/>
            </a:avLst>
          </a:prstGeom>
          <a:solidFill>
            <a:srgbClr val="1E2F45"/>
          </a:solidFill>
          <a:ln w="12700">
            <a:solidFill>
              <a:srgbClr val="F4736A"/>
            </a:solidFill>
            <a:prstDash val="solid"/>
          </a:ln>
        </p:spPr>
      </p:sp>
      <p:sp>
        <p:nvSpPr>
          <p:cNvPr id="12" name="Text 10"/>
          <p:cNvSpPr/>
          <p:nvPr/>
        </p:nvSpPr>
        <p:spPr>
          <a:xfrm>
            <a:off x="6126480" y="2816352"/>
            <a:ext cx="5486400" cy="713232"/>
          </a:xfrm>
          <a:prstGeom prst="rect">
            <a:avLst/>
          </a:prstGeom>
          <a:noFill/>
          <a:ln/>
        </p:spPr>
        <p:txBody>
          <a:bodyPr wrap="square" rtlCol="0" anchor="ctr"/>
          <a:lstStyle/>
          <a:p>
            <a:pPr indent="0" marL="0">
              <a:buNone/>
            </a:pPr>
            <a:r>
              <a:rPr lang="en-US" sz="1400" b="1" dirty="0">
                <a:solidFill>
                  <a:srgbClr val="F4736A"/>
                </a:solidFill>
                <a:latin typeface="Calibri" pitchFamily="34" charset="0"/>
                <a:ea typeface="Calibri" pitchFamily="34" charset="-122"/>
                <a:cs typeface="Calibri" pitchFamily="34" charset="-120"/>
              </a:rPr>
              <a:t>Nonrenewable = Cookie jar</a:t>
            </a:r>
            <a:endParaRPr lang="en-US" sz="1400" dirty="0"/>
          </a:p>
          <a:p>
            <a:pPr indent="0" marL="0">
              <a:buNone/>
            </a:pPr>
            <a:r>
              <a:rPr lang="en-US" sz="1400" b="1" dirty="0">
                <a:solidFill>
                  <a:srgbClr val="F4736A"/>
                </a:solidFill>
                <a:latin typeface="Calibri" pitchFamily="34" charset="0"/>
                <a:ea typeface="Calibri" pitchFamily="34" charset="-122"/>
                <a:cs typeface="Calibri" pitchFamily="34" charset="-120"/>
              </a:rPr>
              <a:t>that takes 300M years to refill</a:t>
            </a:r>
            <a:endParaRPr lang="en-US" sz="1400" dirty="0"/>
          </a:p>
        </p:txBody>
      </p:sp>
      <p:sp>
        <p:nvSpPr>
          <p:cNvPr id="13" name="Text 11"/>
          <p:cNvSpPr/>
          <p:nvPr/>
        </p:nvSpPr>
        <p:spPr>
          <a:xfrm>
            <a:off x="6126480" y="3584448"/>
            <a:ext cx="5486400" cy="21762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Examples: coal, oil, natural gas. Once we use them up, they're GONE — we can't make more. That's why this matters right now!</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The Key Difference: TIME</a:t>
            </a:r>
            <a:endParaRPr lang="en-US" sz="1600" dirty="0"/>
          </a:p>
        </p:txBody>
      </p:sp>
      <p:sp>
        <p:nvSpPr>
          <p:cNvPr id="5" name="Text 3"/>
          <p:cNvSpPr/>
          <p:nvPr/>
        </p:nvSpPr>
        <p:spPr>
          <a:xfrm>
            <a:off x="365760" y="749808"/>
            <a:ext cx="1124712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The difference between renewable and nonrenewable is all about TIME.</a:t>
            </a:r>
            <a:endParaRPr lang="en-US" sz="1500" dirty="0"/>
          </a:p>
        </p:txBody>
      </p:sp>
      <p:sp>
        <p:nvSpPr>
          <p:cNvPr id="6" name="Shape 4"/>
          <p:cNvSpPr/>
          <p:nvPr/>
        </p:nvSpPr>
        <p:spPr>
          <a:xfrm>
            <a:off x="365760" y="1353312"/>
            <a:ext cx="3200400" cy="685800"/>
          </a:xfrm>
          <a:prstGeom prst="roundRect">
            <a:avLst>
              <a:gd name="adj" fmla="val 10667"/>
            </a:avLst>
          </a:prstGeom>
          <a:solidFill>
            <a:srgbClr val="1E2F45"/>
          </a:solidFill>
          <a:ln w="12700">
            <a:solidFill>
              <a:srgbClr val="2DC653"/>
            </a:solidFill>
            <a:prstDash val="solid"/>
          </a:ln>
        </p:spPr>
      </p:sp>
      <p:sp>
        <p:nvSpPr>
          <p:cNvPr id="7" name="Text 5"/>
          <p:cNvSpPr/>
          <p:nvPr/>
        </p:nvSpPr>
        <p:spPr>
          <a:xfrm>
            <a:off x="502920" y="1399032"/>
            <a:ext cx="30175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Solar Energy</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Every day</a:t>
            </a:r>
            <a:endParaRPr lang="en-US" sz="1050" dirty="0"/>
          </a:p>
        </p:txBody>
      </p:sp>
      <p:sp>
        <p:nvSpPr>
          <p:cNvPr id="8" name="Shape 6"/>
          <p:cNvSpPr/>
          <p:nvPr/>
        </p:nvSpPr>
        <p:spPr>
          <a:xfrm>
            <a:off x="3749040" y="1517904"/>
            <a:ext cx="914400" cy="365760"/>
          </a:xfrm>
          <a:prstGeom prst="rect">
            <a:avLst/>
          </a:prstGeom>
          <a:solidFill>
            <a:srgbClr val="2DC653"/>
          </a:solidFill>
          <a:ln w="12700">
            <a:solidFill>
              <a:srgbClr val="2DC653"/>
            </a:solidFill>
            <a:prstDash val="solid"/>
          </a:ln>
        </p:spPr>
      </p:sp>
      <p:sp>
        <p:nvSpPr>
          <p:cNvPr id="9" name="Text 7"/>
          <p:cNvSpPr/>
          <p:nvPr/>
        </p:nvSpPr>
        <p:spPr>
          <a:xfrm>
            <a:off x="4754880" y="1517904"/>
            <a:ext cx="3657600" cy="36576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 RENEWABLE</a:t>
            </a:r>
            <a:endParaRPr lang="en-US" sz="1000" dirty="0"/>
          </a:p>
        </p:txBody>
      </p:sp>
      <p:sp>
        <p:nvSpPr>
          <p:cNvPr id="10" name="Shape 8"/>
          <p:cNvSpPr/>
          <p:nvPr/>
        </p:nvSpPr>
        <p:spPr>
          <a:xfrm>
            <a:off x="365760" y="2194560"/>
            <a:ext cx="3200400" cy="685800"/>
          </a:xfrm>
          <a:prstGeom prst="roundRect">
            <a:avLst>
              <a:gd name="adj" fmla="val 10667"/>
            </a:avLst>
          </a:prstGeom>
          <a:solidFill>
            <a:srgbClr val="1E2F45"/>
          </a:solidFill>
          <a:ln w="12700">
            <a:solidFill>
              <a:srgbClr val="2DC653"/>
            </a:solidFill>
            <a:prstDash val="solid"/>
          </a:ln>
        </p:spPr>
      </p:sp>
      <p:sp>
        <p:nvSpPr>
          <p:cNvPr id="11" name="Text 9"/>
          <p:cNvSpPr/>
          <p:nvPr/>
        </p:nvSpPr>
        <p:spPr>
          <a:xfrm>
            <a:off x="502920" y="2240280"/>
            <a:ext cx="30175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Water Cycle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Constantly cycling</a:t>
            </a:r>
            <a:endParaRPr lang="en-US" sz="1050" dirty="0"/>
          </a:p>
        </p:txBody>
      </p:sp>
      <p:sp>
        <p:nvSpPr>
          <p:cNvPr id="12" name="Shape 10"/>
          <p:cNvSpPr/>
          <p:nvPr/>
        </p:nvSpPr>
        <p:spPr>
          <a:xfrm>
            <a:off x="3749040" y="2359152"/>
            <a:ext cx="1097280" cy="365760"/>
          </a:xfrm>
          <a:prstGeom prst="rect">
            <a:avLst/>
          </a:prstGeom>
          <a:solidFill>
            <a:srgbClr val="2DC653"/>
          </a:solidFill>
          <a:ln w="12700">
            <a:solidFill>
              <a:srgbClr val="2DC653"/>
            </a:solidFill>
            <a:prstDash val="solid"/>
          </a:ln>
        </p:spPr>
      </p:sp>
      <p:sp>
        <p:nvSpPr>
          <p:cNvPr id="13" name="Text 11"/>
          <p:cNvSpPr/>
          <p:nvPr/>
        </p:nvSpPr>
        <p:spPr>
          <a:xfrm>
            <a:off x="4937760" y="2359152"/>
            <a:ext cx="3657600" cy="36576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 RENEWABLE</a:t>
            </a:r>
            <a:endParaRPr lang="en-US" sz="1000" dirty="0"/>
          </a:p>
        </p:txBody>
      </p:sp>
      <p:sp>
        <p:nvSpPr>
          <p:cNvPr id="14" name="Shape 12"/>
          <p:cNvSpPr/>
          <p:nvPr/>
        </p:nvSpPr>
        <p:spPr>
          <a:xfrm>
            <a:off x="365760" y="3035808"/>
            <a:ext cx="3200400" cy="685800"/>
          </a:xfrm>
          <a:prstGeom prst="roundRect">
            <a:avLst>
              <a:gd name="adj" fmla="val 10667"/>
            </a:avLst>
          </a:prstGeom>
          <a:solidFill>
            <a:srgbClr val="1E2F45"/>
          </a:solidFill>
          <a:ln w="12700">
            <a:solidFill>
              <a:srgbClr val="2DC653"/>
            </a:solidFill>
            <a:prstDash val="solid"/>
          </a:ln>
        </p:spPr>
      </p:sp>
      <p:sp>
        <p:nvSpPr>
          <p:cNvPr id="15" name="Text 13"/>
          <p:cNvSpPr/>
          <p:nvPr/>
        </p:nvSpPr>
        <p:spPr>
          <a:xfrm>
            <a:off x="502920" y="3081528"/>
            <a:ext cx="30175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Wind</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Always available</a:t>
            </a:r>
            <a:endParaRPr lang="en-US" sz="1050" dirty="0"/>
          </a:p>
        </p:txBody>
      </p:sp>
      <p:sp>
        <p:nvSpPr>
          <p:cNvPr id="16" name="Shape 14"/>
          <p:cNvSpPr/>
          <p:nvPr/>
        </p:nvSpPr>
        <p:spPr>
          <a:xfrm>
            <a:off x="3749040" y="3200400"/>
            <a:ext cx="1005840" cy="365760"/>
          </a:xfrm>
          <a:prstGeom prst="rect">
            <a:avLst/>
          </a:prstGeom>
          <a:solidFill>
            <a:srgbClr val="2DC653"/>
          </a:solidFill>
          <a:ln w="12700">
            <a:solidFill>
              <a:srgbClr val="2DC653"/>
            </a:solidFill>
            <a:prstDash val="solid"/>
          </a:ln>
        </p:spPr>
      </p:sp>
      <p:sp>
        <p:nvSpPr>
          <p:cNvPr id="17" name="Text 15"/>
          <p:cNvSpPr/>
          <p:nvPr/>
        </p:nvSpPr>
        <p:spPr>
          <a:xfrm>
            <a:off x="4846320" y="3200400"/>
            <a:ext cx="3657600" cy="36576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 RENEWABLE</a:t>
            </a:r>
            <a:endParaRPr lang="en-US" sz="1000" dirty="0"/>
          </a:p>
        </p:txBody>
      </p:sp>
      <p:sp>
        <p:nvSpPr>
          <p:cNvPr id="18" name="Shape 16"/>
          <p:cNvSpPr/>
          <p:nvPr/>
        </p:nvSpPr>
        <p:spPr>
          <a:xfrm>
            <a:off x="365760" y="3877056"/>
            <a:ext cx="3200400" cy="685800"/>
          </a:xfrm>
          <a:prstGeom prst="roundRect">
            <a:avLst>
              <a:gd name="adj" fmla="val 10667"/>
            </a:avLst>
          </a:prstGeom>
          <a:solidFill>
            <a:srgbClr val="1E2F45"/>
          </a:solidFill>
          <a:ln w="12700">
            <a:solidFill>
              <a:srgbClr val="4CC9F0"/>
            </a:solidFill>
            <a:prstDash val="solid"/>
          </a:ln>
        </p:spPr>
      </p:sp>
      <p:sp>
        <p:nvSpPr>
          <p:cNvPr id="19" name="Text 17"/>
          <p:cNvSpPr/>
          <p:nvPr/>
        </p:nvSpPr>
        <p:spPr>
          <a:xfrm>
            <a:off x="502920" y="3922776"/>
            <a:ext cx="30175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Forests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20-50 years</a:t>
            </a:r>
            <a:endParaRPr lang="en-US" sz="1050" dirty="0"/>
          </a:p>
        </p:txBody>
      </p:sp>
      <p:sp>
        <p:nvSpPr>
          <p:cNvPr id="20" name="Shape 18"/>
          <p:cNvSpPr/>
          <p:nvPr/>
        </p:nvSpPr>
        <p:spPr>
          <a:xfrm>
            <a:off x="3749040" y="4041648"/>
            <a:ext cx="1645920" cy="365760"/>
          </a:xfrm>
          <a:prstGeom prst="rect">
            <a:avLst/>
          </a:prstGeom>
          <a:solidFill>
            <a:srgbClr val="4CC9F0"/>
          </a:solidFill>
          <a:ln w="12700">
            <a:solidFill>
              <a:srgbClr val="4CC9F0"/>
            </a:solidFill>
            <a:prstDash val="solid"/>
          </a:ln>
        </p:spPr>
      </p:sp>
      <p:sp>
        <p:nvSpPr>
          <p:cNvPr id="21" name="Text 19"/>
          <p:cNvSpPr/>
          <p:nvPr/>
        </p:nvSpPr>
        <p:spPr>
          <a:xfrm>
            <a:off x="5486400" y="4041648"/>
            <a:ext cx="3657600" cy="365760"/>
          </a:xfrm>
          <a:prstGeom prst="rect">
            <a:avLst/>
          </a:prstGeom>
          <a:noFill/>
          <a:ln/>
        </p:spPr>
        <p:txBody>
          <a:bodyPr wrap="square" rtlCol="0" anchor="ctr"/>
          <a:lstStyle/>
          <a:p>
            <a:pPr indent="0" marL="0">
              <a:buNone/>
            </a:pPr>
            <a:r>
              <a:rPr lang="en-US" sz="1000" b="1" dirty="0">
                <a:solidFill>
                  <a:srgbClr val="4CC9F0"/>
                </a:solidFill>
                <a:latin typeface="Calibri" pitchFamily="34" charset="0"/>
                <a:ea typeface="Calibri" pitchFamily="34" charset="-122"/>
                <a:cs typeface="Calibri" pitchFamily="34" charset="-120"/>
              </a:rPr>
              <a:t>← RENEWABLE</a:t>
            </a:r>
            <a:endParaRPr lang="en-US" sz="1000" dirty="0"/>
          </a:p>
        </p:txBody>
      </p:sp>
      <p:sp>
        <p:nvSpPr>
          <p:cNvPr id="22" name="Shape 20"/>
          <p:cNvSpPr/>
          <p:nvPr/>
        </p:nvSpPr>
        <p:spPr>
          <a:xfrm>
            <a:off x="365760" y="4718304"/>
            <a:ext cx="3200400" cy="685800"/>
          </a:xfrm>
          <a:prstGeom prst="roundRect">
            <a:avLst>
              <a:gd name="adj" fmla="val 10667"/>
            </a:avLst>
          </a:prstGeom>
          <a:solidFill>
            <a:srgbClr val="1E2F45"/>
          </a:solidFill>
          <a:ln w="12700">
            <a:solidFill>
              <a:srgbClr val="F4736A"/>
            </a:solidFill>
            <a:prstDash val="solid"/>
          </a:ln>
        </p:spPr>
      </p:sp>
      <p:sp>
        <p:nvSpPr>
          <p:cNvPr id="23" name="Text 21"/>
          <p:cNvSpPr/>
          <p:nvPr/>
        </p:nvSpPr>
        <p:spPr>
          <a:xfrm>
            <a:off x="502920" y="4764024"/>
            <a:ext cx="30175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Coal</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300 million years</a:t>
            </a:r>
            <a:endParaRPr lang="en-US" sz="1050" dirty="0"/>
          </a:p>
        </p:txBody>
      </p:sp>
      <p:sp>
        <p:nvSpPr>
          <p:cNvPr id="24" name="Shape 22"/>
          <p:cNvSpPr/>
          <p:nvPr/>
        </p:nvSpPr>
        <p:spPr>
          <a:xfrm>
            <a:off x="3749040" y="4882896"/>
            <a:ext cx="7315200" cy="365760"/>
          </a:xfrm>
          <a:prstGeom prst="rect">
            <a:avLst/>
          </a:prstGeom>
          <a:solidFill>
            <a:srgbClr val="F4736A"/>
          </a:solidFill>
          <a:ln w="12700">
            <a:solidFill>
              <a:srgbClr val="F4736A"/>
            </a:solidFill>
            <a:prstDash val="solid"/>
          </a:ln>
        </p:spPr>
      </p:sp>
      <p:sp>
        <p:nvSpPr>
          <p:cNvPr id="25" name="Text 23"/>
          <p:cNvSpPr/>
          <p:nvPr/>
        </p:nvSpPr>
        <p:spPr>
          <a:xfrm>
            <a:off x="11155680" y="4882896"/>
            <a:ext cx="3657600" cy="365760"/>
          </a:xfrm>
          <a:prstGeom prst="rect">
            <a:avLst/>
          </a:prstGeom>
          <a:noFill/>
          <a:ln/>
        </p:spPr>
        <p:txBody>
          <a:bodyPr wrap="square" rtlCol="0" anchor="ctr"/>
          <a:lstStyle/>
          <a:p>
            <a:pPr indent="0" marL="0">
              <a:buNone/>
            </a:pPr>
            <a:r>
              <a:rPr lang="en-US" sz="1000" b="1" dirty="0">
                <a:solidFill>
                  <a:srgbClr val="F4736A"/>
                </a:solidFill>
                <a:latin typeface="Calibri" pitchFamily="34" charset="0"/>
                <a:ea typeface="Calibri" pitchFamily="34" charset="-122"/>
                <a:cs typeface="Calibri" pitchFamily="34" charset="-120"/>
              </a:rPr>
              <a:t>← NONRENEWABLE</a:t>
            </a:r>
            <a:endParaRPr lang="en-US" sz="1000" dirty="0"/>
          </a:p>
        </p:txBody>
      </p:sp>
      <p:sp>
        <p:nvSpPr>
          <p:cNvPr id="26" name="Shape 24"/>
          <p:cNvSpPr/>
          <p:nvPr/>
        </p:nvSpPr>
        <p:spPr>
          <a:xfrm>
            <a:off x="365760" y="5559552"/>
            <a:ext cx="3200400" cy="685800"/>
          </a:xfrm>
          <a:prstGeom prst="roundRect">
            <a:avLst>
              <a:gd name="adj" fmla="val 10667"/>
            </a:avLst>
          </a:prstGeom>
          <a:solidFill>
            <a:srgbClr val="1E2F45"/>
          </a:solidFill>
          <a:ln w="12700">
            <a:solidFill>
              <a:srgbClr val="F4736A"/>
            </a:solidFill>
            <a:prstDash val="solid"/>
          </a:ln>
        </p:spPr>
      </p:sp>
      <p:sp>
        <p:nvSpPr>
          <p:cNvPr id="27" name="Text 25"/>
          <p:cNvSpPr/>
          <p:nvPr/>
        </p:nvSpPr>
        <p:spPr>
          <a:xfrm>
            <a:off x="502920" y="5605272"/>
            <a:ext cx="30175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Oil &amp; Gas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300+ million years</a:t>
            </a:r>
            <a:endParaRPr lang="en-US" sz="1050" dirty="0"/>
          </a:p>
        </p:txBody>
      </p:sp>
      <p:sp>
        <p:nvSpPr>
          <p:cNvPr id="28" name="Shape 26"/>
          <p:cNvSpPr/>
          <p:nvPr/>
        </p:nvSpPr>
        <p:spPr>
          <a:xfrm>
            <a:off x="3749040" y="5724144"/>
            <a:ext cx="7315200" cy="365760"/>
          </a:xfrm>
          <a:prstGeom prst="rect">
            <a:avLst/>
          </a:prstGeom>
          <a:solidFill>
            <a:srgbClr val="F4736A"/>
          </a:solidFill>
          <a:ln w="12700">
            <a:solidFill>
              <a:srgbClr val="F4736A"/>
            </a:solidFill>
            <a:prstDash val="solid"/>
          </a:ln>
        </p:spPr>
      </p:sp>
      <p:sp>
        <p:nvSpPr>
          <p:cNvPr id="29" name="Text 27"/>
          <p:cNvSpPr/>
          <p:nvPr/>
        </p:nvSpPr>
        <p:spPr>
          <a:xfrm>
            <a:off x="11155680" y="5724144"/>
            <a:ext cx="3657600" cy="365760"/>
          </a:xfrm>
          <a:prstGeom prst="rect">
            <a:avLst/>
          </a:prstGeom>
          <a:noFill/>
          <a:ln/>
        </p:spPr>
        <p:txBody>
          <a:bodyPr wrap="square" rtlCol="0" anchor="ctr"/>
          <a:lstStyle/>
          <a:p>
            <a:pPr indent="0" marL="0">
              <a:buNone/>
            </a:pPr>
            <a:r>
              <a:rPr lang="en-US" sz="1000" b="1" dirty="0">
                <a:solidFill>
                  <a:srgbClr val="F4736A"/>
                </a:solidFill>
                <a:latin typeface="Calibri" pitchFamily="34" charset="0"/>
                <a:ea typeface="Calibri" pitchFamily="34" charset="-122"/>
                <a:cs typeface="Calibri" pitchFamily="34" charset="-120"/>
              </a:rPr>
              <a:t>← NONRENEWABLE</a:t>
            </a:r>
            <a:endParaRPr lang="en-US" sz="100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Three Important Energy Sources</a:t>
            </a:r>
            <a:endParaRPr lang="en-US" sz="1600" dirty="0"/>
          </a:p>
        </p:txBody>
      </p:sp>
      <p:sp>
        <p:nvSpPr>
          <p:cNvPr id="5" name="Shape 3"/>
          <p:cNvSpPr/>
          <p:nvPr/>
        </p:nvSpPr>
        <p:spPr>
          <a:xfrm>
            <a:off x="365760" y="749808"/>
            <a:ext cx="3566160" cy="4114800"/>
          </a:xfrm>
          <a:prstGeom prst="roundRect">
            <a:avLst>
              <a:gd name="adj" fmla="val 2051"/>
            </a:avLst>
          </a:prstGeom>
          <a:solidFill>
            <a:srgbClr val="0A1520"/>
          </a:solidFill>
          <a:ln w="19050">
            <a:solidFill>
              <a:srgbClr val="4CC9F0"/>
            </a:solidFill>
            <a:prstDash val="dash"/>
          </a:ln>
        </p:spPr>
      </p:sp>
      <p:sp>
        <p:nvSpPr>
          <p:cNvPr id="6" name="Text 4"/>
          <p:cNvSpPr/>
          <p:nvPr/>
        </p:nvSpPr>
        <p:spPr>
          <a:xfrm>
            <a:off x="457200" y="859536"/>
            <a:ext cx="33832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33832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3346704" cy="30632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"residential solar panels rooftop clean energy sunlight"</a:t>
            </a:r>
            <a:endParaRPr lang="en-US" sz="950" dirty="0"/>
          </a:p>
        </p:txBody>
      </p:sp>
      <p:sp>
        <p:nvSpPr>
          <p:cNvPr id="9" name="Text 7"/>
          <p:cNvSpPr/>
          <p:nvPr/>
        </p:nvSpPr>
        <p:spPr>
          <a:xfrm>
            <a:off x="365760" y="4901184"/>
            <a:ext cx="35661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Solar panels on a home rooftop</a:t>
            </a:r>
            <a:endParaRPr lang="en-US" sz="900" dirty="0"/>
          </a:p>
        </p:txBody>
      </p:sp>
      <p:sp>
        <p:nvSpPr>
          <p:cNvPr id="10" name="Shape 8"/>
          <p:cNvSpPr/>
          <p:nvPr/>
        </p:nvSpPr>
        <p:spPr>
          <a:xfrm>
            <a:off x="4114800" y="749808"/>
            <a:ext cx="3566160" cy="4114800"/>
          </a:xfrm>
          <a:prstGeom prst="roundRect">
            <a:avLst>
              <a:gd name="adj" fmla="val 2051"/>
            </a:avLst>
          </a:prstGeom>
          <a:solidFill>
            <a:srgbClr val="0A1520"/>
          </a:solidFill>
          <a:ln w="19050">
            <a:solidFill>
              <a:srgbClr val="4CC9F0"/>
            </a:solidFill>
            <a:prstDash val="dash"/>
          </a:ln>
        </p:spPr>
      </p:sp>
      <p:sp>
        <p:nvSpPr>
          <p:cNvPr id="11" name="Text 9"/>
          <p:cNvSpPr/>
          <p:nvPr/>
        </p:nvSpPr>
        <p:spPr>
          <a:xfrm>
            <a:off x="4206240" y="859536"/>
            <a:ext cx="33832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4206240" y="1298448"/>
            <a:ext cx="33832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3" name="Text 11"/>
          <p:cNvSpPr/>
          <p:nvPr/>
        </p:nvSpPr>
        <p:spPr>
          <a:xfrm>
            <a:off x="4224528" y="1591056"/>
            <a:ext cx="3346704" cy="30632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"wind turbines wind farm green energy electricity generation"</a:t>
            </a:r>
            <a:endParaRPr lang="en-US" sz="950" dirty="0"/>
          </a:p>
        </p:txBody>
      </p:sp>
      <p:sp>
        <p:nvSpPr>
          <p:cNvPr id="14" name="Text 12"/>
          <p:cNvSpPr/>
          <p:nvPr/>
        </p:nvSpPr>
        <p:spPr>
          <a:xfrm>
            <a:off x="4114800" y="4901184"/>
            <a:ext cx="35661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Wind turbines generating clean electricity</a:t>
            </a:r>
            <a:endParaRPr lang="en-US" sz="900" dirty="0"/>
          </a:p>
        </p:txBody>
      </p:sp>
      <p:sp>
        <p:nvSpPr>
          <p:cNvPr id="15" name="Shape 13"/>
          <p:cNvSpPr/>
          <p:nvPr/>
        </p:nvSpPr>
        <p:spPr>
          <a:xfrm>
            <a:off x="7863840" y="749808"/>
            <a:ext cx="3931920" cy="4114800"/>
          </a:xfrm>
          <a:prstGeom prst="roundRect">
            <a:avLst>
              <a:gd name="adj" fmla="val 1860"/>
            </a:avLst>
          </a:prstGeom>
          <a:solidFill>
            <a:srgbClr val="0A1520"/>
          </a:solidFill>
          <a:ln w="19050">
            <a:solidFill>
              <a:srgbClr val="4CC9F0"/>
            </a:solidFill>
            <a:prstDash val="dash"/>
          </a:ln>
        </p:spPr>
      </p:sp>
      <p:sp>
        <p:nvSpPr>
          <p:cNvPr id="16" name="Text 14"/>
          <p:cNvSpPr/>
          <p:nvPr/>
        </p:nvSpPr>
        <p:spPr>
          <a:xfrm>
            <a:off x="7955280" y="859536"/>
            <a:ext cx="37490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7955280" y="1298448"/>
            <a:ext cx="37490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8" name="Text 16"/>
          <p:cNvSpPr/>
          <p:nvPr/>
        </p:nvSpPr>
        <p:spPr>
          <a:xfrm>
            <a:off x="7973568" y="1591056"/>
            <a:ext cx="3712464" cy="30632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"coal mine open pit fossil fuel nonrenewable resource extraction"</a:t>
            </a:r>
            <a:endParaRPr lang="en-US" sz="950" dirty="0"/>
          </a:p>
        </p:txBody>
      </p:sp>
      <p:sp>
        <p:nvSpPr>
          <p:cNvPr id="19" name="Text 17"/>
          <p:cNvSpPr/>
          <p:nvPr/>
        </p:nvSpPr>
        <p:spPr>
          <a:xfrm>
            <a:off x="7863840" y="4901184"/>
            <a:ext cx="39319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Open-pit coal mine — a nonrenewable resource</a:t>
            </a:r>
            <a:endParaRPr lang="en-US" sz="900" dirty="0"/>
          </a:p>
        </p:txBody>
      </p:sp>
      <p:sp>
        <p:nvSpPr>
          <p:cNvPr id="20" name="Shape 18"/>
          <p:cNvSpPr/>
          <p:nvPr/>
        </p:nvSpPr>
        <p:spPr>
          <a:xfrm>
            <a:off x="365760" y="4983480"/>
            <a:ext cx="3566160" cy="1188720"/>
          </a:xfrm>
          <a:prstGeom prst="roundRect">
            <a:avLst>
              <a:gd name="adj" fmla="val 6154"/>
            </a:avLst>
          </a:prstGeom>
          <a:solidFill>
            <a:srgbClr val="1E2F45"/>
          </a:solidFill>
          <a:ln w="12700">
            <a:solidFill>
              <a:srgbClr val="2DC653"/>
            </a:solidFill>
            <a:prstDash val="solid"/>
          </a:ln>
        </p:spPr>
      </p:sp>
      <p:sp>
        <p:nvSpPr>
          <p:cNvPr id="21" name="Text 19"/>
          <p:cNvSpPr/>
          <p:nvPr/>
        </p:nvSpPr>
        <p:spPr>
          <a:xfrm>
            <a:off x="502920" y="5029200"/>
            <a:ext cx="3291840" cy="1097280"/>
          </a:xfrm>
          <a:prstGeom prst="rect">
            <a:avLst/>
          </a:prstGeom>
          <a:noFill/>
          <a:ln/>
        </p:spPr>
        <p:txBody>
          <a:bodyPr wrap="square" rtlCol="0" anchor="ctr"/>
          <a:lstStyle/>
          <a:p>
            <a:pPr algn="ctr" indent="0" marL="0">
              <a:buNone/>
            </a:pPr>
            <a:r>
              <a:rPr lang="en-US" sz="1150" dirty="0">
                <a:solidFill>
                  <a:srgbClr val="2DC653"/>
                </a:solidFill>
                <a:latin typeface="Calibri" pitchFamily="34" charset="0"/>
                <a:ea typeface="Calibri" pitchFamily="34" charset="-122"/>
                <a:cs typeface="Calibri" pitchFamily="34" charset="-120"/>
              </a:rPr>
              <a:t>☀️ Solar Energy</a:t>
            </a:r>
            <a:endParaRPr lang="en-US" sz="1150" dirty="0"/>
          </a:p>
          <a:p>
            <a:pPr algn="ctr" indent="0" marL="0">
              <a:buNone/>
            </a:pPr>
            <a:r>
              <a:rPr lang="en-US" sz="1150" dirty="0">
                <a:solidFill>
                  <a:srgbClr val="2DC653"/>
                </a:solidFill>
                <a:latin typeface="Calibri" pitchFamily="34" charset="0"/>
                <a:ea typeface="Calibri" pitchFamily="34" charset="-122"/>
                <a:cs typeface="Calibri" pitchFamily="34" charset="-120"/>
              </a:rPr>
              <a:t>♻️ Renewable</a:t>
            </a:r>
            <a:endParaRPr lang="en-US" sz="1150" dirty="0"/>
          </a:p>
          <a:p>
            <a:pPr algn="ctr" indent="0" marL="0">
              <a:buNone/>
            </a:pPr>
            <a:r>
              <a:rPr lang="en-US" sz="1150" dirty="0">
                <a:solidFill>
                  <a:srgbClr val="2DC653"/>
                </a:solidFill>
                <a:latin typeface="Calibri" pitchFamily="34" charset="0"/>
                <a:ea typeface="Calibri" pitchFamily="34" charset="-122"/>
                <a:cs typeface="Calibri" pitchFamily="34" charset="-120"/>
              </a:rPr>
              <a:t>Free, clean, unlimited!</a:t>
            </a:r>
            <a:endParaRPr lang="en-US" sz="1150" dirty="0"/>
          </a:p>
        </p:txBody>
      </p:sp>
      <p:sp>
        <p:nvSpPr>
          <p:cNvPr id="22" name="Shape 20"/>
          <p:cNvSpPr/>
          <p:nvPr/>
        </p:nvSpPr>
        <p:spPr>
          <a:xfrm>
            <a:off x="4114800" y="4983480"/>
            <a:ext cx="3566160" cy="1188720"/>
          </a:xfrm>
          <a:prstGeom prst="roundRect">
            <a:avLst>
              <a:gd name="adj" fmla="val 6154"/>
            </a:avLst>
          </a:prstGeom>
          <a:solidFill>
            <a:srgbClr val="1E2F45"/>
          </a:solidFill>
          <a:ln w="12700">
            <a:solidFill>
              <a:srgbClr val="4CC9F0"/>
            </a:solidFill>
            <a:prstDash val="solid"/>
          </a:ln>
        </p:spPr>
      </p:sp>
      <p:sp>
        <p:nvSpPr>
          <p:cNvPr id="23" name="Text 21"/>
          <p:cNvSpPr/>
          <p:nvPr/>
        </p:nvSpPr>
        <p:spPr>
          <a:xfrm>
            <a:off x="4251960" y="5029200"/>
            <a:ext cx="3291840" cy="1097280"/>
          </a:xfrm>
          <a:prstGeom prst="rect">
            <a:avLst/>
          </a:prstGeom>
          <a:noFill/>
          <a:ln/>
        </p:spPr>
        <p:txBody>
          <a:bodyPr wrap="square" rtlCol="0" anchor="ctr"/>
          <a:lstStyle/>
          <a:p>
            <a:pPr algn="ctr" indent="0" marL="0">
              <a:buNone/>
            </a:pPr>
            <a:r>
              <a:rPr lang="en-US" sz="1150" dirty="0">
                <a:solidFill>
                  <a:srgbClr val="4CC9F0"/>
                </a:solidFill>
                <a:latin typeface="Calibri" pitchFamily="34" charset="0"/>
                <a:ea typeface="Calibri" pitchFamily="34" charset="-122"/>
                <a:cs typeface="Calibri" pitchFamily="34" charset="-120"/>
              </a:rPr>
              <a:t>💨 Wind Energy</a:t>
            </a:r>
            <a:endParaRPr lang="en-US" sz="1150" dirty="0"/>
          </a:p>
          <a:p>
            <a:pPr algn="ctr" indent="0" marL="0">
              <a:buNone/>
            </a:pPr>
            <a:r>
              <a:rPr lang="en-US" sz="1150" dirty="0">
                <a:solidFill>
                  <a:srgbClr val="4CC9F0"/>
                </a:solidFill>
                <a:latin typeface="Calibri" pitchFamily="34" charset="0"/>
                <a:ea typeface="Calibri" pitchFamily="34" charset="-122"/>
                <a:cs typeface="Calibri" pitchFamily="34" charset="-120"/>
              </a:rPr>
              <a:t>♻️ Renewable</a:t>
            </a:r>
            <a:endParaRPr lang="en-US" sz="1150" dirty="0"/>
          </a:p>
          <a:p>
            <a:pPr algn="ctr" indent="0" marL="0">
              <a:buNone/>
            </a:pPr>
            <a:r>
              <a:rPr lang="en-US" sz="1150" dirty="0">
                <a:solidFill>
                  <a:srgbClr val="4CC9F0"/>
                </a:solidFill>
                <a:latin typeface="Calibri" pitchFamily="34" charset="0"/>
                <a:ea typeface="Calibri" pitchFamily="34" charset="-122"/>
                <a:cs typeface="Calibri" pitchFamily="34" charset="-120"/>
              </a:rPr>
              <a:t>No fuel needed!</a:t>
            </a:r>
            <a:endParaRPr lang="en-US" sz="1150" dirty="0"/>
          </a:p>
        </p:txBody>
      </p:sp>
      <p:sp>
        <p:nvSpPr>
          <p:cNvPr id="24" name="Shape 22"/>
          <p:cNvSpPr/>
          <p:nvPr/>
        </p:nvSpPr>
        <p:spPr>
          <a:xfrm>
            <a:off x="7863840" y="4983480"/>
            <a:ext cx="3931920" cy="1188720"/>
          </a:xfrm>
          <a:prstGeom prst="roundRect">
            <a:avLst>
              <a:gd name="adj" fmla="val 6154"/>
            </a:avLst>
          </a:prstGeom>
          <a:solidFill>
            <a:srgbClr val="1E2F45"/>
          </a:solidFill>
          <a:ln w="12700">
            <a:solidFill>
              <a:srgbClr val="F4736A"/>
            </a:solidFill>
            <a:prstDash val="solid"/>
          </a:ln>
        </p:spPr>
      </p:sp>
      <p:sp>
        <p:nvSpPr>
          <p:cNvPr id="25" name="Text 23"/>
          <p:cNvSpPr/>
          <p:nvPr/>
        </p:nvSpPr>
        <p:spPr>
          <a:xfrm>
            <a:off x="8001000" y="5029200"/>
            <a:ext cx="3657600" cy="1097280"/>
          </a:xfrm>
          <a:prstGeom prst="rect">
            <a:avLst/>
          </a:prstGeom>
          <a:noFill/>
          <a:ln/>
        </p:spPr>
        <p:txBody>
          <a:bodyPr wrap="square" rtlCol="0" anchor="ctr"/>
          <a:lstStyle/>
          <a:p>
            <a:pPr algn="ctr" indent="0" marL="0">
              <a:buNone/>
            </a:pPr>
            <a:r>
              <a:rPr lang="en-US" sz="1150" dirty="0">
                <a:solidFill>
                  <a:srgbClr val="F4736A"/>
                </a:solidFill>
                <a:latin typeface="Calibri" pitchFamily="34" charset="0"/>
                <a:ea typeface="Calibri" pitchFamily="34" charset="-122"/>
                <a:cs typeface="Calibri" pitchFamily="34" charset="-120"/>
              </a:rPr>
              <a:t>⛽ Fossil Fuels</a:t>
            </a:r>
            <a:endParaRPr lang="en-US" sz="1150" dirty="0"/>
          </a:p>
          <a:p>
            <a:pPr algn="ctr" indent="0" marL="0">
              <a:buNone/>
            </a:pPr>
            <a:r>
              <a:rPr lang="en-US" sz="1150" dirty="0">
                <a:solidFill>
                  <a:srgbClr val="F4736A"/>
                </a:solidFill>
                <a:latin typeface="Calibri" pitchFamily="34" charset="0"/>
                <a:ea typeface="Calibri" pitchFamily="34" charset="-122"/>
                <a:cs typeface="Calibri" pitchFamily="34" charset="-120"/>
              </a:rPr>
              <a:t>⛔ Nonrenewable</a:t>
            </a:r>
            <a:endParaRPr lang="en-US" sz="1150" dirty="0"/>
          </a:p>
          <a:p>
            <a:pPr algn="ctr" indent="0" marL="0">
              <a:buNone/>
            </a:pPr>
            <a:r>
              <a:rPr lang="en-US" sz="1150" dirty="0">
                <a:solidFill>
                  <a:srgbClr val="F4736A"/>
                </a:solidFill>
                <a:latin typeface="Calibri" pitchFamily="34" charset="0"/>
                <a:ea typeface="Calibri" pitchFamily="34" charset="-122"/>
                <a:cs typeface="Calibri" pitchFamily="34" charset="-120"/>
              </a:rPr>
              <a:t>Once used, they're gone</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Observe &amp; Reason: The Big Energy Debate</a:t>
            </a:r>
            <a:endParaRPr lang="en-US" sz="1600" dirty="0"/>
          </a:p>
        </p:txBody>
      </p:sp>
      <p:sp>
        <p:nvSpPr>
          <p:cNvPr id="5" name="Shape 3"/>
          <p:cNvSpPr/>
          <p:nvPr/>
        </p:nvSpPr>
        <p:spPr>
          <a:xfrm>
            <a:off x="365760" y="749808"/>
            <a:ext cx="11247120" cy="1920240"/>
          </a:xfrm>
          <a:prstGeom prst="roundRect">
            <a:avLst>
              <a:gd name="adj" fmla="val 3810"/>
            </a:avLst>
          </a:prstGeom>
          <a:solidFill>
            <a:srgbClr val="162233"/>
          </a:solidFill>
          <a:ln w="12700">
            <a:solidFill>
              <a:srgbClr val="FFB703"/>
            </a:solidFill>
            <a:prstDash val="solid"/>
          </a:ln>
        </p:spPr>
      </p:sp>
      <p:sp>
        <p:nvSpPr>
          <p:cNvPr id="6" name="Text 4"/>
          <p:cNvSpPr/>
          <p:nvPr/>
        </p:nvSpPr>
        <p:spPr>
          <a:xfrm>
            <a:off x="530352" y="82296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Partner Discussion</a:t>
            </a:r>
            <a:endParaRPr lang="en-US" sz="1300" dirty="0"/>
          </a:p>
        </p:txBody>
      </p:sp>
      <p:sp>
        <p:nvSpPr>
          <p:cNvPr id="7" name="Text 5"/>
          <p:cNvSpPr/>
          <p:nvPr/>
        </p:nvSpPr>
        <p:spPr>
          <a:xfrm>
            <a:off x="530352" y="1188720"/>
            <a:ext cx="10917936" cy="137160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"Wind and sunlight are both free and clean. Fossil fuels cause pollution and will run out. So why do humans still use so much coal and oil? What might make it hard to switch to renewable energy?"</a:t>
            </a:r>
            <a:endParaRPr lang="en-US" sz="1300" dirty="0"/>
          </a:p>
        </p:txBody>
      </p:sp>
      <p:sp>
        <p:nvSpPr>
          <p:cNvPr id="8" name="Shape 6"/>
          <p:cNvSpPr/>
          <p:nvPr/>
        </p:nvSpPr>
        <p:spPr>
          <a:xfrm>
            <a:off x="365760" y="2834640"/>
            <a:ext cx="5394960" cy="3063240"/>
          </a:xfrm>
          <a:prstGeom prst="roundRect">
            <a:avLst>
              <a:gd name="adj" fmla="val 2388"/>
            </a:avLst>
          </a:prstGeom>
          <a:solidFill>
            <a:srgbClr val="1E2F45"/>
          </a:solidFill>
          <a:ln w="12700">
            <a:solidFill>
              <a:srgbClr val="2DC653"/>
            </a:solidFill>
            <a:prstDash val="solid"/>
          </a:ln>
        </p:spPr>
      </p:sp>
      <p:sp>
        <p:nvSpPr>
          <p:cNvPr id="9" name="Text 7"/>
          <p:cNvSpPr/>
          <p:nvPr/>
        </p:nvSpPr>
        <p:spPr>
          <a:xfrm>
            <a:off x="548640" y="2907792"/>
            <a:ext cx="5120640" cy="38404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Renewable Energy Advantages:</a:t>
            </a:r>
            <a:endParaRPr lang="en-US" sz="1300" dirty="0"/>
          </a:p>
        </p:txBody>
      </p:sp>
      <p:sp>
        <p:nvSpPr>
          <p:cNvPr id="10" name="Text 8"/>
          <p:cNvSpPr/>
          <p:nvPr/>
        </p:nvSpPr>
        <p:spPr>
          <a:xfrm>
            <a:off x="548640" y="3337560"/>
            <a:ext cx="5120640" cy="24231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Free and unlimited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Clean — no CO₂ pollution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Good for long-term future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Technology is getting cheaper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Local — reduces dependence on foreign oil</a:t>
            </a:r>
            <a:endParaRPr lang="en-US" sz="1200" dirty="0"/>
          </a:p>
        </p:txBody>
      </p:sp>
      <p:sp>
        <p:nvSpPr>
          <p:cNvPr id="11" name="Shape 9"/>
          <p:cNvSpPr/>
          <p:nvPr/>
        </p:nvSpPr>
        <p:spPr>
          <a:xfrm>
            <a:off x="5943600" y="2834640"/>
            <a:ext cx="5760720" cy="3063240"/>
          </a:xfrm>
          <a:prstGeom prst="roundRect">
            <a:avLst>
              <a:gd name="adj" fmla="val 2388"/>
            </a:avLst>
          </a:prstGeom>
          <a:solidFill>
            <a:srgbClr val="1E2F45"/>
          </a:solidFill>
          <a:ln w="12700">
            <a:solidFill>
              <a:srgbClr val="FFB703"/>
            </a:solidFill>
            <a:prstDash val="solid"/>
          </a:ln>
        </p:spPr>
      </p:sp>
      <p:sp>
        <p:nvSpPr>
          <p:cNvPr id="12" name="Text 10"/>
          <p:cNvSpPr/>
          <p:nvPr/>
        </p:nvSpPr>
        <p:spPr>
          <a:xfrm>
            <a:off x="6126480" y="2907792"/>
            <a:ext cx="54864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Challenges of Switching:</a:t>
            </a:r>
            <a:endParaRPr lang="en-US" sz="1300" dirty="0"/>
          </a:p>
        </p:txBody>
      </p:sp>
      <p:sp>
        <p:nvSpPr>
          <p:cNvPr id="13" name="Text 11"/>
          <p:cNvSpPr/>
          <p:nvPr/>
        </p:nvSpPr>
        <p:spPr>
          <a:xfrm>
            <a:off x="6126480" y="3337560"/>
            <a:ext cx="5486400" cy="24231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Existing infrastructure built for fossil fuels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Cost to build new solar/wind farms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Storage problem — sun/wind not always available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Habits and economy of existing jobs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Energy density — coal packs a lot of energy!</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  Important Warning: Even Renewables Need Care!</a:t>
            </a:r>
            <a:endParaRPr lang="en-US" sz="1600" dirty="0"/>
          </a:p>
        </p:txBody>
      </p:sp>
      <p:sp>
        <p:nvSpPr>
          <p:cNvPr id="5" name="Shape 3"/>
          <p:cNvSpPr/>
          <p:nvPr/>
        </p:nvSpPr>
        <p:spPr>
          <a:xfrm>
            <a:off x="365760" y="749808"/>
            <a:ext cx="11247120" cy="1234440"/>
          </a:xfrm>
          <a:prstGeom prst="roundRect">
            <a:avLst>
              <a:gd name="adj" fmla="val 5926"/>
            </a:avLst>
          </a:prstGeom>
          <a:solidFill>
            <a:srgbClr val="1A0A0A"/>
          </a:solidFill>
          <a:ln w="12700">
            <a:solidFill>
              <a:srgbClr val="F4736A"/>
            </a:solidFill>
            <a:prstDash val="solid"/>
          </a:ln>
        </p:spPr>
      </p:sp>
      <p:sp>
        <p:nvSpPr>
          <p:cNvPr id="6" name="Text 4"/>
          <p:cNvSpPr/>
          <p:nvPr/>
        </p:nvSpPr>
        <p:spPr>
          <a:xfrm>
            <a:off x="548640" y="822960"/>
            <a:ext cx="10972800" cy="1051560"/>
          </a:xfrm>
          <a:prstGeom prst="rect">
            <a:avLst/>
          </a:prstGeom>
          <a:noFill/>
          <a:ln/>
        </p:spPr>
        <p:txBody>
          <a:bodyPr wrap="square" rtlCol="0" anchor="ctr"/>
          <a:lstStyle/>
          <a:p>
            <a:pPr algn="ctr" indent="0" marL="0">
              <a:buNone/>
            </a:pPr>
            <a:r>
              <a:rPr lang="en-US" sz="1500" b="1" dirty="0">
                <a:solidFill>
                  <a:srgbClr val="F4736A"/>
                </a:solidFill>
                <a:latin typeface="Calibri" pitchFamily="34" charset="0"/>
                <a:ea typeface="Calibri" pitchFamily="34" charset="-122"/>
                <a:cs typeface="Calibri" pitchFamily="34" charset="-120"/>
              </a:rPr>
              <a:t>Even renewable resources can be damaged or used up if we're not careful!</a:t>
            </a:r>
            <a:endParaRPr lang="en-US" sz="1500" dirty="0"/>
          </a:p>
        </p:txBody>
      </p:sp>
      <p:sp>
        <p:nvSpPr>
          <p:cNvPr id="7" name="Shape 5"/>
          <p:cNvSpPr/>
          <p:nvPr/>
        </p:nvSpPr>
        <p:spPr>
          <a:xfrm>
            <a:off x="365760" y="2148840"/>
            <a:ext cx="5212080" cy="3200400"/>
          </a:xfrm>
          <a:prstGeom prst="roundRect">
            <a:avLst>
              <a:gd name="adj" fmla="val 2286"/>
            </a:avLst>
          </a:prstGeom>
          <a:solidFill>
            <a:srgbClr val="0A1520"/>
          </a:solidFill>
          <a:ln w="19050">
            <a:solidFill>
              <a:srgbClr val="4CC9F0"/>
            </a:solidFill>
            <a:prstDash val="dash"/>
          </a:ln>
        </p:spPr>
      </p:sp>
      <p:sp>
        <p:nvSpPr>
          <p:cNvPr id="8" name="Text 6"/>
          <p:cNvSpPr/>
          <p:nvPr/>
        </p:nvSpPr>
        <p:spPr>
          <a:xfrm>
            <a:off x="457200" y="2258568"/>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697480"/>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990088"/>
            <a:ext cx="4992624" cy="21488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"deforestation logging clear cut forest destruction aerial view"</a:t>
            </a:r>
            <a:endParaRPr lang="en-US" sz="950" dirty="0"/>
          </a:p>
        </p:txBody>
      </p:sp>
      <p:sp>
        <p:nvSpPr>
          <p:cNvPr id="11" name="Text 9"/>
          <p:cNvSpPr/>
          <p:nvPr/>
        </p:nvSpPr>
        <p:spPr>
          <a:xfrm>
            <a:off x="365760" y="5385816"/>
            <a:ext cx="52120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Deforestation — cutting trees faster than they grow back</a:t>
            </a:r>
            <a:endParaRPr lang="en-US" sz="900" dirty="0"/>
          </a:p>
        </p:txBody>
      </p:sp>
      <p:sp>
        <p:nvSpPr>
          <p:cNvPr id="12" name="Shape 10"/>
          <p:cNvSpPr/>
          <p:nvPr/>
        </p:nvSpPr>
        <p:spPr>
          <a:xfrm>
            <a:off x="5760720" y="2148840"/>
            <a:ext cx="6035040" cy="3200400"/>
          </a:xfrm>
          <a:prstGeom prst="roundRect">
            <a:avLst>
              <a:gd name="adj" fmla="val 2286"/>
            </a:avLst>
          </a:prstGeom>
          <a:solidFill>
            <a:srgbClr val="0A1520"/>
          </a:solidFill>
          <a:ln w="19050">
            <a:solidFill>
              <a:srgbClr val="4CC9F0"/>
            </a:solidFill>
            <a:prstDash val="dash"/>
          </a:ln>
        </p:spPr>
      </p:sp>
      <p:sp>
        <p:nvSpPr>
          <p:cNvPr id="13" name="Text 11"/>
          <p:cNvSpPr/>
          <p:nvPr/>
        </p:nvSpPr>
        <p:spPr>
          <a:xfrm>
            <a:off x="5852160" y="2258568"/>
            <a:ext cx="58521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5852160" y="2697480"/>
            <a:ext cx="58521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5" name="Text 13"/>
          <p:cNvSpPr/>
          <p:nvPr/>
        </p:nvSpPr>
        <p:spPr>
          <a:xfrm>
            <a:off x="5870448" y="2990088"/>
            <a:ext cx="5815584" cy="21488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"polluted river water contamination industrial waste environmental damage"</a:t>
            </a:r>
            <a:endParaRPr lang="en-US" sz="950" dirty="0"/>
          </a:p>
        </p:txBody>
      </p:sp>
      <p:sp>
        <p:nvSpPr>
          <p:cNvPr id="16" name="Text 14"/>
          <p:cNvSpPr/>
          <p:nvPr/>
        </p:nvSpPr>
        <p:spPr>
          <a:xfrm>
            <a:off x="5760720" y="5385816"/>
            <a:ext cx="60350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Polluted water — a renewable resource made unusable</a:t>
            </a:r>
            <a:endParaRPr lang="en-US" sz="900" dirty="0"/>
          </a:p>
        </p:txBody>
      </p:sp>
      <p:sp>
        <p:nvSpPr>
          <p:cNvPr id="17" name="Shape 15"/>
          <p:cNvSpPr/>
          <p:nvPr/>
        </p:nvSpPr>
        <p:spPr>
          <a:xfrm>
            <a:off x="365760" y="5468112"/>
            <a:ext cx="11247120" cy="1005840"/>
          </a:xfrm>
          <a:prstGeom prst="roundRect">
            <a:avLst>
              <a:gd name="adj" fmla="val 7273"/>
            </a:avLst>
          </a:prstGeom>
          <a:solidFill>
            <a:srgbClr val="1E2F45"/>
          </a:solidFill>
          <a:ln w="12700">
            <a:solidFill>
              <a:srgbClr val="FFB703"/>
            </a:solidFill>
            <a:prstDash val="solid"/>
          </a:ln>
        </p:spPr>
      </p:sp>
      <p:sp>
        <p:nvSpPr>
          <p:cNvPr id="18" name="Text 16"/>
          <p:cNvSpPr/>
          <p:nvPr/>
        </p:nvSpPr>
        <p:spPr>
          <a:xfrm>
            <a:off x="548640" y="5541264"/>
            <a:ext cx="10972800" cy="86868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Stop &amp; Reason: If trees are renewable, why do scientists worry about deforestation? What does this tell you about the phrase 'renewable — as long as we take care of them'?</a:t>
            </a:r>
            <a:endParaRPr lang="en-US" sz="12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From Resource to Your Home</a:t>
            </a:r>
            <a:endParaRPr lang="en-US" sz="1600" dirty="0"/>
          </a:p>
        </p:txBody>
      </p:sp>
      <p:sp>
        <p:nvSpPr>
          <p:cNvPr id="5" name="Text 3"/>
          <p:cNvSpPr/>
          <p:nvPr/>
        </p:nvSpPr>
        <p:spPr>
          <a:xfrm>
            <a:off x="365760" y="749808"/>
            <a:ext cx="11247120" cy="457200"/>
          </a:xfrm>
          <a:prstGeom prst="rect">
            <a:avLst/>
          </a:prstGeom>
          <a:noFill/>
          <a:ln/>
        </p:spPr>
        <p:txBody>
          <a:bodyPr wrap="square" rtlCol="0" anchor="ctr"/>
          <a:lstStyle/>
          <a:p>
            <a:pPr algn="ctr" indent="0" marL="0">
              <a:buNone/>
            </a:pPr>
            <a:r>
              <a:rPr lang="en-US" sz="1300" i="1" dirty="0">
                <a:solidFill>
                  <a:srgbClr val="B0C4D8"/>
                </a:solidFill>
                <a:latin typeface="Calibri" pitchFamily="34" charset="0"/>
                <a:ea typeface="Calibri" pitchFamily="34" charset="-122"/>
                <a:cs typeface="Calibri" pitchFamily="34" charset="-120"/>
              </a:rPr>
              <a:t>Have you ever wondered where the energy from your light switch REALLY comes from? Let's trace the journey!</a:t>
            </a:r>
            <a:endParaRPr lang="en-US" sz="1300" dirty="0"/>
          </a:p>
        </p:txBody>
      </p:sp>
      <p:sp>
        <p:nvSpPr>
          <p:cNvPr id="6" name="Shape 4"/>
          <p:cNvSpPr/>
          <p:nvPr/>
        </p:nvSpPr>
        <p:spPr>
          <a:xfrm>
            <a:off x="365760" y="1353312"/>
            <a:ext cx="5669280" cy="2176272"/>
          </a:xfrm>
          <a:prstGeom prst="roundRect">
            <a:avLst>
              <a:gd name="adj" fmla="val 3361"/>
            </a:avLst>
          </a:prstGeom>
          <a:solidFill>
            <a:srgbClr val="1E2F45"/>
          </a:solidFill>
          <a:ln w="12700">
            <a:solidFill>
              <a:srgbClr val="FFB703"/>
            </a:solidFill>
            <a:prstDash val="solid"/>
          </a:ln>
        </p:spPr>
      </p:sp>
      <p:sp>
        <p:nvSpPr>
          <p:cNvPr id="7" name="Text 5"/>
          <p:cNvSpPr/>
          <p:nvPr/>
        </p:nvSpPr>
        <p:spPr>
          <a:xfrm>
            <a:off x="365760" y="1426464"/>
            <a:ext cx="9144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8" name="Text 6"/>
          <p:cNvSpPr/>
          <p:nvPr/>
        </p:nvSpPr>
        <p:spPr>
          <a:xfrm>
            <a:off x="1280160" y="1444752"/>
            <a:ext cx="4572000" cy="41148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It All Starts with the Sun</a:t>
            </a:r>
            <a:endParaRPr lang="en-US" sz="1300" dirty="0"/>
          </a:p>
        </p:txBody>
      </p:sp>
      <p:sp>
        <p:nvSpPr>
          <p:cNvPr id="9" name="Text 7"/>
          <p:cNvSpPr/>
          <p:nvPr/>
        </p:nvSpPr>
        <p:spPr>
          <a:xfrm>
            <a:off x="548640" y="1920240"/>
            <a:ext cx="5303520" cy="15087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ALL of Earth's energy originally came from the sun! Solar panels capture today's sunlight directly. Even fossil fuels are ancient sunlight stored in plants millions of years ago!</a:t>
            </a:r>
            <a:endParaRPr lang="en-US" sz="1150" dirty="0"/>
          </a:p>
        </p:txBody>
      </p:sp>
      <p:sp>
        <p:nvSpPr>
          <p:cNvPr id="10" name="Shape 8"/>
          <p:cNvSpPr/>
          <p:nvPr/>
        </p:nvSpPr>
        <p:spPr>
          <a:xfrm>
            <a:off x="6309360" y="1353312"/>
            <a:ext cx="5669280" cy="2176272"/>
          </a:xfrm>
          <a:prstGeom prst="roundRect">
            <a:avLst>
              <a:gd name="adj" fmla="val 3361"/>
            </a:avLst>
          </a:prstGeom>
          <a:solidFill>
            <a:srgbClr val="1E2F45"/>
          </a:solidFill>
          <a:ln w="12700">
            <a:solidFill>
              <a:srgbClr val="4CC9F0"/>
            </a:solidFill>
            <a:prstDash val="solid"/>
          </a:ln>
        </p:spPr>
      </p:sp>
      <p:sp>
        <p:nvSpPr>
          <p:cNvPr id="11" name="Text 9"/>
          <p:cNvSpPr/>
          <p:nvPr/>
        </p:nvSpPr>
        <p:spPr>
          <a:xfrm>
            <a:off x="6309360" y="1426464"/>
            <a:ext cx="9144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2" name="Text 10"/>
          <p:cNvSpPr/>
          <p:nvPr/>
        </p:nvSpPr>
        <p:spPr>
          <a:xfrm>
            <a:off x="7223760" y="1444752"/>
            <a:ext cx="4572000" cy="41148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Collected or Extracted</a:t>
            </a:r>
            <a:endParaRPr lang="en-US" sz="1300" dirty="0"/>
          </a:p>
        </p:txBody>
      </p:sp>
      <p:sp>
        <p:nvSpPr>
          <p:cNvPr id="13" name="Text 11"/>
          <p:cNvSpPr/>
          <p:nvPr/>
        </p:nvSpPr>
        <p:spPr>
          <a:xfrm>
            <a:off x="6492240" y="1920240"/>
            <a:ext cx="5303520" cy="15087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Renewable: Solar panels soak up sunshine; wind turbines spin; hydropower dams capture flowing water. Nonrenewable: Coal mined from earth, oil drilled from underground.</a:t>
            </a:r>
            <a:endParaRPr lang="en-US" sz="1150" dirty="0"/>
          </a:p>
        </p:txBody>
      </p:sp>
      <p:sp>
        <p:nvSpPr>
          <p:cNvPr id="14" name="Shape 12"/>
          <p:cNvSpPr/>
          <p:nvPr/>
        </p:nvSpPr>
        <p:spPr>
          <a:xfrm>
            <a:off x="365760" y="3685032"/>
            <a:ext cx="5669280" cy="2176272"/>
          </a:xfrm>
          <a:prstGeom prst="roundRect">
            <a:avLst>
              <a:gd name="adj" fmla="val 3361"/>
            </a:avLst>
          </a:prstGeom>
          <a:solidFill>
            <a:srgbClr val="1E2F45"/>
          </a:solidFill>
          <a:ln w="12700">
            <a:solidFill>
              <a:srgbClr val="2DC653"/>
            </a:solidFill>
            <a:prstDash val="solid"/>
          </a:ln>
        </p:spPr>
      </p:sp>
      <p:sp>
        <p:nvSpPr>
          <p:cNvPr id="15" name="Text 13"/>
          <p:cNvSpPr/>
          <p:nvPr/>
        </p:nvSpPr>
        <p:spPr>
          <a:xfrm>
            <a:off x="365760" y="3758184"/>
            <a:ext cx="9144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6" name="Text 14"/>
          <p:cNvSpPr/>
          <p:nvPr/>
        </p:nvSpPr>
        <p:spPr>
          <a:xfrm>
            <a:off x="1280160" y="3776472"/>
            <a:ext cx="4572000" cy="41148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Converted to Electricity</a:t>
            </a:r>
            <a:endParaRPr lang="en-US" sz="1300" dirty="0"/>
          </a:p>
        </p:txBody>
      </p:sp>
      <p:sp>
        <p:nvSpPr>
          <p:cNvPr id="17" name="Text 15"/>
          <p:cNvSpPr/>
          <p:nvPr/>
        </p:nvSpPr>
        <p:spPr>
          <a:xfrm>
            <a:off x="548640" y="4251960"/>
            <a:ext cx="5303520" cy="15087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Whether from a wind turbine or a coal power plant, moving generators produce electricity. Fossil fuels release stored energy (and CO₂!) when burned.</a:t>
            </a:r>
            <a:endParaRPr lang="en-US" sz="1150" dirty="0"/>
          </a:p>
        </p:txBody>
      </p:sp>
      <p:sp>
        <p:nvSpPr>
          <p:cNvPr id="18" name="Shape 16"/>
          <p:cNvSpPr/>
          <p:nvPr/>
        </p:nvSpPr>
        <p:spPr>
          <a:xfrm>
            <a:off x="6309360" y="3685032"/>
            <a:ext cx="5669280" cy="2176272"/>
          </a:xfrm>
          <a:prstGeom prst="roundRect">
            <a:avLst>
              <a:gd name="adj" fmla="val 3361"/>
            </a:avLst>
          </a:prstGeom>
          <a:solidFill>
            <a:srgbClr val="1E2F45"/>
          </a:solidFill>
          <a:ln w="12700">
            <a:solidFill>
              <a:srgbClr val="F4736A"/>
            </a:solidFill>
            <a:prstDash val="solid"/>
          </a:ln>
        </p:spPr>
      </p:sp>
      <p:sp>
        <p:nvSpPr>
          <p:cNvPr id="19" name="Text 17"/>
          <p:cNvSpPr/>
          <p:nvPr/>
        </p:nvSpPr>
        <p:spPr>
          <a:xfrm>
            <a:off x="6309360" y="3758184"/>
            <a:ext cx="9144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0" name="Text 18"/>
          <p:cNvSpPr/>
          <p:nvPr/>
        </p:nvSpPr>
        <p:spPr>
          <a:xfrm>
            <a:off x="7223760" y="3776472"/>
            <a:ext cx="4572000" cy="41148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Reaches Your Home</a:t>
            </a:r>
            <a:endParaRPr lang="en-US" sz="1300" dirty="0"/>
          </a:p>
        </p:txBody>
      </p:sp>
      <p:sp>
        <p:nvSpPr>
          <p:cNvPr id="21" name="Text 19"/>
          <p:cNvSpPr/>
          <p:nvPr/>
        </p:nvSpPr>
        <p:spPr>
          <a:xfrm>
            <a:off x="6492240" y="4251960"/>
            <a:ext cx="5303520" cy="150876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Electricity travels through power lines to your home. Every device you use — lights, fridge, tablet — powered by natural resources. Where it comes from MATTERS!</a:t>
            </a:r>
            <a:endParaRPr lang="en-US" sz="115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 &amp; Reasoning: The Big Claim</a:t>
            </a:r>
            <a:endParaRPr lang="en-US" sz="1600" dirty="0"/>
          </a:p>
        </p:txBody>
      </p:sp>
      <p:sp>
        <p:nvSpPr>
          <p:cNvPr id="5" name="Shape 3"/>
          <p:cNvSpPr/>
          <p:nvPr/>
        </p:nvSpPr>
        <p:spPr>
          <a:xfrm>
            <a:off x="365760" y="749808"/>
            <a:ext cx="11247120" cy="1783080"/>
          </a:xfrm>
          <a:prstGeom prst="roundRect">
            <a:avLst>
              <a:gd name="adj" fmla="val 4103"/>
            </a:avLst>
          </a:prstGeom>
          <a:solidFill>
            <a:srgbClr val="162233"/>
          </a:solidFill>
          <a:ln w="12700">
            <a:solidFill>
              <a:srgbClr val="FFB703"/>
            </a:solidFill>
            <a:prstDash val="solid"/>
          </a:ln>
        </p:spPr>
      </p:sp>
      <p:sp>
        <p:nvSpPr>
          <p:cNvPr id="6" name="Text 4"/>
          <p:cNvSpPr/>
          <p:nvPr/>
        </p:nvSpPr>
        <p:spPr>
          <a:xfrm>
            <a:off x="530352" y="82296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Evidence Frame Practice</a:t>
            </a:r>
            <a:endParaRPr lang="en-US" sz="1300" dirty="0"/>
          </a:p>
        </p:txBody>
      </p:sp>
      <p:sp>
        <p:nvSpPr>
          <p:cNvPr id="7" name="Text 5"/>
          <p:cNvSpPr/>
          <p:nvPr/>
        </p:nvSpPr>
        <p:spPr>
          <a:xfrm>
            <a:off x="530352" y="1188720"/>
            <a:ext cx="10917936" cy="1234440"/>
          </a:xfrm>
          <a:prstGeom prst="rect">
            <a:avLst/>
          </a:prstGeom>
          <a:noFill/>
          <a:ln/>
        </p:spPr>
        <p:txBody>
          <a:bodyPr wrap="square" rtlCol="0" anchor="t"/>
          <a:lstStyle/>
          <a:p>
            <a:pPr algn="l" indent="0" marL="0">
              <a:buNone/>
            </a:pPr>
            <a:r>
              <a:rPr lang="en-US" sz="1400" i="1" dirty="0">
                <a:solidFill>
                  <a:srgbClr val="FFFFFF"/>
                </a:solidFill>
                <a:latin typeface="Calibri" pitchFamily="34" charset="0"/>
                <a:ea typeface="Calibri" pitchFamily="34" charset="-122"/>
                <a:cs typeface="Calibri" pitchFamily="34" charset="-120"/>
              </a:rPr>
              <a:t>"I know ___ is a better long-term energy choice because ___. This shows that ___."   Make your claim and back it up!</a:t>
            </a:r>
            <a:endParaRPr lang="en-US" sz="1400" dirty="0"/>
          </a:p>
        </p:txBody>
      </p:sp>
      <p:sp>
        <p:nvSpPr>
          <p:cNvPr id="8" name="Shape 6"/>
          <p:cNvSpPr/>
          <p:nvPr/>
        </p:nvSpPr>
        <p:spPr>
          <a:xfrm>
            <a:off x="365760" y="2697480"/>
            <a:ext cx="7315200" cy="3200400"/>
          </a:xfrm>
          <a:prstGeom prst="roundRect">
            <a:avLst>
              <a:gd name="adj" fmla="val 2286"/>
            </a:avLst>
          </a:prstGeom>
          <a:solidFill>
            <a:srgbClr val="1E2F45"/>
          </a:solidFill>
          <a:ln w="12700">
            <a:solidFill>
              <a:srgbClr val="4CC9F0"/>
            </a:solidFill>
            <a:prstDash val="solid"/>
          </a:ln>
        </p:spPr>
      </p:sp>
      <p:sp>
        <p:nvSpPr>
          <p:cNvPr id="9" name="Text 7"/>
          <p:cNvSpPr/>
          <p:nvPr/>
        </p:nvSpPr>
        <p:spPr>
          <a:xfrm>
            <a:off x="548640" y="2761488"/>
            <a:ext cx="704088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Evidence You Can Use:</a:t>
            </a:r>
            <a:endParaRPr lang="en-US" sz="1300" dirty="0"/>
          </a:p>
        </p:txBody>
      </p:sp>
      <p:sp>
        <p:nvSpPr>
          <p:cNvPr id="10" name="Text 8"/>
          <p:cNvSpPr/>
          <p:nvPr/>
        </p:nvSpPr>
        <p:spPr>
          <a:xfrm>
            <a:off x="548640" y="3200400"/>
            <a:ext cx="7040880" cy="2560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Solar energy replenishes every day; coal takes 300 million years to form</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At current usage, we burn 1 million years' worth of oil EVERY MONTH</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Solar/wind produce no CO₂ pollution; fossil fuels release ancient carbon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Solar panel costs have dropped 99% in the last 40 years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Fossil fuels will eventually run out — but the sun will shine for 5 billion more years</a:t>
            </a:r>
            <a:endParaRPr lang="en-US" sz="1200" dirty="0"/>
          </a:p>
        </p:txBody>
      </p:sp>
      <p:sp>
        <p:nvSpPr>
          <p:cNvPr id="11" name="Shape 9"/>
          <p:cNvSpPr/>
          <p:nvPr/>
        </p:nvSpPr>
        <p:spPr>
          <a:xfrm>
            <a:off x="7863840" y="2697480"/>
            <a:ext cx="3931920" cy="3200400"/>
          </a:xfrm>
          <a:prstGeom prst="roundRect">
            <a:avLst>
              <a:gd name="adj" fmla="val 2286"/>
            </a:avLst>
          </a:prstGeom>
          <a:solidFill>
            <a:srgbClr val="0A2030"/>
          </a:solidFill>
          <a:ln w="12700">
            <a:solidFill>
              <a:srgbClr val="FFB703"/>
            </a:solidFill>
            <a:prstDash val="solid"/>
          </a:ln>
        </p:spPr>
      </p:sp>
      <p:sp>
        <p:nvSpPr>
          <p:cNvPr id="12" name="Text 10"/>
          <p:cNvSpPr/>
          <p:nvPr/>
        </p:nvSpPr>
        <p:spPr>
          <a:xfrm>
            <a:off x="8046720" y="2761488"/>
            <a:ext cx="36576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Push Thinking:</a:t>
            </a:r>
            <a:endParaRPr lang="en-US" sz="1300" dirty="0"/>
          </a:p>
        </p:txBody>
      </p:sp>
      <p:sp>
        <p:nvSpPr>
          <p:cNvPr id="13" name="Text 11"/>
          <p:cNvSpPr/>
          <p:nvPr/>
        </p:nvSpPr>
        <p:spPr>
          <a:xfrm>
            <a:off x="8046720" y="3200400"/>
            <a:ext cx="3657600" cy="2560320"/>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"What evidence is MOST convincing?"</a:t>
            </a:r>
            <a:endParaRPr lang="en-US" sz="1200" dirty="0"/>
          </a:p>
          <a:p>
            <a:pPr indent="0" marL="0">
              <a:buNone/>
            </a:pPr>
            <a:endParaRPr lang="en-US" sz="1200" dirty="0"/>
          </a:p>
          <a:p>
            <a:pPr indent="0" marL="0">
              <a:buNone/>
            </a:pPr>
            <a:r>
              <a:rPr lang="en-US" sz="1200" i="1" dirty="0">
                <a:solidFill>
                  <a:srgbClr val="B0C4D8"/>
                </a:solidFill>
                <a:latin typeface="Calibri" pitchFamily="34" charset="0"/>
                <a:ea typeface="Calibri" pitchFamily="34" charset="-122"/>
                <a:cs typeface="Calibri" pitchFamily="34" charset="-120"/>
              </a:rPr>
              <a:t>"What would make you change your claim?"</a:t>
            </a:r>
            <a:endParaRPr lang="en-US" sz="1200" dirty="0"/>
          </a:p>
          <a:p>
            <a:pPr indent="0" marL="0">
              <a:buNone/>
            </a:pPr>
            <a:endParaRPr lang="en-US" sz="1200" dirty="0"/>
          </a:p>
          <a:p>
            <a:pPr indent="0" marL="0">
              <a:buNone/>
            </a:pPr>
            <a:r>
              <a:rPr lang="en-US" sz="1200" i="1" dirty="0">
                <a:solidFill>
                  <a:srgbClr val="B0C4D8"/>
                </a:solidFill>
                <a:latin typeface="Calibri" pitchFamily="34" charset="0"/>
                <a:ea typeface="Calibri" pitchFamily="34" charset="-122"/>
                <a:cs typeface="Calibri" pitchFamily="34" charset="-120"/>
              </a:rPr>
              <a:t>"Is there a counterargument?"</a:t>
            </a:r>
            <a:endParaRPr lang="en-US" sz="1200" dirty="0"/>
          </a:p>
          <a:p>
            <a:pPr indent="0" marL="0">
              <a:buNone/>
            </a:pPr>
            <a:endParaRPr lang="en-US" sz="1200" dirty="0"/>
          </a:p>
          <a:p>
            <a:pPr indent="0" marL="0">
              <a:buNone/>
            </a:pPr>
            <a:r>
              <a:rPr lang="en-US" sz="1200" i="1" dirty="0">
                <a:solidFill>
                  <a:srgbClr val="B0C4D8"/>
                </a:solidFill>
                <a:latin typeface="Calibri" pitchFamily="34" charset="0"/>
                <a:ea typeface="Calibri" pitchFamily="34" charset="-122"/>
                <a:cs typeface="Calibri" pitchFamily="34" charset="-120"/>
              </a:rPr>
              <a:t>"What does this show about how scientists make decisions?"</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Quick Self-Check</a:t>
            </a:r>
            <a:endParaRPr lang="en-US" sz="1600" dirty="0"/>
          </a:p>
        </p:txBody>
      </p:sp>
      <p:sp>
        <p:nvSpPr>
          <p:cNvPr id="5" name="Shape 3"/>
          <p:cNvSpPr/>
          <p:nvPr/>
        </p:nvSpPr>
        <p:spPr>
          <a:xfrm>
            <a:off x="365760" y="749808"/>
            <a:ext cx="11247120" cy="1783080"/>
          </a:xfrm>
          <a:prstGeom prst="roundRect">
            <a:avLst>
              <a:gd name="adj" fmla="val 4103"/>
            </a:avLst>
          </a:prstGeom>
          <a:solidFill>
            <a:srgbClr val="1E2F45"/>
          </a:solidFill>
          <a:ln w="12700">
            <a:solidFill>
              <a:srgbClr val="2DC653"/>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What makes a resource 'renewable'?</a:t>
            </a:r>
            <a:endParaRPr lang="en-US" sz="1300" dirty="0"/>
          </a:p>
        </p:txBody>
      </p:sp>
      <p:sp>
        <p:nvSpPr>
          <p:cNvPr id="7" name="Text 5"/>
          <p:cNvSpPr/>
          <p:nvPr/>
        </p:nvSpPr>
        <p:spPr>
          <a:xfrm>
            <a:off x="548640" y="123444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It is free and doesn't cost money   B. It can be replaced or replenished by nature over time ✓   C. It comes from deep underground</a:t>
            </a:r>
            <a:endParaRPr lang="en-US" sz="1100" dirty="0"/>
          </a:p>
        </p:txBody>
      </p:sp>
      <p:sp>
        <p:nvSpPr>
          <p:cNvPr id="8" name="Text 6"/>
          <p:cNvSpPr/>
          <p:nvPr/>
        </p:nvSpPr>
        <p:spPr>
          <a:xfrm>
            <a:off x="548640" y="166420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B — It can be replaced or replenished by nature over time. 'Renew' = make new again!</a:t>
            </a:r>
            <a:endParaRPr lang="en-US" sz="1100" dirty="0"/>
          </a:p>
        </p:txBody>
      </p:sp>
      <p:sp>
        <p:nvSpPr>
          <p:cNvPr id="9" name="Shape 7"/>
          <p:cNvSpPr/>
          <p:nvPr/>
        </p:nvSpPr>
        <p:spPr>
          <a:xfrm>
            <a:off x="365760" y="2670048"/>
            <a:ext cx="11247120" cy="1783080"/>
          </a:xfrm>
          <a:prstGeom prst="roundRect">
            <a:avLst>
              <a:gd name="adj" fmla="val 4103"/>
            </a:avLst>
          </a:prstGeom>
          <a:solidFill>
            <a:srgbClr val="1E2F45"/>
          </a:solidFill>
          <a:ln w="12700">
            <a:solidFill>
              <a:srgbClr val="2DC653"/>
            </a:solidFill>
            <a:prstDash val="solid"/>
          </a:ln>
        </p:spPr>
      </p:sp>
      <p:sp>
        <p:nvSpPr>
          <p:cNvPr id="10" name="Text 8"/>
          <p:cNvSpPr/>
          <p:nvPr/>
        </p:nvSpPr>
        <p:spPr>
          <a:xfrm>
            <a:off x="548640" y="274320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Which is a nonrenewable resource?</a:t>
            </a:r>
            <a:endParaRPr lang="en-US" sz="1300" dirty="0"/>
          </a:p>
        </p:txBody>
      </p:sp>
      <p:sp>
        <p:nvSpPr>
          <p:cNvPr id="11" name="Text 9"/>
          <p:cNvSpPr/>
          <p:nvPr/>
        </p:nvSpPr>
        <p:spPr>
          <a:xfrm>
            <a:off x="548640" y="315468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Sunlight   B. Wind   C. Coal ✓</a:t>
            </a:r>
            <a:endParaRPr lang="en-US" sz="1100" dirty="0"/>
          </a:p>
        </p:txBody>
      </p:sp>
      <p:sp>
        <p:nvSpPr>
          <p:cNvPr id="12" name="Text 10"/>
          <p:cNvSpPr/>
          <p:nvPr/>
        </p:nvSpPr>
        <p:spPr>
          <a:xfrm>
            <a:off x="548640" y="358444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C — Coal is a fossil fuel that took millions of years to form. Once it's gone, it's GONE.</a:t>
            </a:r>
            <a:endParaRPr lang="en-US" sz="1100" dirty="0"/>
          </a:p>
        </p:txBody>
      </p:sp>
      <p:sp>
        <p:nvSpPr>
          <p:cNvPr id="13" name="Shape 11"/>
          <p:cNvSpPr/>
          <p:nvPr/>
        </p:nvSpPr>
        <p:spPr>
          <a:xfrm>
            <a:off x="365760" y="4590288"/>
            <a:ext cx="11247120" cy="1783080"/>
          </a:xfrm>
          <a:prstGeom prst="roundRect">
            <a:avLst>
              <a:gd name="adj" fmla="val 4103"/>
            </a:avLst>
          </a:prstGeom>
          <a:solidFill>
            <a:srgbClr val="1E2F45"/>
          </a:solidFill>
          <a:ln w="12700">
            <a:solidFill>
              <a:srgbClr val="2DC653"/>
            </a:solidFill>
            <a:prstDash val="solid"/>
          </a:ln>
        </p:spPr>
      </p:sp>
      <p:sp>
        <p:nvSpPr>
          <p:cNvPr id="14" name="Text 12"/>
          <p:cNvSpPr/>
          <p:nvPr/>
        </p:nvSpPr>
        <p:spPr>
          <a:xfrm>
            <a:off x="548640" y="466344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Why is conservation of nonrenewable resources so important?</a:t>
            </a:r>
            <a:endParaRPr lang="en-US" sz="1300" dirty="0"/>
          </a:p>
        </p:txBody>
      </p:sp>
      <p:sp>
        <p:nvSpPr>
          <p:cNvPr id="15" name="Text 13"/>
          <p:cNvSpPr/>
          <p:nvPr/>
        </p:nvSpPr>
        <p:spPr>
          <a:xfrm>
            <a:off x="548640" y="507492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Because they are too beautiful to use   B. Because once they run out, they cannot be replaced for millions of years ✓   C. Because using them helps plants grow faster</a:t>
            </a:r>
            <a:endParaRPr lang="en-US" sz="1100" dirty="0"/>
          </a:p>
        </p:txBody>
      </p:sp>
      <p:sp>
        <p:nvSpPr>
          <p:cNvPr id="16" name="Text 14"/>
          <p:cNvSpPr/>
          <p:nvPr/>
        </p:nvSpPr>
        <p:spPr>
          <a:xfrm>
            <a:off x="548640" y="550468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B — Once nonrenewable resources run out, they cannot be replaced for millions of years!</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Assignment: Show What You Know</a:t>
            </a:r>
            <a:endParaRPr lang="en-US" sz="1600" dirty="0"/>
          </a:p>
        </p:txBody>
      </p:sp>
      <p:sp>
        <p:nvSpPr>
          <p:cNvPr id="5" name="Shape 3"/>
          <p:cNvSpPr/>
          <p:nvPr/>
        </p:nvSpPr>
        <p:spPr>
          <a:xfrm>
            <a:off x="365760" y="749808"/>
            <a:ext cx="3566160" cy="5394960"/>
          </a:xfrm>
          <a:prstGeom prst="roundRect">
            <a:avLst>
              <a:gd name="adj" fmla="val 2051"/>
            </a:avLst>
          </a:prstGeom>
          <a:solidFill>
            <a:srgbClr val="1E2F45"/>
          </a:solidFill>
          <a:ln w="12700">
            <a:solidFill>
              <a:srgbClr val="F4736A"/>
            </a:solidFill>
            <a:prstDash val="solid"/>
          </a:ln>
        </p:spPr>
      </p:sp>
      <p:sp>
        <p:nvSpPr>
          <p:cNvPr id="6" name="Text 4"/>
          <p:cNvSpPr/>
          <p:nvPr/>
        </p:nvSpPr>
        <p:spPr>
          <a:xfrm>
            <a:off x="502920" y="822960"/>
            <a:ext cx="3291840" cy="68580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Part A</a:t>
            </a:r>
            <a:endParaRPr lang="en-US" sz="1300" dirty="0"/>
          </a:p>
          <a:p>
            <a:pPr indent="0" marL="0">
              <a:buNone/>
            </a:pPr>
            <a:r>
              <a:rPr lang="en-US" sz="1300" b="1" dirty="0">
                <a:solidFill>
                  <a:srgbClr val="F4736A"/>
                </a:solidFill>
                <a:latin typeface="Calibri" pitchFamily="34" charset="0"/>
                <a:ea typeface="Calibri" pitchFamily="34" charset="-122"/>
                <a:cs typeface="Calibri" pitchFamily="34" charset="-120"/>
              </a:rPr>
              <a:t>Classify the Resource</a:t>
            </a:r>
            <a:endParaRPr lang="en-US" sz="1300" dirty="0"/>
          </a:p>
        </p:txBody>
      </p:sp>
      <p:sp>
        <p:nvSpPr>
          <p:cNvPr id="7" name="Text 5"/>
          <p:cNvSpPr/>
          <p:nvPr/>
        </p:nvSpPr>
        <p:spPr>
          <a:xfrm>
            <a:off x="502920" y="1554480"/>
            <a:ext cx="329184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Word Bank: renewable resource | nonrenewable resource | fossil fuel | conservation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Coal, oil, and natural gas are all examples of: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Sunlight and wind are types of: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Careful use of resources to prevent waste: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Uranium and iron that can't be replaced: ___</a:t>
            </a:r>
            <a:endParaRPr lang="en-US" sz="1100" dirty="0"/>
          </a:p>
        </p:txBody>
      </p:sp>
      <p:sp>
        <p:nvSpPr>
          <p:cNvPr id="8" name="Shape 6"/>
          <p:cNvSpPr/>
          <p:nvPr/>
        </p:nvSpPr>
        <p:spPr>
          <a:xfrm>
            <a:off x="4069080" y="749808"/>
            <a:ext cx="3840480" cy="5394960"/>
          </a:xfrm>
          <a:prstGeom prst="roundRect">
            <a:avLst>
              <a:gd name="adj" fmla="val 1905"/>
            </a:avLst>
          </a:prstGeom>
          <a:solidFill>
            <a:srgbClr val="1E2F45"/>
          </a:solidFill>
          <a:ln w="12700">
            <a:solidFill>
              <a:srgbClr val="2DC653"/>
            </a:solidFill>
            <a:prstDash val="solid"/>
          </a:ln>
        </p:spPr>
      </p:sp>
      <p:sp>
        <p:nvSpPr>
          <p:cNvPr id="9" name="Text 7"/>
          <p:cNvSpPr/>
          <p:nvPr/>
        </p:nvSpPr>
        <p:spPr>
          <a:xfrm>
            <a:off x="4206240" y="822960"/>
            <a:ext cx="3566160" cy="68580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Part B</a:t>
            </a:r>
            <a:endParaRPr lang="en-US" sz="1300" dirty="0"/>
          </a:p>
          <a:p>
            <a:pPr indent="0" marL="0">
              <a:buNone/>
            </a:pPr>
            <a:r>
              <a:rPr lang="en-US" sz="1300" b="1" dirty="0">
                <a:solidFill>
                  <a:srgbClr val="2DC653"/>
                </a:solidFill>
                <a:latin typeface="Calibri" pitchFamily="34" charset="0"/>
                <a:ea typeface="Calibri" pitchFamily="34" charset="-122"/>
                <a:cs typeface="Calibri" pitchFamily="34" charset="-120"/>
              </a:rPr>
              <a:t>Two Columns + Short Answer</a:t>
            </a:r>
            <a:endParaRPr lang="en-US" sz="1300" dirty="0"/>
          </a:p>
        </p:txBody>
      </p:sp>
      <p:sp>
        <p:nvSpPr>
          <p:cNvPr id="10" name="Text 8"/>
          <p:cNvSpPr/>
          <p:nvPr/>
        </p:nvSpPr>
        <p:spPr>
          <a:xfrm>
            <a:off x="4206240" y="1554480"/>
            <a:ext cx="356616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Create two columns: Renewable | Nonrenewable (3 examples each)</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5. What's the difference between renewable and nonrenewable?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6. Why use both types wisely? Think future generations.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7. Fossil fuels are nonrenewable AND cause pollution. Why do we still use them? What should we do?</a:t>
            </a:r>
            <a:endParaRPr lang="en-US" sz="1100" dirty="0"/>
          </a:p>
        </p:txBody>
      </p:sp>
      <p:sp>
        <p:nvSpPr>
          <p:cNvPr id="11" name="Shape 9"/>
          <p:cNvSpPr/>
          <p:nvPr/>
        </p:nvSpPr>
        <p:spPr>
          <a:xfrm>
            <a:off x="8046720" y="749808"/>
            <a:ext cx="3931920" cy="5394960"/>
          </a:xfrm>
          <a:prstGeom prst="roundRect">
            <a:avLst>
              <a:gd name="adj" fmla="val 1860"/>
            </a:avLst>
          </a:prstGeom>
          <a:solidFill>
            <a:srgbClr val="1E2F45"/>
          </a:solidFill>
          <a:ln w="12700">
            <a:solidFill>
              <a:srgbClr val="4CC9F0"/>
            </a:solidFill>
            <a:prstDash val="solid"/>
          </a:ln>
        </p:spPr>
      </p:sp>
      <p:sp>
        <p:nvSpPr>
          <p:cNvPr id="12" name="Text 10"/>
          <p:cNvSpPr/>
          <p:nvPr/>
        </p:nvSpPr>
        <p:spPr>
          <a:xfrm>
            <a:off x="8183880" y="822960"/>
            <a:ext cx="3657600" cy="68580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Part C</a:t>
            </a:r>
            <a:endParaRPr lang="en-US" sz="1300" dirty="0"/>
          </a:p>
          <a:p>
            <a:pPr indent="0" marL="0">
              <a:buNone/>
            </a:pPr>
            <a:r>
              <a:rPr lang="en-US" sz="1300" b="1" dirty="0">
                <a:solidFill>
                  <a:srgbClr val="4CC9F0"/>
                </a:solidFill>
                <a:latin typeface="Calibri" pitchFamily="34" charset="0"/>
                <a:ea typeface="Calibri" pitchFamily="34" charset="-122"/>
                <a:cs typeface="Calibri" pitchFamily="34" charset="-120"/>
              </a:rPr>
              <a:t>Resource Map</a:t>
            </a:r>
            <a:endParaRPr lang="en-US" sz="1300" dirty="0"/>
          </a:p>
        </p:txBody>
      </p:sp>
      <p:sp>
        <p:nvSpPr>
          <p:cNvPr id="13" name="Text 11"/>
          <p:cNvSpPr/>
          <p:nvPr/>
        </p:nvSpPr>
        <p:spPr>
          <a:xfrm>
            <a:off x="8183880" y="1554480"/>
            <a:ext cx="365760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Go back to your warm-up list!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Draw a Resource Map with 3+ renewable AND 3+ nonrenewable resources from your own life.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Label each one + add color!</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CER Response: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'Claim: fossil fuels or solar energy is a better long-term choice. Evidence: renewal-time comparison. Reasoning: explain why.'</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"If you could see all the energy powering your home, your school, and your entire city — where does all of it come from? Could it ever run out?"</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 All four blanks filled in using the word bank.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 Two-column chart (3 examples each) + Questions 5, 6 &amp; 7 in complete sentences with vocab.</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 Resource Map with 3+ renewable and 3+ nonrenewable resources, labeled and colored.</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Essential Question Response — 2-3 sentences using 3+ vocab words.</a:t>
            </a:r>
            <a:endParaRPr lang="en-US" sz="1100" dirty="0"/>
          </a:p>
        </p:txBody>
      </p:sp>
      <p:sp>
        <p:nvSpPr>
          <p:cNvPr id="14" name="Text 12"/>
          <p:cNvSpPr/>
          <p:nvPr/>
        </p:nvSpPr>
        <p:spPr>
          <a:xfrm>
            <a:off x="548640" y="4133088"/>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Response — Claim about renewable vs. nonrenewable + renewal-time evidence + reasoning.</a:t>
            </a:r>
            <a:endParaRPr lang="en-US" sz="1100" dirty="0"/>
          </a:p>
        </p:txBody>
      </p:sp>
      <p:sp>
        <p:nvSpPr>
          <p:cNvPr id="15" name="Shape 13"/>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6" name="Text 14"/>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7" name="Text 15"/>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7.02</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Local Resources: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What the Earth Gives Us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What specific resources does Florida have — and where do they come from?</a:t>
            </a:r>
            <a:endParaRPr lang="en-US" sz="1200" dirty="0"/>
          </a:p>
        </p:txBody>
      </p:sp>
      <p:sp>
        <p:nvSpPr>
          <p:cNvPr id="18" name="Shape 16"/>
          <p:cNvSpPr/>
          <p:nvPr/>
        </p:nvSpPr>
        <p:spPr>
          <a:xfrm>
            <a:off x="0" y="5047488"/>
            <a:ext cx="12192000" cy="45720"/>
          </a:xfrm>
          <a:prstGeom prst="rect">
            <a:avLst/>
          </a:prstGeom>
          <a:solidFill>
            <a:srgbClr val="4CC9F0"/>
          </a:solidFill>
          <a:ln/>
        </p:spPr>
      </p:sp>
      <p:sp>
        <p:nvSpPr>
          <p:cNvPr id="19" name="Text 17"/>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7.01  ·  Renewable &amp; Nonrenewable Resources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2026-07-13T19:54:26Z</dcterms:created>
  <dcterms:modified xsi:type="dcterms:W3CDTF">2026-07-13T19:54:26Z</dcterms:modified>
</cp:coreProperties>
</file>