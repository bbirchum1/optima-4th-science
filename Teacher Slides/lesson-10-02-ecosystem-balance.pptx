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Week 10 — data-literacy focus. Students read manatee population graphs, identify native vs. invasive species, and use evidence to make a claim about ecosystem health. Full CER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suggest: # of species, # of animals, water clarity, # of different plants, etc.
Key point to draw out: 'Feeling like it looks healthy' is not evidence. Numbers over time are evidence.
Share 2-3 student ideas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write predictions before discussing. Goal: use the numbers, not gut feelings.
Data literacy: 'Why is 30 years of data stronger evidence than a photo from one day?' (Trends vs. snapshots)
Investigation design: 'What might explain the small dip in the early 2010s? What other data would we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distinction: Native = belongs here (gopher tortoise, manatee, sawgrass). Invasive = arrived from somewhere else and causes harm (Burmese python, lionfish, air potato vine).
Ask: 'Which vocab word describes the gopher tortoise? What evidence tells you it belongs here?'
Follow up: 'Does anyone have different evidence about what makes an invasive species harmful?'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discussion: Scientists COUNT things and compare over time. Looking healthy ≠ being healthy.
Variables: 'What would you measure? What would stay the same between a healthy and unhealthy wetland?' (Same location, same time of year, etc.)
Ask: 'How many years of data would you need to be sure the wetland is getting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literacy focus: 'Which of these measurements would be most convincing to you? Why?'
Investigation design: 'If you were designing a study to check if a wetland is healthy, what would be your independent variable? What would you measure? How many years of data?'
Variables language: population count is the dependent variable; time is the independent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all 4 together. Ask: 'Which two are RECOVERY stories? Which two are INVASIVE problems? Use the data as your evidence.'
Investigation design: 'How do we KNOW pythons are causing harm? What data would you collect? What would a fair test look like?'
Variables: 'What changed (python population)? What stayed the same (Everglades location)? What's the dependent variable (small mammal populations)?'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is the key skill: making a claim AND citing specific numbers as evidence.
Think Like a Scientist: 'A friend tells you the Everglades is fine because they saw alligators on vacation. How would you respond? What kind of evidence would you need?'
After Step 4: share follow-up questions. 'Which follow-up question would give us the strongest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Revisable Model habit: students sketch FIRST, then compare to actual data.
Reveal right side and ask: 'What did you get right? What needs to be revised?'
Key discussion: 'What caused the small dip in the early 2010s? What evidence would we need to be sure?' (Red algae blooms, boat strikes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years! Why does it take that long to prove a recovery?' (Short-term data can be misleading — one good year doesn't mean recovery)
Citizen science: students can actually participate in these counts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MODEL: Claim: 'The data shows that conservation efforts helped the manatee population recover.'
Evidence: The population grew from ~1,200 in 1991 to ~7,500 today — a 6x increase over 30 years.
Reasoning: The conservation laws passed in 1991 coincide with the start of the population increase. Over 30 years of steady data confirms this is a real trend, not a lucky year.
Key: numbers in BOTH the claim and evidence panels.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independent, then partner share.
After first answer: 'Does anyone have DIFFERENT evidence? What evidence would change your mind about whether invasive species matter?'
Look for: students citing specific data numbers (100,000 pythons, 90-99% small mammal decline).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'Half of the Everglades is gone — but the data shows conservation is working for specific species. What does that tell us about the relationship between humans and ecosystems?'
Connect to vocab: Conservation, Human impact — both show up in these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B — Burmese python is invasive. Q2: C — long-term data. Q3: A — conservation worked.
After Q3: 'What NUMBER from the lesson gives you the strongest evidence for your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part. Part C graph is basically what they sketched in Step 9 — use that!
CER from Slide 12 is already written — just copy it.
Submit via Canvas: typed, photo of notebook, or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'Name one piece of data from today's lesson that you'll remember. How does that number help you understand ecosystem health?' Students share before leaving.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literacy focus: quality of evidence.
Ask: 'If two scientists look at the same wetland — one for 1 day, one for 10 years — whose evidence is stronger? Why?'
Variables: 'What stays the same across all 3 kinds of evidence? (The ecosystem being measured) What changes? (How much time we measure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Investigation design: 'What data would we collect to PROVE that pythons are causing the small mammal decline?'
Fair test: 'Is it a fair test to compare areas WITH pythons to areas WITHOUT? What stays the same? What changes?'
After first answer: 'Does anyone have different evidence about whether pythons are the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pattern: all 3 successes required (1) data collection, (2) laws/protection, (3) time.
Ask: 'What do all 3 conservation successes have in common? Use evidence from the data.'
Connect to vocab: conservation, human impact,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scientific argumentation: responding to weak evidence with stronger evidence.
Model response: 'One observation of alligators is interesting but not enough. We would need population counts over many years, data on small mammals, water quality tests, and invasive species records.'
After first answer: 'Does anyone have different evidence? What would a good study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CC9F0"/>
          </a:solidFill>
          <a:ln/>
        </p:spPr>
      </p:sp>
      <p:sp>
        <p:nvSpPr>
          <p:cNvPr id="3" name="Text 1"/>
          <p:cNvSpPr/>
          <p:nvPr/>
        </p:nvSpPr>
        <p:spPr>
          <a:xfrm>
            <a:off x="548640" y="685800"/>
            <a:ext cx="8503920" cy="1463040"/>
          </a:xfrm>
          <a:prstGeom prst="rect">
            <a:avLst/>
          </a:prstGeom>
          <a:noFill/>
          <a:ln/>
        </p:spPr>
        <p:txBody>
          <a:bodyPr wrap="square" rtlCol="0" anchor="ctr"/>
          <a:lstStyle/>
          <a:p>
            <a:pPr algn="l" indent="0" marL="0">
              <a:buNone/>
            </a:pPr>
            <a:r>
              <a:rPr lang="en-US" sz="4600" b="1" dirty="0">
                <a:solidFill>
                  <a:srgbClr val="FFFFFF"/>
                </a:solidFill>
                <a:latin typeface="Calibri" pitchFamily="34" charset="0"/>
                <a:ea typeface="Calibri" pitchFamily="34" charset="-122"/>
                <a:cs typeface="Calibri" pitchFamily="34" charset="-120"/>
              </a:rPr>
              <a:t>Ecosystem Balance</a:t>
            </a:r>
            <a:endParaRPr lang="en-US" sz="4600" dirty="0"/>
          </a:p>
        </p:txBody>
      </p:sp>
      <p:sp>
        <p:nvSpPr>
          <p:cNvPr id="4" name="Text 2"/>
          <p:cNvSpPr/>
          <p:nvPr/>
        </p:nvSpPr>
        <p:spPr>
          <a:xfrm>
            <a:off x="548640" y="2084832"/>
            <a:ext cx="8503920" cy="347472"/>
          </a:xfrm>
          <a:prstGeom prst="rect">
            <a:avLst/>
          </a:prstGeom>
          <a:noFill/>
          <a:ln/>
        </p:spPr>
        <p:txBody>
          <a:bodyPr wrap="square" rtlCol="0" anchor="ctr"/>
          <a:lstStyle/>
          <a:p>
            <a:pPr algn="l" indent="0" marL="0">
              <a:buNone/>
            </a:pPr>
            <a:r>
              <a:rPr lang="en-US" sz="1300" dirty="0">
                <a:solidFill>
                  <a:srgbClr val="4CC9F0"/>
                </a:solidFill>
                <a:latin typeface="Calibri" pitchFamily="34" charset="0"/>
                <a:ea typeface="Calibri" pitchFamily="34" charset="-122"/>
                <a:cs typeface="Calibri" pitchFamily="34" charset="-120"/>
              </a:rPr>
              <a:t>Q2 · Week 10 · Ecosystems &amp; Energy · Life Science</a:t>
            </a:r>
            <a:endParaRPr lang="en-US" sz="1300" dirty="0"/>
          </a:p>
        </p:txBody>
      </p:sp>
      <p:sp>
        <p:nvSpPr>
          <p:cNvPr id="5" name="Shape 3"/>
          <p:cNvSpPr/>
          <p:nvPr/>
        </p:nvSpPr>
        <p:spPr>
          <a:xfrm>
            <a:off x="548640" y="2487168"/>
            <a:ext cx="4937760" cy="475488"/>
          </a:xfrm>
          <a:prstGeom prst="roundRect">
            <a:avLst>
              <a:gd name="adj" fmla="val 15385"/>
            </a:avLst>
          </a:prstGeom>
          <a:solidFill>
            <a:srgbClr val="1E2F45"/>
          </a:solidFill>
          <a:ln w="12700">
            <a:solidFill>
              <a:srgbClr val="4CC9F0"/>
            </a:solidFill>
            <a:prstDash val="solid"/>
          </a:ln>
        </p:spPr>
      </p:sp>
      <p:sp>
        <p:nvSpPr>
          <p:cNvPr id="6" name="Text 4"/>
          <p:cNvSpPr/>
          <p:nvPr/>
        </p:nvSpPr>
        <p:spPr>
          <a:xfrm>
            <a:off x="685800" y="2487168"/>
            <a:ext cx="4754880" cy="475488"/>
          </a:xfrm>
          <a:prstGeom prst="rect">
            <a:avLst/>
          </a:prstGeom>
          <a:noFill/>
          <a:ln/>
        </p:spPr>
        <p:txBody>
          <a:bodyPr wrap="square" rtlCol="0" anchor="ctr"/>
          <a:lstStyle/>
          <a:p>
            <a:pPr algn="l" indent="0" marL="0">
              <a:buNone/>
            </a:pPr>
            <a:r>
              <a:rPr lang="en-US" sz="1150" dirty="0">
                <a:solidFill>
                  <a:srgbClr val="B0C4D8"/>
                </a:solidFill>
                <a:latin typeface="Calibri" pitchFamily="34" charset="0"/>
                <a:ea typeface="Calibri" pitchFamily="34" charset="-122"/>
                <a:cs typeface="Calibri" pitchFamily="34" charset="-120"/>
              </a:rPr>
              <a:t>📋  SC.4.L.17.4 + 4-ESS3-1 — Use data to decide if a Florida ecosystem is healthy or out of balance</a:t>
            </a:r>
            <a:endParaRPr lang="en-US" sz="1150" dirty="0"/>
          </a:p>
        </p:txBody>
      </p:sp>
      <p:sp>
        <p:nvSpPr>
          <p:cNvPr id="7" name="Shape 5"/>
          <p:cNvSpPr/>
          <p:nvPr/>
        </p:nvSpPr>
        <p:spPr>
          <a:xfrm>
            <a:off x="9235440" y="411480"/>
            <a:ext cx="2651760" cy="2651760"/>
          </a:xfrm>
          <a:prstGeom prst="ellipse">
            <a:avLst/>
          </a:prstGeom>
          <a:solidFill>
            <a:srgbClr val="162233"/>
          </a:solidFill>
          <a:ln w="25400">
            <a:solidFill>
              <a:srgbClr val="4CC9F0"/>
            </a:solidFill>
            <a:prstDash val="solid"/>
          </a:ln>
        </p:spPr>
      </p:sp>
      <p:sp>
        <p:nvSpPr>
          <p:cNvPr id="8" name="Text 6"/>
          <p:cNvSpPr/>
          <p:nvPr/>
        </p:nvSpPr>
        <p:spPr>
          <a:xfrm>
            <a:off x="9326880" y="1005840"/>
            <a:ext cx="2468880" cy="1463040"/>
          </a:xfrm>
          <a:prstGeom prst="rect">
            <a:avLst/>
          </a:prstGeom>
          <a:noFill/>
          <a:ln/>
        </p:spPr>
        <p:txBody>
          <a:bodyPr wrap="square" rtlCol="0" anchor="ctr"/>
          <a:lstStyle/>
          <a:p>
            <a:pPr algn="ctr" indent="0" marL="0">
              <a:buNone/>
            </a:pPr>
            <a:r>
              <a:rPr lang="en-US" sz="6800" dirty="0">
                <a:solidFill>
                  <a:srgbClr val="000000"/>
                </a:solidFill>
              </a:rPr>
              <a:t>🔬</a:t>
            </a:r>
            <a:endParaRPr lang="en-US" sz="6800" dirty="0"/>
          </a:p>
        </p:txBody>
      </p:sp>
      <p:sp>
        <p:nvSpPr>
          <p:cNvPr id="9" name="Shape 7"/>
          <p:cNvSpPr/>
          <p:nvPr/>
        </p:nvSpPr>
        <p:spPr>
          <a:xfrm>
            <a:off x="548640" y="3127248"/>
            <a:ext cx="7406640" cy="1645920"/>
          </a:xfrm>
          <a:prstGeom prst="roundRect">
            <a:avLst>
              <a:gd name="adj" fmla="val 4444"/>
            </a:avLst>
          </a:prstGeom>
          <a:solidFill>
            <a:srgbClr val="1E2F45"/>
          </a:solidFill>
          <a:ln w="12700">
            <a:solidFill>
              <a:srgbClr val="243A52"/>
            </a:solidFill>
            <a:prstDash val="solid"/>
          </a:ln>
        </p:spPr>
      </p:sp>
      <p:sp>
        <p:nvSpPr>
          <p:cNvPr id="10" name="Text 8"/>
          <p:cNvSpPr/>
          <p:nvPr/>
        </p:nvSpPr>
        <p:spPr>
          <a:xfrm>
            <a:off x="685800" y="3182112"/>
            <a:ext cx="7132320" cy="310896"/>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Today's Learning Goals</a:t>
            </a:r>
            <a:endParaRPr lang="en-US" sz="1100" dirty="0"/>
          </a:p>
        </p:txBody>
      </p:sp>
      <p:sp>
        <p:nvSpPr>
          <p:cNvPr id="11" name="Text 9"/>
          <p:cNvSpPr/>
          <p:nvPr/>
        </p:nvSpPr>
        <p:spPr>
          <a:xfrm>
            <a:off x="777240" y="3529584"/>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Read a graph or data table to describe a change in a Florida ecosystem</a:t>
            </a:r>
            <a:endParaRPr lang="en-US" sz="1100" dirty="0"/>
          </a:p>
        </p:txBody>
      </p:sp>
      <p:sp>
        <p:nvSpPr>
          <p:cNvPr id="12" name="Text 10"/>
          <p:cNvSpPr/>
          <p:nvPr/>
        </p:nvSpPr>
        <p:spPr>
          <a:xfrm>
            <a:off x="777240" y="3867912"/>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Use evidence to decide whether an ecosystem is healthy or out of balance</a:t>
            </a:r>
            <a:endParaRPr lang="en-US" sz="1100" dirty="0"/>
          </a:p>
        </p:txBody>
      </p:sp>
      <p:sp>
        <p:nvSpPr>
          <p:cNvPr id="13" name="Text 11"/>
          <p:cNvSpPr/>
          <p:nvPr/>
        </p:nvSpPr>
        <p:spPr>
          <a:xfrm>
            <a:off x="777240" y="4206240"/>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Describe one way humans can help an ecosystem stay healthy</a:t>
            </a:r>
            <a:endParaRPr lang="en-US" sz="1100" dirty="0"/>
          </a:p>
        </p:txBody>
      </p:sp>
      <p:sp>
        <p:nvSpPr>
          <p:cNvPr id="14" name="Text 12"/>
          <p:cNvSpPr/>
          <p:nvPr/>
        </p:nvSpPr>
        <p:spPr>
          <a:xfrm>
            <a:off x="548640" y="4956048"/>
            <a:ext cx="9144000" cy="29260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You'll need: 📓 Science notebook   ✏️ Pencil or pen for data   📊 We'll read REAL Florida data today!</a:t>
            </a:r>
            <a:endParaRPr lang="en-US" sz="1100" dirty="0"/>
          </a:p>
        </p:txBody>
      </p:sp>
      <p:sp>
        <p:nvSpPr>
          <p:cNvPr id="15" name="Shape 13"/>
          <p:cNvSpPr/>
          <p:nvPr/>
        </p:nvSpPr>
        <p:spPr>
          <a:xfrm>
            <a:off x="0" y="6629400"/>
            <a:ext cx="12192000" cy="228600"/>
          </a:xfrm>
          <a:prstGeom prst="rect">
            <a:avLst/>
          </a:prstGeom>
          <a:solidFill>
            <a:srgbClr val="162233"/>
          </a:solidFill>
          <a:ln/>
        </p:spPr>
      </p:sp>
      <p:sp>
        <p:nvSpPr>
          <p:cNvPr id="16" name="Text 1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10.02  ·  Ecosystem Balance</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Warm-Up: Healthy or Not?  (5 min)</a:t>
            </a:r>
            <a:endParaRPr lang="en-US" sz="1600" dirty="0"/>
          </a:p>
        </p:txBody>
      </p:sp>
      <p:sp>
        <p:nvSpPr>
          <p:cNvPr id="5" name="Shape 3"/>
          <p:cNvSpPr/>
          <p:nvPr/>
        </p:nvSpPr>
        <p:spPr>
          <a:xfrm>
            <a:off x="365760" y="713232"/>
            <a:ext cx="11521440" cy="1389888"/>
          </a:xfrm>
          <a:prstGeom prst="roundRect">
            <a:avLst>
              <a:gd name="adj" fmla="val 5263"/>
            </a:avLst>
          </a:prstGeom>
          <a:solidFill>
            <a:srgbClr val="1E2F45"/>
          </a:solidFill>
          <a:ln w="12700">
            <a:solidFill>
              <a:srgbClr val="FFB703"/>
            </a:solidFill>
            <a:prstDash val="solid"/>
          </a:ln>
        </p:spPr>
      </p:sp>
      <p:sp>
        <p:nvSpPr>
          <p:cNvPr id="6" name="Text 4"/>
          <p:cNvSpPr/>
          <p:nvPr/>
        </p:nvSpPr>
        <p:spPr>
          <a:xfrm>
            <a:off x="548640" y="768096"/>
            <a:ext cx="1115568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Picture two Florida wetlands:</a:t>
            </a:r>
            <a:endParaRPr lang="en-US" sz="1400" dirty="0"/>
          </a:p>
        </p:txBody>
      </p:sp>
      <p:sp>
        <p:nvSpPr>
          <p:cNvPr id="7" name="Text 5"/>
          <p:cNvSpPr/>
          <p:nvPr/>
        </p:nvSpPr>
        <p:spPr>
          <a:xfrm>
            <a:off x="548640" y="1152144"/>
            <a:ext cx="11155680" cy="841248"/>
          </a:xfrm>
          <a:prstGeom prst="rect">
            <a:avLst/>
          </a:prstGeom>
          <a:noFill/>
          <a:ln/>
        </p:spPr>
        <p:txBody>
          <a:bodyPr wrap="square" rtlCol="0" anchor="ctr"/>
          <a:lstStyle/>
          <a:p>
            <a:pPr indent="0" marL="0">
              <a:buNone/>
            </a:pPr>
            <a:r>
              <a:rPr lang="en-US" sz="1300" dirty="0">
                <a:solidFill>
                  <a:srgbClr val="B0C4D8"/>
                </a:solidFill>
                <a:latin typeface="Calibri" pitchFamily="34" charset="0"/>
                <a:ea typeface="Calibri" pitchFamily="34" charset="-122"/>
                <a:cs typeface="Calibri" pitchFamily="34" charset="-120"/>
              </a:rPr>
              <a:t>🌿 Wetland A: Full of birds, fish, sawgrass, and frogs. Lots of variety.</a:t>
            </a:r>
            <a:endParaRPr lang="en-US" sz="1300" dirty="0"/>
          </a:p>
          <a:p>
            <a:pPr indent="0" marL="0">
              <a:buNone/>
            </a:pPr>
            <a:r>
              <a:rPr lang="en-US" sz="1300" dirty="0">
                <a:solidFill>
                  <a:srgbClr val="B0C4D8"/>
                </a:solidFill>
                <a:latin typeface="Calibri" pitchFamily="34" charset="0"/>
                <a:ea typeface="Calibri" pitchFamily="34" charset="-122"/>
                <a:cs typeface="Calibri" pitchFamily="34" charset="-120"/>
              </a:rPr>
              <a:t>🏜️ Wetland B: Quiet — no birds singing, no fish jumping, mostly one kind of plant everywhere.</a:t>
            </a:r>
            <a:endParaRPr lang="en-US" sz="1300" dirty="0"/>
          </a:p>
        </p:txBody>
      </p:sp>
      <p:sp>
        <p:nvSpPr>
          <p:cNvPr id="8" name="Shape 6"/>
          <p:cNvSpPr/>
          <p:nvPr/>
        </p:nvSpPr>
        <p:spPr>
          <a:xfrm>
            <a:off x="365760" y="2240280"/>
            <a:ext cx="11521440" cy="347472"/>
          </a:xfrm>
          <a:prstGeom prst="roundRect">
            <a:avLst>
              <a:gd name="adj" fmla="val 23684"/>
            </a:avLst>
          </a:prstGeom>
          <a:solidFill>
            <a:srgbClr val="E09200"/>
          </a:solidFill>
          <a:ln w="19050">
            <a:solidFill>
              <a:srgbClr val="FFB703"/>
            </a:solidFill>
            <a:prstDash val="solid"/>
          </a:ln>
        </p:spPr>
      </p:sp>
      <p:sp>
        <p:nvSpPr>
          <p:cNvPr id="9" name="Text 7"/>
          <p:cNvSpPr/>
          <p:nvPr/>
        </p:nvSpPr>
        <p:spPr>
          <a:xfrm>
            <a:off x="365760" y="2240280"/>
            <a:ext cx="1152144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Notice &amp; Wonder</a:t>
            </a:r>
            <a:endParaRPr lang="en-US" sz="1200" dirty="0"/>
          </a:p>
        </p:txBody>
      </p:sp>
      <p:sp>
        <p:nvSpPr>
          <p:cNvPr id="10" name="Text 8"/>
          <p:cNvSpPr/>
          <p:nvPr/>
        </p:nvSpPr>
        <p:spPr>
          <a:xfrm>
            <a:off x="502920" y="2651760"/>
            <a:ext cx="11292840" cy="621792"/>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"Jot down THREE things a scientist could COUNT or MEASURE in either wetland to tell which one is healthy. Name things you could actually write down as numbers."</a:t>
            </a:r>
            <a:endParaRPr lang="en-US" sz="1300" dirty="0"/>
          </a:p>
        </p:txBody>
      </p:sp>
      <p:sp>
        <p:nvSpPr>
          <p:cNvPr id="11" name="Shape 9"/>
          <p:cNvSpPr/>
          <p:nvPr/>
        </p:nvSpPr>
        <p:spPr>
          <a:xfrm>
            <a:off x="365760" y="3401568"/>
            <a:ext cx="11521440" cy="1234440"/>
          </a:xfrm>
          <a:prstGeom prst="roundRect">
            <a:avLst>
              <a:gd name="adj" fmla="val 5926"/>
            </a:avLst>
          </a:prstGeom>
          <a:solidFill>
            <a:srgbClr val="1A1A10"/>
          </a:solidFill>
          <a:ln w="12700">
            <a:solidFill>
              <a:srgbClr val="2DC653"/>
            </a:solidFill>
            <a:prstDash val="solid"/>
          </a:ln>
        </p:spPr>
      </p:sp>
      <p:sp>
        <p:nvSpPr>
          <p:cNvPr id="12" name="Text 10"/>
          <p:cNvSpPr/>
          <p:nvPr/>
        </p:nvSpPr>
        <p:spPr>
          <a:xfrm>
            <a:off x="548640" y="3493008"/>
            <a:ext cx="11155680" cy="50292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Scientists don't just say 'Looks healthy!' — they COUNT things and compare over time. Today you'll do the same.</a:t>
            </a:r>
            <a:endParaRPr lang="en-US" sz="1250" dirty="0"/>
          </a:p>
        </p:txBody>
      </p:sp>
      <p:sp>
        <p:nvSpPr>
          <p:cNvPr id="13" name="Text 11"/>
          <p:cNvSpPr/>
          <p:nvPr/>
        </p:nvSpPr>
        <p:spPr>
          <a:xfrm>
            <a:off x="548640" y="4041648"/>
            <a:ext cx="11155680" cy="384048"/>
          </a:xfrm>
          <a:prstGeom prst="rect">
            <a:avLst/>
          </a:prstGeom>
          <a:noFill/>
          <a:ln/>
        </p:spPr>
        <p:txBody>
          <a:bodyPr wrap="square" rtlCol="0" anchor="ctr"/>
          <a:lstStyle/>
          <a:p>
            <a:pPr indent="0" marL="0">
              <a:buNone/>
            </a:pPr>
            <a:r>
              <a:rPr lang="en-US" sz="1200" i="1" dirty="0">
                <a:solidFill>
                  <a:srgbClr val="FFB703"/>
                </a:solidFill>
                <a:latin typeface="Calibri" pitchFamily="34" charset="0"/>
                <a:ea typeface="Calibri" pitchFamily="34" charset="-122"/>
                <a:cs typeface="Calibri" pitchFamily="34" charset="-120"/>
              </a:rPr>
              <a:t>What makes evidence stronger than a feeling? If two people walk in and disagree, what helps them decide?</a:t>
            </a:r>
            <a:endParaRPr lang="en-US" sz="1200" dirty="0"/>
          </a:p>
        </p:txBody>
      </p:sp>
      <p:sp>
        <p:nvSpPr>
          <p:cNvPr id="14" name="Shape 12"/>
          <p:cNvSpPr/>
          <p:nvPr/>
        </p:nvSpPr>
        <p:spPr>
          <a:xfrm>
            <a:off x="0" y="6629400"/>
            <a:ext cx="12192000" cy="228600"/>
          </a:xfrm>
          <a:prstGeom prst="rect">
            <a:avLst/>
          </a:prstGeom>
          <a:solidFill>
            <a:srgbClr val="162233"/>
          </a:solidFill>
          <a:ln/>
        </p:spPr>
      </p:sp>
      <p:sp>
        <p:nvSpPr>
          <p:cNvPr id="15" name="Text 13"/>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10.02  ·  Ecosystem Balance</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Evidence-Based Prediction: The Manatee Graph</a:t>
            </a:r>
            <a:endParaRPr lang="en-US" sz="1600" dirty="0"/>
          </a:p>
        </p:txBody>
      </p:sp>
      <p:sp>
        <p:nvSpPr>
          <p:cNvPr id="5" name="Shape 3"/>
          <p:cNvSpPr/>
          <p:nvPr/>
        </p:nvSpPr>
        <p:spPr>
          <a:xfrm>
            <a:off x="365760" y="713232"/>
            <a:ext cx="6583680" cy="5166360"/>
          </a:xfrm>
          <a:prstGeom prst="roundRect">
            <a:avLst>
              <a:gd name="adj" fmla="val 1416"/>
            </a:avLst>
          </a:prstGeom>
          <a:solidFill>
            <a:srgbClr val="0A1520"/>
          </a:solidFill>
          <a:ln w="19050">
            <a:solidFill>
              <a:srgbClr val="4CC9F0"/>
            </a:solidFill>
            <a:prstDash val="dash"/>
          </a:ln>
        </p:spPr>
      </p:sp>
      <p:sp>
        <p:nvSpPr>
          <p:cNvPr id="6" name="Text 4"/>
          <p:cNvSpPr/>
          <p:nvPr/>
        </p:nvSpPr>
        <p:spPr>
          <a:xfrm>
            <a:off x="457200" y="822960"/>
            <a:ext cx="640080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457200" y="1261872"/>
            <a:ext cx="640080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8" name="Text 6"/>
          <p:cNvSpPr/>
          <p:nvPr/>
        </p:nvSpPr>
        <p:spPr>
          <a:xfrm>
            <a:off x="475488" y="1554480"/>
            <a:ext cx="6364224" cy="411480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"Florida manatee population recovery line graph 1991 to present 1200 to 7500 conservation law labeled data points"</a:t>
            </a:r>
            <a:endParaRPr lang="en-US" sz="950" dirty="0"/>
          </a:p>
        </p:txBody>
      </p:sp>
      <p:sp>
        <p:nvSpPr>
          <p:cNvPr id="9" name="Text 7"/>
          <p:cNvSpPr/>
          <p:nvPr/>
        </p:nvSpPr>
        <p:spPr>
          <a:xfrm>
            <a:off x="365760" y="5916168"/>
            <a:ext cx="658368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Florida manatee population: 1991 (~1,200) to today (~7,500+)</a:t>
            </a:r>
            <a:endParaRPr lang="en-US" sz="900" dirty="0"/>
          </a:p>
        </p:txBody>
      </p:sp>
      <p:sp>
        <p:nvSpPr>
          <p:cNvPr id="10" name="Shape 8"/>
          <p:cNvSpPr/>
          <p:nvPr/>
        </p:nvSpPr>
        <p:spPr>
          <a:xfrm>
            <a:off x="7132320" y="713232"/>
            <a:ext cx="4937760" cy="2267712"/>
          </a:xfrm>
          <a:prstGeom prst="roundRect">
            <a:avLst>
              <a:gd name="adj" fmla="val 3226"/>
            </a:avLst>
          </a:prstGeom>
          <a:solidFill>
            <a:srgbClr val="1E2F45"/>
          </a:solidFill>
          <a:ln w="12700">
            <a:solidFill>
              <a:srgbClr val="FFB703"/>
            </a:solidFill>
            <a:prstDash val="solid"/>
          </a:ln>
        </p:spPr>
      </p:sp>
      <p:sp>
        <p:nvSpPr>
          <p:cNvPr id="11" name="Text 9"/>
          <p:cNvSpPr/>
          <p:nvPr/>
        </p:nvSpPr>
        <p:spPr>
          <a:xfrm>
            <a:off x="7315200" y="822960"/>
            <a:ext cx="4572000" cy="347472"/>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Before you read on, write your prediction:</a:t>
            </a:r>
            <a:endParaRPr lang="en-US" sz="1200" dirty="0"/>
          </a:p>
        </p:txBody>
      </p:sp>
      <p:sp>
        <p:nvSpPr>
          <p:cNvPr id="12" name="Text 10"/>
          <p:cNvSpPr/>
          <p:nvPr/>
        </p:nvSpPr>
        <p:spPr>
          <a:xfrm>
            <a:off x="7315200" y="1207008"/>
            <a:ext cx="4572000" cy="1572768"/>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1991: ~1,200 manatees</a:t>
            </a:r>
            <a:endParaRPr lang="en-US" sz="1200" dirty="0"/>
          </a:p>
          <a:p>
            <a:pPr indent="0" marL="0">
              <a:buNone/>
            </a:pPr>
            <a:r>
              <a:rPr lang="en-US" sz="1200" i="1" dirty="0">
                <a:solidFill>
                  <a:srgbClr val="FFFFFF"/>
                </a:solidFill>
                <a:latin typeface="Calibri" pitchFamily="34" charset="0"/>
                <a:ea typeface="Calibri" pitchFamily="34" charset="-122"/>
                <a:cs typeface="Calibri" pitchFamily="34" charset="-120"/>
              </a:rPr>
              <a:t>Today: ~7,500 manatees</a:t>
            </a:r>
            <a:endParaRPr lang="en-US" sz="1200" dirty="0"/>
          </a:p>
          <a:p>
            <a:pPr indent="0" marL="0">
              <a:buNone/>
            </a:pPr>
            <a:endParaRPr lang="en-US" sz="1200" dirty="0"/>
          </a:p>
          <a:p>
            <a:pPr indent="0" marL="0">
              <a:buNone/>
            </a:pPr>
            <a:r>
              <a:rPr lang="en-US" sz="1200" i="1" dirty="0">
                <a:solidFill>
                  <a:srgbClr val="FFFFFF"/>
                </a:solidFill>
                <a:latin typeface="Calibri" pitchFamily="34" charset="0"/>
                <a:ea typeface="Calibri" pitchFamily="34" charset="-122"/>
                <a:cs typeface="Calibri" pitchFamily="34" charset="-120"/>
              </a:rPr>
              <a:t>"I predict this change tells us that _______ because _______."</a:t>
            </a:r>
            <a:endParaRPr lang="en-US" sz="1200" dirty="0"/>
          </a:p>
        </p:txBody>
      </p:sp>
      <p:sp>
        <p:nvSpPr>
          <p:cNvPr id="13" name="Shape 11"/>
          <p:cNvSpPr/>
          <p:nvPr/>
        </p:nvSpPr>
        <p:spPr>
          <a:xfrm>
            <a:off x="7132320" y="3090672"/>
            <a:ext cx="4937760" cy="2788920"/>
          </a:xfrm>
          <a:prstGeom prst="roundRect">
            <a:avLst>
              <a:gd name="adj" fmla="val 2623"/>
            </a:avLst>
          </a:prstGeom>
          <a:solidFill>
            <a:srgbClr val="1E2F45"/>
          </a:solidFill>
          <a:ln w="12700">
            <a:solidFill>
              <a:srgbClr val="2DC653"/>
            </a:solidFill>
            <a:prstDash val="solid"/>
          </a:ln>
        </p:spPr>
      </p:sp>
      <p:sp>
        <p:nvSpPr>
          <p:cNvPr id="14" name="Text 12"/>
          <p:cNvSpPr/>
          <p:nvPr/>
        </p:nvSpPr>
        <p:spPr>
          <a:xfrm>
            <a:off x="7315200" y="3182112"/>
            <a:ext cx="4572000" cy="310896"/>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Key data questions:</a:t>
            </a:r>
            <a:endParaRPr lang="en-US" sz="1200" dirty="0"/>
          </a:p>
        </p:txBody>
      </p:sp>
      <p:sp>
        <p:nvSpPr>
          <p:cNvPr id="15" name="Text 13"/>
          <p:cNvSpPr/>
          <p:nvPr/>
        </p:nvSpPr>
        <p:spPr>
          <a:xfrm>
            <a:off x="7315200" y="3547872"/>
            <a:ext cx="4572000" cy="438912"/>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1. Did the population go UP or DOWN?</a:t>
            </a:r>
            <a:endParaRPr lang="en-US" sz="1150" dirty="0"/>
          </a:p>
        </p:txBody>
      </p:sp>
      <p:sp>
        <p:nvSpPr>
          <p:cNvPr id="16" name="Text 14"/>
          <p:cNvSpPr/>
          <p:nvPr/>
        </p:nvSpPr>
        <p:spPr>
          <a:xfrm>
            <a:off x="7315200" y="4050792"/>
            <a:ext cx="4572000" cy="438912"/>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2. By how much?</a:t>
            </a:r>
            <a:endParaRPr lang="en-US" sz="1150" dirty="0"/>
          </a:p>
        </p:txBody>
      </p:sp>
      <p:sp>
        <p:nvSpPr>
          <p:cNvPr id="17" name="Text 15"/>
          <p:cNvSpPr/>
          <p:nvPr/>
        </p:nvSpPr>
        <p:spPr>
          <a:xfrm>
            <a:off x="7315200" y="4553712"/>
            <a:ext cx="4572000" cy="438912"/>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3. What happened around 1991? (Hint: conservation laws)</a:t>
            </a:r>
            <a:endParaRPr lang="en-US" sz="1150" dirty="0"/>
          </a:p>
        </p:txBody>
      </p:sp>
      <p:sp>
        <p:nvSpPr>
          <p:cNvPr id="18" name="Text 16"/>
          <p:cNvSpPr/>
          <p:nvPr/>
        </p:nvSpPr>
        <p:spPr>
          <a:xfrm>
            <a:off x="7315200" y="5056632"/>
            <a:ext cx="4572000" cy="438912"/>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4. What does LONG data (30 years) tell us that 1 photo can't?</a:t>
            </a:r>
            <a:endParaRPr lang="en-US" sz="1150" dirty="0"/>
          </a:p>
        </p:txBody>
      </p:sp>
      <p:sp>
        <p:nvSpPr>
          <p:cNvPr id="19" name="Shape 17"/>
          <p:cNvSpPr/>
          <p:nvPr/>
        </p:nvSpPr>
        <p:spPr>
          <a:xfrm>
            <a:off x="0" y="6629400"/>
            <a:ext cx="12192000" cy="228600"/>
          </a:xfrm>
          <a:prstGeom prst="rect">
            <a:avLst/>
          </a:prstGeom>
          <a:solidFill>
            <a:srgbClr val="162233"/>
          </a:solidFill>
          <a:ln/>
        </p:spPr>
      </p:sp>
      <p:sp>
        <p:nvSpPr>
          <p:cNvPr id="20" name="Text 1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10.02  ·  Ecosystem Balance</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Vocabulary: 6 Words for Today</a:t>
            </a:r>
            <a:endParaRPr lang="en-US" sz="1600" dirty="0"/>
          </a:p>
        </p:txBody>
      </p:sp>
      <p:sp>
        <p:nvSpPr>
          <p:cNvPr id="5" name="Text 3"/>
          <p:cNvSpPr/>
          <p:nvPr/>
        </p:nvSpPr>
        <p:spPr>
          <a:xfrm>
            <a:off x="365760" y="658368"/>
            <a:ext cx="11521440" cy="274320"/>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These words help us talk precisely about ecosystem health and human impact.</a:t>
            </a:r>
            <a:endParaRPr lang="en-US" sz="1150" dirty="0"/>
          </a:p>
        </p:txBody>
      </p:sp>
      <p:sp>
        <p:nvSpPr>
          <p:cNvPr id="6" name="Shape 4"/>
          <p:cNvSpPr/>
          <p:nvPr/>
        </p:nvSpPr>
        <p:spPr>
          <a:xfrm>
            <a:off x="365760" y="987552"/>
            <a:ext cx="3657600" cy="1325880"/>
          </a:xfrm>
          <a:prstGeom prst="roundRect">
            <a:avLst>
              <a:gd name="adj" fmla="val 6897"/>
            </a:avLst>
          </a:prstGeom>
          <a:solidFill>
            <a:srgbClr val="1E2F45"/>
          </a:solidFill>
          <a:ln w="25400">
            <a:solidFill>
              <a:srgbClr val="2DC653"/>
            </a:solidFill>
            <a:prstDash val="solid"/>
          </a:ln>
        </p:spPr>
      </p:sp>
      <p:sp>
        <p:nvSpPr>
          <p:cNvPr id="7" name="Shape 5"/>
          <p:cNvSpPr/>
          <p:nvPr/>
        </p:nvSpPr>
        <p:spPr>
          <a:xfrm>
            <a:off x="365760" y="987552"/>
            <a:ext cx="3657600" cy="347472"/>
          </a:xfrm>
          <a:prstGeom prst="roundRect">
            <a:avLst>
              <a:gd name="adj" fmla="val 21053"/>
            </a:avLst>
          </a:prstGeom>
          <a:solidFill>
            <a:srgbClr val="2DC653"/>
          </a:solidFill>
          <a:ln w="12700">
            <a:solidFill>
              <a:srgbClr val="2DC653"/>
            </a:solidFill>
            <a:prstDash val="solid"/>
          </a:ln>
        </p:spPr>
      </p:sp>
      <p:sp>
        <p:nvSpPr>
          <p:cNvPr id="8" name="Text 6"/>
          <p:cNvSpPr/>
          <p:nvPr/>
        </p:nvSpPr>
        <p:spPr>
          <a:xfrm>
            <a:off x="457200" y="1014984"/>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Native species</a:t>
            </a:r>
            <a:endParaRPr lang="en-US" sz="1200" dirty="0"/>
          </a:p>
        </p:txBody>
      </p:sp>
      <p:sp>
        <p:nvSpPr>
          <p:cNvPr id="9" name="Text 7"/>
          <p:cNvSpPr/>
          <p:nvPr/>
        </p:nvSpPr>
        <p:spPr>
          <a:xfrm>
            <a:off x="475488" y="1389888"/>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plant or animal that has lived in a place for a very long time and belongs there — like the gopher tortoise in Florida.</a:t>
            </a:r>
            <a:endParaRPr lang="en-US" sz="1050" dirty="0"/>
          </a:p>
        </p:txBody>
      </p:sp>
      <p:sp>
        <p:nvSpPr>
          <p:cNvPr id="10" name="Shape 8"/>
          <p:cNvSpPr/>
          <p:nvPr/>
        </p:nvSpPr>
        <p:spPr>
          <a:xfrm>
            <a:off x="4206240" y="987552"/>
            <a:ext cx="3657600" cy="1325880"/>
          </a:xfrm>
          <a:prstGeom prst="roundRect">
            <a:avLst>
              <a:gd name="adj" fmla="val 6897"/>
            </a:avLst>
          </a:prstGeom>
          <a:solidFill>
            <a:srgbClr val="1E2F45"/>
          </a:solidFill>
          <a:ln w="25400">
            <a:solidFill>
              <a:srgbClr val="F4736A"/>
            </a:solidFill>
            <a:prstDash val="solid"/>
          </a:ln>
        </p:spPr>
      </p:sp>
      <p:sp>
        <p:nvSpPr>
          <p:cNvPr id="11" name="Shape 9"/>
          <p:cNvSpPr/>
          <p:nvPr/>
        </p:nvSpPr>
        <p:spPr>
          <a:xfrm>
            <a:off x="4206240" y="987552"/>
            <a:ext cx="3657600" cy="347472"/>
          </a:xfrm>
          <a:prstGeom prst="roundRect">
            <a:avLst>
              <a:gd name="adj" fmla="val 21053"/>
            </a:avLst>
          </a:prstGeom>
          <a:solidFill>
            <a:srgbClr val="F4736A"/>
          </a:solidFill>
          <a:ln w="12700">
            <a:solidFill>
              <a:srgbClr val="F4736A"/>
            </a:solidFill>
            <a:prstDash val="solid"/>
          </a:ln>
        </p:spPr>
      </p:sp>
      <p:sp>
        <p:nvSpPr>
          <p:cNvPr id="12" name="Text 10"/>
          <p:cNvSpPr/>
          <p:nvPr/>
        </p:nvSpPr>
        <p:spPr>
          <a:xfrm>
            <a:off x="4297680" y="1014984"/>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Invasive species</a:t>
            </a:r>
            <a:endParaRPr lang="en-US" sz="1200" dirty="0"/>
          </a:p>
        </p:txBody>
      </p:sp>
      <p:sp>
        <p:nvSpPr>
          <p:cNvPr id="13" name="Text 11"/>
          <p:cNvSpPr/>
          <p:nvPr/>
        </p:nvSpPr>
        <p:spPr>
          <a:xfrm>
            <a:off x="4315968" y="1389888"/>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plant or animal that doesn't belong in a place and causes harm to the local ecosystem — like the Burmese python in the Everglades.</a:t>
            </a:r>
            <a:endParaRPr lang="en-US" sz="1050" dirty="0"/>
          </a:p>
        </p:txBody>
      </p:sp>
      <p:sp>
        <p:nvSpPr>
          <p:cNvPr id="14" name="Shape 12"/>
          <p:cNvSpPr/>
          <p:nvPr/>
        </p:nvSpPr>
        <p:spPr>
          <a:xfrm>
            <a:off x="8046720" y="987552"/>
            <a:ext cx="3657600" cy="1325880"/>
          </a:xfrm>
          <a:prstGeom prst="roundRect">
            <a:avLst>
              <a:gd name="adj" fmla="val 6897"/>
            </a:avLst>
          </a:prstGeom>
          <a:solidFill>
            <a:srgbClr val="1E2F45"/>
          </a:solidFill>
          <a:ln w="25400">
            <a:solidFill>
              <a:srgbClr val="4CC9F0"/>
            </a:solidFill>
            <a:prstDash val="solid"/>
          </a:ln>
        </p:spPr>
      </p:sp>
      <p:sp>
        <p:nvSpPr>
          <p:cNvPr id="15" name="Shape 13"/>
          <p:cNvSpPr/>
          <p:nvPr/>
        </p:nvSpPr>
        <p:spPr>
          <a:xfrm>
            <a:off x="8046720" y="987552"/>
            <a:ext cx="3657600" cy="347472"/>
          </a:xfrm>
          <a:prstGeom prst="roundRect">
            <a:avLst>
              <a:gd name="adj" fmla="val 21053"/>
            </a:avLst>
          </a:prstGeom>
          <a:solidFill>
            <a:srgbClr val="4CC9F0"/>
          </a:solidFill>
          <a:ln w="12700">
            <a:solidFill>
              <a:srgbClr val="4CC9F0"/>
            </a:solidFill>
            <a:prstDash val="solid"/>
          </a:ln>
        </p:spPr>
      </p:sp>
      <p:sp>
        <p:nvSpPr>
          <p:cNvPr id="16" name="Text 14"/>
          <p:cNvSpPr/>
          <p:nvPr/>
        </p:nvSpPr>
        <p:spPr>
          <a:xfrm>
            <a:off x="8138160" y="1014984"/>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Population</a:t>
            </a:r>
            <a:endParaRPr lang="en-US" sz="1200" dirty="0"/>
          </a:p>
        </p:txBody>
      </p:sp>
      <p:sp>
        <p:nvSpPr>
          <p:cNvPr id="17" name="Text 15"/>
          <p:cNvSpPr/>
          <p:nvPr/>
        </p:nvSpPr>
        <p:spPr>
          <a:xfrm>
            <a:off x="8156448" y="1389888"/>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All the living things of one kind in one place — like 'the manatee population in Crystal River.'</a:t>
            </a:r>
            <a:endParaRPr lang="en-US" sz="1050" dirty="0"/>
          </a:p>
        </p:txBody>
      </p:sp>
      <p:sp>
        <p:nvSpPr>
          <p:cNvPr id="18" name="Shape 16"/>
          <p:cNvSpPr/>
          <p:nvPr/>
        </p:nvSpPr>
        <p:spPr>
          <a:xfrm>
            <a:off x="365760" y="2487168"/>
            <a:ext cx="3657600" cy="1325880"/>
          </a:xfrm>
          <a:prstGeom prst="roundRect">
            <a:avLst>
              <a:gd name="adj" fmla="val 6897"/>
            </a:avLst>
          </a:prstGeom>
          <a:solidFill>
            <a:srgbClr val="1E2F45"/>
          </a:solidFill>
          <a:ln w="25400">
            <a:solidFill>
              <a:srgbClr val="FFB703"/>
            </a:solidFill>
            <a:prstDash val="solid"/>
          </a:ln>
        </p:spPr>
      </p:sp>
      <p:sp>
        <p:nvSpPr>
          <p:cNvPr id="19" name="Shape 17"/>
          <p:cNvSpPr/>
          <p:nvPr/>
        </p:nvSpPr>
        <p:spPr>
          <a:xfrm>
            <a:off x="365760" y="2487168"/>
            <a:ext cx="3657600" cy="347472"/>
          </a:xfrm>
          <a:prstGeom prst="roundRect">
            <a:avLst>
              <a:gd name="adj" fmla="val 21053"/>
            </a:avLst>
          </a:prstGeom>
          <a:solidFill>
            <a:srgbClr val="FFB703"/>
          </a:solidFill>
          <a:ln w="12700">
            <a:solidFill>
              <a:srgbClr val="FFB703"/>
            </a:solidFill>
            <a:prstDash val="solid"/>
          </a:ln>
        </p:spPr>
      </p:sp>
      <p:sp>
        <p:nvSpPr>
          <p:cNvPr id="20" name="Text 18"/>
          <p:cNvSpPr/>
          <p:nvPr/>
        </p:nvSpPr>
        <p:spPr>
          <a:xfrm>
            <a:off x="457200" y="251460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Balance</a:t>
            </a:r>
            <a:endParaRPr lang="en-US" sz="1200" dirty="0"/>
          </a:p>
        </p:txBody>
      </p:sp>
      <p:sp>
        <p:nvSpPr>
          <p:cNvPr id="21" name="Text 19"/>
          <p:cNvSpPr/>
          <p:nvPr/>
        </p:nvSpPr>
        <p:spPr>
          <a:xfrm>
            <a:off x="475488" y="288950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When an ecosystem has the right mix of living things and resources for everyone to keep going. A balanced ecosystem can handle small changes.</a:t>
            </a:r>
            <a:endParaRPr lang="en-US" sz="1050" dirty="0"/>
          </a:p>
        </p:txBody>
      </p:sp>
      <p:sp>
        <p:nvSpPr>
          <p:cNvPr id="22" name="Shape 20"/>
          <p:cNvSpPr/>
          <p:nvPr/>
        </p:nvSpPr>
        <p:spPr>
          <a:xfrm>
            <a:off x="4206240" y="2487168"/>
            <a:ext cx="3657600" cy="1325880"/>
          </a:xfrm>
          <a:prstGeom prst="roundRect">
            <a:avLst>
              <a:gd name="adj" fmla="val 6897"/>
            </a:avLst>
          </a:prstGeom>
          <a:solidFill>
            <a:srgbClr val="1E2F45"/>
          </a:solidFill>
          <a:ln w="25400">
            <a:solidFill>
              <a:srgbClr val="0096C7"/>
            </a:solidFill>
            <a:prstDash val="solid"/>
          </a:ln>
        </p:spPr>
      </p:sp>
      <p:sp>
        <p:nvSpPr>
          <p:cNvPr id="23" name="Shape 21"/>
          <p:cNvSpPr/>
          <p:nvPr/>
        </p:nvSpPr>
        <p:spPr>
          <a:xfrm>
            <a:off x="4206240" y="2487168"/>
            <a:ext cx="3657600" cy="347472"/>
          </a:xfrm>
          <a:prstGeom prst="roundRect">
            <a:avLst>
              <a:gd name="adj" fmla="val 21053"/>
            </a:avLst>
          </a:prstGeom>
          <a:solidFill>
            <a:srgbClr val="0096C7"/>
          </a:solidFill>
          <a:ln w="12700">
            <a:solidFill>
              <a:srgbClr val="0096C7"/>
            </a:solidFill>
            <a:prstDash val="solid"/>
          </a:ln>
        </p:spPr>
      </p:sp>
      <p:sp>
        <p:nvSpPr>
          <p:cNvPr id="24" name="Text 22"/>
          <p:cNvSpPr/>
          <p:nvPr/>
        </p:nvSpPr>
        <p:spPr>
          <a:xfrm>
            <a:off x="4297680" y="251460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Conservation</a:t>
            </a:r>
            <a:endParaRPr lang="en-US" sz="1200" dirty="0"/>
          </a:p>
        </p:txBody>
      </p:sp>
      <p:sp>
        <p:nvSpPr>
          <p:cNvPr id="25" name="Text 23"/>
          <p:cNvSpPr/>
          <p:nvPr/>
        </p:nvSpPr>
        <p:spPr>
          <a:xfrm>
            <a:off x="4315968" y="288950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Taking care of land, water, plants, and animals so they keep going. Florida's manatee laws are a kind of conservation.</a:t>
            </a:r>
            <a:endParaRPr lang="en-US" sz="1050" dirty="0"/>
          </a:p>
        </p:txBody>
      </p:sp>
      <p:sp>
        <p:nvSpPr>
          <p:cNvPr id="26" name="Shape 24"/>
          <p:cNvSpPr/>
          <p:nvPr/>
        </p:nvSpPr>
        <p:spPr>
          <a:xfrm>
            <a:off x="8046720" y="2487168"/>
            <a:ext cx="3657600" cy="1325880"/>
          </a:xfrm>
          <a:prstGeom prst="roundRect">
            <a:avLst>
              <a:gd name="adj" fmla="val 6897"/>
            </a:avLst>
          </a:prstGeom>
          <a:solidFill>
            <a:srgbClr val="1E2F45"/>
          </a:solidFill>
          <a:ln w="25400">
            <a:solidFill>
              <a:srgbClr val="8B6FC0"/>
            </a:solidFill>
            <a:prstDash val="solid"/>
          </a:ln>
        </p:spPr>
      </p:sp>
      <p:sp>
        <p:nvSpPr>
          <p:cNvPr id="27" name="Shape 25"/>
          <p:cNvSpPr/>
          <p:nvPr/>
        </p:nvSpPr>
        <p:spPr>
          <a:xfrm>
            <a:off x="8046720" y="2487168"/>
            <a:ext cx="3657600" cy="347472"/>
          </a:xfrm>
          <a:prstGeom prst="roundRect">
            <a:avLst>
              <a:gd name="adj" fmla="val 21053"/>
            </a:avLst>
          </a:prstGeom>
          <a:solidFill>
            <a:srgbClr val="8B6FC0"/>
          </a:solidFill>
          <a:ln w="12700">
            <a:solidFill>
              <a:srgbClr val="8B6FC0"/>
            </a:solidFill>
            <a:prstDash val="solid"/>
          </a:ln>
        </p:spPr>
      </p:sp>
      <p:sp>
        <p:nvSpPr>
          <p:cNvPr id="28" name="Text 26"/>
          <p:cNvSpPr/>
          <p:nvPr/>
        </p:nvSpPr>
        <p:spPr>
          <a:xfrm>
            <a:off x="8138160" y="251460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Human impact</a:t>
            </a:r>
            <a:endParaRPr lang="en-US" sz="1200" dirty="0"/>
          </a:p>
        </p:txBody>
      </p:sp>
      <p:sp>
        <p:nvSpPr>
          <p:cNvPr id="29" name="Text 27"/>
          <p:cNvSpPr/>
          <p:nvPr/>
        </p:nvSpPr>
        <p:spPr>
          <a:xfrm>
            <a:off x="8156448" y="288950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Any change people cause in an ecosystem — building, farming, polluting, or protecting. Some impacts help. Some hurt.</a:t>
            </a:r>
            <a:endParaRPr lang="en-US" sz="1050" dirty="0"/>
          </a:p>
        </p:txBody>
      </p:sp>
      <p:sp>
        <p:nvSpPr>
          <p:cNvPr id="30" name="Shape 28"/>
          <p:cNvSpPr/>
          <p:nvPr/>
        </p:nvSpPr>
        <p:spPr>
          <a:xfrm>
            <a:off x="365760" y="3950208"/>
            <a:ext cx="11521440" cy="777240"/>
          </a:xfrm>
          <a:prstGeom prst="roundRect">
            <a:avLst>
              <a:gd name="adj" fmla="val 9412"/>
            </a:avLst>
          </a:prstGeom>
          <a:solidFill>
            <a:srgbClr val="162233"/>
          </a:solidFill>
          <a:ln w="12700">
            <a:solidFill>
              <a:srgbClr val="2DC653"/>
            </a:solidFill>
            <a:prstDash val="solid"/>
          </a:ln>
        </p:spPr>
      </p:sp>
      <p:sp>
        <p:nvSpPr>
          <p:cNvPr id="31" name="Text 29"/>
          <p:cNvSpPr/>
          <p:nvPr/>
        </p:nvSpPr>
        <p:spPr>
          <a:xfrm>
            <a:off x="530352" y="4023360"/>
            <a:ext cx="11192256" cy="347472"/>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Quick Discussion</a:t>
            </a:r>
            <a:endParaRPr lang="en-US" sz="1300" dirty="0"/>
          </a:p>
        </p:txBody>
      </p:sp>
      <p:sp>
        <p:nvSpPr>
          <p:cNvPr id="32" name="Text 30"/>
          <p:cNvSpPr/>
          <p:nvPr/>
        </p:nvSpPr>
        <p:spPr>
          <a:xfrm>
            <a:off x="530352" y="4389120"/>
            <a:ext cx="11192256" cy="228600"/>
          </a:xfrm>
          <a:prstGeom prst="rect">
            <a:avLst/>
          </a:prstGeom>
          <a:noFill/>
          <a:ln/>
        </p:spPr>
        <p:txBody>
          <a:bodyPr wrap="square" rtlCol="0" anchor="t"/>
          <a:lstStyle/>
          <a:p>
            <a:pPr algn="l" indent="0" marL="0">
              <a:buNone/>
            </a:pPr>
            <a:r>
              <a:rPr lang="en-US" sz="1350" i="1" dirty="0">
                <a:solidFill>
                  <a:srgbClr val="FFFFFF"/>
                </a:solidFill>
                <a:latin typeface="Calibri" pitchFamily="34" charset="0"/>
                <a:ea typeface="Calibri" pitchFamily="34" charset="-122"/>
                <a:cs typeface="Calibri" pitchFamily="34" charset="-120"/>
              </a:rPr>
              <a:t>What's the difference between a NATIVE species and an INVASIVE species? Give one Florida example of each.</a:t>
            </a:r>
            <a:endParaRPr lang="en-US" sz="1350" dirty="0"/>
          </a:p>
        </p:txBody>
      </p:sp>
      <p:sp>
        <p:nvSpPr>
          <p:cNvPr id="33" name="Shape 31"/>
          <p:cNvSpPr/>
          <p:nvPr/>
        </p:nvSpPr>
        <p:spPr>
          <a:xfrm>
            <a:off x="0" y="6629400"/>
            <a:ext cx="12192000" cy="228600"/>
          </a:xfrm>
          <a:prstGeom prst="rect">
            <a:avLst/>
          </a:prstGeom>
          <a:solidFill>
            <a:srgbClr val="162233"/>
          </a:solidFill>
          <a:ln/>
        </p:spPr>
      </p:sp>
      <p:sp>
        <p:nvSpPr>
          <p:cNvPr id="34" name="Text 32"/>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10.02  ·  Ecosystem Balance</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What 'Balance' Really Means</a:t>
            </a:r>
            <a:endParaRPr lang="en-US" sz="1600" dirty="0"/>
          </a:p>
        </p:txBody>
      </p:sp>
      <p:sp>
        <p:nvSpPr>
          <p:cNvPr id="5" name="Shape 3"/>
          <p:cNvSpPr/>
          <p:nvPr/>
        </p:nvSpPr>
        <p:spPr>
          <a:xfrm>
            <a:off x="365760" y="713232"/>
            <a:ext cx="11521440" cy="1207008"/>
          </a:xfrm>
          <a:prstGeom prst="roundRect">
            <a:avLst>
              <a:gd name="adj" fmla="val 6061"/>
            </a:avLst>
          </a:prstGeom>
          <a:solidFill>
            <a:srgbClr val="1E2F45"/>
          </a:solidFill>
          <a:ln w="12700">
            <a:solidFill>
              <a:srgbClr val="4CC9F0"/>
            </a:solidFill>
            <a:prstDash val="solid"/>
          </a:ln>
        </p:spPr>
      </p:sp>
      <p:sp>
        <p:nvSpPr>
          <p:cNvPr id="6" name="Text 4"/>
          <p:cNvSpPr/>
          <p:nvPr/>
        </p:nvSpPr>
        <p:spPr>
          <a:xfrm>
            <a:off x="548640" y="768096"/>
            <a:ext cx="11155680" cy="896112"/>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Balance doesn't mean nothing ever changes. It means the numbers stay roughly steady year after year — and the system bounces back from small changes.</a:t>
            </a:r>
            <a:endParaRPr lang="en-US" sz="1350" dirty="0"/>
          </a:p>
        </p:txBody>
      </p:sp>
      <p:sp>
        <p:nvSpPr>
          <p:cNvPr id="7" name="Shape 5"/>
          <p:cNvSpPr/>
          <p:nvPr/>
        </p:nvSpPr>
        <p:spPr>
          <a:xfrm>
            <a:off x="365760" y="2057400"/>
            <a:ext cx="5394960" cy="2331720"/>
          </a:xfrm>
          <a:prstGeom prst="roundRect">
            <a:avLst>
              <a:gd name="adj" fmla="val 3137"/>
            </a:avLst>
          </a:prstGeom>
          <a:solidFill>
            <a:srgbClr val="1A2318"/>
          </a:solidFill>
          <a:ln w="12700">
            <a:solidFill>
              <a:srgbClr val="2DC653"/>
            </a:solidFill>
            <a:prstDash val="solid"/>
          </a:ln>
        </p:spPr>
      </p:sp>
      <p:sp>
        <p:nvSpPr>
          <p:cNvPr id="8" name="Text 6"/>
          <p:cNvSpPr/>
          <p:nvPr/>
        </p:nvSpPr>
        <p:spPr>
          <a:xfrm>
            <a:off x="548640" y="2148840"/>
            <a:ext cx="5212080" cy="347472"/>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 Balanced Ecosystem:</a:t>
            </a:r>
            <a:endParaRPr lang="en-US" sz="1300" dirty="0"/>
          </a:p>
        </p:txBody>
      </p:sp>
      <p:sp>
        <p:nvSpPr>
          <p:cNvPr id="9" name="Text 7"/>
          <p:cNvSpPr/>
          <p:nvPr/>
        </p:nvSpPr>
        <p:spPr>
          <a:xfrm>
            <a:off x="548640" y="2560320"/>
            <a:ext cx="5212080" cy="347472"/>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Sawgrass growing every season</a:t>
            </a:r>
            <a:endParaRPr lang="en-US" sz="1200" dirty="0"/>
          </a:p>
        </p:txBody>
      </p:sp>
      <p:sp>
        <p:nvSpPr>
          <p:cNvPr id="10" name="Text 8"/>
          <p:cNvSpPr/>
          <p:nvPr/>
        </p:nvSpPr>
        <p:spPr>
          <a:xfrm>
            <a:off x="548640" y="2962656"/>
            <a:ext cx="5212080" cy="347472"/>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Hawks, frogs, grasshoppers steady</a:t>
            </a:r>
            <a:endParaRPr lang="en-US" sz="1200" dirty="0"/>
          </a:p>
        </p:txBody>
      </p:sp>
      <p:sp>
        <p:nvSpPr>
          <p:cNvPr id="11" name="Text 9"/>
          <p:cNvSpPr/>
          <p:nvPr/>
        </p:nvSpPr>
        <p:spPr>
          <a:xfrm>
            <a:off x="548640" y="3364992"/>
            <a:ext cx="5212080" cy="347472"/>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Water stays clear and clean</a:t>
            </a:r>
            <a:endParaRPr lang="en-US" sz="1200" dirty="0"/>
          </a:p>
        </p:txBody>
      </p:sp>
      <p:sp>
        <p:nvSpPr>
          <p:cNvPr id="12" name="Text 10"/>
          <p:cNvSpPr/>
          <p:nvPr/>
        </p:nvSpPr>
        <p:spPr>
          <a:xfrm>
            <a:off x="548640" y="3767328"/>
            <a:ext cx="5212080" cy="347472"/>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Hurricane hits → recovers in 2-3 years</a:t>
            </a:r>
            <a:endParaRPr lang="en-US" sz="1200" dirty="0"/>
          </a:p>
        </p:txBody>
      </p:sp>
      <p:sp>
        <p:nvSpPr>
          <p:cNvPr id="13" name="Shape 11"/>
          <p:cNvSpPr/>
          <p:nvPr/>
        </p:nvSpPr>
        <p:spPr>
          <a:xfrm>
            <a:off x="5943600" y="2057400"/>
            <a:ext cx="5943600" cy="2331720"/>
          </a:xfrm>
          <a:prstGeom prst="roundRect">
            <a:avLst>
              <a:gd name="adj" fmla="val 3137"/>
            </a:avLst>
          </a:prstGeom>
          <a:solidFill>
            <a:srgbClr val="2A0A0A"/>
          </a:solidFill>
          <a:ln w="12700">
            <a:solidFill>
              <a:srgbClr val="F4736A"/>
            </a:solidFill>
            <a:prstDash val="solid"/>
          </a:ln>
        </p:spPr>
      </p:sp>
      <p:sp>
        <p:nvSpPr>
          <p:cNvPr id="14" name="Text 12"/>
          <p:cNvSpPr/>
          <p:nvPr/>
        </p:nvSpPr>
        <p:spPr>
          <a:xfrm>
            <a:off x="6126480" y="2148840"/>
            <a:ext cx="5669280" cy="347472"/>
          </a:xfrm>
          <a:prstGeom prst="rect">
            <a:avLst/>
          </a:prstGeom>
          <a:noFill/>
          <a:ln/>
        </p:spPr>
        <p:txBody>
          <a:bodyPr wrap="square" rtlCol="0" anchor="ctr"/>
          <a:lstStyle/>
          <a:p>
            <a:pPr indent="0" marL="0">
              <a:buNone/>
            </a:pPr>
            <a:r>
              <a:rPr lang="en-US" sz="1300" b="1" dirty="0">
                <a:solidFill>
                  <a:srgbClr val="F4736A"/>
                </a:solidFill>
                <a:latin typeface="Calibri" pitchFamily="34" charset="0"/>
                <a:ea typeface="Calibri" pitchFamily="34" charset="-122"/>
                <a:cs typeface="Calibri" pitchFamily="34" charset="-120"/>
              </a:rPr>
              <a:t>⚠️ Out of Balance:</a:t>
            </a:r>
            <a:endParaRPr lang="en-US" sz="1300" dirty="0"/>
          </a:p>
        </p:txBody>
      </p:sp>
      <p:sp>
        <p:nvSpPr>
          <p:cNvPr id="15" name="Text 13"/>
          <p:cNvSpPr/>
          <p:nvPr/>
        </p:nvSpPr>
        <p:spPr>
          <a:xfrm>
            <a:off x="6126480" y="2560320"/>
            <a:ext cx="5669280" cy="347472"/>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Native species population crashes</a:t>
            </a:r>
            <a:endParaRPr lang="en-US" sz="1200" dirty="0"/>
          </a:p>
        </p:txBody>
      </p:sp>
      <p:sp>
        <p:nvSpPr>
          <p:cNvPr id="16" name="Text 14"/>
          <p:cNvSpPr/>
          <p:nvPr/>
        </p:nvSpPr>
        <p:spPr>
          <a:xfrm>
            <a:off x="6126480" y="2962656"/>
            <a:ext cx="5669280" cy="347472"/>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Invasive species moves in — population explodes</a:t>
            </a:r>
            <a:endParaRPr lang="en-US" sz="1200" dirty="0"/>
          </a:p>
        </p:txBody>
      </p:sp>
      <p:sp>
        <p:nvSpPr>
          <p:cNvPr id="17" name="Text 15"/>
          <p:cNvSpPr/>
          <p:nvPr/>
        </p:nvSpPr>
        <p:spPr>
          <a:xfrm>
            <a:off x="6126480" y="3364992"/>
            <a:ext cx="5669280" cy="347472"/>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One plant takes over everywhere</a:t>
            </a:r>
            <a:endParaRPr lang="en-US" sz="1200" dirty="0"/>
          </a:p>
        </p:txBody>
      </p:sp>
      <p:sp>
        <p:nvSpPr>
          <p:cNvPr id="18" name="Text 16"/>
          <p:cNvSpPr/>
          <p:nvPr/>
        </p:nvSpPr>
        <p:spPr>
          <a:xfrm>
            <a:off x="6126480" y="3767328"/>
            <a:ext cx="5669280" cy="347472"/>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Animals can't recover from small changes</a:t>
            </a:r>
            <a:endParaRPr lang="en-US" sz="1200" dirty="0"/>
          </a:p>
        </p:txBody>
      </p:sp>
      <p:sp>
        <p:nvSpPr>
          <p:cNvPr id="19" name="Shape 17"/>
          <p:cNvSpPr/>
          <p:nvPr/>
        </p:nvSpPr>
        <p:spPr>
          <a:xfrm>
            <a:off x="365760" y="4526280"/>
            <a:ext cx="11521440" cy="804672"/>
          </a:xfrm>
          <a:prstGeom prst="roundRect">
            <a:avLst>
              <a:gd name="adj" fmla="val 9091"/>
            </a:avLst>
          </a:prstGeom>
          <a:solidFill>
            <a:srgbClr val="1A1810"/>
          </a:solidFill>
          <a:ln w="12700">
            <a:solidFill>
              <a:srgbClr val="FFB703"/>
            </a:solidFill>
            <a:prstDash val="solid"/>
          </a:ln>
        </p:spPr>
      </p:sp>
      <p:sp>
        <p:nvSpPr>
          <p:cNvPr id="20" name="Text 18"/>
          <p:cNvSpPr/>
          <p:nvPr/>
        </p:nvSpPr>
        <p:spPr>
          <a:xfrm>
            <a:off x="548640" y="4617720"/>
            <a:ext cx="11155680" cy="621792"/>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Common Misconception: Only BIG, dramatic changes count. But ecosystems can shift slowly — a few percent per year for a decade. Data is the only way to spot it. By the time you can SEE a problem, it can be hard to fix.</a:t>
            </a:r>
            <a:endParaRPr lang="en-US" sz="1200" dirty="0"/>
          </a:p>
        </p:txBody>
      </p:sp>
      <p:sp>
        <p:nvSpPr>
          <p:cNvPr id="21" name="Shape 19"/>
          <p:cNvSpPr/>
          <p:nvPr/>
        </p:nvSpPr>
        <p:spPr>
          <a:xfrm>
            <a:off x="365760" y="5468112"/>
            <a:ext cx="11521440" cy="804672"/>
          </a:xfrm>
          <a:prstGeom prst="roundRect">
            <a:avLst>
              <a:gd name="adj" fmla="val 9091"/>
            </a:avLst>
          </a:prstGeom>
          <a:solidFill>
            <a:srgbClr val="162233"/>
          </a:solidFill>
          <a:ln w="12700">
            <a:solidFill>
              <a:srgbClr val="FFB703"/>
            </a:solidFill>
            <a:prstDash val="solid"/>
          </a:ln>
        </p:spPr>
      </p:sp>
      <p:sp>
        <p:nvSpPr>
          <p:cNvPr id="22" name="Text 20"/>
          <p:cNvSpPr/>
          <p:nvPr/>
        </p:nvSpPr>
        <p:spPr>
          <a:xfrm>
            <a:off x="530352" y="5541264"/>
            <a:ext cx="1119225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Stop &amp; Think</a:t>
            </a:r>
            <a:endParaRPr lang="en-US" sz="1300" dirty="0"/>
          </a:p>
        </p:txBody>
      </p:sp>
      <p:sp>
        <p:nvSpPr>
          <p:cNvPr id="23" name="Text 21"/>
          <p:cNvSpPr/>
          <p:nvPr/>
        </p:nvSpPr>
        <p:spPr>
          <a:xfrm>
            <a:off x="530352" y="5907024"/>
            <a:ext cx="11192256" cy="256032"/>
          </a:xfrm>
          <a:prstGeom prst="rect">
            <a:avLst/>
          </a:prstGeom>
          <a:noFill/>
          <a:ln/>
        </p:spPr>
        <p:txBody>
          <a:bodyPr wrap="square" rtlCol="0" anchor="t"/>
          <a:lstStyle/>
          <a:p>
            <a:pPr algn="l" indent="0" marL="0">
              <a:buNone/>
            </a:pPr>
            <a:r>
              <a:rPr lang="en-US" sz="1350" i="1" dirty="0">
                <a:solidFill>
                  <a:srgbClr val="FFFFFF"/>
                </a:solidFill>
                <a:latin typeface="Calibri" pitchFamily="34" charset="0"/>
                <a:ea typeface="Calibri" pitchFamily="34" charset="-122"/>
                <a:cs typeface="Calibri" pitchFamily="34" charset="-120"/>
              </a:rPr>
              <a:t>If a scientist visits a Florida wetland and counts only ONE kind of plant for miles, would you say it looks healthy? What other measurements would you want before deciding?</a:t>
            </a:r>
            <a:endParaRPr lang="en-US" sz="1350" dirty="0"/>
          </a:p>
        </p:txBody>
      </p:sp>
      <p:sp>
        <p:nvSpPr>
          <p:cNvPr id="24" name="Shape 22"/>
          <p:cNvSpPr/>
          <p:nvPr/>
        </p:nvSpPr>
        <p:spPr>
          <a:xfrm>
            <a:off x="0" y="6629400"/>
            <a:ext cx="12192000" cy="228600"/>
          </a:xfrm>
          <a:prstGeom prst="rect">
            <a:avLst/>
          </a:prstGeom>
          <a:solidFill>
            <a:srgbClr val="162233"/>
          </a:solidFill>
          <a:ln/>
        </p:spPr>
      </p:sp>
      <p:sp>
        <p:nvSpPr>
          <p:cNvPr id="25" name="Text 23"/>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10.02  ·  Ecosystem Balance</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Using Data to Decide: What Scientists Measure</a:t>
            </a:r>
            <a:endParaRPr lang="en-US" sz="1600" dirty="0"/>
          </a:p>
        </p:txBody>
      </p:sp>
      <p:sp>
        <p:nvSpPr>
          <p:cNvPr id="5" name="Shape 3"/>
          <p:cNvSpPr/>
          <p:nvPr/>
        </p:nvSpPr>
        <p:spPr>
          <a:xfrm>
            <a:off x="365760" y="713232"/>
            <a:ext cx="11521440" cy="621792"/>
          </a:xfrm>
          <a:prstGeom prst="roundRect">
            <a:avLst>
              <a:gd name="adj" fmla="val 11765"/>
            </a:avLst>
          </a:prstGeom>
          <a:solidFill>
            <a:srgbClr val="1E2F45"/>
          </a:solidFill>
          <a:ln w="12700">
            <a:solidFill>
              <a:srgbClr val="4CC9F0"/>
            </a:solidFill>
            <a:prstDash val="solid"/>
          </a:ln>
        </p:spPr>
      </p:sp>
      <p:sp>
        <p:nvSpPr>
          <p:cNvPr id="6" name="Text 4"/>
          <p:cNvSpPr/>
          <p:nvPr/>
        </p:nvSpPr>
        <p:spPr>
          <a:xfrm>
            <a:off x="548640" y="768096"/>
            <a:ext cx="11155680" cy="47548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Scientists answer 'is it healthy?' with NUMBERS. They keep careful records and compare year to year.</a:t>
            </a:r>
            <a:endParaRPr lang="en-US" sz="1300" dirty="0"/>
          </a:p>
        </p:txBody>
      </p:sp>
      <p:sp>
        <p:nvSpPr>
          <p:cNvPr id="7" name="Shape 5"/>
          <p:cNvSpPr/>
          <p:nvPr/>
        </p:nvSpPr>
        <p:spPr>
          <a:xfrm>
            <a:off x="365760" y="1444752"/>
            <a:ext cx="5532120" cy="1755648"/>
          </a:xfrm>
          <a:prstGeom prst="roundRect">
            <a:avLst>
              <a:gd name="adj" fmla="val 4167"/>
            </a:avLst>
          </a:prstGeom>
          <a:solidFill>
            <a:srgbClr val="1E2F45"/>
          </a:solidFill>
          <a:ln w="12700">
            <a:solidFill>
              <a:srgbClr val="4CC9F0"/>
            </a:solidFill>
            <a:prstDash val="solid"/>
          </a:ln>
        </p:spPr>
      </p:sp>
      <p:sp>
        <p:nvSpPr>
          <p:cNvPr id="8" name="Text 6"/>
          <p:cNvSpPr/>
          <p:nvPr/>
        </p:nvSpPr>
        <p:spPr>
          <a:xfrm>
            <a:off x="502920" y="1581912"/>
            <a:ext cx="804672" cy="530352"/>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9" name="Text 7"/>
          <p:cNvSpPr/>
          <p:nvPr/>
        </p:nvSpPr>
        <p:spPr>
          <a:xfrm>
            <a:off x="1353312" y="1581912"/>
            <a:ext cx="4389120" cy="347472"/>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Population Counts</a:t>
            </a:r>
            <a:endParaRPr lang="en-US" sz="1300" dirty="0"/>
          </a:p>
        </p:txBody>
      </p:sp>
      <p:sp>
        <p:nvSpPr>
          <p:cNvPr id="10" name="Text 8"/>
          <p:cNvSpPr/>
          <p:nvPr/>
        </p:nvSpPr>
        <p:spPr>
          <a:xfrm>
            <a:off x="502920" y="2011680"/>
            <a:ext cx="5303520" cy="1051560"/>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How many manatees this winter? How many wood storks this nesting season? More or fewer than last year?</a:t>
            </a:r>
            <a:endParaRPr lang="en-US" sz="1150" dirty="0"/>
          </a:p>
        </p:txBody>
      </p:sp>
      <p:sp>
        <p:nvSpPr>
          <p:cNvPr id="11" name="Shape 9"/>
          <p:cNvSpPr/>
          <p:nvPr/>
        </p:nvSpPr>
        <p:spPr>
          <a:xfrm>
            <a:off x="6126480" y="1444752"/>
            <a:ext cx="5532120" cy="1755648"/>
          </a:xfrm>
          <a:prstGeom prst="roundRect">
            <a:avLst>
              <a:gd name="adj" fmla="val 4167"/>
            </a:avLst>
          </a:prstGeom>
          <a:solidFill>
            <a:srgbClr val="1E2F45"/>
          </a:solidFill>
          <a:ln w="12700">
            <a:solidFill>
              <a:srgbClr val="2DC653"/>
            </a:solidFill>
            <a:prstDash val="solid"/>
          </a:ln>
        </p:spPr>
      </p:sp>
      <p:sp>
        <p:nvSpPr>
          <p:cNvPr id="12" name="Text 10"/>
          <p:cNvSpPr/>
          <p:nvPr/>
        </p:nvSpPr>
        <p:spPr>
          <a:xfrm>
            <a:off x="6263640" y="1581912"/>
            <a:ext cx="804672" cy="530352"/>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3" name="Text 11"/>
          <p:cNvSpPr/>
          <p:nvPr/>
        </p:nvSpPr>
        <p:spPr>
          <a:xfrm>
            <a:off x="7114032" y="1581912"/>
            <a:ext cx="4389120" cy="347472"/>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Species Variety</a:t>
            </a:r>
            <a:endParaRPr lang="en-US" sz="1300" dirty="0"/>
          </a:p>
        </p:txBody>
      </p:sp>
      <p:sp>
        <p:nvSpPr>
          <p:cNvPr id="14" name="Text 12"/>
          <p:cNvSpPr/>
          <p:nvPr/>
        </p:nvSpPr>
        <p:spPr>
          <a:xfrm>
            <a:off x="6263640" y="2011680"/>
            <a:ext cx="5303520" cy="1051560"/>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How many DIFFERENT kinds of fish live in this lake? More variety usually means more balance.</a:t>
            </a:r>
            <a:endParaRPr lang="en-US" sz="1150" dirty="0"/>
          </a:p>
        </p:txBody>
      </p:sp>
      <p:sp>
        <p:nvSpPr>
          <p:cNvPr id="15" name="Shape 13"/>
          <p:cNvSpPr/>
          <p:nvPr/>
        </p:nvSpPr>
        <p:spPr>
          <a:xfrm>
            <a:off x="365760" y="3474720"/>
            <a:ext cx="5532120" cy="1755648"/>
          </a:xfrm>
          <a:prstGeom prst="roundRect">
            <a:avLst>
              <a:gd name="adj" fmla="val 4167"/>
            </a:avLst>
          </a:prstGeom>
          <a:solidFill>
            <a:srgbClr val="1E2F45"/>
          </a:solidFill>
          <a:ln w="12700">
            <a:solidFill>
              <a:srgbClr val="4080FF"/>
            </a:solidFill>
            <a:prstDash val="solid"/>
          </a:ln>
        </p:spPr>
      </p:sp>
      <p:sp>
        <p:nvSpPr>
          <p:cNvPr id="16" name="Text 14"/>
          <p:cNvSpPr/>
          <p:nvPr/>
        </p:nvSpPr>
        <p:spPr>
          <a:xfrm>
            <a:off x="502920" y="3611880"/>
            <a:ext cx="804672" cy="530352"/>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7" name="Text 15"/>
          <p:cNvSpPr/>
          <p:nvPr/>
        </p:nvSpPr>
        <p:spPr>
          <a:xfrm>
            <a:off x="1353312" y="3611880"/>
            <a:ext cx="4389120" cy="347472"/>
          </a:xfrm>
          <a:prstGeom prst="rect">
            <a:avLst/>
          </a:prstGeom>
          <a:noFill/>
          <a:ln/>
        </p:spPr>
        <p:txBody>
          <a:bodyPr wrap="square" rtlCol="0" anchor="ctr"/>
          <a:lstStyle/>
          <a:p>
            <a:pPr indent="0" marL="0">
              <a:buNone/>
            </a:pPr>
            <a:r>
              <a:rPr lang="en-US" sz="1300" b="1" dirty="0">
                <a:solidFill>
                  <a:srgbClr val="4080FF"/>
                </a:solidFill>
                <a:latin typeface="Calibri" pitchFamily="34" charset="0"/>
                <a:ea typeface="Calibri" pitchFamily="34" charset="-122"/>
                <a:cs typeface="Calibri" pitchFamily="34" charset="-120"/>
              </a:rPr>
              <a:t>Water &amp; Soil Tests</a:t>
            </a:r>
            <a:endParaRPr lang="en-US" sz="1300" dirty="0"/>
          </a:p>
        </p:txBody>
      </p:sp>
      <p:sp>
        <p:nvSpPr>
          <p:cNvPr id="18" name="Text 16"/>
          <p:cNvSpPr/>
          <p:nvPr/>
        </p:nvSpPr>
        <p:spPr>
          <a:xfrm>
            <a:off x="502920" y="4041648"/>
            <a:ext cx="5303520" cy="1051560"/>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Is the water clear? Is the soil rich in nutrients? Pollution shows up as a number change.</a:t>
            </a:r>
            <a:endParaRPr lang="en-US" sz="1150" dirty="0"/>
          </a:p>
        </p:txBody>
      </p:sp>
      <p:sp>
        <p:nvSpPr>
          <p:cNvPr id="19" name="Shape 17"/>
          <p:cNvSpPr/>
          <p:nvPr/>
        </p:nvSpPr>
        <p:spPr>
          <a:xfrm>
            <a:off x="6126480" y="3474720"/>
            <a:ext cx="5532120" cy="1755648"/>
          </a:xfrm>
          <a:prstGeom prst="roundRect">
            <a:avLst>
              <a:gd name="adj" fmla="val 4167"/>
            </a:avLst>
          </a:prstGeom>
          <a:solidFill>
            <a:srgbClr val="1E2F45"/>
          </a:solidFill>
          <a:ln w="12700">
            <a:solidFill>
              <a:srgbClr val="F4736A"/>
            </a:solidFill>
            <a:prstDash val="solid"/>
          </a:ln>
        </p:spPr>
      </p:sp>
      <p:sp>
        <p:nvSpPr>
          <p:cNvPr id="20" name="Text 18"/>
          <p:cNvSpPr/>
          <p:nvPr/>
        </p:nvSpPr>
        <p:spPr>
          <a:xfrm>
            <a:off x="6263640" y="3611880"/>
            <a:ext cx="804672" cy="530352"/>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21" name="Text 19"/>
          <p:cNvSpPr/>
          <p:nvPr/>
        </p:nvSpPr>
        <p:spPr>
          <a:xfrm>
            <a:off x="7114032" y="3611880"/>
            <a:ext cx="4389120" cy="347472"/>
          </a:xfrm>
          <a:prstGeom prst="rect">
            <a:avLst/>
          </a:prstGeom>
          <a:noFill/>
          <a:ln/>
        </p:spPr>
        <p:txBody>
          <a:bodyPr wrap="square" rtlCol="0" anchor="ctr"/>
          <a:lstStyle/>
          <a:p>
            <a:pPr indent="0" marL="0">
              <a:buNone/>
            </a:pPr>
            <a:r>
              <a:rPr lang="en-US" sz="1300" b="1" dirty="0">
                <a:solidFill>
                  <a:srgbClr val="F4736A"/>
                </a:solidFill>
                <a:latin typeface="Calibri" pitchFamily="34" charset="0"/>
                <a:ea typeface="Calibri" pitchFamily="34" charset="-122"/>
                <a:cs typeface="Calibri" pitchFamily="34" charset="-120"/>
              </a:rPr>
              <a:t>Watching for Invasives</a:t>
            </a:r>
            <a:endParaRPr lang="en-US" sz="1300" dirty="0"/>
          </a:p>
        </p:txBody>
      </p:sp>
      <p:sp>
        <p:nvSpPr>
          <p:cNvPr id="22" name="Text 20"/>
          <p:cNvSpPr/>
          <p:nvPr/>
        </p:nvSpPr>
        <p:spPr>
          <a:xfrm>
            <a:off x="6263640" y="4041648"/>
            <a:ext cx="5303520" cy="1051560"/>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Are there pythons, lionfish, or air potato vines where they don't belong? Any new invaders?</a:t>
            </a:r>
            <a:endParaRPr lang="en-US" sz="1150" dirty="0"/>
          </a:p>
        </p:txBody>
      </p:sp>
      <p:sp>
        <p:nvSpPr>
          <p:cNvPr id="23" name="Shape 21"/>
          <p:cNvSpPr/>
          <p:nvPr/>
        </p:nvSpPr>
        <p:spPr>
          <a:xfrm>
            <a:off x="365760" y="5596128"/>
            <a:ext cx="11521440" cy="658368"/>
          </a:xfrm>
          <a:prstGeom prst="roundRect">
            <a:avLst>
              <a:gd name="adj" fmla="val 11111"/>
            </a:avLst>
          </a:prstGeom>
          <a:solidFill>
            <a:srgbClr val="1A2318"/>
          </a:solidFill>
          <a:ln w="12700">
            <a:solidFill>
              <a:srgbClr val="2DC653"/>
            </a:solidFill>
            <a:prstDash val="solid"/>
          </a:ln>
        </p:spPr>
      </p:sp>
      <p:sp>
        <p:nvSpPr>
          <p:cNvPr id="24" name="Text 22"/>
          <p:cNvSpPr/>
          <p:nvPr/>
        </p:nvSpPr>
        <p:spPr>
          <a:xfrm>
            <a:off x="548640" y="5687568"/>
            <a:ext cx="11155680" cy="475488"/>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 Key Concept: A healthy ecosystem isn't 'never changing.' It's one where the DATA stays in a working range year after year, even when small things shift.</a:t>
            </a:r>
            <a:endParaRPr lang="en-US" sz="1250" dirty="0"/>
          </a:p>
        </p:txBody>
      </p:sp>
      <p:sp>
        <p:nvSpPr>
          <p:cNvPr id="25" name="Shape 23"/>
          <p:cNvSpPr/>
          <p:nvPr/>
        </p:nvSpPr>
        <p:spPr>
          <a:xfrm>
            <a:off x="0" y="6629400"/>
            <a:ext cx="12192000" cy="228600"/>
          </a:xfrm>
          <a:prstGeom prst="rect">
            <a:avLst/>
          </a:prstGeom>
          <a:solidFill>
            <a:srgbClr val="162233"/>
          </a:solidFill>
          <a:ln/>
        </p:spPr>
      </p:sp>
      <p:sp>
        <p:nvSpPr>
          <p:cNvPr id="26" name="Text 2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10.02  ·  Ecosystem Balance</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  Florida Ecosystem Stories: 4 Real Data Cases</a:t>
            </a:r>
            <a:endParaRPr lang="en-US" sz="1600" dirty="0"/>
          </a:p>
        </p:txBody>
      </p:sp>
      <p:sp>
        <p:nvSpPr>
          <p:cNvPr id="5" name="Shape 3"/>
          <p:cNvSpPr/>
          <p:nvPr/>
        </p:nvSpPr>
        <p:spPr>
          <a:xfrm>
            <a:off x="365760" y="713232"/>
            <a:ext cx="2697480" cy="5596128"/>
          </a:xfrm>
          <a:prstGeom prst="roundRect">
            <a:avLst>
              <a:gd name="adj" fmla="val 2712"/>
            </a:avLst>
          </a:prstGeom>
          <a:solidFill>
            <a:srgbClr val="1E2F45"/>
          </a:solidFill>
          <a:ln w="12700">
            <a:solidFill>
              <a:srgbClr val="2DC653"/>
            </a:solidFill>
            <a:prstDash val="solid"/>
          </a:ln>
        </p:spPr>
      </p:sp>
      <p:sp>
        <p:nvSpPr>
          <p:cNvPr id="6" name="Text 4"/>
          <p:cNvSpPr/>
          <p:nvPr/>
        </p:nvSpPr>
        <p:spPr>
          <a:xfrm>
            <a:off x="365760" y="868680"/>
            <a:ext cx="2697480" cy="566928"/>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
        <p:nvSpPr>
          <p:cNvPr id="7" name="Text 5"/>
          <p:cNvSpPr/>
          <p:nvPr/>
        </p:nvSpPr>
        <p:spPr>
          <a:xfrm>
            <a:off x="475488" y="1508760"/>
            <a:ext cx="2487168" cy="347472"/>
          </a:xfrm>
          <a:prstGeom prst="rect">
            <a:avLst/>
          </a:prstGeom>
          <a:noFill/>
          <a:ln/>
        </p:spPr>
        <p:txBody>
          <a:bodyPr wrap="square" rtlCol="0" anchor="ctr"/>
          <a:lstStyle/>
          <a:p>
            <a:pPr algn="ctr" indent="0" marL="0">
              <a:buNone/>
            </a:pPr>
            <a:r>
              <a:rPr lang="en-US" sz="1300" b="1" dirty="0">
                <a:solidFill>
                  <a:srgbClr val="2DC653"/>
                </a:solidFill>
                <a:latin typeface="Calibri" pitchFamily="34" charset="0"/>
                <a:ea typeface="Calibri" pitchFamily="34" charset="-122"/>
                <a:cs typeface="Calibri" pitchFamily="34" charset="-120"/>
              </a:rPr>
              <a:t>FL Manatee</a:t>
            </a:r>
            <a:endParaRPr lang="en-US" sz="1300" dirty="0"/>
          </a:p>
        </p:txBody>
      </p:sp>
      <p:sp>
        <p:nvSpPr>
          <p:cNvPr id="8" name="Text 6"/>
          <p:cNvSpPr/>
          <p:nvPr/>
        </p:nvSpPr>
        <p:spPr>
          <a:xfrm>
            <a:off x="475488" y="1938528"/>
            <a:ext cx="2487168" cy="256032"/>
          </a:xfrm>
          <a:prstGeom prst="rect">
            <a:avLst/>
          </a:prstGeom>
          <a:noFill/>
          <a:ln/>
        </p:spPr>
        <p:txBody>
          <a:bodyPr wrap="square" rtlCol="0" anchor="ctr"/>
          <a:lstStyle/>
          <a:p>
            <a:pPr algn="ctr" indent="0" marL="0">
              <a:buNone/>
            </a:pPr>
            <a:r>
              <a:rPr lang="en-US" sz="1000" b="1" dirty="0">
                <a:solidFill>
                  <a:srgbClr val="8899AA"/>
                </a:solidFill>
                <a:latin typeface="Calibri" pitchFamily="34" charset="0"/>
                <a:ea typeface="Calibri" pitchFamily="34" charset="-122"/>
                <a:cs typeface="Calibri" pitchFamily="34" charset="-120"/>
              </a:rPr>
              <a:t>Data:</a:t>
            </a:r>
            <a:endParaRPr lang="en-US" sz="1000" dirty="0"/>
          </a:p>
        </p:txBody>
      </p:sp>
      <p:sp>
        <p:nvSpPr>
          <p:cNvPr id="9" name="Text 7"/>
          <p:cNvSpPr/>
          <p:nvPr/>
        </p:nvSpPr>
        <p:spPr>
          <a:xfrm>
            <a:off x="475488" y="2212848"/>
            <a:ext cx="2487168" cy="658368"/>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1991: ~1,200</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Today: ~7,500</a:t>
            </a:r>
            <a:endParaRPr lang="en-US" sz="1100" dirty="0"/>
          </a:p>
        </p:txBody>
      </p:sp>
      <p:sp>
        <p:nvSpPr>
          <p:cNvPr id="10" name="Shape 8"/>
          <p:cNvSpPr/>
          <p:nvPr/>
        </p:nvSpPr>
        <p:spPr>
          <a:xfrm>
            <a:off x="914400" y="2971800"/>
            <a:ext cx="1554480" cy="256032"/>
          </a:xfrm>
          <a:prstGeom prst="roundRect">
            <a:avLst>
              <a:gd name="adj" fmla="val 50000"/>
            </a:avLst>
          </a:prstGeom>
          <a:solidFill>
            <a:srgbClr val="2DC653"/>
          </a:solidFill>
          <a:ln w="12700">
            <a:solidFill>
              <a:srgbClr val="2DC653"/>
            </a:solidFill>
            <a:prstDash val="solid"/>
          </a:ln>
        </p:spPr>
      </p:sp>
      <p:sp>
        <p:nvSpPr>
          <p:cNvPr id="11" name="Text 9"/>
          <p:cNvSpPr/>
          <p:nvPr/>
        </p:nvSpPr>
        <p:spPr>
          <a:xfrm>
            <a:off x="914400" y="297180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RECOVERY ✅</a:t>
            </a:r>
            <a:endParaRPr lang="en-US" sz="900" dirty="0"/>
          </a:p>
        </p:txBody>
      </p:sp>
      <p:sp>
        <p:nvSpPr>
          <p:cNvPr id="12" name="Text 10"/>
          <p:cNvSpPr/>
          <p:nvPr/>
        </p:nvSpPr>
        <p:spPr>
          <a:xfrm>
            <a:off x="475488" y="3401568"/>
            <a:ext cx="2487168" cy="2697480"/>
          </a:xfrm>
          <a:prstGeom prst="rect">
            <a:avLst/>
          </a:prstGeom>
          <a:noFill/>
          <a:ln/>
        </p:spPr>
        <p:txBody>
          <a:bodyPr wrap="square" rtlCol="0" anchor="ctr"/>
          <a:lstStyle/>
          <a:p>
            <a:pPr indent="0" marL="0">
              <a:buNone/>
            </a:pPr>
            <a:r>
              <a:rPr lang="en-US" sz="1050" dirty="0">
                <a:solidFill>
                  <a:srgbClr val="B0C4D8"/>
                </a:solidFill>
                <a:latin typeface="Calibri" pitchFamily="34" charset="0"/>
                <a:ea typeface="Calibri" pitchFamily="34" charset="-122"/>
                <a:cs typeface="Calibri" pitchFamily="34" charset="-120"/>
              </a:rPr>
              <a:t>Conservation laws → boat speed limits → population tripled over 30 years.</a:t>
            </a:r>
            <a:endParaRPr lang="en-US" sz="1050" dirty="0"/>
          </a:p>
        </p:txBody>
      </p:sp>
      <p:sp>
        <p:nvSpPr>
          <p:cNvPr id="13" name="Shape 11"/>
          <p:cNvSpPr/>
          <p:nvPr/>
        </p:nvSpPr>
        <p:spPr>
          <a:xfrm>
            <a:off x="3310128" y="713232"/>
            <a:ext cx="2697480" cy="5596128"/>
          </a:xfrm>
          <a:prstGeom prst="roundRect">
            <a:avLst>
              <a:gd name="adj" fmla="val 2712"/>
            </a:avLst>
          </a:prstGeom>
          <a:solidFill>
            <a:srgbClr val="1E2F45"/>
          </a:solidFill>
          <a:ln w="12700">
            <a:solidFill>
              <a:srgbClr val="F4736A"/>
            </a:solidFill>
            <a:prstDash val="solid"/>
          </a:ln>
        </p:spPr>
      </p:sp>
      <p:sp>
        <p:nvSpPr>
          <p:cNvPr id="14" name="Text 12"/>
          <p:cNvSpPr/>
          <p:nvPr/>
        </p:nvSpPr>
        <p:spPr>
          <a:xfrm>
            <a:off x="3310128" y="868680"/>
            <a:ext cx="2697480" cy="566928"/>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
        <p:nvSpPr>
          <p:cNvPr id="15" name="Text 13"/>
          <p:cNvSpPr/>
          <p:nvPr/>
        </p:nvSpPr>
        <p:spPr>
          <a:xfrm>
            <a:off x="3419856" y="1508760"/>
            <a:ext cx="2487168" cy="347472"/>
          </a:xfrm>
          <a:prstGeom prst="rect">
            <a:avLst/>
          </a:prstGeom>
          <a:noFill/>
          <a:ln/>
        </p:spPr>
        <p:txBody>
          <a:bodyPr wrap="square" rtlCol="0" anchor="ctr"/>
          <a:lstStyle/>
          <a:p>
            <a:pPr algn="ctr" indent="0" marL="0">
              <a:buNone/>
            </a:pPr>
            <a:r>
              <a:rPr lang="en-US" sz="1300" b="1" dirty="0">
                <a:solidFill>
                  <a:srgbClr val="F4736A"/>
                </a:solidFill>
                <a:latin typeface="Calibri" pitchFamily="34" charset="0"/>
                <a:ea typeface="Calibri" pitchFamily="34" charset="-122"/>
                <a:cs typeface="Calibri" pitchFamily="34" charset="-120"/>
              </a:rPr>
              <a:t>Burmese Python</a:t>
            </a:r>
            <a:endParaRPr lang="en-US" sz="1300" dirty="0"/>
          </a:p>
        </p:txBody>
      </p:sp>
      <p:sp>
        <p:nvSpPr>
          <p:cNvPr id="16" name="Text 14"/>
          <p:cNvSpPr/>
          <p:nvPr/>
        </p:nvSpPr>
        <p:spPr>
          <a:xfrm>
            <a:off x="3419856" y="1938528"/>
            <a:ext cx="2487168" cy="256032"/>
          </a:xfrm>
          <a:prstGeom prst="rect">
            <a:avLst/>
          </a:prstGeom>
          <a:noFill/>
          <a:ln/>
        </p:spPr>
        <p:txBody>
          <a:bodyPr wrap="square" rtlCol="0" anchor="ctr"/>
          <a:lstStyle/>
          <a:p>
            <a:pPr algn="ctr" indent="0" marL="0">
              <a:buNone/>
            </a:pPr>
            <a:r>
              <a:rPr lang="en-US" sz="1000" b="1" dirty="0">
                <a:solidFill>
                  <a:srgbClr val="8899AA"/>
                </a:solidFill>
                <a:latin typeface="Calibri" pitchFamily="34" charset="0"/>
                <a:ea typeface="Calibri" pitchFamily="34" charset="-122"/>
                <a:cs typeface="Calibri" pitchFamily="34" charset="-120"/>
              </a:rPr>
              <a:t>Data:</a:t>
            </a:r>
            <a:endParaRPr lang="en-US" sz="1000" dirty="0"/>
          </a:p>
        </p:txBody>
      </p:sp>
      <p:sp>
        <p:nvSpPr>
          <p:cNvPr id="17" name="Text 15"/>
          <p:cNvSpPr/>
          <p:nvPr/>
        </p:nvSpPr>
        <p:spPr>
          <a:xfrm>
            <a:off x="3419856" y="2212848"/>
            <a:ext cx="2487168" cy="658368"/>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1979: 0</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Today: ~100,000 in Everglades</a:t>
            </a:r>
            <a:endParaRPr lang="en-US" sz="1100" dirty="0"/>
          </a:p>
        </p:txBody>
      </p:sp>
      <p:sp>
        <p:nvSpPr>
          <p:cNvPr id="18" name="Shape 16"/>
          <p:cNvSpPr/>
          <p:nvPr/>
        </p:nvSpPr>
        <p:spPr>
          <a:xfrm>
            <a:off x="3858768" y="2971800"/>
            <a:ext cx="1554480" cy="256032"/>
          </a:xfrm>
          <a:prstGeom prst="roundRect">
            <a:avLst>
              <a:gd name="adj" fmla="val 50000"/>
            </a:avLst>
          </a:prstGeom>
          <a:solidFill>
            <a:srgbClr val="F4736A"/>
          </a:solidFill>
          <a:ln w="12700">
            <a:solidFill>
              <a:srgbClr val="F4736A"/>
            </a:solidFill>
            <a:prstDash val="solid"/>
          </a:ln>
        </p:spPr>
      </p:sp>
      <p:sp>
        <p:nvSpPr>
          <p:cNvPr id="19" name="Text 17"/>
          <p:cNvSpPr/>
          <p:nvPr/>
        </p:nvSpPr>
        <p:spPr>
          <a:xfrm>
            <a:off x="3858768" y="297180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INVASIVE ⚠️</a:t>
            </a:r>
            <a:endParaRPr lang="en-US" sz="900" dirty="0"/>
          </a:p>
        </p:txBody>
      </p:sp>
      <p:sp>
        <p:nvSpPr>
          <p:cNvPr id="20" name="Text 18"/>
          <p:cNvSpPr/>
          <p:nvPr/>
        </p:nvSpPr>
        <p:spPr>
          <a:xfrm>
            <a:off x="3419856" y="3401568"/>
            <a:ext cx="2487168" cy="2697480"/>
          </a:xfrm>
          <a:prstGeom prst="rect">
            <a:avLst/>
          </a:prstGeom>
          <a:noFill/>
          <a:ln/>
        </p:spPr>
        <p:txBody>
          <a:bodyPr wrap="square" rtlCol="0" anchor="ctr"/>
          <a:lstStyle/>
          <a:p>
            <a:pPr indent="0" marL="0">
              <a:buNone/>
            </a:pPr>
            <a:r>
              <a:rPr lang="en-US" sz="1050" dirty="0">
                <a:solidFill>
                  <a:srgbClr val="B0C4D8"/>
                </a:solidFill>
                <a:latin typeface="Calibri" pitchFamily="34" charset="0"/>
                <a:ea typeface="Calibri" pitchFamily="34" charset="-122"/>
                <a:cs typeface="Calibri" pitchFamily="34" charset="-120"/>
              </a:rPr>
              <a:t>Pet trade → escaped into wild → no natural predators → small mammal populations crashed 90-99%.</a:t>
            </a:r>
            <a:endParaRPr lang="en-US" sz="1050" dirty="0"/>
          </a:p>
        </p:txBody>
      </p:sp>
      <p:sp>
        <p:nvSpPr>
          <p:cNvPr id="21" name="Shape 19"/>
          <p:cNvSpPr/>
          <p:nvPr/>
        </p:nvSpPr>
        <p:spPr>
          <a:xfrm>
            <a:off x="6254496" y="713232"/>
            <a:ext cx="2697480" cy="5596128"/>
          </a:xfrm>
          <a:prstGeom prst="roundRect">
            <a:avLst>
              <a:gd name="adj" fmla="val 2712"/>
            </a:avLst>
          </a:prstGeom>
          <a:solidFill>
            <a:srgbClr val="1E2F45"/>
          </a:solidFill>
          <a:ln w="12700">
            <a:solidFill>
              <a:srgbClr val="FFB703"/>
            </a:solidFill>
            <a:prstDash val="solid"/>
          </a:ln>
        </p:spPr>
      </p:sp>
      <p:sp>
        <p:nvSpPr>
          <p:cNvPr id="22" name="Text 20"/>
          <p:cNvSpPr/>
          <p:nvPr/>
        </p:nvSpPr>
        <p:spPr>
          <a:xfrm>
            <a:off x="6254496" y="868680"/>
            <a:ext cx="2697480" cy="566928"/>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
        <p:nvSpPr>
          <p:cNvPr id="23" name="Text 21"/>
          <p:cNvSpPr/>
          <p:nvPr/>
        </p:nvSpPr>
        <p:spPr>
          <a:xfrm>
            <a:off x="6364224" y="1508760"/>
            <a:ext cx="2487168" cy="347472"/>
          </a:xfrm>
          <a:prstGeom prst="rect">
            <a:avLst/>
          </a:prstGeom>
          <a:noFill/>
          <a:ln/>
        </p:spPr>
        <p:txBody>
          <a:bodyPr wrap="square" rtlCol="0" anchor="ctr"/>
          <a:lstStyle/>
          <a:p>
            <a:pPr algn="ctr" indent="0" marL="0">
              <a:buNone/>
            </a:pPr>
            <a:r>
              <a:rPr lang="en-US" sz="1300" b="1" dirty="0">
                <a:solidFill>
                  <a:srgbClr val="FFB703"/>
                </a:solidFill>
                <a:latin typeface="Calibri" pitchFamily="34" charset="0"/>
                <a:ea typeface="Calibri" pitchFamily="34" charset="-122"/>
                <a:cs typeface="Calibri" pitchFamily="34" charset="-120"/>
              </a:rPr>
              <a:t>Lionfish</a:t>
            </a:r>
            <a:endParaRPr lang="en-US" sz="1300" dirty="0"/>
          </a:p>
        </p:txBody>
      </p:sp>
      <p:sp>
        <p:nvSpPr>
          <p:cNvPr id="24" name="Text 22"/>
          <p:cNvSpPr/>
          <p:nvPr/>
        </p:nvSpPr>
        <p:spPr>
          <a:xfrm>
            <a:off x="6364224" y="1938528"/>
            <a:ext cx="2487168" cy="256032"/>
          </a:xfrm>
          <a:prstGeom prst="rect">
            <a:avLst/>
          </a:prstGeom>
          <a:noFill/>
          <a:ln/>
        </p:spPr>
        <p:txBody>
          <a:bodyPr wrap="square" rtlCol="0" anchor="ctr"/>
          <a:lstStyle/>
          <a:p>
            <a:pPr algn="ctr" indent="0" marL="0">
              <a:buNone/>
            </a:pPr>
            <a:r>
              <a:rPr lang="en-US" sz="1000" b="1" dirty="0">
                <a:solidFill>
                  <a:srgbClr val="8899AA"/>
                </a:solidFill>
                <a:latin typeface="Calibri" pitchFamily="34" charset="0"/>
                <a:ea typeface="Calibri" pitchFamily="34" charset="-122"/>
                <a:cs typeface="Calibri" pitchFamily="34" charset="-120"/>
              </a:rPr>
              <a:t>Data:</a:t>
            </a:r>
            <a:endParaRPr lang="en-US" sz="1000" dirty="0"/>
          </a:p>
        </p:txBody>
      </p:sp>
      <p:sp>
        <p:nvSpPr>
          <p:cNvPr id="25" name="Text 23"/>
          <p:cNvSpPr/>
          <p:nvPr/>
        </p:nvSpPr>
        <p:spPr>
          <a:xfrm>
            <a:off x="6364224" y="2212848"/>
            <a:ext cx="2487168" cy="658368"/>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1985: 0 in FL</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Today: All FL coasts</a:t>
            </a:r>
            <a:endParaRPr lang="en-US" sz="1100" dirty="0"/>
          </a:p>
        </p:txBody>
      </p:sp>
      <p:sp>
        <p:nvSpPr>
          <p:cNvPr id="26" name="Shape 24"/>
          <p:cNvSpPr/>
          <p:nvPr/>
        </p:nvSpPr>
        <p:spPr>
          <a:xfrm>
            <a:off x="6803136" y="2971800"/>
            <a:ext cx="1554480" cy="256032"/>
          </a:xfrm>
          <a:prstGeom prst="roundRect">
            <a:avLst>
              <a:gd name="adj" fmla="val 50000"/>
            </a:avLst>
          </a:prstGeom>
          <a:solidFill>
            <a:srgbClr val="FFB703"/>
          </a:solidFill>
          <a:ln w="12700">
            <a:solidFill>
              <a:srgbClr val="FFB703"/>
            </a:solidFill>
            <a:prstDash val="solid"/>
          </a:ln>
        </p:spPr>
      </p:sp>
      <p:sp>
        <p:nvSpPr>
          <p:cNvPr id="27" name="Text 25"/>
          <p:cNvSpPr/>
          <p:nvPr/>
        </p:nvSpPr>
        <p:spPr>
          <a:xfrm>
            <a:off x="6803136" y="297180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INVASIVE ⚠️</a:t>
            </a:r>
            <a:endParaRPr lang="en-US" sz="900" dirty="0"/>
          </a:p>
        </p:txBody>
      </p:sp>
      <p:sp>
        <p:nvSpPr>
          <p:cNvPr id="28" name="Text 26"/>
          <p:cNvSpPr/>
          <p:nvPr/>
        </p:nvSpPr>
        <p:spPr>
          <a:xfrm>
            <a:off x="6364224" y="3401568"/>
            <a:ext cx="2487168" cy="2697480"/>
          </a:xfrm>
          <a:prstGeom prst="rect">
            <a:avLst/>
          </a:prstGeom>
          <a:noFill/>
          <a:ln/>
        </p:spPr>
        <p:txBody>
          <a:bodyPr wrap="square" rtlCol="0" anchor="ctr"/>
          <a:lstStyle/>
          <a:p>
            <a:pPr indent="0" marL="0">
              <a:buNone/>
            </a:pPr>
            <a:r>
              <a:rPr lang="en-US" sz="1050" dirty="0">
                <a:solidFill>
                  <a:srgbClr val="B0C4D8"/>
                </a:solidFill>
                <a:latin typeface="Calibri" pitchFamily="34" charset="0"/>
                <a:ea typeface="Calibri" pitchFamily="34" charset="-122"/>
                <a:cs typeface="Calibri" pitchFamily="34" charset="-120"/>
              </a:rPr>
              <a:t>Aquarium fish → released → eats 50+ reef fish species. Now found from NC to Brazil.</a:t>
            </a:r>
            <a:endParaRPr lang="en-US" sz="1050" dirty="0"/>
          </a:p>
        </p:txBody>
      </p:sp>
      <p:sp>
        <p:nvSpPr>
          <p:cNvPr id="29" name="Shape 27"/>
          <p:cNvSpPr/>
          <p:nvPr/>
        </p:nvSpPr>
        <p:spPr>
          <a:xfrm>
            <a:off x="9198864" y="713232"/>
            <a:ext cx="2697480" cy="5596128"/>
          </a:xfrm>
          <a:prstGeom prst="roundRect">
            <a:avLst>
              <a:gd name="adj" fmla="val 2712"/>
            </a:avLst>
          </a:prstGeom>
          <a:solidFill>
            <a:srgbClr val="1E2F45"/>
          </a:solidFill>
          <a:ln w="12700">
            <a:solidFill>
              <a:srgbClr val="4CC9F0"/>
            </a:solidFill>
            <a:prstDash val="solid"/>
          </a:ln>
        </p:spPr>
      </p:sp>
      <p:sp>
        <p:nvSpPr>
          <p:cNvPr id="30" name="Text 28"/>
          <p:cNvSpPr/>
          <p:nvPr/>
        </p:nvSpPr>
        <p:spPr>
          <a:xfrm>
            <a:off x="9198864" y="868680"/>
            <a:ext cx="2697480" cy="566928"/>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
        <p:nvSpPr>
          <p:cNvPr id="31" name="Text 29"/>
          <p:cNvSpPr/>
          <p:nvPr/>
        </p:nvSpPr>
        <p:spPr>
          <a:xfrm>
            <a:off x="9308592" y="1508760"/>
            <a:ext cx="2487168" cy="347472"/>
          </a:xfrm>
          <a:prstGeom prst="rect">
            <a:avLst/>
          </a:prstGeom>
          <a:noFill/>
          <a:ln/>
        </p:spPr>
        <p:txBody>
          <a:bodyPr wrap="square" rtlCol="0" anchor="ctr"/>
          <a:lstStyle/>
          <a:p>
            <a:pPr algn="ctr" indent="0" marL="0">
              <a:buNone/>
            </a:pPr>
            <a:r>
              <a:rPr lang="en-US" sz="1300" b="1" dirty="0">
                <a:solidFill>
                  <a:srgbClr val="4CC9F0"/>
                </a:solidFill>
                <a:latin typeface="Calibri" pitchFamily="34" charset="0"/>
                <a:ea typeface="Calibri" pitchFamily="34" charset="-122"/>
                <a:cs typeface="Calibri" pitchFamily="34" charset="-120"/>
              </a:rPr>
              <a:t>Everglades</a:t>
            </a:r>
            <a:endParaRPr lang="en-US" sz="1300" dirty="0"/>
          </a:p>
        </p:txBody>
      </p:sp>
      <p:sp>
        <p:nvSpPr>
          <p:cNvPr id="32" name="Text 30"/>
          <p:cNvSpPr/>
          <p:nvPr/>
        </p:nvSpPr>
        <p:spPr>
          <a:xfrm>
            <a:off x="9308592" y="1938528"/>
            <a:ext cx="2487168" cy="256032"/>
          </a:xfrm>
          <a:prstGeom prst="rect">
            <a:avLst/>
          </a:prstGeom>
          <a:noFill/>
          <a:ln/>
        </p:spPr>
        <p:txBody>
          <a:bodyPr wrap="square" rtlCol="0" anchor="ctr"/>
          <a:lstStyle/>
          <a:p>
            <a:pPr algn="ctr" indent="0" marL="0">
              <a:buNone/>
            </a:pPr>
            <a:r>
              <a:rPr lang="en-US" sz="1000" b="1" dirty="0">
                <a:solidFill>
                  <a:srgbClr val="8899AA"/>
                </a:solidFill>
                <a:latin typeface="Calibri" pitchFamily="34" charset="0"/>
                <a:ea typeface="Calibri" pitchFamily="34" charset="-122"/>
                <a:cs typeface="Calibri" pitchFamily="34" charset="-120"/>
              </a:rPr>
              <a:t>Data:</a:t>
            </a:r>
            <a:endParaRPr lang="en-US" sz="1000" dirty="0"/>
          </a:p>
        </p:txBody>
      </p:sp>
      <p:sp>
        <p:nvSpPr>
          <p:cNvPr id="33" name="Text 31"/>
          <p:cNvSpPr/>
          <p:nvPr/>
        </p:nvSpPr>
        <p:spPr>
          <a:xfrm>
            <a:off x="9308592" y="2212848"/>
            <a:ext cx="2487168" cy="658368"/>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Original: 4M acres</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Today: 2M acres + restoration active</a:t>
            </a:r>
            <a:endParaRPr lang="en-US" sz="1100" dirty="0"/>
          </a:p>
        </p:txBody>
      </p:sp>
      <p:sp>
        <p:nvSpPr>
          <p:cNvPr id="34" name="Shape 32"/>
          <p:cNvSpPr/>
          <p:nvPr/>
        </p:nvSpPr>
        <p:spPr>
          <a:xfrm>
            <a:off x="9747504" y="2971800"/>
            <a:ext cx="1554480" cy="256032"/>
          </a:xfrm>
          <a:prstGeom prst="roundRect">
            <a:avLst>
              <a:gd name="adj" fmla="val 50000"/>
            </a:avLst>
          </a:prstGeom>
          <a:solidFill>
            <a:srgbClr val="4CC9F0"/>
          </a:solidFill>
          <a:ln w="12700">
            <a:solidFill>
              <a:srgbClr val="4CC9F0"/>
            </a:solidFill>
            <a:prstDash val="solid"/>
          </a:ln>
        </p:spPr>
      </p:sp>
      <p:sp>
        <p:nvSpPr>
          <p:cNvPr id="35" name="Text 33"/>
          <p:cNvSpPr/>
          <p:nvPr/>
        </p:nvSpPr>
        <p:spPr>
          <a:xfrm>
            <a:off x="9747504" y="297180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PARTIAL ♻️</a:t>
            </a:r>
            <a:endParaRPr lang="en-US" sz="900" dirty="0"/>
          </a:p>
        </p:txBody>
      </p:sp>
      <p:sp>
        <p:nvSpPr>
          <p:cNvPr id="36" name="Text 34"/>
          <p:cNvSpPr/>
          <p:nvPr/>
        </p:nvSpPr>
        <p:spPr>
          <a:xfrm>
            <a:off x="9308592" y="3401568"/>
            <a:ext cx="2487168" cy="2697480"/>
          </a:xfrm>
          <a:prstGeom prst="rect">
            <a:avLst/>
          </a:prstGeom>
          <a:noFill/>
          <a:ln/>
        </p:spPr>
        <p:txBody>
          <a:bodyPr wrap="square" rtlCol="0" anchor="ctr"/>
          <a:lstStyle/>
          <a:p>
            <a:pPr indent="0" marL="0">
              <a:buNone/>
            </a:pPr>
            <a:r>
              <a:rPr lang="en-US" sz="1050" dirty="0">
                <a:solidFill>
                  <a:srgbClr val="B0C4D8"/>
                </a:solidFill>
                <a:latin typeface="Calibri" pitchFamily="34" charset="0"/>
                <a:ea typeface="Calibri" pitchFamily="34" charset="-122"/>
                <a:cs typeface="Calibri" pitchFamily="34" charset="-120"/>
              </a:rPr>
              <a:t>Drained for farming → cut in half → $11 billion restoration project trying to bring it back.</a:t>
            </a:r>
            <a:endParaRPr lang="en-US" sz="1050" dirty="0"/>
          </a:p>
        </p:txBody>
      </p:sp>
      <p:sp>
        <p:nvSpPr>
          <p:cNvPr id="37" name="Shape 35"/>
          <p:cNvSpPr/>
          <p:nvPr/>
        </p:nvSpPr>
        <p:spPr>
          <a:xfrm>
            <a:off x="0" y="6629400"/>
            <a:ext cx="12192000" cy="228600"/>
          </a:xfrm>
          <a:prstGeom prst="rect">
            <a:avLst/>
          </a:prstGeom>
          <a:solidFill>
            <a:srgbClr val="162233"/>
          </a:solidFill>
          <a:ln/>
        </p:spPr>
      </p:sp>
      <p:sp>
        <p:nvSpPr>
          <p:cNvPr id="38" name="Text 3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10.02  ·  Ecosystem Balance</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Explore: Read the Data Like a Scientist (8 min)</a:t>
            </a:r>
            <a:endParaRPr lang="en-US" sz="1600" dirty="0"/>
          </a:p>
        </p:txBody>
      </p:sp>
      <p:sp>
        <p:nvSpPr>
          <p:cNvPr id="5" name="Text 3"/>
          <p:cNvSpPr/>
          <p:nvPr/>
        </p:nvSpPr>
        <p:spPr>
          <a:xfrm>
            <a:off x="365760" y="658368"/>
            <a:ext cx="11521440" cy="27432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We'll use the REAL manatee data to practice evidence-based claims.</a:t>
            </a:r>
            <a:endParaRPr lang="en-US" sz="1200" dirty="0"/>
          </a:p>
        </p:txBody>
      </p:sp>
      <p:sp>
        <p:nvSpPr>
          <p:cNvPr id="6" name="Shape 4"/>
          <p:cNvSpPr/>
          <p:nvPr/>
        </p:nvSpPr>
        <p:spPr>
          <a:xfrm>
            <a:off x="365760" y="1005840"/>
            <a:ext cx="5532120" cy="2395728"/>
          </a:xfrm>
          <a:prstGeom prst="roundRect">
            <a:avLst>
              <a:gd name="adj" fmla="val 3053"/>
            </a:avLst>
          </a:prstGeom>
          <a:solidFill>
            <a:srgbClr val="1E2F45"/>
          </a:solidFill>
          <a:ln w="12700">
            <a:solidFill>
              <a:srgbClr val="2DC653"/>
            </a:solidFill>
            <a:prstDash val="solid"/>
          </a:ln>
        </p:spPr>
      </p:sp>
      <p:sp>
        <p:nvSpPr>
          <p:cNvPr id="7" name="Shape 5"/>
          <p:cNvSpPr/>
          <p:nvPr/>
        </p:nvSpPr>
        <p:spPr>
          <a:xfrm>
            <a:off x="502920" y="1115568"/>
            <a:ext cx="1554480" cy="256032"/>
          </a:xfrm>
          <a:prstGeom prst="roundRect">
            <a:avLst>
              <a:gd name="adj" fmla="val 50000"/>
            </a:avLst>
          </a:prstGeom>
          <a:solidFill>
            <a:srgbClr val="2DC653"/>
          </a:solidFill>
          <a:ln w="12700">
            <a:solidFill>
              <a:srgbClr val="2DC653"/>
            </a:solidFill>
            <a:prstDash val="solid"/>
          </a:ln>
        </p:spPr>
      </p:sp>
      <p:sp>
        <p:nvSpPr>
          <p:cNvPr id="8" name="Text 6"/>
          <p:cNvSpPr/>
          <p:nvPr/>
        </p:nvSpPr>
        <p:spPr>
          <a:xfrm>
            <a:off x="502920" y="1115568"/>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1</a:t>
            </a:r>
            <a:endParaRPr lang="en-US" sz="900" dirty="0"/>
          </a:p>
        </p:txBody>
      </p:sp>
      <p:sp>
        <p:nvSpPr>
          <p:cNvPr id="9" name="Text 7"/>
          <p:cNvSpPr/>
          <p:nvPr/>
        </p:nvSpPr>
        <p:spPr>
          <a:xfrm>
            <a:off x="502920" y="1444752"/>
            <a:ext cx="530352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Look at the Numbers</a:t>
            </a:r>
            <a:endParaRPr lang="en-US" sz="1300" dirty="0"/>
          </a:p>
        </p:txBody>
      </p:sp>
      <p:sp>
        <p:nvSpPr>
          <p:cNvPr id="10" name="Text 8"/>
          <p:cNvSpPr/>
          <p:nvPr/>
        </p:nvSpPr>
        <p:spPr>
          <a:xfrm>
            <a:off x="502920" y="1828800"/>
            <a:ext cx="5303520" cy="1444752"/>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In your notebook, write down:</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FL manatees in 1991: about 1,200</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FL manatees today: about 7,500</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Don't do any math yet — just sit with the numbers.</a:t>
            </a:r>
            <a:endParaRPr lang="en-US" sz="1150" dirty="0"/>
          </a:p>
        </p:txBody>
      </p:sp>
      <p:sp>
        <p:nvSpPr>
          <p:cNvPr id="11" name="Shape 9"/>
          <p:cNvSpPr/>
          <p:nvPr/>
        </p:nvSpPr>
        <p:spPr>
          <a:xfrm>
            <a:off x="365760" y="3639312"/>
            <a:ext cx="5532120" cy="2395728"/>
          </a:xfrm>
          <a:prstGeom prst="roundRect">
            <a:avLst>
              <a:gd name="adj" fmla="val 3053"/>
            </a:avLst>
          </a:prstGeom>
          <a:solidFill>
            <a:srgbClr val="1E2F45"/>
          </a:solidFill>
          <a:ln w="12700">
            <a:solidFill>
              <a:srgbClr val="FFB703"/>
            </a:solidFill>
            <a:prstDash val="solid"/>
          </a:ln>
        </p:spPr>
      </p:sp>
      <p:sp>
        <p:nvSpPr>
          <p:cNvPr id="12" name="Shape 10"/>
          <p:cNvSpPr/>
          <p:nvPr/>
        </p:nvSpPr>
        <p:spPr>
          <a:xfrm>
            <a:off x="502920" y="3749040"/>
            <a:ext cx="1554480" cy="256032"/>
          </a:xfrm>
          <a:prstGeom prst="roundRect">
            <a:avLst>
              <a:gd name="adj" fmla="val 50000"/>
            </a:avLst>
          </a:prstGeom>
          <a:solidFill>
            <a:srgbClr val="FFB703"/>
          </a:solidFill>
          <a:ln w="12700">
            <a:solidFill>
              <a:srgbClr val="FFB703"/>
            </a:solidFill>
            <a:prstDash val="solid"/>
          </a:ln>
        </p:spPr>
      </p:sp>
      <p:sp>
        <p:nvSpPr>
          <p:cNvPr id="13" name="Text 11"/>
          <p:cNvSpPr/>
          <p:nvPr/>
        </p:nvSpPr>
        <p:spPr>
          <a:xfrm>
            <a:off x="502920" y="374904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2</a:t>
            </a:r>
            <a:endParaRPr lang="en-US" sz="900" dirty="0"/>
          </a:p>
        </p:txBody>
      </p:sp>
      <p:sp>
        <p:nvSpPr>
          <p:cNvPr id="14" name="Text 12"/>
          <p:cNvSpPr/>
          <p:nvPr/>
        </p:nvSpPr>
        <p:spPr>
          <a:xfrm>
            <a:off x="502920" y="4078224"/>
            <a:ext cx="530352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Describe the Change</a:t>
            </a:r>
            <a:endParaRPr lang="en-US" sz="1300" dirty="0"/>
          </a:p>
        </p:txBody>
      </p:sp>
      <p:sp>
        <p:nvSpPr>
          <p:cNvPr id="15" name="Text 13"/>
          <p:cNvSpPr/>
          <p:nvPr/>
        </p:nvSpPr>
        <p:spPr>
          <a:xfrm>
            <a:off x="502920" y="4462272"/>
            <a:ext cx="5303520" cy="1444752"/>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Write one sentence describing what changed between 1991 and today. Did the population go UP, DOWN, or STAY THE SAME? Use the data — not your gut.</a:t>
            </a:r>
            <a:endParaRPr lang="en-US" sz="1150" dirty="0"/>
          </a:p>
        </p:txBody>
      </p:sp>
      <p:sp>
        <p:nvSpPr>
          <p:cNvPr id="16" name="Shape 14"/>
          <p:cNvSpPr/>
          <p:nvPr/>
        </p:nvSpPr>
        <p:spPr>
          <a:xfrm>
            <a:off x="6126480" y="1005840"/>
            <a:ext cx="5532120" cy="2395728"/>
          </a:xfrm>
          <a:prstGeom prst="roundRect">
            <a:avLst>
              <a:gd name="adj" fmla="val 3053"/>
            </a:avLst>
          </a:prstGeom>
          <a:solidFill>
            <a:srgbClr val="1E2F45"/>
          </a:solidFill>
          <a:ln w="12700">
            <a:solidFill>
              <a:srgbClr val="4CC9F0"/>
            </a:solidFill>
            <a:prstDash val="solid"/>
          </a:ln>
        </p:spPr>
      </p:sp>
      <p:sp>
        <p:nvSpPr>
          <p:cNvPr id="17" name="Shape 15"/>
          <p:cNvSpPr/>
          <p:nvPr/>
        </p:nvSpPr>
        <p:spPr>
          <a:xfrm>
            <a:off x="6263640" y="1115568"/>
            <a:ext cx="1554480" cy="256032"/>
          </a:xfrm>
          <a:prstGeom prst="roundRect">
            <a:avLst>
              <a:gd name="adj" fmla="val 50000"/>
            </a:avLst>
          </a:prstGeom>
          <a:solidFill>
            <a:srgbClr val="4CC9F0"/>
          </a:solidFill>
          <a:ln w="12700">
            <a:solidFill>
              <a:srgbClr val="4CC9F0"/>
            </a:solidFill>
            <a:prstDash val="solid"/>
          </a:ln>
        </p:spPr>
      </p:sp>
      <p:sp>
        <p:nvSpPr>
          <p:cNvPr id="18" name="Text 16"/>
          <p:cNvSpPr/>
          <p:nvPr/>
        </p:nvSpPr>
        <p:spPr>
          <a:xfrm>
            <a:off x="6263640" y="1115568"/>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3</a:t>
            </a:r>
            <a:endParaRPr lang="en-US" sz="900" dirty="0"/>
          </a:p>
        </p:txBody>
      </p:sp>
      <p:sp>
        <p:nvSpPr>
          <p:cNvPr id="19" name="Text 17"/>
          <p:cNvSpPr/>
          <p:nvPr/>
        </p:nvSpPr>
        <p:spPr>
          <a:xfrm>
            <a:off x="6263640" y="1444752"/>
            <a:ext cx="530352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Make a Claim with Evidence</a:t>
            </a:r>
            <a:endParaRPr lang="en-US" sz="1300" dirty="0"/>
          </a:p>
        </p:txBody>
      </p:sp>
      <p:sp>
        <p:nvSpPr>
          <p:cNvPr id="20" name="Text 18"/>
          <p:cNvSpPr/>
          <p:nvPr/>
        </p:nvSpPr>
        <p:spPr>
          <a:xfrm>
            <a:off x="6263640" y="1828800"/>
            <a:ext cx="5303520" cy="1444752"/>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Write: 'Are Florida manatees more in balance now than in 1991?'</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Claim sentence + 'The evidence is…' + both numbers.</a:t>
            </a:r>
            <a:endParaRPr lang="en-US" sz="1150" dirty="0"/>
          </a:p>
        </p:txBody>
      </p:sp>
      <p:sp>
        <p:nvSpPr>
          <p:cNvPr id="21" name="Shape 19"/>
          <p:cNvSpPr/>
          <p:nvPr/>
        </p:nvSpPr>
        <p:spPr>
          <a:xfrm>
            <a:off x="6126480" y="3639312"/>
            <a:ext cx="5532120" cy="2395728"/>
          </a:xfrm>
          <a:prstGeom prst="roundRect">
            <a:avLst>
              <a:gd name="adj" fmla="val 3053"/>
            </a:avLst>
          </a:prstGeom>
          <a:solidFill>
            <a:srgbClr val="1E2F45"/>
          </a:solidFill>
          <a:ln w="12700">
            <a:solidFill>
              <a:srgbClr val="8B6FC0"/>
            </a:solidFill>
            <a:prstDash val="solid"/>
          </a:ln>
        </p:spPr>
      </p:sp>
      <p:sp>
        <p:nvSpPr>
          <p:cNvPr id="22" name="Shape 20"/>
          <p:cNvSpPr/>
          <p:nvPr/>
        </p:nvSpPr>
        <p:spPr>
          <a:xfrm>
            <a:off x="6263640" y="3749040"/>
            <a:ext cx="1554480" cy="256032"/>
          </a:xfrm>
          <a:prstGeom prst="roundRect">
            <a:avLst>
              <a:gd name="adj" fmla="val 50000"/>
            </a:avLst>
          </a:prstGeom>
          <a:solidFill>
            <a:srgbClr val="8B6FC0"/>
          </a:solidFill>
          <a:ln w="12700">
            <a:solidFill>
              <a:srgbClr val="8B6FC0"/>
            </a:solidFill>
            <a:prstDash val="solid"/>
          </a:ln>
        </p:spPr>
      </p:sp>
      <p:sp>
        <p:nvSpPr>
          <p:cNvPr id="23" name="Text 21"/>
          <p:cNvSpPr/>
          <p:nvPr/>
        </p:nvSpPr>
        <p:spPr>
          <a:xfrm>
            <a:off x="6263640" y="374904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4</a:t>
            </a:r>
            <a:endParaRPr lang="en-US" sz="900" dirty="0"/>
          </a:p>
        </p:txBody>
      </p:sp>
      <p:sp>
        <p:nvSpPr>
          <p:cNvPr id="24" name="Text 22"/>
          <p:cNvSpPr/>
          <p:nvPr/>
        </p:nvSpPr>
        <p:spPr>
          <a:xfrm>
            <a:off x="6263640" y="4078224"/>
            <a:ext cx="530352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Ask a Follow-Up Question</a:t>
            </a:r>
            <a:endParaRPr lang="en-US" sz="1300" dirty="0"/>
          </a:p>
        </p:txBody>
      </p:sp>
      <p:sp>
        <p:nvSpPr>
          <p:cNvPr id="25" name="Text 23"/>
          <p:cNvSpPr/>
          <p:nvPr/>
        </p:nvSpPr>
        <p:spPr>
          <a:xfrm>
            <a:off x="6263640" y="4462272"/>
            <a:ext cx="5303520" cy="1444752"/>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Good scientists ask: 'What else would help me decide?' Write one question you'd want to investigate — maybe about boat deaths or water quality.</a:t>
            </a:r>
            <a:endParaRPr lang="en-US" sz="1150" dirty="0"/>
          </a:p>
        </p:txBody>
      </p:sp>
      <p:sp>
        <p:nvSpPr>
          <p:cNvPr id="26" name="Shape 24"/>
          <p:cNvSpPr/>
          <p:nvPr/>
        </p:nvSpPr>
        <p:spPr>
          <a:xfrm>
            <a:off x="0" y="6629400"/>
            <a:ext cx="12192000" cy="228600"/>
          </a:xfrm>
          <a:prstGeom prst="rect">
            <a:avLst/>
          </a:prstGeom>
          <a:solidFill>
            <a:srgbClr val="162233"/>
          </a:solidFill>
          <a:ln/>
        </p:spPr>
      </p:sp>
      <p:sp>
        <p:nvSpPr>
          <p:cNvPr id="27" name="Text 2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10.02  ·  Ecosystem Balance</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Model: Sketch the Manatee Recovery Graph</a:t>
            </a:r>
            <a:endParaRPr lang="en-US" sz="1600" dirty="0"/>
          </a:p>
        </p:txBody>
      </p:sp>
      <p:sp>
        <p:nvSpPr>
          <p:cNvPr id="5" name="Shape 3"/>
          <p:cNvSpPr/>
          <p:nvPr/>
        </p:nvSpPr>
        <p:spPr>
          <a:xfrm>
            <a:off x="365760" y="713232"/>
            <a:ext cx="11521440" cy="658368"/>
          </a:xfrm>
          <a:prstGeom prst="roundRect">
            <a:avLst>
              <a:gd name="adj" fmla="val 11111"/>
            </a:avLst>
          </a:prstGeom>
          <a:solidFill>
            <a:srgbClr val="1E2F45"/>
          </a:solidFill>
          <a:ln w="12700">
            <a:solidFill>
              <a:srgbClr val="4CC9F0"/>
            </a:solidFill>
            <a:prstDash val="solid"/>
          </a:ln>
        </p:spPr>
      </p:sp>
      <p:sp>
        <p:nvSpPr>
          <p:cNvPr id="6" name="Text 4"/>
          <p:cNvSpPr/>
          <p:nvPr/>
        </p:nvSpPr>
        <p:spPr>
          <a:xfrm>
            <a:off x="548640" y="768096"/>
            <a:ext cx="11155680" cy="5029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Draw your own simple line graph of the manatee data BEFORE we compare to the actual graph.</a:t>
            </a:r>
            <a:endParaRPr lang="en-US" sz="1300" dirty="0"/>
          </a:p>
        </p:txBody>
      </p:sp>
      <p:sp>
        <p:nvSpPr>
          <p:cNvPr id="7" name="Shape 5"/>
          <p:cNvSpPr/>
          <p:nvPr/>
        </p:nvSpPr>
        <p:spPr>
          <a:xfrm>
            <a:off x="365760" y="1508760"/>
            <a:ext cx="5394960" cy="4462272"/>
          </a:xfrm>
          <a:prstGeom prst="roundRect">
            <a:avLst>
              <a:gd name="adj" fmla="val 1639"/>
            </a:avLst>
          </a:prstGeom>
          <a:solidFill>
            <a:srgbClr val="1E2F45"/>
          </a:solidFill>
          <a:ln w="12700">
            <a:solidFill>
              <a:srgbClr val="FFB703"/>
            </a:solidFill>
            <a:prstDash val="solid"/>
          </a:ln>
        </p:spPr>
      </p:sp>
      <p:sp>
        <p:nvSpPr>
          <p:cNvPr id="8" name="Text 6"/>
          <p:cNvSpPr/>
          <p:nvPr/>
        </p:nvSpPr>
        <p:spPr>
          <a:xfrm>
            <a:off x="548640" y="1600200"/>
            <a:ext cx="5212080" cy="310896"/>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Your Sketch:</a:t>
            </a:r>
            <a:endParaRPr lang="en-US" sz="1300" dirty="0"/>
          </a:p>
        </p:txBody>
      </p:sp>
      <p:sp>
        <p:nvSpPr>
          <p:cNvPr id="9" name="Text 7"/>
          <p:cNvSpPr/>
          <p:nvPr/>
        </p:nvSpPr>
        <p:spPr>
          <a:xfrm>
            <a:off x="548640" y="1956816"/>
            <a:ext cx="5212080" cy="256032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In your notebook, draw:</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 X-axis: Time (1991 to today)</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 Y-axis: Number of manatees (0 to 8,000)</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 Mark the two data points: 1,200 in 1991 and 7,500 today</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 Draw a line connecting them</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 Label the dip in early 2000s (red algae events)</a:t>
            </a:r>
            <a:endParaRPr lang="en-US" sz="1200" dirty="0"/>
          </a:p>
        </p:txBody>
      </p:sp>
      <p:sp>
        <p:nvSpPr>
          <p:cNvPr id="10" name="Text 8"/>
          <p:cNvSpPr/>
          <p:nvPr/>
        </p:nvSpPr>
        <p:spPr>
          <a:xfrm>
            <a:off x="548640" y="4645152"/>
            <a:ext cx="5212080" cy="292608"/>
          </a:xfrm>
          <a:prstGeom prst="rect">
            <a:avLst/>
          </a:prstGeom>
          <a:noFill/>
          <a:ln/>
        </p:spPr>
        <p:txBody>
          <a:bodyPr wrap="square" rtlCol="0" anchor="ctr"/>
          <a:lstStyle/>
          <a:p>
            <a:pPr indent="0" marL="0">
              <a:buNone/>
            </a:pPr>
            <a:r>
              <a:rPr lang="en-US" sz="1150" i="1" dirty="0">
                <a:solidFill>
                  <a:srgbClr val="FFB703"/>
                </a:solidFill>
                <a:latin typeface="Calibri" pitchFamily="34" charset="0"/>
                <a:ea typeface="Calibri" pitchFamily="34" charset="-122"/>
                <a:cs typeface="Calibri" pitchFamily="34" charset="-120"/>
              </a:rPr>
              <a:t>Write one sentence describing the TREND.</a:t>
            </a:r>
            <a:endParaRPr lang="en-US" sz="1150" dirty="0"/>
          </a:p>
        </p:txBody>
      </p:sp>
      <p:sp>
        <p:nvSpPr>
          <p:cNvPr id="11" name="Shape 9"/>
          <p:cNvSpPr/>
          <p:nvPr/>
        </p:nvSpPr>
        <p:spPr>
          <a:xfrm>
            <a:off x="5943600" y="1508760"/>
            <a:ext cx="5943600" cy="4462272"/>
          </a:xfrm>
          <a:prstGeom prst="roundRect">
            <a:avLst>
              <a:gd name="adj" fmla="val 1639"/>
            </a:avLst>
          </a:prstGeom>
          <a:solidFill>
            <a:srgbClr val="0A1520"/>
          </a:solidFill>
          <a:ln w="19050">
            <a:solidFill>
              <a:srgbClr val="4CC9F0"/>
            </a:solidFill>
            <a:prstDash val="dash"/>
          </a:ln>
        </p:spPr>
      </p:sp>
      <p:sp>
        <p:nvSpPr>
          <p:cNvPr id="12" name="Text 10"/>
          <p:cNvSpPr/>
          <p:nvPr/>
        </p:nvSpPr>
        <p:spPr>
          <a:xfrm>
            <a:off x="6035040" y="1618488"/>
            <a:ext cx="576072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3" name="Text 11"/>
          <p:cNvSpPr/>
          <p:nvPr/>
        </p:nvSpPr>
        <p:spPr>
          <a:xfrm>
            <a:off x="6035040" y="2057400"/>
            <a:ext cx="576072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4" name="Text 12"/>
          <p:cNvSpPr/>
          <p:nvPr/>
        </p:nvSpPr>
        <p:spPr>
          <a:xfrm>
            <a:off x="6053328" y="2350008"/>
            <a:ext cx="5724144" cy="3410712"/>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"Florida manatee population recovery graph 1991 2024 line chart data points conservation laws labeled"</a:t>
            </a:r>
            <a:endParaRPr lang="en-US" sz="950" dirty="0"/>
          </a:p>
        </p:txBody>
      </p:sp>
      <p:sp>
        <p:nvSpPr>
          <p:cNvPr id="15" name="Text 13"/>
          <p:cNvSpPr/>
          <p:nvPr/>
        </p:nvSpPr>
        <p:spPr>
          <a:xfrm>
            <a:off x="5943600" y="6007608"/>
            <a:ext cx="594360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Actual manatee data — reveal AFTER students sketch their own</a:t>
            </a:r>
            <a:endParaRPr lang="en-US" sz="900" dirty="0"/>
          </a:p>
        </p:txBody>
      </p:sp>
      <p:sp>
        <p:nvSpPr>
          <p:cNvPr id="16" name="Shape 14"/>
          <p:cNvSpPr/>
          <p:nvPr/>
        </p:nvSpPr>
        <p:spPr>
          <a:xfrm>
            <a:off x="0" y="6629400"/>
            <a:ext cx="12192000" cy="228600"/>
          </a:xfrm>
          <a:prstGeom prst="rect">
            <a:avLst/>
          </a:prstGeom>
          <a:solidFill>
            <a:srgbClr val="162233"/>
          </a:solidFill>
          <a:ln/>
        </p:spPr>
      </p:sp>
      <p:sp>
        <p:nvSpPr>
          <p:cNvPr id="17" name="Text 1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10.02  ·  Ecosystem Balance</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411480"/>
            <a:ext cx="11521440" cy="3364992"/>
          </a:xfrm>
          <a:prstGeom prst="roundRect">
            <a:avLst>
              <a:gd name="adj" fmla="val 2174"/>
            </a:avLst>
          </a:prstGeom>
          <a:solidFill>
            <a:srgbClr val="0A1520"/>
          </a:solidFill>
          <a:ln w="12700">
            <a:solidFill>
              <a:srgbClr val="4CC9F0"/>
            </a:solidFill>
            <a:prstDash val="solid"/>
          </a:ln>
        </p:spPr>
      </p:sp>
      <p:sp>
        <p:nvSpPr>
          <p:cNvPr id="3" name="Text 1"/>
          <p:cNvSpPr/>
          <p:nvPr/>
        </p:nvSpPr>
        <p:spPr>
          <a:xfrm>
            <a:off x="365760" y="566928"/>
            <a:ext cx="11521440" cy="749808"/>
          </a:xfrm>
          <a:prstGeom prst="rect">
            <a:avLst/>
          </a:prstGeom>
          <a:noFill/>
          <a:ln/>
        </p:spPr>
        <p:txBody>
          <a:bodyPr wrap="square" rtlCol="0" anchor="ctr"/>
          <a:lstStyle/>
          <a:p>
            <a:pPr algn="ctr" indent="0" marL="0">
              <a:buNone/>
            </a:pPr>
            <a:r>
              <a:rPr lang="en-US" sz="4600" dirty="0">
                <a:solidFill>
                  <a:srgbClr val="000000"/>
                </a:solidFill>
              </a:rPr>
              <a:t>🤯</a:t>
            </a:r>
            <a:endParaRPr lang="en-US" sz="4600" dirty="0"/>
          </a:p>
        </p:txBody>
      </p:sp>
      <p:sp>
        <p:nvSpPr>
          <p:cNvPr id="4" name="Text 2"/>
          <p:cNvSpPr/>
          <p:nvPr/>
        </p:nvSpPr>
        <p:spPr>
          <a:xfrm>
            <a:off x="365760" y="1389888"/>
            <a:ext cx="11521440" cy="347472"/>
          </a:xfrm>
          <a:prstGeom prst="rect">
            <a:avLst/>
          </a:prstGeom>
          <a:noFill/>
          <a:ln/>
        </p:spPr>
        <p:txBody>
          <a:bodyPr wrap="square" rtlCol="0" anchor="ctr"/>
          <a:lstStyle/>
          <a:p>
            <a:pPr algn="ctr" indent="0" marL="0">
              <a:buNone/>
            </a:pPr>
            <a:r>
              <a:rPr lang="en-US" sz="1600" b="1" dirty="0">
                <a:solidFill>
                  <a:srgbClr val="4CC9F0"/>
                </a:solidFill>
                <a:latin typeface="Calibri" pitchFamily="34" charset="0"/>
                <a:ea typeface="Calibri" pitchFamily="34" charset="-122"/>
                <a:cs typeface="Calibri" pitchFamily="34" charset="-120"/>
              </a:rPr>
              <a:t>Mind-Blowing Fact #1</a:t>
            </a:r>
            <a:endParaRPr lang="en-US" sz="1600" dirty="0"/>
          </a:p>
        </p:txBody>
      </p:sp>
      <p:sp>
        <p:nvSpPr>
          <p:cNvPr id="5" name="Text 3"/>
          <p:cNvSpPr/>
          <p:nvPr/>
        </p:nvSpPr>
        <p:spPr>
          <a:xfrm>
            <a:off x="914400" y="1828800"/>
            <a:ext cx="10241280" cy="566928"/>
          </a:xfrm>
          <a:prstGeom prst="rect">
            <a:avLst/>
          </a:prstGeom>
          <a:noFill/>
          <a:ln/>
        </p:spPr>
        <p:txBody>
          <a:bodyPr wrap="square"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 scientist who studies the Everglades counted manatee numbers</a:t>
            </a:r>
            <a:endParaRPr lang="en-US" sz="1600" dirty="0"/>
          </a:p>
          <a:p>
            <a:pPr algn="ctr" indent="0" marL="0">
              <a:buNone/>
            </a:pPr>
            <a:r>
              <a:rPr lang="en-US" sz="1600" dirty="0">
                <a:solidFill>
                  <a:srgbClr val="FFFFFF"/>
                </a:solidFill>
                <a:latin typeface="Calibri" pitchFamily="34" charset="0"/>
                <a:ea typeface="Calibri" pitchFamily="34" charset="-122"/>
                <a:cs typeface="Calibri" pitchFamily="34" charset="-120"/>
              </a:rPr>
              <a:t>every year for</a:t>
            </a:r>
            <a:endParaRPr lang="en-US" sz="1600" dirty="0"/>
          </a:p>
        </p:txBody>
      </p:sp>
      <p:sp>
        <p:nvSpPr>
          <p:cNvPr id="6" name="Text 4"/>
          <p:cNvSpPr/>
          <p:nvPr/>
        </p:nvSpPr>
        <p:spPr>
          <a:xfrm>
            <a:off x="914400" y="2450592"/>
            <a:ext cx="10241280" cy="566928"/>
          </a:xfrm>
          <a:prstGeom prst="rect">
            <a:avLst/>
          </a:prstGeom>
          <a:noFill/>
          <a:ln/>
        </p:spPr>
        <p:txBody>
          <a:bodyPr wrap="square" rtlCol="0" anchor="ctr"/>
          <a:lstStyle/>
          <a:p>
            <a:pPr algn="ctr" indent="0" marL="0">
              <a:buNone/>
            </a:pPr>
            <a:r>
              <a:rPr lang="en-US" sz="3800" b="1" dirty="0">
                <a:solidFill>
                  <a:srgbClr val="4CC9F0"/>
                </a:solidFill>
                <a:latin typeface="Calibri" pitchFamily="34" charset="0"/>
                <a:ea typeface="Calibri" pitchFamily="34" charset="-122"/>
                <a:cs typeface="Calibri" pitchFamily="34" charset="-120"/>
              </a:rPr>
              <a:t>30 YEARS IN A ROW</a:t>
            </a:r>
            <a:endParaRPr lang="en-US" sz="3800" dirty="0"/>
          </a:p>
        </p:txBody>
      </p:sp>
      <p:sp>
        <p:nvSpPr>
          <p:cNvPr id="7" name="Text 5"/>
          <p:cNvSpPr/>
          <p:nvPr/>
        </p:nvSpPr>
        <p:spPr>
          <a:xfrm>
            <a:off x="914400" y="3063240"/>
            <a:ext cx="10241280" cy="438912"/>
          </a:xfrm>
          <a:prstGeom prst="rect">
            <a:avLst/>
          </a:prstGeom>
          <a:noFill/>
          <a:ln/>
        </p:spPr>
        <p:txBody>
          <a:bodyPr wrap="square" rtlCol="0" anchor="ctr"/>
          <a:lstStyle/>
          <a:p>
            <a:pPr algn="ctr" indent="0" marL="0">
              <a:buNone/>
            </a:pPr>
            <a:r>
              <a:rPr lang="en-US" sz="1300" dirty="0">
                <a:solidFill>
                  <a:srgbClr val="B0C4D8"/>
                </a:solidFill>
                <a:latin typeface="Calibri" pitchFamily="34" charset="0"/>
                <a:ea typeface="Calibri" pitchFamily="34" charset="-122"/>
                <a:cs typeface="Calibri" pitchFamily="34" charset="-120"/>
              </a:rPr>
              <a:t>That's how we KNOW the recovery is real. Long, steady data tells a real change from a guess.</a:t>
            </a:r>
            <a:endParaRPr lang="en-US" sz="1300" dirty="0"/>
          </a:p>
        </p:txBody>
      </p:sp>
      <p:sp>
        <p:nvSpPr>
          <p:cNvPr id="8" name="Shape 6"/>
          <p:cNvSpPr/>
          <p:nvPr/>
        </p:nvSpPr>
        <p:spPr>
          <a:xfrm>
            <a:off x="365760" y="3913632"/>
            <a:ext cx="11521440" cy="2331720"/>
          </a:xfrm>
          <a:prstGeom prst="roundRect">
            <a:avLst>
              <a:gd name="adj" fmla="val 3137"/>
            </a:avLst>
          </a:prstGeom>
          <a:solidFill>
            <a:srgbClr val="1E2F45"/>
          </a:solidFill>
          <a:ln w="12700">
            <a:solidFill>
              <a:srgbClr val="2DC653"/>
            </a:solidFill>
            <a:prstDash val="solid"/>
          </a:ln>
        </p:spPr>
      </p:sp>
      <p:sp>
        <p:nvSpPr>
          <p:cNvPr id="9" name="Text 7"/>
          <p:cNvSpPr/>
          <p:nvPr/>
        </p:nvSpPr>
        <p:spPr>
          <a:xfrm>
            <a:off x="548640" y="4005072"/>
            <a:ext cx="11155680" cy="347472"/>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 Citizen Science — YOU Can Help:</a:t>
            </a:r>
            <a:endParaRPr lang="en-US" sz="1300" dirty="0"/>
          </a:p>
        </p:txBody>
      </p:sp>
      <p:sp>
        <p:nvSpPr>
          <p:cNvPr id="10" name="Text 8"/>
          <p:cNvSpPr/>
          <p:nvPr/>
        </p:nvSpPr>
        <p:spPr>
          <a:xfrm>
            <a:off x="548640" y="4389120"/>
            <a:ext cx="11155680" cy="1664208"/>
          </a:xfrm>
          <a:prstGeom prst="rect">
            <a:avLst/>
          </a:prstGeom>
          <a:noFill/>
          <a:ln/>
        </p:spPr>
        <p:txBody>
          <a:bodyPr wrap="square" rtlCol="0" anchor="ctr"/>
          <a:lstStyle/>
          <a:p>
            <a:pPr indent="0" marL="0">
              <a:buNone/>
            </a:pPr>
            <a:r>
              <a:rPr lang="en-US" sz="1250" dirty="0">
                <a:solidFill>
                  <a:srgbClr val="B0C4D8"/>
                </a:solidFill>
                <a:latin typeface="Calibri" pitchFamily="34" charset="0"/>
                <a:ea typeface="Calibri" pitchFamily="34" charset="-122"/>
                <a:cs typeface="Calibri" pitchFamily="34" charset="-120"/>
              </a:rPr>
              <a:t>Every spring, Florida volunteers run the Great Backyard Bird Count — anyone can join! Numbers go into a giant database that tracks Florida bird populations year after year. You can be part of the data that helps scientists make decisions about Florida's ecosystems.</a:t>
            </a:r>
            <a:endParaRPr lang="en-US" sz="1250" dirty="0"/>
          </a:p>
        </p:txBody>
      </p:sp>
      <p:sp>
        <p:nvSpPr>
          <p:cNvPr id="11" name="Shape 9"/>
          <p:cNvSpPr/>
          <p:nvPr/>
        </p:nvSpPr>
        <p:spPr>
          <a:xfrm>
            <a:off x="0" y="6629400"/>
            <a:ext cx="12192000" cy="228600"/>
          </a:xfrm>
          <a:prstGeom prst="rect">
            <a:avLst/>
          </a:prstGeom>
          <a:solidFill>
            <a:srgbClr val="162233"/>
          </a:solidFill>
          <a:ln/>
        </p:spPr>
      </p:sp>
      <p:sp>
        <p:nvSpPr>
          <p:cNvPr id="12" name="Text 1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10.02  ·  Ecosystem Balance</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1A5FBD"/>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1A5FBD"/>
                </a:solidFill>
                <a:latin typeface="Calibri" pitchFamily="34" charset="0"/>
                <a:ea typeface="Calibri" pitchFamily="34" charset="-122"/>
                <a:cs typeface="Calibri" pitchFamily="34" charset="-120"/>
              </a:rPr>
              <a:t>✍️  CER Practice: Reading Data as Evidence</a:t>
            </a:r>
            <a:endParaRPr lang="en-US" sz="1600" dirty="0"/>
          </a:p>
        </p:txBody>
      </p:sp>
      <p:sp>
        <p:nvSpPr>
          <p:cNvPr id="5" name="Shape 3"/>
          <p:cNvSpPr/>
          <p:nvPr/>
        </p:nvSpPr>
        <p:spPr>
          <a:xfrm>
            <a:off x="365760" y="713232"/>
            <a:ext cx="11521440" cy="804672"/>
          </a:xfrm>
          <a:prstGeom prst="roundRect">
            <a:avLst>
              <a:gd name="adj" fmla="val 9091"/>
            </a:avLst>
          </a:prstGeom>
          <a:solidFill>
            <a:srgbClr val="1E2F45"/>
          </a:solidFill>
          <a:ln w="12700">
            <a:solidFill>
              <a:srgbClr val="1A5FBD"/>
            </a:solidFill>
            <a:prstDash val="solid"/>
          </a:ln>
        </p:spPr>
      </p:sp>
      <p:sp>
        <p:nvSpPr>
          <p:cNvPr id="6" name="Text 4"/>
          <p:cNvSpPr/>
          <p:nvPr/>
        </p:nvSpPr>
        <p:spPr>
          <a:xfrm>
            <a:off x="548640" y="768096"/>
            <a:ext cx="11155680" cy="65836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Question: The Florida manatee population grew from about 1,200 in 1991 to over 7,500 today. What does this data best support? Use the data as evidence.</a:t>
            </a:r>
            <a:endParaRPr lang="en-US" sz="1300" dirty="0"/>
          </a:p>
        </p:txBody>
      </p:sp>
      <p:sp>
        <p:nvSpPr>
          <p:cNvPr id="7" name="Shape 5"/>
          <p:cNvSpPr/>
          <p:nvPr/>
        </p:nvSpPr>
        <p:spPr>
          <a:xfrm>
            <a:off x="365760" y="1664208"/>
            <a:ext cx="3611880" cy="3886200"/>
          </a:xfrm>
          <a:prstGeom prst="roundRect">
            <a:avLst>
              <a:gd name="adj" fmla="val 2532"/>
            </a:avLst>
          </a:prstGeom>
          <a:solidFill>
            <a:srgbClr val="0A3D8F"/>
          </a:solidFill>
          <a:ln w="19050">
            <a:solidFill>
              <a:srgbClr val="1A5FBD"/>
            </a:solidFill>
            <a:prstDash val="solid"/>
          </a:ln>
        </p:spPr>
      </p:sp>
      <p:sp>
        <p:nvSpPr>
          <p:cNvPr id="8" name="Shape 6"/>
          <p:cNvSpPr/>
          <p:nvPr/>
        </p:nvSpPr>
        <p:spPr>
          <a:xfrm>
            <a:off x="365760" y="1664208"/>
            <a:ext cx="3611880" cy="347472"/>
          </a:xfrm>
          <a:prstGeom prst="rect">
            <a:avLst/>
          </a:prstGeom>
          <a:solidFill>
            <a:srgbClr val="1A5FBD"/>
          </a:solidFill>
          <a:ln w="12700">
            <a:solidFill>
              <a:srgbClr val="1A5FBD"/>
            </a:solidFill>
            <a:prstDash val="solid"/>
          </a:ln>
        </p:spPr>
      </p:sp>
      <p:sp>
        <p:nvSpPr>
          <p:cNvPr id="9" name="Text 7"/>
          <p:cNvSpPr/>
          <p:nvPr/>
        </p:nvSpPr>
        <p:spPr>
          <a:xfrm>
            <a:off x="457200" y="1682496"/>
            <a:ext cx="342900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CLAIM</a:t>
            </a:r>
            <a:endParaRPr lang="en-US" sz="1200" dirty="0"/>
          </a:p>
        </p:txBody>
      </p:sp>
      <p:sp>
        <p:nvSpPr>
          <p:cNvPr id="10" name="Text 8"/>
          <p:cNvSpPr/>
          <p:nvPr/>
        </p:nvSpPr>
        <p:spPr>
          <a:xfrm>
            <a:off x="502920" y="2066544"/>
            <a:ext cx="3337560" cy="3392424"/>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Sentence starter:</a:t>
            </a:r>
            <a:endParaRPr lang="en-US" sz="1200" dirty="0"/>
          </a:p>
          <a:p>
            <a:pPr algn="l" indent="0" marL="0">
              <a:buNone/>
            </a:pPr>
            <a:r>
              <a:rPr lang="en-US" sz="1200" i="1" dirty="0">
                <a:solidFill>
                  <a:srgbClr val="FFFFFF"/>
                </a:solidFill>
                <a:latin typeface="Calibri" pitchFamily="34" charset="0"/>
                <a:ea typeface="Calibri" pitchFamily="34" charset="-122"/>
                <a:cs typeface="Calibri" pitchFamily="34" charset="-120"/>
              </a:rPr>
              <a:t>"The data shows that conservation efforts _______ the manatee population because _______."</a:t>
            </a:r>
            <a:endParaRPr lang="en-US" sz="1200" dirty="0"/>
          </a:p>
        </p:txBody>
      </p:sp>
      <p:sp>
        <p:nvSpPr>
          <p:cNvPr id="11" name="Shape 9"/>
          <p:cNvSpPr/>
          <p:nvPr/>
        </p:nvSpPr>
        <p:spPr>
          <a:xfrm>
            <a:off x="4114800" y="1664208"/>
            <a:ext cx="3611880" cy="3886200"/>
          </a:xfrm>
          <a:prstGeom prst="roundRect">
            <a:avLst>
              <a:gd name="adj" fmla="val 2532"/>
            </a:avLst>
          </a:prstGeom>
          <a:solidFill>
            <a:srgbClr val="145C35"/>
          </a:solidFill>
          <a:ln w="19050">
            <a:solidFill>
              <a:srgbClr val="228B50"/>
            </a:solidFill>
            <a:prstDash val="solid"/>
          </a:ln>
        </p:spPr>
      </p:sp>
      <p:sp>
        <p:nvSpPr>
          <p:cNvPr id="12" name="Shape 10"/>
          <p:cNvSpPr/>
          <p:nvPr/>
        </p:nvSpPr>
        <p:spPr>
          <a:xfrm>
            <a:off x="4114800" y="1664208"/>
            <a:ext cx="3611880" cy="347472"/>
          </a:xfrm>
          <a:prstGeom prst="rect">
            <a:avLst/>
          </a:prstGeom>
          <a:solidFill>
            <a:srgbClr val="228B50"/>
          </a:solidFill>
          <a:ln w="12700">
            <a:solidFill>
              <a:srgbClr val="228B50"/>
            </a:solidFill>
            <a:prstDash val="solid"/>
          </a:ln>
        </p:spPr>
      </p:sp>
      <p:sp>
        <p:nvSpPr>
          <p:cNvPr id="13" name="Text 11"/>
          <p:cNvSpPr/>
          <p:nvPr/>
        </p:nvSpPr>
        <p:spPr>
          <a:xfrm>
            <a:off x="4206240" y="1682496"/>
            <a:ext cx="342900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EVIDENCE</a:t>
            </a:r>
            <a:endParaRPr lang="en-US" sz="1200" dirty="0"/>
          </a:p>
        </p:txBody>
      </p:sp>
      <p:sp>
        <p:nvSpPr>
          <p:cNvPr id="14" name="Text 12"/>
          <p:cNvSpPr/>
          <p:nvPr/>
        </p:nvSpPr>
        <p:spPr>
          <a:xfrm>
            <a:off x="4251960" y="2066544"/>
            <a:ext cx="3337560" cy="3392424"/>
          </a:xfrm>
          <a:prstGeom prst="rect">
            <a:avLst/>
          </a:prstGeom>
          <a:noFill/>
          <a:ln/>
        </p:spPr>
        <p:txBody>
          <a:bodyPr wrap="square" rtlCol="0" anchor="t"/>
          <a:lstStyle/>
          <a:p>
            <a:pPr algn="l" indent="0" marL="0">
              <a:buNone/>
            </a:pPr>
            <a:r>
              <a:rPr lang="en-US" sz="1100" dirty="0">
                <a:solidFill>
                  <a:srgbClr val="FFFFFF"/>
                </a:solidFill>
                <a:latin typeface="Calibri" pitchFamily="34" charset="0"/>
                <a:ea typeface="Calibri" pitchFamily="34" charset="-122"/>
                <a:cs typeface="Calibri" pitchFamily="34" charset="-120"/>
              </a:rPr>
              <a:t>Use these numbers:</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1991: ~1,200 manatees</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Today: ~7,500 manatees</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That's a 6x increase over 30 years</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Conservation laws passed in 1991</a:t>
            </a:r>
            <a:endParaRPr lang="en-US" sz="1100" dirty="0"/>
          </a:p>
          <a:p>
            <a:pPr algn="l" indent="0" marL="0">
              <a:buNone/>
            </a:pP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Which numbers support your claim?</a:t>
            </a:r>
            <a:endParaRPr lang="en-US" sz="1100" dirty="0"/>
          </a:p>
        </p:txBody>
      </p:sp>
      <p:sp>
        <p:nvSpPr>
          <p:cNvPr id="15" name="Shape 13"/>
          <p:cNvSpPr/>
          <p:nvPr/>
        </p:nvSpPr>
        <p:spPr>
          <a:xfrm>
            <a:off x="7863840" y="1664208"/>
            <a:ext cx="4206240" cy="3886200"/>
          </a:xfrm>
          <a:prstGeom prst="roundRect">
            <a:avLst>
              <a:gd name="adj" fmla="val 2353"/>
            </a:avLst>
          </a:prstGeom>
          <a:solidFill>
            <a:srgbClr val="7A3200"/>
          </a:solidFill>
          <a:ln w="19050">
            <a:solidFill>
              <a:srgbClr val="B04A00"/>
            </a:solidFill>
            <a:prstDash val="solid"/>
          </a:ln>
        </p:spPr>
      </p:sp>
      <p:sp>
        <p:nvSpPr>
          <p:cNvPr id="16" name="Shape 14"/>
          <p:cNvSpPr/>
          <p:nvPr/>
        </p:nvSpPr>
        <p:spPr>
          <a:xfrm>
            <a:off x="7863840" y="1664208"/>
            <a:ext cx="4206240" cy="347472"/>
          </a:xfrm>
          <a:prstGeom prst="rect">
            <a:avLst/>
          </a:prstGeom>
          <a:solidFill>
            <a:srgbClr val="B04A00"/>
          </a:solidFill>
          <a:ln w="12700">
            <a:solidFill>
              <a:srgbClr val="B04A00"/>
            </a:solidFill>
            <a:prstDash val="solid"/>
          </a:ln>
        </p:spPr>
      </p:sp>
      <p:sp>
        <p:nvSpPr>
          <p:cNvPr id="17" name="Text 15"/>
          <p:cNvSpPr/>
          <p:nvPr/>
        </p:nvSpPr>
        <p:spPr>
          <a:xfrm>
            <a:off x="7955280" y="1682496"/>
            <a:ext cx="402336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REASONING</a:t>
            </a:r>
            <a:endParaRPr lang="en-US" sz="1200" dirty="0"/>
          </a:p>
        </p:txBody>
      </p:sp>
      <p:sp>
        <p:nvSpPr>
          <p:cNvPr id="18" name="Text 16"/>
          <p:cNvSpPr/>
          <p:nvPr/>
        </p:nvSpPr>
        <p:spPr>
          <a:xfrm>
            <a:off x="8001000" y="2066544"/>
            <a:ext cx="3931920" cy="3392424"/>
          </a:xfrm>
          <a:prstGeom prst="rect">
            <a:avLst/>
          </a:prstGeom>
          <a:noFill/>
          <a:ln/>
        </p:spPr>
        <p:txBody>
          <a:bodyPr wrap="square" rtlCol="0" anchor="t"/>
          <a:lstStyle/>
          <a:p>
            <a:pPr algn="l" indent="0" marL="0">
              <a:buNone/>
            </a:pPr>
            <a:r>
              <a:rPr lang="en-US" sz="1100" i="1" dirty="0">
                <a:solidFill>
                  <a:srgbClr val="FFFFFF"/>
                </a:solidFill>
                <a:latin typeface="Calibri" pitchFamily="34" charset="0"/>
                <a:ea typeface="Calibri" pitchFamily="34" charset="-122"/>
                <a:cs typeface="Calibri" pitchFamily="34" charset="-120"/>
              </a:rPr>
              <a:t>Connect the dots:</a:t>
            </a:r>
            <a:endParaRPr lang="en-US" sz="1100" dirty="0"/>
          </a:p>
          <a:p>
            <a:pPr algn="l" indent="0" marL="0">
              <a:buNone/>
            </a:pPr>
            <a:r>
              <a:rPr lang="en-US" sz="1100" i="1" dirty="0">
                <a:solidFill>
                  <a:srgbClr val="FFFFFF"/>
                </a:solidFill>
                <a:latin typeface="Calibri" pitchFamily="34" charset="0"/>
                <a:ea typeface="Calibri" pitchFamily="34" charset="-122"/>
                <a:cs typeface="Calibri" pitchFamily="34" charset="-120"/>
              </a:rPr>
              <a:t>"This shows that conservation helped because the timing of the _______ matches the start of the _______. Over 30 years, _______."</a:t>
            </a:r>
            <a:endParaRPr lang="en-US" sz="1100" dirty="0"/>
          </a:p>
        </p:txBody>
      </p:sp>
      <p:sp>
        <p:nvSpPr>
          <p:cNvPr id="19" name="Shape 17"/>
          <p:cNvSpPr/>
          <p:nvPr/>
        </p:nvSpPr>
        <p:spPr>
          <a:xfrm>
            <a:off x="365760" y="5687568"/>
            <a:ext cx="11521440" cy="804672"/>
          </a:xfrm>
          <a:prstGeom prst="roundRect">
            <a:avLst>
              <a:gd name="adj" fmla="val 9091"/>
            </a:avLst>
          </a:prstGeom>
          <a:solidFill>
            <a:srgbClr val="1A1A0A"/>
          </a:solidFill>
          <a:ln w="12700">
            <a:solidFill>
              <a:srgbClr val="FFB703"/>
            </a:solidFill>
            <a:prstDash val="solid"/>
          </a:ln>
        </p:spPr>
      </p:sp>
      <p:sp>
        <p:nvSpPr>
          <p:cNvPr id="20" name="Text 18"/>
          <p:cNvSpPr/>
          <p:nvPr/>
        </p:nvSpPr>
        <p:spPr>
          <a:xfrm>
            <a:off x="548640" y="5779008"/>
            <a:ext cx="11155680" cy="621792"/>
          </a:xfrm>
          <a:prstGeom prst="rect">
            <a:avLst/>
          </a:prstGeom>
          <a:noFill/>
          <a:ln/>
        </p:spPr>
        <p:txBody>
          <a:bodyPr wrap="square" rtlCol="0" anchor="ctr"/>
          <a:lstStyle/>
          <a:p>
            <a:pPr indent="0" marL="0">
              <a:buNone/>
            </a:pPr>
            <a:r>
              <a:rPr lang="en-US" sz="1200" i="1" dirty="0">
                <a:solidFill>
                  <a:srgbClr val="FFB703"/>
                </a:solidFill>
                <a:latin typeface="Calibri" pitchFamily="34" charset="0"/>
                <a:ea typeface="Calibri" pitchFamily="34" charset="-122"/>
                <a:cs typeface="Calibri" pitchFamily="34" charset="-120"/>
              </a:rPr>
              <a:t>👀 Teacher models first using the data. Students write their own CER with actual numbers.</a:t>
            </a:r>
            <a:endParaRPr lang="en-US" sz="1200" dirty="0"/>
          </a:p>
        </p:txBody>
      </p:sp>
      <p:sp>
        <p:nvSpPr>
          <p:cNvPr id="21" name="Shape 19"/>
          <p:cNvSpPr/>
          <p:nvPr/>
        </p:nvSpPr>
        <p:spPr>
          <a:xfrm>
            <a:off x="0" y="6629400"/>
            <a:ext cx="12192000" cy="228600"/>
          </a:xfrm>
          <a:prstGeom prst="rect">
            <a:avLst/>
          </a:prstGeom>
          <a:solidFill>
            <a:srgbClr val="162233"/>
          </a:solidFill>
          <a:ln/>
        </p:spPr>
      </p:sp>
      <p:sp>
        <p:nvSpPr>
          <p:cNvPr id="22" name="Text 2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10.02  ·  Ecosystem Balance</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1A5FBD"/>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1A5FBD"/>
                </a:solidFill>
                <a:latin typeface="Calibri" pitchFamily="34" charset="0"/>
                <a:ea typeface="Calibri" pitchFamily="34" charset="-122"/>
                <a:cs typeface="Calibri" pitchFamily="34" charset="-120"/>
              </a:rPr>
              <a:t>✍️  CER Practice: Your Turn</a:t>
            </a:r>
            <a:endParaRPr lang="en-US" sz="1600" dirty="0"/>
          </a:p>
        </p:txBody>
      </p:sp>
      <p:sp>
        <p:nvSpPr>
          <p:cNvPr id="5" name="Shape 3"/>
          <p:cNvSpPr/>
          <p:nvPr/>
        </p:nvSpPr>
        <p:spPr>
          <a:xfrm>
            <a:off x="365760" y="713232"/>
            <a:ext cx="11521440" cy="658368"/>
          </a:xfrm>
          <a:prstGeom prst="roundRect">
            <a:avLst>
              <a:gd name="adj" fmla="val 11111"/>
            </a:avLst>
          </a:prstGeom>
          <a:solidFill>
            <a:srgbClr val="1E2F45"/>
          </a:solidFill>
          <a:ln w="12700">
            <a:solidFill>
              <a:srgbClr val="4CC9F0"/>
            </a:solidFill>
            <a:prstDash val="solid"/>
          </a:ln>
        </p:spPr>
      </p:sp>
      <p:sp>
        <p:nvSpPr>
          <p:cNvPr id="6" name="Text 4"/>
          <p:cNvSpPr/>
          <p:nvPr/>
        </p:nvSpPr>
        <p:spPr>
          <a:xfrm>
            <a:off x="548640" y="768096"/>
            <a:ext cx="11155680" cy="5029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New question: 'Invasive species like Burmese pythons are no big deal — Florida has plenty of native animals.' Do you agree or disagree? Use at least 2 pieces of evidence.</a:t>
            </a:r>
            <a:endParaRPr lang="en-US" sz="1200" dirty="0"/>
          </a:p>
        </p:txBody>
      </p:sp>
      <p:sp>
        <p:nvSpPr>
          <p:cNvPr id="7" name="Shape 5"/>
          <p:cNvSpPr/>
          <p:nvPr/>
        </p:nvSpPr>
        <p:spPr>
          <a:xfrm>
            <a:off x="365760" y="1508760"/>
            <a:ext cx="3611880" cy="3337560"/>
          </a:xfrm>
          <a:prstGeom prst="roundRect">
            <a:avLst>
              <a:gd name="adj" fmla="val 2740"/>
            </a:avLst>
          </a:prstGeom>
          <a:solidFill>
            <a:srgbClr val="0A3D8F"/>
          </a:solidFill>
          <a:ln w="19050">
            <a:solidFill>
              <a:srgbClr val="1A5FBD"/>
            </a:solidFill>
            <a:prstDash val="solid"/>
          </a:ln>
        </p:spPr>
      </p:sp>
      <p:sp>
        <p:nvSpPr>
          <p:cNvPr id="8" name="Shape 6"/>
          <p:cNvSpPr/>
          <p:nvPr/>
        </p:nvSpPr>
        <p:spPr>
          <a:xfrm>
            <a:off x="365760" y="1508760"/>
            <a:ext cx="3611880" cy="347472"/>
          </a:xfrm>
          <a:prstGeom prst="rect">
            <a:avLst/>
          </a:prstGeom>
          <a:solidFill>
            <a:srgbClr val="1A5FBD"/>
          </a:solidFill>
          <a:ln w="12700">
            <a:solidFill>
              <a:srgbClr val="1A5FBD"/>
            </a:solidFill>
            <a:prstDash val="solid"/>
          </a:ln>
        </p:spPr>
      </p:sp>
      <p:sp>
        <p:nvSpPr>
          <p:cNvPr id="9" name="Text 7"/>
          <p:cNvSpPr/>
          <p:nvPr/>
        </p:nvSpPr>
        <p:spPr>
          <a:xfrm>
            <a:off x="457200" y="1527048"/>
            <a:ext cx="342900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CLAIM</a:t>
            </a:r>
            <a:endParaRPr lang="en-US" sz="1200" dirty="0"/>
          </a:p>
        </p:txBody>
      </p:sp>
      <p:sp>
        <p:nvSpPr>
          <p:cNvPr id="10" name="Text 8"/>
          <p:cNvSpPr/>
          <p:nvPr/>
        </p:nvSpPr>
        <p:spPr>
          <a:xfrm>
            <a:off x="502920" y="1911096"/>
            <a:ext cx="3337560" cy="2843784"/>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I disagree because invasive species like pythons _______ native animals by _______.</a:t>
            </a:r>
            <a:endParaRPr lang="en-US" sz="1200" dirty="0"/>
          </a:p>
        </p:txBody>
      </p:sp>
      <p:sp>
        <p:nvSpPr>
          <p:cNvPr id="11" name="Shape 9"/>
          <p:cNvSpPr/>
          <p:nvPr/>
        </p:nvSpPr>
        <p:spPr>
          <a:xfrm>
            <a:off x="4114800" y="1508760"/>
            <a:ext cx="3611880" cy="3337560"/>
          </a:xfrm>
          <a:prstGeom prst="roundRect">
            <a:avLst>
              <a:gd name="adj" fmla="val 2740"/>
            </a:avLst>
          </a:prstGeom>
          <a:solidFill>
            <a:srgbClr val="145C35"/>
          </a:solidFill>
          <a:ln w="19050">
            <a:solidFill>
              <a:srgbClr val="228B50"/>
            </a:solidFill>
            <a:prstDash val="solid"/>
          </a:ln>
        </p:spPr>
      </p:sp>
      <p:sp>
        <p:nvSpPr>
          <p:cNvPr id="12" name="Shape 10"/>
          <p:cNvSpPr/>
          <p:nvPr/>
        </p:nvSpPr>
        <p:spPr>
          <a:xfrm>
            <a:off x="4114800" y="1508760"/>
            <a:ext cx="3611880" cy="347472"/>
          </a:xfrm>
          <a:prstGeom prst="rect">
            <a:avLst/>
          </a:prstGeom>
          <a:solidFill>
            <a:srgbClr val="228B50"/>
          </a:solidFill>
          <a:ln w="12700">
            <a:solidFill>
              <a:srgbClr val="228B50"/>
            </a:solidFill>
            <a:prstDash val="solid"/>
          </a:ln>
        </p:spPr>
      </p:sp>
      <p:sp>
        <p:nvSpPr>
          <p:cNvPr id="13" name="Text 11"/>
          <p:cNvSpPr/>
          <p:nvPr/>
        </p:nvSpPr>
        <p:spPr>
          <a:xfrm>
            <a:off x="4206240" y="1527048"/>
            <a:ext cx="342900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EVIDENCE</a:t>
            </a:r>
            <a:endParaRPr lang="en-US" sz="1200" dirty="0"/>
          </a:p>
        </p:txBody>
      </p:sp>
      <p:sp>
        <p:nvSpPr>
          <p:cNvPr id="14" name="Text 12"/>
          <p:cNvSpPr/>
          <p:nvPr/>
        </p:nvSpPr>
        <p:spPr>
          <a:xfrm>
            <a:off x="4251960" y="1911096"/>
            <a:ext cx="3337560" cy="2843784"/>
          </a:xfrm>
          <a:prstGeom prst="rect">
            <a:avLst/>
          </a:prstGeom>
          <a:noFill/>
          <a:ln/>
        </p:spPr>
        <p:txBody>
          <a:bodyPr wrap="square" rtlCol="0" anchor="t"/>
          <a:lstStyle/>
          <a:p>
            <a:pPr algn="l" indent="0" marL="0">
              <a:buNone/>
            </a:pPr>
            <a:r>
              <a:rPr lang="en-US" sz="1100" dirty="0">
                <a:solidFill>
                  <a:srgbClr val="FFFFFF"/>
                </a:solidFill>
                <a:latin typeface="Calibri" pitchFamily="34" charset="0"/>
                <a:ea typeface="Calibri" pitchFamily="34" charset="-122"/>
                <a:cs typeface="Calibri" pitchFamily="34" charset="-120"/>
              </a:rPr>
              <a:t>Find 2 data points:</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1. _______________</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(Hint: python numbers OR impact on small mammals)</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2. _______________</a:t>
            </a:r>
            <a:endParaRPr lang="en-US" sz="1100" dirty="0"/>
          </a:p>
        </p:txBody>
      </p:sp>
      <p:sp>
        <p:nvSpPr>
          <p:cNvPr id="15" name="Shape 13"/>
          <p:cNvSpPr/>
          <p:nvPr/>
        </p:nvSpPr>
        <p:spPr>
          <a:xfrm>
            <a:off x="7863840" y="1508760"/>
            <a:ext cx="4206240" cy="3337560"/>
          </a:xfrm>
          <a:prstGeom prst="roundRect">
            <a:avLst>
              <a:gd name="adj" fmla="val 2740"/>
            </a:avLst>
          </a:prstGeom>
          <a:solidFill>
            <a:srgbClr val="7A3200"/>
          </a:solidFill>
          <a:ln w="19050">
            <a:solidFill>
              <a:srgbClr val="B04A00"/>
            </a:solidFill>
            <a:prstDash val="solid"/>
          </a:ln>
        </p:spPr>
      </p:sp>
      <p:sp>
        <p:nvSpPr>
          <p:cNvPr id="16" name="Shape 14"/>
          <p:cNvSpPr/>
          <p:nvPr/>
        </p:nvSpPr>
        <p:spPr>
          <a:xfrm>
            <a:off x="7863840" y="1508760"/>
            <a:ext cx="4206240" cy="347472"/>
          </a:xfrm>
          <a:prstGeom prst="rect">
            <a:avLst/>
          </a:prstGeom>
          <a:solidFill>
            <a:srgbClr val="B04A00"/>
          </a:solidFill>
          <a:ln w="12700">
            <a:solidFill>
              <a:srgbClr val="B04A00"/>
            </a:solidFill>
            <a:prstDash val="solid"/>
          </a:ln>
        </p:spPr>
      </p:sp>
      <p:sp>
        <p:nvSpPr>
          <p:cNvPr id="17" name="Text 15"/>
          <p:cNvSpPr/>
          <p:nvPr/>
        </p:nvSpPr>
        <p:spPr>
          <a:xfrm>
            <a:off x="7955280" y="1527048"/>
            <a:ext cx="402336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REASONING</a:t>
            </a:r>
            <a:endParaRPr lang="en-US" sz="1200" dirty="0"/>
          </a:p>
        </p:txBody>
      </p:sp>
      <p:sp>
        <p:nvSpPr>
          <p:cNvPr id="18" name="Text 16"/>
          <p:cNvSpPr/>
          <p:nvPr/>
        </p:nvSpPr>
        <p:spPr>
          <a:xfrm>
            <a:off x="8001000" y="1911096"/>
            <a:ext cx="3931920" cy="2843784"/>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"This shows that invasive species ARE a big deal because _______, which means the ecosystem is _______."</a:t>
            </a:r>
            <a:endParaRPr lang="en-US" sz="1200" dirty="0"/>
          </a:p>
        </p:txBody>
      </p:sp>
      <p:sp>
        <p:nvSpPr>
          <p:cNvPr id="19" name="Shape 17"/>
          <p:cNvSpPr/>
          <p:nvPr/>
        </p:nvSpPr>
        <p:spPr>
          <a:xfrm>
            <a:off x="365760" y="4983480"/>
            <a:ext cx="11521440" cy="1115568"/>
          </a:xfrm>
          <a:prstGeom prst="roundRect">
            <a:avLst>
              <a:gd name="adj" fmla="val 6557"/>
            </a:avLst>
          </a:prstGeom>
          <a:solidFill>
            <a:srgbClr val="1E2F45"/>
          </a:solidFill>
          <a:ln w="12700">
            <a:solidFill>
              <a:srgbClr val="243A52"/>
            </a:solidFill>
            <a:prstDash val="solid"/>
          </a:ln>
        </p:spPr>
      </p:sp>
      <p:sp>
        <p:nvSpPr>
          <p:cNvPr id="20" name="Text 18"/>
          <p:cNvSpPr/>
          <p:nvPr/>
        </p:nvSpPr>
        <p:spPr>
          <a:xfrm>
            <a:off x="548640" y="5047488"/>
            <a:ext cx="11155680" cy="310896"/>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Sentence starters if stuck:</a:t>
            </a:r>
            <a:endParaRPr lang="en-US" sz="1200" dirty="0"/>
          </a:p>
        </p:txBody>
      </p:sp>
      <p:sp>
        <p:nvSpPr>
          <p:cNvPr id="21" name="Text 19"/>
          <p:cNvSpPr/>
          <p:nvPr/>
        </p:nvSpPr>
        <p:spPr>
          <a:xfrm>
            <a:off x="548640" y="5394960"/>
            <a:ext cx="11155680" cy="566928"/>
          </a:xfrm>
          <a:prstGeom prst="rect">
            <a:avLst/>
          </a:prstGeom>
          <a:noFill/>
          <a:ln/>
        </p:spPr>
        <p:txBody>
          <a:bodyPr wrap="square" rtlCol="0" anchor="ctr"/>
          <a:lstStyle/>
          <a:p>
            <a:pPr indent="0" marL="0">
              <a:buNone/>
            </a:pPr>
            <a:r>
              <a:rPr lang="en-US" sz="1100" i="1" dirty="0">
                <a:solidFill>
                  <a:srgbClr val="B0C4D8"/>
                </a:solidFill>
                <a:latin typeface="Calibri" pitchFamily="34" charset="0"/>
                <a:ea typeface="Calibri" pitchFamily="34" charset="-122"/>
                <a:cs typeface="Calibri" pitchFamily="34" charset="-120"/>
              </a:rPr>
              <a:t>Claim: "I disagree because pythons have NO natural predators in Florida, which means _____."   Evidence: "Today's data showed that Burmese pythons went from 0 in 1979 to _____ today."</a:t>
            </a:r>
            <a:endParaRPr lang="en-US" sz="1100" dirty="0"/>
          </a:p>
        </p:txBody>
      </p:sp>
      <p:sp>
        <p:nvSpPr>
          <p:cNvPr id="22" name="Shape 20"/>
          <p:cNvSpPr/>
          <p:nvPr/>
        </p:nvSpPr>
        <p:spPr>
          <a:xfrm>
            <a:off x="0" y="6629400"/>
            <a:ext cx="12192000" cy="228600"/>
          </a:xfrm>
          <a:prstGeom prst="rect">
            <a:avLst/>
          </a:prstGeom>
          <a:solidFill>
            <a:srgbClr val="162233"/>
          </a:solidFill>
          <a:ln/>
        </p:spPr>
      </p:sp>
      <p:sp>
        <p:nvSpPr>
          <p:cNvPr id="23" name="Text 21"/>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10.02  ·  Ecosystem Balance</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411480"/>
            <a:ext cx="11521440" cy="3063240"/>
          </a:xfrm>
          <a:prstGeom prst="roundRect">
            <a:avLst>
              <a:gd name="adj" fmla="val 2388"/>
            </a:avLst>
          </a:prstGeom>
          <a:solidFill>
            <a:srgbClr val="0A1520"/>
          </a:solidFill>
          <a:ln w="12700">
            <a:solidFill>
              <a:srgbClr val="F4736A"/>
            </a:solidFill>
            <a:prstDash val="solid"/>
          </a:ln>
        </p:spPr>
      </p:sp>
      <p:sp>
        <p:nvSpPr>
          <p:cNvPr id="3" name="Text 1"/>
          <p:cNvSpPr/>
          <p:nvPr/>
        </p:nvSpPr>
        <p:spPr>
          <a:xfrm>
            <a:off x="365760" y="566928"/>
            <a:ext cx="11521440" cy="658368"/>
          </a:xfrm>
          <a:prstGeom prst="rect">
            <a:avLst/>
          </a:prstGeom>
          <a:noFill/>
          <a:ln/>
        </p:spPr>
        <p:txBody>
          <a:bodyPr wrap="square" rtlCol="0" anchor="ctr"/>
          <a:lstStyle/>
          <a:p>
            <a:pPr algn="ctr" indent="0" marL="0">
              <a:buNone/>
            </a:pPr>
            <a:r>
              <a:rPr lang="en-US" sz="4000" dirty="0">
                <a:solidFill>
                  <a:srgbClr val="000000"/>
                </a:solidFill>
              </a:rPr>
              <a:t>🤯</a:t>
            </a:r>
            <a:endParaRPr lang="en-US" sz="4000" dirty="0"/>
          </a:p>
        </p:txBody>
      </p:sp>
      <p:sp>
        <p:nvSpPr>
          <p:cNvPr id="4" name="Text 2"/>
          <p:cNvSpPr/>
          <p:nvPr/>
        </p:nvSpPr>
        <p:spPr>
          <a:xfrm>
            <a:off x="365760" y="1298448"/>
            <a:ext cx="11521440" cy="384048"/>
          </a:xfrm>
          <a:prstGeom prst="rect">
            <a:avLst/>
          </a:prstGeom>
          <a:noFill/>
          <a:ln/>
        </p:spPr>
        <p:txBody>
          <a:bodyPr wrap="square" rtlCol="0" anchor="ctr"/>
          <a:lstStyle/>
          <a:p>
            <a:pPr algn="ctr" indent="0" marL="0">
              <a:buNone/>
            </a:pPr>
            <a:r>
              <a:rPr lang="en-US" sz="1500" b="1" dirty="0">
                <a:solidFill>
                  <a:srgbClr val="F4736A"/>
                </a:solidFill>
                <a:latin typeface="Calibri" pitchFamily="34" charset="0"/>
                <a:ea typeface="Calibri" pitchFamily="34" charset="-122"/>
                <a:cs typeface="Calibri" pitchFamily="34" charset="-120"/>
              </a:rPr>
              <a:t>Mind-Blowing Fact #2 — The Everglades Is Half Gone</a:t>
            </a:r>
            <a:endParaRPr lang="en-US" sz="1500" dirty="0"/>
          </a:p>
        </p:txBody>
      </p:sp>
      <p:sp>
        <p:nvSpPr>
          <p:cNvPr id="5" name="Text 3"/>
          <p:cNvSpPr/>
          <p:nvPr/>
        </p:nvSpPr>
        <p:spPr>
          <a:xfrm>
            <a:off x="914400" y="1755648"/>
            <a:ext cx="10241280" cy="384048"/>
          </a:xfrm>
          <a:prstGeom prst="rect">
            <a:avLst/>
          </a:prstGeom>
          <a:noFill/>
          <a:ln/>
        </p:spPr>
        <p:txBody>
          <a:bodyPr wrap="square"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Florida has lost roughly HALF of its original wetlands over the past 100 years.</a:t>
            </a:r>
            <a:endParaRPr lang="en-US" sz="1500" dirty="0"/>
          </a:p>
        </p:txBody>
      </p:sp>
      <p:sp>
        <p:nvSpPr>
          <p:cNvPr id="6" name="Text 4"/>
          <p:cNvSpPr/>
          <p:nvPr/>
        </p:nvSpPr>
        <p:spPr>
          <a:xfrm>
            <a:off x="914400" y="2176272"/>
            <a:ext cx="10241280" cy="475488"/>
          </a:xfrm>
          <a:prstGeom prst="rect">
            <a:avLst/>
          </a:prstGeom>
          <a:noFill/>
          <a:ln/>
        </p:spPr>
        <p:txBody>
          <a:bodyPr wrap="square" rtlCol="0" anchor="ctr"/>
          <a:lstStyle/>
          <a:p>
            <a:pPr algn="ctr" indent="0" marL="0">
              <a:buNone/>
            </a:pPr>
            <a:r>
              <a:rPr lang="en-US" sz="2800" b="1" dirty="0">
                <a:solidFill>
                  <a:srgbClr val="F4736A"/>
                </a:solidFill>
                <a:latin typeface="Calibri" pitchFamily="34" charset="0"/>
                <a:ea typeface="Calibri" pitchFamily="34" charset="-122"/>
                <a:cs typeface="Calibri" pitchFamily="34" charset="-120"/>
              </a:rPr>
              <a:t>The Everglades alone is only about half its original size.</a:t>
            </a:r>
            <a:endParaRPr lang="en-US" sz="2800" dirty="0"/>
          </a:p>
        </p:txBody>
      </p:sp>
      <p:sp>
        <p:nvSpPr>
          <p:cNvPr id="7" name="Text 5"/>
          <p:cNvSpPr/>
          <p:nvPr/>
        </p:nvSpPr>
        <p:spPr>
          <a:xfrm>
            <a:off x="914400" y="2697480"/>
            <a:ext cx="10241280" cy="384048"/>
          </a:xfrm>
          <a:prstGeom prst="rect">
            <a:avLst/>
          </a:prstGeom>
          <a:noFill/>
          <a:ln/>
        </p:spPr>
        <p:txBody>
          <a:bodyPr wrap="square" rtlCol="0" anchor="ctr"/>
          <a:lstStyle/>
          <a:p>
            <a:pPr algn="ctr" indent="0" marL="0">
              <a:buNone/>
            </a:pPr>
            <a:r>
              <a:rPr lang="en-US" sz="1300" dirty="0">
                <a:solidFill>
                  <a:srgbClr val="B0C4D8"/>
                </a:solidFill>
                <a:latin typeface="Calibri" pitchFamily="34" charset="0"/>
                <a:ea typeface="Calibri" pitchFamily="34" charset="-122"/>
                <a:cs typeface="Calibri" pitchFamily="34" charset="-120"/>
              </a:rPr>
              <a:t>But an $11 billion conservation project is slowly bringing parts of it back.</a:t>
            </a:r>
            <a:endParaRPr lang="en-US" sz="1300" dirty="0"/>
          </a:p>
        </p:txBody>
      </p:sp>
      <p:sp>
        <p:nvSpPr>
          <p:cNvPr id="8" name="Shape 6"/>
          <p:cNvSpPr/>
          <p:nvPr/>
        </p:nvSpPr>
        <p:spPr>
          <a:xfrm>
            <a:off x="365760" y="3611880"/>
            <a:ext cx="11521440" cy="2633472"/>
          </a:xfrm>
          <a:prstGeom prst="roundRect">
            <a:avLst>
              <a:gd name="adj" fmla="val 2778"/>
            </a:avLst>
          </a:prstGeom>
          <a:solidFill>
            <a:srgbClr val="1E2F45"/>
          </a:solidFill>
          <a:ln w="12700">
            <a:solidFill>
              <a:srgbClr val="243A52"/>
            </a:solidFill>
            <a:prstDash val="solid"/>
          </a:ln>
        </p:spPr>
      </p:sp>
      <p:sp>
        <p:nvSpPr>
          <p:cNvPr id="9" name="Text 7"/>
          <p:cNvSpPr/>
          <p:nvPr/>
        </p:nvSpPr>
        <p:spPr>
          <a:xfrm>
            <a:off x="548640" y="3703320"/>
            <a:ext cx="11155680" cy="310896"/>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More Florida facts you can hold in your head:</a:t>
            </a:r>
            <a:endParaRPr lang="en-US" sz="1200" dirty="0"/>
          </a:p>
        </p:txBody>
      </p:sp>
      <p:sp>
        <p:nvSpPr>
          <p:cNvPr id="10" name="Text 8"/>
          <p:cNvSpPr/>
          <p:nvPr/>
        </p:nvSpPr>
        <p:spPr>
          <a:xfrm>
            <a:off x="548640" y="4059936"/>
            <a:ext cx="11155680" cy="384048"/>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Pythons: 0 in 1979 → ~100,000 today (invasive, no predators)</a:t>
            </a:r>
            <a:endParaRPr lang="en-US" sz="1200" dirty="0"/>
          </a:p>
        </p:txBody>
      </p:sp>
      <p:sp>
        <p:nvSpPr>
          <p:cNvPr id="11" name="Text 9"/>
          <p:cNvSpPr/>
          <p:nvPr/>
        </p:nvSpPr>
        <p:spPr>
          <a:xfrm>
            <a:off x="548640" y="4498848"/>
            <a:ext cx="11155680" cy="384048"/>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Manatees: 1,200 in 1991 → 7,500+ today (conservation worked!)</a:t>
            </a:r>
            <a:endParaRPr lang="en-US" sz="1200" dirty="0"/>
          </a:p>
        </p:txBody>
      </p:sp>
      <p:sp>
        <p:nvSpPr>
          <p:cNvPr id="12" name="Text 10"/>
          <p:cNvSpPr/>
          <p:nvPr/>
        </p:nvSpPr>
        <p:spPr>
          <a:xfrm>
            <a:off x="548640" y="4937760"/>
            <a:ext cx="11155680" cy="384048"/>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Everglades: 4M acres originally → 2M acres today (but recovering)</a:t>
            </a:r>
            <a:endParaRPr lang="en-US" sz="1200" dirty="0"/>
          </a:p>
        </p:txBody>
      </p:sp>
      <p:sp>
        <p:nvSpPr>
          <p:cNvPr id="13" name="Text 11"/>
          <p:cNvSpPr/>
          <p:nvPr/>
        </p:nvSpPr>
        <p:spPr>
          <a:xfrm>
            <a:off x="548640" y="5376672"/>
            <a:ext cx="11155680" cy="384048"/>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Florida panthers: ~20 in 1990s → 200+ today (another conservation success)</a:t>
            </a:r>
            <a:endParaRPr lang="en-US" sz="1200" dirty="0"/>
          </a:p>
        </p:txBody>
      </p:sp>
      <p:sp>
        <p:nvSpPr>
          <p:cNvPr id="14" name="Shape 12"/>
          <p:cNvSpPr/>
          <p:nvPr/>
        </p:nvSpPr>
        <p:spPr>
          <a:xfrm>
            <a:off x="0" y="6629400"/>
            <a:ext cx="12192000" cy="228600"/>
          </a:xfrm>
          <a:prstGeom prst="rect">
            <a:avLst/>
          </a:prstGeom>
          <a:solidFill>
            <a:srgbClr val="162233"/>
          </a:solidFill>
          <a:ln/>
        </p:spPr>
      </p:sp>
      <p:sp>
        <p:nvSpPr>
          <p:cNvPr id="15" name="Text 13"/>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10.02  ·  Ecosystem Balance</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  Quick Self-Check — Not Graded!</a:t>
            </a:r>
            <a:endParaRPr lang="en-US" sz="1600" dirty="0"/>
          </a:p>
        </p:txBody>
      </p:sp>
      <p:sp>
        <p:nvSpPr>
          <p:cNvPr id="5" name="Shape 3"/>
          <p:cNvSpPr/>
          <p:nvPr/>
        </p:nvSpPr>
        <p:spPr>
          <a:xfrm>
            <a:off x="365760" y="658368"/>
            <a:ext cx="11521440" cy="1664208"/>
          </a:xfrm>
          <a:prstGeom prst="roundRect">
            <a:avLst>
              <a:gd name="adj" fmla="val 4396"/>
            </a:avLst>
          </a:prstGeom>
          <a:solidFill>
            <a:srgbClr val="1E2F45"/>
          </a:solidFill>
          <a:ln w="12700">
            <a:solidFill>
              <a:srgbClr val="243A52"/>
            </a:solidFill>
            <a:prstDash val="solid"/>
          </a:ln>
        </p:spPr>
      </p:sp>
      <p:sp>
        <p:nvSpPr>
          <p:cNvPr id="6" name="Text 4"/>
          <p:cNvSpPr/>
          <p:nvPr/>
        </p:nvSpPr>
        <p:spPr>
          <a:xfrm>
            <a:off x="548640" y="713232"/>
            <a:ext cx="11155680"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Q1: The Burmese python is a serious problem in the Everglades because it is a…</a:t>
            </a:r>
            <a:endParaRPr lang="en-US" sz="1200" dirty="0"/>
          </a:p>
        </p:txBody>
      </p:sp>
      <p:sp>
        <p:nvSpPr>
          <p:cNvPr id="7" name="Text 5"/>
          <p:cNvSpPr/>
          <p:nvPr/>
        </p:nvSpPr>
        <p:spPr>
          <a:xfrm>
            <a:off x="685800" y="1234440"/>
            <a:ext cx="3657600" cy="38404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A  Native species that always lived here</a:t>
            </a:r>
            <a:endParaRPr lang="en-US" sz="1150" dirty="0"/>
          </a:p>
        </p:txBody>
      </p:sp>
      <p:sp>
        <p:nvSpPr>
          <p:cNvPr id="8" name="Text 6"/>
          <p:cNvSpPr/>
          <p:nvPr/>
        </p:nvSpPr>
        <p:spPr>
          <a:xfrm>
            <a:off x="4526280" y="1234440"/>
            <a:ext cx="3657600" cy="384048"/>
          </a:xfrm>
          <a:prstGeom prst="rect">
            <a:avLst/>
          </a:prstGeom>
          <a:noFill/>
          <a:ln/>
        </p:spPr>
        <p:txBody>
          <a:bodyPr wrap="square" rtlCol="0" anchor="ctr"/>
          <a:lstStyle/>
          <a:p>
            <a:pPr indent="0" marL="0">
              <a:buNone/>
            </a:pPr>
            <a:r>
              <a:rPr lang="en-US" sz="1150" b="1" dirty="0">
                <a:solidFill>
                  <a:srgbClr val="2DC653"/>
                </a:solidFill>
                <a:latin typeface="Calibri" pitchFamily="34" charset="0"/>
                <a:ea typeface="Calibri" pitchFamily="34" charset="-122"/>
                <a:cs typeface="Calibri" pitchFamily="34" charset="-120"/>
              </a:rPr>
              <a:t>B  Invasive species that doesn't belong 🐍</a:t>
            </a:r>
            <a:endParaRPr lang="en-US" sz="1150" dirty="0"/>
          </a:p>
        </p:txBody>
      </p:sp>
      <p:sp>
        <p:nvSpPr>
          <p:cNvPr id="9" name="Text 7"/>
          <p:cNvSpPr/>
          <p:nvPr/>
        </p:nvSpPr>
        <p:spPr>
          <a:xfrm>
            <a:off x="8366760" y="1234440"/>
            <a:ext cx="3657600" cy="38404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C  Pollinator that helps plants</a:t>
            </a:r>
            <a:endParaRPr lang="en-US" sz="1150" dirty="0"/>
          </a:p>
        </p:txBody>
      </p:sp>
      <p:sp>
        <p:nvSpPr>
          <p:cNvPr id="10" name="Shape 8"/>
          <p:cNvSpPr/>
          <p:nvPr/>
        </p:nvSpPr>
        <p:spPr>
          <a:xfrm>
            <a:off x="365760" y="2560320"/>
            <a:ext cx="11521440" cy="1664208"/>
          </a:xfrm>
          <a:prstGeom prst="roundRect">
            <a:avLst>
              <a:gd name="adj" fmla="val 4396"/>
            </a:avLst>
          </a:prstGeom>
          <a:solidFill>
            <a:srgbClr val="1E2F45"/>
          </a:solidFill>
          <a:ln w="12700">
            <a:solidFill>
              <a:srgbClr val="243A52"/>
            </a:solidFill>
            <a:prstDash val="solid"/>
          </a:ln>
        </p:spPr>
      </p:sp>
      <p:sp>
        <p:nvSpPr>
          <p:cNvPr id="11" name="Text 9"/>
          <p:cNvSpPr/>
          <p:nvPr/>
        </p:nvSpPr>
        <p:spPr>
          <a:xfrm>
            <a:off x="548640" y="2615184"/>
            <a:ext cx="11155680"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Q2: Which piece of evidence tells you the STRONGEST story about an ecosystem's health?</a:t>
            </a:r>
            <a:endParaRPr lang="en-US" sz="1200" dirty="0"/>
          </a:p>
        </p:txBody>
      </p:sp>
      <p:sp>
        <p:nvSpPr>
          <p:cNvPr id="12" name="Text 10"/>
          <p:cNvSpPr/>
          <p:nvPr/>
        </p:nvSpPr>
        <p:spPr>
          <a:xfrm>
            <a:off x="685800" y="3136392"/>
            <a:ext cx="3657600" cy="38404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A  One photo from one day</a:t>
            </a:r>
            <a:endParaRPr lang="en-US" sz="1150" dirty="0"/>
          </a:p>
        </p:txBody>
      </p:sp>
      <p:sp>
        <p:nvSpPr>
          <p:cNvPr id="13" name="Text 11"/>
          <p:cNvSpPr/>
          <p:nvPr/>
        </p:nvSpPr>
        <p:spPr>
          <a:xfrm>
            <a:off x="4526280" y="3136392"/>
            <a:ext cx="3657600" cy="38404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B  A scientist's gut feeling</a:t>
            </a:r>
            <a:endParaRPr lang="en-US" sz="1150" dirty="0"/>
          </a:p>
        </p:txBody>
      </p:sp>
      <p:sp>
        <p:nvSpPr>
          <p:cNvPr id="14" name="Text 12"/>
          <p:cNvSpPr/>
          <p:nvPr/>
        </p:nvSpPr>
        <p:spPr>
          <a:xfrm>
            <a:off x="8366760" y="3136392"/>
            <a:ext cx="3657600" cy="384048"/>
          </a:xfrm>
          <a:prstGeom prst="rect">
            <a:avLst/>
          </a:prstGeom>
          <a:noFill/>
          <a:ln/>
        </p:spPr>
        <p:txBody>
          <a:bodyPr wrap="square" rtlCol="0" anchor="ctr"/>
          <a:lstStyle/>
          <a:p>
            <a:pPr indent="0" marL="0">
              <a:buNone/>
            </a:pPr>
            <a:r>
              <a:rPr lang="en-US" sz="1150" b="1" dirty="0">
                <a:solidFill>
                  <a:srgbClr val="2DC653"/>
                </a:solidFill>
                <a:latin typeface="Calibri" pitchFamily="34" charset="0"/>
                <a:ea typeface="Calibri" pitchFamily="34" charset="-122"/>
                <a:cs typeface="Calibri" pitchFamily="34" charset="-120"/>
              </a:rPr>
              <a:t>C  Population counts taken every year for many years 📊</a:t>
            </a:r>
            <a:endParaRPr lang="en-US" sz="1150" dirty="0"/>
          </a:p>
        </p:txBody>
      </p:sp>
      <p:sp>
        <p:nvSpPr>
          <p:cNvPr id="15" name="Shape 13"/>
          <p:cNvSpPr/>
          <p:nvPr/>
        </p:nvSpPr>
        <p:spPr>
          <a:xfrm>
            <a:off x="365760" y="4462272"/>
            <a:ext cx="11521440" cy="1664208"/>
          </a:xfrm>
          <a:prstGeom prst="roundRect">
            <a:avLst>
              <a:gd name="adj" fmla="val 4396"/>
            </a:avLst>
          </a:prstGeom>
          <a:solidFill>
            <a:srgbClr val="1E2F45"/>
          </a:solidFill>
          <a:ln w="12700">
            <a:solidFill>
              <a:srgbClr val="243A52"/>
            </a:solidFill>
            <a:prstDash val="solid"/>
          </a:ln>
        </p:spPr>
      </p:sp>
      <p:sp>
        <p:nvSpPr>
          <p:cNvPr id="16" name="Text 14"/>
          <p:cNvSpPr/>
          <p:nvPr/>
        </p:nvSpPr>
        <p:spPr>
          <a:xfrm>
            <a:off x="548640" y="4517136"/>
            <a:ext cx="11155680"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Q3: The FL manatee population grew from ~1,200 in 1991 to over 7,500 today. What does this data best support?</a:t>
            </a:r>
            <a:endParaRPr lang="en-US" sz="1200" dirty="0"/>
          </a:p>
        </p:txBody>
      </p:sp>
      <p:sp>
        <p:nvSpPr>
          <p:cNvPr id="17" name="Text 15"/>
          <p:cNvSpPr/>
          <p:nvPr/>
        </p:nvSpPr>
        <p:spPr>
          <a:xfrm>
            <a:off x="685800" y="5038344"/>
            <a:ext cx="3657600" cy="384048"/>
          </a:xfrm>
          <a:prstGeom prst="rect">
            <a:avLst/>
          </a:prstGeom>
          <a:noFill/>
          <a:ln/>
        </p:spPr>
        <p:txBody>
          <a:bodyPr wrap="square" rtlCol="0" anchor="ctr"/>
          <a:lstStyle/>
          <a:p>
            <a:pPr indent="0" marL="0">
              <a:buNone/>
            </a:pPr>
            <a:r>
              <a:rPr lang="en-US" sz="1150" b="1" dirty="0">
                <a:solidFill>
                  <a:srgbClr val="2DC653"/>
                </a:solidFill>
                <a:latin typeface="Calibri" pitchFamily="34" charset="0"/>
                <a:ea typeface="Calibri" pitchFamily="34" charset="-122"/>
                <a:cs typeface="Calibri" pitchFamily="34" charset="-120"/>
              </a:rPr>
              <a:t>A  Conservation efforts have helped the population recover ✅</a:t>
            </a:r>
            <a:endParaRPr lang="en-US" sz="1150" dirty="0"/>
          </a:p>
        </p:txBody>
      </p:sp>
      <p:sp>
        <p:nvSpPr>
          <p:cNvPr id="18" name="Text 16"/>
          <p:cNvSpPr/>
          <p:nvPr/>
        </p:nvSpPr>
        <p:spPr>
          <a:xfrm>
            <a:off x="4526280" y="5038344"/>
            <a:ext cx="3657600" cy="38404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B  Manatees are now invasive in Florida</a:t>
            </a:r>
            <a:endParaRPr lang="en-US" sz="1150" dirty="0"/>
          </a:p>
        </p:txBody>
      </p:sp>
      <p:sp>
        <p:nvSpPr>
          <p:cNvPr id="19" name="Text 17"/>
          <p:cNvSpPr/>
          <p:nvPr/>
        </p:nvSpPr>
        <p:spPr>
          <a:xfrm>
            <a:off x="8366760" y="5038344"/>
            <a:ext cx="3657600" cy="38404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C  Manatees no longer need protection</a:t>
            </a:r>
            <a:endParaRPr lang="en-US" sz="1150" dirty="0"/>
          </a:p>
        </p:txBody>
      </p:sp>
      <p:sp>
        <p:nvSpPr>
          <p:cNvPr id="20" name="Shape 18"/>
          <p:cNvSpPr/>
          <p:nvPr/>
        </p:nvSpPr>
        <p:spPr>
          <a:xfrm>
            <a:off x="0" y="6629400"/>
            <a:ext cx="12192000" cy="228600"/>
          </a:xfrm>
          <a:prstGeom prst="rect">
            <a:avLst/>
          </a:prstGeom>
          <a:solidFill>
            <a:srgbClr val="162233"/>
          </a:solidFill>
          <a:ln/>
        </p:spPr>
      </p:sp>
      <p:sp>
        <p:nvSpPr>
          <p:cNvPr id="21" name="Text 1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10.02  ·  Ecosystem Balance</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4736A"/>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4736A"/>
                </a:solidFill>
                <a:latin typeface="Calibri" pitchFamily="34" charset="0"/>
                <a:ea typeface="Calibri" pitchFamily="34" charset="-122"/>
                <a:cs typeface="Calibri" pitchFamily="34" charset="-120"/>
              </a:rPr>
              <a:t>✍️  Assignment: Show What You Know (12 min)</a:t>
            </a:r>
            <a:endParaRPr lang="en-US" sz="1600" dirty="0"/>
          </a:p>
        </p:txBody>
      </p:sp>
      <p:sp>
        <p:nvSpPr>
          <p:cNvPr id="5" name="Shape 3"/>
          <p:cNvSpPr/>
          <p:nvPr/>
        </p:nvSpPr>
        <p:spPr>
          <a:xfrm>
            <a:off x="365760" y="713232"/>
            <a:ext cx="3611880" cy="5166360"/>
          </a:xfrm>
          <a:prstGeom prst="roundRect">
            <a:avLst>
              <a:gd name="adj" fmla="val 2025"/>
            </a:avLst>
          </a:prstGeom>
          <a:solidFill>
            <a:srgbClr val="1E2F45"/>
          </a:solidFill>
          <a:ln w="12700">
            <a:solidFill>
              <a:srgbClr val="F4736A"/>
            </a:solidFill>
            <a:prstDash val="solid"/>
          </a:ln>
        </p:spPr>
      </p:sp>
      <p:sp>
        <p:nvSpPr>
          <p:cNvPr id="6" name="Text 4"/>
          <p:cNvSpPr/>
          <p:nvPr/>
        </p:nvSpPr>
        <p:spPr>
          <a:xfrm>
            <a:off x="548640" y="804672"/>
            <a:ext cx="3291840" cy="347472"/>
          </a:xfrm>
          <a:prstGeom prst="rect">
            <a:avLst/>
          </a:prstGeom>
          <a:noFill/>
          <a:ln/>
        </p:spPr>
        <p:txBody>
          <a:bodyPr wrap="square" rtlCol="0" anchor="ctr"/>
          <a:lstStyle/>
          <a:p>
            <a:pPr indent="0" marL="0">
              <a:buNone/>
            </a:pPr>
            <a:r>
              <a:rPr lang="en-US" sz="1200" b="1" dirty="0">
                <a:solidFill>
                  <a:srgbClr val="F4736A"/>
                </a:solidFill>
                <a:latin typeface="Calibri" pitchFamily="34" charset="0"/>
                <a:ea typeface="Calibri" pitchFamily="34" charset="-122"/>
                <a:cs typeface="Calibri" pitchFamily="34" charset="-120"/>
              </a:rPr>
              <a:t>Part A — Match the Word</a:t>
            </a:r>
            <a:endParaRPr lang="en-US" sz="1200" dirty="0"/>
          </a:p>
        </p:txBody>
      </p:sp>
      <p:sp>
        <p:nvSpPr>
          <p:cNvPr id="7" name="Text 5"/>
          <p:cNvSpPr/>
          <p:nvPr/>
        </p:nvSpPr>
        <p:spPr>
          <a:xfrm>
            <a:off x="548640" y="1207008"/>
            <a:ext cx="3291840" cy="36576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4 blanks:</a:t>
            </a:r>
            <a:endParaRPr lang="en-US" sz="1100" dirty="0"/>
          </a:p>
        </p:txBody>
      </p:sp>
      <p:sp>
        <p:nvSpPr>
          <p:cNvPr id="8" name="Text 6"/>
          <p:cNvSpPr/>
          <p:nvPr/>
        </p:nvSpPr>
        <p:spPr>
          <a:xfrm>
            <a:off x="548640" y="1645920"/>
            <a:ext cx="3291840" cy="36576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Native species</a:t>
            </a:r>
            <a:endParaRPr lang="en-US" sz="1100" dirty="0"/>
          </a:p>
        </p:txBody>
      </p:sp>
      <p:sp>
        <p:nvSpPr>
          <p:cNvPr id="9" name="Text 7"/>
          <p:cNvSpPr/>
          <p:nvPr/>
        </p:nvSpPr>
        <p:spPr>
          <a:xfrm>
            <a:off x="548640" y="2084832"/>
            <a:ext cx="3291840" cy="36576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Invasive species</a:t>
            </a:r>
            <a:endParaRPr lang="en-US" sz="1100" dirty="0"/>
          </a:p>
        </p:txBody>
      </p:sp>
      <p:sp>
        <p:nvSpPr>
          <p:cNvPr id="10" name="Text 8"/>
          <p:cNvSpPr/>
          <p:nvPr/>
        </p:nvSpPr>
        <p:spPr>
          <a:xfrm>
            <a:off x="548640" y="2523744"/>
            <a:ext cx="3291840" cy="36576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Population</a:t>
            </a:r>
            <a:endParaRPr lang="en-US" sz="1100" dirty="0"/>
          </a:p>
        </p:txBody>
      </p:sp>
      <p:sp>
        <p:nvSpPr>
          <p:cNvPr id="11" name="Text 9"/>
          <p:cNvSpPr/>
          <p:nvPr/>
        </p:nvSpPr>
        <p:spPr>
          <a:xfrm>
            <a:off x="548640" y="2962656"/>
            <a:ext cx="3291840" cy="36576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Conservation</a:t>
            </a:r>
            <a:endParaRPr lang="en-US" sz="1100" dirty="0"/>
          </a:p>
        </p:txBody>
      </p:sp>
      <p:sp>
        <p:nvSpPr>
          <p:cNvPr id="12" name="Text 10"/>
          <p:cNvSpPr/>
          <p:nvPr/>
        </p:nvSpPr>
        <p:spPr>
          <a:xfrm>
            <a:off x="548640" y="3401568"/>
            <a:ext cx="3291840" cy="365760"/>
          </a:xfrm>
          <a:prstGeom prst="rect">
            <a:avLst/>
          </a:prstGeom>
          <a:noFill/>
          <a:ln/>
        </p:spPr>
        <p:txBody>
          <a:bodyPr wrap="square" rtlCol="0" anchor="ctr"/>
          <a:lstStyle/>
          <a:p>
            <a:pPr indent="0" marL="0">
              <a:buNone/>
            </a:pPr>
            <a:endParaRPr lang="en-US" sz="1100" dirty="0"/>
          </a:p>
        </p:txBody>
      </p:sp>
      <p:sp>
        <p:nvSpPr>
          <p:cNvPr id="13" name="Text 11"/>
          <p:cNvSpPr/>
          <p:nvPr/>
        </p:nvSpPr>
        <p:spPr>
          <a:xfrm>
            <a:off x="548640" y="3840480"/>
            <a:ext cx="3291840" cy="365760"/>
          </a:xfrm>
          <a:prstGeom prst="rect">
            <a:avLst/>
          </a:prstGeom>
          <a:noFill/>
          <a:ln/>
        </p:spPr>
        <p:txBody>
          <a:bodyPr wrap="square" rtlCol="0" anchor="ctr"/>
          <a:lstStyle/>
          <a:p>
            <a:pPr indent="0" marL="0">
              <a:buNone/>
            </a:pPr>
            <a:r>
              <a:rPr lang="en-US" sz="1100" i="1" dirty="0">
                <a:solidFill>
                  <a:srgbClr val="8899AA"/>
                </a:solidFill>
                <a:latin typeface="Calibri" pitchFamily="34" charset="0"/>
                <a:ea typeface="Calibri" pitchFamily="34" charset="-122"/>
                <a:cs typeface="Calibri" pitchFamily="34" charset="-120"/>
              </a:rPr>
              <a:t>Pre-taught: Slides 4–5</a:t>
            </a:r>
            <a:endParaRPr lang="en-US" sz="1100" dirty="0"/>
          </a:p>
        </p:txBody>
      </p:sp>
      <p:sp>
        <p:nvSpPr>
          <p:cNvPr id="14" name="Shape 12"/>
          <p:cNvSpPr/>
          <p:nvPr/>
        </p:nvSpPr>
        <p:spPr>
          <a:xfrm>
            <a:off x="4114800" y="713232"/>
            <a:ext cx="3611880" cy="5166360"/>
          </a:xfrm>
          <a:prstGeom prst="roundRect">
            <a:avLst>
              <a:gd name="adj" fmla="val 2025"/>
            </a:avLst>
          </a:prstGeom>
          <a:solidFill>
            <a:srgbClr val="1E2F45"/>
          </a:solidFill>
          <a:ln w="12700">
            <a:solidFill>
              <a:srgbClr val="FFB703"/>
            </a:solidFill>
            <a:prstDash val="solid"/>
          </a:ln>
        </p:spPr>
      </p:sp>
      <p:sp>
        <p:nvSpPr>
          <p:cNvPr id="15" name="Text 13"/>
          <p:cNvSpPr/>
          <p:nvPr/>
        </p:nvSpPr>
        <p:spPr>
          <a:xfrm>
            <a:off x="4297680" y="804672"/>
            <a:ext cx="3291840" cy="347472"/>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Part B — Short Answer</a:t>
            </a:r>
            <a:endParaRPr lang="en-US" sz="1200" dirty="0"/>
          </a:p>
        </p:txBody>
      </p:sp>
      <p:sp>
        <p:nvSpPr>
          <p:cNvPr id="16" name="Text 14"/>
          <p:cNvSpPr/>
          <p:nvPr/>
        </p:nvSpPr>
        <p:spPr>
          <a:xfrm>
            <a:off x="4297680" y="1207008"/>
            <a:ext cx="3291840" cy="36576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3 complete-sentence Qs:</a:t>
            </a:r>
            <a:endParaRPr lang="en-US" sz="1100" dirty="0"/>
          </a:p>
        </p:txBody>
      </p:sp>
      <p:sp>
        <p:nvSpPr>
          <p:cNvPr id="17" name="Text 15"/>
          <p:cNvSpPr/>
          <p:nvPr/>
        </p:nvSpPr>
        <p:spPr>
          <a:xfrm>
            <a:off x="4297680" y="1618488"/>
            <a:ext cx="3291840" cy="36576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1. Pick one FL species — describe the change (1 sentence) + give evidence (1 sentence)</a:t>
            </a:r>
            <a:endParaRPr lang="en-US" sz="1100" dirty="0"/>
          </a:p>
        </p:txBody>
      </p:sp>
      <p:sp>
        <p:nvSpPr>
          <p:cNvPr id="18" name="Text 16"/>
          <p:cNvSpPr/>
          <p:nvPr/>
        </p:nvSpPr>
        <p:spPr>
          <a:xfrm>
            <a:off x="4297680" y="2029968"/>
            <a:ext cx="3291840" cy="36576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2. Native vs. invasive — difference + 1 FL example each</a:t>
            </a:r>
            <a:endParaRPr lang="en-US" sz="1100" dirty="0"/>
          </a:p>
        </p:txBody>
      </p:sp>
      <p:sp>
        <p:nvSpPr>
          <p:cNvPr id="19" name="Text 17"/>
          <p:cNvSpPr/>
          <p:nvPr/>
        </p:nvSpPr>
        <p:spPr>
          <a:xfrm>
            <a:off x="4297680" y="2441448"/>
            <a:ext cx="3291840" cy="36576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3. One thing people are doing to help an ecosystem stay healthy — use 'conservation'</a:t>
            </a:r>
            <a:endParaRPr lang="en-US" sz="1100" dirty="0"/>
          </a:p>
        </p:txBody>
      </p:sp>
      <p:sp>
        <p:nvSpPr>
          <p:cNvPr id="20" name="Text 18"/>
          <p:cNvSpPr/>
          <p:nvPr/>
        </p:nvSpPr>
        <p:spPr>
          <a:xfrm>
            <a:off x="4297680" y="2852928"/>
            <a:ext cx="3291840" cy="365760"/>
          </a:xfrm>
          <a:prstGeom prst="rect">
            <a:avLst/>
          </a:prstGeom>
          <a:noFill/>
          <a:ln/>
        </p:spPr>
        <p:txBody>
          <a:bodyPr wrap="square" rtlCol="0" anchor="ctr"/>
          <a:lstStyle/>
          <a:p>
            <a:pPr indent="0" marL="0">
              <a:buNone/>
            </a:pPr>
            <a:endParaRPr lang="en-US" sz="1100" dirty="0"/>
          </a:p>
        </p:txBody>
      </p:sp>
      <p:sp>
        <p:nvSpPr>
          <p:cNvPr id="21" name="Text 19"/>
          <p:cNvSpPr/>
          <p:nvPr/>
        </p:nvSpPr>
        <p:spPr>
          <a:xfrm>
            <a:off x="4297680" y="3264408"/>
            <a:ext cx="3291840" cy="365760"/>
          </a:xfrm>
          <a:prstGeom prst="rect">
            <a:avLst/>
          </a:prstGeom>
          <a:noFill/>
          <a:ln/>
        </p:spPr>
        <p:txBody>
          <a:bodyPr wrap="square" rtlCol="0" anchor="ctr"/>
          <a:lstStyle/>
          <a:p>
            <a:pPr indent="0" marL="0">
              <a:buNone/>
            </a:pPr>
            <a:r>
              <a:rPr lang="en-US" sz="1100" i="1" dirty="0">
                <a:solidFill>
                  <a:srgbClr val="8899AA"/>
                </a:solidFill>
                <a:latin typeface="Calibri" pitchFamily="34" charset="0"/>
                <a:ea typeface="Calibri" pitchFamily="34" charset="-122"/>
                <a:cs typeface="Calibri" pitchFamily="34" charset="-120"/>
              </a:rPr>
              <a:t>Pre-taught: Slides 5–10</a:t>
            </a:r>
            <a:endParaRPr lang="en-US" sz="1100" dirty="0"/>
          </a:p>
        </p:txBody>
      </p:sp>
      <p:sp>
        <p:nvSpPr>
          <p:cNvPr id="22" name="Shape 20"/>
          <p:cNvSpPr/>
          <p:nvPr/>
        </p:nvSpPr>
        <p:spPr>
          <a:xfrm>
            <a:off x="7863840" y="713232"/>
            <a:ext cx="4389120" cy="5166360"/>
          </a:xfrm>
          <a:prstGeom prst="roundRect">
            <a:avLst>
              <a:gd name="adj" fmla="val 1667"/>
            </a:avLst>
          </a:prstGeom>
          <a:solidFill>
            <a:srgbClr val="1E2F45"/>
          </a:solidFill>
          <a:ln w="12700">
            <a:solidFill>
              <a:srgbClr val="2DC653"/>
            </a:solidFill>
            <a:prstDash val="solid"/>
          </a:ln>
        </p:spPr>
      </p:sp>
      <p:sp>
        <p:nvSpPr>
          <p:cNvPr id="23" name="Text 21"/>
          <p:cNvSpPr/>
          <p:nvPr/>
        </p:nvSpPr>
        <p:spPr>
          <a:xfrm>
            <a:off x="8046720" y="804672"/>
            <a:ext cx="411480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Part C — Data Graph + CER</a:t>
            </a:r>
            <a:endParaRPr lang="en-US" sz="1200" dirty="0"/>
          </a:p>
        </p:txBody>
      </p:sp>
      <p:sp>
        <p:nvSpPr>
          <p:cNvPr id="24" name="Text 22"/>
          <p:cNvSpPr/>
          <p:nvPr/>
        </p:nvSpPr>
        <p:spPr>
          <a:xfrm>
            <a:off x="8046720" y="1207008"/>
            <a:ext cx="4114800" cy="329184"/>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Simple line graph:</a:t>
            </a:r>
            <a:endParaRPr lang="en-US" sz="1100" dirty="0"/>
          </a:p>
        </p:txBody>
      </p:sp>
      <p:sp>
        <p:nvSpPr>
          <p:cNvPr id="25" name="Text 23"/>
          <p:cNvSpPr/>
          <p:nvPr/>
        </p:nvSpPr>
        <p:spPr>
          <a:xfrm>
            <a:off x="8046720" y="1591056"/>
            <a:ext cx="4114800" cy="329184"/>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Manatee data: 1991 → today</a:t>
            </a:r>
            <a:endParaRPr lang="en-US" sz="1100" dirty="0"/>
          </a:p>
        </p:txBody>
      </p:sp>
      <p:sp>
        <p:nvSpPr>
          <p:cNvPr id="26" name="Text 24"/>
          <p:cNvSpPr/>
          <p:nvPr/>
        </p:nvSpPr>
        <p:spPr>
          <a:xfrm>
            <a:off x="8046720" y="1975104"/>
            <a:ext cx="4114800" cy="329184"/>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Both points labeled</a:t>
            </a:r>
            <a:endParaRPr lang="en-US" sz="1100" dirty="0"/>
          </a:p>
        </p:txBody>
      </p:sp>
      <p:sp>
        <p:nvSpPr>
          <p:cNvPr id="27" name="Text 25"/>
          <p:cNvSpPr/>
          <p:nvPr/>
        </p:nvSpPr>
        <p:spPr>
          <a:xfrm>
            <a:off x="8046720" y="2359152"/>
            <a:ext cx="4114800" cy="329184"/>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One-sentence trend description</a:t>
            </a:r>
            <a:endParaRPr lang="en-US" sz="1100" dirty="0"/>
          </a:p>
        </p:txBody>
      </p:sp>
      <p:sp>
        <p:nvSpPr>
          <p:cNvPr id="28" name="Text 26"/>
          <p:cNvSpPr/>
          <p:nvPr/>
        </p:nvSpPr>
        <p:spPr>
          <a:xfrm>
            <a:off x="8046720" y="2743200"/>
            <a:ext cx="4114800" cy="329184"/>
          </a:xfrm>
          <a:prstGeom prst="rect">
            <a:avLst/>
          </a:prstGeom>
          <a:noFill/>
          <a:ln/>
        </p:spPr>
        <p:txBody>
          <a:bodyPr wrap="square" rtlCol="0" anchor="ctr"/>
          <a:lstStyle/>
          <a:p>
            <a:pPr indent="0" marL="0">
              <a:buNone/>
            </a:pPr>
            <a:endParaRPr lang="en-US" sz="1100" dirty="0"/>
          </a:p>
        </p:txBody>
      </p:sp>
      <p:sp>
        <p:nvSpPr>
          <p:cNvPr id="29" name="Text 27"/>
          <p:cNvSpPr/>
          <p:nvPr/>
        </p:nvSpPr>
        <p:spPr>
          <a:xfrm>
            <a:off x="8046720" y="3127248"/>
            <a:ext cx="4114800" cy="329184"/>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PLUS CER:</a:t>
            </a:r>
            <a:endParaRPr lang="en-US" sz="1100" dirty="0"/>
          </a:p>
        </p:txBody>
      </p:sp>
      <p:sp>
        <p:nvSpPr>
          <p:cNvPr id="30" name="Text 28"/>
          <p:cNvSpPr/>
          <p:nvPr/>
        </p:nvSpPr>
        <p:spPr>
          <a:xfrm>
            <a:off x="8046720" y="3511296"/>
            <a:ext cx="4114800" cy="329184"/>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Argue whether invasive species matter, with 2 data points</a:t>
            </a:r>
            <a:endParaRPr lang="en-US" sz="1100" dirty="0"/>
          </a:p>
        </p:txBody>
      </p:sp>
      <p:sp>
        <p:nvSpPr>
          <p:cNvPr id="31" name="Text 29"/>
          <p:cNvSpPr/>
          <p:nvPr/>
        </p:nvSpPr>
        <p:spPr>
          <a:xfrm>
            <a:off x="8046720" y="3895344"/>
            <a:ext cx="4114800" cy="329184"/>
          </a:xfrm>
          <a:prstGeom prst="rect">
            <a:avLst/>
          </a:prstGeom>
          <a:noFill/>
          <a:ln/>
        </p:spPr>
        <p:txBody>
          <a:bodyPr wrap="square" rtlCol="0" anchor="ctr"/>
          <a:lstStyle/>
          <a:p>
            <a:pPr indent="0" marL="0">
              <a:buNone/>
            </a:pPr>
            <a:endParaRPr lang="en-US" sz="1100" dirty="0"/>
          </a:p>
        </p:txBody>
      </p:sp>
      <p:sp>
        <p:nvSpPr>
          <p:cNvPr id="32" name="Text 30"/>
          <p:cNvSpPr/>
          <p:nvPr/>
        </p:nvSpPr>
        <p:spPr>
          <a:xfrm>
            <a:off x="8046720" y="4279392"/>
            <a:ext cx="4114800" cy="329184"/>
          </a:xfrm>
          <a:prstGeom prst="rect">
            <a:avLst/>
          </a:prstGeom>
          <a:noFill/>
          <a:ln/>
        </p:spPr>
        <p:txBody>
          <a:bodyPr wrap="square" rtlCol="0" anchor="ctr"/>
          <a:lstStyle/>
          <a:p>
            <a:pPr indent="0" marL="0">
              <a:buNone/>
            </a:pPr>
            <a:r>
              <a:rPr lang="en-US" sz="1100" i="1" dirty="0">
                <a:solidFill>
                  <a:srgbClr val="8899AA"/>
                </a:solidFill>
                <a:latin typeface="Calibri" pitchFamily="34" charset="0"/>
                <a:ea typeface="Calibri" pitchFamily="34" charset="-122"/>
                <a:cs typeface="Calibri" pitchFamily="34" charset="-120"/>
              </a:rPr>
              <a:t>Pre-taught: Slides 8–12</a:t>
            </a:r>
            <a:endParaRPr lang="en-US" sz="1100" dirty="0"/>
          </a:p>
        </p:txBody>
      </p:sp>
      <p:sp>
        <p:nvSpPr>
          <p:cNvPr id="33" name="Shape 31"/>
          <p:cNvSpPr/>
          <p:nvPr/>
        </p:nvSpPr>
        <p:spPr>
          <a:xfrm>
            <a:off x="0" y="6629400"/>
            <a:ext cx="12192000" cy="228600"/>
          </a:xfrm>
          <a:prstGeom prst="rect">
            <a:avLst/>
          </a:prstGeom>
          <a:solidFill>
            <a:srgbClr val="162233"/>
          </a:solidFill>
          <a:ln/>
        </p:spPr>
      </p:sp>
      <p:sp>
        <p:nvSpPr>
          <p:cNvPr id="34" name="Text 32"/>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10.02  ·  Ecosystem Balance</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Reflect + Closing</a:t>
            </a:r>
            <a:endParaRPr lang="en-US" sz="1600" dirty="0"/>
          </a:p>
        </p:txBody>
      </p:sp>
      <p:sp>
        <p:nvSpPr>
          <p:cNvPr id="5" name="Shape 3"/>
          <p:cNvSpPr/>
          <p:nvPr/>
        </p:nvSpPr>
        <p:spPr>
          <a:xfrm>
            <a:off x="365760" y="749808"/>
            <a:ext cx="11247120" cy="1417320"/>
          </a:xfrm>
          <a:prstGeom prst="roundRect">
            <a:avLst>
              <a:gd name="adj" fmla="val 5161"/>
            </a:avLst>
          </a:prstGeom>
          <a:solidFill>
            <a:srgbClr val="1E2F45"/>
          </a:solidFill>
          <a:ln w="12700">
            <a:solidFill>
              <a:srgbClr val="4CC9F0"/>
            </a:solidFill>
            <a:prstDash val="solid"/>
          </a:ln>
        </p:spPr>
      </p:sp>
      <p:sp>
        <p:nvSpPr>
          <p:cNvPr id="6" name="Text 4"/>
          <p:cNvSpPr/>
          <p:nvPr/>
        </p:nvSpPr>
        <p:spPr>
          <a:xfrm>
            <a:off x="548640" y="804672"/>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Essential Question Response — Write in your science notebook:</a:t>
            </a:r>
            <a:endParaRPr lang="en-US" sz="1200" dirty="0"/>
          </a:p>
        </p:txBody>
      </p:sp>
      <p:sp>
        <p:nvSpPr>
          <p:cNvPr id="7" name="Text 5"/>
          <p:cNvSpPr/>
          <p:nvPr/>
        </p:nvSpPr>
        <p:spPr>
          <a:xfrm>
            <a:off x="548640" y="1170432"/>
            <a:ext cx="10972800" cy="886968"/>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"How can we tell if a Florida ecosystem is healthy — and what can we do when it's not?"</a:t>
            </a:r>
            <a:endParaRPr lang="en-US" sz="1300" dirty="0"/>
          </a:p>
          <a:p>
            <a:pPr indent="0" marL="0">
              <a:buNone/>
            </a:pPr>
            <a:endParaRPr lang="en-US" sz="1300" dirty="0"/>
          </a:p>
          <a:p>
            <a:pPr indent="0" marL="0">
              <a:buNone/>
            </a:pPr>
            <a:r>
              <a:rPr lang="en-US" sz="1300" i="1" dirty="0">
                <a:solidFill>
                  <a:srgbClr val="FFFFFF"/>
                </a:solidFill>
                <a:latin typeface="Calibri" pitchFamily="34" charset="0"/>
                <a:ea typeface="Calibri" pitchFamily="34" charset="-122"/>
                <a:cs typeface="Calibri" pitchFamily="34" charset="-120"/>
              </a:rPr>
              <a:t>Write 2–3 sentences using vocab words from today.</a:t>
            </a:r>
            <a:endParaRPr lang="en-US" sz="1300" dirty="0"/>
          </a:p>
        </p:txBody>
      </p:sp>
      <p:sp>
        <p:nvSpPr>
          <p:cNvPr id="8" name="Shape 6"/>
          <p:cNvSpPr/>
          <p:nvPr/>
        </p:nvSpPr>
        <p:spPr>
          <a:xfrm>
            <a:off x="365760" y="2304288"/>
            <a:ext cx="7315200" cy="2560320"/>
          </a:xfrm>
          <a:prstGeom prst="roundRect">
            <a:avLst>
              <a:gd name="adj" fmla="val 2857"/>
            </a:avLst>
          </a:prstGeom>
          <a:solidFill>
            <a:srgbClr val="1E2F45"/>
          </a:solidFill>
          <a:ln w="12700">
            <a:solidFill>
              <a:srgbClr val="2DC653"/>
            </a:solidFill>
            <a:prstDash val="solid"/>
          </a:ln>
        </p:spPr>
      </p:sp>
      <p:sp>
        <p:nvSpPr>
          <p:cNvPr id="9" name="Text 7"/>
          <p:cNvSpPr/>
          <p:nvPr/>
        </p:nvSpPr>
        <p:spPr>
          <a:xfrm>
            <a:off x="548640" y="2359152"/>
            <a:ext cx="704088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  What to Turn In:</a:t>
            </a:r>
            <a:endParaRPr lang="en-US" sz="1200" dirty="0"/>
          </a:p>
        </p:txBody>
      </p:sp>
      <p:sp>
        <p:nvSpPr>
          <p:cNvPr id="10" name="Text 8"/>
          <p:cNvSpPr/>
          <p:nvPr/>
        </p:nvSpPr>
        <p:spPr>
          <a:xfrm>
            <a:off x="548640" y="2743200"/>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A: 4 vocabulary words matched correctly (native, invasive, population, conservation)</a:t>
            </a:r>
            <a:endParaRPr lang="en-US" sz="1100" dirty="0"/>
          </a:p>
        </p:txBody>
      </p:sp>
      <p:sp>
        <p:nvSpPr>
          <p:cNvPr id="11" name="Text 9"/>
          <p:cNvSpPr/>
          <p:nvPr/>
        </p:nvSpPr>
        <p:spPr>
          <a:xfrm>
            <a:off x="548640" y="3090672"/>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B: 3 short-answer questions using lesson vocabulary with specific FL examples</a:t>
            </a:r>
            <a:endParaRPr lang="en-US" sz="1100" dirty="0"/>
          </a:p>
        </p:txBody>
      </p:sp>
      <p:sp>
        <p:nvSpPr>
          <p:cNvPr id="12" name="Text 10"/>
          <p:cNvSpPr/>
          <p:nvPr/>
        </p:nvSpPr>
        <p:spPr>
          <a:xfrm>
            <a:off x="548640" y="3438144"/>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C: Simple manatee line graph (both data points labeled) + trend sentence</a:t>
            </a:r>
            <a:endParaRPr lang="en-US" sz="1100" dirty="0"/>
          </a:p>
        </p:txBody>
      </p:sp>
      <p:sp>
        <p:nvSpPr>
          <p:cNvPr id="13" name="Text 11"/>
          <p:cNvSpPr/>
          <p:nvPr/>
        </p:nvSpPr>
        <p:spPr>
          <a:xfrm>
            <a:off x="548640" y="3785616"/>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CER: Claim about invasive species with 2 data-backed evidence points</a:t>
            </a:r>
            <a:endParaRPr lang="en-US" sz="1100" dirty="0"/>
          </a:p>
        </p:txBody>
      </p:sp>
      <p:sp>
        <p:nvSpPr>
          <p:cNvPr id="14" name="Shape 12"/>
          <p:cNvSpPr/>
          <p:nvPr/>
        </p:nvSpPr>
        <p:spPr>
          <a:xfrm>
            <a:off x="7863840" y="2304288"/>
            <a:ext cx="3931920" cy="2560320"/>
          </a:xfrm>
          <a:prstGeom prst="roundRect">
            <a:avLst>
              <a:gd name="adj" fmla="val 2857"/>
            </a:avLst>
          </a:prstGeom>
          <a:solidFill>
            <a:srgbClr val="1A1A3A"/>
          </a:solidFill>
          <a:ln w="12700">
            <a:solidFill>
              <a:srgbClr val="0096C7"/>
            </a:solidFill>
            <a:prstDash val="solid"/>
          </a:ln>
        </p:spPr>
      </p:sp>
      <p:sp>
        <p:nvSpPr>
          <p:cNvPr id="15" name="Text 13"/>
          <p:cNvSpPr/>
          <p:nvPr/>
        </p:nvSpPr>
        <p:spPr>
          <a:xfrm>
            <a:off x="8001000" y="2359152"/>
            <a:ext cx="36576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Coming Next:</a:t>
            </a:r>
            <a:endParaRPr lang="en-US" sz="1200" dirty="0"/>
          </a:p>
        </p:txBody>
      </p:sp>
      <p:sp>
        <p:nvSpPr>
          <p:cNvPr id="16" name="Text 14"/>
          <p:cNvSpPr/>
          <p:nvPr/>
        </p:nvSpPr>
        <p:spPr>
          <a:xfrm>
            <a:off x="8001000" y="2743200"/>
            <a:ext cx="3657600" cy="201168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Lesson 11.01:</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Inside Out: Plant and Animal Structures</a:t>
            </a:r>
            <a:endParaRPr lang="en-US" sz="1200" dirty="0"/>
          </a:p>
          <a:p>
            <a:pPr indent="0" marL="0">
              <a:buNone/>
            </a:pP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Zoom WAY in — from whole ecosystems to the parts of ONE plant or animal.</a:t>
            </a:r>
            <a:endParaRPr lang="en-US" sz="1200" dirty="0"/>
          </a:p>
          <a:p>
            <a:pPr indent="0" marL="0">
              <a:buNone/>
            </a:pP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Preview: structures, functions, internal vs. external</a:t>
            </a:r>
            <a:endParaRPr lang="en-US" sz="1200" dirty="0"/>
          </a:p>
        </p:txBody>
      </p:sp>
      <p:sp>
        <p:nvSpPr>
          <p:cNvPr id="17" name="Shape 15"/>
          <p:cNvSpPr/>
          <p:nvPr/>
        </p:nvSpPr>
        <p:spPr>
          <a:xfrm>
            <a:off x="0" y="5047488"/>
            <a:ext cx="12192000" cy="45720"/>
          </a:xfrm>
          <a:prstGeom prst="rect">
            <a:avLst/>
          </a:prstGeom>
          <a:solidFill>
            <a:srgbClr val="4CC9F0"/>
          </a:solidFill>
          <a:ln/>
        </p:spPr>
      </p:sp>
      <p:sp>
        <p:nvSpPr>
          <p:cNvPr id="18" name="Text 16"/>
          <p:cNvSpPr/>
          <p:nvPr/>
        </p:nvSpPr>
        <p:spPr>
          <a:xfrm>
            <a:off x="365760" y="5120640"/>
            <a:ext cx="11247120" cy="347472"/>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Excellent work today, scientists! See you next time.</a:t>
            </a:r>
            <a:endParaRPr lang="en-US" sz="1300" dirty="0"/>
          </a:p>
        </p:txBody>
      </p:sp>
      <p:sp>
        <p:nvSpPr>
          <p:cNvPr id="19" name="Shape 17"/>
          <p:cNvSpPr/>
          <p:nvPr/>
        </p:nvSpPr>
        <p:spPr>
          <a:xfrm>
            <a:off x="0" y="6629400"/>
            <a:ext cx="12192000" cy="228600"/>
          </a:xfrm>
          <a:prstGeom prst="rect">
            <a:avLst/>
          </a:prstGeom>
          <a:solidFill>
            <a:srgbClr val="162233"/>
          </a:solidFill>
          <a:ln/>
        </p:spPr>
      </p:sp>
      <p:sp>
        <p:nvSpPr>
          <p:cNvPr id="20" name="Text 1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10.02  ·  Ecosystem Balance</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What Makes Good Evidence? Long-Term Data vs. One Snapshot</a:t>
            </a:r>
            <a:endParaRPr lang="en-US" sz="1600" dirty="0"/>
          </a:p>
        </p:txBody>
      </p:sp>
      <p:sp>
        <p:nvSpPr>
          <p:cNvPr id="5" name="Shape 3"/>
          <p:cNvSpPr/>
          <p:nvPr/>
        </p:nvSpPr>
        <p:spPr>
          <a:xfrm>
            <a:off x="365760" y="713232"/>
            <a:ext cx="11521440" cy="804672"/>
          </a:xfrm>
          <a:prstGeom prst="roundRect">
            <a:avLst>
              <a:gd name="adj" fmla="val 9091"/>
            </a:avLst>
          </a:prstGeom>
          <a:solidFill>
            <a:srgbClr val="1E2F45"/>
          </a:solidFill>
          <a:ln w="12700">
            <a:solidFill>
              <a:srgbClr val="4CC9F0"/>
            </a:solidFill>
            <a:prstDash val="solid"/>
          </a:ln>
        </p:spPr>
      </p:sp>
      <p:sp>
        <p:nvSpPr>
          <p:cNvPr id="6" name="Text 4"/>
          <p:cNvSpPr/>
          <p:nvPr/>
        </p:nvSpPr>
        <p:spPr>
          <a:xfrm>
            <a:off x="548640" y="768096"/>
            <a:ext cx="11155680" cy="65836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Not all evidence is equally strong. Scientists rank evidence by how much it can be trusted.</a:t>
            </a:r>
            <a:endParaRPr lang="en-US" sz="1300" dirty="0"/>
          </a:p>
        </p:txBody>
      </p:sp>
      <p:sp>
        <p:nvSpPr>
          <p:cNvPr id="7" name="Shape 5"/>
          <p:cNvSpPr/>
          <p:nvPr/>
        </p:nvSpPr>
        <p:spPr>
          <a:xfrm>
            <a:off x="365760" y="1664208"/>
            <a:ext cx="3566160" cy="4224528"/>
          </a:xfrm>
          <a:prstGeom prst="roundRect">
            <a:avLst>
              <a:gd name="adj" fmla="val 2051"/>
            </a:avLst>
          </a:prstGeom>
          <a:solidFill>
            <a:srgbClr val="1E2F45"/>
          </a:solidFill>
          <a:ln w="12700">
            <a:solidFill>
              <a:srgbClr val="F4736A"/>
            </a:solidFill>
            <a:prstDash val="solid"/>
          </a:ln>
        </p:spPr>
      </p:sp>
      <p:sp>
        <p:nvSpPr>
          <p:cNvPr id="8" name="Shape 6"/>
          <p:cNvSpPr/>
          <p:nvPr/>
        </p:nvSpPr>
        <p:spPr>
          <a:xfrm>
            <a:off x="502920" y="1783080"/>
            <a:ext cx="1554480" cy="256032"/>
          </a:xfrm>
          <a:prstGeom prst="roundRect">
            <a:avLst>
              <a:gd name="adj" fmla="val 50000"/>
            </a:avLst>
          </a:prstGeom>
          <a:solidFill>
            <a:srgbClr val="F4736A"/>
          </a:solidFill>
          <a:ln w="12700">
            <a:solidFill>
              <a:srgbClr val="F4736A"/>
            </a:solidFill>
            <a:prstDash val="solid"/>
          </a:ln>
        </p:spPr>
      </p:sp>
      <p:sp>
        <p:nvSpPr>
          <p:cNvPr id="9" name="Text 7"/>
          <p:cNvSpPr/>
          <p:nvPr/>
        </p:nvSpPr>
        <p:spPr>
          <a:xfrm>
            <a:off x="502920" y="178308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WEAKEST</a:t>
            </a:r>
            <a:endParaRPr lang="en-US" sz="900" dirty="0"/>
          </a:p>
        </p:txBody>
      </p:sp>
      <p:sp>
        <p:nvSpPr>
          <p:cNvPr id="10" name="Text 8"/>
          <p:cNvSpPr/>
          <p:nvPr/>
        </p:nvSpPr>
        <p:spPr>
          <a:xfrm>
            <a:off x="365760" y="2176272"/>
            <a:ext cx="3566160" cy="658368"/>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11" name="Text 9"/>
          <p:cNvSpPr/>
          <p:nvPr/>
        </p:nvSpPr>
        <p:spPr>
          <a:xfrm>
            <a:off x="502920" y="2907792"/>
            <a:ext cx="3291840" cy="384048"/>
          </a:xfrm>
          <a:prstGeom prst="rect">
            <a:avLst/>
          </a:prstGeom>
          <a:noFill/>
          <a:ln/>
        </p:spPr>
        <p:txBody>
          <a:bodyPr wrap="square" rtlCol="0" anchor="ctr"/>
          <a:lstStyle/>
          <a:p>
            <a:pPr indent="0" marL="0">
              <a:buNone/>
            </a:pPr>
            <a:r>
              <a:rPr lang="en-US" sz="1300" b="1" dirty="0">
                <a:solidFill>
                  <a:srgbClr val="F4736A"/>
                </a:solidFill>
                <a:latin typeface="Calibri" pitchFamily="34" charset="0"/>
                <a:ea typeface="Calibri" pitchFamily="34" charset="-122"/>
                <a:cs typeface="Calibri" pitchFamily="34" charset="-120"/>
              </a:rPr>
              <a:t>One photo from one day</a:t>
            </a:r>
            <a:endParaRPr lang="en-US" sz="1300" dirty="0"/>
          </a:p>
        </p:txBody>
      </p:sp>
      <p:sp>
        <p:nvSpPr>
          <p:cNvPr id="12" name="Text 10"/>
          <p:cNvSpPr/>
          <p:nvPr/>
        </p:nvSpPr>
        <p:spPr>
          <a:xfrm>
            <a:off x="502920" y="3364992"/>
            <a:ext cx="3291840" cy="230428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A tourist snaps a photo and says 'The Everglades looks healthy — I saw lots of birds!' But one lucky day doesn't represent a trend.</a:t>
            </a:r>
            <a:endParaRPr lang="en-US" sz="1150" dirty="0"/>
          </a:p>
        </p:txBody>
      </p:sp>
      <p:sp>
        <p:nvSpPr>
          <p:cNvPr id="13" name="Shape 11"/>
          <p:cNvSpPr/>
          <p:nvPr/>
        </p:nvSpPr>
        <p:spPr>
          <a:xfrm>
            <a:off x="4251960" y="1664208"/>
            <a:ext cx="3566160" cy="4224528"/>
          </a:xfrm>
          <a:prstGeom prst="roundRect">
            <a:avLst>
              <a:gd name="adj" fmla="val 2051"/>
            </a:avLst>
          </a:prstGeom>
          <a:solidFill>
            <a:srgbClr val="1E2F45"/>
          </a:solidFill>
          <a:ln w="12700">
            <a:solidFill>
              <a:srgbClr val="FFB703"/>
            </a:solidFill>
            <a:prstDash val="solid"/>
          </a:ln>
        </p:spPr>
      </p:sp>
      <p:sp>
        <p:nvSpPr>
          <p:cNvPr id="14" name="Shape 12"/>
          <p:cNvSpPr/>
          <p:nvPr/>
        </p:nvSpPr>
        <p:spPr>
          <a:xfrm>
            <a:off x="4389120" y="1783080"/>
            <a:ext cx="1554480" cy="256032"/>
          </a:xfrm>
          <a:prstGeom prst="roundRect">
            <a:avLst>
              <a:gd name="adj" fmla="val 50000"/>
            </a:avLst>
          </a:prstGeom>
          <a:solidFill>
            <a:srgbClr val="FFB703"/>
          </a:solidFill>
          <a:ln w="12700">
            <a:solidFill>
              <a:srgbClr val="FFB703"/>
            </a:solidFill>
            <a:prstDash val="solid"/>
          </a:ln>
        </p:spPr>
      </p:sp>
      <p:sp>
        <p:nvSpPr>
          <p:cNvPr id="15" name="Text 13"/>
          <p:cNvSpPr/>
          <p:nvPr/>
        </p:nvSpPr>
        <p:spPr>
          <a:xfrm>
            <a:off x="4389120" y="178308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MEDIUM</a:t>
            </a:r>
            <a:endParaRPr lang="en-US" sz="900" dirty="0"/>
          </a:p>
        </p:txBody>
      </p:sp>
      <p:sp>
        <p:nvSpPr>
          <p:cNvPr id="16" name="Text 14"/>
          <p:cNvSpPr/>
          <p:nvPr/>
        </p:nvSpPr>
        <p:spPr>
          <a:xfrm>
            <a:off x="4251960" y="2176272"/>
            <a:ext cx="3566160" cy="658368"/>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17" name="Text 15"/>
          <p:cNvSpPr/>
          <p:nvPr/>
        </p:nvSpPr>
        <p:spPr>
          <a:xfrm>
            <a:off x="4389120" y="2907792"/>
            <a:ext cx="3291840" cy="384048"/>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Annual count (1 year)</a:t>
            </a:r>
            <a:endParaRPr lang="en-US" sz="1300" dirty="0"/>
          </a:p>
        </p:txBody>
      </p:sp>
      <p:sp>
        <p:nvSpPr>
          <p:cNvPr id="18" name="Text 16"/>
          <p:cNvSpPr/>
          <p:nvPr/>
        </p:nvSpPr>
        <p:spPr>
          <a:xfrm>
            <a:off x="4389120" y="3364992"/>
            <a:ext cx="3291840" cy="230428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A scientist counts manatees in December 2023 and gets 7,500. Better than a photo — but still just one data point.</a:t>
            </a:r>
            <a:endParaRPr lang="en-US" sz="1150" dirty="0"/>
          </a:p>
        </p:txBody>
      </p:sp>
      <p:sp>
        <p:nvSpPr>
          <p:cNvPr id="19" name="Shape 17"/>
          <p:cNvSpPr/>
          <p:nvPr/>
        </p:nvSpPr>
        <p:spPr>
          <a:xfrm>
            <a:off x="8138160" y="1664208"/>
            <a:ext cx="3566160" cy="4224528"/>
          </a:xfrm>
          <a:prstGeom prst="roundRect">
            <a:avLst>
              <a:gd name="adj" fmla="val 2051"/>
            </a:avLst>
          </a:prstGeom>
          <a:solidFill>
            <a:srgbClr val="1E2F45"/>
          </a:solidFill>
          <a:ln w="12700">
            <a:solidFill>
              <a:srgbClr val="2DC653"/>
            </a:solidFill>
            <a:prstDash val="solid"/>
          </a:ln>
        </p:spPr>
      </p:sp>
      <p:sp>
        <p:nvSpPr>
          <p:cNvPr id="20" name="Shape 18"/>
          <p:cNvSpPr/>
          <p:nvPr/>
        </p:nvSpPr>
        <p:spPr>
          <a:xfrm>
            <a:off x="8275320" y="1783080"/>
            <a:ext cx="1554480" cy="256032"/>
          </a:xfrm>
          <a:prstGeom prst="roundRect">
            <a:avLst>
              <a:gd name="adj" fmla="val 50000"/>
            </a:avLst>
          </a:prstGeom>
          <a:solidFill>
            <a:srgbClr val="2DC653"/>
          </a:solidFill>
          <a:ln w="12700">
            <a:solidFill>
              <a:srgbClr val="2DC653"/>
            </a:solidFill>
            <a:prstDash val="solid"/>
          </a:ln>
        </p:spPr>
      </p:sp>
      <p:sp>
        <p:nvSpPr>
          <p:cNvPr id="21" name="Text 19"/>
          <p:cNvSpPr/>
          <p:nvPr/>
        </p:nvSpPr>
        <p:spPr>
          <a:xfrm>
            <a:off x="8275320" y="178308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STRONGEST</a:t>
            </a:r>
            <a:endParaRPr lang="en-US" sz="900" dirty="0"/>
          </a:p>
        </p:txBody>
      </p:sp>
      <p:sp>
        <p:nvSpPr>
          <p:cNvPr id="22" name="Text 20"/>
          <p:cNvSpPr/>
          <p:nvPr/>
        </p:nvSpPr>
        <p:spPr>
          <a:xfrm>
            <a:off x="8138160" y="2176272"/>
            <a:ext cx="3566160" cy="658368"/>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23" name="Text 21"/>
          <p:cNvSpPr/>
          <p:nvPr/>
        </p:nvSpPr>
        <p:spPr>
          <a:xfrm>
            <a:off x="8275320" y="2907792"/>
            <a:ext cx="3291840" cy="384048"/>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Long-term population data</a:t>
            </a:r>
            <a:endParaRPr lang="en-US" sz="1300" dirty="0"/>
          </a:p>
        </p:txBody>
      </p:sp>
      <p:sp>
        <p:nvSpPr>
          <p:cNvPr id="24" name="Text 22"/>
          <p:cNvSpPr/>
          <p:nvPr/>
        </p:nvSpPr>
        <p:spPr>
          <a:xfrm>
            <a:off x="8275320" y="3364992"/>
            <a:ext cx="3291840" cy="230428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Scientists have counted Florida manatees EVERY YEAR since 1991. 30+ years of counts let you see real trends — not lucky or unlucky days.</a:t>
            </a:r>
            <a:endParaRPr lang="en-US" sz="1150" dirty="0"/>
          </a:p>
        </p:txBody>
      </p:sp>
      <p:sp>
        <p:nvSpPr>
          <p:cNvPr id="25" name="Shape 23"/>
          <p:cNvSpPr/>
          <p:nvPr/>
        </p:nvSpPr>
        <p:spPr>
          <a:xfrm>
            <a:off x="0" y="6629400"/>
            <a:ext cx="12192000" cy="228600"/>
          </a:xfrm>
          <a:prstGeom prst="rect">
            <a:avLst/>
          </a:prstGeom>
          <a:solidFill>
            <a:srgbClr val="162233"/>
          </a:solidFill>
          <a:ln/>
        </p:spPr>
      </p:sp>
      <p:sp>
        <p:nvSpPr>
          <p:cNvPr id="26" name="Text 2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10.02  ·  Ecosystem Balance</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4736A"/>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4736A"/>
                </a:solidFill>
                <a:latin typeface="Calibri" pitchFamily="34" charset="0"/>
                <a:ea typeface="Calibri" pitchFamily="34" charset="-122"/>
                <a:cs typeface="Calibri" pitchFamily="34" charset="-120"/>
              </a:rPr>
              <a:t>🐍  Invasive Species: Why No Natural Predators = Big Problem</a:t>
            </a:r>
            <a:endParaRPr lang="en-US" sz="1600" dirty="0"/>
          </a:p>
        </p:txBody>
      </p:sp>
      <p:sp>
        <p:nvSpPr>
          <p:cNvPr id="5" name="Shape 3"/>
          <p:cNvSpPr/>
          <p:nvPr/>
        </p:nvSpPr>
        <p:spPr>
          <a:xfrm>
            <a:off x="365760" y="713232"/>
            <a:ext cx="11521440" cy="658368"/>
          </a:xfrm>
          <a:prstGeom prst="roundRect">
            <a:avLst>
              <a:gd name="adj" fmla="val 11111"/>
            </a:avLst>
          </a:prstGeom>
          <a:solidFill>
            <a:srgbClr val="1E2F45"/>
          </a:solidFill>
          <a:ln w="12700">
            <a:solidFill>
              <a:srgbClr val="F4736A"/>
            </a:solidFill>
            <a:prstDash val="solid"/>
          </a:ln>
        </p:spPr>
      </p:sp>
      <p:sp>
        <p:nvSpPr>
          <p:cNvPr id="6" name="Text 4"/>
          <p:cNvSpPr/>
          <p:nvPr/>
        </p:nvSpPr>
        <p:spPr>
          <a:xfrm>
            <a:off x="548640" y="768096"/>
            <a:ext cx="11155680" cy="50292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Florida has MORE invasive species than almost any U.S. state — because its warm, wet climate is friendly to plants and animals from all over the world.</a:t>
            </a:r>
            <a:endParaRPr lang="en-US" sz="1250" dirty="0"/>
          </a:p>
        </p:txBody>
      </p:sp>
      <p:sp>
        <p:nvSpPr>
          <p:cNvPr id="7" name="Shape 5"/>
          <p:cNvSpPr/>
          <p:nvPr/>
        </p:nvSpPr>
        <p:spPr>
          <a:xfrm>
            <a:off x="365760" y="1508760"/>
            <a:ext cx="5303520" cy="4160520"/>
          </a:xfrm>
          <a:prstGeom prst="roundRect">
            <a:avLst>
              <a:gd name="adj" fmla="val 1758"/>
            </a:avLst>
          </a:prstGeom>
          <a:solidFill>
            <a:srgbClr val="0A1520"/>
          </a:solidFill>
          <a:ln w="19050">
            <a:solidFill>
              <a:srgbClr val="4CC9F0"/>
            </a:solidFill>
            <a:prstDash val="dash"/>
          </a:ln>
        </p:spPr>
      </p:sp>
      <p:sp>
        <p:nvSpPr>
          <p:cNvPr id="8" name="Text 6"/>
          <p:cNvSpPr/>
          <p:nvPr/>
        </p:nvSpPr>
        <p:spPr>
          <a:xfrm>
            <a:off x="457200" y="1618488"/>
            <a:ext cx="51206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9" name="Text 7"/>
          <p:cNvSpPr/>
          <p:nvPr/>
        </p:nvSpPr>
        <p:spPr>
          <a:xfrm>
            <a:off x="457200" y="2057400"/>
            <a:ext cx="512064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0" name="Text 8"/>
          <p:cNvSpPr/>
          <p:nvPr/>
        </p:nvSpPr>
        <p:spPr>
          <a:xfrm>
            <a:off x="475488" y="2350008"/>
            <a:ext cx="5084064" cy="310896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"Burmese python Florida Everglades invasive species no natural predators marsh rabbit"</a:t>
            </a:r>
            <a:endParaRPr lang="en-US" sz="950" dirty="0"/>
          </a:p>
        </p:txBody>
      </p:sp>
      <p:sp>
        <p:nvSpPr>
          <p:cNvPr id="11" name="Text 9"/>
          <p:cNvSpPr/>
          <p:nvPr/>
        </p:nvSpPr>
        <p:spPr>
          <a:xfrm>
            <a:off x="365760" y="5705856"/>
            <a:ext cx="530352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Burmese python: arrived with no natural predators. Result: food web disruption.</a:t>
            </a:r>
            <a:endParaRPr lang="en-US" sz="900" dirty="0"/>
          </a:p>
        </p:txBody>
      </p:sp>
      <p:sp>
        <p:nvSpPr>
          <p:cNvPr id="12" name="Shape 10"/>
          <p:cNvSpPr/>
          <p:nvPr/>
        </p:nvSpPr>
        <p:spPr>
          <a:xfrm>
            <a:off x="5852160" y="1508760"/>
            <a:ext cx="6035040" cy="2084832"/>
          </a:xfrm>
          <a:prstGeom prst="roundRect">
            <a:avLst>
              <a:gd name="adj" fmla="val 3509"/>
            </a:avLst>
          </a:prstGeom>
          <a:solidFill>
            <a:srgbClr val="2A0A0A"/>
          </a:solidFill>
          <a:ln w="12700">
            <a:solidFill>
              <a:srgbClr val="F4736A"/>
            </a:solidFill>
            <a:prstDash val="solid"/>
          </a:ln>
        </p:spPr>
      </p:sp>
      <p:sp>
        <p:nvSpPr>
          <p:cNvPr id="13" name="Text 11"/>
          <p:cNvSpPr/>
          <p:nvPr/>
        </p:nvSpPr>
        <p:spPr>
          <a:xfrm>
            <a:off x="6035040" y="1627632"/>
            <a:ext cx="5669280" cy="310896"/>
          </a:xfrm>
          <a:prstGeom prst="rect">
            <a:avLst/>
          </a:prstGeom>
          <a:noFill/>
          <a:ln/>
        </p:spPr>
        <p:txBody>
          <a:bodyPr wrap="square" rtlCol="0" anchor="ctr"/>
          <a:lstStyle/>
          <a:p>
            <a:pPr indent="0" marL="0">
              <a:buNone/>
            </a:pPr>
            <a:r>
              <a:rPr lang="en-US" sz="1300" b="1" dirty="0">
                <a:solidFill>
                  <a:srgbClr val="F4736A"/>
                </a:solidFill>
                <a:latin typeface="Calibri" pitchFamily="34" charset="0"/>
                <a:ea typeface="Calibri" pitchFamily="34" charset="-122"/>
                <a:cs typeface="Calibri" pitchFamily="34" charset="-120"/>
              </a:rPr>
              <a:t>Why Invasive Species Are So Harmful:</a:t>
            </a:r>
            <a:endParaRPr lang="en-US" sz="1300" dirty="0"/>
          </a:p>
        </p:txBody>
      </p:sp>
      <p:sp>
        <p:nvSpPr>
          <p:cNvPr id="14" name="Text 12"/>
          <p:cNvSpPr/>
          <p:nvPr/>
        </p:nvSpPr>
        <p:spPr>
          <a:xfrm>
            <a:off x="6035040" y="1965960"/>
            <a:ext cx="5669280" cy="384048"/>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No natural predators → population explodes</a:t>
            </a:r>
            <a:endParaRPr lang="en-US" sz="1200" dirty="0"/>
          </a:p>
        </p:txBody>
      </p:sp>
      <p:sp>
        <p:nvSpPr>
          <p:cNvPr id="15" name="Text 13"/>
          <p:cNvSpPr/>
          <p:nvPr/>
        </p:nvSpPr>
        <p:spPr>
          <a:xfrm>
            <a:off x="6035040" y="2404872"/>
            <a:ext cx="5669280" cy="384048"/>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Eats native animals that have no defense</a:t>
            </a:r>
            <a:endParaRPr lang="en-US" sz="1200" dirty="0"/>
          </a:p>
        </p:txBody>
      </p:sp>
      <p:sp>
        <p:nvSpPr>
          <p:cNvPr id="16" name="Text 14"/>
          <p:cNvSpPr/>
          <p:nvPr/>
        </p:nvSpPr>
        <p:spPr>
          <a:xfrm>
            <a:off x="6035040" y="2843784"/>
            <a:ext cx="5669280" cy="384048"/>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Native animals can't adapt fast enough</a:t>
            </a:r>
            <a:endParaRPr lang="en-US" sz="1200" dirty="0"/>
          </a:p>
        </p:txBody>
      </p:sp>
      <p:sp>
        <p:nvSpPr>
          <p:cNvPr id="17" name="Text 15"/>
          <p:cNvSpPr/>
          <p:nvPr/>
        </p:nvSpPr>
        <p:spPr>
          <a:xfrm>
            <a:off x="6035040" y="3282696"/>
            <a:ext cx="5669280" cy="384048"/>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Populations of small mammals dropped 90-99% in python territory</a:t>
            </a:r>
            <a:endParaRPr lang="en-US" sz="1200" dirty="0"/>
          </a:p>
        </p:txBody>
      </p:sp>
      <p:sp>
        <p:nvSpPr>
          <p:cNvPr id="18" name="Shape 16"/>
          <p:cNvSpPr/>
          <p:nvPr/>
        </p:nvSpPr>
        <p:spPr>
          <a:xfrm>
            <a:off x="5852160" y="3730752"/>
            <a:ext cx="6035040" cy="1938528"/>
          </a:xfrm>
          <a:prstGeom prst="roundRect">
            <a:avLst>
              <a:gd name="adj" fmla="val 3774"/>
            </a:avLst>
          </a:prstGeom>
          <a:solidFill>
            <a:srgbClr val="1E2F45"/>
          </a:solidFill>
          <a:ln w="12700">
            <a:solidFill>
              <a:srgbClr val="FFB703"/>
            </a:solidFill>
            <a:prstDash val="solid"/>
          </a:ln>
        </p:spPr>
      </p:sp>
      <p:sp>
        <p:nvSpPr>
          <p:cNvPr id="19" name="Text 17"/>
          <p:cNvSpPr/>
          <p:nvPr/>
        </p:nvSpPr>
        <p:spPr>
          <a:xfrm>
            <a:off x="6035040" y="3822192"/>
            <a:ext cx="5669280" cy="310896"/>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Other Florida Invasives:</a:t>
            </a:r>
            <a:endParaRPr lang="en-US" sz="1200" dirty="0"/>
          </a:p>
        </p:txBody>
      </p:sp>
      <p:sp>
        <p:nvSpPr>
          <p:cNvPr id="20" name="Text 18"/>
          <p:cNvSpPr/>
          <p:nvPr/>
        </p:nvSpPr>
        <p:spPr>
          <a:xfrm>
            <a:off x="6035040" y="4169664"/>
            <a:ext cx="5669280" cy="384048"/>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Lionfish — eats 50+ reef fish species</a:t>
            </a:r>
            <a:endParaRPr lang="en-US" sz="1200" dirty="0"/>
          </a:p>
        </p:txBody>
      </p:sp>
      <p:sp>
        <p:nvSpPr>
          <p:cNvPr id="21" name="Text 19"/>
          <p:cNvSpPr/>
          <p:nvPr/>
        </p:nvSpPr>
        <p:spPr>
          <a:xfrm>
            <a:off x="6035040" y="4608576"/>
            <a:ext cx="5669280" cy="384048"/>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Air potato vine — smothers native plants</a:t>
            </a:r>
            <a:endParaRPr lang="en-US" sz="1200" dirty="0"/>
          </a:p>
        </p:txBody>
      </p:sp>
      <p:sp>
        <p:nvSpPr>
          <p:cNvPr id="22" name="Text 20"/>
          <p:cNvSpPr/>
          <p:nvPr/>
        </p:nvSpPr>
        <p:spPr>
          <a:xfrm>
            <a:off x="6035040" y="5047488"/>
            <a:ext cx="5669280" cy="384048"/>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Fire ants — harm ground-nesting birds</a:t>
            </a:r>
            <a:endParaRPr lang="en-US" sz="1200" dirty="0"/>
          </a:p>
        </p:txBody>
      </p:sp>
      <p:sp>
        <p:nvSpPr>
          <p:cNvPr id="23" name="Shape 21"/>
          <p:cNvSpPr/>
          <p:nvPr/>
        </p:nvSpPr>
        <p:spPr>
          <a:xfrm>
            <a:off x="0" y="6629400"/>
            <a:ext cx="12192000" cy="228600"/>
          </a:xfrm>
          <a:prstGeom prst="rect">
            <a:avLst/>
          </a:prstGeom>
          <a:solidFill>
            <a:srgbClr val="162233"/>
          </a:solidFill>
          <a:ln/>
        </p:spPr>
      </p:sp>
      <p:sp>
        <p:nvSpPr>
          <p:cNvPr id="24" name="Text 22"/>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10.02  ·  Ecosystem Balance</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  Conservation in Action: Florida Success Stories</a:t>
            </a:r>
            <a:endParaRPr lang="en-US" sz="1600" dirty="0"/>
          </a:p>
        </p:txBody>
      </p:sp>
      <p:sp>
        <p:nvSpPr>
          <p:cNvPr id="5" name="Shape 3"/>
          <p:cNvSpPr/>
          <p:nvPr/>
        </p:nvSpPr>
        <p:spPr>
          <a:xfrm>
            <a:off x="365760" y="713232"/>
            <a:ext cx="11521440" cy="658368"/>
          </a:xfrm>
          <a:prstGeom prst="roundRect">
            <a:avLst>
              <a:gd name="adj" fmla="val 11111"/>
            </a:avLst>
          </a:prstGeom>
          <a:solidFill>
            <a:srgbClr val="1E2F45"/>
          </a:solidFill>
          <a:ln w="12700">
            <a:solidFill>
              <a:srgbClr val="2DC653"/>
            </a:solidFill>
            <a:prstDash val="solid"/>
          </a:ln>
        </p:spPr>
      </p:sp>
      <p:sp>
        <p:nvSpPr>
          <p:cNvPr id="6" name="Text 4"/>
          <p:cNvSpPr/>
          <p:nvPr/>
        </p:nvSpPr>
        <p:spPr>
          <a:xfrm>
            <a:off x="548640" y="768096"/>
            <a:ext cx="11155680" cy="50292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Conservation works — but only when people collect data, make laws, and protect key species. Here are real Florida wins:</a:t>
            </a:r>
            <a:endParaRPr lang="en-US" sz="1250" dirty="0"/>
          </a:p>
        </p:txBody>
      </p:sp>
      <p:sp>
        <p:nvSpPr>
          <p:cNvPr id="7" name="Shape 5"/>
          <p:cNvSpPr/>
          <p:nvPr/>
        </p:nvSpPr>
        <p:spPr>
          <a:xfrm>
            <a:off x="365760" y="1508760"/>
            <a:ext cx="3566160" cy="4736592"/>
          </a:xfrm>
          <a:prstGeom prst="roundRect">
            <a:avLst>
              <a:gd name="adj" fmla="val 2051"/>
            </a:avLst>
          </a:prstGeom>
          <a:solidFill>
            <a:srgbClr val="1E2F45"/>
          </a:solidFill>
          <a:ln w="12700">
            <a:solidFill>
              <a:srgbClr val="4CC9F0"/>
            </a:solidFill>
            <a:prstDash val="solid"/>
          </a:ln>
        </p:spPr>
      </p:sp>
      <p:sp>
        <p:nvSpPr>
          <p:cNvPr id="8" name="Text 6"/>
          <p:cNvSpPr/>
          <p:nvPr/>
        </p:nvSpPr>
        <p:spPr>
          <a:xfrm>
            <a:off x="365760" y="1645920"/>
            <a:ext cx="3566160" cy="658368"/>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9" name="Text 7"/>
          <p:cNvSpPr/>
          <p:nvPr/>
        </p:nvSpPr>
        <p:spPr>
          <a:xfrm>
            <a:off x="502920" y="2377440"/>
            <a:ext cx="3291840" cy="347472"/>
          </a:xfrm>
          <a:prstGeom prst="rect">
            <a:avLst/>
          </a:prstGeom>
          <a:noFill/>
          <a:ln/>
        </p:spPr>
        <p:txBody>
          <a:bodyPr wrap="square" rtlCol="0" anchor="ctr"/>
          <a:lstStyle/>
          <a:p>
            <a:pPr algn="ctr" indent="0" marL="0">
              <a:buNone/>
            </a:pPr>
            <a:r>
              <a:rPr lang="en-US" sz="1400" b="1" dirty="0">
                <a:solidFill>
                  <a:srgbClr val="4CC9F0"/>
                </a:solidFill>
                <a:latin typeface="Calibri" pitchFamily="34" charset="0"/>
                <a:ea typeface="Calibri" pitchFamily="34" charset="-122"/>
                <a:cs typeface="Calibri" pitchFamily="34" charset="-120"/>
              </a:rPr>
              <a:t>Florida Manatee</a:t>
            </a:r>
            <a:endParaRPr lang="en-US" sz="1400" dirty="0"/>
          </a:p>
        </p:txBody>
      </p:sp>
      <p:sp>
        <p:nvSpPr>
          <p:cNvPr id="10" name="Text 8"/>
          <p:cNvSpPr/>
          <p:nvPr/>
        </p:nvSpPr>
        <p:spPr>
          <a:xfrm>
            <a:off x="502920" y="2788920"/>
            <a:ext cx="3291840" cy="256032"/>
          </a:xfrm>
          <a:prstGeom prst="rect">
            <a:avLst/>
          </a:prstGeom>
          <a:noFill/>
          <a:ln/>
        </p:spPr>
        <p:txBody>
          <a:bodyPr wrap="square" rtlCol="0" anchor="ctr"/>
          <a:lstStyle/>
          <a:p>
            <a:pPr indent="0" marL="0">
              <a:buNone/>
            </a:pPr>
            <a:r>
              <a:rPr lang="en-US" sz="1050" b="1" dirty="0">
                <a:solidFill>
                  <a:srgbClr val="F4736A"/>
                </a:solidFill>
                <a:latin typeface="Calibri" pitchFamily="34" charset="0"/>
                <a:ea typeface="Calibri" pitchFamily="34" charset="-122"/>
                <a:cs typeface="Calibri" pitchFamily="34" charset="-120"/>
              </a:rPr>
              <a:t>Before:</a:t>
            </a:r>
            <a:endParaRPr lang="en-US" sz="1050" dirty="0"/>
          </a:p>
        </p:txBody>
      </p:sp>
      <p:sp>
        <p:nvSpPr>
          <p:cNvPr id="11" name="Text 9"/>
          <p:cNvSpPr/>
          <p:nvPr/>
        </p:nvSpPr>
        <p:spPr>
          <a:xfrm>
            <a:off x="502920" y="3063240"/>
            <a:ext cx="3291840" cy="29260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~1,200 in 1991</a:t>
            </a:r>
            <a:endParaRPr lang="en-US" sz="1100" dirty="0"/>
          </a:p>
        </p:txBody>
      </p:sp>
      <p:sp>
        <p:nvSpPr>
          <p:cNvPr id="12" name="Text 10"/>
          <p:cNvSpPr/>
          <p:nvPr/>
        </p:nvSpPr>
        <p:spPr>
          <a:xfrm>
            <a:off x="502920" y="3401568"/>
            <a:ext cx="3291840" cy="256032"/>
          </a:xfrm>
          <a:prstGeom prst="rect">
            <a:avLst/>
          </a:prstGeom>
          <a:noFill/>
          <a:ln/>
        </p:spPr>
        <p:txBody>
          <a:bodyPr wrap="square" rtlCol="0" anchor="ctr"/>
          <a:lstStyle/>
          <a:p>
            <a:pPr indent="0" marL="0">
              <a:buNone/>
            </a:pPr>
            <a:r>
              <a:rPr lang="en-US" sz="1050" b="1" dirty="0">
                <a:solidFill>
                  <a:srgbClr val="2DC653"/>
                </a:solidFill>
                <a:latin typeface="Calibri" pitchFamily="34" charset="0"/>
                <a:ea typeface="Calibri" pitchFamily="34" charset="-122"/>
                <a:cs typeface="Calibri" pitchFamily="34" charset="-120"/>
              </a:rPr>
              <a:t>After:</a:t>
            </a:r>
            <a:endParaRPr lang="en-US" sz="1050" dirty="0"/>
          </a:p>
        </p:txBody>
      </p:sp>
      <p:sp>
        <p:nvSpPr>
          <p:cNvPr id="13" name="Text 11"/>
          <p:cNvSpPr/>
          <p:nvPr/>
        </p:nvSpPr>
        <p:spPr>
          <a:xfrm>
            <a:off x="502920" y="3675888"/>
            <a:ext cx="3291840" cy="29260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~7,500 today</a:t>
            </a:r>
            <a:endParaRPr lang="en-US" sz="1100" dirty="0"/>
          </a:p>
        </p:txBody>
      </p:sp>
      <p:sp>
        <p:nvSpPr>
          <p:cNvPr id="14" name="Text 12"/>
          <p:cNvSpPr/>
          <p:nvPr/>
        </p:nvSpPr>
        <p:spPr>
          <a:xfrm>
            <a:off x="502920" y="4005072"/>
            <a:ext cx="3291840" cy="256032"/>
          </a:xfrm>
          <a:prstGeom prst="rect">
            <a:avLst/>
          </a:prstGeom>
          <a:noFill/>
          <a:ln/>
        </p:spPr>
        <p:txBody>
          <a:bodyPr wrap="square" rtlCol="0" anchor="ctr"/>
          <a:lstStyle/>
          <a:p>
            <a:pPr indent="0" marL="0">
              <a:buNone/>
            </a:pPr>
            <a:r>
              <a:rPr lang="en-US" sz="1050" b="1" dirty="0">
                <a:solidFill>
                  <a:srgbClr val="FFB703"/>
                </a:solidFill>
                <a:latin typeface="Calibri" pitchFamily="34" charset="0"/>
                <a:ea typeface="Calibri" pitchFamily="34" charset="-122"/>
                <a:cs typeface="Calibri" pitchFamily="34" charset="-120"/>
              </a:rPr>
              <a:t>What helped:</a:t>
            </a:r>
            <a:endParaRPr lang="en-US" sz="1050" dirty="0"/>
          </a:p>
        </p:txBody>
      </p:sp>
      <p:sp>
        <p:nvSpPr>
          <p:cNvPr id="15" name="Text 13"/>
          <p:cNvSpPr/>
          <p:nvPr/>
        </p:nvSpPr>
        <p:spPr>
          <a:xfrm>
            <a:off x="502920" y="4279392"/>
            <a:ext cx="3291840" cy="91440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Boat speed limits + protected zones + citizen reporting</a:t>
            </a:r>
            <a:endParaRPr lang="en-US" sz="1100" dirty="0"/>
          </a:p>
        </p:txBody>
      </p:sp>
      <p:sp>
        <p:nvSpPr>
          <p:cNvPr id="16" name="Shape 14"/>
          <p:cNvSpPr/>
          <p:nvPr/>
        </p:nvSpPr>
        <p:spPr>
          <a:xfrm>
            <a:off x="4251960" y="1508760"/>
            <a:ext cx="3566160" cy="4736592"/>
          </a:xfrm>
          <a:prstGeom prst="roundRect">
            <a:avLst>
              <a:gd name="adj" fmla="val 2051"/>
            </a:avLst>
          </a:prstGeom>
          <a:solidFill>
            <a:srgbClr val="1E2F45"/>
          </a:solidFill>
          <a:ln w="12700">
            <a:solidFill>
              <a:srgbClr val="FFB703"/>
            </a:solidFill>
            <a:prstDash val="solid"/>
          </a:ln>
        </p:spPr>
      </p:sp>
      <p:sp>
        <p:nvSpPr>
          <p:cNvPr id="17" name="Text 15"/>
          <p:cNvSpPr/>
          <p:nvPr/>
        </p:nvSpPr>
        <p:spPr>
          <a:xfrm>
            <a:off x="4251960" y="1645920"/>
            <a:ext cx="3566160" cy="658368"/>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18" name="Text 16"/>
          <p:cNvSpPr/>
          <p:nvPr/>
        </p:nvSpPr>
        <p:spPr>
          <a:xfrm>
            <a:off x="4389120" y="2377440"/>
            <a:ext cx="3291840" cy="347472"/>
          </a:xfrm>
          <a:prstGeom prst="rect">
            <a:avLst/>
          </a:prstGeom>
          <a:noFill/>
          <a:ln/>
        </p:spPr>
        <p:txBody>
          <a:bodyPr wrap="square" rtlCol="0" anchor="ctr"/>
          <a:lstStyle/>
          <a:p>
            <a:pPr algn="ctr" indent="0" marL="0">
              <a:buNone/>
            </a:pPr>
            <a:r>
              <a:rPr lang="en-US" sz="1400" b="1" dirty="0">
                <a:solidFill>
                  <a:srgbClr val="FFB703"/>
                </a:solidFill>
                <a:latin typeface="Calibri" pitchFamily="34" charset="0"/>
                <a:ea typeface="Calibri" pitchFamily="34" charset="-122"/>
                <a:cs typeface="Calibri" pitchFamily="34" charset="-120"/>
              </a:rPr>
              <a:t>Florida Panther</a:t>
            </a:r>
            <a:endParaRPr lang="en-US" sz="1400" dirty="0"/>
          </a:p>
        </p:txBody>
      </p:sp>
      <p:sp>
        <p:nvSpPr>
          <p:cNvPr id="19" name="Text 17"/>
          <p:cNvSpPr/>
          <p:nvPr/>
        </p:nvSpPr>
        <p:spPr>
          <a:xfrm>
            <a:off x="4389120" y="2788920"/>
            <a:ext cx="3291840" cy="256032"/>
          </a:xfrm>
          <a:prstGeom prst="rect">
            <a:avLst/>
          </a:prstGeom>
          <a:noFill/>
          <a:ln/>
        </p:spPr>
        <p:txBody>
          <a:bodyPr wrap="square" rtlCol="0" anchor="ctr"/>
          <a:lstStyle/>
          <a:p>
            <a:pPr indent="0" marL="0">
              <a:buNone/>
            </a:pPr>
            <a:r>
              <a:rPr lang="en-US" sz="1050" b="1" dirty="0">
                <a:solidFill>
                  <a:srgbClr val="F4736A"/>
                </a:solidFill>
                <a:latin typeface="Calibri" pitchFamily="34" charset="0"/>
                <a:ea typeface="Calibri" pitchFamily="34" charset="-122"/>
                <a:cs typeface="Calibri" pitchFamily="34" charset="-120"/>
              </a:rPr>
              <a:t>Before:</a:t>
            </a:r>
            <a:endParaRPr lang="en-US" sz="1050" dirty="0"/>
          </a:p>
        </p:txBody>
      </p:sp>
      <p:sp>
        <p:nvSpPr>
          <p:cNvPr id="20" name="Text 18"/>
          <p:cNvSpPr/>
          <p:nvPr/>
        </p:nvSpPr>
        <p:spPr>
          <a:xfrm>
            <a:off x="4389120" y="3063240"/>
            <a:ext cx="3291840" cy="29260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~20 in the 1990s</a:t>
            </a:r>
            <a:endParaRPr lang="en-US" sz="1100" dirty="0"/>
          </a:p>
        </p:txBody>
      </p:sp>
      <p:sp>
        <p:nvSpPr>
          <p:cNvPr id="21" name="Text 19"/>
          <p:cNvSpPr/>
          <p:nvPr/>
        </p:nvSpPr>
        <p:spPr>
          <a:xfrm>
            <a:off x="4389120" y="3401568"/>
            <a:ext cx="3291840" cy="256032"/>
          </a:xfrm>
          <a:prstGeom prst="rect">
            <a:avLst/>
          </a:prstGeom>
          <a:noFill/>
          <a:ln/>
        </p:spPr>
        <p:txBody>
          <a:bodyPr wrap="square" rtlCol="0" anchor="ctr"/>
          <a:lstStyle/>
          <a:p>
            <a:pPr indent="0" marL="0">
              <a:buNone/>
            </a:pPr>
            <a:r>
              <a:rPr lang="en-US" sz="1050" b="1" dirty="0">
                <a:solidFill>
                  <a:srgbClr val="2DC653"/>
                </a:solidFill>
                <a:latin typeface="Calibri" pitchFamily="34" charset="0"/>
                <a:ea typeface="Calibri" pitchFamily="34" charset="-122"/>
                <a:cs typeface="Calibri" pitchFamily="34" charset="-120"/>
              </a:rPr>
              <a:t>After:</a:t>
            </a:r>
            <a:endParaRPr lang="en-US" sz="1050" dirty="0"/>
          </a:p>
        </p:txBody>
      </p:sp>
      <p:sp>
        <p:nvSpPr>
          <p:cNvPr id="22" name="Text 20"/>
          <p:cNvSpPr/>
          <p:nvPr/>
        </p:nvSpPr>
        <p:spPr>
          <a:xfrm>
            <a:off x="4389120" y="3675888"/>
            <a:ext cx="3291840" cy="29260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200+ today</a:t>
            </a:r>
            <a:endParaRPr lang="en-US" sz="1100" dirty="0"/>
          </a:p>
        </p:txBody>
      </p:sp>
      <p:sp>
        <p:nvSpPr>
          <p:cNvPr id="23" name="Text 21"/>
          <p:cNvSpPr/>
          <p:nvPr/>
        </p:nvSpPr>
        <p:spPr>
          <a:xfrm>
            <a:off x="4389120" y="4005072"/>
            <a:ext cx="3291840" cy="256032"/>
          </a:xfrm>
          <a:prstGeom prst="rect">
            <a:avLst/>
          </a:prstGeom>
          <a:noFill/>
          <a:ln/>
        </p:spPr>
        <p:txBody>
          <a:bodyPr wrap="square" rtlCol="0" anchor="ctr"/>
          <a:lstStyle/>
          <a:p>
            <a:pPr indent="0" marL="0">
              <a:buNone/>
            </a:pPr>
            <a:r>
              <a:rPr lang="en-US" sz="1050" b="1" dirty="0">
                <a:solidFill>
                  <a:srgbClr val="FFB703"/>
                </a:solidFill>
                <a:latin typeface="Calibri" pitchFamily="34" charset="0"/>
                <a:ea typeface="Calibri" pitchFamily="34" charset="-122"/>
                <a:cs typeface="Calibri" pitchFamily="34" charset="-120"/>
              </a:rPr>
              <a:t>What helped:</a:t>
            </a:r>
            <a:endParaRPr lang="en-US" sz="1050" dirty="0"/>
          </a:p>
        </p:txBody>
      </p:sp>
      <p:sp>
        <p:nvSpPr>
          <p:cNvPr id="24" name="Text 22"/>
          <p:cNvSpPr/>
          <p:nvPr/>
        </p:nvSpPr>
        <p:spPr>
          <a:xfrm>
            <a:off x="4389120" y="4279392"/>
            <a:ext cx="3291840" cy="91440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Wildlife corridors + strict habitat protection + breeding program</a:t>
            </a:r>
            <a:endParaRPr lang="en-US" sz="1100" dirty="0"/>
          </a:p>
        </p:txBody>
      </p:sp>
      <p:sp>
        <p:nvSpPr>
          <p:cNvPr id="25" name="Shape 23"/>
          <p:cNvSpPr/>
          <p:nvPr/>
        </p:nvSpPr>
        <p:spPr>
          <a:xfrm>
            <a:off x="8138160" y="1508760"/>
            <a:ext cx="3566160" cy="4736592"/>
          </a:xfrm>
          <a:prstGeom prst="roundRect">
            <a:avLst>
              <a:gd name="adj" fmla="val 2051"/>
            </a:avLst>
          </a:prstGeom>
          <a:solidFill>
            <a:srgbClr val="1E2F45"/>
          </a:solidFill>
          <a:ln w="12700">
            <a:solidFill>
              <a:srgbClr val="2DC653"/>
            </a:solidFill>
            <a:prstDash val="solid"/>
          </a:ln>
        </p:spPr>
      </p:sp>
      <p:sp>
        <p:nvSpPr>
          <p:cNvPr id="26" name="Text 24"/>
          <p:cNvSpPr/>
          <p:nvPr/>
        </p:nvSpPr>
        <p:spPr>
          <a:xfrm>
            <a:off x="8138160" y="1645920"/>
            <a:ext cx="3566160" cy="658368"/>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27" name="Text 25"/>
          <p:cNvSpPr/>
          <p:nvPr/>
        </p:nvSpPr>
        <p:spPr>
          <a:xfrm>
            <a:off x="8275320" y="2377440"/>
            <a:ext cx="3291840" cy="347472"/>
          </a:xfrm>
          <a:prstGeom prst="rect">
            <a:avLst/>
          </a:prstGeom>
          <a:noFill/>
          <a:ln/>
        </p:spPr>
        <p:txBody>
          <a:bodyPr wrap="square" rtlCol="0" anchor="ctr"/>
          <a:lstStyle/>
          <a:p>
            <a:pPr algn="ctr" indent="0" marL="0">
              <a:buNone/>
            </a:pPr>
            <a:r>
              <a:rPr lang="en-US" sz="1400" b="1" dirty="0">
                <a:solidFill>
                  <a:srgbClr val="2DC653"/>
                </a:solidFill>
                <a:latin typeface="Calibri" pitchFamily="34" charset="0"/>
                <a:ea typeface="Calibri" pitchFamily="34" charset="-122"/>
                <a:cs typeface="Calibri" pitchFamily="34" charset="-120"/>
              </a:rPr>
              <a:t>American Alligator</a:t>
            </a:r>
            <a:endParaRPr lang="en-US" sz="1400" dirty="0"/>
          </a:p>
        </p:txBody>
      </p:sp>
      <p:sp>
        <p:nvSpPr>
          <p:cNvPr id="28" name="Text 26"/>
          <p:cNvSpPr/>
          <p:nvPr/>
        </p:nvSpPr>
        <p:spPr>
          <a:xfrm>
            <a:off x="8275320" y="2788920"/>
            <a:ext cx="3291840" cy="256032"/>
          </a:xfrm>
          <a:prstGeom prst="rect">
            <a:avLst/>
          </a:prstGeom>
          <a:noFill/>
          <a:ln/>
        </p:spPr>
        <p:txBody>
          <a:bodyPr wrap="square" rtlCol="0" anchor="ctr"/>
          <a:lstStyle/>
          <a:p>
            <a:pPr indent="0" marL="0">
              <a:buNone/>
            </a:pPr>
            <a:r>
              <a:rPr lang="en-US" sz="1050" b="1" dirty="0">
                <a:solidFill>
                  <a:srgbClr val="F4736A"/>
                </a:solidFill>
                <a:latin typeface="Calibri" pitchFamily="34" charset="0"/>
                <a:ea typeface="Calibri" pitchFamily="34" charset="-122"/>
                <a:cs typeface="Calibri" pitchFamily="34" charset="-120"/>
              </a:rPr>
              <a:t>Before:</a:t>
            </a:r>
            <a:endParaRPr lang="en-US" sz="1050" dirty="0"/>
          </a:p>
        </p:txBody>
      </p:sp>
      <p:sp>
        <p:nvSpPr>
          <p:cNvPr id="29" name="Text 27"/>
          <p:cNvSpPr/>
          <p:nvPr/>
        </p:nvSpPr>
        <p:spPr>
          <a:xfrm>
            <a:off x="8275320" y="3063240"/>
            <a:ext cx="3291840" cy="29260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Nearly hunted to extinction</a:t>
            </a:r>
            <a:endParaRPr lang="en-US" sz="1100" dirty="0"/>
          </a:p>
        </p:txBody>
      </p:sp>
      <p:sp>
        <p:nvSpPr>
          <p:cNvPr id="30" name="Text 28"/>
          <p:cNvSpPr/>
          <p:nvPr/>
        </p:nvSpPr>
        <p:spPr>
          <a:xfrm>
            <a:off x="8275320" y="3401568"/>
            <a:ext cx="3291840" cy="256032"/>
          </a:xfrm>
          <a:prstGeom prst="rect">
            <a:avLst/>
          </a:prstGeom>
          <a:noFill/>
          <a:ln/>
        </p:spPr>
        <p:txBody>
          <a:bodyPr wrap="square" rtlCol="0" anchor="ctr"/>
          <a:lstStyle/>
          <a:p>
            <a:pPr indent="0" marL="0">
              <a:buNone/>
            </a:pPr>
            <a:r>
              <a:rPr lang="en-US" sz="1050" b="1" dirty="0">
                <a:solidFill>
                  <a:srgbClr val="2DC653"/>
                </a:solidFill>
                <a:latin typeface="Calibri" pitchFamily="34" charset="0"/>
                <a:ea typeface="Calibri" pitchFamily="34" charset="-122"/>
                <a:cs typeface="Calibri" pitchFamily="34" charset="-120"/>
              </a:rPr>
              <a:t>After:</a:t>
            </a:r>
            <a:endParaRPr lang="en-US" sz="1050" dirty="0"/>
          </a:p>
        </p:txBody>
      </p:sp>
      <p:sp>
        <p:nvSpPr>
          <p:cNvPr id="31" name="Text 29"/>
          <p:cNvSpPr/>
          <p:nvPr/>
        </p:nvSpPr>
        <p:spPr>
          <a:xfrm>
            <a:off x="8275320" y="3675888"/>
            <a:ext cx="3291840" cy="29260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Fully recovered (200,000+ in FL)</a:t>
            </a:r>
            <a:endParaRPr lang="en-US" sz="1100" dirty="0"/>
          </a:p>
        </p:txBody>
      </p:sp>
      <p:sp>
        <p:nvSpPr>
          <p:cNvPr id="32" name="Text 30"/>
          <p:cNvSpPr/>
          <p:nvPr/>
        </p:nvSpPr>
        <p:spPr>
          <a:xfrm>
            <a:off x="8275320" y="4005072"/>
            <a:ext cx="3291840" cy="256032"/>
          </a:xfrm>
          <a:prstGeom prst="rect">
            <a:avLst/>
          </a:prstGeom>
          <a:noFill/>
          <a:ln/>
        </p:spPr>
        <p:txBody>
          <a:bodyPr wrap="square" rtlCol="0" anchor="ctr"/>
          <a:lstStyle/>
          <a:p>
            <a:pPr indent="0" marL="0">
              <a:buNone/>
            </a:pPr>
            <a:r>
              <a:rPr lang="en-US" sz="1050" b="1" dirty="0">
                <a:solidFill>
                  <a:srgbClr val="FFB703"/>
                </a:solidFill>
                <a:latin typeface="Calibri" pitchFamily="34" charset="0"/>
                <a:ea typeface="Calibri" pitchFamily="34" charset="-122"/>
                <a:cs typeface="Calibri" pitchFamily="34" charset="-120"/>
              </a:rPr>
              <a:t>What helped:</a:t>
            </a:r>
            <a:endParaRPr lang="en-US" sz="1050" dirty="0"/>
          </a:p>
        </p:txBody>
      </p:sp>
      <p:sp>
        <p:nvSpPr>
          <p:cNvPr id="33" name="Text 31"/>
          <p:cNvSpPr/>
          <p:nvPr/>
        </p:nvSpPr>
        <p:spPr>
          <a:xfrm>
            <a:off x="8275320" y="4279392"/>
            <a:ext cx="3291840" cy="91440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Hunting ban in 1967 + habitat protection</a:t>
            </a:r>
            <a:endParaRPr lang="en-US" sz="1100" dirty="0"/>
          </a:p>
        </p:txBody>
      </p:sp>
      <p:sp>
        <p:nvSpPr>
          <p:cNvPr id="34" name="Shape 32"/>
          <p:cNvSpPr/>
          <p:nvPr/>
        </p:nvSpPr>
        <p:spPr>
          <a:xfrm>
            <a:off x="0" y="6629400"/>
            <a:ext cx="12192000" cy="228600"/>
          </a:xfrm>
          <a:prstGeom prst="rect">
            <a:avLst/>
          </a:prstGeom>
          <a:solidFill>
            <a:srgbClr val="162233"/>
          </a:solidFill>
          <a:ln/>
        </p:spPr>
      </p:sp>
      <p:sp>
        <p:nvSpPr>
          <p:cNvPr id="35" name="Text 33"/>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10.02  ·  Ecosystem Balance</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Think Like a Scientist: Citizen Science + Evidence</a:t>
            </a:r>
            <a:endParaRPr lang="en-US" sz="1600" dirty="0"/>
          </a:p>
        </p:txBody>
      </p:sp>
      <p:sp>
        <p:nvSpPr>
          <p:cNvPr id="5" name="Shape 3"/>
          <p:cNvSpPr/>
          <p:nvPr/>
        </p:nvSpPr>
        <p:spPr>
          <a:xfrm>
            <a:off x="365760" y="713232"/>
            <a:ext cx="11521440" cy="804672"/>
          </a:xfrm>
          <a:prstGeom prst="roundRect">
            <a:avLst>
              <a:gd name="adj" fmla="val 9091"/>
            </a:avLst>
          </a:prstGeom>
          <a:solidFill>
            <a:srgbClr val="1E2F45"/>
          </a:solidFill>
          <a:ln w="12700">
            <a:solidFill>
              <a:srgbClr val="FFB703"/>
            </a:solidFill>
            <a:prstDash val="solid"/>
          </a:ln>
        </p:spPr>
      </p:sp>
      <p:sp>
        <p:nvSpPr>
          <p:cNvPr id="6" name="Text 4"/>
          <p:cNvSpPr/>
          <p:nvPr/>
        </p:nvSpPr>
        <p:spPr>
          <a:xfrm>
            <a:off x="548640" y="768096"/>
            <a:ext cx="11155680" cy="65836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Scientists can't count every bird, fish, or plant by themselves — there's too much state! So they invite regular people to help. Your numbers can shape real decisions.</a:t>
            </a:r>
            <a:endParaRPr lang="en-US" sz="1300" dirty="0"/>
          </a:p>
        </p:txBody>
      </p:sp>
      <p:sp>
        <p:nvSpPr>
          <p:cNvPr id="7" name="Shape 5"/>
          <p:cNvSpPr/>
          <p:nvPr/>
        </p:nvSpPr>
        <p:spPr>
          <a:xfrm>
            <a:off x="365760" y="1664208"/>
            <a:ext cx="5303520" cy="3218688"/>
          </a:xfrm>
          <a:prstGeom prst="roundRect">
            <a:avLst>
              <a:gd name="adj" fmla="val 2273"/>
            </a:avLst>
          </a:prstGeom>
          <a:solidFill>
            <a:srgbClr val="0A1520"/>
          </a:solidFill>
          <a:ln w="19050">
            <a:solidFill>
              <a:srgbClr val="4CC9F0"/>
            </a:solidFill>
            <a:prstDash val="dash"/>
          </a:ln>
        </p:spPr>
      </p:sp>
      <p:sp>
        <p:nvSpPr>
          <p:cNvPr id="8" name="Text 6"/>
          <p:cNvSpPr/>
          <p:nvPr/>
        </p:nvSpPr>
        <p:spPr>
          <a:xfrm>
            <a:off x="457200" y="1773936"/>
            <a:ext cx="51206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9" name="Text 7"/>
          <p:cNvSpPr/>
          <p:nvPr/>
        </p:nvSpPr>
        <p:spPr>
          <a:xfrm>
            <a:off x="457200" y="2212848"/>
            <a:ext cx="512064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0" name="Text 8"/>
          <p:cNvSpPr/>
          <p:nvPr/>
        </p:nvSpPr>
        <p:spPr>
          <a:xfrm>
            <a:off x="475488" y="2505456"/>
            <a:ext cx="5084064" cy="2167128"/>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"citizen science bird count volunteers Florida backyard birds binoculars data collection"</a:t>
            </a:r>
            <a:endParaRPr lang="en-US" sz="950" dirty="0"/>
          </a:p>
        </p:txBody>
      </p:sp>
      <p:sp>
        <p:nvSpPr>
          <p:cNvPr id="11" name="Text 9"/>
          <p:cNvSpPr/>
          <p:nvPr/>
        </p:nvSpPr>
        <p:spPr>
          <a:xfrm>
            <a:off x="365760" y="4919472"/>
            <a:ext cx="530352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Florida Great Backyard Bird Count — anyone can join!</a:t>
            </a:r>
            <a:endParaRPr lang="en-US" sz="900" dirty="0"/>
          </a:p>
        </p:txBody>
      </p:sp>
      <p:sp>
        <p:nvSpPr>
          <p:cNvPr id="12" name="Shape 10"/>
          <p:cNvSpPr/>
          <p:nvPr/>
        </p:nvSpPr>
        <p:spPr>
          <a:xfrm>
            <a:off x="5852160" y="1664208"/>
            <a:ext cx="6035040" cy="1508760"/>
          </a:xfrm>
          <a:prstGeom prst="roundRect">
            <a:avLst>
              <a:gd name="adj" fmla="val 4848"/>
            </a:avLst>
          </a:prstGeom>
          <a:solidFill>
            <a:srgbClr val="1E2F45"/>
          </a:solidFill>
          <a:ln w="12700">
            <a:solidFill>
              <a:srgbClr val="2DC653"/>
            </a:solidFill>
            <a:prstDash val="solid"/>
          </a:ln>
        </p:spPr>
      </p:sp>
      <p:sp>
        <p:nvSpPr>
          <p:cNvPr id="13" name="Text 11"/>
          <p:cNvSpPr/>
          <p:nvPr/>
        </p:nvSpPr>
        <p:spPr>
          <a:xfrm>
            <a:off x="6035040" y="1783080"/>
            <a:ext cx="5669280" cy="310896"/>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How YOU Can Add to the Data:</a:t>
            </a:r>
            <a:endParaRPr lang="en-US" sz="1300" dirty="0"/>
          </a:p>
        </p:txBody>
      </p:sp>
      <p:sp>
        <p:nvSpPr>
          <p:cNvPr id="14" name="Text 12"/>
          <p:cNvSpPr/>
          <p:nvPr/>
        </p:nvSpPr>
        <p:spPr>
          <a:xfrm>
            <a:off x="6035040" y="2148840"/>
            <a:ext cx="5669280" cy="347472"/>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Great Backyard Bird Count (February each year)</a:t>
            </a:r>
            <a:endParaRPr lang="en-US" sz="1200" dirty="0"/>
          </a:p>
        </p:txBody>
      </p:sp>
      <p:sp>
        <p:nvSpPr>
          <p:cNvPr id="15" name="Text 13"/>
          <p:cNvSpPr/>
          <p:nvPr/>
        </p:nvSpPr>
        <p:spPr>
          <a:xfrm>
            <a:off x="6035040" y="2551176"/>
            <a:ext cx="5669280" cy="347472"/>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North American Butterfly Count</a:t>
            </a:r>
            <a:endParaRPr lang="en-US" sz="1200" dirty="0"/>
          </a:p>
        </p:txBody>
      </p:sp>
      <p:sp>
        <p:nvSpPr>
          <p:cNvPr id="16" name="Text 14"/>
          <p:cNvSpPr/>
          <p:nvPr/>
        </p:nvSpPr>
        <p:spPr>
          <a:xfrm>
            <a:off x="6035040" y="2953512"/>
            <a:ext cx="5669280" cy="347472"/>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Sea turtle nest count on FL beaches</a:t>
            </a:r>
            <a:endParaRPr lang="en-US" sz="1200" dirty="0"/>
          </a:p>
        </p:txBody>
      </p:sp>
      <p:sp>
        <p:nvSpPr>
          <p:cNvPr id="17" name="Text 15"/>
          <p:cNvSpPr/>
          <p:nvPr/>
        </p:nvSpPr>
        <p:spPr>
          <a:xfrm>
            <a:off x="6035040" y="3355848"/>
            <a:ext cx="5669280" cy="347472"/>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Shark tagging programs</a:t>
            </a:r>
            <a:endParaRPr lang="en-US" sz="1200" dirty="0"/>
          </a:p>
        </p:txBody>
      </p:sp>
      <p:sp>
        <p:nvSpPr>
          <p:cNvPr id="18" name="Text 16"/>
          <p:cNvSpPr/>
          <p:nvPr/>
        </p:nvSpPr>
        <p:spPr>
          <a:xfrm>
            <a:off x="6035040" y="3758184"/>
            <a:ext cx="5669280" cy="347472"/>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iNaturalist — photo any species, anywhere</a:t>
            </a:r>
            <a:endParaRPr lang="en-US" sz="1200" dirty="0"/>
          </a:p>
        </p:txBody>
      </p:sp>
      <p:sp>
        <p:nvSpPr>
          <p:cNvPr id="19" name="Shape 17"/>
          <p:cNvSpPr/>
          <p:nvPr/>
        </p:nvSpPr>
        <p:spPr>
          <a:xfrm>
            <a:off x="5852160" y="3337560"/>
            <a:ext cx="6035040" cy="1536192"/>
          </a:xfrm>
          <a:prstGeom prst="roundRect">
            <a:avLst>
              <a:gd name="adj" fmla="val 4762"/>
            </a:avLst>
          </a:prstGeom>
          <a:solidFill>
            <a:srgbClr val="162233"/>
          </a:solidFill>
          <a:ln w="12700">
            <a:solidFill>
              <a:srgbClr val="FFB703"/>
            </a:solidFill>
            <a:prstDash val="solid"/>
          </a:ln>
        </p:spPr>
      </p:sp>
      <p:sp>
        <p:nvSpPr>
          <p:cNvPr id="20" name="Text 18"/>
          <p:cNvSpPr/>
          <p:nvPr/>
        </p:nvSpPr>
        <p:spPr>
          <a:xfrm>
            <a:off x="6016752" y="3410712"/>
            <a:ext cx="570585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Evidence Discussion</a:t>
            </a:r>
            <a:endParaRPr lang="en-US" sz="1300" dirty="0"/>
          </a:p>
        </p:txBody>
      </p:sp>
      <p:sp>
        <p:nvSpPr>
          <p:cNvPr id="21" name="Text 19"/>
          <p:cNvSpPr/>
          <p:nvPr/>
        </p:nvSpPr>
        <p:spPr>
          <a:xfrm>
            <a:off x="6016752" y="3776472"/>
            <a:ext cx="5705856" cy="987552"/>
          </a:xfrm>
          <a:prstGeom prst="rect">
            <a:avLst/>
          </a:prstGeom>
          <a:noFill/>
          <a:ln/>
        </p:spPr>
        <p:txBody>
          <a:bodyPr wrap="square" rtlCol="0" anchor="t"/>
          <a:lstStyle/>
          <a:p>
            <a:pPr algn="l" indent="0" marL="0">
              <a:buNone/>
            </a:pPr>
            <a:r>
              <a:rPr lang="en-US" sz="1350" i="1" dirty="0">
                <a:solidFill>
                  <a:srgbClr val="FFFFFF"/>
                </a:solidFill>
                <a:latin typeface="Calibri" pitchFamily="34" charset="0"/>
                <a:ea typeface="Calibri" pitchFamily="34" charset="-122"/>
                <a:cs typeface="Calibri" pitchFamily="34" charset="-120"/>
              </a:rPr>
              <a:t>A friend says the Everglades is fine because they saw alligators on vacation. As a young scientist, how would you respond? What kind of evidence would you need to REALLY know?</a:t>
            </a:r>
            <a:endParaRPr lang="en-US" sz="1350" dirty="0"/>
          </a:p>
        </p:txBody>
      </p:sp>
      <p:sp>
        <p:nvSpPr>
          <p:cNvPr id="22" name="Shape 20"/>
          <p:cNvSpPr/>
          <p:nvPr/>
        </p:nvSpPr>
        <p:spPr>
          <a:xfrm>
            <a:off x="0" y="6629400"/>
            <a:ext cx="12192000" cy="228600"/>
          </a:xfrm>
          <a:prstGeom prst="rect">
            <a:avLst/>
          </a:prstGeom>
          <a:solidFill>
            <a:srgbClr val="162233"/>
          </a:solidFill>
          <a:ln/>
        </p:spPr>
      </p:sp>
      <p:sp>
        <p:nvSpPr>
          <p:cNvPr id="23" name="Text 21"/>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10.02  ·  Ecosystem Balance</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2026-07-13T20:35:20Z</dcterms:created>
  <dcterms:modified xsi:type="dcterms:W3CDTF">2026-07-13T20:35:20Z</dcterms:modified>
</cp:coreProperties>
</file>