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Week 10 — this lesson expands beyond food chains into the full web of connections. Key Q2 emphasis: multiple connection types, evidence-based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draw for 3 minutes. Key goal: notice that arrows aren't all about eating.
Share 2-3 maps. Ask: 'Did anyone draw an arrow that is NOT about eating? What kind of connection is it?'
This primes the 4 connection types coming up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predictions before moving on. Most will say 'fewer oranges' but may not know WHY.
After sharing: 'What kind of connection is bee-to-orange-tree? It's NOT eating — so what is it?' (Pollination)
This is the entry point for the 4 connection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Ecosystem = all things in one place. Web of life = all CONNECTIONS between those things.
Ask: 'Which is bigger — a food chain, a food web, or the web of life?' (Web of life — it includes non-food connections too)
Follow up: 'Does anyone have different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after each connection type and ask for a Florida example.
Food: sawgrass → grasshopper. Pollination: bee → orange blossom. Shelter: barred owl in oak trunk. Nutrients: mushrooms on fallen log.
Ask: 'Which connection type do you think is most important? What evidence do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connection type in the diagram. Students should be able to match colors to connection types.
Key Concept: 'Put all of this together and you get the WEB OF LIFE — much bigger than a food web.'
Ask: 'If every bee in this diagram disappeared, which connection type would break? What evidence from the diagram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'Stop &amp; Reason': Answer requires 'pollination' — bees move pollen so oranges can form. No bees = no fruit.
After answers: 'Does anyone have DIFFERENT evidence? What evidence would change your mind about whether small animals like bees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during this activity. Look for: students using multiple colors, labeling arrow types.
Think Like a Scientist: 'A scientist studies one ecosystem and counts 78 kinds of connections. What kinds of evidence would help them predict what happens if one species is removed?'
After Step 4: share maps — 'Who found more non-food connections than food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Explicitly ask students to REVISE: 'Compare your web map to your warm-up. What did you add? What did you change? Write what you revised in a different color.'
This is the 'Revisable Models' Q2 habit — make the revision explicit and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out of 10! What does that tell us about how important pollinators are? What evidence from today's lesson supports that?'
Connect to Florida: 'This is why Florida orange growers truck in millions of beehives every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 Claim: 'I disagree because plants also need pollinators to reproduce.'
Evidence: 9 in 10 FL flowering plants need pollinators. Fungi return nutrients plants need to grow.
Reasoning: Even if a plant gets sunlight/water/soil, without pollination it cannot make seeds and reproduce. Without decomposers, soil nutrients would be depleted.
This models full CER with 2 evidence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independent, then partner share.
After sharing: 'After the first answer, ask: Does anyone have different evidence? What evidence would change your mind about whether small organisms matter?'
Look for: students citing specific examples (bees for pollination, fungi for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the human care connection type from the oak tree diagram. 'Which connection type is the wildlife corridor?' (Shelter/habitat)
Ask: 'Where do humans fit in the web of life?' (We affect all 4 connection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 Pollination. Q2: A — Nutrient cycling. Q3: C — no pollinators = no fruit.
After Q3: 'What EVIDENCE from today's lesson tells you bees are the missing connection?' (Pollination connection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Remind: 'Your web map from Step 8 is exactly what Part C asks for — use it!'
CER from Slide 12 is already written — students just need to copy it into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'Name ONE connection type you saw in an ecosystem today that is NOT about eating.' Students share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connection type with students. After each: ask the discussion question at the bottom.
Key: for EACH type, ask students to identify what breaks if that connection is removed.
After all 4: 'Which connection type do you think is most important for the oak tree?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kinds! How many food connections does that create?' (500 food connections to the caterpillars alone, then multiply by all the birds that eat them)
Connect: 'This is why we say the web of life is much bigger than a food web. The oak isn't just food — it's shelter, pollination, nutrients, all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humans are NOT outside the web of life — we are inside it, as consumers, habitat changers, and sometimes conservationists.
Ask: 'Name one thing you did TODAY that is a connection to a Florida ecosystem.' (Eating, using products, living in a building on what used to be habitat)
Connect to Lesson 10.02 preview: 'Next lesson we'll use REAL data to see whether human actions are helping or hurting.'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investigation design language: independent, dependent, controlled variables.
Key: Students should identify the species with the most arrows as the 'keystone' — most connections broken if removed.
After first answer: 'Does anyone have different evidence about which species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Web of Life</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Q2 · Week 10 · Ecosystems &amp; Energy · Life Science</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SC.4.L.17.4 — Describe how living things are connected in more ways than just eating</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Name three different ways living things can be connected — besides eating</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Use a model to show how plants, animals, soil, and water depend on each other</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Explain why one change in an ecosystem affects many other living things</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 (multiple colors)   🌳 Today: the oak tree is our guide</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Warm-Up: Map an Oak Tree  (5 min)</a:t>
            </a:r>
            <a:endParaRPr lang="en-US" sz="1600" dirty="0"/>
          </a:p>
        </p:txBody>
      </p:sp>
      <p:sp>
        <p:nvSpPr>
          <p:cNvPr id="5" name="Shape 3"/>
          <p:cNvSpPr/>
          <p:nvPr/>
        </p:nvSpPr>
        <p:spPr>
          <a:xfrm>
            <a:off x="365760" y="713232"/>
            <a:ext cx="11521440" cy="1389888"/>
          </a:xfrm>
          <a:prstGeom prst="roundRect">
            <a:avLst>
              <a:gd name="adj" fmla="val 5263"/>
            </a:avLst>
          </a:prstGeom>
          <a:solidFill>
            <a:srgbClr val="1E2F45"/>
          </a:solidFill>
          <a:ln w="12700">
            <a:solidFill>
              <a:srgbClr val="FFB703"/>
            </a:solidFill>
            <a:prstDash val="solid"/>
          </a:ln>
        </p:spPr>
      </p:sp>
      <p:sp>
        <p:nvSpPr>
          <p:cNvPr id="6" name="Text 4"/>
          <p:cNvSpPr/>
          <p:nvPr/>
        </p:nvSpPr>
        <p:spPr>
          <a:xfrm>
            <a:off x="548640" y="768096"/>
            <a:ext cx="1115568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 far, every arrow you've drawn meant one thing: who eats whom. Today, that won't be enough.</a:t>
            </a:r>
            <a:endParaRPr lang="en-US" sz="1400" dirty="0"/>
          </a:p>
        </p:txBody>
      </p:sp>
      <p:sp>
        <p:nvSpPr>
          <p:cNvPr id="7" name="Text 5"/>
          <p:cNvSpPr/>
          <p:nvPr/>
        </p:nvSpPr>
        <p:spPr>
          <a:xfrm>
            <a:off x="548640" y="1243584"/>
            <a:ext cx="11155680" cy="749808"/>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In your notebook, draw a big oak tree in the middle of the page. Around it, draw at least FIVE living things that visit, use, or depend on the tree. Draw an arrow from the oak to each one (or from each one to the oak).</a:t>
            </a:r>
            <a:endParaRPr lang="en-US" sz="1250" dirty="0"/>
          </a:p>
        </p:txBody>
      </p:sp>
      <p:sp>
        <p:nvSpPr>
          <p:cNvPr id="8" name="Shape 6"/>
          <p:cNvSpPr/>
          <p:nvPr/>
        </p:nvSpPr>
        <p:spPr>
          <a:xfrm>
            <a:off x="365760" y="2240280"/>
            <a:ext cx="11521440" cy="347472"/>
          </a:xfrm>
          <a:prstGeom prst="roundRect">
            <a:avLst>
              <a:gd name="adj" fmla="val 23684"/>
            </a:avLst>
          </a:prstGeom>
          <a:solidFill>
            <a:srgbClr val="E09200"/>
          </a:solidFill>
          <a:ln w="19050">
            <a:solidFill>
              <a:srgbClr val="FFB703"/>
            </a:solidFill>
            <a:prstDash val="solid"/>
          </a:ln>
        </p:spPr>
      </p:sp>
      <p:sp>
        <p:nvSpPr>
          <p:cNvPr id="9" name="Text 7"/>
          <p:cNvSpPr/>
          <p:nvPr/>
        </p:nvSpPr>
        <p:spPr>
          <a:xfrm>
            <a:off x="365760" y="2240280"/>
            <a:ext cx="115214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0" name="Text 8"/>
          <p:cNvSpPr/>
          <p:nvPr/>
        </p:nvSpPr>
        <p:spPr>
          <a:xfrm>
            <a:off x="502920" y="2651760"/>
            <a:ext cx="11292840" cy="530352"/>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"Look at each arrow you drew. Are ALL the arrows about eating? If not, what other kinds of connections did you find?"</a:t>
            </a:r>
            <a:endParaRPr lang="en-US" sz="1300" dirty="0"/>
          </a:p>
        </p:txBody>
      </p:sp>
      <p:sp>
        <p:nvSpPr>
          <p:cNvPr id="11" name="Shape 9"/>
          <p:cNvSpPr/>
          <p:nvPr/>
        </p:nvSpPr>
        <p:spPr>
          <a:xfrm>
            <a:off x="365760" y="3310128"/>
            <a:ext cx="11521440" cy="1234440"/>
          </a:xfrm>
          <a:prstGeom prst="roundRect">
            <a:avLst>
              <a:gd name="adj" fmla="val 5926"/>
            </a:avLst>
          </a:prstGeom>
          <a:solidFill>
            <a:srgbClr val="1A1A10"/>
          </a:solidFill>
          <a:ln w="12700">
            <a:solidFill>
              <a:srgbClr val="2DC653"/>
            </a:solidFill>
            <a:prstDash val="solid"/>
          </a:ln>
        </p:spPr>
      </p:sp>
      <p:sp>
        <p:nvSpPr>
          <p:cNvPr id="12" name="Text 10"/>
          <p:cNvSpPr/>
          <p:nvPr/>
        </p:nvSpPr>
        <p:spPr>
          <a:xfrm>
            <a:off x="548640" y="3401568"/>
            <a:ext cx="11155680" cy="310896"/>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Types of connections students might find:</a:t>
            </a:r>
            <a:endParaRPr lang="en-US" sz="1200" dirty="0"/>
          </a:p>
        </p:txBody>
      </p:sp>
      <p:sp>
        <p:nvSpPr>
          <p:cNvPr id="13" name="Text 11"/>
          <p:cNvSpPr/>
          <p:nvPr/>
        </p:nvSpPr>
        <p:spPr>
          <a:xfrm>
            <a:off x="548640" y="3749040"/>
            <a:ext cx="11155680" cy="65836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Eating (food chain)   🐝 Pollination   🦉 Shelter/nesting   🍄 Nutrients/decomposing   🌧️ Water   👤 People</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Evidence-Based Prediction: Before We Learn</a:t>
            </a:r>
            <a:endParaRPr lang="en-US" sz="1600" dirty="0"/>
          </a:p>
        </p:txBody>
      </p:sp>
      <p:sp>
        <p:nvSpPr>
          <p:cNvPr id="5" name="Shape 3"/>
          <p:cNvSpPr/>
          <p:nvPr/>
        </p:nvSpPr>
        <p:spPr>
          <a:xfrm>
            <a:off x="365760" y="713232"/>
            <a:ext cx="11521440" cy="1024128"/>
          </a:xfrm>
          <a:prstGeom prst="roundRect">
            <a:avLst>
              <a:gd name="adj" fmla="val 7143"/>
            </a:avLst>
          </a:prstGeom>
          <a:solidFill>
            <a:srgbClr val="1E2F45"/>
          </a:solidFill>
          <a:ln w="12700">
            <a:solidFill>
              <a:srgbClr val="4CC9F0"/>
            </a:solidFill>
            <a:prstDash val="solid"/>
          </a:ln>
        </p:spPr>
      </p:sp>
      <p:sp>
        <p:nvSpPr>
          <p:cNvPr id="6" name="Text 4"/>
          <p:cNvSpPr/>
          <p:nvPr/>
        </p:nvSpPr>
        <p:spPr>
          <a:xfrm>
            <a:off x="548640" y="768096"/>
            <a:ext cx="11155680" cy="8046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All the honeybees in a Florida orange grove disappear. The trees still get plenty of sunlight, water, and soil nutrients. What happens to the orange harvest — and WHY?</a:t>
            </a:r>
            <a:endParaRPr lang="en-US" sz="1300" dirty="0"/>
          </a:p>
        </p:txBody>
      </p:sp>
      <p:sp>
        <p:nvSpPr>
          <p:cNvPr id="7" name="Shape 5"/>
          <p:cNvSpPr/>
          <p:nvPr/>
        </p:nvSpPr>
        <p:spPr>
          <a:xfrm>
            <a:off x="365760" y="1874520"/>
            <a:ext cx="5394960" cy="3611880"/>
          </a:xfrm>
          <a:prstGeom prst="roundRect">
            <a:avLst>
              <a:gd name="adj" fmla="val 2025"/>
            </a:avLst>
          </a:prstGeom>
          <a:solidFill>
            <a:srgbClr val="1A1A10"/>
          </a:solidFill>
          <a:ln w="12700">
            <a:solidFill>
              <a:srgbClr val="FFB703"/>
            </a:solidFill>
            <a:prstDash val="solid"/>
          </a:ln>
        </p:spPr>
      </p:sp>
      <p:sp>
        <p:nvSpPr>
          <p:cNvPr id="8" name="Text 6"/>
          <p:cNvSpPr/>
          <p:nvPr/>
        </p:nvSpPr>
        <p:spPr>
          <a:xfrm>
            <a:off x="548640" y="1965960"/>
            <a:ext cx="521208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My Prediction:</a:t>
            </a:r>
            <a:endParaRPr lang="en-US" sz="1200" dirty="0"/>
          </a:p>
        </p:txBody>
      </p:sp>
      <p:sp>
        <p:nvSpPr>
          <p:cNvPr id="9" name="Text 7"/>
          <p:cNvSpPr/>
          <p:nvPr/>
        </p:nvSpPr>
        <p:spPr>
          <a:xfrm>
            <a:off x="548640" y="2331720"/>
            <a:ext cx="5212080" cy="6583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 predict _______________________</a:t>
            </a: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because _______________________"</a:t>
            </a:r>
            <a:endParaRPr lang="en-US" sz="1300" dirty="0"/>
          </a:p>
        </p:txBody>
      </p:sp>
      <p:sp>
        <p:nvSpPr>
          <p:cNvPr id="10" name="Text 8"/>
          <p:cNvSpPr/>
          <p:nvPr/>
        </p:nvSpPr>
        <p:spPr>
          <a:xfrm>
            <a:off x="548640" y="3090672"/>
            <a:ext cx="5212080" cy="12984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Clue: The connection between bees and orange trees is NOT about eating. Think about what bees DO when they visit flowers.</a:t>
            </a:r>
            <a:endParaRPr lang="en-US" sz="1200" dirty="0"/>
          </a:p>
        </p:txBody>
      </p:sp>
      <p:sp>
        <p:nvSpPr>
          <p:cNvPr id="11" name="Shape 9"/>
          <p:cNvSpPr/>
          <p:nvPr/>
        </p:nvSpPr>
        <p:spPr>
          <a:xfrm>
            <a:off x="5943600" y="1874520"/>
            <a:ext cx="5943600" cy="3611880"/>
          </a:xfrm>
          <a:prstGeom prst="roundRect">
            <a:avLst>
              <a:gd name="adj" fmla="val 2025"/>
            </a:avLst>
          </a:prstGeom>
          <a:solidFill>
            <a:srgbClr val="1E2F45"/>
          </a:solidFill>
          <a:ln w="12700">
            <a:solidFill>
              <a:srgbClr val="2DC653"/>
            </a:solidFill>
            <a:prstDash val="solid"/>
          </a:ln>
        </p:spPr>
      </p:sp>
      <p:sp>
        <p:nvSpPr>
          <p:cNvPr id="12" name="Text 10"/>
          <p:cNvSpPr/>
          <p:nvPr/>
        </p:nvSpPr>
        <p:spPr>
          <a:xfrm>
            <a:off x="6126480" y="1965960"/>
            <a:ext cx="5669280" cy="310896"/>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Florida Fun Fact:</a:t>
            </a:r>
            <a:endParaRPr lang="en-US" sz="1300" dirty="0"/>
          </a:p>
        </p:txBody>
      </p:sp>
      <p:sp>
        <p:nvSpPr>
          <p:cNvPr id="13" name="Text 11"/>
          <p:cNvSpPr/>
          <p:nvPr/>
        </p:nvSpPr>
        <p:spPr>
          <a:xfrm>
            <a:off x="6126480" y="2331720"/>
            <a:ext cx="5669280" cy="294436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Florida orange growers rely on honeybees so heavily that beekeepers truck MILLIONS of hives into the state every winter just to pollinate the trees.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No bees = No Florida orange juice.</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That's the web of life turning into real money.</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6 New Words for Today</a:t>
            </a:r>
            <a:endParaRPr lang="en-US" sz="1600" dirty="0"/>
          </a:p>
        </p:txBody>
      </p:sp>
      <p:sp>
        <p:nvSpPr>
          <p:cNvPr id="5" name="Text 3"/>
          <p:cNvSpPr/>
          <p:nvPr/>
        </p:nvSpPr>
        <p:spPr>
          <a:xfrm>
            <a:off x="365760" y="658368"/>
            <a:ext cx="11521440" cy="2743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New lesson, new words! All 6 show up in today's investigation.</a:t>
            </a:r>
            <a:endParaRPr lang="en-US" sz="1150" dirty="0"/>
          </a:p>
        </p:txBody>
      </p:sp>
      <p:sp>
        <p:nvSpPr>
          <p:cNvPr id="6" name="Shape 4"/>
          <p:cNvSpPr/>
          <p:nvPr/>
        </p:nvSpPr>
        <p:spPr>
          <a:xfrm>
            <a:off x="365760" y="987552"/>
            <a:ext cx="3657600" cy="1325880"/>
          </a:xfrm>
          <a:prstGeom prst="roundRect">
            <a:avLst>
              <a:gd name="adj" fmla="val 6897"/>
            </a:avLst>
          </a:prstGeom>
          <a:solidFill>
            <a:srgbClr val="1E2F45"/>
          </a:solidFill>
          <a:ln w="25400">
            <a:solidFill>
              <a:srgbClr val="2DC653"/>
            </a:solidFill>
            <a:prstDash val="solid"/>
          </a:ln>
        </p:spPr>
      </p:sp>
      <p:sp>
        <p:nvSpPr>
          <p:cNvPr id="7" name="Shape 5"/>
          <p:cNvSpPr/>
          <p:nvPr/>
        </p:nvSpPr>
        <p:spPr>
          <a:xfrm>
            <a:off x="365760" y="987552"/>
            <a:ext cx="3657600" cy="347472"/>
          </a:xfrm>
          <a:prstGeom prst="roundRect">
            <a:avLst>
              <a:gd name="adj" fmla="val 21053"/>
            </a:avLst>
          </a:prstGeom>
          <a:solidFill>
            <a:srgbClr val="2DC653"/>
          </a:solidFill>
          <a:ln w="12700">
            <a:solidFill>
              <a:srgbClr val="2DC653"/>
            </a:solidFill>
            <a:prstDash val="solid"/>
          </a:ln>
        </p:spPr>
      </p:sp>
      <p:sp>
        <p:nvSpPr>
          <p:cNvPr id="8" name="Text 6"/>
          <p:cNvSpPr/>
          <p:nvPr/>
        </p:nvSpPr>
        <p:spPr>
          <a:xfrm>
            <a:off x="457200" y="1014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Ecosystem</a:t>
            </a:r>
            <a:endParaRPr lang="en-US" sz="1200" dirty="0"/>
          </a:p>
        </p:txBody>
      </p:sp>
      <p:sp>
        <p:nvSpPr>
          <p:cNvPr id="9" name="Text 7"/>
          <p:cNvSpPr/>
          <p:nvPr/>
        </p:nvSpPr>
        <p:spPr>
          <a:xfrm>
            <a:off x="475488" y="1389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All the living things AND nonliving things — like soil, water, and air — in one place, working together.</a:t>
            </a:r>
            <a:endParaRPr lang="en-US" sz="1050" dirty="0"/>
          </a:p>
        </p:txBody>
      </p:sp>
      <p:sp>
        <p:nvSpPr>
          <p:cNvPr id="10" name="Shape 8"/>
          <p:cNvSpPr/>
          <p:nvPr/>
        </p:nvSpPr>
        <p:spPr>
          <a:xfrm>
            <a:off x="4206240" y="987552"/>
            <a:ext cx="3657600" cy="1325880"/>
          </a:xfrm>
          <a:prstGeom prst="roundRect">
            <a:avLst>
              <a:gd name="adj" fmla="val 6897"/>
            </a:avLst>
          </a:prstGeom>
          <a:solidFill>
            <a:srgbClr val="1E2F45"/>
          </a:solidFill>
          <a:ln w="25400">
            <a:solidFill>
              <a:srgbClr val="FFB703"/>
            </a:solidFill>
            <a:prstDash val="solid"/>
          </a:ln>
        </p:spPr>
      </p:sp>
      <p:sp>
        <p:nvSpPr>
          <p:cNvPr id="11" name="Shape 9"/>
          <p:cNvSpPr/>
          <p:nvPr/>
        </p:nvSpPr>
        <p:spPr>
          <a:xfrm>
            <a:off x="4206240" y="987552"/>
            <a:ext cx="3657600" cy="347472"/>
          </a:xfrm>
          <a:prstGeom prst="roundRect">
            <a:avLst>
              <a:gd name="adj" fmla="val 21053"/>
            </a:avLst>
          </a:prstGeom>
          <a:solidFill>
            <a:srgbClr val="FFB703"/>
          </a:solidFill>
          <a:ln w="12700">
            <a:solidFill>
              <a:srgbClr val="FFB703"/>
            </a:solidFill>
            <a:prstDash val="solid"/>
          </a:ln>
        </p:spPr>
      </p:sp>
      <p:sp>
        <p:nvSpPr>
          <p:cNvPr id="12" name="Text 10"/>
          <p:cNvSpPr/>
          <p:nvPr/>
        </p:nvSpPr>
        <p:spPr>
          <a:xfrm>
            <a:off x="4297680" y="1014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Habitat</a:t>
            </a:r>
            <a:endParaRPr lang="en-US" sz="1200" dirty="0"/>
          </a:p>
        </p:txBody>
      </p:sp>
      <p:sp>
        <p:nvSpPr>
          <p:cNvPr id="13" name="Text 11"/>
          <p:cNvSpPr/>
          <p:nvPr/>
        </p:nvSpPr>
        <p:spPr>
          <a:xfrm>
            <a:off x="4315968" y="1389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place where a living thing finds food, water, shelter, and space. The oak tree is a habitat for many animals.</a:t>
            </a:r>
            <a:endParaRPr lang="en-US" sz="1050" dirty="0"/>
          </a:p>
        </p:txBody>
      </p:sp>
      <p:sp>
        <p:nvSpPr>
          <p:cNvPr id="14" name="Shape 12"/>
          <p:cNvSpPr/>
          <p:nvPr/>
        </p:nvSpPr>
        <p:spPr>
          <a:xfrm>
            <a:off x="8046720" y="987552"/>
            <a:ext cx="3657600" cy="1325880"/>
          </a:xfrm>
          <a:prstGeom prst="roundRect">
            <a:avLst>
              <a:gd name="adj" fmla="val 6897"/>
            </a:avLst>
          </a:prstGeom>
          <a:solidFill>
            <a:srgbClr val="1E2F45"/>
          </a:solidFill>
          <a:ln w="25400">
            <a:solidFill>
              <a:srgbClr val="4CC9F0"/>
            </a:solidFill>
            <a:prstDash val="solid"/>
          </a:ln>
        </p:spPr>
      </p:sp>
      <p:sp>
        <p:nvSpPr>
          <p:cNvPr id="15" name="Shape 13"/>
          <p:cNvSpPr/>
          <p:nvPr/>
        </p:nvSpPr>
        <p:spPr>
          <a:xfrm>
            <a:off x="8046720" y="987552"/>
            <a:ext cx="3657600" cy="347472"/>
          </a:xfrm>
          <a:prstGeom prst="roundRect">
            <a:avLst>
              <a:gd name="adj" fmla="val 21053"/>
            </a:avLst>
          </a:prstGeom>
          <a:solidFill>
            <a:srgbClr val="4CC9F0"/>
          </a:solidFill>
          <a:ln w="12700">
            <a:solidFill>
              <a:srgbClr val="4CC9F0"/>
            </a:solidFill>
            <a:prstDash val="solid"/>
          </a:ln>
        </p:spPr>
      </p:sp>
      <p:sp>
        <p:nvSpPr>
          <p:cNvPr id="16" name="Text 14"/>
          <p:cNvSpPr/>
          <p:nvPr/>
        </p:nvSpPr>
        <p:spPr>
          <a:xfrm>
            <a:off x="8138160" y="1014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Pollination</a:t>
            </a:r>
            <a:endParaRPr lang="en-US" sz="1200" dirty="0"/>
          </a:p>
        </p:txBody>
      </p:sp>
      <p:sp>
        <p:nvSpPr>
          <p:cNvPr id="17" name="Text 15"/>
          <p:cNvSpPr/>
          <p:nvPr/>
        </p:nvSpPr>
        <p:spPr>
          <a:xfrm>
            <a:off x="8156448" y="1389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When pollen moves from one flower to another so seeds can form. Bees, butterflies, and even wind can pollinate plants.</a:t>
            </a:r>
            <a:endParaRPr lang="en-US" sz="1050" dirty="0"/>
          </a:p>
        </p:txBody>
      </p:sp>
      <p:sp>
        <p:nvSpPr>
          <p:cNvPr id="18" name="Shape 16"/>
          <p:cNvSpPr/>
          <p:nvPr/>
        </p:nvSpPr>
        <p:spPr>
          <a:xfrm>
            <a:off x="365760" y="2487168"/>
            <a:ext cx="3657600" cy="1325880"/>
          </a:xfrm>
          <a:prstGeom prst="roundRect">
            <a:avLst>
              <a:gd name="adj" fmla="val 6897"/>
            </a:avLst>
          </a:prstGeom>
          <a:solidFill>
            <a:srgbClr val="1E2F45"/>
          </a:solidFill>
          <a:ln w="25400">
            <a:solidFill>
              <a:srgbClr val="FFB703"/>
            </a:solidFill>
            <a:prstDash val="solid"/>
          </a:ln>
        </p:spPr>
      </p:sp>
      <p:sp>
        <p:nvSpPr>
          <p:cNvPr id="19" name="Shape 17"/>
          <p:cNvSpPr/>
          <p:nvPr/>
        </p:nvSpPr>
        <p:spPr>
          <a:xfrm>
            <a:off x="365760" y="2487168"/>
            <a:ext cx="3657600" cy="347472"/>
          </a:xfrm>
          <a:prstGeom prst="roundRect">
            <a:avLst>
              <a:gd name="adj" fmla="val 21053"/>
            </a:avLst>
          </a:prstGeom>
          <a:solidFill>
            <a:srgbClr val="FFB703"/>
          </a:solidFill>
          <a:ln w="12700">
            <a:solidFill>
              <a:srgbClr val="FFB703"/>
            </a:solidFill>
            <a:prstDash val="solid"/>
          </a:ln>
        </p:spPr>
      </p:sp>
      <p:sp>
        <p:nvSpPr>
          <p:cNvPr id="20" name="Text 18"/>
          <p:cNvSpPr/>
          <p:nvPr/>
        </p:nvSpPr>
        <p:spPr>
          <a:xfrm>
            <a:off x="457200" y="251460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Pollinator</a:t>
            </a:r>
            <a:endParaRPr lang="en-US" sz="1200" dirty="0"/>
          </a:p>
        </p:txBody>
      </p:sp>
      <p:sp>
        <p:nvSpPr>
          <p:cNvPr id="21" name="Text 19"/>
          <p:cNvSpPr/>
          <p:nvPr/>
        </p:nvSpPr>
        <p:spPr>
          <a:xfrm>
            <a:off x="475488" y="288950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An animal that carries pollen from flower to flower. Bees, butterflies, hummingbirds, and even bats can be pollinators.</a:t>
            </a:r>
            <a:endParaRPr lang="en-US" sz="1050" dirty="0"/>
          </a:p>
        </p:txBody>
      </p:sp>
      <p:sp>
        <p:nvSpPr>
          <p:cNvPr id="22" name="Shape 20"/>
          <p:cNvSpPr/>
          <p:nvPr/>
        </p:nvSpPr>
        <p:spPr>
          <a:xfrm>
            <a:off x="4206240" y="2487168"/>
            <a:ext cx="3657600" cy="1325880"/>
          </a:xfrm>
          <a:prstGeom prst="roundRect">
            <a:avLst>
              <a:gd name="adj" fmla="val 6897"/>
            </a:avLst>
          </a:prstGeom>
          <a:solidFill>
            <a:srgbClr val="1E2F45"/>
          </a:solidFill>
          <a:ln w="25400">
            <a:solidFill>
              <a:srgbClr val="5B8C5A"/>
            </a:solidFill>
            <a:prstDash val="solid"/>
          </a:ln>
        </p:spPr>
      </p:sp>
      <p:sp>
        <p:nvSpPr>
          <p:cNvPr id="23" name="Shape 21"/>
          <p:cNvSpPr/>
          <p:nvPr/>
        </p:nvSpPr>
        <p:spPr>
          <a:xfrm>
            <a:off x="4206240" y="2487168"/>
            <a:ext cx="3657600" cy="347472"/>
          </a:xfrm>
          <a:prstGeom prst="roundRect">
            <a:avLst>
              <a:gd name="adj" fmla="val 21053"/>
            </a:avLst>
          </a:prstGeom>
          <a:solidFill>
            <a:srgbClr val="5B8C5A"/>
          </a:solidFill>
          <a:ln w="12700">
            <a:solidFill>
              <a:srgbClr val="5B8C5A"/>
            </a:solidFill>
            <a:prstDash val="solid"/>
          </a:ln>
        </p:spPr>
      </p:sp>
      <p:sp>
        <p:nvSpPr>
          <p:cNvPr id="24" name="Text 22"/>
          <p:cNvSpPr/>
          <p:nvPr/>
        </p:nvSpPr>
        <p:spPr>
          <a:xfrm>
            <a:off x="4297680" y="251460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Nutrients</a:t>
            </a:r>
            <a:endParaRPr lang="en-US" sz="1200" dirty="0"/>
          </a:p>
        </p:txBody>
      </p:sp>
      <p:sp>
        <p:nvSpPr>
          <p:cNvPr id="25" name="Text 23"/>
          <p:cNvSpPr/>
          <p:nvPr/>
        </p:nvSpPr>
        <p:spPr>
          <a:xfrm>
            <a:off x="4315968" y="288950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materials in soil and food that plants and animals need to grow and stay healthy.</a:t>
            </a:r>
            <a:endParaRPr lang="en-US" sz="1050" dirty="0"/>
          </a:p>
        </p:txBody>
      </p:sp>
      <p:sp>
        <p:nvSpPr>
          <p:cNvPr id="26" name="Shape 24"/>
          <p:cNvSpPr/>
          <p:nvPr/>
        </p:nvSpPr>
        <p:spPr>
          <a:xfrm>
            <a:off x="8046720" y="2487168"/>
            <a:ext cx="3657600" cy="1325880"/>
          </a:xfrm>
          <a:prstGeom prst="roundRect">
            <a:avLst>
              <a:gd name="adj" fmla="val 6897"/>
            </a:avLst>
          </a:prstGeom>
          <a:solidFill>
            <a:srgbClr val="1E2F45"/>
          </a:solidFill>
          <a:ln w="25400">
            <a:solidFill>
              <a:srgbClr val="8B6FC0"/>
            </a:solidFill>
            <a:prstDash val="solid"/>
          </a:ln>
        </p:spPr>
      </p:sp>
      <p:sp>
        <p:nvSpPr>
          <p:cNvPr id="27" name="Shape 25"/>
          <p:cNvSpPr/>
          <p:nvPr/>
        </p:nvSpPr>
        <p:spPr>
          <a:xfrm>
            <a:off x="8046720" y="2487168"/>
            <a:ext cx="3657600" cy="347472"/>
          </a:xfrm>
          <a:prstGeom prst="roundRect">
            <a:avLst>
              <a:gd name="adj" fmla="val 21053"/>
            </a:avLst>
          </a:prstGeom>
          <a:solidFill>
            <a:srgbClr val="8B6FC0"/>
          </a:solidFill>
          <a:ln w="12700">
            <a:solidFill>
              <a:srgbClr val="8B6FC0"/>
            </a:solidFill>
            <a:prstDash val="solid"/>
          </a:ln>
        </p:spPr>
      </p:sp>
      <p:sp>
        <p:nvSpPr>
          <p:cNvPr id="28" name="Text 26"/>
          <p:cNvSpPr/>
          <p:nvPr/>
        </p:nvSpPr>
        <p:spPr>
          <a:xfrm>
            <a:off x="8138160" y="251460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 of life</a:t>
            </a:r>
            <a:endParaRPr lang="en-US" sz="1200" dirty="0"/>
          </a:p>
        </p:txBody>
      </p:sp>
      <p:sp>
        <p:nvSpPr>
          <p:cNvPr id="29" name="Text 27"/>
          <p:cNvSpPr/>
          <p:nvPr/>
        </p:nvSpPr>
        <p:spPr>
          <a:xfrm>
            <a:off x="8156448" y="288950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All the connections — eating, pollinating, sheltering, breaking down — that tie living things together in an ecosystem.</a:t>
            </a:r>
            <a:endParaRPr lang="en-US" sz="1050" dirty="0"/>
          </a:p>
        </p:txBody>
      </p:sp>
      <p:sp>
        <p:nvSpPr>
          <p:cNvPr id="30" name="Shape 28"/>
          <p:cNvSpPr/>
          <p:nvPr/>
        </p:nvSpPr>
        <p:spPr>
          <a:xfrm>
            <a:off x="365760" y="3950208"/>
            <a:ext cx="11521440" cy="777240"/>
          </a:xfrm>
          <a:prstGeom prst="roundRect">
            <a:avLst>
              <a:gd name="adj" fmla="val 9412"/>
            </a:avLst>
          </a:prstGeom>
          <a:solidFill>
            <a:srgbClr val="162233"/>
          </a:solidFill>
          <a:ln w="12700">
            <a:solidFill>
              <a:srgbClr val="2DC653"/>
            </a:solidFill>
            <a:prstDash val="solid"/>
          </a:ln>
        </p:spPr>
      </p:sp>
      <p:sp>
        <p:nvSpPr>
          <p:cNvPr id="31" name="Text 29"/>
          <p:cNvSpPr/>
          <p:nvPr/>
        </p:nvSpPr>
        <p:spPr>
          <a:xfrm>
            <a:off x="530352" y="4023360"/>
            <a:ext cx="11192256"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Quick Discussion</a:t>
            </a:r>
            <a:endParaRPr lang="en-US" sz="1300" dirty="0"/>
          </a:p>
        </p:txBody>
      </p:sp>
      <p:sp>
        <p:nvSpPr>
          <p:cNvPr id="32" name="Text 30"/>
          <p:cNvSpPr/>
          <p:nvPr/>
        </p:nvSpPr>
        <p:spPr>
          <a:xfrm>
            <a:off x="530352" y="4389120"/>
            <a:ext cx="11192256" cy="228600"/>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What's the difference between 'ecosystem' and 'web of life'? Use the definitions as evidence.</a:t>
            </a:r>
            <a:endParaRPr lang="en-US" sz="1350" dirty="0"/>
          </a:p>
        </p:txBody>
      </p:sp>
      <p:sp>
        <p:nvSpPr>
          <p:cNvPr id="33" name="Shape 31"/>
          <p:cNvSpPr/>
          <p:nvPr/>
        </p:nvSpPr>
        <p:spPr>
          <a:xfrm>
            <a:off x="0" y="6629400"/>
            <a:ext cx="12192000" cy="228600"/>
          </a:xfrm>
          <a:prstGeom prst="rect">
            <a:avLst/>
          </a:prstGeom>
          <a:solidFill>
            <a:srgbClr val="162233"/>
          </a:solidFill>
          <a:ln/>
        </p:spPr>
      </p:sp>
      <p:sp>
        <p:nvSpPr>
          <p:cNvPr id="34" name="Text 3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Four Kinds of Connections in Every Ecosystem</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4CC9F0"/>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Scientists who study ecosystems pay attention to MANY kinds of connections at once — not just food chains.</a:t>
            </a:r>
            <a:endParaRPr lang="en-US" sz="1300" dirty="0"/>
          </a:p>
        </p:txBody>
      </p:sp>
      <p:sp>
        <p:nvSpPr>
          <p:cNvPr id="7" name="Shape 5"/>
          <p:cNvSpPr/>
          <p:nvPr/>
        </p:nvSpPr>
        <p:spPr>
          <a:xfrm>
            <a:off x="365760" y="1508760"/>
            <a:ext cx="5532120" cy="1920240"/>
          </a:xfrm>
          <a:prstGeom prst="roundRect">
            <a:avLst>
              <a:gd name="adj" fmla="val 3810"/>
            </a:avLst>
          </a:prstGeom>
          <a:solidFill>
            <a:srgbClr val="1E2F45"/>
          </a:solidFill>
          <a:ln w="12700">
            <a:solidFill>
              <a:srgbClr val="F4736A"/>
            </a:solidFill>
            <a:prstDash val="solid"/>
          </a:ln>
        </p:spPr>
      </p:sp>
      <p:sp>
        <p:nvSpPr>
          <p:cNvPr id="8" name="Text 6"/>
          <p:cNvSpPr/>
          <p:nvPr/>
        </p:nvSpPr>
        <p:spPr>
          <a:xfrm>
            <a:off x="502920" y="1673352"/>
            <a:ext cx="804672" cy="566928"/>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1353312" y="1673352"/>
            <a:ext cx="438912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1. Food Connections</a:t>
            </a:r>
            <a:endParaRPr lang="en-US" sz="1300" dirty="0"/>
          </a:p>
        </p:txBody>
      </p:sp>
      <p:sp>
        <p:nvSpPr>
          <p:cNvPr id="10" name="Text 8"/>
          <p:cNvSpPr/>
          <p:nvPr/>
        </p:nvSpPr>
        <p:spPr>
          <a:xfrm>
            <a:off x="502920" y="2103120"/>
            <a:ext cx="5303520" cy="114300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Who eats whom — the food chains and food webs you already know. Energy moves from one mouth to the next.</a:t>
            </a:r>
            <a:endParaRPr lang="en-US" sz="1150" dirty="0"/>
          </a:p>
        </p:txBody>
      </p:sp>
      <p:sp>
        <p:nvSpPr>
          <p:cNvPr id="11" name="Shape 9"/>
          <p:cNvSpPr/>
          <p:nvPr/>
        </p:nvSpPr>
        <p:spPr>
          <a:xfrm>
            <a:off x="6126480" y="1508760"/>
            <a:ext cx="5532120" cy="1920240"/>
          </a:xfrm>
          <a:prstGeom prst="roundRect">
            <a:avLst>
              <a:gd name="adj" fmla="val 3810"/>
            </a:avLst>
          </a:prstGeom>
          <a:solidFill>
            <a:srgbClr val="1E2F45"/>
          </a:solidFill>
          <a:ln w="12700">
            <a:solidFill>
              <a:srgbClr val="FFB703"/>
            </a:solidFill>
            <a:prstDash val="solid"/>
          </a:ln>
        </p:spPr>
      </p:sp>
      <p:sp>
        <p:nvSpPr>
          <p:cNvPr id="12" name="Text 10"/>
          <p:cNvSpPr/>
          <p:nvPr/>
        </p:nvSpPr>
        <p:spPr>
          <a:xfrm>
            <a:off x="6263640" y="1673352"/>
            <a:ext cx="804672" cy="566928"/>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7114032" y="1673352"/>
            <a:ext cx="438912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2. Pollination</a:t>
            </a:r>
            <a:endParaRPr lang="en-US" sz="1300" dirty="0"/>
          </a:p>
        </p:txBody>
      </p:sp>
      <p:sp>
        <p:nvSpPr>
          <p:cNvPr id="14" name="Text 12"/>
          <p:cNvSpPr/>
          <p:nvPr/>
        </p:nvSpPr>
        <p:spPr>
          <a:xfrm>
            <a:off x="6263640" y="2103120"/>
            <a:ext cx="5303520" cy="114300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Pollinators (bees, butterflies, birds, bats) move pollen from flower to flower so plants can make seeds and fruit.</a:t>
            </a:r>
            <a:endParaRPr lang="en-US" sz="1150" dirty="0"/>
          </a:p>
        </p:txBody>
      </p:sp>
      <p:sp>
        <p:nvSpPr>
          <p:cNvPr id="15" name="Shape 13"/>
          <p:cNvSpPr/>
          <p:nvPr/>
        </p:nvSpPr>
        <p:spPr>
          <a:xfrm>
            <a:off x="365760" y="3685032"/>
            <a:ext cx="5532120" cy="1920240"/>
          </a:xfrm>
          <a:prstGeom prst="roundRect">
            <a:avLst>
              <a:gd name="adj" fmla="val 3810"/>
            </a:avLst>
          </a:prstGeom>
          <a:solidFill>
            <a:srgbClr val="1E2F45"/>
          </a:solidFill>
          <a:ln w="12700">
            <a:solidFill>
              <a:srgbClr val="2DC653"/>
            </a:solidFill>
            <a:prstDash val="solid"/>
          </a:ln>
        </p:spPr>
      </p:sp>
      <p:sp>
        <p:nvSpPr>
          <p:cNvPr id="16" name="Text 14"/>
          <p:cNvSpPr/>
          <p:nvPr/>
        </p:nvSpPr>
        <p:spPr>
          <a:xfrm>
            <a:off x="502920" y="3849624"/>
            <a:ext cx="804672" cy="566928"/>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7" name="Text 15"/>
          <p:cNvSpPr/>
          <p:nvPr/>
        </p:nvSpPr>
        <p:spPr>
          <a:xfrm>
            <a:off x="1353312" y="3849624"/>
            <a:ext cx="438912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3. Shelter</a:t>
            </a:r>
            <a:endParaRPr lang="en-US" sz="1300" dirty="0"/>
          </a:p>
        </p:txBody>
      </p:sp>
      <p:sp>
        <p:nvSpPr>
          <p:cNvPr id="18" name="Text 16"/>
          <p:cNvSpPr/>
          <p:nvPr/>
        </p:nvSpPr>
        <p:spPr>
          <a:xfrm>
            <a:off x="502920" y="4279392"/>
            <a:ext cx="5303520" cy="114300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habitat for nesting, hiding, or resting. An oak tree is a habitat for owls, squirrels, and hundreds of insects.</a:t>
            </a:r>
            <a:endParaRPr lang="en-US" sz="1150" dirty="0"/>
          </a:p>
        </p:txBody>
      </p:sp>
      <p:sp>
        <p:nvSpPr>
          <p:cNvPr id="19" name="Shape 17"/>
          <p:cNvSpPr/>
          <p:nvPr/>
        </p:nvSpPr>
        <p:spPr>
          <a:xfrm>
            <a:off x="6126480" y="3685032"/>
            <a:ext cx="5532120" cy="1920240"/>
          </a:xfrm>
          <a:prstGeom prst="roundRect">
            <a:avLst>
              <a:gd name="adj" fmla="val 3810"/>
            </a:avLst>
          </a:prstGeom>
          <a:solidFill>
            <a:srgbClr val="1E2F45"/>
          </a:solidFill>
          <a:ln w="12700">
            <a:solidFill>
              <a:srgbClr val="8B6FC0"/>
            </a:solidFill>
            <a:prstDash val="solid"/>
          </a:ln>
        </p:spPr>
      </p:sp>
      <p:sp>
        <p:nvSpPr>
          <p:cNvPr id="20" name="Text 18"/>
          <p:cNvSpPr/>
          <p:nvPr/>
        </p:nvSpPr>
        <p:spPr>
          <a:xfrm>
            <a:off x="6263640" y="3849624"/>
            <a:ext cx="804672" cy="566928"/>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1" name="Text 19"/>
          <p:cNvSpPr/>
          <p:nvPr/>
        </p:nvSpPr>
        <p:spPr>
          <a:xfrm>
            <a:off x="7114032" y="3849624"/>
            <a:ext cx="4389120" cy="347472"/>
          </a:xfrm>
          <a:prstGeom prst="rect">
            <a:avLst/>
          </a:prstGeom>
          <a:noFill/>
          <a:ln/>
        </p:spPr>
        <p:txBody>
          <a:bodyPr wrap="square"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4. Nutrient Cycling</a:t>
            </a:r>
            <a:endParaRPr lang="en-US" sz="1300" dirty="0"/>
          </a:p>
        </p:txBody>
      </p:sp>
      <p:sp>
        <p:nvSpPr>
          <p:cNvPr id="22" name="Text 20"/>
          <p:cNvSpPr/>
          <p:nvPr/>
        </p:nvSpPr>
        <p:spPr>
          <a:xfrm>
            <a:off x="6263640" y="4279392"/>
            <a:ext cx="5303520" cy="114300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Fungi and bacteria break down dead leaves and animals, putting nutrients back into the soil for new plants to use.</a:t>
            </a:r>
            <a:endParaRPr lang="en-US" sz="115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The Live Oak: All 4 Connections in One Tree</a:t>
            </a:r>
            <a:endParaRPr lang="en-US" sz="1600" dirty="0"/>
          </a:p>
        </p:txBody>
      </p:sp>
      <p:sp>
        <p:nvSpPr>
          <p:cNvPr id="5" name="Shape 3"/>
          <p:cNvSpPr/>
          <p:nvPr/>
        </p:nvSpPr>
        <p:spPr>
          <a:xfrm>
            <a:off x="365760" y="713232"/>
            <a:ext cx="6583680" cy="5166360"/>
          </a:xfrm>
          <a:prstGeom prst="roundRect">
            <a:avLst>
              <a:gd name="adj" fmla="val 1416"/>
            </a:avLst>
          </a:prstGeom>
          <a:solidFill>
            <a:srgbClr val="0A1520"/>
          </a:solidFill>
          <a:ln w="19050">
            <a:solidFill>
              <a:srgbClr val="4CC9F0"/>
            </a:solidFill>
            <a:prstDash val="dash"/>
          </a:ln>
        </p:spPr>
      </p:sp>
      <p:sp>
        <p:nvSpPr>
          <p:cNvPr id="6" name="Text 4"/>
          <p:cNvSpPr/>
          <p:nvPr/>
        </p:nvSpPr>
        <p:spPr>
          <a:xfrm>
            <a:off x="457200" y="822960"/>
            <a:ext cx="64008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61872"/>
            <a:ext cx="64008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54480"/>
            <a:ext cx="6364224" cy="41148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live oak tree ecosystem diagram squirrel bee barred owl mushrooms human arrows labeled food pollination shelter nutrients human care"</a:t>
            </a:r>
            <a:endParaRPr lang="en-US" sz="950" dirty="0"/>
          </a:p>
        </p:txBody>
      </p:sp>
      <p:sp>
        <p:nvSpPr>
          <p:cNvPr id="9" name="Text 7"/>
          <p:cNvSpPr/>
          <p:nvPr/>
        </p:nvSpPr>
        <p:spPr>
          <a:xfrm>
            <a:off x="365760" y="5916168"/>
            <a:ext cx="65836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All 4 connection types around one Florida live oak tree</a:t>
            </a:r>
            <a:endParaRPr lang="en-US" sz="900" dirty="0"/>
          </a:p>
        </p:txBody>
      </p:sp>
      <p:sp>
        <p:nvSpPr>
          <p:cNvPr id="10" name="Shape 8"/>
          <p:cNvSpPr/>
          <p:nvPr/>
        </p:nvSpPr>
        <p:spPr>
          <a:xfrm>
            <a:off x="7132320" y="713232"/>
            <a:ext cx="4937760" cy="1207008"/>
          </a:xfrm>
          <a:prstGeom prst="roundRect">
            <a:avLst>
              <a:gd name="adj" fmla="val 6061"/>
            </a:avLst>
          </a:prstGeom>
          <a:solidFill>
            <a:srgbClr val="1E2F45"/>
          </a:solidFill>
          <a:ln w="12700">
            <a:solidFill>
              <a:srgbClr val="F4736A"/>
            </a:solidFill>
            <a:prstDash val="solid"/>
          </a:ln>
        </p:spPr>
      </p:sp>
      <p:sp>
        <p:nvSpPr>
          <p:cNvPr id="11" name="Text 9"/>
          <p:cNvSpPr/>
          <p:nvPr/>
        </p:nvSpPr>
        <p:spPr>
          <a:xfrm>
            <a:off x="7315200" y="822960"/>
            <a:ext cx="4572000" cy="347472"/>
          </a:xfrm>
          <a:prstGeom prst="rect">
            <a:avLst/>
          </a:prstGeom>
          <a:noFill/>
          <a:ln/>
        </p:spPr>
        <p:txBody>
          <a:bodyPr wrap="square" rtlCol="0" anchor="ctr"/>
          <a:lstStyle/>
          <a:p>
            <a:pPr indent="0" marL="0">
              <a:buNone/>
            </a:pPr>
            <a:r>
              <a:rPr lang="en-US" sz="1200" dirty="0">
                <a:solidFill>
                  <a:srgbClr val="F4736A"/>
                </a:solidFill>
                <a:latin typeface="Calibri" pitchFamily="34" charset="0"/>
                <a:ea typeface="Calibri" pitchFamily="34" charset="-122"/>
                <a:cs typeface="Calibri" pitchFamily="34" charset="-120"/>
              </a:rPr>
              <a:t>🍖 Food: Squirrel eats acorns</a:t>
            </a:r>
            <a:endParaRPr lang="en-US" sz="1200" dirty="0"/>
          </a:p>
        </p:txBody>
      </p:sp>
      <p:sp>
        <p:nvSpPr>
          <p:cNvPr id="12" name="Shape 10"/>
          <p:cNvSpPr/>
          <p:nvPr/>
        </p:nvSpPr>
        <p:spPr>
          <a:xfrm>
            <a:off x="7132320" y="2029968"/>
            <a:ext cx="4937760" cy="1207008"/>
          </a:xfrm>
          <a:prstGeom prst="roundRect">
            <a:avLst>
              <a:gd name="adj" fmla="val 6061"/>
            </a:avLst>
          </a:prstGeom>
          <a:solidFill>
            <a:srgbClr val="1E2F45"/>
          </a:solidFill>
          <a:ln w="12700">
            <a:solidFill>
              <a:srgbClr val="FFB703"/>
            </a:solidFill>
            <a:prstDash val="solid"/>
          </a:ln>
        </p:spPr>
      </p:sp>
      <p:sp>
        <p:nvSpPr>
          <p:cNvPr id="13" name="Text 11"/>
          <p:cNvSpPr/>
          <p:nvPr/>
        </p:nvSpPr>
        <p:spPr>
          <a:xfrm>
            <a:off x="7315200" y="2139696"/>
            <a:ext cx="4572000" cy="749808"/>
          </a:xfrm>
          <a:prstGeom prst="rect">
            <a:avLst/>
          </a:prstGeom>
          <a:noFill/>
          <a:ln/>
        </p:spPr>
        <p:txBody>
          <a:bodyPr wrap="square" rtlCol="0" anchor="ctr"/>
          <a:lstStyle/>
          <a:p>
            <a:pPr indent="0" marL="0">
              <a:buNone/>
            </a:pPr>
            <a:r>
              <a:rPr lang="en-US" sz="1200" dirty="0">
                <a:solidFill>
                  <a:srgbClr val="FFB703"/>
                </a:solidFill>
                <a:latin typeface="Calibri" pitchFamily="34" charset="0"/>
                <a:ea typeface="Calibri" pitchFamily="34" charset="-122"/>
                <a:cs typeface="Calibri" pitchFamily="34" charset="-120"/>
              </a:rPr>
              <a:t>🐝 Pollination: Bee visits flowers, moves pollen so the oak can make acorns</a:t>
            </a:r>
            <a:endParaRPr lang="en-US" sz="1200" dirty="0"/>
          </a:p>
        </p:txBody>
      </p:sp>
      <p:sp>
        <p:nvSpPr>
          <p:cNvPr id="14" name="Shape 12"/>
          <p:cNvSpPr/>
          <p:nvPr/>
        </p:nvSpPr>
        <p:spPr>
          <a:xfrm>
            <a:off x="7132320" y="3346704"/>
            <a:ext cx="4937760" cy="1207008"/>
          </a:xfrm>
          <a:prstGeom prst="roundRect">
            <a:avLst>
              <a:gd name="adj" fmla="val 6061"/>
            </a:avLst>
          </a:prstGeom>
          <a:solidFill>
            <a:srgbClr val="1E2F45"/>
          </a:solidFill>
          <a:ln w="12700">
            <a:solidFill>
              <a:srgbClr val="2DC653"/>
            </a:solidFill>
            <a:prstDash val="solid"/>
          </a:ln>
        </p:spPr>
      </p:sp>
      <p:sp>
        <p:nvSpPr>
          <p:cNvPr id="15" name="Text 13"/>
          <p:cNvSpPr/>
          <p:nvPr/>
        </p:nvSpPr>
        <p:spPr>
          <a:xfrm>
            <a:off x="7315200" y="3456432"/>
            <a:ext cx="4572000" cy="749808"/>
          </a:xfrm>
          <a:prstGeom prst="rect">
            <a:avLst/>
          </a:prstGeom>
          <a:noFill/>
          <a:ln/>
        </p:spPr>
        <p:txBody>
          <a:bodyPr wrap="square" rtlCol="0" anchor="ctr"/>
          <a:lstStyle/>
          <a:p>
            <a:pPr indent="0" marL="0">
              <a:buNone/>
            </a:pPr>
            <a:r>
              <a:rPr lang="en-US" sz="1200" dirty="0">
                <a:solidFill>
                  <a:srgbClr val="2DC653"/>
                </a:solidFill>
                <a:latin typeface="Calibri" pitchFamily="34" charset="0"/>
                <a:ea typeface="Calibri" pitchFamily="34" charset="-122"/>
                <a:cs typeface="Calibri" pitchFamily="34" charset="-120"/>
              </a:rPr>
              <a:t>🏠 Shelter: Barred owl nests in the hollow trunk — that's its habitat</a:t>
            </a:r>
            <a:endParaRPr lang="en-US" sz="1200" dirty="0"/>
          </a:p>
        </p:txBody>
      </p:sp>
      <p:sp>
        <p:nvSpPr>
          <p:cNvPr id="16" name="Shape 14"/>
          <p:cNvSpPr/>
          <p:nvPr/>
        </p:nvSpPr>
        <p:spPr>
          <a:xfrm>
            <a:off x="7132320" y="4663440"/>
            <a:ext cx="4937760" cy="1207008"/>
          </a:xfrm>
          <a:prstGeom prst="roundRect">
            <a:avLst>
              <a:gd name="adj" fmla="val 6061"/>
            </a:avLst>
          </a:prstGeom>
          <a:solidFill>
            <a:srgbClr val="1E2F45"/>
          </a:solidFill>
          <a:ln w="12700">
            <a:solidFill>
              <a:srgbClr val="8B6FC0"/>
            </a:solidFill>
            <a:prstDash val="solid"/>
          </a:ln>
        </p:spPr>
      </p:sp>
      <p:sp>
        <p:nvSpPr>
          <p:cNvPr id="17" name="Text 15"/>
          <p:cNvSpPr/>
          <p:nvPr/>
        </p:nvSpPr>
        <p:spPr>
          <a:xfrm>
            <a:off x="7315200" y="4773168"/>
            <a:ext cx="4572000" cy="749808"/>
          </a:xfrm>
          <a:prstGeom prst="rect">
            <a:avLst/>
          </a:prstGeom>
          <a:noFill/>
          <a:ln/>
        </p:spPr>
        <p:txBody>
          <a:bodyPr wrap="square" rtlCol="0" anchor="ctr"/>
          <a:lstStyle/>
          <a:p>
            <a:pPr indent="0" marL="0">
              <a:buNone/>
            </a:pPr>
            <a:r>
              <a:rPr lang="en-US" sz="1200" dirty="0">
                <a:solidFill>
                  <a:srgbClr val="C4B0F0"/>
                </a:solidFill>
                <a:latin typeface="Calibri" pitchFamily="34" charset="0"/>
                <a:ea typeface="Calibri" pitchFamily="34" charset="-122"/>
                <a:cs typeface="Calibri" pitchFamily="34" charset="-120"/>
              </a:rPr>
              <a:t>♻️ Nutrients: Mushrooms break down fallen leaves → nutrients go back to soil → oak grows</a:t>
            </a:r>
            <a:endParaRPr lang="en-US" sz="12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Key Concept: Living Things Connect in Many Ways</a:t>
            </a:r>
            <a:endParaRPr lang="en-US" sz="1600" dirty="0"/>
          </a:p>
        </p:txBody>
      </p:sp>
      <p:sp>
        <p:nvSpPr>
          <p:cNvPr id="5" name="Shape 3"/>
          <p:cNvSpPr/>
          <p:nvPr/>
        </p:nvSpPr>
        <p:spPr>
          <a:xfrm>
            <a:off x="365760" y="713232"/>
            <a:ext cx="11521440" cy="1143000"/>
          </a:xfrm>
          <a:prstGeom prst="roundRect">
            <a:avLst>
              <a:gd name="adj" fmla="val 6400"/>
            </a:avLst>
          </a:prstGeom>
          <a:solidFill>
            <a:srgbClr val="1A2318"/>
          </a:solidFill>
          <a:ln w="12700">
            <a:solidFill>
              <a:srgbClr val="2DC653"/>
            </a:solidFill>
            <a:prstDash val="solid"/>
          </a:ln>
        </p:spPr>
      </p:sp>
      <p:sp>
        <p:nvSpPr>
          <p:cNvPr id="6" name="Text 4"/>
          <p:cNvSpPr/>
          <p:nvPr/>
        </p:nvSpPr>
        <p:spPr>
          <a:xfrm>
            <a:off x="548640" y="804672"/>
            <a:ext cx="11155680" cy="8961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Key Concept: Living things are connected in many ways — not just by eating. An ecosystem is a web of food, pollination, shelter, and nutrient cycles all happening at once.</a:t>
            </a:r>
            <a:endParaRPr lang="en-US" sz="1400" dirty="0"/>
          </a:p>
        </p:txBody>
      </p:sp>
      <p:sp>
        <p:nvSpPr>
          <p:cNvPr id="7" name="Shape 5"/>
          <p:cNvSpPr/>
          <p:nvPr/>
        </p:nvSpPr>
        <p:spPr>
          <a:xfrm>
            <a:off x="365760" y="1993392"/>
            <a:ext cx="11521440" cy="987552"/>
          </a:xfrm>
          <a:prstGeom prst="roundRect">
            <a:avLst>
              <a:gd name="adj" fmla="val 7407"/>
            </a:avLst>
          </a:prstGeom>
          <a:solidFill>
            <a:srgbClr val="1E2F45"/>
          </a:solidFill>
          <a:ln w="12700">
            <a:solidFill>
              <a:srgbClr val="4CC9F0"/>
            </a:solidFill>
            <a:prstDash val="solid"/>
          </a:ln>
        </p:spPr>
      </p:sp>
      <p:sp>
        <p:nvSpPr>
          <p:cNvPr id="8" name="Text 6"/>
          <p:cNvSpPr/>
          <p:nvPr/>
        </p:nvSpPr>
        <p:spPr>
          <a:xfrm>
            <a:off x="548640" y="2084832"/>
            <a:ext cx="11155680" cy="31089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Amazing Florida Fact 🌳</a:t>
            </a:r>
            <a:endParaRPr lang="en-US" sz="1200" dirty="0"/>
          </a:p>
        </p:txBody>
      </p:sp>
      <p:sp>
        <p:nvSpPr>
          <p:cNvPr id="9" name="Text 7"/>
          <p:cNvSpPr/>
          <p:nvPr/>
        </p:nvSpPr>
        <p:spPr>
          <a:xfrm>
            <a:off x="548640" y="2432304"/>
            <a:ext cx="11155680" cy="43891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A single Florida live oak can support more than 500 KINDS OF CATERPILLARS — which feed all the songbirds that nest in it. One tree, hundreds of food connections.</a:t>
            </a:r>
            <a:endParaRPr lang="en-US" sz="1200" dirty="0"/>
          </a:p>
        </p:txBody>
      </p:sp>
      <p:sp>
        <p:nvSpPr>
          <p:cNvPr id="10" name="Shape 8"/>
          <p:cNvSpPr/>
          <p:nvPr/>
        </p:nvSpPr>
        <p:spPr>
          <a:xfrm>
            <a:off x="365760" y="3108960"/>
            <a:ext cx="11521440" cy="1024128"/>
          </a:xfrm>
          <a:prstGeom prst="roundRect">
            <a:avLst>
              <a:gd name="adj" fmla="val 7143"/>
            </a:avLst>
          </a:prstGeom>
          <a:solidFill>
            <a:srgbClr val="1A1A1A"/>
          </a:solidFill>
          <a:ln w="12700">
            <a:solidFill>
              <a:srgbClr val="FFB703"/>
            </a:solidFill>
            <a:prstDash val="solid"/>
          </a:ln>
        </p:spPr>
      </p:sp>
      <p:sp>
        <p:nvSpPr>
          <p:cNvPr id="11" name="Text 9"/>
          <p:cNvSpPr/>
          <p:nvPr/>
        </p:nvSpPr>
        <p:spPr>
          <a:xfrm>
            <a:off x="530352" y="3182112"/>
            <a:ext cx="1119225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Reason</a:t>
            </a:r>
            <a:endParaRPr lang="en-US" sz="1300" dirty="0"/>
          </a:p>
        </p:txBody>
      </p:sp>
      <p:sp>
        <p:nvSpPr>
          <p:cNvPr id="12" name="Text 10"/>
          <p:cNvSpPr/>
          <p:nvPr/>
        </p:nvSpPr>
        <p:spPr>
          <a:xfrm>
            <a:off x="530352" y="3547872"/>
            <a:ext cx="11192256" cy="475488"/>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If every bee in a Florida orange grove disappeared, the trees would still get sunlight, water, and soil. So why would the orange harvest DROP? Use a vocab word in your answer.</a:t>
            </a:r>
            <a:endParaRPr lang="en-US" sz="1350" dirty="0"/>
          </a:p>
        </p:txBody>
      </p:sp>
      <p:sp>
        <p:nvSpPr>
          <p:cNvPr id="13" name="Shape 11"/>
          <p:cNvSpPr/>
          <p:nvPr/>
        </p:nvSpPr>
        <p:spPr>
          <a:xfrm>
            <a:off x="365760" y="4261104"/>
            <a:ext cx="11521440" cy="1719072"/>
          </a:xfrm>
          <a:prstGeom prst="roundRect">
            <a:avLst>
              <a:gd name="adj" fmla="val 4255"/>
            </a:avLst>
          </a:prstGeom>
          <a:solidFill>
            <a:srgbClr val="1A1022"/>
          </a:solidFill>
          <a:ln w="12700">
            <a:solidFill>
              <a:srgbClr val="8B6FC0"/>
            </a:solidFill>
            <a:prstDash val="solid"/>
          </a:ln>
        </p:spPr>
      </p:sp>
      <p:sp>
        <p:nvSpPr>
          <p:cNvPr id="14" name="Text 12"/>
          <p:cNvSpPr/>
          <p:nvPr/>
        </p:nvSpPr>
        <p:spPr>
          <a:xfrm>
            <a:off x="548640" y="4352544"/>
            <a:ext cx="11155680" cy="347472"/>
          </a:xfrm>
          <a:prstGeom prst="rect">
            <a:avLst/>
          </a:prstGeom>
          <a:noFill/>
          <a:ln/>
        </p:spPr>
        <p:txBody>
          <a:bodyPr wrap="square" rtlCol="0" anchor="ctr"/>
          <a:lstStyle/>
          <a:p>
            <a:pPr indent="0" marL="0">
              <a:buNone/>
            </a:pPr>
            <a:r>
              <a:rPr lang="en-US" sz="1300" b="1" dirty="0">
                <a:solidFill>
                  <a:srgbClr val="C4B0F0"/>
                </a:solidFill>
                <a:latin typeface="Calibri" pitchFamily="34" charset="0"/>
                <a:ea typeface="Calibri" pitchFamily="34" charset="-122"/>
                <a:cs typeface="Calibri" pitchFamily="34" charset="-120"/>
              </a:rPr>
              <a:t>🔭 Go Deeper: The Wood-Wide Web</a:t>
            </a:r>
            <a:endParaRPr lang="en-US" sz="1300" dirty="0"/>
          </a:p>
        </p:txBody>
      </p:sp>
      <p:sp>
        <p:nvSpPr>
          <p:cNvPr id="15" name="Text 13"/>
          <p:cNvSpPr/>
          <p:nvPr/>
        </p:nvSpPr>
        <p:spPr>
          <a:xfrm>
            <a:off x="548640" y="4736592"/>
            <a:ext cx="11155680" cy="111556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Beneath your feet, oak trees are connected to each other through fungus threads in the soil. These thin fungal networks help trees share water and nutrients — and even warn each other about insect attacks. Scientists call this the 'wood-wide web.' The forest above ground is only HALF the story.</a:t>
            </a:r>
            <a:endParaRPr lang="en-US" sz="12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Map Your Own Ecosystem Web (8 min)</a:t>
            </a:r>
            <a:endParaRPr lang="en-US" sz="1600" dirty="0"/>
          </a:p>
        </p:txBody>
      </p:sp>
      <p:sp>
        <p:nvSpPr>
          <p:cNvPr id="5" name="Text 3"/>
          <p:cNvSpPr/>
          <p:nvPr/>
        </p:nvSpPr>
        <p:spPr>
          <a:xfrm>
            <a:off x="365760" y="658368"/>
            <a:ext cx="11521440" cy="27432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Pick ONE: manatee  ·  saw palmetto  ·  bald eagle  ·  gopher tortoise</a:t>
            </a:r>
            <a:endParaRPr lang="en-US" sz="1200" dirty="0"/>
          </a:p>
        </p:txBody>
      </p:sp>
      <p:sp>
        <p:nvSpPr>
          <p:cNvPr id="6" name="Shape 4"/>
          <p:cNvSpPr/>
          <p:nvPr/>
        </p:nvSpPr>
        <p:spPr>
          <a:xfrm>
            <a:off x="365760" y="1005840"/>
            <a:ext cx="5532120" cy="2395728"/>
          </a:xfrm>
          <a:prstGeom prst="roundRect">
            <a:avLst>
              <a:gd name="adj" fmla="val 3053"/>
            </a:avLst>
          </a:prstGeom>
          <a:solidFill>
            <a:srgbClr val="1E2F45"/>
          </a:solidFill>
          <a:ln w="12700">
            <a:solidFill>
              <a:srgbClr val="2DC653"/>
            </a:solidFill>
            <a:prstDash val="solid"/>
          </a:ln>
        </p:spPr>
      </p:sp>
      <p:sp>
        <p:nvSpPr>
          <p:cNvPr id="7" name="Shape 5"/>
          <p:cNvSpPr/>
          <p:nvPr/>
        </p:nvSpPr>
        <p:spPr>
          <a:xfrm>
            <a:off x="502920" y="1115568"/>
            <a:ext cx="1554480" cy="256032"/>
          </a:xfrm>
          <a:prstGeom prst="roundRect">
            <a:avLst>
              <a:gd name="adj" fmla="val 50000"/>
            </a:avLst>
          </a:prstGeom>
          <a:solidFill>
            <a:srgbClr val="2DC653"/>
          </a:solidFill>
          <a:ln w="12700">
            <a:solidFill>
              <a:srgbClr val="2DC653"/>
            </a:solidFill>
            <a:prstDash val="solid"/>
          </a:ln>
        </p:spPr>
      </p:sp>
      <p:sp>
        <p:nvSpPr>
          <p:cNvPr id="8" name="Text 6"/>
          <p:cNvSpPr/>
          <p:nvPr/>
        </p:nvSpPr>
        <p:spPr>
          <a:xfrm>
            <a:off x="502920" y="11155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502920" y="1444752"/>
            <a:ext cx="53035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Put It in the Center</a:t>
            </a:r>
            <a:endParaRPr lang="en-US" sz="1300" dirty="0"/>
          </a:p>
        </p:txBody>
      </p:sp>
      <p:sp>
        <p:nvSpPr>
          <p:cNvPr id="10" name="Text 8"/>
          <p:cNvSpPr/>
          <p:nvPr/>
        </p:nvSpPr>
        <p:spPr>
          <a:xfrm>
            <a:off x="502920" y="1828800"/>
            <a:ext cx="5303520" cy="14447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Choose one Florida species. Draw it in the middle of a new page. Leave plenty of empty space around it. This is the center of your web.</a:t>
            </a:r>
            <a:endParaRPr lang="en-US" sz="1150" dirty="0"/>
          </a:p>
        </p:txBody>
      </p:sp>
      <p:sp>
        <p:nvSpPr>
          <p:cNvPr id="11" name="Shape 9"/>
          <p:cNvSpPr/>
          <p:nvPr/>
        </p:nvSpPr>
        <p:spPr>
          <a:xfrm>
            <a:off x="365760" y="3639312"/>
            <a:ext cx="5532120" cy="2395728"/>
          </a:xfrm>
          <a:prstGeom prst="roundRect">
            <a:avLst>
              <a:gd name="adj" fmla="val 3053"/>
            </a:avLst>
          </a:prstGeom>
          <a:solidFill>
            <a:srgbClr val="1E2F45"/>
          </a:solidFill>
          <a:ln w="12700">
            <a:solidFill>
              <a:srgbClr val="F4736A"/>
            </a:solidFill>
            <a:prstDash val="solid"/>
          </a:ln>
        </p:spPr>
      </p:sp>
      <p:sp>
        <p:nvSpPr>
          <p:cNvPr id="12" name="Shape 10"/>
          <p:cNvSpPr/>
          <p:nvPr/>
        </p:nvSpPr>
        <p:spPr>
          <a:xfrm>
            <a:off x="502920" y="3749040"/>
            <a:ext cx="1554480" cy="256032"/>
          </a:xfrm>
          <a:prstGeom prst="roundRect">
            <a:avLst>
              <a:gd name="adj" fmla="val 50000"/>
            </a:avLst>
          </a:prstGeom>
          <a:solidFill>
            <a:srgbClr val="F4736A"/>
          </a:solidFill>
          <a:ln w="12700">
            <a:solidFill>
              <a:srgbClr val="F4736A"/>
            </a:solidFill>
            <a:prstDash val="solid"/>
          </a:ln>
        </p:spPr>
      </p:sp>
      <p:sp>
        <p:nvSpPr>
          <p:cNvPr id="13" name="Text 11"/>
          <p:cNvSpPr/>
          <p:nvPr/>
        </p:nvSpPr>
        <p:spPr>
          <a:xfrm>
            <a:off x="502920" y="37490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502920" y="4078224"/>
            <a:ext cx="53035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Add Food Connections</a:t>
            </a:r>
            <a:endParaRPr lang="en-US" sz="1300" dirty="0"/>
          </a:p>
        </p:txBody>
      </p:sp>
      <p:sp>
        <p:nvSpPr>
          <p:cNvPr id="15" name="Text 13"/>
          <p:cNvSpPr/>
          <p:nvPr/>
        </p:nvSpPr>
        <p:spPr>
          <a:xfrm>
            <a:off x="502920" y="4462272"/>
            <a:ext cx="5303520" cy="14447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Draw arrows showing what your animal eats AND what eats it. Use ONE color for food arrows. Label them FOOD.</a:t>
            </a:r>
            <a:endParaRPr lang="en-US" sz="1150" dirty="0"/>
          </a:p>
        </p:txBody>
      </p:sp>
      <p:sp>
        <p:nvSpPr>
          <p:cNvPr id="16" name="Shape 14"/>
          <p:cNvSpPr/>
          <p:nvPr/>
        </p:nvSpPr>
        <p:spPr>
          <a:xfrm>
            <a:off x="6126480" y="1005840"/>
            <a:ext cx="5532120" cy="2395728"/>
          </a:xfrm>
          <a:prstGeom prst="roundRect">
            <a:avLst>
              <a:gd name="adj" fmla="val 3053"/>
            </a:avLst>
          </a:prstGeom>
          <a:solidFill>
            <a:srgbClr val="1E2F45"/>
          </a:solidFill>
          <a:ln w="12700">
            <a:solidFill>
              <a:srgbClr val="FFB703"/>
            </a:solidFill>
            <a:prstDash val="solid"/>
          </a:ln>
        </p:spPr>
      </p:sp>
      <p:sp>
        <p:nvSpPr>
          <p:cNvPr id="17" name="Shape 15"/>
          <p:cNvSpPr/>
          <p:nvPr/>
        </p:nvSpPr>
        <p:spPr>
          <a:xfrm>
            <a:off x="6263640" y="1115568"/>
            <a:ext cx="1554480" cy="256032"/>
          </a:xfrm>
          <a:prstGeom prst="roundRect">
            <a:avLst>
              <a:gd name="adj" fmla="val 50000"/>
            </a:avLst>
          </a:prstGeom>
          <a:solidFill>
            <a:srgbClr val="FFB703"/>
          </a:solidFill>
          <a:ln w="12700">
            <a:solidFill>
              <a:srgbClr val="FFB703"/>
            </a:solidFill>
            <a:prstDash val="solid"/>
          </a:ln>
        </p:spPr>
      </p:sp>
      <p:sp>
        <p:nvSpPr>
          <p:cNvPr id="18" name="Text 16"/>
          <p:cNvSpPr/>
          <p:nvPr/>
        </p:nvSpPr>
        <p:spPr>
          <a:xfrm>
            <a:off x="6263640" y="11155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6263640" y="1444752"/>
            <a:ext cx="53035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Add Other Connections</a:t>
            </a:r>
            <a:endParaRPr lang="en-US" sz="1300" dirty="0"/>
          </a:p>
        </p:txBody>
      </p:sp>
      <p:sp>
        <p:nvSpPr>
          <p:cNvPr id="20" name="Text 18"/>
          <p:cNvSpPr/>
          <p:nvPr/>
        </p:nvSpPr>
        <p:spPr>
          <a:xfrm>
            <a:off x="6263640" y="1828800"/>
            <a:ext cx="5303520" cy="14447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Use a DIFFERENT color for each: pollination, shelter, nutrients, human care. Add at least ONE of each type that you can. Label every arrow.</a:t>
            </a:r>
            <a:endParaRPr lang="en-US" sz="1150" dirty="0"/>
          </a:p>
        </p:txBody>
      </p:sp>
      <p:sp>
        <p:nvSpPr>
          <p:cNvPr id="21" name="Shape 19"/>
          <p:cNvSpPr/>
          <p:nvPr/>
        </p:nvSpPr>
        <p:spPr>
          <a:xfrm>
            <a:off x="6126480" y="3639312"/>
            <a:ext cx="5532120" cy="2395728"/>
          </a:xfrm>
          <a:prstGeom prst="roundRect">
            <a:avLst>
              <a:gd name="adj" fmla="val 3053"/>
            </a:avLst>
          </a:prstGeom>
          <a:solidFill>
            <a:srgbClr val="1E2F45"/>
          </a:solidFill>
          <a:ln w="12700">
            <a:solidFill>
              <a:srgbClr val="4CC9F0"/>
            </a:solidFill>
            <a:prstDash val="solid"/>
          </a:ln>
        </p:spPr>
      </p:sp>
      <p:sp>
        <p:nvSpPr>
          <p:cNvPr id="22" name="Shape 20"/>
          <p:cNvSpPr/>
          <p:nvPr/>
        </p:nvSpPr>
        <p:spPr>
          <a:xfrm>
            <a:off x="6263640" y="3749040"/>
            <a:ext cx="1554480" cy="256032"/>
          </a:xfrm>
          <a:prstGeom prst="roundRect">
            <a:avLst>
              <a:gd name="adj" fmla="val 50000"/>
            </a:avLst>
          </a:prstGeom>
          <a:solidFill>
            <a:srgbClr val="4CC9F0"/>
          </a:solidFill>
          <a:ln w="12700">
            <a:solidFill>
              <a:srgbClr val="4CC9F0"/>
            </a:solidFill>
            <a:prstDash val="solid"/>
          </a:ln>
        </p:spPr>
      </p:sp>
      <p:sp>
        <p:nvSpPr>
          <p:cNvPr id="23" name="Text 21"/>
          <p:cNvSpPr/>
          <p:nvPr/>
        </p:nvSpPr>
        <p:spPr>
          <a:xfrm>
            <a:off x="6263640" y="37490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6263640" y="4078224"/>
            <a:ext cx="53035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Count &amp; Reflect</a:t>
            </a:r>
            <a:endParaRPr lang="en-US" sz="1300" dirty="0"/>
          </a:p>
        </p:txBody>
      </p:sp>
      <p:sp>
        <p:nvSpPr>
          <p:cNvPr id="25" name="Text 23"/>
          <p:cNvSpPr/>
          <p:nvPr/>
        </p:nvSpPr>
        <p:spPr>
          <a:xfrm>
            <a:off x="6263640" y="4462272"/>
            <a:ext cx="5303520" cy="14447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Count your arrows. How many food connections? How many non-food connections? Write 1-2 sentences about what surprised you most.</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Model: Revisable Web Map</a:t>
            </a:r>
            <a:endParaRPr lang="en-US" sz="1600" dirty="0"/>
          </a:p>
        </p:txBody>
      </p:sp>
      <p:sp>
        <p:nvSpPr>
          <p:cNvPr id="5" name="Shape 3"/>
          <p:cNvSpPr/>
          <p:nvPr/>
        </p:nvSpPr>
        <p:spPr>
          <a:xfrm>
            <a:off x="365760" y="713232"/>
            <a:ext cx="11521440" cy="804672"/>
          </a:xfrm>
          <a:prstGeom prst="roundRect">
            <a:avLst>
              <a:gd name="adj" fmla="val 9091"/>
            </a:avLst>
          </a:prstGeom>
          <a:solidFill>
            <a:srgbClr val="1E2F45"/>
          </a:solidFill>
          <a:ln w="12700">
            <a:solidFill>
              <a:srgbClr val="4CC9F0"/>
            </a:solidFill>
            <a:prstDash val="solid"/>
          </a:ln>
        </p:spPr>
      </p:sp>
      <p:sp>
        <p:nvSpPr>
          <p:cNvPr id="6" name="Text 4"/>
          <p:cNvSpPr/>
          <p:nvPr/>
        </p:nvSpPr>
        <p:spPr>
          <a:xfrm>
            <a:off x="548640" y="768096"/>
            <a:ext cx="11155680" cy="62179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Q2 Habit: Draw your model FIRST — then update it after seeing new evidence.</a:t>
            </a:r>
            <a:endParaRPr lang="en-US" sz="1300" dirty="0"/>
          </a:p>
        </p:txBody>
      </p:sp>
      <p:sp>
        <p:nvSpPr>
          <p:cNvPr id="7" name="Shape 5"/>
          <p:cNvSpPr/>
          <p:nvPr/>
        </p:nvSpPr>
        <p:spPr>
          <a:xfrm>
            <a:off x="365760" y="1664208"/>
            <a:ext cx="5394960" cy="4005072"/>
          </a:xfrm>
          <a:prstGeom prst="roundRect">
            <a:avLst>
              <a:gd name="adj" fmla="val 1826"/>
            </a:avLst>
          </a:prstGeom>
          <a:solidFill>
            <a:srgbClr val="0A1520"/>
          </a:solidFill>
          <a:ln w="19050">
            <a:solidFill>
              <a:srgbClr val="4CC9F0"/>
            </a:solidFill>
            <a:prstDash val="dash"/>
          </a:ln>
        </p:spPr>
      </p:sp>
      <p:sp>
        <p:nvSpPr>
          <p:cNvPr id="8" name="Text 6"/>
          <p:cNvSpPr/>
          <p:nvPr/>
        </p:nvSpPr>
        <p:spPr>
          <a:xfrm>
            <a:off x="457200" y="1773936"/>
            <a:ext cx="5212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212848"/>
            <a:ext cx="52120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505456"/>
            <a:ext cx="5175504" cy="295351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"ecosystem web diagram gopher tortoise Florida connections food shelter nutrients human care arrows labeled multiple colors"</a:t>
            </a:r>
            <a:endParaRPr lang="en-US" sz="950" dirty="0"/>
          </a:p>
        </p:txBody>
      </p:sp>
      <p:sp>
        <p:nvSpPr>
          <p:cNvPr id="11" name="Text 9"/>
          <p:cNvSpPr/>
          <p:nvPr/>
        </p:nvSpPr>
        <p:spPr>
          <a:xfrm>
            <a:off x="365760" y="5705856"/>
            <a:ext cx="53949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Gopher tortoise web — multiple connection types</a:t>
            </a:r>
            <a:endParaRPr lang="en-US" sz="900" dirty="0"/>
          </a:p>
        </p:txBody>
      </p:sp>
      <p:sp>
        <p:nvSpPr>
          <p:cNvPr id="12" name="Shape 10"/>
          <p:cNvSpPr/>
          <p:nvPr/>
        </p:nvSpPr>
        <p:spPr>
          <a:xfrm>
            <a:off x="5943600" y="1664208"/>
            <a:ext cx="5943600" cy="4005072"/>
          </a:xfrm>
          <a:prstGeom prst="roundRect">
            <a:avLst>
              <a:gd name="adj" fmla="val 1826"/>
            </a:avLst>
          </a:prstGeom>
          <a:solidFill>
            <a:srgbClr val="1E2F45"/>
          </a:solidFill>
          <a:ln w="12700">
            <a:solidFill>
              <a:srgbClr val="2DC653"/>
            </a:solidFill>
            <a:prstDash val="solid"/>
          </a:ln>
        </p:spPr>
      </p:sp>
      <p:sp>
        <p:nvSpPr>
          <p:cNvPr id="13" name="Text 11"/>
          <p:cNvSpPr/>
          <p:nvPr/>
        </p:nvSpPr>
        <p:spPr>
          <a:xfrm>
            <a:off x="6126480" y="1783080"/>
            <a:ext cx="566928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Your model should show:</a:t>
            </a:r>
            <a:endParaRPr lang="en-US" sz="1300" dirty="0"/>
          </a:p>
        </p:txBody>
      </p:sp>
      <p:sp>
        <p:nvSpPr>
          <p:cNvPr id="14" name="Text 12"/>
          <p:cNvSpPr/>
          <p:nvPr/>
        </p:nvSpPr>
        <p:spPr>
          <a:xfrm>
            <a:off x="6126480" y="2212848"/>
            <a:ext cx="5669280" cy="4754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At least 1 food connection (what eats it / what it eats)</a:t>
            </a:r>
            <a:endParaRPr lang="en-US" sz="1200" dirty="0"/>
          </a:p>
        </p:txBody>
      </p:sp>
      <p:sp>
        <p:nvSpPr>
          <p:cNvPr id="15" name="Text 13"/>
          <p:cNvSpPr/>
          <p:nvPr/>
        </p:nvSpPr>
        <p:spPr>
          <a:xfrm>
            <a:off x="6126480" y="2779776"/>
            <a:ext cx="5669280" cy="4754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1 pollination connection (if your species pollinates OR is pollinated)</a:t>
            </a:r>
            <a:endParaRPr lang="en-US" sz="1200" dirty="0"/>
          </a:p>
        </p:txBody>
      </p:sp>
      <p:sp>
        <p:nvSpPr>
          <p:cNvPr id="16" name="Text 14"/>
          <p:cNvSpPr/>
          <p:nvPr/>
        </p:nvSpPr>
        <p:spPr>
          <a:xfrm>
            <a:off x="6126480" y="3346704"/>
            <a:ext cx="5669280" cy="4754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1 shelter connection (gives or receives)</a:t>
            </a:r>
            <a:endParaRPr lang="en-US" sz="1200" dirty="0"/>
          </a:p>
        </p:txBody>
      </p:sp>
      <p:sp>
        <p:nvSpPr>
          <p:cNvPr id="17" name="Text 15"/>
          <p:cNvSpPr/>
          <p:nvPr/>
        </p:nvSpPr>
        <p:spPr>
          <a:xfrm>
            <a:off x="6126480" y="3913632"/>
            <a:ext cx="5669280" cy="4754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1 nutrient connection (receives from decomposers or soil)</a:t>
            </a:r>
            <a:endParaRPr lang="en-US" sz="1200" dirty="0"/>
          </a:p>
        </p:txBody>
      </p:sp>
      <p:sp>
        <p:nvSpPr>
          <p:cNvPr id="18" name="Text 16"/>
          <p:cNvSpPr/>
          <p:nvPr/>
        </p:nvSpPr>
        <p:spPr>
          <a:xfrm>
            <a:off x="6126480" y="4480560"/>
            <a:ext cx="5669280" cy="4754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1 human connection (how people affect it)</a:t>
            </a:r>
            <a:endParaRPr lang="en-US" sz="1200" dirty="0"/>
          </a:p>
        </p:txBody>
      </p:sp>
      <p:sp>
        <p:nvSpPr>
          <p:cNvPr id="19" name="Text 17"/>
          <p:cNvSpPr/>
          <p:nvPr/>
        </p:nvSpPr>
        <p:spPr>
          <a:xfrm>
            <a:off x="6126480" y="5138928"/>
            <a:ext cx="5669280" cy="384048"/>
          </a:xfrm>
          <a:prstGeom prst="rect">
            <a:avLst/>
          </a:prstGeom>
          <a:noFill/>
          <a:ln/>
        </p:spPr>
        <p:txBody>
          <a:bodyPr wrap="square" rtlCol="0" anchor="ctr"/>
          <a:lstStyle/>
          <a:p>
            <a:pPr indent="0" marL="0">
              <a:buNone/>
            </a:pPr>
            <a:r>
              <a:rPr lang="en-US" sz="1100" i="1" dirty="0">
                <a:solidFill>
                  <a:srgbClr val="FFB703"/>
                </a:solidFill>
                <a:latin typeface="Calibri" pitchFamily="34" charset="0"/>
                <a:ea typeface="Calibri" pitchFamily="34" charset="-122"/>
                <a:cs typeface="Calibri" pitchFamily="34" charset="-120"/>
              </a:rPr>
              <a:t>✏️ REVISE: After finishing, look at your warm-up oak map. Add any connections you missed.</a:t>
            </a:r>
            <a:endParaRPr lang="en-US" sz="11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411480"/>
            <a:ext cx="11521440" cy="3456432"/>
          </a:xfrm>
          <a:prstGeom prst="roundRect">
            <a:avLst>
              <a:gd name="adj" fmla="val 2116"/>
            </a:avLst>
          </a:prstGeom>
          <a:solidFill>
            <a:srgbClr val="0A1520"/>
          </a:solidFill>
          <a:ln w="12700">
            <a:solidFill>
              <a:srgbClr val="FFB703"/>
            </a:solidFill>
            <a:prstDash val="solid"/>
          </a:ln>
        </p:spPr>
      </p:sp>
      <p:sp>
        <p:nvSpPr>
          <p:cNvPr id="3" name="Text 1"/>
          <p:cNvSpPr/>
          <p:nvPr/>
        </p:nvSpPr>
        <p:spPr>
          <a:xfrm>
            <a:off x="365760" y="566928"/>
            <a:ext cx="11521440" cy="749808"/>
          </a:xfrm>
          <a:prstGeom prst="rect">
            <a:avLst/>
          </a:prstGeom>
          <a:noFill/>
          <a:ln/>
        </p:spPr>
        <p:txBody>
          <a:bodyPr wrap="square" rtlCol="0" anchor="ctr"/>
          <a:lstStyle/>
          <a:p>
            <a:pPr algn="ctr" indent="0" marL="0">
              <a:buNone/>
            </a:pPr>
            <a:r>
              <a:rPr lang="en-US" sz="4600" dirty="0">
                <a:solidFill>
                  <a:srgbClr val="000000"/>
                </a:solidFill>
              </a:rPr>
              <a:t>🤯</a:t>
            </a:r>
            <a:endParaRPr lang="en-US" sz="4600" dirty="0"/>
          </a:p>
        </p:txBody>
      </p:sp>
      <p:sp>
        <p:nvSpPr>
          <p:cNvPr id="4" name="Text 2"/>
          <p:cNvSpPr/>
          <p:nvPr/>
        </p:nvSpPr>
        <p:spPr>
          <a:xfrm>
            <a:off x="365760" y="1371600"/>
            <a:ext cx="11521440" cy="347472"/>
          </a:xfrm>
          <a:prstGeom prst="rect">
            <a:avLst/>
          </a:prstGeom>
          <a:noFill/>
          <a:ln/>
        </p:spPr>
        <p:txBody>
          <a:bodyPr wrap="square" rtlCol="0" anchor="ctr"/>
          <a:lstStyle/>
          <a:p>
            <a:pPr algn="ctr" indent="0" marL="0">
              <a:buNone/>
            </a:pPr>
            <a:r>
              <a:rPr lang="en-US" sz="1600" b="1" dirty="0">
                <a:solidFill>
                  <a:srgbClr val="FFB703"/>
                </a:solidFill>
                <a:latin typeface="Calibri" pitchFamily="34" charset="0"/>
                <a:ea typeface="Calibri" pitchFamily="34" charset="-122"/>
                <a:cs typeface="Calibri" pitchFamily="34" charset="-120"/>
              </a:rPr>
              <a:t>Mind-Blowing Fact #1</a:t>
            </a:r>
            <a:endParaRPr lang="en-US" sz="1600" dirty="0"/>
          </a:p>
        </p:txBody>
      </p:sp>
      <p:sp>
        <p:nvSpPr>
          <p:cNvPr id="5" name="Text 3"/>
          <p:cNvSpPr/>
          <p:nvPr/>
        </p:nvSpPr>
        <p:spPr>
          <a:xfrm>
            <a:off x="914400" y="1810512"/>
            <a:ext cx="10241280" cy="384048"/>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About 9 out of every 10 flowering plants in Florida</a:t>
            </a:r>
            <a:endParaRPr lang="en-US" sz="1600" dirty="0"/>
          </a:p>
        </p:txBody>
      </p:sp>
      <p:sp>
        <p:nvSpPr>
          <p:cNvPr id="6" name="Text 4"/>
          <p:cNvSpPr/>
          <p:nvPr/>
        </p:nvSpPr>
        <p:spPr>
          <a:xfrm>
            <a:off x="914400" y="2240280"/>
            <a:ext cx="10241280" cy="475488"/>
          </a:xfrm>
          <a:prstGeom prst="rect">
            <a:avLst/>
          </a:prstGeom>
          <a:noFill/>
          <a:ln/>
        </p:spPr>
        <p:txBody>
          <a:bodyPr wrap="square" rtlCol="0" anchor="ctr"/>
          <a:lstStyle/>
          <a:p>
            <a:pPr algn="ctr" indent="0" marL="0">
              <a:buNone/>
            </a:pPr>
            <a:r>
              <a:rPr lang="en-US" sz="2800" b="1" dirty="0">
                <a:solidFill>
                  <a:srgbClr val="FFB703"/>
                </a:solidFill>
                <a:latin typeface="Calibri" pitchFamily="34" charset="0"/>
                <a:ea typeface="Calibri" pitchFamily="34" charset="-122"/>
                <a:cs typeface="Calibri" pitchFamily="34" charset="-120"/>
              </a:rPr>
              <a:t>depend on an animal pollinator to make seeds.</a:t>
            </a:r>
            <a:endParaRPr lang="en-US" sz="2800" dirty="0"/>
          </a:p>
        </p:txBody>
      </p:sp>
      <p:sp>
        <p:nvSpPr>
          <p:cNvPr id="7" name="Text 5"/>
          <p:cNvSpPr/>
          <p:nvPr/>
        </p:nvSpPr>
        <p:spPr>
          <a:xfrm>
            <a:off x="914400" y="2761488"/>
            <a:ext cx="10241280" cy="384048"/>
          </a:xfrm>
          <a:prstGeom prst="rect">
            <a:avLst/>
          </a:prstGeom>
          <a:noFill/>
          <a:ln/>
        </p:spPr>
        <p:txBody>
          <a:bodyPr wrap="square" rtlCol="0" anchor="ctr"/>
          <a:lstStyle/>
          <a:p>
            <a:pPr algn="ctr" indent="0" marL="0">
              <a:buNone/>
            </a:pPr>
            <a:r>
              <a:rPr lang="en-US" sz="1400" dirty="0">
                <a:solidFill>
                  <a:srgbClr val="B0C4D8"/>
                </a:solidFill>
                <a:latin typeface="Calibri" pitchFamily="34" charset="0"/>
                <a:ea typeface="Calibri" pitchFamily="34" charset="-122"/>
                <a:cs typeface="Calibri" pitchFamily="34" charset="-120"/>
              </a:rPr>
              <a:t>If pollinators disappear, the whole web of plants and animals starts to come apart.</a:t>
            </a:r>
            <a:endParaRPr lang="en-US" sz="1400" dirty="0"/>
          </a:p>
        </p:txBody>
      </p:sp>
      <p:sp>
        <p:nvSpPr>
          <p:cNvPr id="8" name="Shape 6"/>
          <p:cNvSpPr/>
          <p:nvPr/>
        </p:nvSpPr>
        <p:spPr>
          <a:xfrm>
            <a:off x="365760" y="4005072"/>
            <a:ext cx="11521440" cy="2084832"/>
          </a:xfrm>
          <a:prstGeom prst="roundRect">
            <a:avLst>
              <a:gd name="adj" fmla="val 3509"/>
            </a:avLst>
          </a:prstGeom>
          <a:solidFill>
            <a:srgbClr val="1E2F45"/>
          </a:solidFill>
          <a:ln w="12700">
            <a:solidFill>
              <a:srgbClr val="2DC653"/>
            </a:solidFill>
            <a:prstDash val="solid"/>
          </a:ln>
        </p:spPr>
      </p:sp>
      <p:sp>
        <p:nvSpPr>
          <p:cNvPr id="9" name="Text 7"/>
          <p:cNvSpPr/>
          <p:nvPr/>
        </p:nvSpPr>
        <p:spPr>
          <a:xfrm>
            <a:off x="548640" y="4096512"/>
            <a:ext cx="1115568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The Pollinator Cascade:</a:t>
            </a:r>
            <a:endParaRPr lang="en-US" sz="1300" dirty="0"/>
          </a:p>
        </p:txBody>
      </p:sp>
      <p:sp>
        <p:nvSpPr>
          <p:cNvPr id="10" name="Text 8"/>
          <p:cNvSpPr/>
          <p:nvPr/>
        </p:nvSpPr>
        <p:spPr>
          <a:xfrm>
            <a:off x="548640" y="4480560"/>
            <a:ext cx="11155680" cy="1417320"/>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No pollinators → plants can't make seeds → fruits and berries disappear → birds and mammals lose food → predators lose prey → the whole food web restructures.</a:t>
            </a:r>
            <a:endParaRPr lang="en-US" sz="1250" dirty="0"/>
          </a:p>
          <a:p>
            <a:pPr indent="0" marL="0">
              <a:buNone/>
            </a:pPr>
            <a:endParaRPr lang="en-US" sz="1250" dirty="0"/>
          </a:p>
          <a:p>
            <a:pPr indent="0" marL="0">
              <a:buNone/>
            </a:pPr>
            <a:r>
              <a:rPr lang="en-US" sz="1250" dirty="0">
                <a:solidFill>
                  <a:srgbClr val="B0C4D8"/>
                </a:solidFill>
                <a:latin typeface="Calibri" pitchFamily="34" charset="0"/>
                <a:ea typeface="Calibri" pitchFamily="34" charset="-122"/>
                <a:cs typeface="Calibri" pitchFamily="34" charset="-120"/>
              </a:rPr>
              <a:t>All of this from ONE type of connection disappearing.</a:t>
            </a:r>
            <a:endParaRPr lang="en-US" sz="12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CER Practice: More Than Just Eating</a:t>
            </a:r>
            <a:endParaRPr lang="en-US" sz="1600" dirty="0"/>
          </a:p>
        </p:txBody>
      </p:sp>
      <p:sp>
        <p:nvSpPr>
          <p:cNvPr id="5" name="Shape 3"/>
          <p:cNvSpPr/>
          <p:nvPr/>
        </p:nvSpPr>
        <p:spPr>
          <a:xfrm>
            <a:off x="365760" y="713232"/>
            <a:ext cx="11521440" cy="804672"/>
          </a:xfrm>
          <a:prstGeom prst="roundRect">
            <a:avLst>
              <a:gd name="adj" fmla="val 9091"/>
            </a:avLst>
          </a:prstGeom>
          <a:solidFill>
            <a:srgbClr val="1E2F45"/>
          </a:solidFill>
          <a:ln w="12700">
            <a:solidFill>
              <a:srgbClr val="1A5FBD"/>
            </a:solidFill>
            <a:prstDash val="solid"/>
          </a:ln>
        </p:spPr>
      </p:sp>
      <p:sp>
        <p:nvSpPr>
          <p:cNvPr id="6" name="Text 4"/>
          <p:cNvSpPr/>
          <p:nvPr/>
        </p:nvSpPr>
        <p:spPr>
          <a:xfrm>
            <a:off x="548640" y="768096"/>
            <a:ext cx="11155680"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Question: A friend says 'As long as plants have sunlight, water, and soil, they don't need bees or fungi.' Do you agree or disagree? Use evidence to argue your position.</a:t>
            </a:r>
            <a:endParaRPr lang="en-US" sz="1300" dirty="0"/>
          </a:p>
        </p:txBody>
      </p:sp>
      <p:sp>
        <p:nvSpPr>
          <p:cNvPr id="7" name="Shape 5"/>
          <p:cNvSpPr/>
          <p:nvPr/>
        </p:nvSpPr>
        <p:spPr>
          <a:xfrm>
            <a:off x="365760" y="1664208"/>
            <a:ext cx="3611880" cy="3886200"/>
          </a:xfrm>
          <a:prstGeom prst="roundRect">
            <a:avLst>
              <a:gd name="adj" fmla="val 2532"/>
            </a:avLst>
          </a:prstGeom>
          <a:solidFill>
            <a:srgbClr val="0A3D8F"/>
          </a:solidFill>
          <a:ln w="19050">
            <a:solidFill>
              <a:srgbClr val="1A5FBD"/>
            </a:solidFill>
            <a:prstDash val="solid"/>
          </a:ln>
        </p:spPr>
      </p:sp>
      <p:sp>
        <p:nvSpPr>
          <p:cNvPr id="8" name="Shape 6"/>
          <p:cNvSpPr/>
          <p:nvPr/>
        </p:nvSpPr>
        <p:spPr>
          <a:xfrm>
            <a:off x="365760" y="1664208"/>
            <a:ext cx="3611880" cy="347472"/>
          </a:xfrm>
          <a:prstGeom prst="rect">
            <a:avLst/>
          </a:prstGeom>
          <a:solidFill>
            <a:srgbClr val="1A5FBD"/>
          </a:solidFill>
          <a:ln w="12700">
            <a:solidFill>
              <a:srgbClr val="1A5FBD"/>
            </a:solidFill>
            <a:prstDash val="solid"/>
          </a:ln>
        </p:spPr>
      </p:sp>
      <p:sp>
        <p:nvSpPr>
          <p:cNvPr id="9" name="Text 7"/>
          <p:cNvSpPr/>
          <p:nvPr/>
        </p:nvSpPr>
        <p:spPr>
          <a:xfrm>
            <a:off x="45720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2066544"/>
            <a:ext cx="3337560" cy="33924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Sentence starter:</a:t>
            </a:r>
            <a:endParaRPr lang="en-US" sz="1200" dirty="0"/>
          </a:p>
          <a:p>
            <a:pPr algn="l" indent="0" marL="0">
              <a:buNone/>
            </a:pPr>
            <a:r>
              <a:rPr lang="en-US" sz="1200" i="1" dirty="0">
                <a:solidFill>
                  <a:srgbClr val="FFFFFF"/>
                </a:solidFill>
                <a:latin typeface="Calibri" pitchFamily="34" charset="0"/>
                <a:ea typeface="Calibri" pitchFamily="34" charset="-122"/>
                <a:cs typeface="Calibri" pitchFamily="34" charset="-120"/>
              </a:rPr>
              <a:t>"I disagree because plants also need _______ (name a non-food connection) to _______."</a:t>
            </a:r>
            <a:endParaRPr lang="en-US" sz="1200" dirty="0"/>
          </a:p>
        </p:txBody>
      </p:sp>
      <p:sp>
        <p:nvSpPr>
          <p:cNvPr id="11" name="Shape 9"/>
          <p:cNvSpPr/>
          <p:nvPr/>
        </p:nvSpPr>
        <p:spPr>
          <a:xfrm>
            <a:off x="4114800" y="1664208"/>
            <a:ext cx="3611880" cy="3886200"/>
          </a:xfrm>
          <a:prstGeom prst="roundRect">
            <a:avLst>
              <a:gd name="adj" fmla="val 2532"/>
            </a:avLst>
          </a:prstGeom>
          <a:solidFill>
            <a:srgbClr val="145C35"/>
          </a:solidFill>
          <a:ln w="19050">
            <a:solidFill>
              <a:srgbClr val="228B50"/>
            </a:solidFill>
            <a:prstDash val="solid"/>
          </a:ln>
        </p:spPr>
      </p:sp>
      <p:sp>
        <p:nvSpPr>
          <p:cNvPr id="12" name="Shape 10"/>
          <p:cNvSpPr/>
          <p:nvPr/>
        </p:nvSpPr>
        <p:spPr>
          <a:xfrm>
            <a:off x="4114800" y="1664208"/>
            <a:ext cx="3611880" cy="347472"/>
          </a:xfrm>
          <a:prstGeom prst="rect">
            <a:avLst/>
          </a:prstGeom>
          <a:solidFill>
            <a:srgbClr val="228B50"/>
          </a:solidFill>
          <a:ln w="12700">
            <a:solidFill>
              <a:srgbClr val="228B50"/>
            </a:solidFill>
            <a:prstDash val="solid"/>
          </a:ln>
        </p:spPr>
      </p:sp>
      <p:sp>
        <p:nvSpPr>
          <p:cNvPr id="13" name="Text 11"/>
          <p:cNvSpPr/>
          <p:nvPr/>
        </p:nvSpPr>
        <p:spPr>
          <a:xfrm>
            <a:off x="420624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2066544"/>
            <a:ext cx="3337560" cy="33924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Choose 2 facts: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Bees carry pollen → plants make seeds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9 in 10 FL plants need pollinators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Fungi break down leaves → nutrients go to soil → plant roots absorb them</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No pollinators = no fruit</a:t>
            </a:r>
            <a:endParaRPr lang="en-US" sz="1100" dirty="0"/>
          </a:p>
        </p:txBody>
      </p:sp>
      <p:sp>
        <p:nvSpPr>
          <p:cNvPr id="15" name="Shape 13"/>
          <p:cNvSpPr/>
          <p:nvPr/>
        </p:nvSpPr>
        <p:spPr>
          <a:xfrm>
            <a:off x="7863840" y="1664208"/>
            <a:ext cx="4206240" cy="3886200"/>
          </a:xfrm>
          <a:prstGeom prst="roundRect">
            <a:avLst>
              <a:gd name="adj" fmla="val 2353"/>
            </a:avLst>
          </a:prstGeom>
          <a:solidFill>
            <a:srgbClr val="7A3200"/>
          </a:solidFill>
          <a:ln w="19050">
            <a:solidFill>
              <a:srgbClr val="B04A00"/>
            </a:solidFill>
            <a:prstDash val="solid"/>
          </a:ln>
        </p:spPr>
      </p:sp>
      <p:sp>
        <p:nvSpPr>
          <p:cNvPr id="16" name="Shape 14"/>
          <p:cNvSpPr/>
          <p:nvPr/>
        </p:nvSpPr>
        <p:spPr>
          <a:xfrm>
            <a:off x="7863840" y="1664208"/>
            <a:ext cx="4206240" cy="347472"/>
          </a:xfrm>
          <a:prstGeom prst="rect">
            <a:avLst/>
          </a:prstGeom>
          <a:solidFill>
            <a:srgbClr val="B04A00"/>
          </a:solidFill>
          <a:ln w="12700">
            <a:solidFill>
              <a:srgbClr val="B04A00"/>
            </a:solidFill>
            <a:prstDash val="solid"/>
          </a:ln>
        </p:spPr>
      </p:sp>
      <p:sp>
        <p:nvSpPr>
          <p:cNvPr id="17" name="Text 15"/>
          <p:cNvSpPr/>
          <p:nvPr/>
        </p:nvSpPr>
        <p:spPr>
          <a:xfrm>
            <a:off x="7955280" y="1682496"/>
            <a:ext cx="40233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2066544"/>
            <a:ext cx="3931920" cy="33924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Connect the dots:</a:t>
            </a:r>
            <a:endParaRPr lang="en-US" sz="1100" dirty="0"/>
          </a:p>
          <a:p>
            <a:pPr algn="l" indent="0" marL="0">
              <a:buNone/>
            </a:pPr>
            <a:r>
              <a:rPr lang="en-US" sz="1100" i="1" dirty="0">
                <a:solidFill>
                  <a:srgbClr val="FFFFFF"/>
                </a:solidFill>
                <a:latin typeface="Calibri" pitchFamily="34" charset="0"/>
                <a:ea typeface="Calibri" pitchFamily="34" charset="-122"/>
                <a:cs typeface="Calibri" pitchFamily="34" charset="-120"/>
              </a:rPr>
              <a:t>"This shows that plants need more than sunlight, water, and soil because _______ — and without _______, the plant cannot _______."</a:t>
            </a:r>
            <a:endParaRPr lang="en-US" sz="1100" dirty="0"/>
          </a:p>
        </p:txBody>
      </p:sp>
      <p:sp>
        <p:nvSpPr>
          <p:cNvPr id="19" name="Shape 17"/>
          <p:cNvSpPr/>
          <p:nvPr/>
        </p:nvSpPr>
        <p:spPr>
          <a:xfrm>
            <a:off x="365760" y="5687568"/>
            <a:ext cx="11521440" cy="804672"/>
          </a:xfrm>
          <a:prstGeom prst="roundRect">
            <a:avLst>
              <a:gd name="adj" fmla="val 9091"/>
            </a:avLst>
          </a:prstGeom>
          <a:solidFill>
            <a:srgbClr val="1A1A0A"/>
          </a:solidFill>
          <a:ln w="12700">
            <a:solidFill>
              <a:srgbClr val="FFB703"/>
            </a:solidFill>
            <a:prstDash val="solid"/>
          </a:ln>
        </p:spPr>
      </p:sp>
      <p:sp>
        <p:nvSpPr>
          <p:cNvPr id="20" name="Text 18"/>
          <p:cNvSpPr/>
          <p:nvPr/>
        </p:nvSpPr>
        <p:spPr>
          <a:xfrm>
            <a:off x="548640" y="5779008"/>
            <a:ext cx="11155680" cy="621792"/>
          </a:xfrm>
          <a:prstGeom prst="rect">
            <a:avLst/>
          </a:prstGeom>
          <a:noFill/>
          <a:ln/>
        </p:spPr>
        <p:txBody>
          <a:bodyPr wrap="square" rtlCol="0" anchor="ctr"/>
          <a:lstStyle/>
          <a:p>
            <a:pPr indent="0" marL="0">
              <a:buNone/>
            </a:pPr>
            <a:r>
              <a:rPr lang="en-US" sz="1200" i="1" dirty="0">
                <a:solidFill>
                  <a:srgbClr val="FFB703"/>
                </a:solidFill>
                <a:latin typeface="Calibri" pitchFamily="34" charset="0"/>
                <a:ea typeface="Calibri" pitchFamily="34" charset="-122"/>
                <a:cs typeface="Calibri" pitchFamily="34" charset="-120"/>
              </a:rPr>
              <a:t>👀 Teacher models first — then students write. Scientific argumentation: After first answer, ask: 'Does anyone have DIFFERENT evidence?'</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CER Practice: Your Turn</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4CC9F0"/>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New question: A friend says 'If we save the big animals, the ecosystem will be fine.' Do you agree or disagree? Mention at least one small living thing the ecosystem also needs.</a:t>
            </a:r>
            <a:endParaRPr lang="en-US" sz="1200" dirty="0"/>
          </a:p>
        </p:txBody>
      </p:sp>
      <p:sp>
        <p:nvSpPr>
          <p:cNvPr id="7" name="Shape 5"/>
          <p:cNvSpPr/>
          <p:nvPr/>
        </p:nvSpPr>
        <p:spPr>
          <a:xfrm>
            <a:off x="365760" y="1508760"/>
            <a:ext cx="3611880" cy="3337560"/>
          </a:xfrm>
          <a:prstGeom prst="roundRect">
            <a:avLst>
              <a:gd name="adj" fmla="val 2740"/>
            </a:avLst>
          </a:prstGeom>
          <a:solidFill>
            <a:srgbClr val="0A3D8F"/>
          </a:solidFill>
          <a:ln w="19050">
            <a:solidFill>
              <a:srgbClr val="1A5FBD"/>
            </a:solidFill>
            <a:prstDash val="solid"/>
          </a:ln>
        </p:spPr>
      </p:sp>
      <p:sp>
        <p:nvSpPr>
          <p:cNvPr id="8" name="Shape 6"/>
          <p:cNvSpPr/>
          <p:nvPr/>
        </p:nvSpPr>
        <p:spPr>
          <a:xfrm>
            <a:off x="365760" y="1508760"/>
            <a:ext cx="3611880" cy="347472"/>
          </a:xfrm>
          <a:prstGeom prst="rect">
            <a:avLst/>
          </a:prstGeom>
          <a:solidFill>
            <a:srgbClr val="1A5FBD"/>
          </a:solidFill>
          <a:ln w="12700">
            <a:solidFill>
              <a:srgbClr val="1A5FBD"/>
            </a:solidFill>
            <a:prstDash val="solid"/>
          </a:ln>
        </p:spPr>
      </p:sp>
      <p:sp>
        <p:nvSpPr>
          <p:cNvPr id="9" name="Text 7"/>
          <p:cNvSpPr/>
          <p:nvPr/>
        </p:nvSpPr>
        <p:spPr>
          <a:xfrm>
            <a:off x="457200" y="1527048"/>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911096"/>
            <a:ext cx="3337560" cy="284378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 disagree because even small living things like _______ are essential for _______.</a:t>
            </a:r>
            <a:endParaRPr lang="en-US" sz="1200" dirty="0"/>
          </a:p>
        </p:txBody>
      </p:sp>
      <p:sp>
        <p:nvSpPr>
          <p:cNvPr id="11" name="Shape 9"/>
          <p:cNvSpPr/>
          <p:nvPr/>
        </p:nvSpPr>
        <p:spPr>
          <a:xfrm>
            <a:off x="4114800" y="1508760"/>
            <a:ext cx="3611880" cy="3337560"/>
          </a:xfrm>
          <a:prstGeom prst="roundRect">
            <a:avLst>
              <a:gd name="adj" fmla="val 2740"/>
            </a:avLst>
          </a:prstGeom>
          <a:solidFill>
            <a:srgbClr val="145C35"/>
          </a:solidFill>
          <a:ln w="19050">
            <a:solidFill>
              <a:srgbClr val="228B50"/>
            </a:solidFill>
            <a:prstDash val="solid"/>
          </a:ln>
        </p:spPr>
      </p:sp>
      <p:sp>
        <p:nvSpPr>
          <p:cNvPr id="12" name="Shape 10"/>
          <p:cNvSpPr/>
          <p:nvPr/>
        </p:nvSpPr>
        <p:spPr>
          <a:xfrm>
            <a:off x="4114800" y="1508760"/>
            <a:ext cx="3611880" cy="347472"/>
          </a:xfrm>
          <a:prstGeom prst="rect">
            <a:avLst/>
          </a:prstGeom>
          <a:solidFill>
            <a:srgbClr val="228B50"/>
          </a:solidFill>
          <a:ln w="12700">
            <a:solidFill>
              <a:srgbClr val="228B50"/>
            </a:solidFill>
            <a:prstDash val="solid"/>
          </a:ln>
        </p:spPr>
      </p:sp>
      <p:sp>
        <p:nvSpPr>
          <p:cNvPr id="13" name="Text 11"/>
          <p:cNvSpPr/>
          <p:nvPr/>
        </p:nvSpPr>
        <p:spPr>
          <a:xfrm>
            <a:off x="4206240" y="1527048"/>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911096"/>
            <a:ext cx="3337560" cy="284378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Find 2 facts: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1. _______________</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2. _______________</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(Think: bees, fungi, bacteria, caterpillars)</a:t>
            </a:r>
            <a:endParaRPr lang="en-US" sz="1100" dirty="0"/>
          </a:p>
        </p:txBody>
      </p:sp>
      <p:sp>
        <p:nvSpPr>
          <p:cNvPr id="15" name="Shape 13"/>
          <p:cNvSpPr/>
          <p:nvPr/>
        </p:nvSpPr>
        <p:spPr>
          <a:xfrm>
            <a:off x="7863840" y="1508760"/>
            <a:ext cx="4206240" cy="3337560"/>
          </a:xfrm>
          <a:prstGeom prst="roundRect">
            <a:avLst>
              <a:gd name="adj" fmla="val 2740"/>
            </a:avLst>
          </a:prstGeom>
          <a:solidFill>
            <a:srgbClr val="7A3200"/>
          </a:solidFill>
          <a:ln w="19050">
            <a:solidFill>
              <a:srgbClr val="B04A00"/>
            </a:solidFill>
            <a:prstDash val="solid"/>
          </a:ln>
        </p:spPr>
      </p:sp>
      <p:sp>
        <p:nvSpPr>
          <p:cNvPr id="16" name="Shape 14"/>
          <p:cNvSpPr/>
          <p:nvPr/>
        </p:nvSpPr>
        <p:spPr>
          <a:xfrm>
            <a:off x="7863840" y="1508760"/>
            <a:ext cx="4206240" cy="347472"/>
          </a:xfrm>
          <a:prstGeom prst="rect">
            <a:avLst/>
          </a:prstGeom>
          <a:solidFill>
            <a:srgbClr val="B04A00"/>
          </a:solidFill>
          <a:ln w="12700">
            <a:solidFill>
              <a:srgbClr val="B04A00"/>
            </a:solidFill>
            <a:prstDash val="solid"/>
          </a:ln>
        </p:spPr>
      </p:sp>
      <p:sp>
        <p:nvSpPr>
          <p:cNvPr id="17" name="Text 15"/>
          <p:cNvSpPr/>
          <p:nvPr/>
        </p:nvSpPr>
        <p:spPr>
          <a:xfrm>
            <a:off x="7955280" y="1527048"/>
            <a:ext cx="40233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911096"/>
            <a:ext cx="3931920" cy="284378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"This shows that ecosystems need small organisms too because _______."</a:t>
            </a:r>
            <a:endParaRPr lang="en-US" sz="1200" dirty="0"/>
          </a:p>
        </p:txBody>
      </p:sp>
      <p:sp>
        <p:nvSpPr>
          <p:cNvPr id="19" name="Shape 17"/>
          <p:cNvSpPr/>
          <p:nvPr/>
        </p:nvSpPr>
        <p:spPr>
          <a:xfrm>
            <a:off x="365760" y="4983480"/>
            <a:ext cx="11521440" cy="1115568"/>
          </a:xfrm>
          <a:prstGeom prst="roundRect">
            <a:avLst>
              <a:gd name="adj" fmla="val 6557"/>
            </a:avLst>
          </a:prstGeom>
          <a:solidFill>
            <a:srgbClr val="1E2F45"/>
          </a:solidFill>
          <a:ln w="12700">
            <a:solidFill>
              <a:srgbClr val="243A52"/>
            </a:solidFill>
            <a:prstDash val="solid"/>
          </a:ln>
        </p:spPr>
      </p:sp>
      <p:sp>
        <p:nvSpPr>
          <p:cNvPr id="20" name="Text 18"/>
          <p:cNvSpPr/>
          <p:nvPr/>
        </p:nvSpPr>
        <p:spPr>
          <a:xfrm>
            <a:off x="548640" y="5047488"/>
            <a:ext cx="11155680" cy="31089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Sentence starters if stuck:</a:t>
            </a:r>
            <a:endParaRPr lang="en-US" sz="1200" dirty="0"/>
          </a:p>
        </p:txBody>
      </p:sp>
      <p:sp>
        <p:nvSpPr>
          <p:cNvPr id="21" name="Text 19"/>
          <p:cNvSpPr/>
          <p:nvPr/>
        </p:nvSpPr>
        <p:spPr>
          <a:xfrm>
            <a:off x="548640" y="5394960"/>
            <a:ext cx="11155680" cy="566928"/>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Claim: "I disagree because bees are small but they _____."   Evidence: "Today I learned that 9 out of 10 Florida plants need _____ to make seeds."</a:t>
            </a:r>
            <a:endParaRPr lang="en-US" sz="110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411480"/>
            <a:ext cx="11521440" cy="3182112"/>
          </a:xfrm>
          <a:prstGeom prst="roundRect">
            <a:avLst>
              <a:gd name="adj" fmla="val 2299"/>
            </a:avLst>
          </a:prstGeom>
          <a:solidFill>
            <a:srgbClr val="0A1520"/>
          </a:solidFill>
          <a:ln w="12700">
            <a:solidFill>
              <a:srgbClr val="2DC653"/>
            </a:solidFill>
            <a:prstDash val="solid"/>
          </a:ln>
        </p:spPr>
      </p:sp>
      <p:sp>
        <p:nvSpPr>
          <p:cNvPr id="3" name="Text 1"/>
          <p:cNvSpPr/>
          <p:nvPr/>
        </p:nvSpPr>
        <p:spPr>
          <a:xfrm>
            <a:off x="365760" y="566928"/>
            <a:ext cx="11521440" cy="68580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4" name="Text 2"/>
          <p:cNvSpPr/>
          <p:nvPr/>
        </p:nvSpPr>
        <p:spPr>
          <a:xfrm>
            <a:off x="365760" y="1298448"/>
            <a:ext cx="11521440" cy="384048"/>
          </a:xfrm>
          <a:prstGeom prst="rect">
            <a:avLst/>
          </a:prstGeom>
          <a:noFill/>
          <a:ln/>
        </p:spPr>
        <p:txBody>
          <a:bodyPr wrap="square" rtlCol="0" anchor="ctr"/>
          <a:lstStyle/>
          <a:p>
            <a:pPr algn="ctr" indent="0" marL="0">
              <a:buNone/>
            </a:pPr>
            <a:r>
              <a:rPr lang="en-US" sz="1600" b="1" dirty="0">
                <a:solidFill>
                  <a:srgbClr val="2DC653"/>
                </a:solidFill>
                <a:latin typeface="Calibri" pitchFamily="34" charset="0"/>
                <a:ea typeface="Calibri" pitchFamily="34" charset="-122"/>
                <a:cs typeface="Calibri" pitchFamily="34" charset="-120"/>
              </a:rPr>
              <a:t>Mind-Blowing Fact #2 — Wildlife Corridors</a:t>
            </a:r>
            <a:endParaRPr lang="en-US" sz="1600" dirty="0"/>
          </a:p>
        </p:txBody>
      </p:sp>
      <p:sp>
        <p:nvSpPr>
          <p:cNvPr id="5" name="Text 3"/>
          <p:cNvSpPr/>
          <p:nvPr/>
        </p:nvSpPr>
        <p:spPr>
          <a:xfrm>
            <a:off x="914400" y="1783080"/>
            <a:ext cx="10241280" cy="384048"/>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As Florida grows, roads and neighborhoods can SPLIT a forest into small pieces.</a:t>
            </a:r>
            <a:endParaRPr lang="en-US" sz="1500" dirty="0"/>
          </a:p>
        </p:txBody>
      </p:sp>
      <p:sp>
        <p:nvSpPr>
          <p:cNvPr id="6" name="Text 4"/>
          <p:cNvSpPr/>
          <p:nvPr/>
        </p:nvSpPr>
        <p:spPr>
          <a:xfrm>
            <a:off x="914400" y="2212848"/>
            <a:ext cx="10241280" cy="384048"/>
          </a:xfrm>
          <a:prstGeom prst="rect">
            <a:avLst/>
          </a:prstGeom>
          <a:noFill/>
          <a:ln/>
        </p:spPr>
        <p:txBody>
          <a:bodyPr wrap="square" rtlCol="0" anchor="ctr"/>
          <a:lstStyle/>
          <a:p>
            <a:pPr algn="ctr" indent="0" marL="0">
              <a:buNone/>
            </a:pPr>
            <a:r>
              <a:rPr lang="en-US" sz="1400" dirty="0">
                <a:solidFill>
                  <a:srgbClr val="FFB703"/>
                </a:solidFill>
                <a:latin typeface="Calibri" pitchFamily="34" charset="0"/>
                <a:ea typeface="Calibri" pitchFamily="34" charset="-122"/>
                <a:cs typeface="Calibri" pitchFamily="34" charset="-120"/>
              </a:rPr>
              <a:t>Animals get trapped — can't reach mates, water, or food.</a:t>
            </a:r>
            <a:endParaRPr lang="en-US" sz="1400" dirty="0"/>
          </a:p>
        </p:txBody>
      </p:sp>
      <p:sp>
        <p:nvSpPr>
          <p:cNvPr id="7" name="Text 5"/>
          <p:cNvSpPr/>
          <p:nvPr/>
        </p:nvSpPr>
        <p:spPr>
          <a:xfrm>
            <a:off x="914400" y="2651760"/>
            <a:ext cx="10241280" cy="475488"/>
          </a:xfrm>
          <a:prstGeom prst="rect">
            <a:avLst/>
          </a:prstGeom>
          <a:noFill/>
          <a:ln/>
        </p:spPr>
        <p:txBody>
          <a:bodyPr wrap="square" rtlCol="0" anchor="ctr"/>
          <a:lstStyle/>
          <a:p>
            <a:pPr algn="ctr" indent="0" marL="0">
              <a:buNone/>
            </a:pPr>
            <a:r>
              <a:rPr lang="en-US" sz="1300" dirty="0">
                <a:solidFill>
                  <a:srgbClr val="B0C4D8"/>
                </a:solidFill>
                <a:latin typeface="Calibri" pitchFamily="34" charset="0"/>
                <a:ea typeface="Calibri" pitchFamily="34" charset="-122"/>
                <a:cs typeface="Calibri" pitchFamily="34" charset="-120"/>
              </a:rPr>
              <a:t>Florida Wildlife Corridor: a protected band of land so panthers, bears, and other animals can safely cross the state.</a:t>
            </a:r>
            <a:endParaRPr lang="en-US" sz="1300" dirty="0"/>
          </a:p>
        </p:txBody>
      </p:sp>
      <p:sp>
        <p:nvSpPr>
          <p:cNvPr id="8" name="Shape 6"/>
          <p:cNvSpPr/>
          <p:nvPr/>
        </p:nvSpPr>
        <p:spPr>
          <a:xfrm>
            <a:off x="365760" y="3730752"/>
            <a:ext cx="11521440" cy="2331720"/>
          </a:xfrm>
          <a:prstGeom prst="roundRect">
            <a:avLst>
              <a:gd name="adj" fmla="val 3137"/>
            </a:avLst>
          </a:prstGeom>
          <a:solidFill>
            <a:srgbClr val="1E2F45"/>
          </a:solidFill>
          <a:ln w="12700">
            <a:solidFill>
              <a:srgbClr val="4CC9F0"/>
            </a:solidFill>
            <a:prstDash val="solid"/>
          </a:ln>
        </p:spPr>
      </p:sp>
      <p:sp>
        <p:nvSpPr>
          <p:cNvPr id="9" name="Text 7"/>
          <p:cNvSpPr/>
          <p:nvPr/>
        </p:nvSpPr>
        <p:spPr>
          <a:xfrm>
            <a:off x="548640" y="3822192"/>
            <a:ext cx="1115568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Humans as Part of the Web:</a:t>
            </a:r>
            <a:endParaRPr lang="en-US" sz="1300" dirty="0"/>
          </a:p>
        </p:txBody>
      </p:sp>
      <p:sp>
        <p:nvSpPr>
          <p:cNvPr id="10" name="Text 8"/>
          <p:cNvSpPr/>
          <p:nvPr/>
        </p:nvSpPr>
        <p:spPr>
          <a:xfrm>
            <a:off x="548640" y="4206240"/>
            <a:ext cx="11155680" cy="1691640"/>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When humans build roads, we break habitat connections. When we build wildlife corridors, we repair them. The web of life includes US — whether we help or hurt it. This is the 'human care' connection type from the oak diagram.</a:t>
            </a:r>
            <a:endParaRPr lang="en-US" sz="12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Quick Self-Check — Not Graded!</a:t>
            </a:r>
            <a:endParaRPr lang="en-US" sz="1600" dirty="0"/>
          </a:p>
        </p:txBody>
      </p:sp>
      <p:sp>
        <p:nvSpPr>
          <p:cNvPr id="5" name="Shape 3"/>
          <p:cNvSpPr/>
          <p:nvPr/>
        </p:nvSpPr>
        <p:spPr>
          <a:xfrm>
            <a:off x="365760" y="658368"/>
            <a:ext cx="11521440" cy="1664208"/>
          </a:xfrm>
          <a:prstGeom prst="roundRect">
            <a:avLst>
              <a:gd name="adj" fmla="val 4396"/>
            </a:avLst>
          </a:prstGeom>
          <a:solidFill>
            <a:srgbClr val="1E2F45"/>
          </a:solidFill>
          <a:ln w="12700">
            <a:solidFill>
              <a:srgbClr val="243A52"/>
            </a:solidFill>
            <a:prstDash val="solid"/>
          </a:ln>
        </p:spPr>
      </p:sp>
      <p:sp>
        <p:nvSpPr>
          <p:cNvPr id="6" name="Text 4"/>
          <p:cNvSpPr/>
          <p:nvPr/>
        </p:nvSpPr>
        <p:spPr>
          <a:xfrm>
            <a:off x="548640" y="713232"/>
            <a:ext cx="11155680"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Q1: A bee visiting an oak flower is an example of which kind of connection?</a:t>
            </a:r>
            <a:endParaRPr lang="en-US" sz="1200" dirty="0"/>
          </a:p>
        </p:txBody>
      </p:sp>
      <p:sp>
        <p:nvSpPr>
          <p:cNvPr id="7" name="Text 5"/>
          <p:cNvSpPr/>
          <p:nvPr/>
        </p:nvSpPr>
        <p:spPr>
          <a:xfrm>
            <a:off x="685800" y="1234440"/>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Food</a:t>
            </a:r>
            <a:endParaRPr lang="en-US" sz="1150" dirty="0"/>
          </a:p>
        </p:txBody>
      </p:sp>
      <p:sp>
        <p:nvSpPr>
          <p:cNvPr id="8" name="Text 6"/>
          <p:cNvSpPr/>
          <p:nvPr/>
        </p:nvSpPr>
        <p:spPr>
          <a:xfrm>
            <a:off x="4526280" y="1234440"/>
            <a:ext cx="3657600" cy="384048"/>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B  Pollination 🐝</a:t>
            </a:r>
            <a:endParaRPr lang="en-US" sz="1150" dirty="0"/>
          </a:p>
        </p:txBody>
      </p:sp>
      <p:sp>
        <p:nvSpPr>
          <p:cNvPr id="9" name="Text 7"/>
          <p:cNvSpPr/>
          <p:nvPr/>
        </p:nvSpPr>
        <p:spPr>
          <a:xfrm>
            <a:off x="8366760" y="1234440"/>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Shelter</a:t>
            </a:r>
            <a:endParaRPr lang="en-US" sz="1150" dirty="0"/>
          </a:p>
        </p:txBody>
      </p:sp>
      <p:sp>
        <p:nvSpPr>
          <p:cNvPr id="10" name="Shape 8"/>
          <p:cNvSpPr/>
          <p:nvPr/>
        </p:nvSpPr>
        <p:spPr>
          <a:xfrm>
            <a:off x="365760" y="2560320"/>
            <a:ext cx="11521440" cy="1664208"/>
          </a:xfrm>
          <a:prstGeom prst="roundRect">
            <a:avLst>
              <a:gd name="adj" fmla="val 4396"/>
            </a:avLst>
          </a:prstGeom>
          <a:solidFill>
            <a:srgbClr val="1E2F45"/>
          </a:solidFill>
          <a:ln w="12700">
            <a:solidFill>
              <a:srgbClr val="243A52"/>
            </a:solidFill>
            <a:prstDash val="solid"/>
          </a:ln>
        </p:spPr>
      </p:sp>
      <p:sp>
        <p:nvSpPr>
          <p:cNvPr id="11" name="Text 9"/>
          <p:cNvSpPr/>
          <p:nvPr/>
        </p:nvSpPr>
        <p:spPr>
          <a:xfrm>
            <a:off x="548640" y="2615184"/>
            <a:ext cx="11155680"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Q2: Mushrooms breaking down a fallen oak branch and returning nutrients to soil is an example of…</a:t>
            </a:r>
            <a:endParaRPr lang="en-US" sz="1200" dirty="0"/>
          </a:p>
        </p:txBody>
      </p:sp>
      <p:sp>
        <p:nvSpPr>
          <p:cNvPr id="12" name="Text 10"/>
          <p:cNvSpPr/>
          <p:nvPr/>
        </p:nvSpPr>
        <p:spPr>
          <a:xfrm>
            <a:off x="685800" y="3136392"/>
            <a:ext cx="3657600" cy="384048"/>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A  Nutrient cycling ♻️</a:t>
            </a:r>
            <a:endParaRPr lang="en-US" sz="1150" dirty="0"/>
          </a:p>
        </p:txBody>
      </p:sp>
      <p:sp>
        <p:nvSpPr>
          <p:cNvPr id="13" name="Text 11"/>
          <p:cNvSpPr/>
          <p:nvPr/>
        </p:nvSpPr>
        <p:spPr>
          <a:xfrm>
            <a:off x="4526280" y="3136392"/>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Pollination</a:t>
            </a:r>
            <a:endParaRPr lang="en-US" sz="1150" dirty="0"/>
          </a:p>
        </p:txBody>
      </p:sp>
      <p:sp>
        <p:nvSpPr>
          <p:cNvPr id="14" name="Text 12"/>
          <p:cNvSpPr/>
          <p:nvPr/>
        </p:nvSpPr>
        <p:spPr>
          <a:xfrm>
            <a:off x="8366760" y="3136392"/>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Predator and prey</a:t>
            </a:r>
            <a:endParaRPr lang="en-US" sz="1150" dirty="0"/>
          </a:p>
        </p:txBody>
      </p:sp>
      <p:sp>
        <p:nvSpPr>
          <p:cNvPr id="15" name="Shape 13"/>
          <p:cNvSpPr/>
          <p:nvPr/>
        </p:nvSpPr>
        <p:spPr>
          <a:xfrm>
            <a:off x="365760" y="4462272"/>
            <a:ext cx="11521440" cy="1664208"/>
          </a:xfrm>
          <a:prstGeom prst="roundRect">
            <a:avLst>
              <a:gd name="adj" fmla="val 4396"/>
            </a:avLst>
          </a:prstGeom>
          <a:solidFill>
            <a:srgbClr val="1E2F45"/>
          </a:solidFill>
          <a:ln w="12700">
            <a:solidFill>
              <a:srgbClr val="243A52"/>
            </a:solidFill>
            <a:prstDash val="solid"/>
          </a:ln>
        </p:spPr>
      </p:sp>
      <p:sp>
        <p:nvSpPr>
          <p:cNvPr id="16" name="Text 14"/>
          <p:cNvSpPr/>
          <p:nvPr/>
        </p:nvSpPr>
        <p:spPr>
          <a:xfrm>
            <a:off x="548640" y="4517136"/>
            <a:ext cx="11155680"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Q3: All the bees in a Florida orange grove disappear. Why is the harvest smaller that year?</a:t>
            </a:r>
            <a:endParaRPr lang="en-US" sz="1200" dirty="0"/>
          </a:p>
        </p:txBody>
      </p:sp>
      <p:sp>
        <p:nvSpPr>
          <p:cNvPr id="17" name="Text 15"/>
          <p:cNvSpPr/>
          <p:nvPr/>
        </p:nvSpPr>
        <p:spPr>
          <a:xfrm>
            <a:off x="685800" y="5038344"/>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Trees stopped getting sunlight</a:t>
            </a:r>
            <a:endParaRPr lang="en-US" sz="1150" dirty="0"/>
          </a:p>
        </p:txBody>
      </p:sp>
      <p:sp>
        <p:nvSpPr>
          <p:cNvPr id="18" name="Text 16"/>
          <p:cNvSpPr/>
          <p:nvPr/>
        </p:nvSpPr>
        <p:spPr>
          <a:xfrm>
            <a:off x="4526280" y="5038344"/>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There was no water</a:t>
            </a:r>
            <a:endParaRPr lang="en-US" sz="1150" dirty="0"/>
          </a:p>
        </p:txBody>
      </p:sp>
      <p:sp>
        <p:nvSpPr>
          <p:cNvPr id="19" name="Text 17"/>
          <p:cNvSpPr/>
          <p:nvPr/>
        </p:nvSpPr>
        <p:spPr>
          <a:xfrm>
            <a:off x="8366760" y="5038344"/>
            <a:ext cx="3657600" cy="384048"/>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C  Without pollinators, trees can't make as many oranges 🍊</a:t>
            </a:r>
            <a:endParaRPr lang="en-US" sz="115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Assignment: Show What You Know (12 min)</a:t>
            </a:r>
            <a:endParaRPr lang="en-US" sz="1600" dirty="0"/>
          </a:p>
        </p:txBody>
      </p:sp>
      <p:sp>
        <p:nvSpPr>
          <p:cNvPr id="5" name="Shape 3"/>
          <p:cNvSpPr/>
          <p:nvPr/>
        </p:nvSpPr>
        <p:spPr>
          <a:xfrm>
            <a:off x="365760" y="713232"/>
            <a:ext cx="3611880" cy="5166360"/>
          </a:xfrm>
          <a:prstGeom prst="roundRect">
            <a:avLst>
              <a:gd name="adj" fmla="val 2025"/>
            </a:avLst>
          </a:prstGeom>
          <a:solidFill>
            <a:srgbClr val="1E2F45"/>
          </a:solidFill>
          <a:ln w="12700">
            <a:solidFill>
              <a:srgbClr val="F4736A"/>
            </a:solidFill>
            <a:prstDash val="solid"/>
          </a:ln>
        </p:spPr>
      </p:sp>
      <p:sp>
        <p:nvSpPr>
          <p:cNvPr id="6" name="Text 4"/>
          <p:cNvSpPr/>
          <p:nvPr/>
        </p:nvSpPr>
        <p:spPr>
          <a:xfrm>
            <a:off x="548640" y="804672"/>
            <a:ext cx="3291840" cy="347472"/>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Part A — Match the Word</a:t>
            </a:r>
            <a:endParaRPr lang="en-US" sz="1200" dirty="0"/>
          </a:p>
        </p:txBody>
      </p:sp>
      <p:sp>
        <p:nvSpPr>
          <p:cNvPr id="7" name="Text 5"/>
          <p:cNvSpPr/>
          <p:nvPr/>
        </p:nvSpPr>
        <p:spPr>
          <a:xfrm>
            <a:off x="548640" y="120700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4 blanks to fill:</a:t>
            </a:r>
            <a:endParaRPr lang="en-US" sz="1100" dirty="0"/>
          </a:p>
        </p:txBody>
      </p:sp>
      <p:sp>
        <p:nvSpPr>
          <p:cNvPr id="8" name="Text 6"/>
          <p:cNvSpPr/>
          <p:nvPr/>
        </p:nvSpPr>
        <p:spPr>
          <a:xfrm>
            <a:off x="548640" y="1645920"/>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Ecosystem</a:t>
            </a:r>
            <a:endParaRPr lang="en-US" sz="1100" dirty="0"/>
          </a:p>
        </p:txBody>
      </p:sp>
      <p:sp>
        <p:nvSpPr>
          <p:cNvPr id="9" name="Text 7"/>
          <p:cNvSpPr/>
          <p:nvPr/>
        </p:nvSpPr>
        <p:spPr>
          <a:xfrm>
            <a:off x="548640" y="2084832"/>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Pollination</a:t>
            </a:r>
            <a:endParaRPr lang="en-US" sz="1100" dirty="0"/>
          </a:p>
        </p:txBody>
      </p:sp>
      <p:sp>
        <p:nvSpPr>
          <p:cNvPr id="10" name="Text 8"/>
          <p:cNvSpPr/>
          <p:nvPr/>
        </p:nvSpPr>
        <p:spPr>
          <a:xfrm>
            <a:off x="548640" y="2523744"/>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Habitat</a:t>
            </a:r>
            <a:endParaRPr lang="en-US" sz="1100" dirty="0"/>
          </a:p>
        </p:txBody>
      </p:sp>
      <p:sp>
        <p:nvSpPr>
          <p:cNvPr id="11" name="Text 9"/>
          <p:cNvSpPr/>
          <p:nvPr/>
        </p:nvSpPr>
        <p:spPr>
          <a:xfrm>
            <a:off x="548640" y="2962656"/>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Web of life</a:t>
            </a:r>
            <a:endParaRPr lang="en-US" sz="1100" dirty="0"/>
          </a:p>
        </p:txBody>
      </p:sp>
      <p:sp>
        <p:nvSpPr>
          <p:cNvPr id="12" name="Text 10"/>
          <p:cNvSpPr/>
          <p:nvPr/>
        </p:nvSpPr>
        <p:spPr>
          <a:xfrm>
            <a:off x="548640" y="3401568"/>
            <a:ext cx="3291840" cy="365760"/>
          </a:xfrm>
          <a:prstGeom prst="rect">
            <a:avLst/>
          </a:prstGeom>
          <a:noFill/>
          <a:ln/>
        </p:spPr>
        <p:txBody>
          <a:bodyPr wrap="square" rtlCol="0" anchor="ctr"/>
          <a:lstStyle/>
          <a:p>
            <a:pPr indent="0" marL="0">
              <a:buNone/>
            </a:pPr>
            <a:endParaRPr lang="en-US" sz="1100" dirty="0"/>
          </a:p>
        </p:txBody>
      </p:sp>
      <p:sp>
        <p:nvSpPr>
          <p:cNvPr id="13" name="Text 11"/>
          <p:cNvSpPr/>
          <p:nvPr/>
        </p:nvSpPr>
        <p:spPr>
          <a:xfrm>
            <a:off x="548640" y="3840480"/>
            <a:ext cx="3291840" cy="36576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Pre-taught: Slides 4–5</a:t>
            </a:r>
            <a:endParaRPr lang="en-US" sz="1100" dirty="0"/>
          </a:p>
        </p:txBody>
      </p:sp>
      <p:sp>
        <p:nvSpPr>
          <p:cNvPr id="14" name="Shape 12"/>
          <p:cNvSpPr/>
          <p:nvPr/>
        </p:nvSpPr>
        <p:spPr>
          <a:xfrm>
            <a:off x="4114800" y="713232"/>
            <a:ext cx="3611880" cy="5166360"/>
          </a:xfrm>
          <a:prstGeom prst="roundRect">
            <a:avLst>
              <a:gd name="adj" fmla="val 2025"/>
            </a:avLst>
          </a:prstGeom>
          <a:solidFill>
            <a:srgbClr val="1E2F45"/>
          </a:solidFill>
          <a:ln w="12700">
            <a:solidFill>
              <a:srgbClr val="FFB703"/>
            </a:solidFill>
            <a:prstDash val="solid"/>
          </a:ln>
        </p:spPr>
      </p:sp>
      <p:sp>
        <p:nvSpPr>
          <p:cNvPr id="15" name="Text 13"/>
          <p:cNvSpPr/>
          <p:nvPr/>
        </p:nvSpPr>
        <p:spPr>
          <a:xfrm>
            <a:off x="4297680" y="804672"/>
            <a:ext cx="329184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Part B — Short Answer</a:t>
            </a:r>
            <a:endParaRPr lang="en-US" sz="1200" dirty="0"/>
          </a:p>
        </p:txBody>
      </p:sp>
      <p:sp>
        <p:nvSpPr>
          <p:cNvPr id="16" name="Text 14"/>
          <p:cNvSpPr/>
          <p:nvPr/>
        </p:nvSpPr>
        <p:spPr>
          <a:xfrm>
            <a:off x="4297680" y="120700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3 complete-sentence Qs:</a:t>
            </a:r>
            <a:endParaRPr lang="en-US" sz="1100" dirty="0"/>
          </a:p>
        </p:txBody>
      </p:sp>
      <p:sp>
        <p:nvSpPr>
          <p:cNvPr id="17" name="Text 15"/>
          <p:cNvSpPr/>
          <p:nvPr/>
        </p:nvSpPr>
        <p:spPr>
          <a:xfrm>
            <a:off x="4297680" y="1645920"/>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1. One connection type — how does it help BOTH the oak and the other thing?</a:t>
            </a:r>
            <a:endParaRPr lang="en-US" sz="1100" dirty="0"/>
          </a:p>
        </p:txBody>
      </p:sp>
      <p:sp>
        <p:nvSpPr>
          <p:cNvPr id="18" name="Text 16"/>
          <p:cNvSpPr/>
          <p:nvPr/>
        </p:nvSpPr>
        <p:spPr>
          <a:xfrm>
            <a:off x="4297680" y="2084832"/>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2. Why is the oak more than just food? Use habitat and pollination.</a:t>
            </a:r>
            <a:endParaRPr lang="en-US" sz="1100" dirty="0"/>
          </a:p>
        </p:txBody>
      </p:sp>
      <p:sp>
        <p:nvSpPr>
          <p:cNvPr id="19" name="Text 17"/>
          <p:cNvSpPr/>
          <p:nvPr/>
        </p:nvSpPr>
        <p:spPr>
          <a:xfrm>
            <a:off x="4297680" y="2523744"/>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3. If we save big animals, is the ecosystem fine? Why / why not?</a:t>
            </a:r>
            <a:endParaRPr lang="en-US" sz="1100" dirty="0"/>
          </a:p>
        </p:txBody>
      </p:sp>
      <p:sp>
        <p:nvSpPr>
          <p:cNvPr id="20" name="Text 18"/>
          <p:cNvSpPr/>
          <p:nvPr/>
        </p:nvSpPr>
        <p:spPr>
          <a:xfrm>
            <a:off x="4297680" y="2962656"/>
            <a:ext cx="3291840" cy="365760"/>
          </a:xfrm>
          <a:prstGeom prst="rect">
            <a:avLst/>
          </a:prstGeom>
          <a:noFill/>
          <a:ln/>
        </p:spPr>
        <p:txBody>
          <a:bodyPr wrap="square" rtlCol="0" anchor="ctr"/>
          <a:lstStyle/>
          <a:p>
            <a:pPr indent="0" marL="0">
              <a:buNone/>
            </a:pPr>
            <a:endParaRPr lang="en-US" sz="1100" dirty="0"/>
          </a:p>
        </p:txBody>
      </p:sp>
      <p:sp>
        <p:nvSpPr>
          <p:cNvPr id="21" name="Text 19"/>
          <p:cNvSpPr/>
          <p:nvPr/>
        </p:nvSpPr>
        <p:spPr>
          <a:xfrm>
            <a:off x="4297680" y="3401568"/>
            <a:ext cx="3291840" cy="36576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Pre-taught: Slides 5–12</a:t>
            </a:r>
            <a:endParaRPr lang="en-US" sz="1100" dirty="0"/>
          </a:p>
        </p:txBody>
      </p:sp>
      <p:sp>
        <p:nvSpPr>
          <p:cNvPr id="22" name="Shape 20"/>
          <p:cNvSpPr/>
          <p:nvPr/>
        </p:nvSpPr>
        <p:spPr>
          <a:xfrm>
            <a:off x="7863840" y="713232"/>
            <a:ext cx="4389120" cy="5166360"/>
          </a:xfrm>
          <a:prstGeom prst="roundRect">
            <a:avLst>
              <a:gd name="adj" fmla="val 1667"/>
            </a:avLst>
          </a:prstGeom>
          <a:solidFill>
            <a:srgbClr val="1E2F45"/>
          </a:solidFill>
          <a:ln w="12700">
            <a:solidFill>
              <a:srgbClr val="2DC653"/>
            </a:solidFill>
            <a:prstDash val="solid"/>
          </a:ln>
        </p:spPr>
      </p:sp>
      <p:sp>
        <p:nvSpPr>
          <p:cNvPr id="23" name="Text 21"/>
          <p:cNvSpPr/>
          <p:nvPr/>
        </p:nvSpPr>
        <p:spPr>
          <a:xfrm>
            <a:off x="8046720" y="804672"/>
            <a:ext cx="41148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Part C — Web Map + CER</a:t>
            </a:r>
            <a:endParaRPr lang="en-US" sz="1200" dirty="0"/>
          </a:p>
        </p:txBody>
      </p:sp>
      <p:sp>
        <p:nvSpPr>
          <p:cNvPr id="24" name="Text 22"/>
          <p:cNvSpPr/>
          <p:nvPr/>
        </p:nvSpPr>
        <p:spPr>
          <a:xfrm>
            <a:off x="8046720" y="1207008"/>
            <a:ext cx="4114800" cy="34747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Draw own ecosystem web:</a:t>
            </a:r>
            <a:endParaRPr lang="en-US" sz="1100" dirty="0"/>
          </a:p>
        </p:txBody>
      </p:sp>
      <p:sp>
        <p:nvSpPr>
          <p:cNvPr id="25" name="Text 23"/>
          <p:cNvSpPr/>
          <p:nvPr/>
        </p:nvSpPr>
        <p:spPr>
          <a:xfrm>
            <a:off x="8046720" y="1618488"/>
            <a:ext cx="4114800" cy="34747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Any FL ecosystem</a:t>
            </a:r>
            <a:endParaRPr lang="en-US" sz="1100" dirty="0"/>
          </a:p>
        </p:txBody>
      </p:sp>
      <p:sp>
        <p:nvSpPr>
          <p:cNvPr id="26" name="Text 24"/>
          <p:cNvSpPr/>
          <p:nvPr/>
        </p:nvSpPr>
        <p:spPr>
          <a:xfrm>
            <a:off x="8046720" y="2029968"/>
            <a:ext cx="4114800" cy="34747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3+ connection types</a:t>
            </a:r>
            <a:endParaRPr lang="en-US" sz="1100" dirty="0"/>
          </a:p>
        </p:txBody>
      </p:sp>
      <p:sp>
        <p:nvSpPr>
          <p:cNvPr id="27" name="Text 25"/>
          <p:cNvSpPr/>
          <p:nvPr/>
        </p:nvSpPr>
        <p:spPr>
          <a:xfrm>
            <a:off x="8046720" y="2441448"/>
            <a:ext cx="4114800" cy="34747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Different colors per type</a:t>
            </a:r>
            <a:endParaRPr lang="en-US" sz="1100" dirty="0"/>
          </a:p>
        </p:txBody>
      </p:sp>
      <p:sp>
        <p:nvSpPr>
          <p:cNvPr id="28" name="Text 26"/>
          <p:cNvSpPr/>
          <p:nvPr/>
        </p:nvSpPr>
        <p:spPr>
          <a:xfrm>
            <a:off x="8046720" y="2852928"/>
            <a:ext cx="4114800" cy="347472"/>
          </a:xfrm>
          <a:prstGeom prst="rect">
            <a:avLst/>
          </a:prstGeom>
          <a:noFill/>
          <a:ln/>
        </p:spPr>
        <p:txBody>
          <a:bodyPr wrap="square" rtlCol="0" anchor="ctr"/>
          <a:lstStyle/>
          <a:p>
            <a:pPr indent="0" marL="0">
              <a:buNone/>
            </a:pPr>
            <a:endParaRPr lang="en-US" sz="1100" dirty="0"/>
          </a:p>
        </p:txBody>
      </p:sp>
      <p:sp>
        <p:nvSpPr>
          <p:cNvPr id="29" name="Text 27"/>
          <p:cNvSpPr/>
          <p:nvPr/>
        </p:nvSpPr>
        <p:spPr>
          <a:xfrm>
            <a:off x="8046720" y="3264408"/>
            <a:ext cx="4114800" cy="34747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CER: Argue whether small organisms matter — use 2 pieces of evidence</a:t>
            </a:r>
            <a:endParaRPr lang="en-US" sz="1100" dirty="0"/>
          </a:p>
        </p:txBody>
      </p:sp>
      <p:sp>
        <p:nvSpPr>
          <p:cNvPr id="30" name="Text 28"/>
          <p:cNvSpPr/>
          <p:nvPr/>
        </p:nvSpPr>
        <p:spPr>
          <a:xfrm>
            <a:off x="8046720" y="3675888"/>
            <a:ext cx="4114800" cy="347472"/>
          </a:xfrm>
          <a:prstGeom prst="rect">
            <a:avLst/>
          </a:prstGeom>
          <a:noFill/>
          <a:ln/>
        </p:spPr>
        <p:txBody>
          <a:bodyPr wrap="square" rtlCol="0" anchor="ctr"/>
          <a:lstStyle/>
          <a:p>
            <a:pPr indent="0" marL="0">
              <a:buNone/>
            </a:pPr>
            <a:endParaRPr lang="en-US" sz="1100" dirty="0"/>
          </a:p>
        </p:txBody>
      </p:sp>
      <p:sp>
        <p:nvSpPr>
          <p:cNvPr id="31" name="Text 29"/>
          <p:cNvSpPr/>
          <p:nvPr/>
        </p:nvSpPr>
        <p:spPr>
          <a:xfrm>
            <a:off x="8046720" y="4087368"/>
            <a:ext cx="4114800" cy="347472"/>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Pre-taught: Slides 8–12</a:t>
            </a:r>
            <a:endParaRPr lang="en-US" sz="1100" dirty="0"/>
          </a:p>
        </p:txBody>
      </p:sp>
      <p:sp>
        <p:nvSpPr>
          <p:cNvPr id="32" name="Shape 30"/>
          <p:cNvSpPr/>
          <p:nvPr/>
        </p:nvSpPr>
        <p:spPr>
          <a:xfrm>
            <a:off x="0" y="6629400"/>
            <a:ext cx="12192000" cy="228600"/>
          </a:xfrm>
          <a:prstGeom prst="rect">
            <a:avLst/>
          </a:prstGeom>
          <a:solidFill>
            <a:srgbClr val="162233"/>
          </a:solidFill>
          <a:ln/>
        </p:spPr>
      </p:sp>
      <p:sp>
        <p:nvSpPr>
          <p:cNvPr id="33" name="Text 3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"What other ways are living things in a Florida forest connected — besides eating each other?"</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4 vocabulary words matched correctly</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3 short-answer questions using habitat and pollination vocab</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Ecosystem web with 3+ labeled connection types in different colors</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Argument about whether small organisms matter, with 2 pieces of evidence</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10.02:</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Ecosystem Balance</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How can we TELL if a Florida ecosystem is healthy — and what do we do when it's not?</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Preview: native/invasive species, data from real Florida ecosystems</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Connections in Depth: What Each One Looks Like</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4CC9F0"/>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Let's look at each connection type with a real Florida example. Which arrow type is in your warm-up map?</a:t>
            </a:r>
            <a:endParaRPr lang="en-US" sz="1250" dirty="0"/>
          </a:p>
        </p:txBody>
      </p:sp>
      <p:sp>
        <p:nvSpPr>
          <p:cNvPr id="7" name="Shape 5"/>
          <p:cNvSpPr/>
          <p:nvPr/>
        </p:nvSpPr>
        <p:spPr>
          <a:xfrm>
            <a:off x="365760" y="1508760"/>
            <a:ext cx="5532120" cy="2240280"/>
          </a:xfrm>
          <a:prstGeom prst="roundRect">
            <a:avLst>
              <a:gd name="adj" fmla="val 3265"/>
            </a:avLst>
          </a:prstGeom>
          <a:solidFill>
            <a:srgbClr val="1E2F45"/>
          </a:solidFill>
          <a:ln w="12700">
            <a:solidFill>
              <a:srgbClr val="F4736A"/>
            </a:solidFill>
            <a:prstDash val="solid"/>
          </a:ln>
        </p:spPr>
      </p:sp>
      <p:sp>
        <p:nvSpPr>
          <p:cNvPr id="8" name="Text 6"/>
          <p:cNvSpPr/>
          <p:nvPr/>
        </p:nvSpPr>
        <p:spPr>
          <a:xfrm>
            <a:off x="502920" y="1618488"/>
            <a:ext cx="5303520" cy="347472"/>
          </a:xfrm>
          <a:prstGeom prst="rect">
            <a:avLst/>
          </a:prstGeom>
          <a:noFill/>
          <a:ln/>
        </p:spPr>
        <p:txBody>
          <a:bodyPr wrap="square" rtlCol="0" anchor="ctr"/>
          <a:lstStyle/>
          <a:p>
            <a:pPr indent="0" marL="0">
              <a:buNone/>
            </a:pPr>
            <a:r>
              <a:rPr lang="en-US" sz="1400" b="1" dirty="0">
                <a:solidFill>
                  <a:srgbClr val="F4736A"/>
                </a:solidFill>
                <a:latin typeface="Calibri" pitchFamily="34" charset="0"/>
                <a:ea typeface="Calibri" pitchFamily="34" charset="-122"/>
                <a:cs typeface="Calibri" pitchFamily="34" charset="-120"/>
              </a:rPr>
              <a:t>🍖 Food</a:t>
            </a:r>
            <a:endParaRPr lang="en-US" sz="1400" dirty="0"/>
          </a:p>
        </p:txBody>
      </p:sp>
      <p:sp>
        <p:nvSpPr>
          <p:cNvPr id="9" name="Text 7"/>
          <p:cNvSpPr/>
          <p:nvPr/>
        </p:nvSpPr>
        <p:spPr>
          <a:xfrm>
            <a:off x="502920" y="2011680"/>
            <a:ext cx="5303520" cy="9875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Squirrel eats oak acorn. Energy transfers from oak (producer) to squirrel (consumer). This is the food chain connection.</a:t>
            </a:r>
            <a:endParaRPr lang="en-US" sz="1150" dirty="0"/>
          </a:p>
        </p:txBody>
      </p:sp>
      <p:sp>
        <p:nvSpPr>
          <p:cNvPr id="10" name="Text 8"/>
          <p:cNvSpPr/>
          <p:nvPr/>
        </p:nvSpPr>
        <p:spPr>
          <a:xfrm>
            <a:off x="502920" y="3044952"/>
            <a:ext cx="5303520" cy="566928"/>
          </a:xfrm>
          <a:prstGeom prst="rect">
            <a:avLst/>
          </a:prstGeom>
          <a:noFill/>
          <a:ln/>
        </p:spPr>
        <p:txBody>
          <a:bodyPr wrap="square" rtlCol="0" anchor="ctr"/>
          <a:lstStyle/>
          <a:p>
            <a:pPr indent="0" marL="0">
              <a:buNone/>
            </a:pPr>
            <a:r>
              <a:rPr lang="en-US" sz="1100" i="1" dirty="0">
                <a:solidFill>
                  <a:srgbClr val="F4736A"/>
                </a:solidFill>
                <a:latin typeface="Calibri" pitchFamily="34" charset="0"/>
                <a:ea typeface="Calibri" pitchFamily="34" charset="-122"/>
                <a:cs typeface="Calibri" pitchFamily="34" charset="-120"/>
              </a:rPr>
              <a:t>→ Who depends on the oak for FOOD?</a:t>
            </a:r>
            <a:endParaRPr lang="en-US" sz="1100" dirty="0"/>
          </a:p>
        </p:txBody>
      </p:sp>
      <p:sp>
        <p:nvSpPr>
          <p:cNvPr id="11" name="Shape 9"/>
          <p:cNvSpPr/>
          <p:nvPr/>
        </p:nvSpPr>
        <p:spPr>
          <a:xfrm>
            <a:off x="365760" y="3995928"/>
            <a:ext cx="5532120" cy="2240280"/>
          </a:xfrm>
          <a:prstGeom prst="roundRect">
            <a:avLst>
              <a:gd name="adj" fmla="val 3265"/>
            </a:avLst>
          </a:prstGeom>
          <a:solidFill>
            <a:srgbClr val="1E2F45"/>
          </a:solidFill>
          <a:ln w="12700">
            <a:solidFill>
              <a:srgbClr val="FFB703"/>
            </a:solidFill>
            <a:prstDash val="solid"/>
          </a:ln>
        </p:spPr>
      </p:sp>
      <p:sp>
        <p:nvSpPr>
          <p:cNvPr id="12" name="Text 10"/>
          <p:cNvSpPr/>
          <p:nvPr/>
        </p:nvSpPr>
        <p:spPr>
          <a:xfrm>
            <a:off x="502920" y="4105656"/>
            <a:ext cx="5303520" cy="347472"/>
          </a:xfrm>
          <a:prstGeom prst="rect">
            <a:avLst/>
          </a:prstGeom>
          <a:noFill/>
          <a:ln/>
        </p:spPr>
        <p:txBody>
          <a:bodyPr wrap="square" rtlCol="0" anchor="ctr"/>
          <a:lstStyle/>
          <a:p>
            <a:pPr indent="0" marL="0">
              <a:buNone/>
            </a:pPr>
            <a:r>
              <a:rPr lang="en-US" sz="1400" b="1" dirty="0">
                <a:solidFill>
                  <a:srgbClr val="FFB703"/>
                </a:solidFill>
                <a:latin typeface="Calibri" pitchFamily="34" charset="0"/>
                <a:ea typeface="Calibri" pitchFamily="34" charset="-122"/>
                <a:cs typeface="Calibri" pitchFamily="34" charset="-120"/>
              </a:rPr>
              <a:t>🐝 Pollination</a:t>
            </a:r>
            <a:endParaRPr lang="en-US" sz="1400" dirty="0"/>
          </a:p>
        </p:txBody>
      </p:sp>
      <p:sp>
        <p:nvSpPr>
          <p:cNvPr id="13" name="Text 11"/>
          <p:cNvSpPr/>
          <p:nvPr/>
        </p:nvSpPr>
        <p:spPr>
          <a:xfrm>
            <a:off x="502920" y="4498848"/>
            <a:ext cx="5303520" cy="9875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Bee visits oak flower, picks up pollen on its body, carries it to another flower. Now the oak can make acorns and seeds.</a:t>
            </a:r>
            <a:endParaRPr lang="en-US" sz="1150" dirty="0"/>
          </a:p>
        </p:txBody>
      </p:sp>
      <p:sp>
        <p:nvSpPr>
          <p:cNvPr id="14" name="Text 12"/>
          <p:cNvSpPr/>
          <p:nvPr/>
        </p:nvSpPr>
        <p:spPr>
          <a:xfrm>
            <a:off x="502920" y="5532120"/>
            <a:ext cx="5303520" cy="566928"/>
          </a:xfrm>
          <a:prstGeom prst="rect">
            <a:avLst/>
          </a:prstGeom>
          <a:noFill/>
          <a:ln/>
        </p:spPr>
        <p:txBody>
          <a:bodyPr wrap="square" rtlCol="0" anchor="ctr"/>
          <a:lstStyle/>
          <a:p>
            <a:pPr indent="0" marL="0">
              <a:buNone/>
            </a:pPr>
            <a:r>
              <a:rPr lang="en-US" sz="1100" i="1" dirty="0">
                <a:solidFill>
                  <a:srgbClr val="FFB703"/>
                </a:solidFill>
                <a:latin typeface="Calibri" pitchFamily="34" charset="0"/>
                <a:ea typeface="Calibri" pitchFamily="34" charset="-122"/>
                <a:cs typeface="Calibri" pitchFamily="34" charset="-120"/>
              </a:rPr>
              <a:t>→ What happens if no bee visits?</a:t>
            </a:r>
            <a:endParaRPr lang="en-US" sz="1100" dirty="0"/>
          </a:p>
        </p:txBody>
      </p:sp>
      <p:sp>
        <p:nvSpPr>
          <p:cNvPr id="15" name="Shape 13"/>
          <p:cNvSpPr/>
          <p:nvPr/>
        </p:nvSpPr>
        <p:spPr>
          <a:xfrm>
            <a:off x="6126480" y="1508760"/>
            <a:ext cx="5532120" cy="2240280"/>
          </a:xfrm>
          <a:prstGeom prst="roundRect">
            <a:avLst>
              <a:gd name="adj" fmla="val 3265"/>
            </a:avLst>
          </a:prstGeom>
          <a:solidFill>
            <a:srgbClr val="1E2F45"/>
          </a:solidFill>
          <a:ln w="12700">
            <a:solidFill>
              <a:srgbClr val="2DC653"/>
            </a:solidFill>
            <a:prstDash val="solid"/>
          </a:ln>
        </p:spPr>
      </p:sp>
      <p:sp>
        <p:nvSpPr>
          <p:cNvPr id="16" name="Text 14"/>
          <p:cNvSpPr/>
          <p:nvPr/>
        </p:nvSpPr>
        <p:spPr>
          <a:xfrm>
            <a:off x="6263640" y="1618488"/>
            <a:ext cx="5303520" cy="347472"/>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 Shelter</a:t>
            </a:r>
            <a:endParaRPr lang="en-US" sz="1400" dirty="0"/>
          </a:p>
        </p:txBody>
      </p:sp>
      <p:sp>
        <p:nvSpPr>
          <p:cNvPr id="17" name="Text 15"/>
          <p:cNvSpPr/>
          <p:nvPr/>
        </p:nvSpPr>
        <p:spPr>
          <a:xfrm>
            <a:off x="6263640" y="2011680"/>
            <a:ext cx="5303520" cy="9875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Barred owl nests in a hollow in the oak trunk. The owl isn't eating the oak — it's using the tree as a HABITAT.</a:t>
            </a:r>
            <a:endParaRPr lang="en-US" sz="1150" dirty="0"/>
          </a:p>
        </p:txBody>
      </p:sp>
      <p:sp>
        <p:nvSpPr>
          <p:cNvPr id="18" name="Text 16"/>
          <p:cNvSpPr/>
          <p:nvPr/>
        </p:nvSpPr>
        <p:spPr>
          <a:xfrm>
            <a:off x="6263640" y="3044952"/>
            <a:ext cx="5303520" cy="566928"/>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 Where does the owl go if this tree is cut down?</a:t>
            </a:r>
            <a:endParaRPr lang="en-US" sz="1100" dirty="0"/>
          </a:p>
        </p:txBody>
      </p:sp>
      <p:sp>
        <p:nvSpPr>
          <p:cNvPr id="19" name="Shape 17"/>
          <p:cNvSpPr/>
          <p:nvPr/>
        </p:nvSpPr>
        <p:spPr>
          <a:xfrm>
            <a:off x="6126480" y="3995928"/>
            <a:ext cx="5532120" cy="2240280"/>
          </a:xfrm>
          <a:prstGeom prst="roundRect">
            <a:avLst>
              <a:gd name="adj" fmla="val 3265"/>
            </a:avLst>
          </a:prstGeom>
          <a:solidFill>
            <a:srgbClr val="1E2F45"/>
          </a:solidFill>
          <a:ln w="12700">
            <a:solidFill>
              <a:srgbClr val="8B6FC0"/>
            </a:solidFill>
            <a:prstDash val="solid"/>
          </a:ln>
        </p:spPr>
      </p:sp>
      <p:sp>
        <p:nvSpPr>
          <p:cNvPr id="20" name="Text 18"/>
          <p:cNvSpPr/>
          <p:nvPr/>
        </p:nvSpPr>
        <p:spPr>
          <a:xfrm>
            <a:off x="6263640" y="4105656"/>
            <a:ext cx="5303520" cy="347472"/>
          </a:xfrm>
          <a:prstGeom prst="rect">
            <a:avLst/>
          </a:prstGeom>
          <a:noFill/>
          <a:ln/>
        </p:spPr>
        <p:txBody>
          <a:bodyPr wrap="square"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Nutrients</a:t>
            </a:r>
            <a:endParaRPr lang="en-US" sz="1400" dirty="0"/>
          </a:p>
        </p:txBody>
      </p:sp>
      <p:sp>
        <p:nvSpPr>
          <p:cNvPr id="21" name="Text 19"/>
          <p:cNvSpPr/>
          <p:nvPr/>
        </p:nvSpPr>
        <p:spPr>
          <a:xfrm>
            <a:off x="6263640" y="4498848"/>
            <a:ext cx="5303520" cy="9875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Mushrooms grow on a fallen oak branch. They break the wood down into nutrients that go into the soil. New oak trees can grow from those nutrients.</a:t>
            </a:r>
            <a:endParaRPr lang="en-US" sz="1150" dirty="0"/>
          </a:p>
        </p:txBody>
      </p:sp>
      <p:sp>
        <p:nvSpPr>
          <p:cNvPr id="22" name="Text 20"/>
          <p:cNvSpPr/>
          <p:nvPr/>
        </p:nvSpPr>
        <p:spPr>
          <a:xfrm>
            <a:off x="6263640" y="5532120"/>
            <a:ext cx="5303520" cy="566928"/>
          </a:xfrm>
          <a:prstGeom prst="rect">
            <a:avLst/>
          </a:prstGeom>
          <a:noFill/>
          <a:ln/>
        </p:spPr>
        <p:txBody>
          <a:bodyPr wrap="square" rtlCol="0" anchor="ctr"/>
          <a:lstStyle/>
          <a:p>
            <a:pPr indent="0" marL="0">
              <a:buNone/>
            </a:pPr>
            <a:r>
              <a:rPr lang="en-US" sz="1100" i="1" dirty="0">
                <a:solidFill>
                  <a:srgbClr val="8B6FC0"/>
                </a:solidFill>
                <a:latin typeface="Calibri" pitchFamily="34" charset="0"/>
                <a:ea typeface="Calibri" pitchFamily="34" charset="-122"/>
                <a:cs typeface="Calibri" pitchFamily="34" charset="-120"/>
              </a:rPr>
              <a:t>→ What would pile up if decomposers disappeared?</a:t>
            </a:r>
            <a:endParaRPr lang="en-US" sz="11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411480"/>
            <a:ext cx="11521440" cy="3547872"/>
          </a:xfrm>
          <a:prstGeom prst="roundRect">
            <a:avLst>
              <a:gd name="adj" fmla="val 2062"/>
            </a:avLst>
          </a:prstGeom>
          <a:solidFill>
            <a:srgbClr val="0A1520"/>
          </a:solidFill>
          <a:ln w="12700">
            <a:solidFill>
              <a:srgbClr val="2DC653"/>
            </a:solidFill>
            <a:prstDash val="solid"/>
          </a:ln>
        </p:spPr>
      </p:sp>
      <p:sp>
        <p:nvSpPr>
          <p:cNvPr id="3" name="Text 1"/>
          <p:cNvSpPr/>
          <p:nvPr/>
        </p:nvSpPr>
        <p:spPr>
          <a:xfrm>
            <a:off x="365760" y="566928"/>
            <a:ext cx="11521440" cy="749808"/>
          </a:xfrm>
          <a:prstGeom prst="rect">
            <a:avLst/>
          </a:prstGeom>
          <a:noFill/>
          <a:ln/>
        </p:spPr>
        <p:txBody>
          <a:bodyPr wrap="square" rtlCol="0" anchor="ctr"/>
          <a:lstStyle/>
          <a:p>
            <a:pPr algn="ctr" indent="0" marL="0">
              <a:buNone/>
            </a:pPr>
            <a:r>
              <a:rPr lang="en-US" sz="4600" dirty="0">
                <a:solidFill>
                  <a:srgbClr val="000000"/>
                </a:solidFill>
              </a:rPr>
              <a:t>🤯</a:t>
            </a:r>
            <a:endParaRPr lang="en-US" sz="4600" dirty="0"/>
          </a:p>
        </p:txBody>
      </p:sp>
      <p:sp>
        <p:nvSpPr>
          <p:cNvPr id="4" name="Text 2"/>
          <p:cNvSpPr/>
          <p:nvPr/>
        </p:nvSpPr>
        <p:spPr>
          <a:xfrm>
            <a:off x="365760" y="1389888"/>
            <a:ext cx="11521440" cy="347472"/>
          </a:xfrm>
          <a:prstGeom prst="rect">
            <a:avLst/>
          </a:prstGeom>
          <a:noFill/>
          <a:ln/>
        </p:spPr>
        <p:txBody>
          <a:bodyPr wrap="square" rtlCol="0" anchor="ctr"/>
          <a:lstStyle/>
          <a:p>
            <a:pPr algn="ctr" indent="0" marL="0">
              <a:buNone/>
            </a:pPr>
            <a:r>
              <a:rPr lang="en-US" sz="1600" b="1" dirty="0">
                <a:solidFill>
                  <a:srgbClr val="2DC653"/>
                </a:solidFill>
                <a:latin typeface="Calibri" pitchFamily="34" charset="0"/>
                <a:ea typeface="Calibri" pitchFamily="34" charset="-122"/>
                <a:cs typeface="Calibri" pitchFamily="34" charset="-120"/>
              </a:rPr>
              <a:t>Amazing Florida Fact</a:t>
            </a:r>
            <a:endParaRPr lang="en-US" sz="1600" dirty="0"/>
          </a:p>
        </p:txBody>
      </p:sp>
      <p:sp>
        <p:nvSpPr>
          <p:cNvPr id="5" name="Text 3"/>
          <p:cNvSpPr/>
          <p:nvPr/>
        </p:nvSpPr>
        <p:spPr>
          <a:xfrm>
            <a:off x="914400" y="1828800"/>
            <a:ext cx="10241280" cy="384048"/>
          </a:xfrm>
          <a:prstGeom prst="rect">
            <a:avLst/>
          </a:prstGeom>
          <a:noFill/>
          <a:ln/>
        </p:spPr>
        <p:txBody>
          <a:bodyPr wrap="square"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A single Florida live oak can support more than</a:t>
            </a:r>
            <a:endParaRPr lang="en-US" sz="1700" dirty="0"/>
          </a:p>
        </p:txBody>
      </p:sp>
      <p:sp>
        <p:nvSpPr>
          <p:cNvPr id="6" name="Text 4"/>
          <p:cNvSpPr/>
          <p:nvPr/>
        </p:nvSpPr>
        <p:spPr>
          <a:xfrm>
            <a:off x="914400" y="2267712"/>
            <a:ext cx="10241280" cy="621792"/>
          </a:xfrm>
          <a:prstGeom prst="rect">
            <a:avLst/>
          </a:prstGeom>
          <a:noFill/>
          <a:ln/>
        </p:spPr>
        <p:txBody>
          <a:bodyPr wrap="square" rtlCol="0" anchor="ctr"/>
          <a:lstStyle/>
          <a:p>
            <a:pPr algn="ctr" indent="0" marL="0">
              <a:buNone/>
            </a:pPr>
            <a:r>
              <a:rPr lang="en-US" sz="4000" b="1" dirty="0">
                <a:solidFill>
                  <a:srgbClr val="2DC653"/>
                </a:solidFill>
                <a:latin typeface="Calibri" pitchFamily="34" charset="0"/>
                <a:ea typeface="Calibri" pitchFamily="34" charset="-122"/>
                <a:cs typeface="Calibri" pitchFamily="34" charset="-120"/>
              </a:rPr>
              <a:t>500 KINDS OF CATERPILLARS</a:t>
            </a:r>
            <a:endParaRPr lang="en-US" sz="4000" dirty="0"/>
          </a:p>
        </p:txBody>
      </p:sp>
      <p:sp>
        <p:nvSpPr>
          <p:cNvPr id="7" name="Text 5"/>
          <p:cNvSpPr/>
          <p:nvPr/>
        </p:nvSpPr>
        <p:spPr>
          <a:xfrm>
            <a:off x="914400" y="2944368"/>
            <a:ext cx="10241280" cy="384048"/>
          </a:xfrm>
          <a:prstGeom prst="rect">
            <a:avLst/>
          </a:prstGeom>
          <a:noFill/>
          <a:ln/>
        </p:spPr>
        <p:txBody>
          <a:bodyPr wrap="square" rtlCol="0" anchor="ctr"/>
          <a:lstStyle/>
          <a:p>
            <a:pPr algn="ctr" indent="0" marL="0">
              <a:buNone/>
            </a:pPr>
            <a:r>
              <a:rPr lang="en-US" sz="1400" dirty="0">
                <a:solidFill>
                  <a:srgbClr val="B0C4D8"/>
                </a:solidFill>
                <a:latin typeface="Calibri" pitchFamily="34" charset="0"/>
                <a:ea typeface="Calibri" pitchFamily="34" charset="-122"/>
                <a:cs typeface="Calibri" pitchFamily="34" charset="-120"/>
              </a:rPr>
              <a:t>...which feed all the songbirds that nest in it. One tree. Hundreds of food connections.</a:t>
            </a:r>
            <a:endParaRPr lang="en-US" sz="1400" dirty="0"/>
          </a:p>
        </p:txBody>
      </p:sp>
      <p:sp>
        <p:nvSpPr>
          <p:cNvPr id="8" name="Shape 6"/>
          <p:cNvSpPr/>
          <p:nvPr/>
        </p:nvSpPr>
        <p:spPr>
          <a:xfrm>
            <a:off x="365760" y="4096512"/>
            <a:ext cx="11521440" cy="2084832"/>
          </a:xfrm>
          <a:prstGeom prst="roundRect">
            <a:avLst>
              <a:gd name="adj" fmla="val 3509"/>
            </a:avLst>
          </a:prstGeom>
          <a:solidFill>
            <a:srgbClr val="1E2F45"/>
          </a:solidFill>
          <a:ln w="12700">
            <a:solidFill>
              <a:srgbClr val="0096C7"/>
            </a:solidFill>
            <a:prstDash val="solid"/>
          </a:ln>
        </p:spPr>
      </p:sp>
      <p:sp>
        <p:nvSpPr>
          <p:cNvPr id="9" name="Text 7"/>
          <p:cNvSpPr/>
          <p:nvPr/>
        </p:nvSpPr>
        <p:spPr>
          <a:xfrm>
            <a:off x="548640" y="4187952"/>
            <a:ext cx="1115568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Think about the WEB of life in that one tree:</a:t>
            </a:r>
            <a:endParaRPr lang="en-US" sz="1300" dirty="0"/>
          </a:p>
        </p:txBody>
      </p:sp>
      <p:sp>
        <p:nvSpPr>
          <p:cNvPr id="10" name="Text 8"/>
          <p:cNvSpPr/>
          <p:nvPr/>
        </p:nvSpPr>
        <p:spPr>
          <a:xfrm>
            <a:off x="548640" y="4572000"/>
            <a:ext cx="11155680" cy="148132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Caterpillars eat leaves (food connection) → 🐦 Songbirds eat caterpillars (food connection) → 🦉 Owls eat songbirds (food connection) → 🌳 Owls nest in the oak (shelter connection) → 🍄 Fungi break down fallen leaves (nutrient connection) → 🌱 New oaks grow from nutrients (nutrient → food connection cycle)</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All of this from ONE tree.</a:t>
            </a:r>
            <a:endParaRPr lang="en-US" sz="120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Human Connections: We're Part of the Web Too</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FFB703"/>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Humans have EVERY kind of connection to Florida ecosystems — food, pollination support, shelter (building and destroying), and nutrient cycling.</a:t>
            </a:r>
            <a:endParaRPr lang="en-US" sz="1250" dirty="0"/>
          </a:p>
        </p:txBody>
      </p:sp>
      <p:sp>
        <p:nvSpPr>
          <p:cNvPr id="7" name="Shape 5"/>
          <p:cNvSpPr/>
          <p:nvPr/>
        </p:nvSpPr>
        <p:spPr>
          <a:xfrm>
            <a:off x="365760" y="1508760"/>
            <a:ext cx="5532120" cy="1920240"/>
          </a:xfrm>
          <a:prstGeom prst="roundRect">
            <a:avLst>
              <a:gd name="adj" fmla="val 3810"/>
            </a:avLst>
          </a:prstGeom>
          <a:solidFill>
            <a:srgbClr val="1E2F45"/>
          </a:solidFill>
          <a:ln w="12700">
            <a:solidFill>
              <a:srgbClr val="F4736A"/>
            </a:solidFill>
            <a:prstDash val="solid"/>
          </a:ln>
        </p:spPr>
      </p:sp>
      <p:sp>
        <p:nvSpPr>
          <p:cNvPr id="8" name="Text 6"/>
          <p:cNvSpPr/>
          <p:nvPr/>
        </p:nvSpPr>
        <p:spPr>
          <a:xfrm>
            <a:off x="502920" y="1645920"/>
            <a:ext cx="530352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Food connection</a:t>
            </a:r>
            <a:endParaRPr lang="en-US" sz="1300" dirty="0"/>
          </a:p>
        </p:txBody>
      </p:sp>
      <p:sp>
        <p:nvSpPr>
          <p:cNvPr id="9" name="Text 7"/>
          <p:cNvSpPr/>
          <p:nvPr/>
        </p:nvSpPr>
        <p:spPr>
          <a:xfrm>
            <a:off x="502920" y="2039112"/>
            <a:ext cx="5303520" cy="12344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We eat Florida oranges, fish, and plants — making us consumers in Florida food chains.</a:t>
            </a:r>
            <a:endParaRPr lang="en-US" sz="1200" dirty="0"/>
          </a:p>
        </p:txBody>
      </p:sp>
      <p:sp>
        <p:nvSpPr>
          <p:cNvPr id="10" name="Shape 8"/>
          <p:cNvSpPr/>
          <p:nvPr/>
        </p:nvSpPr>
        <p:spPr>
          <a:xfrm>
            <a:off x="365760" y="3685032"/>
            <a:ext cx="5532120" cy="1920240"/>
          </a:xfrm>
          <a:prstGeom prst="roundRect">
            <a:avLst>
              <a:gd name="adj" fmla="val 3810"/>
            </a:avLst>
          </a:prstGeom>
          <a:solidFill>
            <a:srgbClr val="1E2F45"/>
          </a:solidFill>
          <a:ln w="12700">
            <a:solidFill>
              <a:srgbClr val="FFB703"/>
            </a:solidFill>
            <a:prstDash val="solid"/>
          </a:ln>
        </p:spPr>
      </p:sp>
      <p:sp>
        <p:nvSpPr>
          <p:cNvPr id="11" name="Text 9"/>
          <p:cNvSpPr/>
          <p:nvPr/>
        </p:nvSpPr>
        <p:spPr>
          <a:xfrm>
            <a:off x="502920" y="3822192"/>
            <a:ext cx="530352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Pollination support</a:t>
            </a:r>
            <a:endParaRPr lang="en-US" sz="1300" dirty="0"/>
          </a:p>
        </p:txBody>
      </p:sp>
      <p:sp>
        <p:nvSpPr>
          <p:cNvPr id="12" name="Text 10"/>
          <p:cNvSpPr/>
          <p:nvPr/>
        </p:nvSpPr>
        <p:spPr>
          <a:xfrm>
            <a:off x="502920" y="4215384"/>
            <a:ext cx="5303520" cy="12344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Florida beekeepers truck millions of hive boxes into orange groves each winter — humans supporting the pollinator connection.</a:t>
            </a:r>
            <a:endParaRPr lang="en-US" sz="1200" dirty="0"/>
          </a:p>
        </p:txBody>
      </p:sp>
      <p:sp>
        <p:nvSpPr>
          <p:cNvPr id="13" name="Shape 11"/>
          <p:cNvSpPr/>
          <p:nvPr/>
        </p:nvSpPr>
        <p:spPr>
          <a:xfrm>
            <a:off x="6126480" y="1508760"/>
            <a:ext cx="5532120" cy="1920240"/>
          </a:xfrm>
          <a:prstGeom prst="roundRect">
            <a:avLst>
              <a:gd name="adj" fmla="val 3810"/>
            </a:avLst>
          </a:prstGeom>
          <a:solidFill>
            <a:srgbClr val="1E2F45"/>
          </a:solidFill>
          <a:ln w="12700">
            <a:solidFill>
              <a:srgbClr val="8899AA"/>
            </a:solidFill>
            <a:prstDash val="solid"/>
          </a:ln>
        </p:spPr>
      </p:sp>
      <p:sp>
        <p:nvSpPr>
          <p:cNvPr id="14" name="Text 12"/>
          <p:cNvSpPr/>
          <p:nvPr/>
        </p:nvSpPr>
        <p:spPr>
          <a:xfrm>
            <a:off x="6263640" y="1645920"/>
            <a:ext cx="5303520" cy="347472"/>
          </a:xfrm>
          <a:prstGeom prst="rect">
            <a:avLst/>
          </a:prstGeom>
          <a:noFill/>
          <a:ln/>
        </p:spPr>
        <p:txBody>
          <a:bodyPr wrap="square" rtlCol="0" anchor="ctr"/>
          <a:lstStyle/>
          <a:p>
            <a:pPr indent="0" marL="0">
              <a:buNone/>
            </a:pPr>
            <a:r>
              <a:rPr lang="en-US" sz="1300" b="1" dirty="0">
                <a:solidFill>
                  <a:srgbClr val="8899AA"/>
                </a:solidFill>
                <a:latin typeface="Calibri" pitchFamily="34" charset="0"/>
                <a:ea typeface="Calibri" pitchFamily="34" charset="-122"/>
                <a:cs typeface="Calibri" pitchFamily="34" charset="-120"/>
              </a:rPr>
              <a:t>🏗️ Shelter (breaking)</a:t>
            </a:r>
            <a:endParaRPr lang="en-US" sz="1300" dirty="0"/>
          </a:p>
        </p:txBody>
      </p:sp>
      <p:sp>
        <p:nvSpPr>
          <p:cNvPr id="15" name="Text 13"/>
          <p:cNvSpPr/>
          <p:nvPr/>
        </p:nvSpPr>
        <p:spPr>
          <a:xfrm>
            <a:off x="6263640" y="2039112"/>
            <a:ext cx="5303520" cy="12344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Building roads and houses fragments habitats — animals can't reach food, mates, or water.</a:t>
            </a:r>
            <a:endParaRPr lang="en-US" sz="1200" dirty="0"/>
          </a:p>
        </p:txBody>
      </p:sp>
      <p:sp>
        <p:nvSpPr>
          <p:cNvPr id="16" name="Shape 14"/>
          <p:cNvSpPr/>
          <p:nvPr/>
        </p:nvSpPr>
        <p:spPr>
          <a:xfrm>
            <a:off x="6126480" y="3685032"/>
            <a:ext cx="5532120" cy="1920240"/>
          </a:xfrm>
          <a:prstGeom prst="roundRect">
            <a:avLst>
              <a:gd name="adj" fmla="val 3810"/>
            </a:avLst>
          </a:prstGeom>
          <a:solidFill>
            <a:srgbClr val="1E2F45"/>
          </a:solidFill>
          <a:ln w="12700">
            <a:solidFill>
              <a:srgbClr val="2DC653"/>
            </a:solidFill>
            <a:prstDash val="solid"/>
          </a:ln>
        </p:spPr>
      </p:sp>
      <p:sp>
        <p:nvSpPr>
          <p:cNvPr id="17" name="Text 15"/>
          <p:cNvSpPr/>
          <p:nvPr/>
        </p:nvSpPr>
        <p:spPr>
          <a:xfrm>
            <a:off x="6263640" y="3822192"/>
            <a:ext cx="530352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Shelter (fixing)</a:t>
            </a:r>
            <a:endParaRPr lang="en-US" sz="1300" dirty="0"/>
          </a:p>
        </p:txBody>
      </p:sp>
      <p:sp>
        <p:nvSpPr>
          <p:cNvPr id="18" name="Text 16"/>
          <p:cNvSpPr/>
          <p:nvPr/>
        </p:nvSpPr>
        <p:spPr>
          <a:xfrm>
            <a:off x="6263640" y="4215384"/>
            <a:ext cx="5303520" cy="12344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Wildlife corridors, parks, and conservation areas restore habitat connections for panthers, bears, and birds.</a:t>
            </a:r>
            <a:endParaRPr lang="en-US" sz="12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Think Like a Scientist: Testing Ecosystem Connections</a:t>
            </a:r>
            <a:endParaRPr lang="en-US" sz="1600" dirty="0"/>
          </a:p>
        </p:txBody>
      </p:sp>
      <p:sp>
        <p:nvSpPr>
          <p:cNvPr id="5" name="Shape 3"/>
          <p:cNvSpPr/>
          <p:nvPr/>
        </p:nvSpPr>
        <p:spPr>
          <a:xfrm>
            <a:off x="365760" y="713232"/>
            <a:ext cx="11521440" cy="804672"/>
          </a:xfrm>
          <a:prstGeom prst="roundRect">
            <a:avLst>
              <a:gd name="adj" fmla="val 9091"/>
            </a:avLst>
          </a:prstGeom>
          <a:solidFill>
            <a:srgbClr val="1E2F45"/>
          </a:solidFill>
          <a:ln w="12700">
            <a:solidFill>
              <a:srgbClr val="4CC9F0"/>
            </a:solidFill>
            <a:prstDash val="solid"/>
          </a:ln>
        </p:spPr>
      </p:sp>
      <p:sp>
        <p:nvSpPr>
          <p:cNvPr id="6" name="Text 4"/>
          <p:cNvSpPr/>
          <p:nvPr/>
        </p:nvSpPr>
        <p:spPr>
          <a:xfrm>
            <a:off x="548640" y="768096"/>
            <a:ext cx="11155680"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scientist studies one Florida ecosystem and counts 78 kinds of connections. Then they pick one species and remove it — on paper. What happens?</a:t>
            </a:r>
            <a:endParaRPr lang="en-US" sz="1300" dirty="0"/>
          </a:p>
        </p:txBody>
      </p:sp>
      <p:sp>
        <p:nvSpPr>
          <p:cNvPr id="7" name="Shape 5"/>
          <p:cNvSpPr/>
          <p:nvPr/>
        </p:nvSpPr>
        <p:spPr>
          <a:xfrm>
            <a:off x="365760" y="1664208"/>
            <a:ext cx="5394960" cy="4005072"/>
          </a:xfrm>
          <a:prstGeom prst="roundRect">
            <a:avLst>
              <a:gd name="adj" fmla="val 1826"/>
            </a:avLst>
          </a:prstGeom>
          <a:solidFill>
            <a:srgbClr val="1E2F45"/>
          </a:solidFill>
          <a:ln w="12700">
            <a:solidFill>
              <a:srgbClr val="FFB703"/>
            </a:solidFill>
            <a:prstDash val="solid"/>
          </a:ln>
        </p:spPr>
      </p:sp>
      <p:sp>
        <p:nvSpPr>
          <p:cNvPr id="8" name="Text 6"/>
          <p:cNvSpPr/>
          <p:nvPr/>
        </p:nvSpPr>
        <p:spPr>
          <a:xfrm>
            <a:off x="548640" y="1783080"/>
            <a:ext cx="5212080" cy="310896"/>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Investigation Questions:</a:t>
            </a:r>
            <a:endParaRPr lang="en-US" sz="1300" dirty="0"/>
          </a:p>
        </p:txBody>
      </p:sp>
      <p:sp>
        <p:nvSpPr>
          <p:cNvPr id="9" name="Text 7"/>
          <p:cNvSpPr/>
          <p:nvPr/>
        </p:nvSpPr>
        <p:spPr>
          <a:xfrm>
            <a:off x="548640" y="2148840"/>
            <a:ext cx="521208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What's CHANGING in this investigation?</a:t>
            </a:r>
            <a:endParaRPr lang="en-US" sz="1200" dirty="0"/>
          </a:p>
        </p:txBody>
      </p:sp>
      <p:sp>
        <p:nvSpPr>
          <p:cNvPr id="10" name="Text 8"/>
          <p:cNvSpPr/>
          <p:nvPr/>
        </p:nvSpPr>
        <p:spPr>
          <a:xfrm>
            <a:off x="548640" y="2496312"/>
            <a:ext cx="5212080" cy="310896"/>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(The species removed — independent variable)</a:t>
            </a:r>
            <a:endParaRPr lang="en-US" sz="1100" dirty="0"/>
          </a:p>
        </p:txBody>
      </p:sp>
      <p:sp>
        <p:nvSpPr>
          <p:cNvPr id="11" name="Text 9"/>
          <p:cNvSpPr/>
          <p:nvPr/>
        </p:nvSpPr>
        <p:spPr>
          <a:xfrm>
            <a:off x="548640" y="2843784"/>
            <a:ext cx="5212080" cy="310896"/>
          </a:xfrm>
          <a:prstGeom prst="rect">
            <a:avLst/>
          </a:prstGeom>
          <a:noFill/>
          <a:ln/>
        </p:spPr>
        <p:txBody>
          <a:bodyPr wrap="square" rtlCol="0" anchor="ctr"/>
          <a:lstStyle/>
          <a:p>
            <a:pPr indent="0" marL="0">
              <a:buNone/>
            </a:pPr>
            <a:endParaRPr lang="en-US" sz="1100" dirty="0"/>
          </a:p>
        </p:txBody>
      </p:sp>
      <p:sp>
        <p:nvSpPr>
          <p:cNvPr id="12" name="Text 10"/>
          <p:cNvSpPr/>
          <p:nvPr/>
        </p:nvSpPr>
        <p:spPr>
          <a:xfrm>
            <a:off x="548640" y="3191256"/>
            <a:ext cx="521208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What's the DEPENDENT variable?</a:t>
            </a:r>
            <a:endParaRPr lang="en-US" sz="1200" dirty="0"/>
          </a:p>
        </p:txBody>
      </p:sp>
      <p:sp>
        <p:nvSpPr>
          <p:cNvPr id="13" name="Text 11"/>
          <p:cNvSpPr/>
          <p:nvPr/>
        </p:nvSpPr>
        <p:spPr>
          <a:xfrm>
            <a:off x="548640" y="3538728"/>
            <a:ext cx="5212080" cy="310896"/>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(The connections that break — dependent)</a:t>
            </a:r>
            <a:endParaRPr lang="en-US" sz="1100" dirty="0"/>
          </a:p>
        </p:txBody>
      </p:sp>
      <p:sp>
        <p:nvSpPr>
          <p:cNvPr id="14" name="Text 12"/>
          <p:cNvSpPr/>
          <p:nvPr/>
        </p:nvSpPr>
        <p:spPr>
          <a:xfrm>
            <a:off x="548640" y="3886200"/>
            <a:ext cx="5212080" cy="310896"/>
          </a:xfrm>
          <a:prstGeom prst="rect">
            <a:avLst/>
          </a:prstGeom>
          <a:noFill/>
          <a:ln/>
        </p:spPr>
        <p:txBody>
          <a:bodyPr wrap="square" rtlCol="0" anchor="ctr"/>
          <a:lstStyle/>
          <a:p>
            <a:pPr indent="0" marL="0">
              <a:buNone/>
            </a:pPr>
            <a:endParaRPr lang="en-US" sz="1100" dirty="0"/>
          </a:p>
        </p:txBody>
      </p:sp>
      <p:sp>
        <p:nvSpPr>
          <p:cNvPr id="15" name="Text 13"/>
          <p:cNvSpPr/>
          <p:nvPr/>
        </p:nvSpPr>
        <p:spPr>
          <a:xfrm>
            <a:off x="548640" y="4233672"/>
            <a:ext cx="521208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STAYS THE SAME?</a:t>
            </a:r>
            <a:endParaRPr lang="en-US" sz="1200" dirty="0"/>
          </a:p>
        </p:txBody>
      </p:sp>
      <p:sp>
        <p:nvSpPr>
          <p:cNvPr id="16" name="Text 14"/>
          <p:cNvSpPr/>
          <p:nvPr/>
        </p:nvSpPr>
        <p:spPr>
          <a:xfrm>
            <a:off x="548640" y="4581144"/>
            <a:ext cx="5212080" cy="310896"/>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(The ecosystem, the other species — controlled)</a:t>
            </a:r>
            <a:endParaRPr lang="en-US" sz="1100" dirty="0"/>
          </a:p>
        </p:txBody>
      </p:sp>
      <p:sp>
        <p:nvSpPr>
          <p:cNvPr id="17" name="Text 15"/>
          <p:cNvSpPr/>
          <p:nvPr/>
        </p:nvSpPr>
        <p:spPr>
          <a:xfrm>
            <a:off x="548640" y="4928616"/>
            <a:ext cx="5212080" cy="310896"/>
          </a:xfrm>
          <a:prstGeom prst="rect">
            <a:avLst/>
          </a:prstGeom>
          <a:noFill/>
          <a:ln/>
        </p:spPr>
        <p:txBody>
          <a:bodyPr wrap="square" rtlCol="0" anchor="ctr"/>
          <a:lstStyle/>
          <a:p>
            <a:pPr indent="0" marL="0">
              <a:buNone/>
            </a:pPr>
            <a:endParaRPr lang="en-US" sz="1100" dirty="0"/>
          </a:p>
        </p:txBody>
      </p:sp>
      <p:sp>
        <p:nvSpPr>
          <p:cNvPr id="18" name="Text 16"/>
          <p:cNvSpPr/>
          <p:nvPr/>
        </p:nvSpPr>
        <p:spPr>
          <a:xfrm>
            <a:off x="548640" y="5276088"/>
            <a:ext cx="521208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Is removing one species a FAIR TEST?</a:t>
            </a:r>
            <a:endParaRPr lang="en-US" sz="1200" dirty="0"/>
          </a:p>
        </p:txBody>
      </p:sp>
      <p:sp>
        <p:nvSpPr>
          <p:cNvPr id="19" name="Text 17"/>
          <p:cNvSpPr/>
          <p:nvPr/>
        </p:nvSpPr>
        <p:spPr>
          <a:xfrm>
            <a:off x="548640" y="5623560"/>
            <a:ext cx="5212080" cy="310896"/>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(How many ecosystems would you need to study?)</a:t>
            </a:r>
            <a:endParaRPr lang="en-US" sz="1100" dirty="0"/>
          </a:p>
        </p:txBody>
      </p:sp>
      <p:sp>
        <p:nvSpPr>
          <p:cNvPr id="20" name="Shape 18"/>
          <p:cNvSpPr/>
          <p:nvPr/>
        </p:nvSpPr>
        <p:spPr>
          <a:xfrm>
            <a:off x="5943600" y="1664208"/>
            <a:ext cx="5943600" cy="4005072"/>
          </a:xfrm>
          <a:prstGeom prst="roundRect">
            <a:avLst>
              <a:gd name="adj" fmla="val 1826"/>
            </a:avLst>
          </a:prstGeom>
          <a:solidFill>
            <a:srgbClr val="1E2F45"/>
          </a:solidFill>
          <a:ln w="12700">
            <a:solidFill>
              <a:srgbClr val="2DC653"/>
            </a:solidFill>
            <a:prstDash val="solid"/>
          </a:ln>
        </p:spPr>
      </p:sp>
      <p:sp>
        <p:nvSpPr>
          <p:cNvPr id="21" name="Text 19"/>
          <p:cNvSpPr/>
          <p:nvPr/>
        </p:nvSpPr>
        <p:spPr>
          <a:xfrm>
            <a:off x="6108192" y="1737360"/>
            <a:ext cx="5614416"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Your Turn — Scientific Argumentation</a:t>
            </a:r>
            <a:endParaRPr lang="en-US" sz="1300" dirty="0"/>
          </a:p>
        </p:txBody>
      </p:sp>
      <p:sp>
        <p:nvSpPr>
          <p:cNvPr id="22" name="Text 20"/>
          <p:cNvSpPr/>
          <p:nvPr/>
        </p:nvSpPr>
        <p:spPr>
          <a:xfrm>
            <a:off x="6108192" y="2103120"/>
            <a:ext cx="5614416" cy="3456432"/>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After mapping your web in the explore activity: Which species in your web has the MOST connections? If it disappeared, which connection types would break first? Use evidence from your map to argue.</a:t>
            </a:r>
            <a:endParaRPr lang="en-US" sz="135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10.01  ·  Web of Life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2026-07-13T20:35:19Z</dcterms:created>
  <dcterms:modified xsi:type="dcterms:W3CDTF">2026-07-13T20:35:19Z</dcterms:modified>
</cp:coreProperties>
</file>