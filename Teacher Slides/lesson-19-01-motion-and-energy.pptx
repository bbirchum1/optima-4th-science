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Core concept: faster = more kinetic energy. Warm-up: finger tap. Build toward investigation in 19-02.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ALL students do the finger tap. The louder tap = more energy transferred to the desk. This is the phenomenon we'll explain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why do we need to control variables? What would happen to our data if we used different marbles each time?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Yes — a much heavier object moving slowly can have the same KE as a lighter object moving fast. Mass also affects kinetic energy! Don't tell them yet — let the investigation reveal this.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Preview: Next class students will roll marbles at different speeds and measure the effect.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85800"/>
            <a:ext cx="8503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and Energy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548640" y="2084832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are speed and energy connected?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487168"/>
            <a:ext cx="4937760" cy="475488"/>
          </a:xfrm>
          <a:prstGeom prst="roundRect">
            <a:avLst>
              <a:gd name="adj" fmla="val 15385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487168"/>
            <a:ext cx="4754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4-PS3-1 — Use evidence to construct an explanation of the relationship between speed and kinetic energy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9235440" y="411480"/>
            <a:ext cx="2651760" cy="2651760"/>
          </a:xfrm>
          <a:prstGeom prst="ellipse">
            <a:avLst/>
          </a:prstGeom>
          <a:solidFill>
            <a:srgbClr val="162233"/>
          </a:solidFill>
          <a:ln w="25400">
            <a:solidFill>
              <a:srgbClr val="4CC9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0" y="100584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0" dirty="0">
                <a:solidFill>
                  <a:srgbClr val="000000"/>
                </a:solidFill>
              </a:rPr>
              <a:t>🔬</a:t>
            </a:r>
            <a:endParaRPr lang="en-US" sz="6800" dirty="0"/>
          </a:p>
        </p:txBody>
      </p:sp>
      <p:sp>
        <p:nvSpPr>
          <p:cNvPr id="9" name="Shape 7"/>
          <p:cNvSpPr/>
          <p:nvPr/>
        </p:nvSpPr>
        <p:spPr>
          <a:xfrm>
            <a:off x="548640" y="3127248"/>
            <a:ext cx="7406640" cy="1645920"/>
          </a:xfrm>
          <a:prstGeom prst="roundRect">
            <a:avLst>
              <a:gd name="adj" fmla="val 4444"/>
            </a:avLst>
          </a:prstGeom>
          <a:solidFill>
            <a:srgbClr val="1E2F45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182112"/>
            <a:ext cx="7132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Learning Goals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3529584"/>
            <a:ext cx="7040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explain that moving objects have kinetic energy.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3867912"/>
            <a:ext cx="7040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predict how changing an object's speed affects its energy.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4206240"/>
            <a:ext cx="7040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write a claim + evidence about the relationship between speed and energy.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956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need: Science notebook   pencil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6" name="Text 14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19-01  ·  Motion and Energy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Phenomenon: The Finger Tap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30000" cy="960120"/>
          </a:xfrm>
          <a:prstGeom prst="roundRect">
            <a:avLst>
              <a:gd name="adj" fmla="val 7619"/>
            </a:avLst>
          </a:prstGeom>
          <a:solidFill>
            <a:srgbClr val="1E2F45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768096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Gently tap your finger on your desk. Now tap harder and faster. What do you notice?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5394960" cy="3840480"/>
          </a:xfrm>
          <a:prstGeom prst="roundRect">
            <a:avLst>
              <a:gd name="adj" fmla="val 1905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901952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notebook: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286000"/>
            <a:ext cx="5029200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What happens to the SOUND when you tap harder?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What happens to the FEELING in your finger?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Evidence-based prediction: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predict that faster motion has ___ energy because ___"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0" y="1828800"/>
            <a:ext cx="5852160" cy="3840480"/>
          </a:xfrm>
          <a:prstGeom prst="roundRect">
            <a:avLst>
              <a:gd name="adj" fmla="val 1905"/>
            </a:avLst>
          </a:prstGeom>
          <a:solidFill>
            <a:srgbClr val="0A1520"/>
          </a:solidFill>
          <a:ln w="19050">
            <a:solidFill>
              <a:srgbClr val="4CC9F0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6035040" y="1938528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035040" y="2377440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053328" y="2670048"/>
            <a:ext cx="5632704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Suggested search: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"kinetic energy motion speed comparison slow fast ball moving"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0" y="5705856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vs. fast moving objects — kinetic energy comparison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6" name="Text 14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19-01  ·  Motion and Energy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Question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11247120" cy="1371600"/>
          </a:xfrm>
          <a:prstGeom prst="roundRect">
            <a:avLst>
              <a:gd name="adj" fmla="val 5333"/>
            </a:avLst>
          </a:prstGeom>
          <a:solidFill>
            <a:srgbClr val="162233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804672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an object's speed affect the amount of kinetic energy it has?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11247120" cy="1143000"/>
          </a:xfrm>
          <a:prstGeom prst="roundRect">
            <a:avLst>
              <a:gd name="adj" fmla="val 6400"/>
            </a:avLst>
          </a:prstGeom>
          <a:solidFill>
            <a:srgbClr val="1E2F45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48716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Prediction: "I predict that when speed increases, energy ___ because ___"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0" name="Text 8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19-01  ·  Motion and Energy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Vocabulary: Motion and Energy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3657600" cy="1325880"/>
          </a:xfrm>
          <a:prstGeom prst="roundRect">
            <a:avLst>
              <a:gd name="adj" fmla="val 6897"/>
            </a:avLst>
          </a:prstGeom>
          <a:solidFill>
            <a:srgbClr val="1E2F45"/>
          </a:solidFill>
          <a:ln w="25400">
            <a:solidFill>
              <a:srgbClr val="4CC9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749808"/>
            <a:ext cx="3657600" cy="347472"/>
          </a:xfrm>
          <a:prstGeom prst="roundRect">
            <a:avLst>
              <a:gd name="adj" fmla="val 21053"/>
            </a:avLst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77724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" y="1152144"/>
            <a:ext cx="343814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ability to cause change or do work. Moving objects have energy because of their motion.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069080" y="749808"/>
            <a:ext cx="3657600" cy="1325880"/>
          </a:xfrm>
          <a:prstGeom prst="roundRect">
            <a:avLst>
              <a:gd name="adj" fmla="val 6897"/>
            </a:avLst>
          </a:prstGeom>
          <a:solidFill>
            <a:srgbClr val="1E2F45"/>
          </a:solidFill>
          <a:ln w="25400">
            <a:solidFill>
              <a:srgbClr val="F4736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69080" y="749808"/>
            <a:ext cx="3657600" cy="347472"/>
          </a:xfrm>
          <a:prstGeom prst="roundRect">
            <a:avLst>
              <a:gd name="adj" fmla="val 21053"/>
            </a:avLst>
          </a:prstGeom>
          <a:solidFill>
            <a:srgbClr val="F4736A"/>
          </a:solidFill>
          <a:ln w="12700">
            <a:solidFill>
              <a:srgbClr val="F473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60520" y="77724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78808" y="1152144"/>
            <a:ext cx="343814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change in position. All moving objects are in motion.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863840" y="749808"/>
            <a:ext cx="3657600" cy="1325880"/>
          </a:xfrm>
          <a:prstGeom prst="roundRect">
            <a:avLst>
              <a:gd name="adj" fmla="val 6897"/>
            </a:avLst>
          </a:prstGeom>
          <a:solidFill>
            <a:srgbClr val="1E2F45"/>
          </a:solidFill>
          <a:ln w="25400">
            <a:solidFill>
              <a:srgbClr val="FFB70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63840" y="749808"/>
            <a:ext cx="3657600" cy="347472"/>
          </a:xfrm>
          <a:prstGeom prst="roundRect">
            <a:avLst>
              <a:gd name="adj" fmla="val 21053"/>
            </a:avLst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0" y="77724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973568" y="1152144"/>
            <a:ext cx="343814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fast an object moves — the distance it travels per unit of time.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2304288"/>
            <a:ext cx="3657600" cy="1325880"/>
          </a:xfrm>
          <a:prstGeom prst="roundRect">
            <a:avLst>
              <a:gd name="adj" fmla="val 6897"/>
            </a:avLst>
          </a:prstGeom>
          <a:solidFill>
            <a:srgbClr val="1E2F45"/>
          </a:solidFill>
          <a:ln w="25400">
            <a:solidFill>
              <a:srgbClr val="2DC65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304288"/>
            <a:ext cx="3657600" cy="347472"/>
          </a:xfrm>
          <a:prstGeom prst="roundRect">
            <a:avLst>
              <a:gd name="adj" fmla="val 21053"/>
            </a:avLst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33172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4048" y="2706624"/>
            <a:ext cx="343814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 or data that support or refute a scientific claim.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069080" y="2304288"/>
            <a:ext cx="3657600" cy="1325880"/>
          </a:xfrm>
          <a:prstGeom prst="roundRect">
            <a:avLst>
              <a:gd name="adj" fmla="val 6897"/>
            </a:avLst>
          </a:prstGeom>
          <a:solidFill>
            <a:srgbClr val="1E2F45"/>
          </a:solidFill>
          <a:ln w="25400">
            <a:solidFill>
              <a:srgbClr val="0096C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69080" y="2304288"/>
            <a:ext cx="3657600" cy="347472"/>
          </a:xfrm>
          <a:prstGeom prst="roundRect">
            <a:avLst>
              <a:gd name="adj" fmla="val 21053"/>
            </a:avLst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60520" y="233172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178808" y="2706624"/>
            <a:ext cx="343814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watch carefully and gather information using your senses or tools.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863840" y="2304288"/>
            <a:ext cx="3657600" cy="1325880"/>
          </a:xfrm>
          <a:prstGeom prst="roundRect">
            <a:avLst>
              <a:gd name="adj" fmla="val 6897"/>
            </a:avLst>
          </a:prstGeom>
          <a:solidFill>
            <a:srgbClr val="1E2F45"/>
          </a:solidFill>
          <a:ln w="25400">
            <a:solidFill>
              <a:srgbClr val="F4736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63840" y="2304288"/>
            <a:ext cx="3657600" cy="347472"/>
          </a:xfrm>
          <a:prstGeom prst="roundRect">
            <a:avLst>
              <a:gd name="adj" fmla="val 21053"/>
            </a:avLst>
          </a:prstGeom>
          <a:solidFill>
            <a:srgbClr val="F4736A"/>
          </a:solidFill>
          <a:ln w="12700">
            <a:solidFill>
              <a:srgbClr val="F4736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55280" y="233172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kinetic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973568" y="2706624"/>
            <a:ext cx="343814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 motion. Kinetic energy is the energy of a moving object.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0" name="Text 28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19-01  ·  Motion and Energy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Kinetic Energy?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11430000" cy="1115568"/>
          </a:xfrm>
          <a:prstGeom prst="roundRect">
            <a:avLst>
              <a:gd name="adj" fmla="val 6557"/>
            </a:avLst>
          </a:prstGeom>
          <a:solidFill>
            <a:srgbClr val="162233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04672"/>
            <a:ext cx="1115568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KINETIC ENERGY is the energy of motion. Any object that is moving has kinetic energy.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65760" y="2029968"/>
            <a:ext cx="5486400" cy="2103120"/>
          </a:xfrm>
          <a:prstGeom prst="roundRect">
            <a:avLst>
              <a:gd name="adj" fmla="val 3478"/>
            </a:avLst>
          </a:prstGeom>
          <a:solidFill>
            <a:srgbClr val="1E2F45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121408"/>
            <a:ext cx="914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⚾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371600" y="212140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Thrown baseball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71600" y="2624328"/>
            <a:ext cx="4297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pitch = more kinetic energy = harder impact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26480" y="2029968"/>
            <a:ext cx="5486400" cy="2103120"/>
          </a:xfrm>
          <a:prstGeom prst="roundRect">
            <a:avLst>
              <a:gd name="adj" fmla="val 3478"/>
            </a:avLst>
          </a:prstGeom>
          <a:solidFill>
            <a:srgbClr val="1E2F45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2121408"/>
            <a:ext cx="914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🚗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7132320" y="212140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car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132320" y="2624328"/>
            <a:ext cx="4297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Highway speed has far more KE than parking lot speed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4315968"/>
            <a:ext cx="5486400" cy="2103120"/>
          </a:xfrm>
          <a:prstGeom prst="roundRect">
            <a:avLst>
              <a:gd name="adj" fmla="val 3478"/>
            </a:avLst>
          </a:prstGeom>
          <a:solidFill>
            <a:srgbClr val="1E2F45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4407408"/>
            <a:ext cx="914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🌊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1371600" y="440740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71600" y="4910328"/>
            <a:ext cx="4297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Bigger waves move faster and carry more energy to shore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26480" y="4315968"/>
            <a:ext cx="5486400" cy="2103120"/>
          </a:xfrm>
          <a:prstGeom prst="roundRect">
            <a:avLst>
              <a:gd name="adj" fmla="val 3478"/>
            </a:avLst>
          </a:prstGeom>
          <a:solidFill>
            <a:srgbClr val="1E2F45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4407408"/>
            <a:ext cx="914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🍃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7132320" y="440740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Falling leaf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132320" y="4910328"/>
            <a:ext cx="4297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fall = little KE; gust of wind = much more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24" name="Text 22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19-01  ·  Motion and Energy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and Kinetic Energy: The Relationship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5943600" cy="4389120"/>
          </a:xfrm>
          <a:prstGeom prst="roundRect">
            <a:avLst>
              <a:gd name="adj" fmla="val 1667"/>
            </a:avLst>
          </a:prstGeom>
          <a:solidFill>
            <a:srgbClr val="0A1520"/>
          </a:solidFill>
          <a:ln w="19050">
            <a:solidFill>
              <a:srgbClr val="4CC9F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859536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5760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" y="1591056"/>
            <a:ext cx="5724144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Suggested search: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"kinetic energy vs speed graph bar chart comparison slow medium fast"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5175504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Graph: as speed increases, kinetic energy increases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492240" y="749808"/>
            <a:ext cx="5303520" cy="4389120"/>
          </a:xfrm>
          <a:prstGeom prst="roundRect">
            <a:avLst>
              <a:gd name="adj" fmla="val 1667"/>
            </a:avLst>
          </a:prstGeom>
          <a:solidFill>
            <a:srgbClr val="1E2F45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0" y="82296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shows: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1234440"/>
            <a:ext cx="502920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speed DOUBLES, kinetic energy does NOT just double — it INCREASES MUCH MORE.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 going 60 mph has 4x more kinetic energy than a car going 30 mph.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speed limits exist — small increases in speed cause BIG increases in energy and impact force.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5321808"/>
            <a:ext cx="11430000" cy="658368"/>
          </a:xfrm>
          <a:prstGeom prst="roundRect">
            <a:avLst>
              <a:gd name="adj" fmla="val 11111"/>
            </a:avLst>
          </a:prstGeom>
          <a:solidFill>
            <a:srgbClr val="1A1A3A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5376672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Pattern: Faster motion = more kinetic energy. This relationship is what makes collisions dangerous at high speed.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6" name="Text 14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19-01  ·  Motion and Energy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Evidence: Speed and Energy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5303520" cy="5303520"/>
          </a:xfrm>
          <a:prstGeom prst="roundRect">
            <a:avLst>
              <a:gd name="adj" fmla="val 1379"/>
            </a:avLst>
          </a:prstGeom>
          <a:solidFill>
            <a:srgbClr val="0A1520"/>
          </a:solidFill>
          <a:ln w="19050">
            <a:solidFill>
              <a:srgbClr val="4CC9F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859536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" y="1591056"/>
            <a:ext cx="5084064" cy="425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Suggested search: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"car crash slow speed vs high speed damage comparison safety test"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6089904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 test comparison: low speed vs. high speed damage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852160" y="749808"/>
            <a:ext cx="5943600" cy="5303520"/>
          </a:xfrm>
          <a:prstGeom prst="roundRect">
            <a:avLst>
              <a:gd name="adj" fmla="val 1379"/>
            </a:avLst>
          </a:prstGeom>
          <a:solidFill>
            <a:srgbClr val="1E2F45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822960"/>
            <a:ext cx="5669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the Evidence: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035040" y="1234440"/>
            <a:ext cx="5669280" cy="466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the crash test images. In your notebook: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What do you observe about the damage at different speeds?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How does this provide evidence for the speed-energy relationship?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Write: "This image shows evidence that ___ because ___"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How does this connect to our finger-tap warm-up?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4" name="Text 12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19-01  ·  Motion and Energy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Up an Investigation: Variables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11430000" cy="804672"/>
          </a:xfrm>
          <a:prstGeom prst="roundRect">
            <a:avLst>
              <a:gd name="adj" fmla="val 9091"/>
            </a:avLst>
          </a:prstGeom>
          <a:solidFill>
            <a:srgbClr val="162233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04672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 we will INVESTIGATE the speed-energy relationship. First, let's identify variables.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719072"/>
            <a:ext cx="3749040" cy="4114800"/>
          </a:xfrm>
          <a:prstGeom prst="roundRect">
            <a:avLst>
              <a:gd name="adj" fmla="val 1951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792224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487168"/>
            <a:ext cx="35661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CHANGE on purpose in the test.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We will change the SPEED of a marble.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7680" y="1719072"/>
            <a:ext cx="3749040" cy="4114800"/>
          </a:xfrm>
          <a:prstGeom prst="roundRect">
            <a:avLst>
              <a:gd name="adj" fmla="val 1951"/>
            </a:avLst>
          </a:prstGeom>
          <a:solidFill>
            <a:srgbClr val="1E2F45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0" y="1792224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434840" y="2487168"/>
            <a:ext cx="35661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MEASURE — what changes because of our manipulation.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We measure how far the marble moves another object.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0" y="1719072"/>
            <a:ext cx="3749040" cy="4114800"/>
          </a:xfrm>
          <a:prstGeom prst="roundRect">
            <a:avLst>
              <a:gd name="adj" fmla="val 1951"/>
            </a:avLst>
          </a:prstGeom>
          <a:solidFill>
            <a:srgbClr val="1E2F45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1792224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66760" y="2487168"/>
            <a:ext cx="35661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KEEP THE SAME so the test is FAIR.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Same marble, same surface, same target object.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7" name="Text 15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19-01  ·  Motion and Energy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Discussion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11430000" cy="2011680"/>
          </a:xfrm>
          <a:prstGeom prst="roundRect">
            <a:avLst>
              <a:gd name="adj" fmla="val 3636"/>
            </a:avLst>
          </a:prstGeom>
          <a:solidFill>
            <a:srgbClr val="16223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822960"/>
            <a:ext cx="111008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Question: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0352" y="1188720"/>
            <a:ext cx="11100816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slow-moving bowling ball and a fast-moving tennis ball have the same amount of kinetic energy. Is this possible? What would have to be true? Justify your thinking with evidence.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907792"/>
            <a:ext cx="11430000" cy="1280160"/>
          </a:xfrm>
          <a:prstGeom prst="roundRect">
            <a:avLst>
              <a:gd name="adj" fmla="val 5714"/>
            </a:avLst>
          </a:prstGeom>
          <a:solidFill>
            <a:srgbClr val="1E2F45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971800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Argumentation Starters: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337560"/>
            <a:ext cx="11155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think this is possible/impossible because ___."  "The evidence from the speed-energy graph shows ___."  "I want to add to what ___ said — ___."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2" name="Text 10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19-01  ·  Motion and Energy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 Stage 2: Claim + Evidence — Speed and Energy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5394960" cy="5349240"/>
          </a:xfrm>
          <a:prstGeom prst="roundRect">
            <a:avLst>
              <a:gd name="adj" fmla="val 1709"/>
            </a:avLst>
          </a:prstGeom>
          <a:solidFill>
            <a:srgbClr val="0A3D8F"/>
          </a:solidFill>
          <a:ln w="19050">
            <a:solidFill>
              <a:srgbClr val="1A5FB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749808"/>
            <a:ext cx="5394960" cy="347472"/>
          </a:xfrm>
          <a:prstGeom prst="rect">
            <a:avLst/>
          </a:prstGeom>
          <a:solidFill>
            <a:srgbClr val="1A5FBD"/>
          </a:solidFill>
          <a:ln w="12700">
            <a:solidFill>
              <a:srgbClr val="1A5FB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768096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CLAIM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152144"/>
            <a:ext cx="5120640" cy="4855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Write: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claim that as speed increases, kinetic energy ___."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claim must directly answer the essential question using a pattern.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943600" y="749808"/>
            <a:ext cx="5852160" cy="5349240"/>
          </a:xfrm>
          <a:prstGeom prst="roundRect">
            <a:avLst>
              <a:gd name="adj" fmla="val 1709"/>
            </a:avLst>
          </a:prstGeom>
          <a:solidFill>
            <a:srgbClr val="145C35"/>
          </a:solidFill>
          <a:ln w="19050">
            <a:solidFill>
              <a:srgbClr val="228B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0" y="749808"/>
            <a:ext cx="5852160" cy="347472"/>
          </a:xfrm>
          <a:prstGeom prst="rect">
            <a:avLst/>
          </a:prstGeom>
          <a:solidFill>
            <a:srgbClr val="228B50"/>
          </a:solidFill>
          <a:ln w="12700">
            <a:solidFill>
              <a:srgbClr val="228B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768096"/>
            <a:ext cx="5669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EVIDENCE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80760" y="1152144"/>
            <a:ext cx="5577840" cy="4855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2 pieces of evidence: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"The crash test data shows that at higher speed, ___"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"The speed-energy graph shows that when speed doubles, ___"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vague statements like 'it has more energy' — be specific.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4" name="Text 12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19-01  ·  Motion and Energy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CER: Adding Reasoning Next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3566160" cy="5349240"/>
          </a:xfrm>
          <a:prstGeom prst="roundRect">
            <a:avLst>
              <a:gd name="adj" fmla="val 2564"/>
            </a:avLst>
          </a:prstGeom>
          <a:solidFill>
            <a:srgbClr val="0A3D8F"/>
          </a:solidFill>
          <a:ln w="19050">
            <a:solidFill>
              <a:srgbClr val="1A5FB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749808"/>
            <a:ext cx="3566160" cy="347472"/>
          </a:xfrm>
          <a:prstGeom prst="rect">
            <a:avLst/>
          </a:prstGeom>
          <a:solidFill>
            <a:srgbClr val="1A5FBD"/>
          </a:solidFill>
          <a:ln w="12700">
            <a:solidFill>
              <a:srgbClr val="1A5FB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768096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CLAIM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152144"/>
            <a:ext cx="3291840" cy="4855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speed increases, kinetic energy ___.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14800" y="749808"/>
            <a:ext cx="3566160" cy="5349240"/>
          </a:xfrm>
          <a:prstGeom prst="roundRect">
            <a:avLst>
              <a:gd name="adj" fmla="val 2564"/>
            </a:avLst>
          </a:prstGeom>
          <a:solidFill>
            <a:srgbClr val="145C35"/>
          </a:solidFill>
          <a:ln w="19050">
            <a:solidFill>
              <a:srgbClr val="228B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0" y="749808"/>
            <a:ext cx="3566160" cy="347472"/>
          </a:xfrm>
          <a:prstGeom prst="rect">
            <a:avLst/>
          </a:prstGeom>
          <a:solidFill>
            <a:srgbClr val="228B50"/>
          </a:solidFill>
          <a:ln w="12700">
            <a:solidFill>
              <a:srgbClr val="228B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0" y="768096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EVIDENCE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51960" y="1152144"/>
            <a:ext cx="3291840" cy="4855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 test data shows...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Speed-energy graph shows...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863840" y="749808"/>
            <a:ext cx="3749040" cy="5349240"/>
          </a:xfrm>
          <a:prstGeom prst="roundRect">
            <a:avLst>
              <a:gd name="adj" fmla="val 2439"/>
            </a:avLst>
          </a:prstGeom>
          <a:solidFill>
            <a:srgbClr val="1A1A2A"/>
          </a:solidFill>
          <a:ln w="19050">
            <a:solidFill>
              <a:srgbClr val="3A3A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0" y="841248"/>
            <a:ext cx="3566160" cy="5166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3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REASONING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3A3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next!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6" name="Text 14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19-01  ·  Motion and Energy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for Understanding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11430000" cy="2697480"/>
          </a:xfrm>
          <a:prstGeom prst="roundRect">
            <a:avLst>
              <a:gd name="adj" fmla="val 2712"/>
            </a:avLst>
          </a:prstGeom>
          <a:solidFill>
            <a:srgbClr val="1E2F45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2296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 ball rolls slowly. You make it roll twice as fast. What happens to its kinetic energy?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It stays the same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400800" y="1371600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It doubles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31520" y="1847088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It increases by more than double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00800" y="1847088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It decreases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601200" y="30175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C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3630168"/>
            <a:ext cx="11430000" cy="2697480"/>
          </a:xfrm>
          <a:prstGeom prst="roundRect">
            <a:avLst>
              <a:gd name="adj" fmla="val 2712"/>
            </a:avLst>
          </a:prstGeom>
          <a:solidFill>
            <a:srgbClr val="1E2F45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0332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Which is an example of kinetic energy?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31520" y="4251960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A rock sitting on a shelf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00800" y="4251960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A stretched rubber band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31520" y="4727448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A rolling marble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00800" y="4727448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A sleeping cat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601200" y="58978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C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20" name="Text 18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19-01  ·  Motion and Energy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 Reflect + Closing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11247120" cy="1417320"/>
          </a:xfrm>
          <a:prstGeom prst="roundRect">
            <a:avLst>
              <a:gd name="adj" fmla="val 5161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04672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Essential Question Response — Write in your science notebook: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170432"/>
            <a:ext cx="1097280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does an object's speed affect the amount of kinetic energy it has?"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2–3 sentences using vocab words from today.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304288"/>
            <a:ext cx="7315200" cy="2560320"/>
          </a:xfrm>
          <a:prstGeom prst="roundRect">
            <a:avLst>
              <a:gd name="adj" fmla="val 2857"/>
            </a:avLst>
          </a:prstGeom>
          <a:solidFill>
            <a:srgbClr val="1E2F45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359152"/>
            <a:ext cx="7040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What to Turn In: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743200"/>
            <a:ext cx="7040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Warm-up finger-tap observations + prediction (notebook)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090672"/>
            <a:ext cx="7040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Variables chart for the upcoming investigation (notebook)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438144"/>
            <a:ext cx="7040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CER Stage 2: Claim + Evidence for speed-energy relationship (notebook)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863840" y="2304288"/>
            <a:ext cx="3931920" cy="2560320"/>
          </a:xfrm>
          <a:prstGeom prst="roundRect">
            <a:avLst>
              <a:gd name="adj" fmla="val 2857"/>
            </a:avLst>
          </a:prstGeom>
          <a:solidFill>
            <a:srgbClr val="1A1A3A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01000" y="235915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🔜  Coming Next: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01000" y="274320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19-02: Investigation — Does a Faster Object Have More Energy?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5047488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5120640"/>
            <a:ext cx="11247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work today, scientists! See you next time.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9" name="Text 17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19-01  ·  Motion and Energy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2026-07-14T00:31:42Z</dcterms:created>
  <dcterms:modified xsi:type="dcterms:W3CDTF">2026-07-14T00:31:42Z</dcterms:modified>
</cp:coreProperties>
</file>