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This lesson connects to last lesson's maps — today we go DEEPER into Earth itself. Ask: Have you ever seen a canyon, cliff, or road cut through a hillside? Did you notice any layers in the 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5-min warm-up. Let students sketch freely. After sketching, share a few. Ask: 'What colors or patterns did you put in your layers? Why?' Keep sketches for end-of-lesson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question of the lesson! Collect 3-4 predictions verbally. Facilitation:
• 'What evidence made you think that?'
• 'Does anyone have a different prediction?'
• 'What would change your mind?'
Target: that land was once covered by an ocean!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image: 'Each colored band is a rock layer — a different period in Earth's history.' Ask: 'What do you think happens when sediment builds up over millions of years?' Target: it becomes a rock layer in the landscape.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Connection answer: Canyon walls expose rock layers → fossils show what lived there → abiotic factors (water, temperature) must have changed completely from ancient ocean to dry desert. Facilitation: 'What evidence supports that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prediction from slide 3. Ask: 'Why would scientists need to look at MULTIPLE rock layers? Why wouldn't just one layer be enough?' Target: each layer = different time period; you need multiple to see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fern layer = once a forest; fish layer on top = later covered by water. Landscape CHANGED completely. Ask: 'What evidence supports that interpretation?' 'What would you expect the abiotic factors to be in each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4 steps: 'In what ways is the key-on-wood comparison a GOOD analogy? In what ways is it different from what water actually does to rock?' Target: good = shows tiny repeated forces create big results; different = water also carries sediment particles that scrape.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predictions after revealing. Ask: 'The Grand Canyon has sea fossils in a desert. What does that tell us about how the landscape changed? Use the evidence frame: I know ___ because ___. This shows ___.'</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moves:
• 'What specific evidence from the lesson supports that?'
• 'Does anyone have different evidence?'
• 'What would change your mind about needing multiple layers?'
Target: each layer = different time period; change requires COMPARISON between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Ancient ocean = lots of water, salt, moderate temp. Forest = freshwater, warm, rich soil, sunlight. Desert now = very little water, extreme temps, rocky soil. Facilitation: 'What evidence from the rock layers supports each of those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'If the Himalayas were once an ocean floor, what kind of fossils would you expect to find there? And if you FOUND those fossils, what would they prove?' Connect: the fossils ARE the evidence that the landscape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graded. Fingers 1, 2, or 3. After Q1: check against the prediction from slide 3! Celebrate correct scientific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part. CER response should connect to slides 10-11. Every claim needs specific evidence from the lesson. Compare warm-up sketches from slide 2 to finished diagrams.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returning to warm-up sketches. Ask: 'How is your rock layer diagram different from your first sketch?' Preview: 'Next time we follow a single rock on a journey from solid stone to faraway sediment!'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CC9F0"/>
          </a:solidFill>
          <a:ln/>
        </p:spPr>
      </p:sp>
      <p:sp>
        <p:nvSpPr>
          <p:cNvPr id="3" name="Text 1"/>
          <p:cNvSpPr/>
          <p:nvPr/>
        </p:nvSpPr>
        <p:spPr>
          <a:xfrm>
            <a:off x="548640" y="685800"/>
            <a:ext cx="8503920" cy="1463040"/>
          </a:xfrm>
          <a:prstGeom prst="rect">
            <a:avLst/>
          </a:prstGeom>
          <a:noFill/>
          <a:ln/>
        </p:spPr>
        <p:txBody>
          <a:bodyPr wrap="square"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Landscapes Over Time</a:t>
            </a:r>
            <a:endParaRPr lang="en-US" sz="4600" dirty="0"/>
          </a:p>
        </p:txBody>
      </p:sp>
      <p:sp>
        <p:nvSpPr>
          <p:cNvPr id="4" name="Text 2"/>
          <p:cNvSpPr/>
          <p:nvPr/>
        </p:nvSpPr>
        <p:spPr>
          <a:xfrm>
            <a:off x="548640" y="2084832"/>
            <a:ext cx="8503920" cy="347472"/>
          </a:xfrm>
          <a:prstGeom prst="rect">
            <a:avLst/>
          </a:prstGeom>
          <a:noFill/>
          <a:ln/>
        </p:spPr>
        <p:txBody>
          <a:bodyPr wrap="square" rtlCol="0" anchor="ctr"/>
          <a:lstStyle/>
          <a:p>
            <a:pPr algn="l" indent="0" marL="0">
              <a:buNone/>
            </a:pPr>
            <a:r>
              <a:rPr lang="en-US" sz="1300" dirty="0">
                <a:solidFill>
                  <a:srgbClr val="4CC9F0"/>
                </a:solidFill>
                <a:latin typeface="Calibri" pitchFamily="34" charset="0"/>
                <a:ea typeface="Calibri" pitchFamily="34" charset="-122"/>
                <a:cs typeface="Calibri" pitchFamily="34" charset="-120"/>
              </a:rPr>
              <a:t>Rock Layers · Fossils · Canyons · Earth's History</a:t>
            </a:r>
            <a:endParaRPr lang="en-US" sz="1300" dirty="0"/>
          </a:p>
        </p:txBody>
      </p:sp>
      <p:sp>
        <p:nvSpPr>
          <p:cNvPr id="5" name="Shape 3"/>
          <p:cNvSpPr/>
          <p:nvPr/>
        </p:nvSpPr>
        <p:spPr>
          <a:xfrm>
            <a:off x="548640" y="2487168"/>
            <a:ext cx="4937760" cy="475488"/>
          </a:xfrm>
          <a:prstGeom prst="roundRect">
            <a:avLst>
              <a:gd name="adj" fmla="val 15385"/>
            </a:avLst>
          </a:prstGeom>
          <a:solidFill>
            <a:srgbClr val="1E2F45"/>
          </a:solidFill>
          <a:ln w="12700">
            <a:solidFill>
              <a:srgbClr val="4CC9F0"/>
            </a:solidFill>
            <a:prstDash val="solid"/>
          </a:ln>
        </p:spPr>
      </p:sp>
      <p:sp>
        <p:nvSpPr>
          <p:cNvPr id="6" name="Text 4"/>
          <p:cNvSpPr/>
          <p:nvPr/>
        </p:nvSpPr>
        <p:spPr>
          <a:xfrm>
            <a:off x="685800" y="2487168"/>
            <a:ext cx="4754880" cy="475488"/>
          </a:xfrm>
          <a:prstGeom prst="rect">
            <a:avLst/>
          </a:prstGeom>
          <a:noFill/>
          <a:ln/>
        </p:spPr>
        <p:txBody>
          <a:bodyPr wrap="square" rtlCol="0" anchor="ctr"/>
          <a:lstStyle/>
          <a:p>
            <a:pPr algn="l" indent="0" marL="0">
              <a:buNone/>
            </a:pPr>
            <a:r>
              <a:rPr lang="en-US" sz="1150" dirty="0">
                <a:solidFill>
                  <a:srgbClr val="B0C4D8"/>
                </a:solidFill>
                <a:latin typeface="Calibri" pitchFamily="34" charset="0"/>
                <a:ea typeface="Calibri" pitchFamily="34" charset="-122"/>
                <a:cs typeface="Calibri" pitchFamily="34" charset="-120"/>
              </a:rPr>
              <a:t>📋  NGSS 4-ESS1-1 — Changes in a Landscape Over Time</a:t>
            </a:r>
            <a:endParaRPr lang="en-US" sz="1150" dirty="0"/>
          </a:p>
        </p:txBody>
      </p:sp>
      <p:sp>
        <p:nvSpPr>
          <p:cNvPr id="7" name="Shape 5"/>
          <p:cNvSpPr/>
          <p:nvPr/>
        </p:nvSpPr>
        <p:spPr>
          <a:xfrm>
            <a:off x="9235440" y="411480"/>
            <a:ext cx="2651760" cy="2651760"/>
          </a:xfrm>
          <a:prstGeom prst="ellipse">
            <a:avLst/>
          </a:prstGeom>
          <a:solidFill>
            <a:srgbClr val="162233"/>
          </a:solidFill>
          <a:ln w="25400">
            <a:solidFill>
              <a:srgbClr val="4CC9F0"/>
            </a:solidFill>
            <a:prstDash val="solid"/>
          </a:ln>
        </p:spPr>
      </p:sp>
      <p:sp>
        <p:nvSpPr>
          <p:cNvPr id="8" name="Text 6"/>
          <p:cNvSpPr/>
          <p:nvPr/>
        </p:nvSpPr>
        <p:spPr>
          <a:xfrm>
            <a:off x="9326880" y="1005840"/>
            <a:ext cx="2468880" cy="1463040"/>
          </a:xfrm>
          <a:prstGeom prst="rect">
            <a:avLst/>
          </a:prstGeom>
          <a:noFill/>
          <a:ln/>
        </p:spPr>
        <p:txBody>
          <a:bodyPr wrap="square" rtlCol="0" anchor="ctr"/>
          <a:lstStyle/>
          <a:p>
            <a:pPr algn="ctr" indent="0" marL="0">
              <a:buNone/>
            </a:pPr>
            <a:r>
              <a:rPr lang="en-US" sz="6800" dirty="0">
                <a:solidFill>
                  <a:srgbClr val="000000"/>
                </a:solidFill>
              </a:rPr>
              <a:t>🔬</a:t>
            </a:r>
            <a:endParaRPr lang="en-US" sz="6800" dirty="0"/>
          </a:p>
        </p:txBody>
      </p:sp>
      <p:sp>
        <p:nvSpPr>
          <p:cNvPr id="9" name="Shape 7"/>
          <p:cNvSpPr/>
          <p:nvPr/>
        </p:nvSpPr>
        <p:spPr>
          <a:xfrm>
            <a:off x="548640" y="3127248"/>
            <a:ext cx="7406640" cy="1645920"/>
          </a:xfrm>
          <a:prstGeom prst="roundRect">
            <a:avLst>
              <a:gd name="adj" fmla="val 4444"/>
            </a:avLst>
          </a:prstGeom>
          <a:solidFill>
            <a:srgbClr val="1E2F45"/>
          </a:solidFill>
          <a:ln w="12700">
            <a:solidFill>
              <a:srgbClr val="243A52"/>
            </a:solidFill>
            <a:prstDash val="solid"/>
          </a:ln>
        </p:spPr>
      </p:sp>
      <p:sp>
        <p:nvSpPr>
          <p:cNvPr id="10" name="Text 8"/>
          <p:cNvSpPr/>
          <p:nvPr/>
        </p:nvSpPr>
        <p:spPr>
          <a:xfrm>
            <a:off x="685800" y="3182112"/>
            <a:ext cx="7132320" cy="310896"/>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Today's Learning Goals</a:t>
            </a:r>
            <a:endParaRPr lang="en-US" sz="1100" dirty="0"/>
          </a:p>
        </p:txBody>
      </p:sp>
      <p:sp>
        <p:nvSpPr>
          <p:cNvPr id="11" name="Text 9"/>
          <p:cNvSpPr/>
          <p:nvPr/>
        </p:nvSpPr>
        <p:spPr>
          <a:xfrm>
            <a:off x="777240" y="3529584"/>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explain how rock layers form and use patterns to describe how a landscape has changed over time.</a:t>
            </a:r>
            <a:endParaRPr lang="en-US" sz="1100" dirty="0"/>
          </a:p>
        </p:txBody>
      </p:sp>
      <p:sp>
        <p:nvSpPr>
          <p:cNvPr id="12" name="Text 10"/>
          <p:cNvSpPr/>
          <p:nvPr/>
        </p:nvSpPr>
        <p:spPr>
          <a:xfrm>
            <a:off x="777240" y="3867912"/>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describe how fossils found in rock layers are clues about past environments.</a:t>
            </a:r>
            <a:endParaRPr lang="en-US" sz="1100" dirty="0"/>
          </a:p>
        </p:txBody>
      </p:sp>
      <p:sp>
        <p:nvSpPr>
          <p:cNvPr id="13" name="Text 11"/>
          <p:cNvSpPr/>
          <p:nvPr/>
        </p:nvSpPr>
        <p:spPr>
          <a:xfrm>
            <a:off x="777240" y="4206240"/>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explain how rivers carve canyons and describe how abiotic factors affect what can live in a place.</a:t>
            </a:r>
            <a:endParaRPr lang="en-US" sz="1100" dirty="0"/>
          </a:p>
        </p:txBody>
      </p:sp>
      <p:sp>
        <p:nvSpPr>
          <p:cNvPr id="14" name="Text 12"/>
          <p:cNvSpPr/>
          <p:nvPr/>
        </p:nvSpPr>
        <p:spPr>
          <a:xfrm>
            <a:off x="548640" y="4956048"/>
            <a:ext cx="9144000" cy="29260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You'll need: 📓 Science Notebook   ✏️ Colored Pencils   📏 Ruler</a:t>
            </a:r>
            <a:endParaRPr lang="en-US" sz="11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5.01  ·  Landscapes Over Time</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ENGAGE — Notice &amp; Wonder</a:t>
            </a:r>
            <a:endParaRPr lang="en-US" sz="1600" dirty="0"/>
          </a:p>
        </p:txBody>
      </p:sp>
      <p:sp>
        <p:nvSpPr>
          <p:cNvPr id="5" name="Shape 3"/>
          <p:cNvSpPr/>
          <p:nvPr/>
        </p:nvSpPr>
        <p:spPr>
          <a:xfrm>
            <a:off x="365760" y="749808"/>
            <a:ext cx="5669280" cy="4389120"/>
          </a:xfrm>
          <a:prstGeom prst="roundRect">
            <a:avLst>
              <a:gd name="adj" fmla="val 1667"/>
            </a:avLst>
          </a:prstGeom>
          <a:solidFill>
            <a:srgbClr val="0A1520"/>
          </a:solidFill>
          <a:ln w="19050">
            <a:solidFill>
              <a:srgbClr val="4CC9F0"/>
            </a:solidFill>
            <a:prstDash val="dash"/>
          </a:ln>
        </p:spPr>
      </p:sp>
      <p:sp>
        <p:nvSpPr>
          <p:cNvPr id="6" name="Text 4"/>
          <p:cNvSpPr/>
          <p:nvPr/>
        </p:nvSpPr>
        <p:spPr>
          <a:xfrm>
            <a:off x="457200" y="859536"/>
            <a:ext cx="54864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98448"/>
            <a:ext cx="548640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91056"/>
            <a:ext cx="5449824" cy="333756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"Grand Canyon rock layers colorful strata walls aerial photograph"</a:t>
            </a:r>
            <a:endParaRPr lang="en-US" sz="950" dirty="0"/>
          </a:p>
        </p:txBody>
      </p:sp>
      <p:sp>
        <p:nvSpPr>
          <p:cNvPr id="9" name="Text 7"/>
          <p:cNvSpPr/>
          <p:nvPr/>
        </p:nvSpPr>
        <p:spPr>
          <a:xfrm>
            <a:off x="365760" y="5175504"/>
            <a:ext cx="566928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The Grand Canyon — over a mile deep, with layers spanning 2 billion years of history</a:t>
            </a:r>
            <a:endParaRPr lang="en-US" sz="900" dirty="0"/>
          </a:p>
        </p:txBody>
      </p:sp>
      <p:sp>
        <p:nvSpPr>
          <p:cNvPr id="10" name="Shape 8"/>
          <p:cNvSpPr/>
          <p:nvPr/>
        </p:nvSpPr>
        <p:spPr>
          <a:xfrm>
            <a:off x="6217920" y="749808"/>
            <a:ext cx="5577840" cy="347472"/>
          </a:xfrm>
          <a:prstGeom prst="roundRect">
            <a:avLst>
              <a:gd name="adj" fmla="val 23684"/>
            </a:avLst>
          </a:prstGeom>
          <a:solidFill>
            <a:srgbClr val="E09200"/>
          </a:solidFill>
          <a:ln w="19050">
            <a:solidFill>
              <a:srgbClr val="FFB703"/>
            </a:solidFill>
            <a:prstDash val="solid"/>
          </a:ln>
        </p:spPr>
      </p:sp>
      <p:sp>
        <p:nvSpPr>
          <p:cNvPr id="11" name="Text 9"/>
          <p:cNvSpPr/>
          <p:nvPr/>
        </p:nvSpPr>
        <p:spPr>
          <a:xfrm>
            <a:off x="6217920" y="749808"/>
            <a:ext cx="557784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Notice &amp; Wonder</a:t>
            </a:r>
            <a:endParaRPr lang="en-US" sz="1200" dirty="0"/>
          </a:p>
        </p:txBody>
      </p:sp>
      <p:sp>
        <p:nvSpPr>
          <p:cNvPr id="12" name="Shape 10"/>
          <p:cNvSpPr/>
          <p:nvPr/>
        </p:nvSpPr>
        <p:spPr>
          <a:xfrm>
            <a:off x="6217920" y="1188720"/>
            <a:ext cx="5577840" cy="1965960"/>
          </a:xfrm>
          <a:prstGeom prst="roundRect">
            <a:avLst>
              <a:gd name="adj" fmla="val 3721"/>
            </a:avLst>
          </a:prstGeom>
          <a:solidFill>
            <a:srgbClr val="1E2F45"/>
          </a:solidFill>
          <a:ln w="12700">
            <a:solidFill>
              <a:srgbClr val="FFB703"/>
            </a:solidFill>
            <a:prstDash val="solid"/>
          </a:ln>
        </p:spPr>
      </p:sp>
      <p:sp>
        <p:nvSpPr>
          <p:cNvPr id="13" name="Text 11"/>
          <p:cNvSpPr/>
          <p:nvPr/>
        </p:nvSpPr>
        <p:spPr>
          <a:xfrm>
            <a:off x="6400800" y="1261872"/>
            <a:ext cx="5212080" cy="169164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 your science notebook, draw a quick sketch of what you think the INSIDE of the ground looks like if you could slice it open like a sandwich. Label anything you can!</a:t>
            </a:r>
            <a:endParaRPr lang="en-US" sz="1200" dirty="0"/>
          </a:p>
        </p:txBody>
      </p:sp>
      <p:sp>
        <p:nvSpPr>
          <p:cNvPr id="14" name="Shape 12"/>
          <p:cNvSpPr/>
          <p:nvPr/>
        </p:nvSpPr>
        <p:spPr>
          <a:xfrm>
            <a:off x="6217920" y="3273552"/>
            <a:ext cx="5577840" cy="1874520"/>
          </a:xfrm>
          <a:prstGeom prst="roundRect">
            <a:avLst>
              <a:gd name="adj" fmla="val 3902"/>
            </a:avLst>
          </a:prstGeom>
          <a:solidFill>
            <a:srgbClr val="162233"/>
          </a:solidFill>
          <a:ln w="12700">
            <a:solidFill>
              <a:srgbClr val="4CC9F0"/>
            </a:solidFill>
            <a:prstDash val="solid"/>
          </a:ln>
        </p:spPr>
      </p:sp>
      <p:sp>
        <p:nvSpPr>
          <p:cNvPr id="15" name="Text 13"/>
          <p:cNvSpPr/>
          <p:nvPr/>
        </p:nvSpPr>
        <p:spPr>
          <a:xfrm>
            <a:off x="6400800" y="3346704"/>
            <a:ext cx="5212080" cy="320040"/>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  Fast Fact:</a:t>
            </a:r>
            <a:endParaRPr lang="en-US" sz="1100" dirty="0"/>
          </a:p>
        </p:txBody>
      </p:sp>
      <p:sp>
        <p:nvSpPr>
          <p:cNvPr id="16" name="Text 14"/>
          <p:cNvSpPr/>
          <p:nvPr/>
        </p:nvSpPr>
        <p:spPr>
          <a:xfrm>
            <a:off x="6400800" y="3703320"/>
            <a:ext cx="5212080" cy="1261872"/>
          </a:xfrm>
          <a:prstGeom prst="rect">
            <a:avLst/>
          </a:prstGeom>
          <a:noFill/>
          <a:ln/>
        </p:spPr>
        <p:txBody>
          <a:bodyPr wrap="square" rtlCol="0" anchor="ctr"/>
          <a:lstStyle/>
          <a:p>
            <a:pPr indent="0" marL="0">
              <a:buNone/>
            </a:pPr>
            <a:r>
              <a:rPr lang="en-US" sz="1150" i="1" dirty="0">
                <a:solidFill>
                  <a:srgbClr val="B0C4D8"/>
                </a:solidFill>
                <a:latin typeface="Calibri" pitchFamily="34" charset="0"/>
                <a:ea typeface="Calibri" pitchFamily="34" charset="-122"/>
                <a:cs typeface="Calibri" pitchFamily="34" charset="-120"/>
              </a:rPr>
              <a:t>The Grand Canyon is more than 1 mile deep! The rocks at the very bottom are nearly 2 BILLION years old — almost half the age of Earth itself!</a:t>
            </a:r>
            <a:endParaRPr lang="en-US" sz="115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5.01  ·  Landscapes Over Time</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ENGAGE — Make a Prediction</a:t>
            </a:r>
            <a:endParaRPr lang="en-US" sz="1600" dirty="0"/>
          </a:p>
        </p:txBody>
      </p:sp>
      <p:sp>
        <p:nvSpPr>
          <p:cNvPr id="5" name="Shape 3"/>
          <p:cNvSpPr/>
          <p:nvPr/>
        </p:nvSpPr>
        <p:spPr>
          <a:xfrm>
            <a:off x="365760" y="749808"/>
            <a:ext cx="11430000" cy="1261872"/>
          </a:xfrm>
          <a:prstGeom prst="roundRect">
            <a:avLst>
              <a:gd name="adj" fmla="val 5797"/>
            </a:avLst>
          </a:prstGeom>
          <a:solidFill>
            <a:srgbClr val="1E2F45"/>
          </a:solidFill>
          <a:ln w="12700">
            <a:solidFill>
              <a:srgbClr val="FFB703"/>
            </a:solidFill>
            <a:prstDash val="solid"/>
          </a:ln>
        </p:spPr>
      </p:sp>
      <p:sp>
        <p:nvSpPr>
          <p:cNvPr id="6" name="Text 4"/>
          <p:cNvSpPr/>
          <p:nvPr/>
        </p:nvSpPr>
        <p:spPr>
          <a:xfrm>
            <a:off x="548640" y="804672"/>
            <a:ext cx="10972800" cy="1115568"/>
          </a:xfrm>
          <a:prstGeom prst="rect">
            <a:avLst/>
          </a:prstGeom>
          <a:noFill/>
          <a:ln/>
        </p:spPr>
        <p:txBody>
          <a:bodyPr wrap="square"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"If you found a seashell fossil in a rock layer on dry land — far from any ocean — what might that tell you about what this place looked like millions of years ago?"</a:t>
            </a:r>
            <a:endParaRPr lang="en-US" sz="1400" dirty="0"/>
          </a:p>
        </p:txBody>
      </p:sp>
      <p:sp>
        <p:nvSpPr>
          <p:cNvPr id="7" name="Shape 5"/>
          <p:cNvSpPr/>
          <p:nvPr/>
        </p:nvSpPr>
        <p:spPr>
          <a:xfrm>
            <a:off x="365760" y="2176272"/>
            <a:ext cx="11430000" cy="2057400"/>
          </a:xfrm>
          <a:prstGeom prst="roundRect">
            <a:avLst>
              <a:gd name="adj" fmla="val 3556"/>
            </a:avLst>
          </a:prstGeom>
          <a:solidFill>
            <a:srgbClr val="162233"/>
          </a:solidFill>
          <a:ln w="12700">
            <a:solidFill>
              <a:srgbClr val="FFB703"/>
            </a:solidFill>
            <a:prstDash val="solid"/>
          </a:ln>
        </p:spPr>
      </p:sp>
      <p:sp>
        <p:nvSpPr>
          <p:cNvPr id="8" name="Text 6"/>
          <p:cNvSpPr/>
          <p:nvPr/>
        </p:nvSpPr>
        <p:spPr>
          <a:xfrm>
            <a:off x="530352" y="2249424"/>
            <a:ext cx="1110081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Evidence-Based Prediction</a:t>
            </a:r>
            <a:endParaRPr lang="en-US" sz="1300" dirty="0"/>
          </a:p>
        </p:txBody>
      </p:sp>
      <p:sp>
        <p:nvSpPr>
          <p:cNvPr id="9" name="Text 7"/>
          <p:cNvSpPr/>
          <p:nvPr/>
        </p:nvSpPr>
        <p:spPr>
          <a:xfrm>
            <a:off x="530352" y="2615184"/>
            <a:ext cx="11100816" cy="1508760"/>
          </a:xfrm>
          <a:prstGeom prst="rect">
            <a:avLst/>
          </a:prstGeom>
          <a:noFill/>
          <a:ln/>
        </p:spPr>
        <p:txBody>
          <a:bodyPr wrap="square" rtlCol="0" anchor="t"/>
          <a:lstStyle/>
          <a:p>
            <a:pPr algn="l" indent="0" marL="0">
              <a:buNone/>
            </a:pPr>
            <a:r>
              <a:rPr lang="en-US" sz="1300" i="1" dirty="0">
                <a:solidFill>
                  <a:srgbClr val="FFFFFF"/>
                </a:solidFill>
                <a:latin typeface="Calibri" pitchFamily="34" charset="0"/>
                <a:ea typeface="Calibri" pitchFamily="34" charset="-122"/>
                <a:cs typeface="Calibri" pitchFamily="34" charset="-120"/>
              </a:rPr>
              <a:t>"I predict that finding a seashell on dry land means ___ because ___.</a:t>
            </a:r>
            <a:endParaRPr lang="en-US" sz="1300" dirty="0"/>
          </a:p>
          <a:p>
            <a:pPr algn="l" indent="0" marL="0">
              <a:buNone/>
            </a:pPr>
            <a:r>
              <a:rPr lang="en-US" sz="1300" i="1" dirty="0">
                <a:solidFill>
                  <a:srgbClr val="FFFFFF"/>
                </a:solidFill>
                <a:latin typeface="Calibri" pitchFamily="34" charset="0"/>
                <a:ea typeface="Calibri" pitchFamily="34" charset="-122"/>
                <a:cs typeface="Calibri" pitchFamily="34" charset="-120"/>
              </a:rPr>
              <a:t>This would tell scientists ___."</a:t>
            </a:r>
            <a:endParaRPr lang="en-US" sz="1300" dirty="0"/>
          </a:p>
        </p:txBody>
      </p:sp>
      <p:sp>
        <p:nvSpPr>
          <p:cNvPr id="10" name="Shape 8"/>
          <p:cNvSpPr/>
          <p:nvPr/>
        </p:nvSpPr>
        <p:spPr>
          <a:xfrm>
            <a:off x="365760" y="4370832"/>
            <a:ext cx="11430000" cy="914400"/>
          </a:xfrm>
          <a:prstGeom prst="roundRect">
            <a:avLst>
              <a:gd name="adj" fmla="val 8000"/>
            </a:avLst>
          </a:prstGeom>
          <a:solidFill>
            <a:srgbClr val="0A1520"/>
          </a:solidFill>
          <a:ln w="12700">
            <a:solidFill>
              <a:srgbClr val="4CC9F0"/>
            </a:solidFill>
            <a:prstDash val="solid"/>
          </a:ln>
        </p:spPr>
      </p:sp>
      <p:sp>
        <p:nvSpPr>
          <p:cNvPr id="11" name="Text 9"/>
          <p:cNvSpPr/>
          <p:nvPr/>
        </p:nvSpPr>
        <p:spPr>
          <a:xfrm>
            <a:off x="594360" y="4480560"/>
            <a:ext cx="10972800" cy="384048"/>
          </a:xfrm>
          <a:prstGeom prst="rect">
            <a:avLst/>
          </a:prstGeom>
          <a:noFill/>
          <a:ln/>
        </p:spPr>
        <p:txBody>
          <a:bodyPr wrap="square" rtlCol="0" anchor="ctr"/>
          <a:lstStyle/>
          <a:p>
            <a:pPr indent="0" marL="0">
              <a:buNone/>
            </a:pPr>
            <a:r>
              <a:rPr lang="en-US" sz="1300" i="1" dirty="0">
                <a:solidFill>
                  <a:srgbClr val="4CC9F0"/>
                </a:solidFill>
                <a:latin typeface="Calibri" pitchFamily="34" charset="0"/>
                <a:ea typeface="Calibri" pitchFamily="34" charset="-122"/>
                <a:cs typeface="Calibri" pitchFamily="34" charset="-120"/>
              </a:rPr>
              <a:t>🔑  Write your prediction now — we'll come back to check it!</a:t>
            </a:r>
            <a:endParaRPr lang="en-US" sz="1300" dirty="0"/>
          </a:p>
        </p:txBody>
      </p:sp>
      <p:sp>
        <p:nvSpPr>
          <p:cNvPr id="12" name="Shape 10"/>
          <p:cNvSpPr/>
          <p:nvPr/>
        </p:nvSpPr>
        <p:spPr>
          <a:xfrm>
            <a:off x="0" y="6629400"/>
            <a:ext cx="12192000" cy="228600"/>
          </a:xfrm>
          <a:prstGeom prst="rect">
            <a:avLst/>
          </a:prstGeom>
          <a:solidFill>
            <a:srgbClr val="162233"/>
          </a:solidFill>
          <a:ln/>
        </p:spPr>
      </p:sp>
      <p:sp>
        <p:nvSpPr>
          <p:cNvPr id="13" name="Text 1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5.01  ·  Landscapes Over Time</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VOCABULARY — Landscape &amp; Rock Words (Set 1)</a:t>
            </a:r>
            <a:endParaRPr lang="en-US" sz="1600" dirty="0"/>
          </a:p>
        </p:txBody>
      </p:sp>
      <p:sp>
        <p:nvSpPr>
          <p:cNvPr id="5" name="Shape 3"/>
          <p:cNvSpPr/>
          <p:nvPr/>
        </p:nvSpPr>
        <p:spPr>
          <a:xfrm>
            <a:off x="365760" y="749808"/>
            <a:ext cx="3657600" cy="1325880"/>
          </a:xfrm>
          <a:prstGeom prst="roundRect">
            <a:avLst>
              <a:gd name="adj" fmla="val 6897"/>
            </a:avLst>
          </a:prstGeom>
          <a:solidFill>
            <a:srgbClr val="1E2F45"/>
          </a:solidFill>
          <a:ln w="25400">
            <a:solidFill>
              <a:srgbClr val="4CC9F0"/>
            </a:solidFill>
            <a:prstDash val="solid"/>
          </a:ln>
        </p:spPr>
      </p:sp>
      <p:sp>
        <p:nvSpPr>
          <p:cNvPr id="6" name="Shape 4"/>
          <p:cNvSpPr/>
          <p:nvPr/>
        </p:nvSpPr>
        <p:spPr>
          <a:xfrm>
            <a:off x="365760" y="749808"/>
            <a:ext cx="3657600" cy="347472"/>
          </a:xfrm>
          <a:prstGeom prst="roundRect">
            <a:avLst>
              <a:gd name="adj" fmla="val 21053"/>
            </a:avLst>
          </a:prstGeom>
          <a:solidFill>
            <a:srgbClr val="4CC9F0"/>
          </a:solidFill>
          <a:ln w="12700">
            <a:solidFill>
              <a:srgbClr val="4CC9F0"/>
            </a:solidFill>
            <a:prstDash val="solid"/>
          </a:ln>
        </p:spPr>
      </p:sp>
      <p:sp>
        <p:nvSpPr>
          <p:cNvPr id="7" name="Text 5"/>
          <p:cNvSpPr/>
          <p:nvPr/>
        </p:nvSpPr>
        <p:spPr>
          <a:xfrm>
            <a:off x="457200" y="77724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Landscape</a:t>
            </a:r>
            <a:endParaRPr lang="en-US" sz="1200" dirty="0"/>
          </a:p>
        </p:txBody>
      </p:sp>
      <p:sp>
        <p:nvSpPr>
          <p:cNvPr id="8" name="Text 6"/>
          <p:cNvSpPr/>
          <p:nvPr/>
        </p:nvSpPr>
        <p:spPr>
          <a:xfrm>
            <a:off x="475488" y="115214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The shape and features of an area of land — including its hills, valleys, rivers, and rocks.</a:t>
            </a:r>
            <a:endParaRPr lang="en-US" sz="1050" dirty="0"/>
          </a:p>
        </p:txBody>
      </p:sp>
      <p:sp>
        <p:nvSpPr>
          <p:cNvPr id="9" name="Shape 7"/>
          <p:cNvSpPr/>
          <p:nvPr/>
        </p:nvSpPr>
        <p:spPr>
          <a:xfrm>
            <a:off x="4251960" y="749808"/>
            <a:ext cx="3657600" cy="1325880"/>
          </a:xfrm>
          <a:prstGeom prst="roundRect">
            <a:avLst>
              <a:gd name="adj" fmla="val 6897"/>
            </a:avLst>
          </a:prstGeom>
          <a:solidFill>
            <a:srgbClr val="1E2F45"/>
          </a:solidFill>
          <a:ln w="25400">
            <a:solidFill>
              <a:srgbClr val="FFB703"/>
            </a:solidFill>
            <a:prstDash val="solid"/>
          </a:ln>
        </p:spPr>
      </p:sp>
      <p:sp>
        <p:nvSpPr>
          <p:cNvPr id="10" name="Shape 8"/>
          <p:cNvSpPr/>
          <p:nvPr/>
        </p:nvSpPr>
        <p:spPr>
          <a:xfrm>
            <a:off x="4251960" y="749808"/>
            <a:ext cx="3657600" cy="347472"/>
          </a:xfrm>
          <a:prstGeom prst="roundRect">
            <a:avLst>
              <a:gd name="adj" fmla="val 21053"/>
            </a:avLst>
          </a:prstGeom>
          <a:solidFill>
            <a:srgbClr val="FFB703"/>
          </a:solidFill>
          <a:ln w="12700">
            <a:solidFill>
              <a:srgbClr val="FFB703"/>
            </a:solidFill>
            <a:prstDash val="solid"/>
          </a:ln>
        </p:spPr>
      </p:sp>
      <p:sp>
        <p:nvSpPr>
          <p:cNvPr id="11" name="Text 9"/>
          <p:cNvSpPr/>
          <p:nvPr/>
        </p:nvSpPr>
        <p:spPr>
          <a:xfrm>
            <a:off x="4343400" y="77724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Rock Layer</a:t>
            </a:r>
            <a:endParaRPr lang="en-US" sz="1200" dirty="0"/>
          </a:p>
        </p:txBody>
      </p:sp>
      <p:sp>
        <p:nvSpPr>
          <p:cNvPr id="12" name="Text 10"/>
          <p:cNvSpPr/>
          <p:nvPr/>
        </p:nvSpPr>
        <p:spPr>
          <a:xfrm>
            <a:off x="4361688" y="115214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flat band of rock formed from sediment that piled up over time. Scientists also call these strata.</a:t>
            </a:r>
            <a:endParaRPr lang="en-US" sz="1050" dirty="0"/>
          </a:p>
        </p:txBody>
      </p:sp>
      <p:sp>
        <p:nvSpPr>
          <p:cNvPr id="13" name="Shape 11"/>
          <p:cNvSpPr/>
          <p:nvPr/>
        </p:nvSpPr>
        <p:spPr>
          <a:xfrm>
            <a:off x="8138160" y="749808"/>
            <a:ext cx="3657600" cy="1325880"/>
          </a:xfrm>
          <a:prstGeom prst="roundRect">
            <a:avLst>
              <a:gd name="adj" fmla="val 6897"/>
            </a:avLst>
          </a:prstGeom>
          <a:solidFill>
            <a:srgbClr val="1E2F45"/>
          </a:solidFill>
          <a:ln w="25400">
            <a:solidFill>
              <a:srgbClr val="2DC653"/>
            </a:solidFill>
            <a:prstDash val="solid"/>
          </a:ln>
        </p:spPr>
      </p:sp>
      <p:sp>
        <p:nvSpPr>
          <p:cNvPr id="14" name="Shape 12"/>
          <p:cNvSpPr/>
          <p:nvPr/>
        </p:nvSpPr>
        <p:spPr>
          <a:xfrm>
            <a:off x="8138160" y="749808"/>
            <a:ext cx="3657600" cy="347472"/>
          </a:xfrm>
          <a:prstGeom prst="roundRect">
            <a:avLst>
              <a:gd name="adj" fmla="val 21053"/>
            </a:avLst>
          </a:prstGeom>
          <a:solidFill>
            <a:srgbClr val="2DC653"/>
          </a:solidFill>
          <a:ln w="12700">
            <a:solidFill>
              <a:srgbClr val="2DC653"/>
            </a:solidFill>
            <a:prstDash val="solid"/>
          </a:ln>
        </p:spPr>
      </p:sp>
      <p:sp>
        <p:nvSpPr>
          <p:cNvPr id="15" name="Text 13"/>
          <p:cNvSpPr/>
          <p:nvPr/>
        </p:nvSpPr>
        <p:spPr>
          <a:xfrm>
            <a:off x="8229600" y="77724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Sediment</a:t>
            </a:r>
            <a:endParaRPr lang="en-US" sz="1200" dirty="0"/>
          </a:p>
        </p:txBody>
      </p:sp>
      <p:sp>
        <p:nvSpPr>
          <p:cNvPr id="16" name="Text 14"/>
          <p:cNvSpPr/>
          <p:nvPr/>
        </p:nvSpPr>
        <p:spPr>
          <a:xfrm>
            <a:off x="8247888" y="115214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Tiny pieces of rock, sand, and soil carried by wind or water that slowly settle and pile up over time.</a:t>
            </a:r>
            <a:endParaRPr lang="en-US" sz="1050" dirty="0"/>
          </a:p>
        </p:txBody>
      </p:sp>
      <p:sp>
        <p:nvSpPr>
          <p:cNvPr id="17" name="Shape 15"/>
          <p:cNvSpPr/>
          <p:nvPr/>
        </p:nvSpPr>
        <p:spPr>
          <a:xfrm>
            <a:off x="365760" y="2212848"/>
            <a:ext cx="11430000" cy="3127248"/>
          </a:xfrm>
          <a:prstGeom prst="roundRect">
            <a:avLst>
              <a:gd name="adj" fmla="val 2339"/>
            </a:avLst>
          </a:prstGeom>
          <a:solidFill>
            <a:srgbClr val="0A1520"/>
          </a:solidFill>
          <a:ln w="19050">
            <a:solidFill>
              <a:srgbClr val="4CC9F0"/>
            </a:solidFill>
            <a:prstDash val="dash"/>
          </a:ln>
        </p:spPr>
      </p:sp>
      <p:sp>
        <p:nvSpPr>
          <p:cNvPr id="18" name="Text 16"/>
          <p:cNvSpPr/>
          <p:nvPr/>
        </p:nvSpPr>
        <p:spPr>
          <a:xfrm>
            <a:off x="457200" y="2322576"/>
            <a:ext cx="112471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9" name="Text 17"/>
          <p:cNvSpPr/>
          <p:nvPr/>
        </p:nvSpPr>
        <p:spPr>
          <a:xfrm>
            <a:off x="457200" y="2761488"/>
            <a:ext cx="1124712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20" name="Text 18"/>
          <p:cNvSpPr/>
          <p:nvPr/>
        </p:nvSpPr>
        <p:spPr>
          <a:xfrm>
            <a:off x="475488" y="3054096"/>
            <a:ext cx="11210544" cy="2075688"/>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"rock strata sedimentary layers colorful canyon wall labeled oldest newest"</a:t>
            </a:r>
            <a:endParaRPr lang="en-US" sz="950" dirty="0"/>
          </a:p>
        </p:txBody>
      </p:sp>
      <p:sp>
        <p:nvSpPr>
          <p:cNvPr id="21" name="Text 19"/>
          <p:cNvSpPr/>
          <p:nvPr/>
        </p:nvSpPr>
        <p:spPr>
          <a:xfrm>
            <a:off x="365760" y="5376672"/>
            <a:ext cx="1143000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Rock layers (strata) form as sediment piles up — older layers sink to the bottom</a:t>
            </a:r>
            <a:endParaRPr lang="en-US" sz="900" dirty="0"/>
          </a:p>
        </p:txBody>
      </p:sp>
      <p:sp>
        <p:nvSpPr>
          <p:cNvPr id="22" name="Shape 20"/>
          <p:cNvSpPr/>
          <p:nvPr/>
        </p:nvSpPr>
        <p:spPr>
          <a:xfrm>
            <a:off x="0" y="6629400"/>
            <a:ext cx="12192000" cy="228600"/>
          </a:xfrm>
          <a:prstGeom prst="rect">
            <a:avLst/>
          </a:prstGeom>
          <a:solidFill>
            <a:srgbClr val="162233"/>
          </a:solidFill>
          <a:ln/>
        </p:spPr>
      </p:sp>
      <p:sp>
        <p:nvSpPr>
          <p:cNvPr id="23" name="Text 2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5.01  ·  Landscapes Over Time</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VOCABULARY — Landscape &amp; Rock Words (Set 2)</a:t>
            </a:r>
            <a:endParaRPr lang="en-US" sz="1600" dirty="0"/>
          </a:p>
        </p:txBody>
      </p:sp>
      <p:sp>
        <p:nvSpPr>
          <p:cNvPr id="5" name="Shape 3"/>
          <p:cNvSpPr/>
          <p:nvPr/>
        </p:nvSpPr>
        <p:spPr>
          <a:xfrm>
            <a:off x="365760" y="749808"/>
            <a:ext cx="3657600" cy="1325880"/>
          </a:xfrm>
          <a:prstGeom prst="roundRect">
            <a:avLst>
              <a:gd name="adj" fmla="val 6897"/>
            </a:avLst>
          </a:prstGeom>
          <a:solidFill>
            <a:srgbClr val="1E2F45"/>
          </a:solidFill>
          <a:ln w="25400">
            <a:solidFill>
              <a:srgbClr val="F4736A"/>
            </a:solidFill>
            <a:prstDash val="solid"/>
          </a:ln>
        </p:spPr>
      </p:sp>
      <p:sp>
        <p:nvSpPr>
          <p:cNvPr id="6" name="Shape 4"/>
          <p:cNvSpPr/>
          <p:nvPr/>
        </p:nvSpPr>
        <p:spPr>
          <a:xfrm>
            <a:off x="365760" y="749808"/>
            <a:ext cx="3657600" cy="347472"/>
          </a:xfrm>
          <a:prstGeom prst="roundRect">
            <a:avLst>
              <a:gd name="adj" fmla="val 21053"/>
            </a:avLst>
          </a:prstGeom>
          <a:solidFill>
            <a:srgbClr val="F4736A"/>
          </a:solidFill>
          <a:ln w="12700">
            <a:solidFill>
              <a:srgbClr val="F4736A"/>
            </a:solidFill>
            <a:prstDash val="solid"/>
          </a:ln>
        </p:spPr>
      </p:sp>
      <p:sp>
        <p:nvSpPr>
          <p:cNvPr id="7" name="Text 5"/>
          <p:cNvSpPr/>
          <p:nvPr/>
        </p:nvSpPr>
        <p:spPr>
          <a:xfrm>
            <a:off x="457200" y="77724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Fossil</a:t>
            </a:r>
            <a:endParaRPr lang="en-US" sz="1200" dirty="0"/>
          </a:p>
        </p:txBody>
      </p:sp>
      <p:sp>
        <p:nvSpPr>
          <p:cNvPr id="8" name="Text 6"/>
          <p:cNvSpPr/>
          <p:nvPr/>
        </p:nvSpPr>
        <p:spPr>
          <a:xfrm>
            <a:off x="475488" y="115214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The preserved remains or imprint of a once-living plant or animal found inside rock.</a:t>
            </a:r>
            <a:endParaRPr lang="en-US" sz="1050" dirty="0"/>
          </a:p>
        </p:txBody>
      </p:sp>
      <p:sp>
        <p:nvSpPr>
          <p:cNvPr id="9" name="Shape 7"/>
          <p:cNvSpPr/>
          <p:nvPr/>
        </p:nvSpPr>
        <p:spPr>
          <a:xfrm>
            <a:off x="4251960" y="749808"/>
            <a:ext cx="3657600" cy="1325880"/>
          </a:xfrm>
          <a:prstGeom prst="roundRect">
            <a:avLst>
              <a:gd name="adj" fmla="val 6897"/>
            </a:avLst>
          </a:prstGeom>
          <a:solidFill>
            <a:srgbClr val="1E2F45"/>
          </a:solidFill>
          <a:ln w="25400">
            <a:solidFill>
              <a:srgbClr val="0096C7"/>
            </a:solidFill>
            <a:prstDash val="solid"/>
          </a:ln>
        </p:spPr>
      </p:sp>
      <p:sp>
        <p:nvSpPr>
          <p:cNvPr id="10" name="Shape 8"/>
          <p:cNvSpPr/>
          <p:nvPr/>
        </p:nvSpPr>
        <p:spPr>
          <a:xfrm>
            <a:off x="4251960" y="749808"/>
            <a:ext cx="3657600" cy="347472"/>
          </a:xfrm>
          <a:prstGeom prst="roundRect">
            <a:avLst>
              <a:gd name="adj" fmla="val 21053"/>
            </a:avLst>
          </a:prstGeom>
          <a:solidFill>
            <a:srgbClr val="0096C7"/>
          </a:solidFill>
          <a:ln w="12700">
            <a:solidFill>
              <a:srgbClr val="0096C7"/>
            </a:solidFill>
            <a:prstDash val="solid"/>
          </a:ln>
        </p:spPr>
      </p:sp>
      <p:sp>
        <p:nvSpPr>
          <p:cNvPr id="11" name="Text 9"/>
          <p:cNvSpPr/>
          <p:nvPr/>
        </p:nvSpPr>
        <p:spPr>
          <a:xfrm>
            <a:off x="4343400" y="77724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Canyon</a:t>
            </a:r>
            <a:endParaRPr lang="en-US" sz="1200" dirty="0"/>
          </a:p>
        </p:txBody>
      </p:sp>
      <p:sp>
        <p:nvSpPr>
          <p:cNvPr id="12" name="Text 10"/>
          <p:cNvSpPr/>
          <p:nvPr/>
        </p:nvSpPr>
        <p:spPr>
          <a:xfrm>
            <a:off x="4361688" y="115214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deep valley with steep rocky walls, carved by a river flowing over the land for a very long time.</a:t>
            </a:r>
            <a:endParaRPr lang="en-US" sz="1050" dirty="0"/>
          </a:p>
        </p:txBody>
      </p:sp>
      <p:sp>
        <p:nvSpPr>
          <p:cNvPr id="13" name="Shape 11"/>
          <p:cNvSpPr/>
          <p:nvPr/>
        </p:nvSpPr>
        <p:spPr>
          <a:xfrm>
            <a:off x="8138160" y="749808"/>
            <a:ext cx="3657600" cy="1325880"/>
          </a:xfrm>
          <a:prstGeom prst="roundRect">
            <a:avLst>
              <a:gd name="adj" fmla="val 6897"/>
            </a:avLst>
          </a:prstGeom>
          <a:solidFill>
            <a:srgbClr val="1E2F45"/>
          </a:solidFill>
          <a:ln w="25400">
            <a:solidFill>
              <a:srgbClr val="2DC653"/>
            </a:solidFill>
            <a:prstDash val="solid"/>
          </a:ln>
        </p:spPr>
      </p:sp>
      <p:sp>
        <p:nvSpPr>
          <p:cNvPr id="14" name="Shape 12"/>
          <p:cNvSpPr/>
          <p:nvPr/>
        </p:nvSpPr>
        <p:spPr>
          <a:xfrm>
            <a:off x="8138160" y="749808"/>
            <a:ext cx="3657600" cy="347472"/>
          </a:xfrm>
          <a:prstGeom prst="roundRect">
            <a:avLst>
              <a:gd name="adj" fmla="val 21053"/>
            </a:avLst>
          </a:prstGeom>
          <a:solidFill>
            <a:srgbClr val="2DC653"/>
          </a:solidFill>
          <a:ln w="12700">
            <a:solidFill>
              <a:srgbClr val="2DC653"/>
            </a:solidFill>
            <a:prstDash val="solid"/>
          </a:ln>
        </p:spPr>
      </p:sp>
      <p:sp>
        <p:nvSpPr>
          <p:cNvPr id="15" name="Text 13"/>
          <p:cNvSpPr/>
          <p:nvPr/>
        </p:nvSpPr>
        <p:spPr>
          <a:xfrm>
            <a:off x="8229600" y="77724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Abiotic Factors</a:t>
            </a:r>
            <a:endParaRPr lang="en-US" sz="1200" dirty="0"/>
          </a:p>
        </p:txBody>
      </p:sp>
      <p:sp>
        <p:nvSpPr>
          <p:cNvPr id="16" name="Text 14"/>
          <p:cNvSpPr/>
          <p:nvPr/>
        </p:nvSpPr>
        <p:spPr>
          <a:xfrm>
            <a:off x="8247888" y="115214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The non-living parts of an environment — like sunlight, water, soil, and temperature — that affect what can live there.</a:t>
            </a:r>
            <a:endParaRPr lang="en-US" sz="1050" dirty="0"/>
          </a:p>
        </p:txBody>
      </p:sp>
      <p:sp>
        <p:nvSpPr>
          <p:cNvPr id="17" name="Shape 15"/>
          <p:cNvSpPr/>
          <p:nvPr/>
        </p:nvSpPr>
        <p:spPr>
          <a:xfrm>
            <a:off x="365760" y="2304288"/>
            <a:ext cx="11430000" cy="1965960"/>
          </a:xfrm>
          <a:prstGeom prst="roundRect">
            <a:avLst>
              <a:gd name="adj" fmla="val 3721"/>
            </a:avLst>
          </a:prstGeom>
          <a:solidFill>
            <a:srgbClr val="162233"/>
          </a:solidFill>
          <a:ln w="12700">
            <a:solidFill>
              <a:srgbClr val="FFB703"/>
            </a:solidFill>
            <a:prstDash val="solid"/>
          </a:ln>
        </p:spPr>
      </p:sp>
      <p:sp>
        <p:nvSpPr>
          <p:cNvPr id="18" name="Text 16"/>
          <p:cNvSpPr/>
          <p:nvPr/>
        </p:nvSpPr>
        <p:spPr>
          <a:xfrm>
            <a:off x="530352" y="2377440"/>
            <a:ext cx="1110081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Vocab Connection</a:t>
            </a:r>
            <a:endParaRPr lang="en-US" sz="1300" dirty="0"/>
          </a:p>
        </p:txBody>
      </p:sp>
      <p:sp>
        <p:nvSpPr>
          <p:cNvPr id="19" name="Text 17"/>
          <p:cNvSpPr/>
          <p:nvPr/>
        </p:nvSpPr>
        <p:spPr>
          <a:xfrm>
            <a:off x="530352" y="2743200"/>
            <a:ext cx="11100816" cy="1417320"/>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How are fossil, canyon, and abiotic factors connected? Discuss: If a canyon exposes rock layers with ancient sea fossils, what abiotic factors might have changed for living things in that area over millions of years?</a:t>
            </a:r>
            <a:endParaRPr lang="en-US" sz="1200" dirty="0"/>
          </a:p>
        </p:txBody>
      </p:sp>
      <p:sp>
        <p:nvSpPr>
          <p:cNvPr id="20" name="Shape 18"/>
          <p:cNvSpPr/>
          <p:nvPr/>
        </p:nvSpPr>
        <p:spPr>
          <a:xfrm>
            <a:off x="365760" y="4370832"/>
            <a:ext cx="11430000" cy="1719072"/>
          </a:xfrm>
          <a:prstGeom prst="roundRect">
            <a:avLst>
              <a:gd name="adj" fmla="val 4255"/>
            </a:avLst>
          </a:prstGeom>
          <a:solidFill>
            <a:srgbClr val="0A1520"/>
          </a:solidFill>
          <a:ln w="19050">
            <a:solidFill>
              <a:srgbClr val="4CC9F0"/>
            </a:solidFill>
            <a:prstDash val="dash"/>
          </a:ln>
        </p:spPr>
      </p:sp>
      <p:sp>
        <p:nvSpPr>
          <p:cNvPr id="21" name="Text 19"/>
          <p:cNvSpPr/>
          <p:nvPr/>
        </p:nvSpPr>
        <p:spPr>
          <a:xfrm>
            <a:off x="457200" y="4480560"/>
            <a:ext cx="112471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2" name="Text 20"/>
          <p:cNvSpPr/>
          <p:nvPr/>
        </p:nvSpPr>
        <p:spPr>
          <a:xfrm>
            <a:off x="457200" y="4919472"/>
            <a:ext cx="1124712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23" name="Text 21"/>
          <p:cNvSpPr/>
          <p:nvPr/>
        </p:nvSpPr>
        <p:spPr>
          <a:xfrm>
            <a:off x="475488" y="5212080"/>
            <a:ext cx="11210544" cy="667512"/>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"fossil seashell ammonite rock layer sedimentary dry land desert"</a:t>
            </a:r>
            <a:endParaRPr lang="en-US" sz="950" dirty="0"/>
          </a:p>
        </p:txBody>
      </p:sp>
      <p:sp>
        <p:nvSpPr>
          <p:cNvPr id="24" name="Text 22"/>
          <p:cNvSpPr/>
          <p:nvPr/>
        </p:nvSpPr>
        <p:spPr>
          <a:xfrm>
            <a:off x="365760" y="6126480"/>
            <a:ext cx="1143000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A seashell fossil found in desert rock — what story does it tell?</a:t>
            </a:r>
            <a:endParaRPr lang="en-US" sz="900" dirty="0"/>
          </a:p>
        </p:txBody>
      </p:sp>
      <p:sp>
        <p:nvSpPr>
          <p:cNvPr id="25" name="Shape 23"/>
          <p:cNvSpPr/>
          <p:nvPr/>
        </p:nvSpPr>
        <p:spPr>
          <a:xfrm>
            <a:off x="0" y="6629400"/>
            <a:ext cx="12192000" cy="228600"/>
          </a:xfrm>
          <a:prstGeom prst="rect">
            <a:avLst/>
          </a:prstGeom>
          <a:solidFill>
            <a:srgbClr val="162233"/>
          </a:solidFill>
          <a:ln/>
        </p:spPr>
      </p:sp>
      <p:sp>
        <p:nvSpPr>
          <p:cNvPr id="26" name="Text 2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5.01  ·  Landscapes Over Time</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EXPLORE — Rock Layers: Earth's History Book</a:t>
            </a:r>
            <a:endParaRPr lang="en-US" sz="1600" dirty="0"/>
          </a:p>
        </p:txBody>
      </p:sp>
      <p:sp>
        <p:nvSpPr>
          <p:cNvPr id="5" name="Shape 3"/>
          <p:cNvSpPr/>
          <p:nvPr/>
        </p:nvSpPr>
        <p:spPr>
          <a:xfrm>
            <a:off x="365760" y="749808"/>
            <a:ext cx="7132320" cy="2331720"/>
          </a:xfrm>
          <a:prstGeom prst="roundRect">
            <a:avLst>
              <a:gd name="adj" fmla="val 3137"/>
            </a:avLst>
          </a:prstGeom>
          <a:solidFill>
            <a:srgbClr val="1E2F45"/>
          </a:solidFill>
          <a:ln w="12700">
            <a:solidFill>
              <a:srgbClr val="FFB703"/>
            </a:solidFill>
            <a:prstDash val="solid"/>
          </a:ln>
        </p:spPr>
      </p:sp>
      <p:sp>
        <p:nvSpPr>
          <p:cNvPr id="6" name="Text 4"/>
          <p:cNvSpPr/>
          <p:nvPr/>
        </p:nvSpPr>
        <p:spPr>
          <a:xfrm>
            <a:off x="548640" y="822960"/>
            <a:ext cx="6766560" cy="384048"/>
          </a:xfrm>
          <a:prstGeom prst="rect">
            <a:avLst/>
          </a:prstGeom>
          <a:noFill/>
          <a:ln/>
        </p:spPr>
        <p:txBody>
          <a:bodyPr wrap="square" rtlCol="0" anchor="ctr"/>
          <a:lstStyle/>
          <a:p>
            <a:pPr indent="0" marL="0">
              <a:buNone/>
            </a:pPr>
            <a:r>
              <a:rPr lang="en-US" sz="1400" b="1" dirty="0">
                <a:solidFill>
                  <a:srgbClr val="FFB703"/>
                </a:solidFill>
                <a:latin typeface="Calibri" pitchFamily="34" charset="0"/>
                <a:ea typeface="Calibri" pitchFamily="34" charset="-122"/>
                <a:cs typeface="Calibri" pitchFamily="34" charset="-120"/>
              </a:rPr>
              <a:t>🥞  The Pancake Rule</a:t>
            </a:r>
            <a:endParaRPr lang="en-US" sz="1400" dirty="0"/>
          </a:p>
        </p:txBody>
      </p:sp>
      <p:sp>
        <p:nvSpPr>
          <p:cNvPr id="7" name="Text 5"/>
          <p:cNvSpPr/>
          <p:nvPr/>
        </p:nvSpPr>
        <p:spPr>
          <a:xfrm>
            <a:off x="548640" y="1261872"/>
            <a:ext cx="6766560" cy="169164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Rock layers are like a stack of pancakes — the FIRST pancake sits at the bottom, and each new one goes on top.</a:t>
            </a:r>
            <a:endParaRPr lang="en-US" sz="1250" dirty="0"/>
          </a:p>
          <a:p>
            <a:pPr indent="0" marL="0">
              <a:buNone/>
            </a:pP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  OLDEST layers = BOTTOM</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  NEWEST layers = TOP</a:t>
            </a:r>
            <a:endParaRPr lang="en-US" sz="1250" dirty="0"/>
          </a:p>
        </p:txBody>
      </p:sp>
      <p:sp>
        <p:nvSpPr>
          <p:cNvPr id="8" name="Shape 6"/>
          <p:cNvSpPr/>
          <p:nvPr/>
        </p:nvSpPr>
        <p:spPr>
          <a:xfrm>
            <a:off x="7680960" y="749808"/>
            <a:ext cx="4114800" cy="2331720"/>
          </a:xfrm>
          <a:prstGeom prst="roundRect">
            <a:avLst>
              <a:gd name="adj" fmla="val 3137"/>
            </a:avLst>
          </a:prstGeom>
          <a:solidFill>
            <a:srgbClr val="0A1520"/>
          </a:solidFill>
          <a:ln w="12700">
            <a:solidFill>
              <a:srgbClr val="4CC9F0"/>
            </a:solidFill>
            <a:prstDash val="solid"/>
          </a:ln>
        </p:spPr>
      </p:sp>
      <p:sp>
        <p:nvSpPr>
          <p:cNvPr id="9" name="Text 7"/>
          <p:cNvSpPr/>
          <p:nvPr/>
        </p:nvSpPr>
        <p:spPr>
          <a:xfrm>
            <a:off x="7818120" y="868680"/>
            <a:ext cx="3840480" cy="201168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Newest Layer (forming now)</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 Sea Fossil Layer</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 Plant Fossil Layer</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 Oldest Layer (buried first)</a:t>
            </a:r>
            <a:endParaRPr lang="en-US" sz="1200" dirty="0"/>
          </a:p>
        </p:txBody>
      </p:sp>
      <p:sp>
        <p:nvSpPr>
          <p:cNvPr id="10" name="Shape 8"/>
          <p:cNvSpPr/>
          <p:nvPr/>
        </p:nvSpPr>
        <p:spPr>
          <a:xfrm>
            <a:off x="365760" y="3218688"/>
            <a:ext cx="5577840" cy="2880360"/>
          </a:xfrm>
          <a:prstGeom prst="roundRect">
            <a:avLst>
              <a:gd name="adj" fmla="val 2540"/>
            </a:avLst>
          </a:prstGeom>
          <a:solidFill>
            <a:srgbClr val="0A1520"/>
          </a:solidFill>
          <a:ln w="19050">
            <a:solidFill>
              <a:srgbClr val="4CC9F0"/>
            </a:solidFill>
            <a:prstDash val="dash"/>
          </a:ln>
        </p:spPr>
      </p:sp>
      <p:sp>
        <p:nvSpPr>
          <p:cNvPr id="11" name="Text 9"/>
          <p:cNvSpPr/>
          <p:nvPr/>
        </p:nvSpPr>
        <p:spPr>
          <a:xfrm>
            <a:off x="457200" y="3328416"/>
            <a:ext cx="539496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2" name="Text 10"/>
          <p:cNvSpPr/>
          <p:nvPr/>
        </p:nvSpPr>
        <p:spPr>
          <a:xfrm>
            <a:off x="457200" y="3767328"/>
            <a:ext cx="539496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3" name="Text 11"/>
          <p:cNvSpPr/>
          <p:nvPr/>
        </p:nvSpPr>
        <p:spPr>
          <a:xfrm>
            <a:off x="475488" y="4059936"/>
            <a:ext cx="5358384" cy="182880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"sedimentary rock layers strata diagram labeled oldest bottom newest top sea fossil plant fossil"</a:t>
            </a:r>
            <a:endParaRPr lang="en-US" sz="950" dirty="0"/>
          </a:p>
        </p:txBody>
      </p:sp>
      <p:sp>
        <p:nvSpPr>
          <p:cNvPr id="14" name="Text 12"/>
          <p:cNvSpPr/>
          <p:nvPr/>
        </p:nvSpPr>
        <p:spPr>
          <a:xfrm>
            <a:off x="365760" y="6135624"/>
            <a:ext cx="557784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Each layer = a chapter in Earth's history — oldest at the bottom</a:t>
            </a:r>
            <a:endParaRPr lang="en-US" sz="900" dirty="0"/>
          </a:p>
        </p:txBody>
      </p:sp>
      <p:sp>
        <p:nvSpPr>
          <p:cNvPr id="15" name="Shape 13"/>
          <p:cNvSpPr/>
          <p:nvPr/>
        </p:nvSpPr>
        <p:spPr>
          <a:xfrm>
            <a:off x="6172200" y="3218688"/>
            <a:ext cx="5577840" cy="2880360"/>
          </a:xfrm>
          <a:prstGeom prst="roundRect">
            <a:avLst>
              <a:gd name="adj" fmla="val 2540"/>
            </a:avLst>
          </a:prstGeom>
          <a:solidFill>
            <a:srgbClr val="1E2F45"/>
          </a:solidFill>
          <a:ln w="12700">
            <a:solidFill>
              <a:srgbClr val="4CC9F0"/>
            </a:solidFill>
            <a:prstDash val="solid"/>
          </a:ln>
        </p:spPr>
      </p:sp>
      <p:sp>
        <p:nvSpPr>
          <p:cNvPr id="16" name="Text 14"/>
          <p:cNvSpPr/>
          <p:nvPr/>
        </p:nvSpPr>
        <p:spPr>
          <a:xfrm>
            <a:off x="6355080" y="3291840"/>
            <a:ext cx="521208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Key Pattern</a:t>
            </a:r>
            <a:endParaRPr lang="en-US" sz="1200" dirty="0"/>
          </a:p>
        </p:txBody>
      </p:sp>
      <p:sp>
        <p:nvSpPr>
          <p:cNvPr id="17" name="Text 15"/>
          <p:cNvSpPr/>
          <p:nvPr/>
        </p:nvSpPr>
        <p:spPr>
          <a:xfrm>
            <a:off x="6355080" y="3675888"/>
            <a:ext cx="5212080" cy="224028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Find a seashell fossil in a layer that is now far from any ocean? That layer formed WHEN THAT LAND WAS UNDER WATER — millions of years ago!</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The landscape changed completely — and the rock layers recorded it like a diary.</a:t>
            </a:r>
            <a:endParaRPr lang="en-US" sz="1200" dirty="0"/>
          </a:p>
        </p:txBody>
      </p:sp>
      <p:sp>
        <p:nvSpPr>
          <p:cNvPr id="18" name="Shape 16"/>
          <p:cNvSpPr/>
          <p:nvPr/>
        </p:nvSpPr>
        <p:spPr>
          <a:xfrm>
            <a:off x="0" y="6629400"/>
            <a:ext cx="12192000" cy="228600"/>
          </a:xfrm>
          <a:prstGeom prst="rect">
            <a:avLst/>
          </a:prstGeom>
          <a:solidFill>
            <a:srgbClr val="162233"/>
          </a:solidFill>
          <a:ln/>
        </p:spPr>
      </p:sp>
      <p:sp>
        <p:nvSpPr>
          <p:cNvPr id="19" name="Text 17"/>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5.01  ·  Landscapes Over Time</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EXPLORE — Three Types of Evidence</a:t>
            </a:r>
            <a:endParaRPr lang="en-US" sz="1600" dirty="0"/>
          </a:p>
        </p:txBody>
      </p:sp>
      <p:sp>
        <p:nvSpPr>
          <p:cNvPr id="5" name="Shape 3"/>
          <p:cNvSpPr/>
          <p:nvPr/>
        </p:nvSpPr>
        <p:spPr>
          <a:xfrm>
            <a:off x="365760" y="749808"/>
            <a:ext cx="3657600" cy="3337560"/>
          </a:xfrm>
          <a:prstGeom prst="roundRect">
            <a:avLst>
              <a:gd name="adj" fmla="val 2192"/>
            </a:avLst>
          </a:prstGeom>
          <a:solidFill>
            <a:srgbClr val="1E2F45"/>
          </a:solidFill>
          <a:ln w="12700">
            <a:solidFill>
              <a:srgbClr val="FFB703"/>
            </a:solidFill>
            <a:prstDash val="solid"/>
          </a:ln>
        </p:spPr>
      </p:sp>
      <p:sp>
        <p:nvSpPr>
          <p:cNvPr id="6" name="Shape 4"/>
          <p:cNvSpPr/>
          <p:nvPr/>
        </p:nvSpPr>
        <p:spPr>
          <a:xfrm>
            <a:off x="411480" y="804672"/>
            <a:ext cx="1554480" cy="256032"/>
          </a:xfrm>
          <a:prstGeom prst="roundRect">
            <a:avLst>
              <a:gd name="adj" fmla="val 50000"/>
            </a:avLst>
          </a:prstGeom>
          <a:solidFill>
            <a:srgbClr val="E09200"/>
          </a:solidFill>
          <a:ln w="12700">
            <a:solidFill>
              <a:srgbClr val="E09200"/>
            </a:solidFill>
            <a:prstDash val="solid"/>
          </a:ln>
        </p:spPr>
      </p:sp>
      <p:sp>
        <p:nvSpPr>
          <p:cNvPr id="7" name="Text 5"/>
          <p:cNvSpPr/>
          <p:nvPr/>
        </p:nvSpPr>
        <p:spPr>
          <a:xfrm>
            <a:off x="411480" y="804672"/>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Rock Layers</a:t>
            </a:r>
            <a:endParaRPr lang="en-US" sz="900" dirty="0"/>
          </a:p>
        </p:txBody>
      </p:sp>
      <p:sp>
        <p:nvSpPr>
          <p:cNvPr id="8" name="Text 6"/>
          <p:cNvSpPr/>
          <p:nvPr/>
        </p:nvSpPr>
        <p:spPr>
          <a:xfrm>
            <a:off x="502920" y="1133856"/>
            <a:ext cx="3383280" cy="182880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Show how much time has passed.</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Bottom layer = formed FIRST, millions of years ago.</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Different layers = different time periods = different environments.</a:t>
            </a:r>
            <a:endParaRPr lang="en-US" sz="1100" dirty="0"/>
          </a:p>
        </p:txBody>
      </p:sp>
      <p:sp>
        <p:nvSpPr>
          <p:cNvPr id="9" name="Shape 7"/>
          <p:cNvSpPr/>
          <p:nvPr/>
        </p:nvSpPr>
        <p:spPr>
          <a:xfrm>
            <a:off x="502920" y="2834640"/>
            <a:ext cx="3383280" cy="1078992"/>
          </a:xfrm>
          <a:prstGeom prst="roundRect">
            <a:avLst>
              <a:gd name="adj" fmla="val 6780"/>
            </a:avLst>
          </a:prstGeom>
          <a:solidFill>
            <a:srgbClr val="0A1520"/>
          </a:solidFill>
          <a:ln w="19050">
            <a:solidFill>
              <a:srgbClr val="4CC9F0"/>
            </a:solidFill>
            <a:prstDash val="dash"/>
          </a:ln>
        </p:spPr>
      </p:sp>
      <p:sp>
        <p:nvSpPr>
          <p:cNvPr id="10" name="Text 8"/>
          <p:cNvSpPr/>
          <p:nvPr/>
        </p:nvSpPr>
        <p:spPr>
          <a:xfrm>
            <a:off x="594360" y="2944368"/>
            <a:ext cx="32004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1" name="Text 9"/>
          <p:cNvSpPr/>
          <p:nvPr/>
        </p:nvSpPr>
        <p:spPr>
          <a:xfrm>
            <a:off x="594360" y="3383280"/>
            <a:ext cx="320040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2" name="Text 10"/>
          <p:cNvSpPr/>
          <p:nvPr/>
        </p:nvSpPr>
        <p:spPr>
          <a:xfrm>
            <a:off x="612648" y="3675888"/>
            <a:ext cx="3163824" cy="27432"/>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"rock strata layers colored bands geologic"</a:t>
            </a:r>
            <a:endParaRPr lang="en-US" sz="950" dirty="0"/>
          </a:p>
        </p:txBody>
      </p:sp>
      <p:sp>
        <p:nvSpPr>
          <p:cNvPr id="13" name="Shape 11"/>
          <p:cNvSpPr/>
          <p:nvPr/>
        </p:nvSpPr>
        <p:spPr>
          <a:xfrm>
            <a:off x="4251960" y="749808"/>
            <a:ext cx="3657600" cy="3337560"/>
          </a:xfrm>
          <a:prstGeom prst="roundRect">
            <a:avLst>
              <a:gd name="adj" fmla="val 2192"/>
            </a:avLst>
          </a:prstGeom>
          <a:solidFill>
            <a:srgbClr val="1E2F45"/>
          </a:solidFill>
          <a:ln w="12700">
            <a:solidFill>
              <a:srgbClr val="F4736A"/>
            </a:solidFill>
            <a:prstDash val="solid"/>
          </a:ln>
        </p:spPr>
      </p:sp>
      <p:sp>
        <p:nvSpPr>
          <p:cNvPr id="14" name="Shape 12"/>
          <p:cNvSpPr/>
          <p:nvPr/>
        </p:nvSpPr>
        <p:spPr>
          <a:xfrm>
            <a:off x="4297680" y="804672"/>
            <a:ext cx="1554480" cy="256032"/>
          </a:xfrm>
          <a:prstGeom prst="roundRect">
            <a:avLst>
              <a:gd name="adj" fmla="val 50000"/>
            </a:avLst>
          </a:prstGeom>
          <a:solidFill>
            <a:srgbClr val="F4736A"/>
          </a:solidFill>
          <a:ln w="12700">
            <a:solidFill>
              <a:srgbClr val="F4736A"/>
            </a:solidFill>
            <a:prstDash val="solid"/>
          </a:ln>
        </p:spPr>
      </p:sp>
      <p:sp>
        <p:nvSpPr>
          <p:cNvPr id="15" name="Text 13"/>
          <p:cNvSpPr/>
          <p:nvPr/>
        </p:nvSpPr>
        <p:spPr>
          <a:xfrm>
            <a:off x="4297680" y="804672"/>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Fossils</a:t>
            </a:r>
            <a:endParaRPr lang="en-US" sz="900" dirty="0"/>
          </a:p>
        </p:txBody>
      </p:sp>
      <p:sp>
        <p:nvSpPr>
          <p:cNvPr id="16" name="Text 14"/>
          <p:cNvSpPr/>
          <p:nvPr/>
        </p:nvSpPr>
        <p:spPr>
          <a:xfrm>
            <a:off x="4389120" y="1133856"/>
            <a:ext cx="3383280" cy="182880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Reveal what LIVED there long ago.</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Sea fossils on dry land = ancient ocean!</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Plant fossils in desert = once a forest!</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Fossils are windows into past ecosystems.</a:t>
            </a:r>
            <a:endParaRPr lang="en-US" sz="1100" dirty="0"/>
          </a:p>
        </p:txBody>
      </p:sp>
      <p:sp>
        <p:nvSpPr>
          <p:cNvPr id="17" name="Shape 15"/>
          <p:cNvSpPr/>
          <p:nvPr/>
        </p:nvSpPr>
        <p:spPr>
          <a:xfrm>
            <a:off x="4389120" y="2834640"/>
            <a:ext cx="3383280" cy="1078992"/>
          </a:xfrm>
          <a:prstGeom prst="roundRect">
            <a:avLst>
              <a:gd name="adj" fmla="val 6780"/>
            </a:avLst>
          </a:prstGeom>
          <a:solidFill>
            <a:srgbClr val="0A1520"/>
          </a:solidFill>
          <a:ln w="19050">
            <a:solidFill>
              <a:srgbClr val="4CC9F0"/>
            </a:solidFill>
            <a:prstDash val="dash"/>
          </a:ln>
        </p:spPr>
      </p:sp>
      <p:sp>
        <p:nvSpPr>
          <p:cNvPr id="18" name="Text 16"/>
          <p:cNvSpPr/>
          <p:nvPr/>
        </p:nvSpPr>
        <p:spPr>
          <a:xfrm>
            <a:off x="4480560" y="2944368"/>
            <a:ext cx="32004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9" name="Text 17"/>
          <p:cNvSpPr/>
          <p:nvPr/>
        </p:nvSpPr>
        <p:spPr>
          <a:xfrm>
            <a:off x="4480560" y="3383280"/>
            <a:ext cx="320040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20" name="Text 18"/>
          <p:cNvSpPr/>
          <p:nvPr/>
        </p:nvSpPr>
        <p:spPr>
          <a:xfrm>
            <a:off x="4498848" y="3675888"/>
            <a:ext cx="3163824" cy="27432"/>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"fossil ammonite seashell imprint sedimentary rock layer"</a:t>
            </a:r>
            <a:endParaRPr lang="en-US" sz="950" dirty="0"/>
          </a:p>
        </p:txBody>
      </p:sp>
      <p:sp>
        <p:nvSpPr>
          <p:cNvPr id="21" name="Shape 19"/>
          <p:cNvSpPr/>
          <p:nvPr/>
        </p:nvSpPr>
        <p:spPr>
          <a:xfrm>
            <a:off x="8138160" y="749808"/>
            <a:ext cx="3657600" cy="3337560"/>
          </a:xfrm>
          <a:prstGeom prst="roundRect">
            <a:avLst>
              <a:gd name="adj" fmla="val 2192"/>
            </a:avLst>
          </a:prstGeom>
          <a:solidFill>
            <a:srgbClr val="1E2F45"/>
          </a:solidFill>
          <a:ln w="12700">
            <a:solidFill>
              <a:srgbClr val="4CC9F0"/>
            </a:solidFill>
            <a:prstDash val="solid"/>
          </a:ln>
        </p:spPr>
      </p:sp>
      <p:sp>
        <p:nvSpPr>
          <p:cNvPr id="22" name="Shape 20"/>
          <p:cNvSpPr/>
          <p:nvPr/>
        </p:nvSpPr>
        <p:spPr>
          <a:xfrm>
            <a:off x="8202168" y="804672"/>
            <a:ext cx="1554480" cy="256032"/>
          </a:xfrm>
          <a:prstGeom prst="roundRect">
            <a:avLst>
              <a:gd name="adj" fmla="val 50000"/>
            </a:avLst>
          </a:prstGeom>
          <a:solidFill>
            <a:srgbClr val="0096C7"/>
          </a:solidFill>
          <a:ln w="12700">
            <a:solidFill>
              <a:srgbClr val="0096C7"/>
            </a:solidFill>
            <a:prstDash val="solid"/>
          </a:ln>
        </p:spPr>
      </p:sp>
      <p:sp>
        <p:nvSpPr>
          <p:cNvPr id="23" name="Text 21"/>
          <p:cNvSpPr/>
          <p:nvPr/>
        </p:nvSpPr>
        <p:spPr>
          <a:xfrm>
            <a:off x="8202168" y="804672"/>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Canyon Walls</a:t>
            </a:r>
            <a:endParaRPr lang="en-US" sz="900" dirty="0"/>
          </a:p>
        </p:txBody>
      </p:sp>
      <p:sp>
        <p:nvSpPr>
          <p:cNvPr id="24" name="Text 22"/>
          <p:cNvSpPr/>
          <p:nvPr/>
        </p:nvSpPr>
        <p:spPr>
          <a:xfrm>
            <a:off x="8275320" y="1133856"/>
            <a:ext cx="3383280" cy="182880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Show BOTH rock layers AND how rivers carved through them.</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Grand Canyon: 40+ rock layers!</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Contains sea fossils — in a DESERT.</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5-6 million years of carving.</a:t>
            </a:r>
            <a:endParaRPr lang="en-US" sz="1100" dirty="0"/>
          </a:p>
        </p:txBody>
      </p:sp>
      <p:sp>
        <p:nvSpPr>
          <p:cNvPr id="25" name="Shape 23"/>
          <p:cNvSpPr/>
          <p:nvPr/>
        </p:nvSpPr>
        <p:spPr>
          <a:xfrm>
            <a:off x="8275320" y="2834640"/>
            <a:ext cx="3383280" cy="1078992"/>
          </a:xfrm>
          <a:prstGeom prst="roundRect">
            <a:avLst>
              <a:gd name="adj" fmla="val 6780"/>
            </a:avLst>
          </a:prstGeom>
          <a:solidFill>
            <a:srgbClr val="0A1520"/>
          </a:solidFill>
          <a:ln w="19050">
            <a:solidFill>
              <a:srgbClr val="4CC9F0"/>
            </a:solidFill>
            <a:prstDash val="dash"/>
          </a:ln>
        </p:spPr>
      </p:sp>
      <p:sp>
        <p:nvSpPr>
          <p:cNvPr id="26" name="Text 24"/>
          <p:cNvSpPr/>
          <p:nvPr/>
        </p:nvSpPr>
        <p:spPr>
          <a:xfrm>
            <a:off x="8366760" y="2944368"/>
            <a:ext cx="32004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7" name="Text 25"/>
          <p:cNvSpPr/>
          <p:nvPr/>
        </p:nvSpPr>
        <p:spPr>
          <a:xfrm>
            <a:off x="8366760" y="3383280"/>
            <a:ext cx="320040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28" name="Text 26"/>
          <p:cNvSpPr/>
          <p:nvPr/>
        </p:nvSpPr>
        <p:spPr>
          <a:xfrm>
            <a:off x="8385048" y="3675888"/>
            <a:ext cx="3163824" cy="27432"/>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"Grand Canyon walls rock layers strata aerial view"</a:t>
            </a:r>
            <a:endParaRPr lang="en-US" sz="950" dirty="0"/>
          </a:p>
        </p:txBody>
      </p:sp>
      <p:sp>
        <p:nvSpPr>
          <p:cNvPr id="29" name="Shape 27"/>
          <p:cNvSpPr/>
          <p:nvPr/>
        </p:nvSpPr>
        <p:spPr>
          <a:xfrm>
            <a:off x="365760" y="4224528"/>
            <a:ext cx="11430000" cy="960120"/>
          </a:xfrm>
          <a:prstGeom prst="roundRect">
            <a:avLst>
              <a:gd name="adj" fmla="val 7619"/>
            </a:avLst>
          </a:prstGeom>
          <a:solidFill>
            <a:srgbClr val="162233"/>
          </a:solidFill>
          <a:ln w="12700">
            <a:solidFill>
              <a:srgbClr val="243A52"/>
            </a:solidFill>
            <a:prstDash val="solid"/>
          </a:ln>
        </p:spPr>
      </p:sp>
      <p:sp>
        <p:nvSpPr>
          <p:cNvPr id="30" name="Text 28"/>
          <p:cNvSpPr/>
          <p:nvPr/>
        </p:nvSpPr>
        <p:spPr>
          <a:xfrm>
            <a:off x="548640" y="4343400"/>
            <a:ext cx="10972800" cy="685800"/>
          </a:xfrm>
          <a:prstGeom prst="rect">
            <a:avLst/>
          </a:prstGeom>
          <a:noFill/>
          <a:ln/>
        </p:spPr>
        <p:txBody>
          <a:bodyPr wrap="square" rtlCol="0" anchor="ctr"/>
          <a:lstStyle/>
          <a:p>
            <a:pPr indent="0" marL="0">
              <a:buNone/>
            </a:pPr>
            <a:r>
              <a:rPr lang="en-US" sz="1150" i="1" dirty="0">
                <a:solidFill>
                  <a:srgbClr val="FFB703"/>
                </a:solidFill>
                <a:latin typeface="Calibri" pitchFamily="34" charset="0"/>
                <a:ea typeface="Calibri" pitchFamily="34" charset="-122"/>
                <a:cs typeface="Calibri" pitchFamily="34" charset="-120"/>
              </a:rPr>
              <a:t>💬  Discuss: You found a rock layer full of fish fossils sitting on top of a layer full of fern fossils. What story do those two layers tell about how this place changed?</a:t>
            </a:r>
            <a:endParaRPr lang="en-US" sz="1150" dirty="0"/>
          </a:p>
        </p:txBody>
      </p:sp>
      <p:sp>
        <p:nvSpPr>
          <p:cNvPr id="31" name="Shape 29"/>
          <p:cNvSpPr/>
          <p:nvPr/>
        </p:nvSpPr>
        <p:spPr>
          <a:xfrm>
            <a:off x="0" y="6629400"/>
            <a:ext cx="12192000" cy="228600"/>
          </a:xfrm>
          <a:prstGeom prst="rect">
            <a:avLst/>
          </a:prstGeom>
          <a:solidFill>
            <a:srgbClr val="162233"/>
          </a:solidFill>
          <a:ln/>
        </p:spPr>
      </p:sp>
      <p:sp>
        <p:nvSpPr>
          <p:cNvPr id="32" name="Text 3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5.01  ·  Landscapes Over Time</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EXPLORE — How a Canyon Forms: 4 Steps</a:t>
            </a:r>
            <a:endParaRPr lang="en-US" sz="1600" dirty="0"/>
          </a:p>
        </p:txBody>
      </p:sp>
      <p:sp>
        <p:nvSpPr>
          <p:cNvPr id="5" name="Shape 3"/>
          <p:cNvSpPr/>
          <p:nvPr/>
        </p:nvSpPr>
        <p:spPr>
          <a:xfrm>
            <a:off x="365760" y="749808"/>
            <a:ext cx="5577840" cy="2359152"/>
          </a:xfrm>
          <a:prstGeom prst="roundRect">
            <a:avLst>
              <a:gd name="adj" fmla="val 3101"/>
            </a:avLst>
          </a:prstGeom>
          <a:solidFill>
            <a:srgbClr val="1E2F45"/>
          </a:solidFill>
          <a:ln w="12700">
            <a:solidFill>
              <a:srgbClr val="4CC9F0"/>
            </a:solidFill>
            <a:prstDash val="solid"/>
          </a:ln>
        </p:spPr>
      </p:sp>
      <p:sp>
        <p:nvSpPr>
          <p:cNvPr id="6" name="Text 4"/>
          <p:cNvSpPr/>
          <p:nvPr/>
        </p:nvSpPr>
        <p:spPr>
          <a:xfrm>
            <a:off x="548640" y="841248"/>
            <a:ext cx="5212080" cy="384048"/>
          </a:xfrm>
          <a:prstGeom prst="rect">
            <a:avLst/>
          </a:prstGeom>
          <a:noFill/>
          <a:ln/>
        </p:spPr>
        <p:txBody>
          <a:bodyPr wrap="square" rtlCol="0" anchor="ctr"/>
          <a:lstStyle/>
          <a:p>
            <a:pPr indent="0" marL="0">
              <a:buNone/>
            </a:pPr>
            <a:r>
              <a:rPr lang="en-US" sz="1250" b="1" dirty="0">
                <a:solidFill>
                  <a:srgbClr val="4CC9F0"/>
                </a:solidFill>
                <a:latin typeface="Calibri" pitchFamily="34" charset="0"/>
                <a:ea typeface="Calibri" pitchFamily="34" charset="-122"/>
                <a:cs typeface="Calibri" pitchFamily="34" charset="-120"/>
              </a:rPr>
              <a:t>☁️  Step 1: Rain &amp; Rivers</a:t>
            </a:r>
            <a:endParaRPr lang="en-US" sz="1250" dirty="0"/>
          </a:p>
        </p:txBody>
      </p:sp>
      <p:sp>
        <p:nvSpPr>
          <p:cNvPr id="7" name="Text 5"/>
          <p:cNvSpPr/>
          <p:nvPr/>
        </p:nvSpPr>
        <p:spPr>
          <a:xfrm>
            <a:off x="548640" y="1280160"/>
            <a:ext cx="5212080" cy="169164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Rain falls and flows downhill, joining to form rivers. The Colorado River flowed across a high, flat plateau — like a table of land.</a:t>
            </a:r>
            <a:endParaRPr lang="en-US" sz="1150" dirty="0"/>
          </a:p>
        </p:txBody>
      </p:sp>
      <p:sp>
        <p:nvSpPr>
          <p:cNvPr id="8" name="Shape 6"/>
          <p:cNvSpPr/>
          <p:nvPr/>
        </p:nvSpPr>
        <p:spPr>
          <a:xfrm>
            <a:off x="365760" y="3337560"/>
            <a:ext cx="5577840" cy="2359152"/>
          </a:xfrm>
          <a:prstGeom prst="roundRect">
            <a:avLst>
              <a:gd name="adj" fmla="val 3101"/>
            </a:avLst>
          </a:prstGeom>
          <a:solidFill>
            <a:srgbClr val="1E2F45"/>
          </a:solidFill>
          <a:ln w="12700">
            <a:solidFill>
              <a:srgbClr val="4CC9F0"/>
            </a:solidFill>
            <a:prstDash val="solid"/>
          </a:ln>
        </p:spPr>
      </p:sp>
      <p:sp>
        <p:nvSpPr>
          <p:cNvPr id="9" name="Text 7"/>
          <p:cNvSpPr/>
          <p:nvPr/>
        </p:nvSpPr>
        <p:spPr>
          <a:xfrm>
            <a:off x="548640" y="3429000"/>
            <a:ext cx="5212080" cy="384048"/>
          </a:xfrm>
          <a:prstGeom prst="rect">
            <a:avLst/>
          </a:prstGeom>
          <a:noFill/>
          <a:ln/>
        </p:spPr>
        <p:txBody>
          <a:bodyPr wrap="square" rtlCol="0" anchor="ctr"/>
          <a:lstStyle/>
          <a:p>
            <a:pPr indent="0" marL="0">
              <a:buNone/>
            </a:pPr>
            <a:r>
              <a:rPr lang="en-US" sz="1250" b="1" dirty="0">
                <a:solidFill>
                  <a:srgbClr val="4CC9F0"/>
                </a:solidFill>
                <a:latin typeface="Calibri" pitchFamily="34" charset="0"/>
                <a:ea typeface="Calibri" pitchFamily="34" charset="-122"/>
                <a:cs typeface="Calibri" pitchFamily="34" charset="-120"/>
              </a:rPr>
              <a:t>🌊  Step 2: Erosion Begins</a:t>
            </a:r>
            <a:endParaRPr lang="en-US" sz="1250" dirty="0"/>
          </a:p>
        </p:txBody>
      </p:sp>
      <p:sp>
        <p:nvSpPr>
          <p:cNvPr id="10" name="Text 8"/>
          <p:cNvSpPr/>
          <p:nvPr/>
        </p:nvSpPr>
        <p:spPr>
          <a:xfrm>
            <a:off x="548640" y="3867912"/>
            <a:ext cx="5212080" cy="169164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Moving water carries sediment — sand and small rocks — that scrape the riverbed like sandpaper, slowly wearing away the rock below.</a:t>
            </a:r>
            <a:endParaRPr lang="en-US" sz="1150" dirty="0"/>
          </a:p>
        </p:txBody>
      </p:sp>
      <p:sp>
        <p:nvSpPr>
          <p:cNvPr id="11" name="Shape 9"/>
          <p:cNvSpPr/>
          <p:nvPr/>
        </p:nvSpPr>
        <p:spPr>
          <a:xfrm>
            <a:off x="6172200" y="749808"/>
            <a:ext cx="5577840" cy="2359152"/>
          </a:xfrm>
          <a:prstGeom prst="roundRect">
            <a:avLst>
              <a:gd name="adj" fmla="val 3101"/>
            </a:avLst>
          </a:prstGeom>
          <a:solidFill>
            <a:srgbClr val="1E2F45"/>
          </a:solidFill>
          <a:ln w="12700">
            <a:solidFill>
              <a:srgbClr val="4CC9F0"/>
            </a:solidFill>
            <a:prstDash val="solid"/>
          </a:ln>
        </p:spPr>
      </p:sp>
      <p:sp>
        <p:nvSpPr>
          <p:cNvPr id="12" name="Text 10"/>
          <p:cNvSpPr/>
          <p:nvPr/>
        </p:nvSpPr>
        <p:spPr>
          <a:xfrm>
            <a:off x="6355080" y="841248"/>
            <a:ext cx="5212080" cy="384048"/>
          </a:xfrm>
          <a:prstGeom prst="rect">
            <a:avLst/>
          </a:prstGeom>
          <a:noFill/>
          <a:ln/>
        </p:spPr>
        <p:txBody>
          <a:bodyPr wrap="square" rtlCol="0" anchor="ctr"/>
          <a:lstStyle/>
          <a:p>
            <a:pPr indent="0" marL="0">
              <a:buNone/>
            </a:pPr>
            <a:r>
              <a:rPr lang="en-US" sz="1250" b="1" dirty="0">
                <a:solidFill>
                  <a:srgbClr val="4CC9F0"/>
                </a:solidFill>
                <a:latin typeface="Calibri" pitchFamily="34" charset="0"/>
                <a:ea typeface="Calibri" pitchFamily="34" charset="-122"/>
                <a:cs typeface="Calibri" pitchFamily="34" charset="-120"/>
              </a:rPr>
              <a:t>⏳  Step 3: Canyon Deepens</a:t>
            </a:r>
            <a:endParaRPr lang="en-US" sz="1250" dirty="0"/>
          </a:p>
        </p:txBody>
      </p:sp>
      <p:sp>
        <p:nvSpPr>
          <p:cNvPr id="13" name="Text 11"/>
          <p:cNvSpPr/>
          <p:nvPr/>
        </p:nvSpPr>
        <p:spPr>
          <a:xfrm>
            <a:off x="6355080" y="1280160"/>
            <a:ext cx="5212080" cy="169164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Over thousands, then MILLIONS of years, the river cuts deeper and deeper. Imagine dragging a key across wood millions of times — tiny scratches become a deep groove!</a:t>
            </a:r>
            <a:endParaRPr lang="en-US" sz="1150" dirty="0"/>
          </a:p>
        </p:txBody>
      </p:sp>
      <p:sp>
        <p:nvSpPr>
          <p:cNvPr id="14" name="Shape 12"/>
          <p:cNvSpPr/>
          <p:nvPr/>
        </p:nvSpPr>
        <p:spPr>
          <a:xfrm>
            <a:off x="6172200" y="3337560"/>
            <a:ext cx="5577840" cy="2359152"/>
          </a:xfrm>
          <a:prstGeom prst="roundRect">
            <a:avLst>
              <a:gd name="adj" fmla="val 3101"/>
            </a:avLst>
          </a:prstGeom>
          <a:solidFill>
            <a:srgbClr val="1E2F45"/>
          </a:solidFill>
          <a:ln w="12700">
            <a:solidFill>
              <a:srgbClr val="4CC9F0"/>
            </a:solidFill>
            <a:prstDash val="solid"/>
          </a:ln>
        </p:spPr>
      </p:sp>
      <p:sp>
        <p:nvSpPr>
          <p:cNvPr id="15" name="Text 13"/>
          <p:cNvSpPr/>
          <p:nvPr/>
        </p:nvSpPr>
        <p:spPr>
          <a:xfrm>
            <a:off x="6355080" y="3429000"/>
            <a:ext cx="5212080" cy="384048"/>
          </a:xfrm>
          <a:prstGeom prst="rect">
            <a:avLst/>
          </a:prstGeom>
          <a:noFill/>
          <a:ln/>
        </p:spPr>
        <p:txBody>
          <a:bodyPr wrap="square" rtlCol="0" anchor="ctr"/>
          <a:lstStyle/>
          <a:p>
            <a:pPr indent="0" marL="0">
              <a:buNone/>
            </a:pPr>
            <a:r>
              <a:rPr lang="en-US" sz="1250" b="1" dirty="0">
                <a:solidFill>
                  <a:srgbClr val="4CC9F0"/>
                </a:solidFill>
                <a:latin typeface="Calibri" pitchFamily="34" charset="0"/>
                <a:ea typeface="Calibri" pitchFamily="34" charset="-122"/>
                <a:cs typeface="Calibri" pitchFamily="34" charset="-120"/>
              </a:rPr>
              <a:t>🪨  Step 4: Layers Revealed!</a:t>
            </a:r>
            <a:endParaRPr lang="en-US" sz="1250" dirty="0"/>
          </a:p>
        </p:txBody>
      </p:sp>
      <p:sp>
        <p:nvSpPr>
          <p:cNvPr id="16" name="Text 14"/>
          <p:cNvSpPr/>
          <p:nvPr/>
        </p:nvSpPr>
        <p:spPr>
          <a:xfrm>
            <a:off x="6355080" y="3867912"/>
            <a:ext cx="5212080" cy="169164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As the canyon deepens, the ancient rock layers hidden underground become visible on the canyon walls — like a history book opened by the river!</a:t>
            </a:r>
            <a:endParaRPr lang="en-US" sz="115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5.01  ·  Landscapes Over Time</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DIAGRAM — Grand Canyon Cross-Section</a:t>
            </a:r>
            <a:endParaRPr lang="en-US" sz="1600" dirty="0"/>
          </a:p>
        </p:txBody>
      </p:sp>
      <p:sp>
        <p:nvSpPr>
          <p:cNvPr id="5" name="Text 3"/>
          <p:cNvSpPr/>
          <p:nvPr/>
        </p:nvSpPr>
        <p:spPr>
          <a:xfrm>
            <a:off x="365760" y="749808"/>
            <a:ext cx="11430000" cy="347472"/>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  Evidence-Based Prediction FIRST:</a:t>
            </a:r>
            <a:endParaRPr lang="en-US" sz="1200" dirty="0"/>
          </a:p>
        </p:txBody>
      </p:sp>
      <p:sp>
        <p:nvSpPr>
          <p:cNvPr id="6" name="Text 4"/>
          <p:cNvSpPr/>
          <p:nvPr/>
        </p:nvSpPr>
        <p:spPr>
          <a:xfrm>
            <a:off x="365760" y="1133856"/>
            <a:ext cx="11430000" cy="457200"/>
          </a:xfrm>
          <a:prstGeom prst="rect">
            <a:avLst/>
          </a:prstGeom>
          <a:noFill/>
          <a:ln/>
        </p:spPr>
        <p:txBody>
          <a:bodyPr wrap="square" rtlCol="0" anchor="ctr"/>
          <a:lstStyle/>
          <a:p>
            <a:pPr indent="0" marL="0">
              <a:buNone/>
            </a:pPr>
            <a:r>
              <a:rPr lang="en-US" sz="1250" i="1" dirty="0">
                <a:solidFill>
                  <a:srgbClr val="B0C4D8"/>
                </a:solidFill>
                <a:latin typeface="Calibri" pitchFamily="34" charset="0"/>
                <a:ea typeface="Calibri" pitchFamily="34" charset="-122"/>
                <a:cs typeface="Calibri" pitchFamily="34" charset="-120"/>
              </a:rPr>
              <a:t>"I predict the oldest rock layer will be located ___ because ___."  Write it now — then check!</a:t>
            </a:r>
            <a:endParaRPr lang="en-US" sz="1250" dirty="0"/>
          </a:p>
        </p:txBody>
      </p:sp>
      <p:sp>
        <p:nvSpPr>
          <p:cNvPr id="7" name="Shape 5"/>
          <p:cNvSpPr/>
          <p:nvPr/>
        </p:nvSpPr>
        <p:spPr>
          <a:xfrm>
            <a:off x="365760" y="1719072"/>
            <a:ext cx="7772400" cy="4041648"/>
          </a:xfrm>
          <a:prstGeom prst="roundRect">
            <a:avLst>
              <a:gd name="adj" fmla="val 1810"/>
            </a:avLst>
          </a:prstGeom>
          <a:solidFill>
            <a:srgbClr val="0A1520"/>
          </a:solidFill>
          <a:ln w="19050">
            <a:solidFill>
              <a:srgbClr val="4CC9F0"/>
            </a:solidFill>
            <a:prstDash val="dash"/>
          </a:ln>
        </p:spPr>
      </p:sp>
      <p:sp>
        <p:nvSpPr>
          <p:cNvPr id="8" name="Text 6"/>
          <p:cNvSpPr/>
          <p:nvPr/>
        </p:nvSpPr>
        <p:spPr>
          <a:xfrm>
            <a:off x="457200" y="1828800"/>
            <a:ext cx="75895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9" name="Text 7"/>
          <p:cNvSpPr/>
          <p:nvPr/>
        </p:nvSpPr>
        <p:spPr>
          <a:xfrm>
            <a:off x="457200" y="2267712"/>
            <a:ext cx="758952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0" name="Text 8"/>
          <p:cNvSpPr/>
          <p:nvPr/>
        </p:nvSpPr>
        <p:spPr>
          <a:xfrm>
            <a:off x="475488" y="2560320"/>
            <a:ext cx="7552944" cy="2990088"/>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"Grand Canyon cross section diagram labeled rock layers river bottom oldest newest geological strata"</a:t>
            </a:r>
            <a:endParaRPr lang="en-US" sz="950" dirty="0"/>
          </a:p>
        </p:txBody>
      </p:sp>
      <p:sp>
        <p:nvSpPr>
          <p:cNvPr id="11" name="Text 9"/>
          <p:cNvSpPr/>
          <p:nvPr/>
        </p:nvSpPr>
        <p:spPr>
          <a:xfrm>
            <a:off x="365760" y="5797296"/>
            <a:ext cx="777240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The Grand Canyon — 40+ rock layers, each a different period in Earth's history</a:t>
            </a:r>
            <a:endParaRPr lang="en-US" sz="900" dirty="0"/>
          </a:p>
        </p:txBody>
      </p:sp>
      <p:sp>
        <p:nvSpPr>
          <p:cNvPr id="12" name="Shape 10"/>
          <p:cNvSpPr/>
          <p:nvPr/>
        </p:nvSpPr>
        <p:spPr>
          <a:xfrm>
            <a:off x="8321040" y="1719072"/>
            <a:ext cx="3474720" cy="4041648"/>
          </a:xfrm>
          <a:prstGeom prst="roundRect">
            <a:avLst>
              <a:gd name="adj" fmla="val 2105"/>
            </a:avLst>
          </a:prstGeom>
          <a:solidFill>
            <a:srgbClr val="1E2F45"/>
          </a:solidFill>
          <a:ln w="12700">
            <a:solidFill>
              <a:srgbClr val="FFB703"/>
            </a:solidFill>
            <a:prstDash val="solid"/>
          </a:ln>
        </p:spPr>
      </p:sp>
      <p:sp>
        <p:nvSpPr>
          <p:cNvPr id="13" name="Text 11"/>
          <p:cNvSpPr/>
          <p:nvPr/>
        </p:nvSpPr>
        <p:spPr>
          <a:xfrm>
            <a:off x="8458200" y="1792224"/>
            <a:ext cx="3200400" cy="347472"/>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Grand Canyon Facts</a:t>
            </a:r>
            <a:endParaRPr lang="en-US" sz="1200" dirty="0"/>
          </a:p>
        </p:txBody>
      </p:sp>
      <p:sp>
        <p:nvSpPr>
          <p:cNvPr id="14" name="Text 12"/>
          <p:cNvSpPr/>
          <p:nvPr/>
        </p:nvSpPr>
        <p:spPr>
          <a:xfrm>
            <a:off x="8458200" y="2212848"/>
            <a:ext cx="3200400" cy="45720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40+ separate rock layers</a:t>
            </a:r>
            <a:endParaRPr lang="en-US" sz="1100" dirty="0"/>
          </a:p>
        </p:txBody>
      </p:sp>
      <p:sp>
        <p:nvSpPr>
          <p:cNvPr id="15" name="Text 13"/>
          <p:cNvSpPr/>
          <p:nvPr/>
        </p:nvSpPr>
        <p:spPr>
          <a:xfrm>
            <a:off x="8458200" y="2743200"/>
            <a:ext cx="3200400" cy="45720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Sea creature fossils found</a:t>
            </a:r>
            <a:endParaRPr lang="en-US" sz="1100" dirty="0"/>
          </a:p>
        </p:txBody>
      </p:sp>
      <p:sp>
        <p:nvSpPr>
          <p:cNvPr id="16" name="Text 14"/>
          <p:cNvSpPr/>
          <p:nvPr/>
        </p:nvSpPr>
        <p:spPr>
          <a:xfrm>
            <a:off x="8458200" y="3273552"/>
            <a:ext cx="3200400" cy="45720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Located in a DESERT</a:t>
            </a:r>
            <a:endParaRPr lang="en-US" sz="1100" dirty="0"/>
          </a:p>
        </p:txBody>
      </p:sp>
      <p:sp>
        <p:nvSpPr>
          <p:cNvPr id="17" name="Text 15"/>
          <p:cNvSpPr/>
          <p:nvPr/>
        </p:nvSpPr>
        <p:spPr>
          <a:xfrm>
            <a:off x="8458200" y="3803904"/>
            <a:ext cx="3200400" cy="45720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Over 1 mile (1.6 km) deep</a:t>
            </a:r>
            <a:endParaRPr lang="en-US" sz="1100" dirty="0"/>
          </a:p>
        </p:txBody>
      </p:sp>
      <p:sp>
        <p:nvSpPr>
          <p:cNvPr id="18" name="Text 16"/>
          <p:cNvSpPr/>
          <p:nvPr/>
        </p:nvSpPr>
        <p:spPr>
          <a:xfrm>
            <a:off x="8458200" y="4334256"/>
            <a:ext cx="3200400" cy="45720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Bottom rocks: ~2 billion years old</a:t>
            </a:r>
            <a:endParaRPr lang="en-US" sz="1100" dirty="0"/>
          </a:p>
        </p:txBody>
      </p:sp>
      <p:sp>
        <p:nvSpPr>
          <p:cNvPr id="19" name="Text 17"/>
          <p:cNvSpPr/>
          <p:nvPr/>
        </p:nvSpPr>
        <p:spPr>
          <a:xfrm>
            <a:off x="8458200" y="4864608"/>
            <a:ext cx="3200400" cy="45720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Colorado River carved it: 5–6 million years</a:t>
            </a:r>
            <a:endParaRPr lang="en-US" sz="1100" dirty="0"/>
          </a:p>
        </p:txBody>
      </p:sp>
      <p:sp>
        <p:nvSpPr>
          <p:cNvPr id="20" name="Shape 18"/>
          <p:cNvSpPr/>
          <p:nvPr/>
        </p:nvSpPr>
        <p:spPr>
          <a:xfrm>
            <a:off x="0" y="6629400"/>
            <a:ext cx="12192000" cy="228600"/>
          </a:xfrm>
          <a:prstGeom prst="rect">
            <a:avLst/>
          </a:prstGeom>
          <a:solidFill>
            <a:srgbClr val="162233"/>
          </a:solidFill>
          <a:ln/>
        </p:spPr>
      </p:sp>
      <p:sp>
        <p:nvSpPr>
          <p:cNvPr id="21" name="Text 1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5.01  ·  Landscapes Over Time</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EVIDENCE-BASED REASONING — Rock Layer Patterns</a:t>
            </a:r>
            <a:endParaRPr lang="en-US" sz="1600" dirty="0"/>
          </a:p>
        </p:txBody>
      </p:sp>
      <p:sp>
        <p:nvSpPr>
          <p:cNvPr id="5" name="Shape 3"/>
          <p:cNvSpPr/>
          <p:nvPr/>
        </p:nvSpPr>
        <p:spPr>
          <a:xfrm>
            <a:off x="365760" y="749808"/>
            <a:ext cx="11430000" cy="1828800"/>
          </a:xfrm>
          <a:prstGeom prst="roundRect">
            <a:avLst>
              <a:gd name="adj" fmla="val 4000"/>
            </a:avLst>
          </a:prstGeom>
          <a:solidFill>
            <a:srgbClr val="162233"/>
          </a:solidFill>
          <a:ln w="12700">
            <a:solidFill>
              <a:srgbClr val="FFB703"/>
            </a:solidFill>
            <a:prstDash val="solid"/>
          </a:ln>
        </p:spPr>
      </p:sp>
      <p:sp>
        <p:nvSpPr>
          <p:cNvPr id="6" name="Text 4"/>
          <p:cNvSpPr/>
          <p:nvPr/>
        </p:nvSpPr>
        <p:spPr>
          <a:xfrm>
            <a:off x="530352" y="822960"/>
            <a:ext cx="1110081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Stop &amp; Reason</a:t>
            </a:r>
            <a:endParaRPr lang="en-US" sz="1300" dirty="0"/>
          </a:p>
        </p:txBody>
      </p:sp>
      <p:sp>
        <p:nvSpPr>
          <p:cNvPr id="7" name="Text 5"/>
          <p:cNvSpPr/>
          <p:nvPr/>
        </p:nvSpPr>
        <p:spPr>
          <a:xfrm>
            <a:off x="530352" y="1188720"/>
            <a:ext cx="11100816" cy="1280160"/>
          </a:xfrm>
          <a:prstGeom prst="rect">
            <a:avLst/>
          </a:prstGeom>
          <a:noFill/>
          <a:ln/>
        </p:spPr>
        <p:txBody>
          <a:bodyPr wrap="square" rtlCol="0" anchor="t"/>
          <a:lstStyle/>
          <a:p>
            <a:pPr algn="l" indent="0" marL="0">
              <a:buNone/>
            </a:pPr>
            <a:r>
              <a:rPr lang="en-US" sz="1300" i="1" dirty="0">
                <a:solidFill>
                  <a:srgbClr val="FFFFFF"/>
                </a:solidFill>
                <a:latin typeface="Calibri" pitchFamily="34" charset="0"/>
                <a:ea typeface="Calibri" pitchFamily="34" charset="-122"/>
                <a:cs typeface="Calibri" pitchFamily="34" charset="-120"/>
              </a:rPr>
              <a:t>"Scientists need to look at MULTIPLE rock layers to understand a landscape's history. Why wouldn't just one layer be enough?"</a:t>
            </a:r>
            <a:endParaRPr lang="en-US" sz="1300" dirty="0"/>
          </a:p>
        </p:txBody>
      </p:sp>
      <p:sp>
        <p:nvSpPr>
          <p:cNvPr id="8" name="Shape 6"/>
          <p:cNvSpPr/>
          <p:nvPr/>
        </p:nvSpPr>
        <p:spPr>
          <a:xfrm>
            <a:off x="365760" y="2724912"/>
            <a:ext cx="11430000" cy="2267712"/>
          </a:xfrm>
          <a:prstGeom prst="roundRect">
            <a:avLst>
              <a:gd name="adj" fmla="val 3226"/>
            </a:avLst>
          </a:prstGeom>
          <a:solidFill>
            <a:srgbClr val="1E2F45"/>
          </a:solidFill>
          <a:ln w="12700">
            <a:solidFill>
              <a:srgbClr val="4CC9F0"/>
            </a:solidFill>
            <a:prstDash val="solid"/>
          </a:ln>
        </p:spPr>
      </p:sp>
      <p:sp>
        <p:nvSpPr>
          <p:cNvPr id="9" name="Text 7"/>
          <p:cNvSpPr/>
          <p:nvPr/>
        </p:nvSpPr>
        <p:spPr>
          <a:xfrm>
            <a:off x="548640" y="2798064"/>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Evidence Frame:</a:t>
            </a:r>
            <a:endParaRPr lang="en-US" sz="1200" dirty="0"/>
          </a:p>
        </p:txBody>
      </p:sp>
      <p:sp>
        <p:nvSpPr>
          <p:cNvPr id="10" name="Text 8"/>
          <p:cNvSpPr/>
          <p:nvPr/>
        </p:nvSpPr>
        <p:spPr>
          <a:xfrm>
            <a:off x="548640" y="3200400"/>
            <a:ext cx="10972800" cy="457200"/>
          </a:xfrm>
          <a:prstGeom prst="rect">
            <a:avLst/>
          </a:prstGeom>
          <a:noFill/>
          <a:ln/>
        </p:spPr>
        <p:txBody>
          <a:bodyPr wrap="square" rtlCol="0" anchor="ctr"/>
          <a:lstStyle/>
          <a:p>
            <a:pPr indent="0" marL="0">
              <a:buNone/>
            </a:pPr>
            <a:r>
              <a:rPr lang="en-US" sz="1400" i="1" dirty="0">
                <a:solidFill>
                  <a:srgbClr val="FFB703"/>
                </a:solidFill>
                <a:latin typeface="Calibri" pitchFamily="34" charset="0"/>
                <a:ea typeface="Calibri" pitchFamily="34" charset="-122"/>
                <a:cs typeface="Calibri" pitchFamily="34" charset="-120"/>
              </a:rPr>
              <a:t>"I know ___ because I observed/learned ___. This shows ___."</a:t>
            </a:r>
            <a:endParaRPr lang="en-US" sz="1400" dirty="0"/>
          </a:p>
        </p:txBody>
      </p:sp>
      <p:sp>
        <p:nvSpPr>
          <p:cNvPr id="11" name="Text 9"/>
          <p:cNvSpPr/>
          <p:nvPr/>
        </p:nvSpPr>
        <p:spPr>
          <a:xfrm>
            <a:off x="548640" y="3712464"/>
            <a:ext cx="10972800" cy="1115568"/>
          </a:xfrm>
          <a:prstGeom prst="rect">
            <a:avLst/>
          </a:prstGeom>
          <a:noFill/>
          <a:ln/>
        </p:spPr>
        <p:txBody>
          <a:bodyPr wrap="square" rtlCol="0" anchor="ctr"/>
          <a:lstStyle/>
          <a:p>
            <a:pPr indent="0" marL="0">
              <a:buNone/>
            </a:pPr>
            <a:r>
              <a:rPr lang="en-US" sz="1200" i="1" dirty="0">
                <a:solidFill>
                  <a:srgbClr val="B0C4D8"/>
                </a:solidFill>
                <a:latin typeface="Calibri" pitchFamily="34" charset="0"/>
                <a:ea typeface="Calibri" pitchFamily="34" charset="-122"/>
                <a:cs typeface="Calibri" pitchFamily="34" charset="-120"/>
              </a:rPr>
              <a:t>Example: "I know scientists need multiple rock layers because each layer represents a different time period. This shows that one layer only tells you about ONE moment in Earth's history — to understand CHANGE, you need to compare layers."</a:t>
            </a:r>
            <a:endParaRPr lang="en-US" sz="1200" dirty="0"/>
          </a:p>
        </p:txBody>
      </p:sp>
      <p:sp>
        <p:nvSpPr>
          <p:cNvPr id="12" name="Shape 10"/>
          <p:cNvSpPr/>
          <p:nvPr/>
        </p:nvSpPr>
        <p:spPr>
          <a:xfrm>
            <a:off x="0" y="6629400"/>
            <a:ext cx="12192000" cy="228600"/>
          </a:xfrm>
          <a:prstGeom prst="rect">
            <a:avLst/>
          </a:prstGeom>
          <a:solidFill>
            <a:srgbClr val="162233"/>
          </a:solidFill>
          <a:ln/>
        </p:spPr>
      </p:sp>
      <p:sp>
        <p:nvSpPr>
          <p:cNvPr id="13" name="Text 1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5.01  ·  Landscapes Over Time</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EVIDENCE-BASED REASONING — Abiotic Factors</a:t>
            </a:r>
            <a:endParaRPr lang="en-US" sz="1600" dirty="0"/>
          </a:p>
        </p:txBody>
      </p:sp>
      <p:sp>
        <p:nvSpPr>
          <p:cNvPr id="5" name="Shape 3"/>
          <p:cNvSpPr/>
          <p:nvPr/>
        </p:nvSpPr>
        <p:spPr>
          <a:xfrm>
            <a:off x="365760" y="749808"/>
            <a:ext cx="11430000" cy="1463040"/>
          </a:xfrm>
          <a:prstGeom prst="roundRect">
            <a:avLst>
              <a:gd name="adj" fmla="val 5000"/>
            </a:avLst>
          </a:prstGeom>
          <a:solidFill>
            <a:srgbClr val="1E2F45"/>
          </a:solidFill>
          <a:ln w="12700">
            <a:solidFill>
              <a:srgbClr val="2DC653"/>
            </a:solidFill>
            <a:prstDash val="solid"/>
          </a:ln>
        </p:spPr>
      </p:sp>
      <p:sp>
        <p:nvSpPr>
          <p:cNvPr id="6" name="Text 4"/>
          <p:cNvSpPr/>
          <p:nvPr/>
        </p:nvSpPr>
        <p:spPr>
          <a:xfrm>
            <a:off x="548640" y="822960"/>
            <a:ext cx="10972800" cy="384048"/>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  Abiotic Factors: The Non-Living Ingredients of a Habitat</a:t>
            </a:r>
            <a:endParaRPr lang="en-US" sz="1300" dirty="0"/>
          </a:p>
        </p:txBody>
      </p:sp>
      <p:sp>
        <p:nvSpPr>
          <p:cNvPr id="7" name="Text 5"/>
          <p:cNvSpPr/>
          <p:nvPr/>
        </p:nvSpPr>
        <p:spPr>
          <a:xfrm>
            <a:off x="548640" y="1243584"/>
            <a:ext cx="10972800" cy="80467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Sunlight · Water / Rainfall · Soil Type · Temperature · Air quality — all non-living, but they determine WHAT CAN LIVE THERE.</a:t>
            </a:r>
            <a:endParaRPr lang="en-US" sz="1200" dirty="0"/>
          </a:p>
        </p:txBody>
      </p:sp>
      <p:sp>
        <p:nvSpPr>
          <p:cNvPr id="8" name="Shape 6"/>
          <p:cNvSpPr/>
          <p:nvPr/>
        </p:nvSpPr>
        <p:spPr>
          <a:xfrm>
            <a:off x="365760" y="2359152"/>
            <a:ext cx="11430000" cy="2212848"/>
          </a:xfrm>
          <a:prstGeom prst="roundRect">
            <a:avLst>
              <a:gd name="adj" fmla="val 3306"/>
            </a:avLst>
          </a:prstGeom>
          <a:solidFill>
            <a:srgbClr val="162233"/>
          </a:solidFill>
          <a:ln w="12700">
            <a:solidFill>
              <a:srgbClr val="FFB703"/>
            </a:solidFill>
            <a:prstDash val="solid"/>
          </a:ln>
        </p:spPr>
      </p:sp>
      <p:sp>
        <p:nvSpPr>
          <p:cNvPr id="9" name="Text 7"/>
          <p:cNvSpPr/>
          <p:nvPr/>
        </p:nvSpPr>
        <p:spPr>
          <a:xfrm>
            <a:off x="530352" y="2432304"/>
            <a:ext cx="1110081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Think &amp; Discuss</a:t>
            </a:r>
            <a:endParaRPr lang="en-US" sz="1300" dirty="0"/>
          </a:p>
        </p:txBody>
      </p:sp>
      <p:sp>
        <p:nvSpPr>
          <p:cNvPr id="10" name="Text 8"/>
          <p:cNvSpPr/>
          <p:nvPr/>
        </p:nvSpPr>
        <p:spPr>
          <a:xfrm>
            <a:off x="530352" y="2798064"/>
            <a:ext cx="11100816" cy="1664208"/>
          </a:xfrm>
          <a:prstGeom prst="rect">
            <a:avLst/>
          </a:prstGeom>
          <a:noFill/>
          <a:ln/>
        </p:spPr>
        <p:txBody>
          <a:bodyPr wrap="square" rtlCol="0" anchor="t"/>
          <a:lstStyle/>
          <a:p>
            <a:pPr algn="l" indent="0" marL="0">
              <a:buNone/>
            </a:pPr>
            <a:r>
              <a:rPr lang="en-US" sz="1250" i="1" dirty="0">
                <a:solidFill>
                  <a:srgbClr val="FFFFFF"/>
                </a:solidFill>
                <a:latin typeface="Calibri" pitchFamily="34" charset="0"/>
                <a:ea typeface="Calibri" pitchFamily="34" charset="-122"/>
                <a:cs typeface="Calibri" pitchFamily="34" charset="-120"/>
              </a:rPr>
              <a:t>The Grand Canyon area was once an ancient ocean, then a forest, and now it's a desert canyon.</a:t>
            </a:r>
            <a:endParaRPr lang="en-US" sz="1250" dirty="0"/>
          </a:p>
          <a:p>
            <a:pPr algn="l" indent="0" marL="0">
              <a:buNone/>
            </a:pPr>
            <a:endParaRPr lang="en-US" sz="1250" dirty="0"/>
          </a:p>
          <a:p>
            <a:pPr algn="l" indent="0" marL="0">
              <a:buNone/>
            </a:pPr>
            <a:r>
              <a:rPr lang="en-US" sz="1250" i="1" dirty="0">
                <a:solidFill>
                  <a:srgbClr val="FFFFFF"/>
                </a:solidFill>
                <a:latin typeface="Calibri" pitchFamily="34" charset="0"/>
                <a:ea typeface="Calibri" pitchFamily="34" charset="-122"/>
                <a:cs typeface="Calibri" pitchFamily="34" charset="-120"/>
              </a:rPr>
              <a:t>How would the ABIOTIC FACTORS have been different in each of those three time periods?</a:t>
            </a:r>
            <a:endParaRPr lang="en-US" sz="1250" dirty="0"/>
          </a:p>
        </p:txBody>
      </p:sp>
      <p:sp>
        <p:nvSpPr>
          <p:cNvPr id="11" name="Shape 9"/>
          <p:cNvSpPr/>
          <p:nvPr/>
        </p:nvSpPr>
        <p:spPr>
          <a:xfrm>
            <a:off x="365760" y="4709160"/>
            <a:ext cx="11430000" cy="1024128"/>
          </a:xfrm>
          <a:prstGeom prst="roundRect">
            <a:avLst>
              <a:gd name="adj" fmla="val 7143"/>
            </a:avLst>
          </a:prstGeom>
          <a:solidFill>
            <a:srgbClr val="0A1520"/>
          </a:solidFill>
          <a:ln w="12700">
            <a:solidFill>
              <a:srgbClr val="4CC9F0"/>
            </a:solidFill>
            <a:prstDash val="solid"/>
          </a:ln>
        </p:spPr>
      </p:sp>
      <p:sp>
        <p:nvSpPr>
          <p:cNvPr id="12" name="Text 10"/>
          <p:cNvSpPr/>
          <p:nvPr/>
        </p:nvSpPr>
        <p:spPr>
          <a:xfrm>
            <a:off x="548640" y="4892040"/>
            <a:ext cx="10972800" cy="621792"/>
          </a:xfrm>
          <a:prstGeom prst="rect">
            <a:avLst/>
          </a:prstGeom>
          <a:noFill/>
          <a:ln/>
        </p:spPr>
        <p:txBody>
          <a:bodyPr wrap="square" rtlCol="0" anchor="ctr"/>
          <a:lstStyle/>
          <a:p>
            <a:pPr indent="0" marL="0">
              <a:buNone/>
            </a:pPr>
            <a:r>
              <a:rPr lang="en-US" sz="1200" i="1" dirty="0">
                <a:solidFill>
                  <a:srgbClr val="4CC9F0"/>
                </a:solidFill>
                <a:latin typeface="Calibri" pitchFamily="34" charset="0"/>
                <a:ea typeface="Calibri" pitchFamily="34" charset="-122"/>
                <a:cs typeface="Calibri" pitchFamily="34" charset="-120"/>
              </a:rPr>
              <a:t>Use the evidence frame: "I know the abiotic factors changed because ___. This shows ___"</a:t>
            </a:r>
            <a:endParaRPr lang="en-US" sz="1200" dirty="0"/>
          </a:p>
        </p:txBody>
      </p:sp>
      <p:sp>
        <p:nvSpPr>
          <p:cNvPr id="13" name="Shape 11"/>
          <p:cNvSpPr/>
          <p:nvPr/>
        </p:nvSpPr>
        <p:spPr>
          <a:xfrm>
            <a:off x="0" y="6629400"/>
            <a:ext cx="12192000" cy="228600"/>
          </a:xfrm>
          <a:prstGeom prst="rect">
            <a:avLst/>
          </a:prstGeom>
          <a:solidFill>
            <a:srgbClr val="162233"/>
          </a:solidFill>
          <a:ln/>
        </p:spPr>
      </p:sp>
      <p:sp>
        <p:nvSpPr>
          <p:cNvPr id="14" name="Text 1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5.01  ·  Landscapes Over Time</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4736A"/>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4736A"/>
                </a:solidFill>
                <a:latin typeface="Calibri" pitchFamily="34" charset="0"/>
                <a:ea typeface="Calibri" pitchFamily="34" charset="-122"/>
                <a:cs typeface="Calibri" pitchFamily="34" charset="-120"/>
              </a:rPr>
              <a:t>🤯  ELABORATE — Mind-Blowing + Go Deeper</a:t>
            </a:r>
            <a:endParaRPr lang="en-US" sz="1600" dirty="0"/>
          </a:p>
        </p:txBody>
      </p:sp>
      <p:sp>
        <p:nvSpPr>
          <p:cNvPr id="5" name="Shape 3"/>
          <p:cNvSpPr/>
          <p:nvPr/>
        </p:nvSpPr>
        <p:spPr>
          <a:xfrm>
            <a:off x="365760" y="749808"/>
            <a:ext cx="11430000" cy="1965960"/>
          </a:xfrm>
          <a:prstGeom prst="roundRect">
            <a:avLst>
              <a:gd name="adj" fmla="val 3721"/>
            </a:avLst>
          </a:prstGeom>
          <a:solidFill>
            <a:srgbClr val="1E2F45"/>
          </a:solidFill>
          <a:ln w="12700">
            <a:solidFill>
              <a:srgbClr val="F4736A"/>
            </a:solidFill>
            <a:prstDash val="solid"/>
          </a:ln>
        </p:spPr>
      </p:sp>
      <p:sp>
        <p:nvSpPr>
          <p:cNvPr id="6" name="Text 4"/>
          <p:cNvSpPr/>
          <p:nvPr/>
        </p:nvSpPr>
        <p:spPr>
          <a:xfrm>
            <a:off x="548640" y="822960"/>
            <a:ext cx="10972800" cy="384048"/>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  Mind-Blowing: Sea Fossils on the World's Tallest Mountains!</a:t>
            </a:r>
            <a:endParaRPr lang="en-US" sz="1300" dirty="0"/>
          </a:p>
        </p:txBody>
      </p:sp>
      <p:sp>
        <p:nvSpPr>
          <p:cNvPr id="7" name="Text 5"/>
          <p:cNvSpPr/>
          <p:nvPr/>
        </p:nvSpPr>
        <p:spPr>
          <a:xfrm>
            <a:off x="548640" y="1261872"/>
            <a:ext cx="10972800" cy="1298448"/>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Scientists discovered fossil seashells and fish bones near the TOP of the Himalayas — the TALLEST mountain range on Earth! That ground was once the floor of an ancient ocean. Over millions of years, giant forces slowly pushed the ocean floor UP and UP until it became the world's highest mountains.</a:t>
            </a:r>
            <a:endParaRPr lang="en-US" sz="1200" dirty="0"/>
          </a:p>
        </p:txBody>
      </p:sp>
      <p:sp>
        <p:nvSpPr>
          <p:cNvPr id="8" name="Shape 6"/>
          <p:cNvSpPr/>
          <p:nvPr/>
        </p:nvSpPr>
        <p:spPr>
          <a:xfrm>
            <a:off x="365760" y="2852928"/>
            <a:ext cx="5394960" cy="2788920"/>
          </a:xfrm>
          <a:prstGeom prst="roundRect">
            <a:avLst>
              <a:gd name="adj" fmla="val 2623"/>
            </a:avLst>
          </a:prstGeom>
          <a:solidFill>
            <a:srgbClr val="1A1A3A"/>
          </a:solidFill>
          <a:ln w="12700">
            <a:solidFill>
              <a:srgbClr val="0096C7"/>
            </a:solidFill>
            <a:prstDash val="solid"/>
          </a:ln>
        </p:spPr>
      </p:sp>
      <p:sp>
        <p:nvSpPr>
          <p:cNvPr id="9" name="Text 7"/>
          <p:cNvSpPr/>
          <p:nvPr/>
        </p:nvSpPr>
        <p:spPr>
          <a:xfrm>
            <a:off x="548640" y="2926080"/>
            <a:ext cx="5120640" cy="384048"/>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Go Deeper: How Sediment Becomes Rock</a:t>
            </a:r>
            <a:endParaRPr lang="en-US" sz="1200" dirty="0"/>
          </a:p>
        </p:txBody>
      </p:sp>
      <p:sp>
        <p:nvSpPr>
          <p:cNvPr id="10" name="Text 8"/>
          <p:cNvSpPr/>
          <p:nvPr/>
        </p:nvSpPr>
        <p:spPr>
          <a:xfrm>
            <a:off x="548640" y="3364992"/>
            <a:ext cx="5120640" cy="208483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Sediment piles up. New layers crush the deeper ones (compaction). Minerals seep in like cement (cementation). This — lithification — takes thousands to millions of years!</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Result: sedimentary rock — the layered rock in canyon walls.</a:t>
            </a:r>
            <a:endParaRPr lang="en-US" sz="1100" dirty="0"/>
          </a:p>
        </p:txBody>
      </p:sp>
      <p:sp>
        <p:nvSpPr>
          <p:cNvPr id="11" name="Shape 9"/>
          <p:cNvSpPr/>
          <p:nvPr/>
        </p:nvSpPr>
        <p:spPr>
          <a:xfrm>
            <a:off x="5989320" y="2852928"/>
            <a:ext cx="5760720" cy="2788920"/>
          </a:xfrm>
          <a:prstGeom prst="roundRect">
            <a:avLst>
              <a:gd name="adj" fmla="val 2623"/>
            </a:avLst>
          </a:prstGeom>
          <a:solidFill>
            <a:srgbClr val="1A1A3A"/>
          </a:solidFill>
          <a:ln w="12700">
            <a:solidFill>
              <a:srgbClr val="2DC653"/>
            </a:solidFill>
            <a:prstDash val="solid"/>
          </a:ln>
        </p:spPr>
      </p:sp>
      <p:sp>
        <p:nvSpPr>
          <p:cNvPr id="12" name="Text 10"/>
          <p:cNvSpPr/>
          <p:nvPr/>
        </p:nvSpPr>
        <p:spPr>
          <a:xfrm>
            <a:off x="6172200" y="2926080"/>
            <a:ext cx="5394960" cy="384048"/>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Fast Changes vs. Slow Changes</a:t>
            </a:r>
            <a:endParaRPr lang="en-US" sz="1200" dirty="0"/>
          </a:p>
        </p:txBody>
      </p:sp>
      <p:sp>
        <p:nvSpPr>
          <p:cNvPr id="13" name="Text 11"/>
          <p:cNvSpPr/>
          <p:nvPr/>
        </p:nvSpPr>
        <p:spPr>
          <a:xfrm>
            <a:off x="6172200" y="3364992"/>
            <a:ext cx="5394960" cy="208483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SLOW: erosion, sediment settling, rock build-up (millions of years)</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FAST: volcanic eruptions add rock in days, floods deposit sediment in hours, landslides reshape hillsides in minutes!</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'The present is the key to the past!'</a:t>
            </a:r>
            <a:endParaRPr lang="en-US" sz="110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5.01  ·  Landscapes Over Time</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SELF-CHECK — Let's See What You Know!</a:t>
            </a:r>
            <a:endParaRPr lang="en-US" sz="1600" dirty="0"/>
          </a:p>
        </p:txBody>
      </p:sp>
      <p:sp>
        <p:nvSpPr>
          <p:cNvPr id="5" name="Shape 3"/>
          <p:cNvSpPr/>
          <p:nvPr/>
        </p:nvSpPr>
        <p:spPr>
          <a:xfrm>
            <a:off x="365760" y="749808"/>
            <a:ext cx="11430000" cy="1783080"/>
          </a:xfrm>
          <a:prstGeom prst="roundRect">
            <a:avLst>
              <a:gd name="adj" fmla="val 4103"/>
            </a:avLst>
          </a:prstGeom>
          <a:solidFill>
            <a:srgbClr val="1E2F45"/>
          </a:solidFill>
          <a:ln w="12700">
            <a:solidFill>
              <a:srgbClr val="243A52"/>
            </a:solidFill>
            <a:prstDash val="solid"/>
          </a:ln>
        </p:spPr>
      </p:sp>
      <p:sp>
        <p:nvSpPr>
          <p:cNvPr id="6" name="Text 4"/>
          <p:cNvSpPr/>
          <p:nvPr/>
        </p:nvSpPr>
        <p:spPr>
          <a:xfrm>
            <a:off x="548640" y="822960"/>
            <a:ext cx="10972800" cy="347472"/>
          </a:xfrm>
          <a:prstGeom prst="rect">
            <a:avLst/>
          </a:prstGeom>
          <a:noFill/>
          <a:ln/>
        </p:spPr>
        <p:txBody>
          <a:bodyPr wrap="square" rtlCol="0" anchor="ctr"/>
          <a:lstStyle/>
          <a:p>
            <a:pPr indent="0" marL="0">
              <a:buNone/>
            </a:pPr>
            <a:r>
              <a:rPr lang="en-US" sz="1250" b="1" dirty="0">
                <a:solidFill>
                  <a:srgbClr val="4CC9F0"/>
                </a:solidFill>
                <a:latin typeface="Calibri" pitchFamily="34" charset="0"/>
                <a:ea typeface="Calibri" pitchFamily="34" charset="-122"/>
                <a:cs typeface="Calibri" pitchFamily="34" charset="-120"/>
              </a:rPr>
              <a:t>1.  What does it mean when scientists find seashell fossils on dry land?</a:t>
            </a:r>
            <a:endParaRPr lang="en-US" sz="1250" dirty="0"/>
          </a:p>
        </p:txBody>
      </p:sp>
      <p:sp>
        <p:nvSpPr>
          <p:cNvPr id="7" name="Text 5"/>
          <p:cNvSpPr/>
          <p:nvPr/>
        </p:nvSpPr>
        <p:spPr>
          <a:xfrm>
            <a:off x="548640" y="1207008"/>
            <a:ext cx="10972800" cy="43891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 Seashells can grow inside solid rock     B — That area used to be covered by water ✓     C — The fossils were placed there by people</a:t>
            </a:r>
            <a:endParaRPr lang="en-US" sz="1100" dirty="0"/>
          </a:p>
        </p:txBody>
      </p:sp>
      <p:sp>
        <p:nvSpPr>
          <p:cNvPr id="8" name="Text 6"/>
          <p:cNvSpPr/>
          <p:nvPr/>
        </p:nvSpPr>
        <p:spPr>
          <a:xfrm>
            <a:off x="548640" y="1709928"/>
            <a:ext cx="10972800" cy="658368"/>
          </a:xfrm>
          <a:prstGeom prst="rect">
            <a:avLst/>
          </a:prstGeom>
          <a:noFill/>
          <a:ln/>
        </p:spPr>
        <p:txBody>
          <a:bodyPr wrap="square" rtlCol="0" anchor="ctr"/>
          <a:lstStyle/>
          <a:p>
            <a:pPr indent="0" marL="0">
              <a:buNone/>
            </a:pPr>
            <a:r>
              <a:rPr lang="en-US" sz="1050" i="1" dirty="0">
                <a:solidFill>
                  <a:srgbClr val="2DC653"/>
                </a:solidFill>
                <a:latin typeface="Calibri" pitchFamily="34" charset="0"/>
                <a:ea typeface="Calibri" pitchFamily="34" charset="-122"/>
                <a:cs typeface="Calibri" pitchFamily="34" charset="-120"/>
              </a:rPr>
              <a:t>💡 B is correct! Fossils tell us what the environment USED to be like. Seashells on dry land = ancient ocean!</a:t>
            </a:r>
            <a:endParaRPr lang="en-US" sz="1050" dirty="0"/>
          </a:p>
        </p:txBody>
      </p:sp>
      <p:sp>
        <p:nvSpPr>
          <p:cNvPr id="9" name="Shape 7"/>
          <p:cNvSpPr/>
          <p:nvPr/>
        </p:nvSpPr>
        <p:spPr>
          <a:xfrm>
            <a:off x="365760" y="2670048"/>
            <a:ext cx="11430000" cy="1783080"/>
          </a:xfrm>
          <a:prstGeom prst="roundRect">
            <a:avLst>
              <a:gd name="adj" fmla="val 4103"/>
            </a:avLst>
          </a:prstGeom>
          <a:solidFill>
            <a:srgbClr val="1E2F45"/>
          </a:solidFill>
          <a:ln w="12700">
            <a:solidFill>
              <a:srgbClr val="243A52"/>
            </a:solidFill>
            <a:prstDash val="solid"/>
          </a:ln>
        </p:spPr>
      </p:sp>
      <p:sp>
        <p:nvSpPr>
          <p:cNvPr id="10" name="Text 8"/>
          <p:cNvSpPr/>
          <p:nvPr/>
        </p:nvSpPr>
        <p:spPr>
          <a:xfrm>
            <a:off x="548640" y="2743200"/>
            <a:ext cx="10972800" cy="347472"/>
          </a:xfrm>
          <a:prstGeom prst="rect">
            <a:avLst/>
          </a:prstGeom>
          <a:noFill/>
          <a:ln/>
        </p:spPr>
        <p:txBody>
          <a:bodyPr wrap="square" rtlCol="0" anchor="ctr"/>
          <a:lstStyle/>
          <a:p>
            <a:pPr indent="0" marL="0">
              <a:buNone/>
            </a:pPr>
            <a:r>
              <a:rPr lang="en-US" sz="1250" b="1" dirty="0">
                <a:solidFill>
                  <a:srgbClr val="4CC9F0"/>
                </a:solidFill>
                <a:latin typeface="Calibri" pitchFamily="34" charset="0"/>
                <a:ea typeface="Calibri" pitchFamily="34" charset="-122"/>
                <a:cs typeface="Calibri" pitchFamily="34" charset="-120"/>
              </a:rPr>
              <a:t>2.  In a set of rock layers, where would you find the OLDEST rocks?</a:t>
            </a:r>
            <a:endParaRPr lang="en-US" sz="1250" dirty="0"/>
          </a:p>
        </p:txBody>
      </p:sp>
      <p:sp>
        <p:nvSpPr>
          <p:cNvPr id="11" name="Text 9"/>
          <p:cNvSpPr/>
          <p:nvPr/>
        </p:nvSpPr>
        <p:spPr>
          <a:xfrm>
            <a:off x="548640" y="3127248"/>
            <a:ext cx="10972800" cy="43891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 At the very top     B — At the very bottom ✓     C — Somewhere in the middle</a:t>
            </a:r>
            <a:endParaRPr lang="en-US" sz="1100" dirty="0"/>
          </a:p>
        </p:txBody>
      </p:sp>
      <p:sp>
        <p:nvSpPr>
          <p:cNvPr id="12" name="Text 10"/>
          <p:cNvSpPr/>
          <p:nvPr/>
        </p:nvSpPr>
        <p:spPr>
          <a:xfrm>
            <a:off x="548640" y="3630168"/>
            <a:ext cx="10972800" cy="658368"/>
          </a:xfrm>
          <a:prstGeom prst="rect">
            <a:avLst/>
          </a:prstGeom>
          <a:noFill/>
          <a:ln/>
        </p:spPr>
        <p:txBody>
          <a:bodyPr wrap="square" rtlCol="0" anchor="ctr"/>
          <a:lstStyle/>
          <a:p>
            <a:pPr indent="0" marL="0">
              <a:buNone/>
            </a:pPr>
            <a:r>
              <a:rPr lang="en-US" sz="1050" i="1" dirty="0">
                <a:solidFill>
                  <a:srgbClr val="2DC653"/>
                </a:solidFill>
                <a:latin typeface="Calibri" pitchFamily="34" charset="0"/>
                <a:ea typeface="Calibri" pitchFamily="34" charset="-122"/>
                <a:cs typeface="Calibri" pitchFamily="34" charset="-120"/>
              </a:rPr>
              <a:t>💡 B is correct! Older layers are buried under newer ones — like the first pancake in a stack. Bottom = oldest!</a:t>
            </a:r>
            <a:endParaRPr lang="en-US" sz="1050" dirty="0"/>
          </a:p>
        </p:txBody>
      </p:sp>
      <p:sp>
        <p:nvSpPr>
          <p:cNvPr id="13" name="Shape 11"/>
          <p:cNvSpPr/>
          <p:nvPr/>
        </p:nvSpPr>
        <p:spPr>
          <a:xfrm>
            <a:off x="365760" y="4590288"/>
            <a:ext cx="11430000" cy="1783080"/>
          </a:xfrm>
          <a:prstGeom prst="roundRect">
            <a:avLst>
              <a:gd name="adj" fmla="val 4103"/>
            </a:avLst>
          </a:prstGeom>
          <a:solidFill>
            <a:srgbClr val="1E2F45"/>
          </a:solidFill>
          <a:ln w="12700">
            <a:solidFill>
              <a:srgbClr val="243A52"/>
            </a:solidFill>
            <a:prstDash val="solid"/>
          </a:ln>
        </p:spPr>
      </p:sp>
      <p:sp>
        <p:nvSpPr>
          <p:cNvPr id="14" name="Text 12"/>
          <p:cNvSpPr/>
          <p:nvPr/>
        </p:nvSpPr>
        <p:spPr>
          <a:xfrm>
            <a:off x="548640" y="4663440"/>
            <a:ext cx="10972800" cy="347472"/>
          </a:xfrm>
          <a:prstGeom prst="rect">
            <a:avLst/>
          </a:prstGeom>
          <a:noFill/>
          <a:ln/>
        </p:spPr>
        <p:txBody>
          <a:bodyPr wrap="square" rtlCol="0" anchor="ctr"/>
          <a:lstStyle/>
          <a:p>
            <a:pPr indent="0" marL="0">
              <a:buNone/>
            </a:pPr>
            <a:r>
              <a:rPr lang="en-US" sz="1250" b="1" dirty="0">
                <a:solidFill>
                  <a:srgbClr val="4CC9F0"/>
                </a:solidFill>
                <a:latin typeface="Calibri" pitchFamily="34" charset="0"/>
                <a:ea typeface="Calibri" pitchFamily="34" charset="-122"/>
                <a:cs typeface="Calibri" pitchFamily="34" charset="-120"/>
              </a:rPr>
              <a:t>3.  Which of the following is an example of an ABIOTIC factor?</a:t>
            </a:r>
            <a:endParaRPr lang="en-US" sz="1250" dirty="0"/>
          </a:p>
        </p:txBody>
      </p:sp>
      <p:sp>
        <p:nvSpPr>
          <p:cNvPr id="15" name="Text 13"/>
          <p:cNvSpPr/>
          <p:nvPr/>
        </p:nvSpPr>
        <p:spPr>
          <a:xfrm>
            <a:off x="548640" y="5047488"/>
            <a:ext cx="10972800" cy="43891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 A pine tree growing on a hillside     B — A fish swimming in a river     C — Sunlight reaching the ground ✓</a:t>
            </a:r>
            <a:endParaRPr lang="en-US" sz="1100" dirty="0"/>
          </a:p>
        </p:txBody>
      </p:sp>
      <p:sp>
        <p:nvSpPr>
          <p:cNvPr id="16" name="Text 14"/>
          <p:cNvSpPr/>
          <p:nvPr/>
        </p:nvSpPr>
        <p:spPr>
          <a:xfrm>
            <a:off x="548640" y="5550408"/>
            <a:ext cx="10972800" cy="658368"/>
          </a:xfrm>
          <a:prstGeom prst="rect">
            <a:avLst/>
          </a:prstGeom>
          <a:noFill/>
          <a:ln/>
        </p:spPr>
        <p:txBody>
          <a:bodyPr wrap="square" rtlCol="0" anchor="ctr"/>
          <a:lstStyle/>
          <a:p>
            <a:pPr indent="0" marL="0">
              <a:buNone/>
            </a:pPr>
            <a:r>
              <a:rPr lang="en-US" sz="1050" i="1" dirty="0">
                <a:solidFill>
                  <a:srgbClr val="2DC653"/>
                </a:solidFill>
                <a:latin typeface="Calibri" pitchFamily="34" charset="0"/>
                <a:ea typeface="Calibri" pitchFamily="34" charset="-122"/>
                <a:cs typeface="Calibri" pitchFamily="34" charset="-120"/>
              </a:rPr>
              <a:t>💡 C is correct! Sunlight is non-living but incredibly important — it decides what plants can grow and what animals can live in a place.</a:t>
            </a:r>
            <a:endParaRPr lang="en-US" sz="105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5.01  ·  Landscapes Over Time</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ASSIGNMENT — Show What You Know</a:t>
            </a:r>
            <a:endParaRPr lang="en-US" sz="1600" dirty="0"/>
          </a:p>
        </p:txBody>
      </p:sp>
      <p:sp>
        <p:nvSpPr>
          <p:cNvPr id="5" name="Shape 3"/>
          <p:cNvSpPr/>
          <p:nvPr/>
        </p:nvSpPr>
        <p:spPr>
          <a:xfrm>
            <a:off x="365760" y="749808"/>
            <a:ext cx="3657600" cy="5074920"/>
          </a:xfrm>
          <a:prstGeom prst="roundRect">
            <a:avLst>
              <a:gd name="adj" fmla="val 2000"/>
            </a:avLst>
          </a:prstGeom>
          <a:solidFill>
            <a:srgbClr val="1E2F45"/>
          </a:solidFill>
          <a:ln w="12700">
            <a:solidFill>
              <a:srgbClr val="4CC9F0"/>
            </a:solidFill>
            <a:prstDash val="solid"/>
          </a:ln>
        </p:spPr>
      </p:sp>
      <p:sp>
        <p:nvSpPr>
          <p:cNvPr id="6" name="Text 4"/>
          <p:cNvSpPr/>
          <p:nvPr/>
        </p:nvSpPr>
        <p:spPr>
          <a:xfrm>
            <a:off x="502920" y="822960"/>
            <a:ext cx="3383280" cy="347472"/>
          </a:xfrm>
          <a:prstGeom prst="rect">
            <a:avLst/>
          </a:prstGeom>
          <a:noFill/>
          <a:ln/>
        </p:spPr>
        <p:txBody>
          <a:bodyPr wrap="square" rtlCol="0" anchor="ctr"/>
          <a:lstStyle/>
          <a:p>
            <a:pPr indent="0" marL="0">
              <a:buNone/>
            </a:pPr>
            <a:r>
              <a:rPr lang="en-US" sz="1150" b="1" dirty="0">
                <a:solidFill>
                  <a:srgbClr val="4CC9F0"/>
                </a:solidFill>
                <a:latin typeface="Calibri" pitchFamily="34" charset="0"/>
                <a:ea typeface="Calibri" pitchFamily="34" charset="-122"/>
                <a:cs typeface="Calibri" pitchFamily="34" charset="-120"/>
              </a:rPr>
              <a:t>Part A — Rock Layers Diagram</a:t>
            </a:r>
            <a:endParaRPr lang="en-US" sz="1150" dirty="0"/>
          </a:p>
        </p:txBody>
      </p:sp>
      <p:sp>
        <p:nvSpPr>
          <p:cNvPr id="7" name="Text 5"/>
          <p:cNvSpPr/>
          <p:nvPr/>
        </p:nvSpPr>
        <p:spPr>
          <a:xfrm>
            <a:off x="502920" y="1207008"/>
            <a:ext cx="3383280" cy="4462272"/>
          </a:xfrm>
          <a:prstGeom prst="rect">
            <a:avLst/>
          </a:prstGeom>
          <a:noFill/>
          <a:ln/>
        </p:spPr>
        <p:txBody>
          <a:bodyPr wrap="square" rtlCol="0" anchor="ctr"/>
          <a:lstStyle/>
          <a:p>
            <a:pPr indent="0" marL="0">
              <a:buNone/>
            </a:pPr>
            <a:r>
              <a:rPr lang="en-US" sz="1000" dirty="0">
                <a:solidFill>
                  <a:srgbClr val="B0C4D8"/>
                </a:solidFill>
                <a:latin typeface="Calibri" pitchFamily="34" charset="0"/>
                <a:ea typeface="Calibri" pitchFamily="34" charset="-122"/>
                <a:cs typeface="Calibri" pitchFamily="34" charset="-120"/>
              </a:rPr>
              <a:t>Draw 4+ rock layers. Include fossils (seashells in one layer, plant fossils in another).</a:t>
            </a:r>
            <a:endParaRPr lang="en-US" sz="1000" dirty="0"/>
          </a:p>
          <a:p>
            <a:pPr indent="0" marL="0">
              <a:buNone/>
            </a:pPr>
            <a:endParaRPr lang="en-US" sz="1000" dirty="0"/>
          </a:p>
          <a:p>
            <a:pPr indent="0" marL="0">
              <a:buNone/>
            </a:pPr>
            <a:r>
              <a:rPr lang="en-US" sz="1000" dirty="0">
                <a:solidFill>
                  <a:srgbClr val="B0C4D8"/>
                </a:solidFill>
                <a:latin typeface="Calibri" pitchFamily="34" charset="0"/>
                <a:ea typeface="Calibri" pitchFamily="34" charset="-122"/>
                <a:cs typeface="Calibri" pitchFamily="34" charset="-120"/>
              </a:rPr>
              <a:t>Label oldest (bottom) and newest (top).</a:t>
            </a:r>
            <a:endParaRPr lang="en-US" sz="1000" dirty="0"/>
          </a:p>
          <a:p>
            <a:pPr indent="0" marL="0">
              <a:buNone/>
            </a:pPr>
            <a:endParaRPr lang="en-US" sz="1000" dirty="0"/>
          </a:p>
          <a:p>
            <a:pPr indent="0" marL="0">
              <a:buNone/>
            </a:pPr>
            <a:r>
              <a:rPr lang="en-US" sz="1000" dirty="0">
                <a:solidFill>
                  <a:srgbClr val="B0C4D8"/>
                </a:solidFill>
                <a:latin typeface="Calibri" pitchFamily="34" charset="0"/>
                <a:ea typeface="Calibri" pitchFamily="34" charset="-122"/>
                <a:cs typeface="Calibri" pitchFamily="34" charset="-120"/>
              </a:rPr>
              <a:t>Write a sentence next to each layer explaining what the fossils tell us.</a:t>
            </a:r>
            <a:endParaRPr lang="en-US" sz="1000" dirty="0"/>
          </a:p>
          <a:p>
            <a:pPr indent="0" marL="0">
              <a:buNone/>
            </a:pPr>
            <a:endParaRPr lang="en-US" sz="1000" dirty="0"/>
          </a:p>
          <a:p>
            <a:pPr indent="0" marL="0">
              <a:buNone/>
            </a:pPr>
            <a:r>
              <a:rPr lang="en-US" sz="1000" dirty="0">
                <a:solidFill>
                  <a:srgbClr val="B0C4D8"/>
                </a:solidFill>
                <a:latin typeface="Calibri" pitchFamily="34" charset="0"/>
                <a:ea typeface="Calibri" pitchFamily="34" charset="-122"/>
                <a:cs typeface="Calibri" pitchFamily="34" charset="-120"/>
              </a:rPr>
              <a:t>Example: 'Seashells = land was once underwater.'</a:t>
            </a:r>
            <a:endParaRPr lang="en-US" sz="1000" dirty="0"/>
          </a:p>
          <a:p>
            <a:pPr indent="0" marL="0">
              <a:buNone/>
            </a:pPr>
            <a:endParaRPr lang="en-US" sz="1000" dirty="0"/>
          </a:p>
          <a:p>
            <a:pPr indent="0" marL="0">
              <a:buNone/>
            </a:pPr>
            <a:r>
              <a:rPr lang="en-US" sz="1000" dirty="0">
                <a:solidFill>
                  <a:srgbClr val="B0C4D8"/>
                </a:solidFill>
                <a:latin typeface="Calibri" pitchFamily="34" charset="0"/>
                <a:ea typeface="Calibri" pitchFamily="34" charset="-122"/>
                <a:cs typeface="Calibri" pitchFamily="34" charset="-120"/>
              </a:rPr>
              <a:t>📍 Practiced: Slides 6, 7, 9</a:t>
            </a:r>
            <a:endParaRPr lang="en-US" sz="1000" dirty="0"/>
          </a:p>
        </p:txBody>
      </p:sp>
      <p:sp>
        <p:nvSpPr>
          <p:cNvPr id="8" name="Shape 6"/>
          <p:cNvSpPr/>
          <p:nvPr/>
        </p:nvSpPr>
        <p:spPr>
          <a:xfrm>
            <a:off x="4224528" y="749808"/>
            <a:ext cx="3657600" cy="5074920"/>
          </a:xfrm>
          <a:prstGeom prst="roundRect">
            <a:avLst>
              <a:gd name="adj" fmla="val 2000"/>
            </a:avLst>
          </a:prstGeom>
          <a:solidFill>
            <a:srgbClr val="1E2F45"/>
          </a:solidFill>
          <a:ln w="12700">
            <a:solidFill>
              <a:srgbClr val="2DC653"/>
            </a:solidFill>
            <a:prstDash val="solid"/>
          </a:ln>
        </p:spPr>
      </p:sp>
      <p:sp>
        <p:nvSpPr>
          <p:cNvPr id="9" name="Text 7"/>
          <p:cNvSpPr/>
          <p:nvPr/>
        </p:nvSpPr>
        <p:spPr>
          <a:xfrm>
            <a:off x="4370832" y="822960"/>
            <a:ext cx="3383280" cy="347472"/>
          </a:xfrm>
          <a:prstGeom prst="rect">
            <a:avLst/>
          </a:prstGeom>
          <a:noFill/>
          <a:ln/>
        </p:spPr>
        <p:txBody>
          <a:bodyPr wrap="square" rtlCol="0" anchor="ctr"/>
          <a:lstStyle/>
          <a:p>
            <a:pPr indent="0" marL="0">
              <a:buNone/>
            </a:pPr>
            <a:r>
              <a:rPr lang="en-US" sz="1150" b="1" dirty="0">
                <a:solidFill>
                  <a:srgbClr val="2DC653"/>
                </a:solidFill>
                <a:latin typeface="Calibri" pitchFamily="34" charset="0"/>
                <a:ea typeface="Calibri" pitchFamily="34" charset="-122"/>
                <a:cs typeface="Calibri" pitchFamily="34" charset="-120"/>
              </a:rPr>
              <a:t>Part B — Draw a Canyon</a:t>
            </a:r>
            <a:endParaRPr lang="en-US" sz="1150" dirty="0"/>
          </a:p>
        </p:txBody>
      </p:sp>
      <p:sp>
        <p:nvSpPr>
          <p:cNvPr id="10" name="Text 8"/>
          <p:cNvSpPr/>
          <p:nvPr/>
        </p:nvSpPr>
        <p:spPr>
          <a:xfrm>
            <a:off x="4370832" y="1207008"/>
            <a:ext cx="3383280" cy="4462272"/>
          </a:xfrm>
          <a:prstGeom prst="rect">
            <a:avLst/>
          </a:prstGeom>
          <a:noFill/>
          <a:ln/>
        </p:spPr>
        <p:txBody>
          <a:bodyPr wrap="square" rtlCol="0" anchor="ctr"/>
          <a:lstStyle/>
          <a:p>
            <a:pPr indent="0" marL="0">
              <a:buNone/>
            </a:pPr>
            <a:r>
              <a:rPr lang="en-US" sz="1000" dirty="0">
                <a:solidFill>
                  <a:srgbClr val="B0C4D8"/>
                </a:solidFill>
                <a:latin typeface="Calibri" pitchFamily="34" charset="0"/>
                <a:ea typeface="Calibri" pitchFamily="34" charset="-122"/>
                <a:cs typeface="Calibri" pitchFamily="34" charset="-120"/>
              </a:rPr>
              <a:t>Draw a canyon on the same page.</a:t>
            </a:r>
            <a:endParaRPr lang="en-US" sz="1000" dirty="0"/>
          </a:p>
          <a:p>
            <a:pPr indent="0" marL="0">
              <a:buNone/>
            </a:pPr>
            <a:endParaRPr lang="en-US" sz="1000" dirty="0"/>
          </a:p>
          <a:p>
            <a:pPr indent="0" marL="0">
              <a:buNone/>
            </a:pPr>
            <a:r>
              <a:rPr lang="en-US" sz="1000" dirty="0">
                <a:solidFill>
                  <a:srgbClr val="B0C4D8"/>
                </a:solidFill>
                <a:latin typeface="Calibri" pitchFamily="34" charset="0"/>
                <a:ea typeface="Calibri" pitchFamily="34" charset="-122"/>
                <a:cs typeface="Calibri" pitchFamily="34" charset="-120"/>
              </a:rPr>
              <a:t>Show the river at the bottom and rock layers in the canyon walls (use color — at least 3 visible strata bands).</a:t>
            </a:r>
            <a:endParaRPr lang="en-US" sz="1000" dirty="0"/>
          </a:p>
          <a:p>
            <a:pPr indent="0" marL="0">
              <a:buNone/>
            </a:pPr>
            <a:endParaRPr lang="en-US" sz="1000" dirty="0"/>
          </a:p>
          <a:p>
            <a:pPr indent="0" marL="0">
              <a:buNone/>
            </a:pPr>
            <a:r>
              <a:rPr lang="en-US" sz="1000" dirty="0">
                <a:solidFill>
                  <a:srgbClr val="B0C4D8"/>
                </a:solidFill>
                <a:latin typeface="Calibri" pitchFamily="34" charset="0"/>
                <a:ea typeface="Calibri" pitchFamily="34" charset="-122"/>
                <a:cs typeface="Calibri" pitchFamily="34" charset="-120"/>
              </a:rPr>
              <a:t>Write a sentence explaining how the river shaped the canyon. Use the word erosion.</a:t>
            </a:r>
            <a:endParaRPr lang="en-US" sz="1000" dirty="0"/>
          </a:p>
          <a:p>
            <a:pPr indent="0" marL="0">
              <a:buNone/>
            </a:pPr>
            <a:endParaRPr lang="en-US" sz="1000" dirty="0"/>
          </a:p>
          <a:p>
            <a:pPr indent="0" marL="0">
              <a:buNone/>
            </a:pPr>
            <a:r>
              <a:rPr lang="en-US" sz="1000" dirty="0">
                <a:solidFill>
                  <a:srgbClr val="B0C4D8"/>
                </a:solidFill>
                <a:latin typeface="Calibri" pitchFamily="34" charset="0"/>
                <a:ea typeface="Calibri" pitchFamily="34" charset="-122"/>
                <a:cs typeface="Calibri" pitchFamily="34" charset="-120"/>
              </a:rPr>
              <a:t>📍 Practiced: Slides 8, 9</a:t>
            </a:r>
            <a:endParaRPr lang="en-US" sz="1000" dirty="0"/>
          </a:p>
        </p:txBody>
      </p:sp>
      <p:sp>
        <p:nvSpPr>
          <p:cNvPr id="11" name="Shape 9"/>
          <p:cNvSpPr/>
          <p:nvPr/>
        </p:nvSpPr>
        <p:spPr>
          <a:xfrm>
            <a:off x="8092440" y="749808"/>
            <a:ext cx="3657600" cy="5074920"/>
          </a:xfrm>
          <a:prstGeom prst="roundRect">
            <a:avLst>
              <a:gd name="adj" fmla="val 2000"/>
            </a:avLst>
          </a:prstGeom>
          <a:solidFill>
            <a:srgbClr val="1E2F45"/>
          </a:solidFill>
          <a:ln w="12700">
            <a:solidFill>
              <a:srgbClr val="FFB703"/>
            </a:solidFill>
            <a:prstDash val="solid"/>
          </a:ln>
        </p:spPr>
      </p:sp>
      <p:sp>
        <p:nvSpPr>
          <p:cNvPr id="12" name="Text 10"/>
          <p:cNvSpPr/>
          <p:nvPr/>
        </p:nvSpPr>
        <p:spPr>
          <a:xfrm>
            <a:off x="8229600" y="822960"/>
            <a:ext cx="3383280" cy="347472"/>
          </a:xfrm>
          <a:prstGeom prst="rect">
            <a:avLst/>
          </a:prstGeom>
          <a:noFill/>
          <a:ln/>
        </p:spPr>
        <p:txBody>
          <a:bodyPr wrap="square" rtlCol="0" anchor="ctr"/>
          <a:lstStyle/>
          <a:p>
            <a:pPr indent="0" marL="0">
              <a:buNone/>
            </a:pPr>
            <a:r>
              <a:rPr lang="en-US" sz="1150" b="1" dirty="0">
                <a:solidFill>
                  <a:srgbClr val="FFB703"/>
                </a:solidFill>
                <a:latin typeface="Calibri" pitchFamily="34" charset="0"/>
                <a:ea typeface="Calibri" pitchFamily="34" charset="-122"/>
                <a:cs typeface="Calibri" pitchFamily="34" charset="-120"/>
              </a:rPr>
              <a:t>Part C — Think &amp; Write + CER</a:t>
            </a:r>
            <a:endParaRPr lang="en-US" sz="1150" dirty="0"/>
          </a:p>
        </p:txBody>
      </p:sp>
      <p:sp>
        <p:nvSpPr>
          <p:cNvPr id="13" name="Text 11"/>
          <p:cNvSpPr/>
          <p:nvPr/>
        </p:nvSpPr>
        <p:spPr>
          <a:xfrm>
            <a:off x="8229600" y="1207008"/>
            <a:ext cx="3383280" cy="4462272"/>
          </a:xfrm>
          <a:prstGeom prst="rect">
            <a:avLst/>
          </a:prstGeom>
          <a:noFill/>
          <a:ln/>
        </p:spPr>
        <p:txBody>
          <a:bodyPr wrap="square" rtlCol="0" anchor="ctr"/>
          <a:lstStyle/>
          <a:p>
            <a:pPr indent="0" marL="0">
              <a:buNone/>
            </a:pPr>
            <a:r>
              <a:rPr lang="en-US" sz="1000" dirty="0">
                <a:solidFill>
                  <a:srgbClr val="B0C4D8"/>
                </a:solidFill>
                <a:latin typeface="Calibri" pitchFamily="34" charset="0"/>
                <a:ea typeface="Calibri" pitchFamily="34" charset="-122"/>
                <a:cs typeface="Calibri" pitchFamily="34" charset="-120"/>
              </a:rPr>
              <a:t>Write 2-3 complete sentences:</a:t>
            </a:r>
            <a:endParaRPr lang="en-US" sz="1000" dirty="0"/>
          </a:p>
          <a:p>
            <a:pPr indent="0" marL="0">
              <a:buNone/>
            </a:pPr>
            <a:r>
              <a:rPr lang="en-US" sz="1000" dirty="0">
                <a:solidFill>
                  <a:srgbClr val="B0C4D8"/>
                </a:solidFill>
                <a:latin typeface="Calibri" pitchFamily="34" charset="0"/>
                <a:ea typeface="Calibri" pitchFamily="34" charset="-122"/>
                <a:cs typeface="Calibri" pitchFamily="34" charset="-120"/>
              </a:rPr>
              <a:t>How do abiotic factors (sunlight, water, soil, temperature) affect what plants and animals can live in a place? Use the term abiotic factors.</a:t>
            </a:r>
            <a:endParaRPr lang="en-US" sz="1000" dirty="0"/>
          </a:p>
          <a:p>
            <a:pPr indent="0" marL="0">
              <a:buNone/>
            </a:pPr>
            <a:endParaRPr lang="en-US" sz="1000" dirty="0"/>
          </a:p>
          <a:p>
            <a:pPr indent="0" marL="0">
              <a:buNone/>
            </a:pPr>
            <a:r>
              <a:rPr lang="en-US" sz="1000" dirty="0">
                <a:solidFill>
                  <a:srgbClr val="B0C4D8"/>
                </a:solidFill>
                <a:latin typeface="Calibri" pitchFamily="34" charset="0"/>
                <a:ea typeface="Calibri" pitchFamily="34" charset="-122"/>
                <a:cs typeface="Calibri" pitchFamily="34" charset="-120"/>
              </a:rPr>
              <a:t>CER Response:</a:t>
            </a:r>
            <a:endParaRPr lang="en-US" sz="1000" dirty="0"/>
          </a:p>
          <a:p>
            <a:pPr indent="0" marL="0">
              <a:buNone/>
            </a:pPr>
            <a:r>
              <a:rPr lang="en-US" sz="1000" dirty="0">
                <a:solidFill>
                  <a:srgbClr val="B0C4D8"/>
                </a:solidFill>
                <a:latin typeface="Calibri" pitchFamily="34" charset="0"/>
                <a:ea typeface="Calibri" pitchFamily="34" charset="-122"/>
                <a:cs typeface="Calibri" pitchFamily="34" charset="-120"/>
              </a:rPr>
              <a:t>Claim: What pattern in rock layers is evidence of landscape change?</a:t>
            </a:r>
            <a:endParaRPr lang="en-US" sz="1000" dirty="0"/>
          </a:p>
          <a:p>
            <a:pPr indent="0" marL="0">
              <a:buNone/>
            </a:pPr>
            <a:r>
              <a:rPr lang="en-US" sz="1000" dirty="0">
                <a:solidFill>
                  <a:srgbClr val="B0C4D8"/>
                </a:solidFill>
                <a:latin typeface="Calibri" pitchFamily="34" charset="0"/>
                <a:ea typeface="Calibri" pitchFamily="34" charset="-122"/>
                <a:cs typeface="Calibri" pitchFamily="34" charset="-120"/>
              </a:rPr>
              <a:t>Evidence: What specific clue supports this?</a:t>
            </a:r>
            <a:endParaRPr lang="en-US" sz="1000" dirty="0"/>
          </a:p>
          <a:p>
            <a:pPr indent="0" marL="0">
              <a:buNone/>
            </a:pPr>
            <a:r>
              <a:rPr lang="en-US" sz="1000" dirty="0">
                <a:solidFill>
                  <a:srgbClr val="B0C4D8"/>
                </a:solidFill>
                <a:latin typeface="Calibri" pitchFamily="34" charset="0"/>
                <a:ea typeface="Calibri" pitchFamily="34" charset="-122"/>
                <a:cs typeface="Calibri" pitchFamily="34" charset="-120"/>
              </a:rPr>
              <a:t>Reasoning: Why does that evidence support the claim?</a:t>
            </a:r>
            <a:endParaRPr lang="en-US" sz="1000" dirty="0"/>
          </a:p>
          <a:p>
            <a:pPr indent="0" marL="0">
              <a:buNone/>
            </a:pPr>
            <a:endParaRPr lang="en-US" sz="1000" dirty="0"/>
          </a:p>
          <a:p>
            <a:pPr indent="0" marL="0">
              <a:buNone/>
            </a:pPr>
            <a:r>
              <a:rPr lang="en-US" sz="1000" dirty="0">
                <a:solidFill>
                  <a:srgbClr val="B0C4D8"/>
                </a:solidFill>
                <a:latin typeface="Calibri" pitchFamily="34" charset="0"/>
                <a:ea typeface="Calibri" pitchFamily="34" charset="-122"/>
                <a:cs typeface="Calibri" pitchFamily="34" charset="-120"/>
              </a:rPr>
              <a:t>📍 Practiced: Slides 10, 11</a:t>
            </a:r>
            <a:endParaRPr lang="en-US" sz="100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5.01  ·  Landscapes Over Time</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Reflect + Closing</a:t>
            </a:r>
            <a:endParaRPr lang="en-US" sz="1600" dirty="0"/>
          </a:p>
        </p:txBody>
      </p:sp>
      <p:sp>
        <p:nvSpPr>
          <p:cNvPr id="5" name="Shape 3"/>
          <p:cNvSpPr/>
          <p:nvPr/>
        </p:nvSpPr>
        <p:spPr>
          <a:xfrm>
            <a:off x="365760" y="749808"/>
            <a:ext cx="11247120" cy="1417320"/>
          </a:xfrm>
          <a:prstGeom prst="roundRect">
            <a:avLst>
              <a:gd name="adj" fmla="val 5161"/>
            </a:avLst>
          </a:prstGeom>
          <a:solidFill>
            <a:srgbClr val="1E2F45"/>
          </a:solidFill>
          <a:ln w="12700">
            <a:solidFill>
              <a:srgbClr val="4CC9F0"/>
            </a:solidFill>
            <a:prstDash val="solid"/>
          </a:ln>
        </p:spPr>
      </p:sp>
      <p:sp>
        <p:nvSpPr>
          <p:cNvPr id="6" name="Text 4"/>
          <p:cNvSpPr/>
          <p:nvPr/>
        </p:nvSpPr>
        <p:spPr>
          <a:xfrm>
            <a:off x="548640" y="80467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Essential Question Response — Write in your science notebook:</a:t>
            </a:r>
            <a:endParaRPr lang="en-US" sz="1200" dirty="0"/>
          </a:p>
        </p:txBody>
      </p:sp>
      <p:sp>
        <p:nvSpPr>
          <p:cNvPr id="7" name="Text 5"/>
          <p:cNvSpPr/>
          <p:nvPr/>
        </p:nvSpPr>
        <p:spPr>
          <a:xfrm>
            <a:off x="548640" y="1170432"/>
            <a:ext cx="10972800" cy="886968"/>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"How can patterns in rock formations and fossils help us understand changes in a landscape over time?"</a:t>
            </a:r>
            <a:endParaRPr lang="en-US" sz="1300" dirty="0"/>
          </a:p>
          <a:p>
            <a:pPr indent="0" marL="0">
              <a:buNone/>
            </a:pPr>
            <a:endParaRPr lang="en-US" sz="1300" dirty="0"/>
          </a:p>
          <a:p>
            <a:pPr indent="0" marL="0">
              <a:buNone/>
            </a:pPr>
            <a:r>
              <a:rPr lang="en-US" sz="1300" i="1" dirty="0">
                <a:solidFill>
                  <a:srgbClr val="FFFFFF"/>
                </a:solidFill>
                <a:latin typeface="Calibri" pitchFamily="34" charset="0"/>
                <a:ea typeface="Calibri" pitchFamily="34" charset="-122"/>
                <a:cs typeface="Calibri" pitchFamily="34" charset="-120"/>
              </a:rPr>
              <a:t>Write 2–3 sentences using vocab words from today.</a:t>
            </a:r>
            <a:endParaRPr lang="en-US" sz="1300" dirty="0"/>
          </a:p>
        </p:txBody>
      </p:sp>
      <p:sp>
        <p:nvSpPr>
          <p:cNvPr id="8" name="Shape 6"/>
          <p:cNvSpPr/>
          <p:nvPr/>
        </p:nvSpPr>
        <p:spPr>
          <a:xfrm>
            <a:off x="365760" y="2304288"/>
            <a:ext cx="7315200" cy="2560320"/>
          </a:xfrm>
          <a:prstGeom prst="roundRect">
            <a:avLst>
              <a:gd name="adj" fmla="val 2857"/>
            </a:avLst>
          </a:prstGeom>
          <a:solidFill>
            <a:srgbClr val="1E2F45"/>
          </a:solidFill>
          <a:ln w="12700">
            <a:solidFill>
              <a:srgbClr val="2DC653"/>
            </a:solidFill>
            <a:prstDash val="solid"/>
          </a:ln>
        </p:spPr>
      </p:sp>
      <p:sp>
        <p:nvSpPr>
          <p:cNvPr id="9" name="Text 7"/>
          <p:cNvSpPr/>
          <p:nvPr/>
        </p:nvSpPr>
        <p:spPr>
          <a:xfrm>
            <a:off x="548640" y="2359152"/>
            <a:ext cx="704088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What to Turn In:</a:t>
            </a:r>
            <a:endParaRPr lang="en-US" sz="1200" dirty="0"/>
          </a:p>
        </p:txBody>
      </p:sp>
      <p:sp>
        <p:nvSpPr>
          <p:cNvPr id="10" name="Text 8"/>
          <p:cNvSpPr/>
          <p:nvPr/>
        </p:nvSpPr>
        <p:spPr>
          <a:xfrm>
            <a:off x="548640" y="2743200"/>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A — Rock layers diagram with 4+ layers, fossils, labels, and explanation sentences</a:t>
            </a:r>
            <a:endParaRPr lang="en-US" sz="1100" dirty="0"/>
          </a:p>
        </p:txBody>
      </p:sp>
      <p:sp>
        <p:nvSpPr>
          <p:cNvPr id="11" name="Text 9"/>
          <p:cNvSpPr/>
          <p:nvPr/>
        </p:nvSpPr>
        <p:spPr>
          <a:xfrm>
            <a:off x="548640" y="3090672"/>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B — Canyon drawing with river, strata layers, and erosion sentence</a:t>
            </a:r>
            <a:endParaRPr lang="en-US" sz="1100" dirty="0"/>
          </a:p>
        </p:txBody>
      </p:sp>
      <p:sp>
        <p:nvSpPr>
          <p:cNvPr id="12" name="Text 10"/>
          <p:cNvSpPr/>
          <p:nvPr/>
        </p:nvSpPr>
        <p:spPr>
          <a:xfrm>
            <a:off x="548640" y="3438144"/>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C — Abiotic factors paragraph (2-3 sentences, uses the term)</a:t>
            </a:r>
            <a:endParaRPr lang="en-US" sz="1100" dirty="0"/>
          </a:p>
        </p:txBody>
      </p:sp>
      <p:sp>
        <p:nvSpPr>
          <p:cNvPr id="13" name="Text 11"/>
          <p:cNvSpPr/>
          <p:nvPr/>
        </p:nvSpPr>
        <p:spPr>
          <a:xfrm>
            <a:off x="548640" y="3785616"/>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CER Response — Claim, Evidence, and Reasoning about rock layer patterns</a:t>
            </a:r>
            <a:endParaRPr lang="en-US" sz="1100" dirty="0"/>
          </a:p>
        </p:txBody>
      </p:sp>
      <p:sp>
        <p:nvSpPr>
          <p:cNvPr id="14" name="Shape 12"/>
          <p:cNvSpPr/>
          <p:nvPr/>
        </p:nvSpPr>
        <p:spPr>
          <a:xfrm>
            <a:off x="7863840" y="2304288"/>
            <a:ext cx="3931920" cy="2560320"/>
          </a:xfrm>
          <a:prstGeom prst="roundRect">
            <a:avLst>
              <a:gd name="adj" fmla="val 2857"/>
            </a:avLst>
          </a:prstGeom>
          <a:solidFill>
            <a:srgbClr val="1A1A3A"/>
          </a:solidFill>
          <a:ln w="12700">
            <a:solidFill>
              <a:srgbClr val="0096C7"/>
            </a:solidFill>
            <a:prstDash val="solid"/>
          </a:ln>
        </p:spPr>
      </p:sp>
      <p:sp>
        <p:nvSpPr>
          <p:cNvPr id="15" name="Text 13"/>
          <p:cNvSpPr/>
          <p:nvPr/>
        </p:nvSpPr>
        <p:spPr>
          <a:xfrm>
            <a:off x="8001000" y="2359152"/>
            <a:ext cx="36576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Coming Next:</a:t>
            </a:r>
            <a:endParaRPr lang="en-US" sz="1200" dirty="0"/>
          </a:p>
        </p:txBody>
      </p:sp>
      <p:sp>
        <p:nvSpPr>
          <p:cNvPr id="16" name="Text 14"/>
          <p:cNvSpPr/>
          <p:nvPr/>
        </p:nvSpPr>
        <p:spPr>
          <a:xfrm>
            <a:off x="8001000" y="2743200"/>
            <a:ext cx="3657600" cy="201168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Lesson 5.02: Weathering and Erosion — Earth's Slow Sculptors</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How does water carve through miles of solid rock? We'll investigate the forces that reshape Earth's surface!</a:t>
            </a:r>
            <a:endParaRPr lang="en-US" sz="1200" dirty="0"/>
          </a:p>
        </p:txBody>
      </p:sp>
      <p:sp>
        <p:nvSpPr>
          <p:cNvPr id="17" name="Shape 15"/>
          <p:cNvSpPr/>
          <p:nvPr/>
        </p:nvSpPr>
        <p:spPr>
          <a:xfrm>
            <a:off x="0" y="5047488"/>
            <a:ext cx="12192000" cy="45720"/>
          </a:xfrm>
          <a:prstGeom prst="rect">
            <a:avLst/>
          </a:prstGeom>
          <a:solidFill>
            <a:srgbClr val="4CC9F0"/>
          </a:solidFill>
          <a:ln/>
        </p:spPr>
      </p:sp>
      <p:sp>
        <p:nvSpPr>
          <p:cNvPr id="18" name="Text 16"/>
          <p:cNvSpPr/>
          <p:nvPr/>
        </p:nvSpPr>
        <p:spPr>
          <a:xfrm>
            <a:off x="365760" y="5120640"/>
            <a:ext cx="11247120" cy="347472"/>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Excellent work today, scientists! See you next time.</a:t>
            </a:r>
            <a:endParaRPr lang="en-US" sz="130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5.01  ·  Landscapes Over Time</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2026-07-13T19:56:11Z</dcterms:created>
  <dcterms:modified xsi:type="dcterms:W3CDTF">2026-07-13T19:56:11Z</dcterms:modified>
</cp:coreProperties>
</file>