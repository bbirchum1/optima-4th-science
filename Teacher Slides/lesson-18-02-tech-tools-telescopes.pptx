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Parallel structure to 18-01 (microscopes) but for distant objects. Warm-up: night sky image. CER Stage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 smudge is the Andromeda Galaxy — 2.5 million light-years away, containing 1 trillion stars. Let students guess before revealing!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Exit: Name one thing a telescope can reveal that NO other tool can, and explain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85800"/>
            <a:ext cx="8503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Tools: Telescopes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48640" y="2084832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telescopes help scientists observe objects too far away to see clearly?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87168"/>
            <a:ext cx="4937760" cy="475488"/>
          </a:xfrm>
          <a:prstGeom prst="roundRect">
            <a:avLst>
              <a:gd name="adj" fmla="val 15385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487168"/>
            <a:ext cx="4754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4-ESS1-1 | NOS — Science tools extend observation to distant objects in space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9235440" y="411480"/>
            <a:ext cx="2651760" cy="2651760"/>
          </a:xfrm>
          <a:prstGeom prst="ellipse">
            <a:avLst/>
          </a:prstGeom>
          <a:solidFill>
            <a:srgbClr val="162233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0" y="10058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0" dirty="0">
                <a:solidFill>
                  <a:srgbClr val="000000"/>
                </a:solidFill>
              </a:rPr>
              <a:t>🔬</a:t>
            </a:r>
            <a:endParaRPr lang="en-US" sz="6800" dirty="0"/>
          </a:p>
        </p:txBody>
      </p:sp>
      <p:sp>
        <p:nvSpPr>
          <p:cNvPr id="9" name="Shape 7"/>
          <p:cNvSpPr/>
          <p:nvPr/>
        </p:nvSpPr>
        <p:spPr>
          <a:xfrm>
            <a:off x="548640" y="3127248"/>
            <a:ext cx="7406640" cy="1645920"/>
          </a:xfrm>
          <a:prstGeom prst="roundRect">
            <a:avLst>
              <a:gd name="adj" fmla="val 4444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182112"/>
            <a:ext cx="7132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Learning Goals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529584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explain how a telescope extends our ability to observe distant objects.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867912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compare the limitations of different types of telescopes.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7040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telescope image evidence to make a scientific claim.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956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need: Science notebook   pencil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Warm-Up: What Is That Fuzzy Thing?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303520" cy="502920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5084064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"Andromeda galaxy naked eye night sky faint fuzzy blur photo"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5779008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Andromeda galaxy as seen without a telescope — just a faint smudge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852160" y="713232"/>
            <a:ext cx="5943600" cy="5029200"/>
          </a:xfrm>
          <a:prstGeom prst="roundRect">
            <a:avLst>
              <a:gd name="adj" fmla="val 1455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77240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this night sky photo. Write in your notebook: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35040" y="1325880"/>
            <a:ext cx="5669280" cy="4251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1. What do you observe?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2. What do you wonder?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3. What do you think that fuzzy smudge is?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Evidence-based prediction: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predict that fuzzy smudge is ___ because ___"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Hint: it is 2.5 million light-years away.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1247120" cy="1371600"/>
          </a:xfrm>
          <a:prstGeom prst="roundRect">
            <a:avLst>
              <a:gd name="adj" fmla="val 5333"/>
            </a:avLst>
          </a:prstGeom>
          <a:solidFill>
            <a:srgbClr val="162233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telescopes extend what scientists can observe — and what are their limitations?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47120" cy="1143000"/>
          </a:xfrm>
          <a:prstGeom prst="roundRect">
            <a:avLst>
              <a:gd name="adj" fmla="val 6400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8716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Prediction: "Telescopes help scientists by ___. One limitation is ___"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0" name="Text 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Vocabulary: Telescopes and Distance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4CC9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that collects and focuses light to make distant objects appear closer and larger.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06908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06908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7880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away in space — objects like stars and galaxies are unimaginably distant from Earth.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FB70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63840" y="74980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FB70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0" y="7772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light-year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973568" y="115214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light travels in one year — about 6 trillion miles. Used to measure space distances.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2DC65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tool cannot do or show — every instrument has limits on its observations.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6908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0096C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6908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6052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7880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tools or senses to gather scientific information about something.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63840" y="2304288"/>
            <a:ext cx="3657600" cy="1325880"/>
          </a:xfrm>
          <a:prstGeom prst="roundRect">
            <a:avLst>
              <a:gd name="adj" fmla="val 6897"/>
            </a:avLst>
          </a:prstGeom>
          <a:solidFill>
            <a:srgbClr val="1E2F45"/>
          </a:solidFill>
          <a:ln w="25400">
            <a:solidFill>
              <a:srgbClr val="F4736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863840" y="2304288"/>
            <a:ext cx="3657600" cy="347472"/>
          </a:xfrm>
          <a:prstGeom prst="roundRect">
            <a:avLst>
              <a:gd name="adj" fmla="val 21053"/>
            </a:avLst>
          </a:prstGeom>
          <a:solidFill>
            <a:srgbClr val="F4736A"/>
          </a:solidFill>
          <a:ln w="12700">
            <a:solidFill>
              <a:srgbClr val="F473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55280" y="23317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973568" y="2706624"/>
            <a:ext cx="3438144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or representation of an object created by collecting and focusing light.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0" name="Text 2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Telescopes Work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13232"/>
            <a:ext cx="5029200" cy="5303520"/>
          </a:xfrm>
          <a:prstGeom prst="roundRect">
            <a:avLst>
              <a:gd name="adj" fmla="val 1455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61872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54480"/>
            <a:ext cx="4809744" cy="4251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"refracting reflecting telescope diagram labeled how light collected"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60533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comparing refracting and reflecting telescope designs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577840" y="713232"/>
            <a:ext cx="6217920" cy="5303520"/>
          </a:xfrm>
          <a:prstGeom prst="roundRect">
            <a:avLst>
              <a:gd name="adj" fmla="val 1379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777240"/>
            <a:ext cx="5943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Ideas: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2070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Collects LIGHT from distant objects — the bigger the lens or mirror, the more light collected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760720" y="21214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Refracting telescopes use glass lenses to bend and focus light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760720" y="30358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Reflecting telescopes use curved mirrors (better for large telescopes)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760720" y="39502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Space telescopes (like Hubble) avoid Earth's atmosphere — see farther and clearer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760720" y="4864608"/>
            <a:ext cx="5943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Radio telescopes collect radio waves — can see through dust clouds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8" name="Text 16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Telescopes Reveal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45720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75488" y="1591056"/>
            <a:ext cx="34381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"Jupiter four Galilean moons Hubble space telescope image"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 and its moons — Hubble Space Telescope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4983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Jupiter's Moons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749808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38912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38912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07408" y="1591056"/>
            <a:ext cx="34381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"Pillars of Creation nebula James Webb telescope infrared image"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29768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Pillars of Creation — Webb Space Telescope, 2022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4983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Nebula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29600" y="749808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0A1520"/>
          </a:solidFill>
          <a:ln w="19050">
            <a:solidFill>
              <a:srgbClr val="4CC9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8321040" y="85953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📷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321040" y="12984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IMAGE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339328" y="1591056"/>
            <a:ext cx="3438144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Suggested search: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"Milky Way galaxy center infrared telescope image stars"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229600" y="490118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of the Milky Way in infrared light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229600" y="49834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Galaxy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5486400"/>
            <a:ext cx="11430000" cy="658368"/>
          </a:xfrm>
          <a:prstGeom prst="roundRect">
            <a:avLst>
              <a:gd name="adj" fmla="val 11111"/>
            </a:avLst>
          </a:prstGeom>
          <a:solidFill>
            <a:srgbClr val="1E2F45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5541264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 what detail in one of these images could NOT be seen without a telescope? Why does that detail matter to scientists?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6" name="Text 2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Types of Telescopes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56032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777240"/>
            <a:ext cx="241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 Type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0" y="749808"/>
            <a:ext cx="320040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99232" y="777240"/>
            <a:ext cx="305409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observes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749808"/>
            <a:ext cx="292608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91072" y="777240"/>
            <a:ext cx="27797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quality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235440" y="749808"/>
            <a:ext cx="2468880" cy="475488"/>
          </a:xfrm>
          <a:prstGeom prst="roundRect">
            <a:avLst>
              <a:gd name="adj" fmla="val 15385"/>
            </a:avLst>
          </a:prstGeom>
          <a:solidFill>
            <a:srgbClr val="0096C7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08592" y="777240"/>
            <a:ext cx="232257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1298448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371600"/>
            <a:ext cx="2377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backyard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926080" y="1298448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17520" y="1371600"/>
            <a:ext cx="3017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Stars, planets, moon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17920" y="1298448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371600"/>
            <a:ext cx="2743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city lights interfere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35440" y="1298448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0" y="1371600"/>
            <a:ext cx="2286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2487168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560320"/>
            <a:ext cx="2377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ground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926080" y="2487168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17520" y="2560320"/>
            <a:ext cx="3017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Galaxies, nebulae, exoplanets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2487168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09360" y="2560320"/>
            <a:ext cx="2743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atmosphere limits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9235440" y="2487168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26880" y="2560320"/>
            <a:ext cx="2286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Expensive, fixed location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74320" y="3675888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749040"/>
            <a:ext cx="2377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(Hubble/Webb)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926080" y="3675888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17520" y="3749040"/>
            <a:ext cx="3017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universe, faint objects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217920" y="3675888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3749040"/>
            <a:ext cx="2743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high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235440" y="3675888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326880" y="3749040"/>
            <a:ext cx="2286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expensive, hard to repair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74320" y="4864608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37760"/>
            <a:ext cx="237744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 telescope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926080" y="4864608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4937760"/>
            <a:ext cx="301752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clouds, distant galaxies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17920" y="4864608"/>
            <a:ext cx="29260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09360" y="4937760"/>
            <a:ext cx="27432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through dust/clouds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9235440" y="4864608"/>
            <a:ext cx="2468880" cy="1097280"/>
          </a:xfrm>
          <a:prstGeom prst="roundRect">
            <a:avLst>
              <a:gd name="adj" fmla="val 6667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4937760"/>
            <a:ext cx="2286000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 land area needed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46" name="Text 4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Discussion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103120"/>
          </a:xfrm>
          <a:prstGeom prst="roundRect">
            <a:avLst>
              <a:gd name="adj" fmla="val 3478"/>
            </a:avLst>
          </a:prstGeom>
          <a:solidFill>
            <a:srgbClr val="162233"/>
          </a:solidFill>
          <a:ln w="12700">
            <a:solidFill>
              <a:srgbClr val="FFB70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22960"/>
            <a:ext cx="1110081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7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Question: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30352" y="1188720"/>
            <a:ext cx="111008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wants to study a galaxy 13 billion light-years away. She can choose a large ground telescope or a space telescope. What evidence would she use to decide? What constraints would affect her choice?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Justify using the comparison chart.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971800"/>
            <a:ext cx="11430000" cy="1280160"/>
          </a:xfrm>
          <a:prstGeom prst="roundRect">
            <a:avLst>
              <a:gd name="adj" fmla="val 5714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035808"/>
            <a:ext cx="111556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Argumentation Starters: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401568"/>
            <a:ext cx="111556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recommend ___ because the evidence shows it can ___."  "A constraint is ___, which means ___ would not work as well."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2" name="Text 10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 Stage 2: Claim + Evidence — Telescope Choice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394960" cy="5349240"/>
          </a:xfrm>
          <a:prstGeom prst="roundRect">
            <a:avLst>
              <a:gd name="adj" fmla="val 1709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3949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51206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[telescope type] is the best tool for studying [object] because ___."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that telescopes extend scientists' ability to observe by ___"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943600" y="749808"/>
            <a:ext cx="5852160" cy="5349240"/>
          </a:xfrm>
          <a:prstGeom prst="roundRect">
            <a:avLst>
              <a:gd name="adj" fmla="val 1709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749808"/>
            <a:ext cx="5852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35040" y="768096"/>
            <a:ext cx="5669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080760" y="1152144"/>
            <a:ext cx="5577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 pieces of evidence: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"The comparison chart shows that [telescope] can ___"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"The limitation of ___ means ___, so ___ is better"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specific — cite capabilities or constraints.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4" name="Text 12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CER: Reasoning Coming Next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0A3D8F"/>
          </a:solidFill>
          <a:ln w="19050">
            <a:solidFill>
              <a:srgbClr val="1A5FB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3566160" cy="347472"/>
          </a:xfrm>
          <a:prstGeom prst="rect">
            <a:avLst/>
          </a:prstGeom>
          <a:solidFill>
            <a:srgbClr val="1A5FBD"/>
          </a:solidFill>
          <a:ln w="12700">
            <a:solidFill>
              <a:srgbClr val="1A5F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 CLAIM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claim that [tool] is best because ___.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114800" y="749808"/>
            <a:ext cx="3566160" cy="5349240"/>
          </a:xfrm>
          <a:prstGeom prst="roundRect">
            <a:avLst>
              <a:gd name="adj" fmla="val 2564"/>
            </a:avLst>
          </a:prstGeom>
          <a:solidFill>
            <a:srgbClr val="145C35"/>
          </a:solidFill>
          <a:ln w="19050">
            <a:solidFill>
              <a:srgbClr val="228B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0" y="749808"/>
            <a:ext cx="3566160" cy="347472"/>
          </a:xfrm>
          <a:prstGeom prst="rect">
            <a:avLst/>
          </a:prstGeom>
          <a:solidFill>
            <a:srgbClr val="228B50"/>
          </a:solidFill>
          <a:ln w="12700">
            <a:solidFill>
              <a:srgbClr val="228B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768096"/>
            <a:ext cx="3383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EVIDENCE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251960" y="1152144"/>
            <a:ext cx="3291840" cy="4855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from comparison chart...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863840" y="749808"/>
            <a:ext cx="3749040" cy="5349240"/>
          </a:xfrm>
          <a:prstGeom prst="roundRect">
            <a:avLst>
              <a:gd name="adj" fmla="val 2439"/>
            </a:avLst>
          </a:prstGeom>
          <a:solidFill>
            <a:srgbClr val="1A1A2A"/>
          </a:solidFill>
          <a:ln w="19050">
            <a:solidFill>
              <a:srgbClr val="3A3A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55280" y="841248"/>
            <a:ext cx="3566160" cy="5166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REASONING</a:t>
            </a:r>
            <a:endParaRPr lang="en-US" sz="1600" dirty="0"/>
          </a:p>
          <a:p>
            <a:pPr algn="ctr" indent="0" marL="0">
              <a:buNone/>
            </a:pP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A3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next!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6" name="Text 14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for Understanding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 scientist wants to observe a galaxy too faint to see through Earth's atmosphere. Which tool is BEST?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Hand lens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400800" y="137160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Small backyard telescope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Space telescope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0" y="184708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Radio telescope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0" y="30175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3630168"/>
            <a:ext cx="11430000" cy="2697480"/>
          </a:xfrm>
          <a:prstGeom prst="roundRect">
            <a:avLst>
              <a:gd name="adj" fmla="val 2712"/>
            </a:avLst>
          </a:prstGeom>
          <a:solidFill>
            <a:srgbClr val="1E2F45"/>
          </a:solidFill>
          <a:ln w="12700">
            <a:solidFill>
              <a:srgbClr val="24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03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a light-year?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3152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How bright a star is in one year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00800" y="4251960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The distance light travels in one year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3152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How long a telescope lasts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4727448"/>
            <a:ext cx="54864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The speed of a spacecraft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601200" y="5897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Answer: 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20" name="Text 18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59436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0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45720"/>
            <a:ext cx="1161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Reflect + Closing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1E2F45"/>
          </a:solidFill>
          <a:ln w="12700">
            <a:solidFill>
              <a:srgbClr val="4CC9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04672"/>
            <a:ext cx="10972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Essential Question Response — Write in your science notebook: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0972800" cy="8869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do telescopes extend what scientists can observe — and what are their limitations?"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2–3 sentences using vocab words from today.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7315200" cy="2560320"/>
          </a:xfrm>
          <a:prstGeom prst="roundRect">
            <a:avLst>
              <a:gd name="adj" fmla="val 2857"/>
            </a:avLst>
          </a:prstGeom>
          <a:solidFill>
            <a:srgbClr val="1E2F45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359152"/>
            <a:ext cx="7040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What to Turn In: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Warm-up observations + evidence-based prediction (notebook)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Telescope comparison notes (notebook)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38144"/>
            <a:ext cx="7040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Stage 2: Claim + Evidence for telescope choice (notebook)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04288"/>
            <a:ext cx="3931920" cy="2560320"/>
          </a:xfrm>
          <a:prstGeom prst="roundRect">
            <a:avLst>
              <a:gd name="adj" fmla="val 2857"/>
            </a:avLst>
          </a:prstGeom>
          <a:solidFill>
            <a:srgbClr val="1A1A3A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01000" y="23591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CC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Coming Next: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01000" y="274320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19-01: Motion and Energy — How are speed and energy connected?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5047488"/>
            <a:ext cx="12192000" cy="45720"/>
          </a:xfrm>
          <a:prstGeom prst="rect">
            <a:avLst/>
          </a:prstGeom>
          <a:solidFill>
            <a:srgbClr val="4CC9F0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5120640"/>
            <a:ext cx="11247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work today, scientists! See you next time.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rgbClr val="162233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6638544"/>
            <a:ext cx="1219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4th Grade Science  ·  Lesson 18-02  ·  Tech Tools: Telescopes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2026-07-14T00:26:52Z</dcterms:created>
  <dcterms:modified xsi:type="dcterms:W3CDTF">2026-07-14T00:26:52Z</dcterms:modified>
</cp:coreProperties>
</file>