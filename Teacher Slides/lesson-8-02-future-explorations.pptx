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lesson of the unit — and the most speculative! This is where science meets imagination. Start big: 'If Earth ran out of a critical resource tomorrow, what would we do?' Build excitement for space 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draw the solar system from memory — then we build on it throughout the lesson.
Facilitation: 'What do you know about Mars? What have you heard? What's your evidence?'
Connect to early ocean explorers: same courage, same uncertainty, different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and talk: If you knew Earth was running low on a critical metal for your phone, would you support space mining? What's your evidence?'
The lunchbox analogy makes the abstract resource scarcity concept feel real and immediate.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'rover' to Perseverance — NASA's rover currently on Mars! Students may have heard of it.
'Asteroid' — the belt between Mars and Jupiter has over 1 million of them. Ask: 'What shape do you imagine?'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'Atmosphere protects life on Earth — ozone layer, breathable air, moderate temperatures. Other planets have atmospheres too, but very different ones.'
Preview: Venus's atmosphere is SO hot it melts lead. We can't land there — but we can send drones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evidence! What specific evidence from the solar system shows which destinations have resources?'
Key: Mars has water ice and minerals. Asteroids have metals. Venus has... atmosphere to study. Each requires different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three targets. Mars needs rovers, Venus needs drones, asteroids need robotic miners. Why does each place require a different tool? What makes each location unique?'
Evidence reasoning: 'I predict Mars will be explored first because... This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'Venus and Earth are basically the same size — so why is Venus so different? What does that tell us about atmosphere?'
Ask: 'If Mars is half the size of Earth, does that mean it has half the resources? Why or why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Phase 4 — responsible use. 'In Phase 4, we said scientists must protect other planets' environments. But if no life lives on Mars or an asteroid, does it still MATTER how we treat those environments? Why or why not?'
This is a rich philosophical-scientific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Moon is just a 3-day trip — compared to 6+ months to Mars! That's why NASA plans Moon FIRST, then use it as a launchpad for deeper missions.'
Ask: 'What would make the Moon a better stepping stone than going directly to Mars?'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concrete evidence that Mars could support human exploration. Water = drink, grow food, AND make rocket fuel.
'If you were designing a Mars base, what would be the FIRST resource you'd want to find?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responsible exploration mean? Is there a difference between exploring space to study it vs. mining it for profit?'
Key scientific argumentation: 'What evidence supports sharing space resources? What supports individual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for: students making specific claims with specific evidence (NOT just 'because space has resources').
Push: 'What specific resource? What specific destination? What specific evidence from today?'
Also: 'Is there a counterargument? What would change your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justify answers: 'What's your evidence?'
Q3 is the big one — responsible exploration is about balance, not stopping or going all-out. That nuance is the key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Dream Mission in Part C connects to your warm-up solar system sketch — you already have the destination drawn!'
The personal reflection is intentionally open-ended — all answers are valid. What matters is the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WRAP-UP! Celebrate the journey: 'We started with minerals in rocks (6.02), learned where they come from (7.01-7.02), found them in extreme environments (8.01), and now we're heading to SPACE (8.02)!'
Exit ticket: 'Name one specific resource beyond Earth and explain why it matters using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Future Explorations: Seeking Resources Beyond Earth</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What resources exist beyond Earth — and how can we use them responsibly?</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NGSS 4-ESS3-1 · Earth &amp; Human Activity</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Explain why scientists are searching for resources beyond Earth.</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Describe how future explorers might find resources on Mars, Venus, and asteroids.</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Explain why responsible exploration of space environments matters.</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 Science notebook   ✏️ Colored pencils   🌌 Your imagination!</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Warm-Up: Launch Your Thinking!</a:t>
            </a:r>
            <a:endParaRPr lang="en-US" sz="1600" dirty="0"/>
          </a:p>
        </p:txBody>
      </p:sp>
      <p:sp>
        <p:nvSpPr>
          <p:cNvPr id="5" name="Shape 3"/>
          <p:cNvSpPr/>
          <p:nvPr/>
        </p:nvSpPr>
        <p:spPr>
          <a:xfrm>
            <a:off x="365760" y="749808"/>
            <a:ext cx="11247120" cy="347472"/>
          </a:xfrm>
          <a:prstGeom prst="roundRect">
            <a:avLst>
              <a:gd name="adj" fmla="val 23684"/>
            </a:avLst>
          </a:prstGeom>
          <a:solidFill>
            <a:srgbClr val="E09200"/>
          </a:solidFill>
          <a:ln w="19050">
            <a:solidFill>
              <a:srgbClr val="FFB703"/>
            </a:solidFill>
            <a:prstDash val="solid"/>
          </a:ln>
        </p:spPr>
      </p:sp>
      <p:sp>
        <p:nvSpPr>
          <p:cNvPr id="6" name="Text 4"/>
          <p:cNvSpPr/>
          <p:nvPr/>
        </p:nvSpPr>
        <p:spPr>
          <a:xfrm>
            <a:off x="365760" y="749808"/>
            <a:ext cx="112471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7" name="Shape 5"/>
          <p:cNvSpPr/>
          <p:nvPr/>
        </p:nvSpPr>
        <p:spPr>
          <a:xfrm>
            <a:off x="365760" y="1207008"/>
            <a:ext cx="5760720" cy="4572000"/>
          </a:xfrm>
          <a:prstGeom prst="roundRect">
            <a:avLst>
              <a:gd name="adj" fmla="val 1600"/>
            </a:avLst>
          </a:prstGeom>
          <a:solidFill>
            <a:srgbClr val="1E2F45"/>
          </a:solidFill>
          <a:ln w="12700">
            <a:solidFill>
              <a:srgbClr val="FFB703"/>
            </a:solidFill>
            <a:prstDash val="solid"/>
          </a:ln>
        </p:spPr>
      </p:sp>
      <p:sp>
        <p:nvSpPr>
          <p:cNvPr id="8" name="Text 6"/>
          <p:cNvSpPr/>
          <p:nvPr/>
        </p:nvSpPr>
        <p:spPr>
          <a:xfrm>
            <a:off x="548640" y="1280160"/>
            <a:ext cx="5486400" cy="47548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In your science notebook, draw a quick sketch of our solar system.</a:t>
            </a:r>
            <a:endParaRPr lang="en-US" sz="1300" dirty="0"/>
          </a:p>
        </p:txBody>
      </p:sp>
      <p:sp>
        <p:nvSpPr>
          <p:cNvPr id="9" name="Text 7"/>
          <p:cNvSpPr/>
          <p:nvPr/>
        </p:nvSpPr>
        <p:spPr>
          <a:xfrm>
            <a:off x="548640" y="1828800"/>
            <a:ext cx="5486400" cy="164592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Include:</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Earth</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At least one other planet</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Any other space objects you know</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Label what you can — no need to be perfect!</a:t>
            </a:r>
            <a:endParaRPr lang="en-US" sz="1250" dirty="0"/>
          </a:p>
        </p:txBody>
      </p:sp>
      <p:sp>
        <p:nvSpPr>
          <p:cNvPr id="10" name="Text 8"/>
          <p:cNvSpPr/>
          <p:nvPr/>
        </p:nvSpPr>
        <p:spPr>
          <a:xfrm>
            <a:off x="548640" y="3566160"/>
            <a:ext cx="5486400" cy="1828800"/>
          </a:xfrm>
          <a:prstGeom prst="rect">
            <a:avLst/>
          </a:prstGeom>
          <a:noFill/>
          <a:ln/>
        </p:spPr>
        <p:txBody>
          <a:bodyPr wrap="square" rtlCol="0" anchor="ctr"/>
          <a:lstStyle/>
          <a:p>
            <a:pPr indent="0" marL="0">
              <a:buNone/>
            </a:pPr>
            <a:r>
              <a:rPr lang="en-US" sz="1250" i="1" dirty="0">
                <a:solidFill>
                  <a:srgbClr val="B0C4D8"/>
                </a:solidFill>
                <a:latin typeface="Calibri" pitchFamily="34" charset="0"/>
                <a:ea typeface="Calibri" pitchFamily="34" charset="-122"/>
                <a:cs typeface="Calibri" pitchFamily="34" charset="-120"/>
              </a:rPr>
              <a:t>"Imagine you are an explorer from 500 years ago setting off across the ocean, not knowing what you'd find. How might a future astronaut exploring Mars feel the same way? How might it be different?"</a:t>
            </a:r>
            <a:endParaRPr lang="en-US" sz="1250" dirty="0"/>
          </a:p>
        </p:txBody>
      </p:sp>
      <p:sp>
        <p:nvSpPr>
          <p:cNvPr id="11" name="Shape 9"/>
          <p:cNvSpPr/>
          <p:nvPr/>
        </p:nvSpPr>
        <p:spPr>
          <a:xfrm>
            <a:off x="6309360" y="1207008"/>
            <a:ext cx="5760720" cy="4572000"/>
          </a:xfrm>
          <a:prstGeom prst="roundRect">
            <a:avLst>
              <a:gd name="adj" fmla="val 1600"/>
            </a:avLst>
          </a:prstGeom>
          <a:solidFill>
            <a:srgbClr val="0A1520"/>
          </a:solidFill>
          <a:ln w="19050">
            <a:solidFill>
              <a:srgbClr val="4CC9F0"/>
            </a:solidFill>
            <a:prstDash val="dash"/>
          </a:ln>
        </p:spPr>
      </p:sp>
      <p:sp>
        <p:nvSpPr>
          <p:cNvPr id="12" name="Text 10"/>
          <p:cNvSpPr/>
          <p:nvPr/>
        </p:nvSpPr>
        <p:spPr>
          <a:xfrm>
            <a:off x="6400800" y="1316736"/>
            <a:ext cx="55778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6400800" y="1755648"/>
            <a:ext cx="55778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4" name="Text 12"/>
          <p:cNvSpPr/>
          <p:nvPr/>
        </p:nvSpPr>
        <p:spPr>
          <a:xfrm>
            <a:off x="6419088" y="2048256"/>
            <a:ext cx="5541264" cy="35204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"solar system diagram planets Mars Venus asteroid belt NASA illustration"</a:t>
            </a:r>
            <a:endParaRPr lang="en-US" sz="950" dirty="0"/>
          </a:p>
        </p:txBody>
      </p:sp>
      <p:sp>
        <p:nvSpPr>
          <p:cNvPr id="15" name="Text 13"/>
          <p:cNvSpPr/>
          <p:nvPr/>
        </p:nvSpPr>
        <p:spPr>
          <a:xfrm>
            <a:off x="6309360" y="5815584"/>
            <a:ext cx="57607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Our solar system — the next frontier of exploration</a:t>
            </a:r>
            <a:endParaRPr lang="en-US" sz="9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Prediction: Earth's Lunchbox Problem</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22960"/>
            <a:ext cx="10972800" cy="1261872"/>
          </a:xfrm>
          <a:prstGeom prst="rect">
            <a:avLst/>
          </a:prstGeom>
          <a:noFill/>
          <a:ln/>
        </p:spPr>
        <p:txBody>
          <a:bodyPr wrap="square" rtlCol="0" anchor="ctr"/>
          <a:lstStyle/>
          <a:p>
            <a:pPr algn="ctr" indent="0" marL="0">
              <a:buNone/>
            </a:pPr>
            <a:r>
              <a:rPr lang="en-US" sz="1400" i="1" dirty="0">
                <a:solidFill>
                  <a:srgbClr val="4CC9F0"/>
                </a:solidFill>
                <a:latin typeface="Calibri" pitchFamily="34" charset="0"/>
                <a:ea typeface="Calibri" pitchFamily="34" charset="-122"/>
                <a:cs typeface="Calibri" pitchFamily="34" charset="-120"/>
              </a:rPr>
              <a:t>"How might future space exploration help us find the resources we need — and what challenges do we face in using these resources responsibly?"</a:t>
            </a:r>
            <a:endParaRPr lang="en-US" sz="1400" dirty="0"/>
          </a:p>
        </p:txBody>
      </p:sp>
      <p:sp>
        <p:nvSpPr>
          <p:cNvPr id="7" name="Shape 5"/>
          <p:cNvSpPr/>
          <p:nvPr/>
        </p:nvSpPr>
        <p:spPr>
          <a:xfrm>
            <a:off x="365760" y="2331720"/>
            <a:ext cx="11247120" cy="1417320"/>
          </a:xfrm>
          <a:prstGeom prst="roundRect">
            <a:avLst>
              <a:gd name="adj" fmla="val 5161"/>
            </a:avLst>
          </a:prstGeom>
          <a:solidFill>
            <a:srgbClr val="0A1520"/>
          </a:solidFill>
          <a:ln w="12700">
            <a:solidFill>
              <a:srgbClr val="FFB703"/>
            </a:solidFill>
            <a:prstDash val="solid"/>
          </a:ln>
        </p:spPr>
      </p:sp>
      <p:sp>
        <p:nvSpPr>
          <p:cNvPr id="8" name="Text 6"/>
          <p:cNvSpPr/>
          <p:nvPr/>
        </p:nvSpPr>
        <p:spPr>
          <a:xfrm>
            <a:off x="548640" y="2404872"/>
            <a:ext cx="10972800" cy="1261872"/>
          </a:xfrm>
          <a:prstGeom prst="rect">
            <a:avLst/>
          </a:prstGeom>
          <a:noFill/>
          <a:ln/>
        </p:spPr>
        <p:txBody>
          <a:bodyPr wrap="square" rtlCol="0" anchor="ctr"/>
          <a:lstStyle/>
          <a:p>
            <a:pPr algn="ctr" indent="0" marL="0">
              <a:buNone/>
            </a:pPr>
            <a:r>
              <a:rPr lang="en-US" sz="1300" i="1" dirty="0">
                <a:solidFill>
                  <a:srgbClr val="FFB703"/>
                </a:solidFill>
                <a:latin typeface="Calibri" pitchFamily="34" charset="0"/>
                <a:ea typeface="Calibri" pitchFamily="34" charset="-122"/>
                <a:cs typeface="Calibri" pitchFamily="34" charset="-120"/>
              </a:rPr>
              <a:t>Think of Earth like a lunchbox. If you only packed a little food but kept eating more and more, you'd eventually run out. Earth is our 'lunchbox' — scientists want to make sure we never go hungry by finding new sources of materials.</a:t>
            </a:r>
            <a:endParaRPr lang="en-US" sz="1300" dirty="0"/>
          </a:p>
        </p:txBody>
      </p:sp>
      <p:sp>
        <p:nvSpPr>
          <p:cNvPr id="9" name="Text 7"/>
          <p:cNvSpPr/>
          <p:nvPr/>
        </p:nvSpPr>
        <p:spPr>
          <a:xfrm>
            <a:off x="365760" y="3913632"/>
            <a:ext cx="11247120" cy="47548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 predict ___ because ___</a:t>
            </a:r>
            <a:endParaRPr lang="en-US" sz="1600" dirty="0"/>
          </a:p>
        </p:txBody>
      </p:sp>
      <p:sp>
        <p:nvSpPr>
          <p:cNvPr id="10" name="Shape 8"/>
          <p:cNvSpPr/>
          <p:nvPr/>
        </p:nvSpPr>
        <p:spPr>
          <a:xfrm>
            <a:off x="365760" y="4553712"/>
            <a:ext cx="11247120" cy="804672"/>
          </a:xfrm>
          <a:prstGeom prst="roundRect">
            <a:avLst>
              <a:gd name="adj" fmla="val 9091"/>
            </a:avLst>
          </a:prstGeom>
          <a:solidFill>
            <a:srgbClr val="0A1A30"/>
          </a:solidFill>
          <a:ln w="12700">
            <a:solidFill>
              <a:srgbClr val="2DC653"/>
            </a:solidFill>
            <a:prstDash val="solid"/>
          </a:ln>
        </p:spPr>
      </p:sp>
      <p:sp>
        <p:nvSpPr>
          <p:cNvPr id="11" name="Text 9"/>
          <p:cNvSpPr/>
          <p:nvPr/>
        </p:nvSpPr>
        <p:spPr>
          <a:xfrm>
            <a:off x="548640" y="4626864"/>
            <a:ext cx="10972800" cy="658368"/>
          </a:xfrm>
          <a:prstGeom prst="rect">
            <a:avLst/>
          </a:prstGeom>
          <a:noFill/>
          <a:ln/>
        </p:spPr>
        <p:txBody>
          <a:bodyPr wrap="square" rtlCol="0" anchor="ctr"/>
          <a:lstStyle/>
          <a:p>
            <a:pPr indent="0" marL="0">
              <a:buNone/>
            </a:pPr>
            <a:r>
              <a:rPr lang="en-US" sz="1250" i="1" dirty="0">
                <a:solidFill>
                  <a:srgbClr val="2DC653"/>
                </a:solidFill>
                <a:latin typeface="Calibri" pitchFamily="34" charset="0"/>
                <a:ea typeface="Calibri" pitchFamily="34" charset="-122"/>
                <a:cs typeface="Calibri" pitchFamily="34" charset="-120"/>
              </a:rPr>
              <a:t>Mind-Blowing Fact 🤯  The asteroid belt between Mars and Jupiter contains enough iron, nickel, gold, and platinum to supply every person on Earth with 40 BILLION kilograms of metal — more than all the metal ever mined in human history!</a:t>
            </a:r>
            <a:endParaRPr lang="en-US" sz="125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Mission Vocabulary — Part 1</a:t>
            </a:r>
            <a:endParaRPr lang="en-US" sz="1600" dirty="0"/>
          </a:p>
        </p:txBody>
      </p:sp>
      <p:sp>
        <p:nvSpPr>
          <p:cNvPr id="5" name="Shape 3"/>
          <p:cNvSpPr/>
          <p:nvPr/>
        </p:nvSpPr>
        <p:spPr>
          <a:xfrm>
            <a:off x="365760" y="749808"/>
            <a:ext cx="539496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749808"/>
            <a:ext cx="539496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777240"/>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Resource</a:t>
            </a:r>
            <a:endParaRPr lang="en-US" sz="1200" dirty="0"/>
          </a:p>
        </p:txBody>
      </p:sp>
      <p:sp>
        <p:nvSpPr>
          <p:cNvPr id="8" name="Text 6"/>
          <p:cNvSpPr/>
          <p:nvPr/>
        </p:nvSpPr>
        <p:spPr>
          <a:xfrm>
            <a:off x="475488" y="1152144"/>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material or substance that people use — like metals, fuels, water, or minerals.</a:t>
            </a:r>
            <a:endParaRPr lang="en-US" sz="1050" dirty="0"/>
          </a:p>
        </p:txBody>
      </p:sp>
      <p:sp>
        <p:nvSpPr>
          <p:cNvPr id="9" name="Shape 7"/>
          <p:cNvSpPr/>
          <p:nvPr/>
        </p:nvSpPr>
        <p:spPr>
          <a:xfrm>
            <a:off x="6035040" y="749808"/>
            <a:ext cx="557784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6035040" y="749808"/>
            <a:ext cx="557784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6126480" y="777240"/>
            <a:ext cx="5394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Space Exploration</a:t>
            </a:r>
            <a:endParaRPr lang="en-US" sz="1200" dirty="0"/>
          </a:p>
        </p:txBody>
      </p:sp>
      <p:sp>
        <p:nvSpPr>
          <p:cNvPr id="12" name="Text 10"/>
          <p:cNvSpPr/>
          <p:nvPr/>
        </p:nvSpPr>
        <p:spPr>
          <a:xfrm>
            <a:off x="6144768" y="1152144"/>
            <a:ext cx="53583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Traveling into space to study planets, moons, asteroids, and other objects in our universe.</a:t>
            </a:r>
            <a:endParaRPr lang="en-US" sz="1050" dirty="0"/>
          </a:p>
        </p:txBody>
      </p:sp>
      <p:sp>
        <p:nvSpPr>
          <p:cNvPr id="13" name="Shape 11"/>
          <p:cNvSpPr/>
          <p:nvPr/>
        </p:nvSpPr>
        <p:spPr>
          <a:xfrm>
            <a:off x="365760" y="3200400"/>
            <a:ext cx="5394960" cy="1325880"/>
          </a:xfrm>
          <a:prstGeom prst="roundRect">
            <a:avLst>
              <a:gd name="adj" fmla="val 6897"/>
            </a:avLst>
          </a:prstGeom>
          <a:solidFill>
            <a:srgbClr val="1E2F45"/>
          </a:solidFill>
          <a:ln w="25400">
            <a:solidFill>
              <a:srgbClr val="FFB703"/>
            </a:solidFill>
            <a:prstDash val="solid"/>
          </a:ln>
        </p:spPr>
      </p:sp>
      <p:sp>
        <p:nvSpPr>
          <p:cNvPr id="14" name="Shape 12"/>
          <p:cNvSpPr/>
          <p:nvPr/>
        </p:nvSpPr>
        <p:spPr>
          <a:xfrm>
            <a:off x="365760" y="3200400"/>
            <a:ext cx="5394960" cy="347472"/>
          </a:xfrm>
          <a:prstGeom prst="roundRect">
            <a:avLst>
              <a:gd name="adj" fmla="val 21053"/>
            </a:avLst>
          </a:prstGeom>
          <a:solidFill>
            <a:srgbClr val="FFB703"/>
          </a:solidFill>
          <a:ln w="12700">
            <a:solidFill>
              <a:srgbClr val="FFB703"/>
            </a:solidFill>
            <a:prstDash val="solid"/>
          </a:ln>
        </p:spPr>
      </p:sp>
      <p:sp>
        <p:nvSpPr>
          <p:cNvPr id="15" name="Text 13"/>
          <p:cNvSpPr/>
          <p:nvPr/>
        </p:nvSpPr>
        <p:spPr>
          <a:xfrm>
            <a:off x="457200" y="3227832"/>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Rover</a:t>
            </a:r>
            <a:endParaRPr lang="en-US" sz="1200" dirty="0"/>
          </a:p>
        </p:txBody>
      </p:sp>
      <p:sp>
        <p:nvSpPr>
          <p:cNvPr id="16" name="Text 14"/>
          <p:cNvSpPr/>
          <p:nvPr/>
        </p:nvSpPr>
        <p:spPr>
          <a:xfrm>
            <a:off x="475488" y="3602736"/>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robotic vehicle designed to move across the surface of another planet, gathering information and samples.</a:t>
            </a:r>
            <a:endParaRPr lang="en-US" sz="1050" dirty="0"/>
          </a:p>
        </p:txBody>
      </p:sp>
      <p:sp>
        <p:nvSpPr>
          <p:cNvPr id="17" name="Shape 15"/>
          <p:cNvSpPr/>
          <p:nvPr/>
        </p:nvSpPr>
        <p:spPr>
          <a:xfrm>
            <a:off x="6035040" y="3200400"/>
            <a:ext cx="5577840" cy="1325880"/>
          </a:xfrm>
          <a:prstGeom prst="roundRect">
            <a:avLst>
              <a:gd name="adj" fmla="val 6897"/>
            </a:avLst>
          </a:prstGeom>
          <a:solidFill>
            <a:srgbClr val="1E2F45"/>
          </a:solidFill>
          <a:ln w="25400">
            <a:solidFill>
              <a:srgbClr val="F4736A"/>
            </a:solidFill>
            <a:prstDash val="solid"/>
          </a:ln>
        </p:spPr>
      </p:sp>
      <p:sp>
        <p:nvSpPr>
          <p:cNvPr id="18" name="Shape 16"/>
          <p:cNvSpPr/>
          <p:nvPr/>
        </p:nvSpPr>
        <p:spPr>
          <a:xfrm>
            <a:off x="6035040" y="3200400"/>
            <a:ext cx="5577840" cy="347472"/>
          </a:xfrm>
          <a:prstGeom prst="roundRect">
            <a:avLst>
              <a:gd name="adj" fmla="val 21053"/>
            </a:avLst>
          </a:prstGeom>
          <a:solidFill>
            <a:srgbClr val="F4736A"/>
          </a:solidFill>
          <a:ln w="12700">
            <a:solidFill>
              <a:srgbClr val="F4736A"/>
            </a:solidFill>
            <a:prstDash val="solid"/>
          </a:ln>
        </p:spPr>
      </p:sp>
      <p:sp>
        <p:nvSpPr>
          <p:cNvPr id="19" name="Text 17"/>
          <p:cNvSpPr/>
          <p:nvPr/>
        </p:nvSpPr>
        <p:spPr>
          <a:xfrm>
            <a:off x="6126480" y="3227832"/>
            <a:ext cx="5394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Asteroid</a:t>
            </a:r>
            <a:endParaRPr lang="en-US" sz="1200" dirty="0"/>
          </a:p>
        </p:txBody>
      </p:sp>
      <p:sp>
        <p:nvSpPr>
          <p:cNvPr id="20" name="Text 18"/>
          <p:cNvSpPr/>
          <p:nvPr/>
        </p:nvSpPr>
        <p:spPr>
          <a:xfrm>
            <a:off x="6144768" y="3602736"/>
            <a:ext cx="53583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rocky object, smaller than a planet, that orbits the Sun. Many are packed with valuable metals like gold, platinum, and iron.</a:t>
            </a:r>
            <a:endParaRPr lang="en-US" sz="105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Mission Vocabulary — Part 2</a:t>
            </a:r>
            <a:endParaRPr lang="en-US" sz="1600" dirty="0"/>
          </a:p>
        </p:txBody>
      </p:sp>
      <p:sp>
        <p:nvSpPr>
          <p:cNvPr id="5" name="Shape 3"/>
          <p:cNvSpPr/>
          <p:nvPr/>
        </p:nvSpPr>
        <p:spPr>
          <a:xfrm>
            <a:off x="365760" y="749808"/>
            <a:ext cx="5394960" cy="1325880"/>
          </a:xfrm>
          <a:prstGeom prst="roundRect">
            <a:avLst>
              <a:gd name="adj" fmla="val 6897"/>
            </a:avLst>
          </a:prstGeom>
          <a:solidFill>
            <a:srgbClr val="1E2F45"/>
          </a:solidFill>
          <a:ln w="25400">
            <a:solidFill>
              <a:srgbClr val="FFB703"/>
            </a:solidFill>
            <a:prstDash val="solid"/>
          </a:ln>
        </p:spPr>
      </p:sp>
      <p:sp>
        <p:nvSpPr>
          <p:cNvPr id="6" name="Shape 4"/>
          <p:cNvSpPr/>
          <p:nvPr/>
        </p:nvSpPr>
        <p:spPr>
          <a:xfrm>
            <a:off x="365760" y="749808"/>
            <a:ext cx="5394960" cy="347472"/>
          </a:xfrm>
          <a:prstGeom prst="roundRect">
            <a:avLst>
              <a:gd name="adj" fmla="val 21053"/>
            </a:avLst>
          </a:prstGeom>
          <a:solidFill>
            <a:srgbClr val="FFB703"/>
          </a:solidFill>
          <a:ln w="12700">
            <a:solidFill>
              <a:srgbClr val="FFB703"/>
            </a:solidFill>
            <a:prstDash val="solid"/>
          </a:ln>
        </p:spPr>
      </p:sp>
      <p:sp>
        <p:nvSpPr>
          <p:cNvPr id="7" name="Text 5"/>
          <p:cNvSpPr/>
          <p:nvPr/>
        </p:nvSpPr>
        <p:spPr>
          <a:xfrm>
            <a:off x="457200" y="777240"/>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Mining</a:t>
            </a:r>
            <a:endParaRPr lang="en-US" sz="1200" dirty="0"/>
          </a:p>
        </p:txBody>
      </p:sp>
      <p:sp>
        <p:nvSpPr>
          <p:cNvPr id="8" name="Text 6"/>
          <p:cNvSpPr/>
          <p:nvPr/>
        </p:nvSpPr>
        <p:spPr>
          <a:xfrm>
            <a:off x="475488" y="1152144"/>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process of digging or collecting valuable materials from the ground — or from space rocks!</a:t>
            </a:r>
            <a:endParaRPr lang="en-US" sz="1050" dirty="0"/>
          </a:p>
        </p:txBody>
      </p:sp>
      <p:sp>
        <p:nvSpPr>
          <p:cNvPr id="9" name="Shape 7"/>
          <p:cNvSpPr/>
          <p:nvPr/>
        </p:nvSpPr>
        <p:spPr>
          <a:xfrm>
            <a:off x="6035040" y="749808"/>
            <a:ext cx="5577840" cy="1325880"/>
          </a:xfrm>
          <a:prstGeom prst="roundRect">
            <a:avLst>
              <a:gd name="adj" fmla="val 6897"/>
            </a:avLst>
          </a:prstGeom>
          <a:solidFill>
            <a:srgbClr val="1E2F45"/>
          </a:solidFill>
          <a:ln w="25400">
            <a:solidFill>
              <a:srgbClr val="F4736A"/>
            </a:solidFill>
            <a:prstDash val="solid"/>
          </a:ln>
        </p:spPr>
      </p:sp>
      <p:sp>
        <p:nvSpPr>
          <p:cNvPr id="10" name="Shape 8"/>
          <p:cNvSpPr/>
          <p:nvPr/>
        </p:nvSpPr>
        <p:spPr>
          <a:xfrm>
            <a:off x="6035040" y="749808"/>
            <a:ext cx="5577840" cy="347472"/>
          </a:xfrm>
          <a:prstGeom prst="roundRect">
            <a:avLst>
              <a:gd name="adj" fmla="val 21053"/>
            </a:avLst>
          </a:prstGeom>
          <a:solidFill>
            <a:srgbClr val="F4736A"/>
          </a:solidFill>
          <a:ln w="12700">
            <a:solidFill>
              <a:srgbClr val="F4736A"/>
            </a:solidFill>
            <a:prstDash val="solid"/>
          </a:ln>
        </p:spPr>
      </p:sp>
      <p:sp>
        <p:nvSpPr>
          <p:cNvPr id="11" name="Text 9"/>
          <p:cNvSpPr/>
          <p:nvPr/>
        </p:nvSpPr>
        <p:spPr>
          <a:xfrm>
            <a:off x="6126480" y="777240"/>
            <a:ext cx="5394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Atmosphere</a:t>
            </a:r>
            <a:endParaRPr lang="en-US" sz="1200" dirty="0"/>
          </a:p>
        </p:txBody>
      </p:sp>
      <p:sp>
        <p:nvSpPr>
          <p:cNvPr id="12" name="Text 10"/>
          <p:cNvSpPr/>
          <p:nvPr/>
        </p:nvSpPr>
        <p:spPr>
          <a:xfrm>
            <a:off x="6144768" y="1152144"/>
            <a:ext cx="53583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layer of gases that surrounds a planet. Earth's atmosphere gives us air to breathe; Venus's atmosphere is toxic and 465°C!</a:t>
            </a:r>
            <a:endParaRPr lang="en-US" sz="1050" dirty="0"/>
          </a:p>
        </p:txBody>
      </p:sp>
      <p:sp>
        <p:nvSpPr>
          <p:cNvPr id="13" name="Shape 11"/>
          <p:cNvSpPr/>
          <p:nvPr/>
        </p:nvSpPr>
        <p:spPr>
          <a:xfrm>
            <a:off x="365760" y="3017520"/>
            <a:ext cx="11247120" cy="2468880"/>
          </a:xfrm>
          <a:prstGeom prst="roundRect">
            <a:avLst>
              <a:gd name="adj" fmla="val 2963"/>
            </a:avLst>
          </a:prstGeom>
          <a:solidFill>
            <a:srgbClr val="162233"/>
          </a:solidFill>
          <a:ln w="12700">
            <a:solidFill>
              <a:srgbClr val="FFB703"/>
            </a:solidFill>
            <a:prstDash val="solid"/>
          </a:ln>
        </p:spPr>
      </p:sp>
      <p:sp>
        <p:nvSpPr>
          <p:cNvPr id="14" name="Text 12"/>
          <p:cNvSpPr/>
          <p:nvPr/>
        </p:nvSpPr>
        <p:spPr>
          <a:xfrm>
            <a:off x="530352" y="3090672"/>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Vocab in Action</a:t>
            </a:r>
            <a:endParaRPr lang="en-US" sz="1300" dirty="0"/>
          </a:p>
        </p:txBody>
      </p:sp>
      <p:sp>
        <p:nvSpPr>
          <p:cNvPr id="15" name="Text 13"/>
          <p:cNvSpPr/>
          <p:nvPr/>
        </p:nvSpPr>
        <p:spPr>
          <a:xfrm>
            <a:off x="530352" y="3456432"/>
            <a:ext cx="10917936" cy="192024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"Mars has an atmosphere — but it's mostly CO₂, not oxygen. Venus has an atmosphere — but it's 465°C and crushes spacecraft. What does this tell you about why we can't just land on any planet? What tools would you need?"</a:t>
            </a:r>
            <a:endParaRPr lang="en-US" sz="13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Why Look Beyond Earth?</a:t>
            </a:r>
            <a:endParaRPr lang="en-US" sz="1600" dirty="0"/>
          </a:p>
        </p:txBody>
      </p:sp>
      <p:sp>
        <p:nvSpPr>
          <p:cNvPr id="5" name="Shape 3"/>
          <p:cNvSpPr/>
          <p:nvPr/>
        </p:nvSpPr>
        <p:spPr>
          <a:xfrm>
            <a:off x="365760" y="749808"/>
            <a:ext cx="6858000" cy="1828800"/>
          </a:xfrm>
          <a:prstGeom prst="roundRect">
            <a:avLst>
              <a:gd name="adj" fmla="val 4000"/>
            </a:avLst>
          </a:prstGeom>
          <a:solidFill>
            <a:srgbClr val="1E2F45"/>
          </a:solidFill>
          <a:ln w="12700">
            <a:solidFill>
              <a:srgbClr val="4CC9F0"/>
            </a:solidFill>
            <a:prstDash val="solid"/>
          </a:ln>
        </p:spPr>
      </p:sp>
      <p:sp>
        <p:nvSpPr>
          <p:cNvPr id="6" name="Text 4"/>
          <p:cNvSpPr/>
          <p:nvPr/>
        </p:nvSpPr>
        <p:spPr>
          <a:xfrm>
            <a:off x="548640" y="822960"/>
            <a:ext cx="6583680" cy="162763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For thousands of years, humans used Earth's resources — metals for technology, fuels for energy, minerals for building. But as our population grows, we use more resources than ever before.</a:t>
            </a:r>
            <a:endParaRPr lang="en-US" sz="1250" dirty="0"/>
          </a:p>
        </p:txBody>
      </p:sp>
      <p:sp>
        <p:nvSpPr>
          <p:cNvPr id="7" name="Shape 5"/>
          <p:cNvSpPr/>
          <p:nvPr/>
        </p:nvSpPr>
        <p:spPr>
          <a:xfrm>
            <a:off x="7406640" y="749808"/>
            <a:ext cx="4663440" cy="1828800"/>
          </a:xfrm>
          <a:prstGeom prst="roundRect">
            <a:avLst>
              <a:gd name="adj" fmla="val 4000"/>
            </a:avLst>
          </a:prstGeom>
          <a:solidFill>
            <a:srgbClr val="0A1520"/>
          </a:solidFill>
          <a:ln w="19050">
            <a:solidFill>
              <a:srgbClr val="4CC9F0"/>
            </a:solidFill>
            <a:prstDash val="dash"/>
          </a:ln>
        </p:spPr>
      </p:sp>
      <p:sp>
        <p:nvSpPr>
          <p:cNvPr id="8" name="Text 6"/>
          <p:cNvSpPr/>
          <p:nvPr/>
        </p:nvSpPr>
        <p:spPr>
          <a:xfrm>
            <a:off x="7498080" y="859536"/>
            <a:ext cx="44805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7498080" y="1298448"/>
            <a:ext cx="44805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7516368" y="1591056"/>
            <a:ext cx="4443984" cy="7772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"growing world population city lights earth from space urbanization resources demand"</a:t>
            </a:r>
            <a:endParaRPr lang="en-US" sz="950" dirty="0"/>
          </a:p>
        </p:txBody>
      </p:sp>
      <p:sp>
        <p:nvSpPr>
          <p:cNvPr id="11" name="Text 9"/>
          <p:cNvSpPr/>
          <p:nvPr/>
        </p:nvSpPr>
        <p:spPr>
          <a:xfrm>
            <a:off x="7406640" y="2615184"/>
            <a:ext cx="466344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A growing world population needs more resources than ever</a:t>
            </a:r>
            <a:endParaRPr lang="en-US" sz="900" dirty="0"/>
          </a:p>
        </p:txBody>
      </p:sp>
      <p:sp>
        <p:nvSpPr>
          <p:cNvPr id="12" name="Shape 10"/>
          <p:cNvSpPr/>
          <p:nvPr/>
        </p:nvSpPr>
        <p:spPr>
          <a:xfrm>
            <a:off x="365760" y="2743200"/>
            <a:ext cx="11247120" cy="1005840"/>
          </a:xfrm>
          <a:prstGeom prst="roundRect">
            <a:avLst>
              <a:gd name="adj" fmla="val 7273"/>
            </a:avLst>
          </a:prstGeom>
          <a:solidFill>
            <a:srgbClr val="0A2030"/>
          </a:solidFill>
          <a:ln w="12700">
            <a:solidFill>
              <a:srgbClr val="FFB703"/>
            </a:solidFill>
            <a:prstDash val="solid"/>
          </a:ln>
        </p:spPr>
      </p:sp>
      <p:sp>
        <p:nvSpPr>
          <p:cNvPr id="13" name="Text 11"/>
          <p:cNvSpPr/>
          <p:nvPr/>
        </p:nvSpPr>
        <p:spPr>
          <a:xfrm>
            <a:off x="548640" y="2816352"/>
            <a:ext cx="10972800" cy="859536"/>
          </a:xfrm>
          <a:prstGeom prst="rect">
            <a:avLst/>
          </a:prstGeom>
          <a:noFill/>
          <a:ln/>
        </p:spPr>
        <p:txBody>
          <a:bodyPr wrap="square" rtlCol="0" anchor="ctr"/>
          <a:lstStyle/>
          <a:p>
            <a:pPr indent="0" marL="0">
              <a:buNone/>
            </a:pPr>
            <a:r>
              <a:rPr lang="en-US" sz="1250" i="1" dirty="0">
                <a:solidFill>
                  <a:srgbClr val="FFB703"/>
                </a:solidFill>
                <a:latin typeface="Calibri" pitchFamily="34" charset="0"/>
                <a:ea typeface="Calibri" pitchFamily="34" charset="-122"/>
                <a:cs typeface="Calibri" pitchFamily="34" charset="-120"/>
              </a:rPr>
              <a:t>Stop &amp; Think: If you could take only THREE things with you to survive on a distant planet, what would you choose — and why? What does that tell you about which resources are most important?</a:t>
            </a:r>
            <a:endParaRPr lang="en-US" sz="1250" dirty="0"/>
          </a:p>
        </p:txBody>
      </p:sp>
      <p:sp>
        <p:nvSpPr>
          <p:cNvPr id="14" name="Shape 12"/>
          <p:cNvSpPr/>
          <p:nvPr/>
        </p:nvSpPr>
        <p:spPr>
          <a:xfrm>
            <a:off x="365760" y="3913632"/>
            <a:ext cx="2743200" cy="2194560"/>
          </a:xfrm>
          <a:prstGeom prst="roundRect">
            <a:avLst>
              <a:gd name="adj" fmla="val 3333"/>
            </a:avLst>
          </a:prstGeom>
          <a:solidFill>
            <a:srgbClr val="1E2F45"/>
          </a:solidFill>
          <a:ln w="12700">
            <a:solidFill>
              <a:srgbClr val="F4736A"/>
            </a:solidFill>
            <a:prstDash val="solid"/>
          </a:ln>
        </p:spPr>
      </p:sp>
      <p:sp>
        <p:nvSpPr>
          <p:cNvPr id="15" name="Shape 13"/>
          <p:cNvSpPr/>
          <p:nvPr/>
        </p:nvSpPr>
        <p:spPr>
          <a:xfrm>
            <a:off x="502920" y="3977640"/>
            <a:ext cx="2468880" cy="1005840"/>
          </a:xfrm>
          <a:prstGeom prst="roundRect">
            <a:avLst>
              <a:gd name="adj" fmla="val 7273"/>
            </a:avLst>
          </a:prstGeom>
          <a:solidFill>
            <a:srgbClr val="0A1520"/>
          </a:solidFill>
          <a:ln w="19050">
            <a:solidFill>
              <a:srgbClr val="4CC9F0"/>
            </a:solidFill>
            <a:prstDash val="dash"/>
          </a:ln>
        </p:spPr>
      </p:sp>
      <p:sp>
        <p:nvSpPr>
          <p:cNvPr id="16" name="Text 14"/>
          <p:cNvSpPr/>
          <p:nvPr/>
        </p:nvSpPr>
        <p:spPr>
          <a:xfrm>
            <a:off x="594360" y="4087368"/>
            <a:ext cx="22860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594360" y="4526280"/>
            <a:ext cx="22860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8" name="Text 16"/>
          <p:cNvSpPr/>
          <p:nvPr/>
        </p:nvSpPr>
        <p:spPr>
          <a:xfrm>
            <a:off x="612648" y="4818888"/>
            <a:ext cx="2249424" cy="-4572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"Venus planet surface hot atmosphere NASA photo"</a:t>
            </a:r>
            <a:endParaRPr lang="en-US" sz="950" dirty="0"/>
          </a:p>
        </p:txBody>
      </p:sp>
      <p:sp>
        <p:nvSpPr>
          <p:cNvPr id="19" name="Text 17"/>
          <p:cNvSpPr/>
          <p:nvPr/>
        </p:nvSpPr>
        <p:spPr>
          <a:xfrm>
            <a:off x="502920" y="5029200"/>
            <a:ext cx="2468880" cy="384048"/>
          </a:xfrm>
          <a:prstGeom prst="rect">
            <a:avLst/>
          </a:prstGeom>
          <a:noFill/>
          <a:ln/>
        </p:spPr>
        <p:txBody>
          <a:bodyPr wrap="square" rtlCol="0" anchor="ctr"/>
          <a:lstStyle/>
          <a:p>
            <a:pPr algn="ctr" indent="0" marL="0">
              <a:buNone/>
            </a:pPr>
            <a:r>
              <a:rPr lang="en-US" sz="1200" b="1" dirty="0">
                <a:solidFill>
                  <a:srgbClr val="F4736A"/>
                </a:solidFill>
                <a:latin typeface="Calibri" pitchFamily="34" charset="0"/>
                <a:ea typeface="Calibri" pitchFamily="34" charset="-122"/>
                <a:cs typeface="Calibri" pitchFamily="34" charset="-120"/>
              </a:rPr>
              <a:t>Venus</a:t>
            </a:r>
            <a:endParaRPr lang="en-US" sz="1200" dirty="0"/>
          </a:p>
        </p:txBody>
      </p:sp>
      <p:sp>
        <p:nvSpPr>
          <p:cNvPr id="20" name="Text 18"/>
          <p:cNvSpPr/>
          <p:nvPr/>
        </p:nvSpPr>
        <p:spPr>
          <a:xfrm>
            <a:off x="502920" y="5440680"/>
            <a:ext cx="2468880" cy="594360"/>
          </a:xfrm>
          <a:prstGeom prst="rect">
            <a:avLst/>
          </a:prstGeom>
          <a:noFill/>
          <a:ln/>
        </p:spPr>
        <p:txBody>
          <a:bodyPr wrap="square" rtlCol="0" anchor="ctr"/>
          <a:lstStyle/>
          <a:p>
            <a:pPr algn="ctr" indent="0" marL="0">
              <a:buNone/>
            </a:pPr>
            <a:r>
              <a:rPr lang="en-US" sz="1000" dirty="0">
                <a:solidFill>
                  <a:srgbClr val="B0C4D8"/>
                </a:solidFill>
                <a:latin typeface="Calibri" pitchFamily="34" charset="0"/>
                <a:ea typeface="Calibri" pitchFamily="34" charset="-122"/>
                <a:cs typeface="Calibri" pitchFamily="34" charset="-120"/>
              </a:rPr>
              <a:t>465°C surface</a:t>
            </a:r>
            <a:endParaRPr lang="en-US" sz="1000" dirty="0"/>
          </a:p>
          <a:p>
            <a:pPr algn="ctr" indent="0" marL="0">
              <a:buNone/>
            </a:pPr>
            <a:r>
              <a:rPr lang="en-US" sz="1000" dirty="0">
                <a:solidFill>
                  <a:srgbClr val="B0C4D8"/>
                </a:solidFill>
                <a:latin typeface="Calibri" pitchFamily="34" charset="0"/>
                <a:ea typeface="Calibri" pitchFamily="34" charset="-122"/>
                <a:cs typeface="Calibri" pitchFamily="34" charset="-120"/>
              </a:rPr>
              <a:t>Too hot to land!</a:t>
            </a:r>
            <a:endParaRPr lang="en-US" sz="1000" dirty="0"/>
          </a:p>
        </p:txBody>
      </p:sp>
      <p:sp>
        <p:nvSpPr>
          <p:cNvPr id="21" name="Shape 19"/>
          <p:cNvSpPr/>
          <p:nvPr/>
        </p:nvSpPr>
        <p:spPr>
          <a:xfrm>
            <a:off x="3337560" y="3913632"/>
            <a:ext cx="2743200" cy="2194560"/>
          </a:xfrm>
          <a:prstGeom prst="roundRect">
            <a:avLst>
              <a:gd name="adj" fmla="val 3333"/>
            </a:avLst>
          </a:prstGeom>
          <a:solidFill>
            <a:srgbClr val="1E2F45"/>
          </a:solidFill>
          <a:ln w="12700">
            <a:solidFill>
              <a:srgbClr val="2DC653"/>
            </a:solidFill>
            <a:prstDash val="solid"/>
          </a:ln>
        </p:spPr>
      </p:sp>
      <p:sp>
        <p:nvSpPr>
          <p:cNvPr id="22" name="Shape 20"/>
          <p:cNvSpPr/>
          <p:nvPr/>
        </p:nvSpPr>
        <p:spPr>
          <a:xfrm>
            <a:off x="3474720" y="3977640"/>
            <a:ext cx="2468880" cy="1005840"/>
          </a:xfrm>
          <a:prstGeom prst="roundRect">
            <a:avLst>
              <a:gd name="adj" fmla="val 7273"/>
            </a:avLst>
          </a:prstGeom>
          <a:solidFill>
            <a:srgbClr val="0A1520"/>
          </a:solidFill>
          <a:ln w="19050">
            <a:solidFill>
              <a:srgbClr val="4CC9F0"/>
            </a:solidFill>
            <a:prstDash val="dash"/>
          </a:ln>
        </p:spPr>
      </p:sp>
      <p:sp>
        <p:nvSpPr>
          <p:cNvPr id="23" name="Text 21"/>
          <p:cNvSpPr/>
          <p:nvPr/>
        </p:nvSpPr>
        <p:spPr>
          <a:xfrm>
            <a:off x="3566160" y="4087368"/>
            <a:ext cx="22860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4" name="Text 22"/>
          <p:cNvSpPr/>
          <p:nvPr/>
        </p:nvSpPr>
        <p:spPr>
          <a:xfrm>
            <a:off x="3566160" y="4526280"/>
            <a:ext cx="22860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5" name="Text 23"/>
          <p:cNvSpPr/>
          <p:nvPr/>
        </p:nvSpPr>
        <p:spPr>
          <a:xfrm>
            <a:off x="3584448" y="4818888"/>
            <a:ext cx="2249424" cy="-4572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"Earth from space blue marble NASA planet"</a:t>
            </a:r>
            <a:endParaRPr lang="en-US" sz="950" dirty="0"/>
          </a:p>
        </p:txBody>
      </p:sp>
      <p:sp>
        <p:nvSpPr>
          <p:cNvPr id="26" name="Text 24"/>
          <p:cNvSpPr/>
          <p:nvPr/>
        </p:nvSpPr>
        <p:spPr>
          <a:xfrm>
            <a:off x="3474720" y="5029200"/>
            <a:ext cx="2468880" cy="384048"/>
          </a:xfrm>
          <a:prstGeom prst="rect">
            <a:avLst/>
          </a:prstGeom>
          <a:noFill/>
          <a:ln/>
        </p:spPr>
        <p:txBody>
          <a:bodyPr wrap="square" rtlCol="0" anchor="ctr"/>
          <a:lstStyle/>
          <a:p>
            <a:pPr algn="ctr" indent="0" marL="0">
              <a:buNone/>
            </a:pPr>
            <a:r>
              <a:rPr lang="en-US" sz="1200" b="1" dirty="0">
                <a:solidFill>
                  <a:srgbClr val="2DC653"/>
                </a:solidFill>
                <a:latin typeface="Calibri" pitchFamily="34" charset="0"/>
                <a:ea typeface="Calibri" pitchFamily="34" charset="-122"/>
                <a:cs typeface="Calibri" pitchFamily="34" charset="-120"/>
              </a:rPr>
              <a:t>Earth 🏠</a:t>
            </a:r>
            <a:endParaRPr lang="en-US" sz="1200" dirty="0"/>
          </a:p>
        </p:txBody>
      </p:sp>
      <p:sp>
        <p:nvSpPr>
          <p:cNvPr id="27" name="Text 25"/>
          <p:cNvSpPr/>
          <p:nvPr/>
        </p:nvSpPr>
        <p:spPr>
          <a:xfrm>
            <a:off x="3474720" y="5440680"/>
            <a:ext cx="2468880" cy="594360"/>
          </a:xfrm>
          <a:prstGeom prst="rect">
            <a:avLst/>
          </a:prstGeom>
          <a:noFill/>
          <a:ln/>
        </p:spPr>
        <p:txBody>
          <a:bodyPr wrap="square" rtlCol="0" anchor="ctr"/>
          <a:lstStyle/>
          <a:p>
            <a:pPr algn="ctr" indent="0" marL="0">
              <a:buNone/>
            </a:pPr>
            <a:r>
              <a:rPr lang="en-US" sz="1000" dirty="0">
                <a:solidFill>
                  <a:srgbClr val="B0C4D8"/>
                </a:solidFill>
                <a:latin typeface="Calibri" pitchFamily="34" charset="0"/>
                <a:ea typeface="Calibri" pitchFamily="34" charset="-122"/>
                <a:cs typeface="Calibri" pitchFamily="34" charset="-120"/>
              </a:rPr>
              <a:t>Our home!</a:t>
            </a:r>
            <a:endParaRPr lang="en-US" sz="1000" dirty="0"/>
          </a:p>
          <a:p>
            <a:pPr algn="ctr" indent="0" marL="0">
              <a:buNone/>
            </a:pPr>
            <a:r>
              <a:rPr lang="en-US" sz="1000" dirty="0">
                <a:solidFill>
                  <a:srgbClr val="B0C4D8"/>
                </a:solidFill>
                <a:latin typeface="Calibri" pitchFamily="34" charset="0"/>
                <a:ea typeface="Calibri" pitchFamily="34" charset="-122"/>
                <a:cs typeface="Calibri" pitchFamily="34" charset="-120"/>
              </a:rPr>
              <a:t>Known resources</a:t>
            </a:r>
            <a:endParaRPr lang="en-US" sz="1000" dirty="0"/>
          </a:p>
        </p:txBody>
      </p:sp>
      <p:sp>
        <p:nvSpPr>
          <p:cNvPr id="28" name="Shape 26"/>
          <p:cNvSpPr/>
          <p:nvPr/>
        </p:nvSpPr>
        <p:spPr>
          <a:xfrm>
            <a:off x="6309360" y="3913632"/>
            <a:ext cx="2743200" cy="2194560"/>
          </a:xfrm>
          <a:prstGeom prst="roundRect">
            <a:avLst>
              <a:gd name="adj" fmla="val 3333"/>
            </a:avLst>
          </a:prstGeom>
          <a:solidFill>
            <a:srgbClr val="1E2F45"/>
          </a:solidFill>
          <a:ln w="12700">
            <a:solidFill>
              <a:srgbClr val="FFB703"/>
            </a:solidFill>
            <a:prstDash val="solid"/>
          </a:ln>
        </p:spPr>
      </p:sp>
      <p:sp>
        <p:nvSpPr>
          <p:cNvPr id="29" name="Shape 27"/>
          <p:cNvSpPr/>
          <p:nvPr/>
        </p:nvSpPr>
        <p:spPr>
          <a:xfrm>
            <a:off x="6446520" y="3977640"/>
            <a:ext cx="2468880" cy="1005840"/>
          </a:xfrm>
          <a:prstGeom prst="roundRect">
            <a:avLst>
              <a:gd name="adj" fmla="val 7273"/>
            </a:avLst>
          </a:prstGeom>
          <a:solidFill>
            <a:srgbClr val="0A1520"/>
          </a:solidFill>
          <a:ln w="19050">
            <a:solidFill>
              <a:srgbClr val="4CC9F0"/>
            </a:solidFill>
            <a:prstDash val="dash"/>
          </a:ln>
        </p:spPr>
      </p:sp>
      <p:sp>
        <p:nvSpPr>
          <p:cNvPr id="30" name="Text 28"/>
          <p:cNvSpPr/>
          <p:nvPr/>
        </p:nvSpPr>
        <p:spPr>
          <a:xfrm>
            <a:off x="6537960" y="4087368"/>
            <a:ext cx="22860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1" name="Text 29"/>
          <p:cNvSpPr/>
          <p:nvPr/>
        </p:nvSpPr>
        <p:spPr>
          <a:xfrm>
            <a:off x="6537960" y="4526280"/>
            <a:ext cx="22860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32" name="Text 30"/>
          <p:cNvSpPr/>
          <p:nvPr/>
        </p:nvSpPr>
        <p:spPr>
          <a:xfrm>
            <a:off x="6556248" y="4818888"/>
            <a:ext cx="2249424" cy="-4572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"Mars planet red surface NASA Perseverance rover"</a:t>
            </a:r>
            <a:endParaRPr lang="en-US" sz="950" dirty="0"/>
          </a:p>
        </p:txBody>
      </p:sp>
      <p:sp>
        <p:nvSpPr>
          <p:cNvPr id="33" name="Text 31"/>
          <p:cNvSpPr/>
          <p:nvPr/>
        </p:nvSpPr>
        <p:spPr>
          <a:xfrm>
            <a:off x="6446520" y="5029200"/>
            <a:ext cx="2468880" cy="384048"/>
          </a:xfrm>
          <a:prstGeom prst="rect">
            <a:avLst/>
          </a:prstGeom>
          <a:noFill/>
          <a:ln/>
        </p:spPr>
        <p:txBody>
          <a:bodyPr wrap="square" rtlCol="0" anchor="ctr"/>
          <a:lstStyle/>
          <a:p>
            <a:pPr algn="ctr" indent="0" marL="0">
              <a:buNone/>
            </a:pPr>
            <a:r>
              <a:rPr lang="en-US" sz="1200" b="1" dirty="0">
                <a:solidFill>
                  <a:srgbClr val="FFB703"/>
                </a:solidFill>
                <a:latin typeface="Calibri" pitchFamily="34" charset="0"/>
                <a:ea typeface="Calibri" pitchFamily="34" charset="-122"/>
                <a:cs typeface="Calibri" pitchFamily="34" charset="-120"/>
              </a:rPr>
              <a:t>Mars ⛏️</a:t>
            </a:r>
            <a:endParaRPr lang="en-US" sz="1200" dirty="0"/>
          </a:p>
        </p:txBody>
      </p:sp>
      <p:sp>
        <p:nvSpPr>
          <p:cNvPr id="34" name="Text 32"/>
          <p:cNvSpPr/>
          <p:nvPr/>
        </p:nvSpPr>
        <p:spPr>
          <a:xfrm>
            <a:off x="6446520" y="5440680"/>
            <a:ext cx="2468880" cy="594360"/>
          </a:xfrm>
          <a:prstGeom prst="rect">
            <a:avLst/>
          </a:prstGeom>
          <a:noFill/>
          <a:ln/>
        </p:spPr>
        <p:txBody>
          <a:bodyPr wrap="square" rtlCol="0" anchor="ctr"/>
          <a:lstStyle/>
          <a:p>
            <a:pPr algn="ctr" indent="0" marL="0">
              <a:buNone/>
            </a:pPr>
            <a:r>
              <a:rPr lang="en-US" sz="1000" dirty="0">
                <a:solidFill>
                  <a:srgbClr val="B0C4D8"/>
                </a:solidFill>
                <a:latin typeface="Calibri" pitchFamily="34" charset="0"/>
                <a:ea typeface="Calibri" pitchFamily="34" charset="-122"/>
                <a:cs typeface="Calibri" pitchFamily="34" charset="-120"/>
              </a:rPr>
              <a:t>Minerals &amp; water ice</a:t>
            </a:r>
            <a:endParaRPr lang="en-US" sz="1000" dirty="0"/>
          </a:p>
          <a:p>
            <a:pPr algn="ctr" indent="0" marL="0">
              <a:buNone/>
            </a:pPr>
            <a:r>
              <a:rPr lang="en-US" sz="1000" dirty="0">
                <a:solidFill>
                  <a:srgbClr val="B0C4D8"/>
                </a:solidFill>
                <a:latin typeface="Calibri" pitchFamily="34" charset="0"/>
                <a:ea typeface="Calibri" pitchFamily="34" charset="-122"/>
                <a:cs typeface="Calibri" pitchFamily="34" charset="-120"/>
              </a:rPr>
              <a:t>below surface</a:t>
            </a:r>
            <a:endParaRPr lang="en-US" sz="1000" dirty="0"/>
          </a:p>
        </p:txBody>
      </p:sp>
      <p:sp>
        <p:nvSpPr>
          <p:cNvPr id="35" name="Shape 33"/>
          <p:cNvSpPr/>
          <p:nvPr/>
        </p:nvSpPr>
        <p:spPr>
          <a:xfrm>
            <a:off x="9281160" y="3913632"/>
            <a:ext cx="2743200" cy="2194560"/>
          </a:xfrm>
          <a:prstGeom prst="roundRect">
            <a:avLst>
              <a:gd name="adj" fmla="val 3333"/>
            </a:avLst>
          </a:prstGeom>
          <a:solidFill>
            <a:srgbClr val="1E2F45"/>
          </a:solidFill>
          <a:ln w="12700">
            <a:solidFill>
              <a:srgbClr val="B0C4D8"/>
            </a:solidFill>
            <a:prstDash val="solid"/>
          </a:ln>
        </p:spPr>
      </p:sp>
      <p:sp>
        <p:nvSpPr>
          <p:cNvPr id="36" name="Shape 34"/>
          <p:cNvSpPr/>
          <p:nvPr/>
        </p:nvSpPr>
        <p:spPr>
          <a:xfrm>
            <a:off x="9418320" y="3977640"/>
            <a:ext cx="2468880" cy="1005840"/>
          </a:xfrm>
          <a:prstGeom prst="roundRect">
            <a:avLst>
              <a:gd name="adj" fmla="val 7273"/>
            </a:avLst>
          </a:prstGeom>
          <a:solidFill>
            <a:srgbClr val="0A1520"/>
          </a:solidFill>
          <a:ln w="19050">
            <a:solidFill>
              <a:srgbClr val="4CC9F0"/>
            </a:solidFill>
            <a:prstDash val="dash"/>
          </a:ln>
        </p:spPr>
      </p:sp>
      <p:sp>
        <p:nvSpPr>
          <p:cNvPr id="37" name="Text 35"/>
          <p:cNvSpPr/>
          <p:nvPr/>
        </p:nvSpPr>
        <p:spPr>
          <a:xfrm>
            <a:off x="9509760" y="4087368"/>
            <a:ext cx="22860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8" name="Text 36"/>
          <p:cNvSpPr/>
          <p:nvPr/>
        </p:nvSpPr>
        <p:spPr>
          <a:xfrm>
            <a:off x="9509760" y="4526280"/>
            <a:ext cx="22860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39" name="Text 37"/>
          <p:cNvSpPr/>
          <p:nvPr/>
        </p:nvSpPr>
        <p:spPr>
          <a:xfrm>
            <a:off x="9528048" y="4818888"/>
            <a:ext cx="2249424" cy="-4572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"asteroid belt solar system rocky objects minerals metals NASA"</a:t>
            </a:r>
            <a:endParaRPr lang="en-US" sz="950" dirty="0"/>
          </a:p>
        </p:txBody>
      </p:sp>
      <p:sp>
        <p:nvSpPr>
          <p:cNvPr id="40" name="Text 38"/>
          <p:cNvSpPr/>
          <p:nvPr/>
        </p:nvSpPr>
        <p:spPr>
          <a:xfrm>
            <a:off x="9418320" y="5029200"/>
            <a:ext cx="2468880" cy="384048"/>
          </a:xfrm>
          <a:prstGeom prst="rect">
            <a:avLst/>
          </a:prstGeom>
          <a:noFill/>
          <a:ln/>
        </p:spPr>
        <p:txBody>
          <a:bodyPr wrap="square" rtlCol="0" anchor="ctr"/>
          <a:lstStyle/>
          <a:p>
            <a:pPr algn="ctr" indent="0" marL="0">
              <a:buNone/>
            </a:pPr>
            <a:r>
              <a:rPr lang="en-US" sz="1200" b="1" dirty="0">
                <a:solidFill>
                  <a:srgbClr val="B0C4D8"/>
                </a:solidFill>
                <a:latin typeface="Calibri" pitchFamily="34" charset="0"/>
                <a:ea typeface="Calibri" pitchFamily="34" charset="-122"/>
                <a:cs typeface="Calibri" pitchFamily="34" charset="-120"/>
              </a:rPr>
              <a:t>Asteroid Belt ☄️</a:t>
            </a:r>
            <a:endParaRPr lang="en-US" sz="1200" dirty="0"/>
          </a:p>
        </p:txBody>
      </p:sp>
      <p:sp>
        <p:nvSpPr>
          <p:cNvPr id="41" name="Text 39"/>
          <p:cNvSpPr/>
          <p:nvPr/>
        </p:nvSpPr>
        <p:spPr>
          <a:xfrm>
            <a:off x="9418320" y="5440680"/>
            <a:ext cx="2468880" cy="594360"/>
          </a:xfrm>
          <a:prstGeom prst="rect">
            <a:avLst/>
          </a:prstGeom>
          <a:noFill/>
          <a:ln/>
        </p:spPr>
        <p:txBody>
          <a:bodyPr wrap="square" rtlCol="0" anchor="ctr"/>
          <a:lstStyle/>
          <a:p>
            <a:pPr algn="ctr" indent="0" marL="0">
              <a:buNone/>
            </a:pPr>
            <a:r>
              <a:rPr lang="en-US" sz="1000" dirty="0">
                <a:solidFill>
                  <a:srgbClr val="B0C4D8"/>
                </a:solidFill>
                <a:latin typeface="Calibri" pitchFamily="34" charset="0"/>
                <a:ea typeface="Calibri" pitchFamily="34" charset="-122"/>
                <a:cs typeface="Calibri" pitchFamily="34" charset="-120"/>
              </a:rPr>
              <a:t>Gold, platinum,</a:t>
            </a:r>
            <a:endParaRPr lang="en-US" sz="1000" dirty="0"/>
          </a:p>
          <a:p>
            <a:pPr algn="ctr" indent="0" marL="0">
              <a:buNone/>
            </a:pPr>
            <a:r>
              <a:rPr lang="en-US" sz="1000" dirty="0">
                <a:solidFill>
                  <a:srgbClr val="B0C4D8"/>
                </a:solidFill>
                <a:latin typeface="Calibri" pitchFamily="34" charset="0"/>
                <a:ea typeface="Calibri" pitchFamily="34" charset="-122"/>
                <a:cs typeface="Calibri" pitchFamily="34" charset="-120"/>
              </a:rPr>
              <a:t>iron deposits</a:t>
            </a:r>
            <a:endParaRPr lang="en-US" sz="1000" dirty="0"/>
          </a:p>
        </p:txBody>
      </p:sp>
      <p:sp>
        <p:nvSpPr>
          <p:cNvPr id="42" name="Shape 40"/>
          <p:cNvSpPr/>
          <p:nvPr/>
        </p:nvSpPr>
        <p:spPr>
          <a:xfrm>
            <a:off x="0" y="6629400"/>
            <a:ext cx="12192000" cy="228600"/>
          </a:xfrm>
          <a:prstGeom prst="rect">
            <a:avLst/>
          </a:prstGeom>
          <a:solidFill>
            <a:srgbClr val="162233"/>
          </a:solidFill>
          <a:ln/>
        </p:spPr>
      </p:sp>
      <p:sp>
        <p:nvSpPr>
          <p:cNvPr id="43" name="Text 4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Three Targets for Future Exploration</a:t>
            </a:r>
            <a:endParaRPr lang="en-US" sz="1600" dirty="0"/>
          </a:p>
        </p:txBody>
      </p:sp>
      <p:sp>
        <p:nvSpPr>
          <p:cNvPr id="5" name="Shape 3"/>
          <p:cNvSpPr/>
          <p:nvPr/>
        </p:nvSpPr>
        <p:spPr>
          <a:xfrm>
            <a:off x="365760" y="749808"/>
            <a:ext cx="3703320" cy="5806440"/>
          </a:xfrm>
          <a:prstGeom prst="roundRect">
            <a:avLst>
              <a:gd name="adj" fmla="val 1975"/>
            </a:avLst>
          </a:prstGeom>
          <a:solidFill>
            <a:srgbClr val="1E2F45"/>
          </a:solidFill>
          <a:ln w="12700">
            <a:solidFill>
              <a:srgbClr val="FFB703"/>
            </a:solidFill>
            <a:prstDash val="solid"/>
          </a:ln>
        </p:spPr>
      </p:sp>
      <p:sp>
        <p:nvSpPr>
          <p:cNvPr id="6" name="Text 4"/>
          <p:cNvSpPr/>
          <p:nvPr/>
        </p:nvSpPr>
        <p:spPr>
          <a:xfrm>
            <a:off x="502920" y="822960"/>
            <a:ext cx="3429000" cy="50292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Mars Mining</a:t>
            </a:r>
            <a:endParaRPr lang="en-US" sz="1300" dirty="0"/>
          </a:p>
        </p:txBody>
      </p:sp>
      <p:sp>
        <p:nvSpPr>
          <p:cNvPr id="7" name="Shape 5"/>
          <p:cNvSpPr/>
          <p:nvPr/>
        </p:nvSpPr>
        <p:spPr>
          <a:xfrm>
            <a:off x="502920" y="1371600"/>
            <a:ext cx="1554480" cy="256032"/>
          </a:xfrm>
          <a:prstGeom prst="roundRect">
            <a:avLst>
              <a:gd name="adj" fmla="val 50000"/>
            </a:avLst>
          </a:prstGeom>
          <a:solidFill>
            <a:srgbClr val="FFB703"/>
          </a:solidFill>
          <a:ln w="12700">
            <a:solidFill>
              <a:srgbClr val="FFB703"/>
            </a:solidFill>
            <a:prstDash val="solid"/>
          </a:ln>
        </p:spPr>
      </p:sp>
      <p:sp>
        <p:nvSpPr>
          <p:cNvPr id="8" name="Text 6"/>
          <p:cNvSpPr/>
          <p:nvPr/>
        </p:nvSpPr>
        <p:spPr>
          <a:xfrm>
            <a:off x="502920" y="137160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Tool: Rovers + Drills</a:t>
            </a:r>
            <a:endParaRPr lang="en-US" sz="900" dirty="0"/>
          </a:p>
        </p:txBody>
      </p:sp>
      <p:sp>
        <p:nvSpPr>
          <p:cNvPr id="9" name="Shape 7"/>
          <p:cNvSpPr/>
          <p:nvPr/>
        </p:nvSpPr>
        <p:spPr>
          <a:xfrm>
            <a:off x="548640" y="1691640"/>
            <a:ext cx="3337560" cy="1645920"/>
          </a:xfrm>
          <a:prstGeom prst="roundRect">
            <a:avLst>
              <a:gd name="adj" fmla="val 4444"/>
            </a:avLst>
          </a:prstGeom>
          <a:solidFill>
            <a:srgbClr val="0A1520"/>
          </a:solidFill>
          <a:ln w="19050">
            <a:solidFill>
              <a:srgbClr val="4CC9F0"/>
            </a:solidFill>
            <a:prstDash val="dash"/>
          </a:ln>
        </p:spPr>
      </p:sp>
      <p:sp>
        <p:nvSpPr>
          <p:cNvPr id="10" name="Text 8"/>
          <p:cNvSpPr/>
          <p:nvPr/>
        </p:nvSpPr>
        <p:spPr>
          <a:xfrm>
            <a:off x="640080" y="1801368"/>
            <a:ext cx="31546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640080" y="2240280"/>
            <a:ext cx="31546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2" name="Text 10"/>
          <p:cNvSpPr/>
          <p:nvPr/>
        </p:nvSpPr>
        <p:spPr>
          <a:xfrm>
            <a:off x="658368" y="2532888"/>
            <a:ext cx="3118104" cy="5943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"Mars surface NASA Perseverance rover red planet rocks minerals drilling exploration"</a:t>
            </a:r>
            <a:endParaRPr lang="en-US" sz="950" dirty="0"/>
          </a:p>
        </p:txBody>
      </p:sp>
      <p:sp>
        <p:nvSpPr>
          <p:cNvPr id="13" name="Text 11"/>
          <p:cNvSpPr/>
          <p:nvPr/>
        </p:nvSpPr>
        <p:spPr>
          <a:xfrm>
            <a:off x="502920" y="3401568"/>
            <a:ext cx="3429000" cy="1691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Robots and rovers drill for minerals and metals beneath Mars's dusty red surface. Water ice may support future human settlement!</a:t>
            </a:r>
            <a:endParaRPr lang="en-US" sz="1100" dirty="0"/>
          </a:p>
        </p:txBody>
      </p:sp>
      <p:sp>
        <p:nvSpPr>
          <p:cNvPr id="14" name="Shape 12"/>
          <p:cNvSpPr/>
          <p:nvPr/>
        </p:nvSpPr>
        <p:spPr>
          <a:xfrm>
            <a:off x="502920" y="5120640"/>
            <a:ext cx="3429000" cy="1325880"/>
          </a:xfrm>
          <a:prstGeom prst="roundRect">
            <a:avLst>
              <a:gd name="adj" fmla="val 5517"/>
            </a:avLst>
          </a:prstGeom>
          <a:solidFill>
            <a:srgbClr val="0A1520"/>
          </a:solidFill>
          <a:ln w="12700">
            <a:solidFill>
              <a:srgbClr val="FFB703"/>
            </a:solidFill>
            <a:prstDash val="solid"/>
          </a:ln>
        </p:spPr>
      </p:sp>
      <p:sp>
        <p:nvSpPr>
          <p:cNvPr id="15" name="Text 13"/>
          <p:cNvSpPr/>
          <p:nvPr/>
        </p:nvSpPr>
        <p:spPr>
          <a:xfrm>
            <a:off x="594360" y="5193792"/>
            <a:ext cx="3246120" cy="1188720"/>
          </a:xfrm>
          <a:prstGeom prst="rect">
            <a:avLst/>
          </a:prstGeom>
          <a:noFill/>
          <a:ln/>
        </p:spPr>
        <p:txBody>
          <a:bodyPr wrap="square" rtlCol="0" anchor="ctr"/>
          <a:lstStyle/>
          <a:p>
            <a:pPr indent="0" marL="0">
              <a:buNone/>
            </a:pPr>
            <a:r>
              <a:rPr lang="en-US" sz="1000" i="1" dirty="0">
                <a:solidFill>
                  <a:srgbClr val="FFB703"/>
                </a:solidFill>
                <a:latin typeface="Calibri" pitchFamily="34" charset="0"/>
                <a:ea typeface="Calibri" pitchFamily="34" charset="-122"/>
                <a:cs typeface="Calibri" pitchFamily="34" charset="-120"/>
              </a:rPr>
              <a:t>💡 NASA's Perseverance rover is already collecting rock samples on Mars RIGHT NOW.</a:t>
            </a:r>
            <a:endParaRPr lang="en-US" sz="1000" dirty="0"/>
          </a:p>
        </p:txBody>
      </p:sp>
      <p:sp>
        <p:nvSpPr>
          <p:cNvPr id="16" name="Shape 14"/>
          <p:cNvSpPr/>
          <p:nvPr/>
        </p:nvSpPr>
        <p:spPr>
          <a:xfrm>
            <a:off x="4297680" y="749808"/>
            <a:ext cx="3703320" cy="5806440"/>
          </a:xfrm>
          <a:prstGeom prst="roundRect">
            <a:avLst>
              <a:gd name="adj" fmla="val 1975"/>
            </a:avLst>
          </a:prstGeom>
          <a:solidFill>
            <a:srgbClr val="1E2F45"/>
          </a:solidFill>
          <a:ln w="12700">
            <a:solidFill>
              <a:srgbClr val="F4736A"/>
            </a:solidFill>
            <a:prstDash val="solid"/>
          </a:ln>
        </p:spPr>
      </p:sp>
      <p:sp>
        <p:nvSpPr>
          <p:cNvPr id="17" name="Text 15"/>
          <p:cNvSpPr/>
          <p:nvPr/>
        </p:nvSpPr>
        <p:spPr>
          <a:xfrm>
            <a:off x="4434840" y="822960"/>
            <a:ext cx="3429000" cy="502920"/>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Venus Exploration</a:t>
            </a:r>
            <a:endParaRPr lang="en-US" sz="1300" dirty="0"/>
          </a:p>
        </p:txBody>
      </p:sp>
      <p:sp>
        <p:nvSpPr>
          <p:cNvPr id="18" name="Shape 16"/>
          <p:cNvSpPr/>
          <p:nvPr/>
        </p:nvSpPr>
        <p:spPr>
          <a:xfrm>
            <a:off x="4434840" y="1371600"/>
            <a:ext cx="1554480" cy="256032"/>
          </a:xfrm>
          <a:prstGeom prst="roundRect">
            <a:avLst>
              <a:gd name="adj" fmla="val 50000"/>
            </a:avLst>
          </a:prstGeom>
          <a:solidFill>
            <a:srgbClr val="F4736A"/>
          </a:solidFill>
          <a:ln w="12700">
            <a:solidFill>
              <a:srgbClr val="F4736A"/>
            </a:solidFill>
            <a:prstDash val="solid"/>
          </a:ln>
        </p:spPr>
      </p:sp>
      <p:sp>
        <p:nvSpPr>
          <p:cNvPr id="19" name="Text 17"/>
          <p:cNvSpPr/>
          <p:nvPr/>
        </p:nvSpPr>
        <p:spPr>
          <a:xfrm>
            <a:off x="4434840" y="137160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Tool: Drones + Balloons</a:t>
            </a:r>
            <a:endParaRPr lang="en-US" sz="900" dirty="0"/>
          </a:p>
        </p:txBody>
      </p:sp>
      <p:sp>
        <p:nvSpPr>
          <p:cNvPr id="20" name="Shape 18"/>
          <p:cNvSpPr/>
          <p:nvPr/>
        </p:nvSpPr>
        <p:spPr>
          <a:xfrm>
            <a:off x="4480560" y="1691640"/>
            <a:ext cx="3337560" cy="1645920"/>
          </a:xfrm>
          <a:prstGeom prst="roundRect">
            <a:avLst>
              <a:gd name="adj" fmla="val 4444"/>
            </a:avLst>
          </a:prstGeom>
          <a:solidFill>
            <a:srgbClr val="0A1520"/>
          </a:solidFill>
          <a:ln w="19050">
            <a:solidFill>
              <a:srgbClr val="4CC9F0"/>
            </a:solidFill>
            <a:prstDash val="dash"/>
          </a:ln>
        </p:spPr>
      </p:sp>
      <p:sp>
        <p:nvSpPr>
          <p:cNvPr id="21" name="Text 19"/>
          <p:cNvSpPr/>
          <p:nvPr/>
        </p:nvSpPr>
        <p:spPr>
          <a:xfrm>
            <a:off x="4572000" y="1801368"/>
            <a:ext cx="31546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4572000" y="2240280"/>
            <a:ext cx="31546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3" name="Text 21"/>
          <p:cNvSpPr/>
          <p:nvPr/>
        </p:nvSpPr>
        <p:spPr>
          <a:xfrm>
            <a:off x="4590288" y="2532888"/>
            <a:ext cx="3118104" cy="5943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"Venus atmosphere drone balloon exploration NASA probe thick clouds surface temperature"</a:t>
            </a:r>
            <a:endParaRPr lang="en-US" sz="950" dirty="0"/>
          </a:p>
        </p:txBody>
      </p:sp>
      <p:sp>
        <p:nvSpPr>
          <p:cNvPr id="24" name="Text 22"/>
          <p:cNvSpPr/>
          <p:nvPr/>
        </p:nvSpPr>
        <p:spPr>
          <a:xfrm>
            <a:off x="4434840" y="3401568"/>
            <a:ext cx="3429000" cy="1691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Too hot to land! At 465°C, Venus melts lead. Scientists send drones and balloons through Venus's thick atmosphere to collect samples without landing.</a:t>
            </a:r>
            <a:endParaRPr lang="en-US" sz="1100" dirty="0"/>
          </a:p>
        </p:txBody>
      </p:sp>
      <p:sp>
        <p:nvSpPr>
          <p:cNvPr id="25" name="Shape 23"/>
          <p:cNvSpPr/>
          <p:nvPr/>
        </p:nvSpPr>
        <p:spPr>
          <a:xfrm>
            <a:off x="4434840" y="5120640"/>
            <a:ext cx="3429000" cy="1325880"/>
          </a:xfrm>
          <a:prstGeom prst="roundRect">
            <a:avLst>
              <a:gd name="adj" fmla="val 5517"/>
            </a:avLst>
          </a:prstGeom>
          <a:solidFill>
            <a:srgbClr val="0A1520"/>
          </a:solidFill>
          <a:ln w="12700">
            <a:solidFill>
              <a:srgbClr val="F4736A"/>
            </a:solidFill>
            <a:prstDash val="solid"/>
          </a:ln>
        </p:spPr>
      </p:sp>
      <p:sp>
        <p:nvSpPr>
          <p:cNvPr id="26" name="Text 24"/>
          <p:cNvSpPr/>
          <p:nvPr/>
        </p:nvSpPr>
        <p:spPr>
          <a:xfrm>
            <a:off x="4526280" y="5193792"/>
            <a:ext cx="3246120" cy="1188720"/>
          </a:xfrm>
          <a:prstGeom prst="rect">
            <a:avLst/>
          </a:prstGeom>
          <a:noFill/>
          <a:ln/>
        </p:spPr>
        <p:txBody>
          <a:bodyPr wrap="square" rtlCol="0" anchor="ctr"/>
          <a:lstStyle/>
          <a:p>
            <a:pPr indent="0" marL="0">
              <a:buNone/>
            </a:pPr>
            <a:r>
              <a:rPr lang="en-US" sz="1000" i="1" dirty="0">
                <a:solidFill>
                  <a:srgbClr val="F4736A"/>
                </a:solidFill>
                <a:latin typeface="Calibri" pitchFamily="34" charset="0"/>
                <a:ea typeface="Calibri" pitchFamily="34" charset="-122"/>
                <a:cs typeface="Calibri" pitchFamily="34" charset="-120"/>
              </a:rPr>
              <a:t>💡 Venus and Earth are almost the same size — twin planets with very different fates.</a:t>
            </a:r>
            <a:endParaRPr lang="en-US" sz="1000" dirty="0"/>
          </a:p>
        </p:txBody>
      </p:sp>
      <p:sp>
        <p:nvSpPr>
          <p:cNvPr id="27" name="Shape 25"/>
          <p:cNvSpPr/>
          <p:nvPr/>
        </p:nvSpPr>
        <p:spPr>
          <a:xfrm>
            <a:off x="8229600" y="749808"/>
            <a:ext cx="3703320" cy="5806440"/>
          </a:xfrm>
          <a:prstGeom prst="roundRect">
            <a:avLst>
              <a:gd name="adj" fmla="val 1975"/>
            </a:avLst>
          </a:prstGeom>
          <a:solidFill>
            <a:srgbClr val="1E2F45"/>
          </a:solidFill>
          <a:ln w="12700">
            <a:solidFill>
              <a:srgbClr val="B0C4D8"/>
            </a:solidFill>
            <a:prstDash val="solid"/>
          </a:ln>
        </p:spPr>
      </p:sp>
      <p:sp>
        <p:nvSpPr>
          <p:cNvPr id="28" name="Text 26"/>
          <p:cNvSpPr/>
          <p:nvPr/>
        </p:nvSpPr>
        <p:spPr>
          <a:xfrm>
            <a:off x="8366760" y="822960"/>
            <a:ext cx="3429000" cy="502920"/>
          </a:xfrm>
          <a:prstGeom prst="rect">
            <a:avLst/>
          </a:prstGeom>
          <a:noFill/>
          <a:ln/>
        </p:spPr>
        <p:txBody>
          <a:bodyPr wrap="square" rtlCol="0" anchor="ctr"/>
          <a:lstStyle/>
          <a:p>
            <a:pPr indent="0" marL="0">
              <a:buNone/>
            </a:pPr>
            <a:r>
              <a:rPr lang="en-US" sz="1300" b="1" dirty="0">
                <a:solidFill>
                  <a:srgbClr val="B0C4D8"/>
                </a:solidFill>
                <a:latin typeface="Calibri" pitchFamily="34" charset="0"/>
                <a:ea typeface="Calibri" pitchFamily="34" charset="-122"/>
                <a:cs typeface="Calibri" pitchFamily="34" charset="-120"/>
              </a:rPr>
              <a:t>☄️ Asteroid Mining</a:t>
            </a:r>
            <a:endParaRPr lang="en-US" sz="1300" dirty="0"/>
          </a:p>
        </p:txBody>
      </p:sp>
      <p:sp>
        <p:nvSpPr>
          <p:cNvPr id="29" name="Shape 27"/>
          <p:cNvSpPr/>
          <p:nvPr/>
        </p:nvSpPr>
        <p:spPr>
          <a:xfrm>
            <a:off x="8366760" y="1371600"/>
            <a:ext cx="1554480" cy="256032"/>
          </a:xfrm>
          <a:prstGeom prst="roundRect">
            <a:avLst>
              <a:gd name="adj" fmla="val 50000"/>
            </a:avLst>
          </a:prstGeom>
          <a:solidFill>
            <a:srgbClr val="B0C4D8"/>
          </a:solidFill>
          <a:ln w="12700">
            <a:solidFill>
              <a:srgbClr val="B0C4D8"/>
            </a:solidFill>
            <a:prstDash val="solid"/>
          </a:ln>
        </p:spPr>
      </p:sp>
      <p:sp>
        <p:nvSpPr>
          <p:cNvPr id="30" name="Text 28"/>
          <p:cNvSpPr/>
          <p:nvPr/>
        </p:nvSpPr>
        <p:spPr>
          <a:xfrm>
            <a:off x="8366760" y="137160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Tool: Robotic Spacecraft</a:t>
            </a:r>
            <a:endParaRPr lang="en-US" sz="900" dirty="0"/>
          </a:p>
        </p:txBody>
      </p:sp>
      <p:sp>
        <p:nvSpPr>
          <p:cNvPr id="31" name="Shape 29"/>
          <p:cNvSpPr/>
          <p:nvPr/>
        </p:nvSpPr>
        <p:spPr>
          <a:xfrm>
            <a:off x="8412480" y="1691640"/>
            <a:ext cx="3337560" cy="1645920"/>
          </a:xfrm>
          <a:prstGeom prst="roundRect">
            <a:avLst>
              <a:gd name="adj" fmla="val 4444"/>
            </a:avLst>
          </a:prstGeom>
          <a:solidFill>
            <a:srgbClr val="0A1520"/>
          </a:solidFill>
          <a:ln w="19050">
            <a:solidFill>
              <a:srgbClr val="4CC9F0"/>
            </a:solidFill>
            <a:prstDash val="dash"/>
          </a:ln>
        </p:spPr>
      </p:sp>
      <p:sp>
        <p:nvSpPr>
          <p:cNvPr id="32" name="Text 30"/>
          <p:cNvSpPr/>
          <p:nvPr/>
        </p:nvSpPr>
        <p:spPr>
          <a:xfrm>
            <a:off x="8503920" y="1801368"/>
            <a:ext cx="31546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3" name="Text 31"/>
          <p:cNvSpPr/>
          <p:nvPr/>
        </p:nvSpPr>
        <p:spPr>
          <a:xfrm>
            <a:off x="8503920" y="2240280"/>
            <a:ext cx="31546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34" name="Text 32"/>
          <p:cNvSpPr/>
          <p:nvPr/>
        </p:nvSpPr>
        <p:spPr>
          <a:xfrm>
            <a:off x="8522208" y="2532888"/>
            <a:ext cx="3118104" cy="5943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"asteroid mining robotic spacecraft NASA concept art metals gold platinum space"</a:t>
            </a:r>
            <a:endParaRPr lang="en-US" sz="950" dirty="0"/>
          </a:p>
        </p:txBody>
      </p:sp>
      <p:sp>
        <p:nvSpPr>
          <p:cNvPr id="35" name="Text 33"/>
          <p:cNvSpPr/>
          <p:nvPr/>
        </p:nvSpPr>
        <p:spPr>
          <a:xfrm>
            <a:off x="8366760" y="3401568"/>
            <a:ext cx="3429000" cy="1691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Robotic spacecraft harvest gold, platinum, and iron from rocky asteroids drifting in space. A single asteroid could contain more platinum than all ever mined on Earth!</a:t>
            </a:r>
            <a:endParaRPr lang="en-US" sz="1100" dirty="0"/>
          </a:p>
        </p:txBody>
      </p:sp>
      <p:sp>
        <p:nvSpPr>
          <p:cNvPr id="36" name="Shape 34"/>
          <p:cNvSpPr/>
          <p:nvPr/>
        </p:nvSpPr>
        <p:spPr>
          <a:xfrm>
            <a:off x="8366760" y="5120640"/>
            <a:ext cx="3429000" cy="1325880"/>
          </a:xfrm>
          <a:prstGeom prst="roundRect">
            <a:avLst>
              <a:gd name="adj" fmla="val 5517"/>
            </a:avLst>
          </a:prstGeom>
          <a:solidFill>
            <a:srgbClr val="0A1520"/>
          </a:solidFill>
          <a:ln w="12700">
            <a:solidFill>
              <a:srgbClr val="B0C4D8"/>
            </a:solidFill>
            <a:prstDash val="solid"/>
          </a:ln>
        </p:spPr>
      </p:sp>
      <p:sp>
        <p:nvSpPr>
          <p:cNvPr id="37" name="Text 35"/>
          <p:cNvSpPr/>
          <p:nvPr/>
        </p:nvSpPr>
        <p:spPr>
          <a:xfrm>
            <a:off x="8458200" y="5193792"/>
            <a:ext cx="3246120" cy="1188720"/>
          </a:xfrm>
          <a:prstGeom prst="rect">
            <a:avLst/>
          </a:prstGeom>
          <a:noFill/>
          <a:ln/>
        </p:spPr>
        <p:txBody>
          <a:bodyPr wrap="square" rtlCol="0" anchor="ctr"/>
          <a:lstStyle/>
          <a:p>
            <a:pPr indent="0" marL="0">
              <a:buNone/>
            </a:pPr>
            <a:r>
              <a:rPr lang="en-US" sz="1000" i="1" dirty="0">
                <a:solidFill>
                  <a:srgbClr val="B0C4D8"/>
                </a:solidFill>
                <a:latin typeface="Calibri" pitchFamily="34" charset="0"/>
                <a:ea typeface="Calibri" pitchFamily="34" charset="-122"/>
                <a:cs typeface="Calibri" pitchFamily="34" charset="-120"/>
              </a:rPr>
              <a:t>💡 Companies like Planetary Resources were founded specifically to mine asteroids.</a:t>
            </a:r>
            <a:endParaRPr lang="en-US" sz="1000" dirty="0"/>
          </a:p>
        </p:txBody>
      </p:sp>
      <p:sp>
        <p:nvSpPr>
          <p:cNvPr id="38" name="Shape 36"/>
          <p:cNvSpPr/>
          <p:nvPr/>
        </p:nvSpPr>
        <p:spPr>
          <a:xfrm>
            <a:off x="0" y="6629400"/>
            <a:ext cx="12192000" cy="228600"/>
          </a:xfrm>
          <a:prstGeom prst="rect">
            <a:avLst/>
          </a:prstGeom>
          <a:solidFill>
            <a:srgbClr val="162233"/>
          </a:solidFill>
          <a:ln/>
        </p:spPr>
      </p:sp>
      <p:sp>
        <p:nvSpPr>
          <p:cNvPr id="39" name="Text 3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Scale &amp; Context: Our Solar System Destinations</a:t>
            </a:r>
            <a:endParaRPr lang="en-US" sz="1600" dirty="0"/>
          </a:p>
        </p:txBody>
      </p:sp>
      <p:sp>
        <p:nvSpPr>
          <p:cNvPr id="5" name="Shape 3"/>
          <p:cNvSpPr/>
          <p:nvPr/>
        </p:nvSpPr>
        <p:spPr>
          <a:xfrm>
            <a:off x="457200" y="4114800"/>
            <a:ext cx="274320" cy="274320"/>
          </a:xfrm>
          <a:prstGeom prst="ellipse">
            <a:avLst/>
          </a:prstGeom>
          <a:solidFill>
            <a:srgbClr val="B0C4D8"/>
          </a:solidFill>
          <a:ln w="12700">
            <a:solidFill>
              <a:srgbClr val="0D1B2A"/>
            </a:solidFill>
            <a:prstDash val="solid"/>
          </a:ln>
        </p:spPr>
      </p:sp>
      <p:sp>
        <p:nvSpPr>
          <p:cNvPr id="6" name="Text 4"/>
          <p:cNvSpPr/>
          <p:nvPr/>
        </p:nvSpPr>
        <p:spPr>
          <a:xfrm>
            <a:off x="182880" y="4462272"/>
            <a:ext cx="822960" cy="347472"/>
          </a:xfrm>
          <a:prstGeom prst="rect">
            <a:avLst/>
          </a:prstGeom>
          <a:noFill/>
          <a:ln/>
        </p:spPr>
        <p:txBody>
          <a:bodyPr wrap="square" rtlCol="0" anchor="ctr"/>
          <a:lstStyle/>
          <a:p>
            <a:pPr algn="ctr" indent="0" marL="0">
              <a:buNone/>
            </a:pPr>
            <a:r>
              <a:rPr lang="en-US" sz="1100" b="1" dirty="0">
                <a:solidFill>
                  <a:srgbClr val="B0C4D8"/>
                </a:solidFill>
                <a:latin typeface="Calibri" pitchFamily="34" charset="0"/>
                <a:ea typeface="Calibri" pitchFamily="34" charset="-122"/>
                <a:cs typeface="Calibri" pitchFamily="34" charset="-120"/>
              </a:rPr>
              <a:t>Asteroid</a:t>
            </a:r>
            <a:endParaRPr lang="en-US" sz="1100" dirty="0"/>
          </a:p>
        </p:txBody>
      </p:sp>
      <p:sp>
        <p:nvSpPr>
          <p:cNvPr id="7" name="Text 5"/>
          <p:cNvSpPr/>
          <p:nvPr/>
        </p:nvSpPr>
        <p:spPr>
          <a:xfrm>
            <a:off x="182880" y="4828032"/>
            <a:ext cx="822960" cy="274320"/>
          </a:xfrm>
          <a:prstGeom prst="rect">
            <a:avLst/>
          </a:prstGeom>
          <a:noFill/>
          <a:ln/>
        </p:spPr>
        <p:txBody>
          <a:bodyPr wrap="square"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~500m</a:t>
            </a:r>
            <a:endParaRPr lang="en-US" sz="900" dirty="0"/>
          </a:p>
        </p:txBody>
      </p:sp>
      <p:sp>
        <p:nvSpPr>
          <p:cNvPr id="8" name="Shape 6"/>
          <p:cNvSpPr/>
          <p:nvPr/>
        </p:nvSpPr>
        <p:spPr>
          <a:xfrm>
            <a:off x="1463040" y="3291840"/>
            <a:ext cx="1097280" cy="1097280"/>
          </a:xfrm>
          <a:prstGeom prst="ellipse">
            <a:avLst/>
          </a:prstGeom>
          <a:solidFill>
            <a:srgbClr val="8899AA"/>
          </a:solidFill>
          <a:ln w="12700">
            <a:solidFill>
              <a:srgbClr val="0D1B2A"/>
            </a:solidFill>
            <a:prstDash val="solid"/>
          </a:ln>
        </p:spPr>
      </p:sp>
      <p:sp>
        <p:nvSpPr>
          <p:cNvPr id="9" name="Text 7"/>
          <p:cNvSpPr/>
          <p:nvPr/>
        </p:nvSpPr>
        <p:spPr>
          <a:xfrm>
            <a:off x="1188720" y="4462272"/>
            <a:ext cx="1645920" cy="347472"/>
          </a:xfrm>
          <a:prstGeom prst="rect">
            <a:avLst/>
          </a:prstGeom>
          <a:noFill/>
          <a:ln/>
        </p:spPr>
        <p:txBody>
          <a:bodyPr wrap="square" rtlCol="0" anchor="ctr"/>
          <a:lstStyle/>
          <a:p>
            <a:pPr algn="ctr" indent="0" marL="0">
              <a:buNone/>
            </a:pPr>
            <a:r>
              <a:rPr lang="en-US" sz="1100" b="1" dirty="0">
                <a:solidFill>
                  <a:srgbClr val="8899AA"/>
                </a:solidFill>
                <a:latin typeface="Calibri" pitchFamily="34" charset="0"/>
                <a:ea typeface="Calibri" pitchFamily="34" charset="-122"/>
                <a:cs typeface="Calibri" pitchFamily="34" charset="-120"/>
              </a:rPr>
              <a:t>Moon</a:t>
            </a:r>
            <a:endParaRPr lang="en-US" sz="1100" dirty="0"/>
          </a:p>
        </p:txBody>
      </p:sp>
      <p:sp>
        <p:nvSpPr>
          <p:cNvPr id="10" name="Text 8"/>
          <p:cNvSpPr/>
          <p:nvPr/>
        </p:nvSpPr>
        <p:spPr>
          <a:xfrm>
            <a:off x="1188720" y="4828032"/>
            <a:ext cx="1645920" cy="274320"/>
          </a:xfrm>
          <a:prstGeom prst="rect">
            <a:avLst/>
          </a:prstGeom>
          <a:noFill/>
          <a:ln/>
        </p:spPr>
        <p:txBody>
          <a:bodyPr wrap="square"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3,474 km</a:t>
            </a:r>
            <a:endParaRPr lang="en-US" sz="900" dirty="0"/>
          </a:p>
        </p:txBody>
      </p:sp>
      <p:sp>
        <p:nvSpPr>
          <p:cNvPr id="11" name="Shape 9"/>
          <p:cNvSpPr/>
          <p:nvPr/>
        </p:nvSpPr>
        <p:spPr>
          <a:xfrm>
            <a:off x="3291840" y="2743200"/>
            <a:ext cx="1645920" cy="1645920"/>
          </a:xfrm>
          <a:prstGeom prst="ellipse">
            <a:avLst/>
          </a:prstGeom>
          <a:solidFill>
            <a:srgbClr val="FFB703"/>
          </a:solidFill>
          <a:ln w="12700">
            <a:solidFill>
              <a:srgbClr val="0D1B2A"/>
            </a:solidFill>
            <a:prstDash val="solid"/>
          </a:ln>
        </p:spPr>
      </p:sp>
      <p:sp>
        <p:nvSpPr>
          <p:cNvPr id="12" name="Text 10"/>
          <p:cNvSpPr/>
          <p:nvPr/>
        </p:nvSpPr>
        <p:spPr>
          <a:xfrm>
            <a:off x="3017520" y="4462272"/>
            <a:ext cx="2194560" cy="347472"/>
          </a:xfrm>
          <a:prstGeom prst="rect">
            <a:avLst/>
          </a:prstGeom>
          <a:noFill/>
          <a:ln/>
        </p:spPr>
        <p:txBody>
          <a:bodyPr wrap="square" rtlCol="0" anchor="ctr"/>
          <a:lstStyle/>
          <a:p>
            <a:pPr algn="ctr" indent="0" marL="0">
              <a:buNone/>
            </a:pPr>
            <a:r>
              <a:rPr lang="en-US" sz="1100" b="1" dirty="0">
                <a:solidFill>
                  <a:srgbClr val="FFB703"/>
                </a:solidFill>
                <a:latin typeface="Calibri" pitchFamily="34" charset="0"/>
                <a:ea typeface="Calibri" pitchFamily="34" charset="-122"/>
                <a:cs typeface="Calibri" pitchFamily="34" charset="-120"/>
              </a:rPr>
              <a:t>Mars</a:t>
            </a:r>
            <a:endParaRPr lang="en-US" sz="1100" dirty="0"/>
          </a:p>
        </p:txBody>
      </p:sp>
      <p:sp>
        <p:nvSpPr>
          <p:cNvPr id="13" name="Text 11"/>
          <p:cNvSpPr/>
          <p:nvPr/>
        </p:nvSpPr>
        <p:spPr>
          <a:xfrm>
            <a:off x="3017520" y="4828032"/>
            <a:ext cx="2194560" cy="274320"/>
          </a:xfrm>
          <a:prstGeom prst="rect">
            <a:avLst/>
          </a:prstGeom>
          <a:noFill/>
          <a:ln/>
        </p:spPr>
        <p:txBody>
          <a:bodyPr wrap="square"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6,779 km</a:t>
            </a:r>
            <a:endParaRPr lang="en-US" sz="900" dirty="0"/>
          </a:p>
        </p:txBody>
      </p:sp>
      <p:sp>
        <p:nvSpPr>
          <p:cNvPr id="14" name="Shape 12"/>
          <p:cNvSpPr/>
          <p:nvPr/>
        </p:nvSpPr>
        <p:spPr>
          <a:xfrm>
            <a:off x="5669280" y="1828800"/>
            <a:ext cx="2560320" cy="2560320"/>
          </a:xfrm>
          <a:prstGeom prst="ellipse">
            <a:avLst/>
          </a:prstGeom>
          <a:solidFill>
            <a:srgbClr val="F4736A"/>
          </a:solidFill>
          <a:ln w="12700">
            <a:solidFill>
              <a:srgbClr val="0D1B2A"/>
            </a:solidFill>
            <a:prstDash val="solid"/>
          </a:ln>
        </p:spPr>
      </p:sp>
      <p:sp>
        <p:nvSpPr>
          <p:cNvPr id="15" name="Text 13"/>
          <p:cNvSpPr/>
          <p:nvPr/>
        </p:nvSpPr>
        <p:spPr>
          <a:xfrm>
            <a:off x="5394960" y="4462272"/>
            <a:ext cx="3108960" cy="347472"/>
          </a:xfrm>
          <a:prstGeom prst="rect">
            <a:avLst/>
          </a:prstGeom>
          <a:noFill/>
          <a:ln/>
        </p:spPr>
        <p:txBody>
          <a:bodyPr wrap="square" rtlCol="0" anchor="ctr"/>
          <a:lstStyle/>
          <a:p>
            <a:pPr algn="ctr" indent="0" marL="0">
              <a:buNone/>
            </a:pPr>
            <a:r>
              <a:rPr lang="en-US" sz="1100" b="1" dirty="0">
                <a:solidFill>
                  <a:srgbClr val="F4736A"/>
                </a:solidFill>
                <a:latin typeface="Calibri" pitchFamily="34" charset="0"/>
                <a:ea typeface="Calibri" pitchFamily="34" charset="-122"/>
                <a:cs typeface="Calibri" pitchFamily="34" charset="-120"/>
              </a:rPr>
              <a:t>Venus</a:t>
            </a:r>
            <a:endParaRPr lang="en-US" sz="1100" dirty="0"/>
          </a:p>
        </p:txBody>
      </p:sp>
      <p:sp>
        <p:nvSpPr>
          <p:cNvPr id="16" name="Text 14"/>
          <p:cNvSpPr/>
          <p:nvPr/>
        </p:nvSpPr>
        <p:spPr>
          <a:xfrm>
            <a:off x="5394960" y="4828032"/>
            <a:ext cx="3108960" cy="274320"/>
          </a:xfrm>
          <a:prstGeom prst="rect">
            <a:avLst/>
          </a:prstGeom>
          <a:noFill/>
          <a:ln/>
        </p:spPr>
        <p:txBody>
          <a:bodyPr wrap="square"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12,104 km</a:t>
            </a:r>
            <a:endParaRPr lang="en-US" sz="900" dirty="0"/>
          </a:p>
        </p:txBody>
      </p:sp>
      <p:sp>
        <p:nvSpPr>
          <p:cNvPr id="17" name="Shape 15"/>
          <p:cNvSpPr/>
          <p:nvPr/>
        </p:nvSpPr>
        <p:spPr>
          <a:xfrm>
            <a:off x="8961120" y="1783080"/>
            <a:ext cx="2606040" cy="2606040"/>
          </a:xfrm>
          <a:prstGeom prst="ellipse">
            <a:avLst/>
          </a:prstGeom>
          <a:solidFill>
            <a:srgbClr val="4CC9F0"/>
          </a:solidFill>
          <a:ln w="12700">
            <a:solidFill>
              <a:srgbClr val="0D1B2A"/>
            </a:solidFill>
            <a:prstDash val="solid"/>
          </a:ln>
        </p:spPr>
      </p:sp>
      <p:sp>
        <p:nvSpPr>
          <p:cNvPr id="18" name="Text 16"/>
          <p:cNvSpPr/>
          <p:nvPr/>
        </p:nvSpPr>
        <p:spPr>
          <a:xfrm>
            <a:off x="8686800" y="4462272"/>
            <a:ext cx="3154680" cy="347472"/>
          </a:xfrm>
          <a:prstGeom prst="rect">
            <a:avLst/>
          </a:prstGeom>
          <a:noFill/>
          <a:ln/>
        </p:spPr>
        <p:txBody>
          <a:bodyPr wrap="square" rtlCol="0" anchor="ctr"/>
          <a:lstStyle/>
          <a:p>
            <a:pPr algn="ctr" indent="0" marL="0">
              <a:buNone/>
            </a:pPr>
            <a:r>
              <a:rPr lang="en-US" sz="1100" b="1" dirty="0">
                <a:solidFill>
                  <a:srgbClr val="4CC9F0"/>
                </a:solidFill>
                <a:latin typeface="Calibri" pitchFamily="34" charset="0"/>
                <a:ea typeface="Calibri" pitchFamily="34" charset="-122"/>
                <a:cs typeface="Calibri" pitchFamily="34" charset="-120"/>
              </a:rPr>
              <a:t>Earth</a:t>
            </a:r>
            <a:endParaRPr lang="en-US" sz="1100" dirty="0"/>
          </a:p>
        </p:txBody>
      </p:sp>
      <p:sp>
        <p:nvSpPr>
          <p:cNvPr id="19" name="Text 17"/>
          <p:cNvSpPr/>
          <p:nvPr/>
        </p:nvSpPr>
        <p:spPr>
          <a:xfrm>
            <a:off x="8686800" y="4828032"/>
            <a:ext cx="3154680" cy="274320"/>
          </a:xfrm>
          <a:prstGeom prst="rect">
            <a:avLst/>
          </a:prstGeom>
          <a:noFill/>
          <a:ln/>
        </p:spPr>
        <p:txBody>
          <a:bodyPr wrap="square"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12,742 km</a:t>
            </a:r>
            <a:endParaRPr lang="en-US" sz="900" dirty="0"/>
          </a:p>
        </p:txBody>
      </p:sp>
      <p:sp>
        <p:nvSpPr>
          <p:cNvPr id="20" name="Text 18"/>
          <p:cNvSpPr/>
          <p:nvPr/>
        </p:nvSpPr>
        <p:spPr>
          <a:xfrm>
            <a:off x="365760" y="5166360"/>
            <a:ext cx="11247120" cy="274320"/>
          </a:xfrm>
          <a:prstGeom prst="rect">
            <a:avLst/>
          </a:prstGeom>
          <a:noFill/>
          <a:ln/>
        </p:spPr>
        <p:txBody>
          <a:bodyPr wrap="square" rtlCol="0" anchor="ctr"/>
          <a:lstStyle/>
          <a:p>
            <a:pPr algn="ctr" indent="0" marL="0">
              <a:buNone/>
            </a:pPr>
            <a:r>
              <a:rPr lang="en-US" sz="950" i="1" dirty="0">
                <a:solidFill>
                  <a:srgbClr val="8899AA"/>
                </a:solidFill>
                <a:latin typeface="Calibri" pitchFamily="34" charset="0"/>
                <a:ea typeface="Calibri" pitchFamily="34" charset="-122"/>
                <a:cs typeface="Calibri" pitchFamily="34" charset="-120"/>
              </a:rPr>
              <a:t>Sizes shown relative to each other (not real astronomical distances)</a:t>
            </a:r>
            <a:endParaRPr lang="en-US" sz="950" dirty="0"/>
          </a:p>
        </p:txBody>
      </p:sp>
      <p:sp>
        <p:nvSpPr>
          <p:cNvPr id="21" name="Shape 19"/>
          <p:cNvSpPr/>
          <p:nvPr/>
        </p:nvSpPr>
        <p:spPr>
          <a:xfrm>
            <a:off x="365760" y="5486400"/>
            <a:ext cx="11247120" cy="960120"/>
          </a:xfrm>
          <a:prstGeom prst="roundRect">
            <a:avLst>
              <a:gd name="adj" fmla="val 7619"/>
            </a:avLst>
          </a:prstGeom>
          <a:solidFill>
            <a:srgbClr val="1E2F45"/>
          </a:solidFill>
          <a:ln w="12700">
            <a:solidFill>
              <a:srgbClr val="FFB703"/>
            </a:solidFill>
            <a:prstDash val="solid"/>
          </a:ln>
        </p:spPr>
      </p:sp>
      <p:sp>
        <p:nvSpPr>
          <p:cNvPr id="22" name="Text 20"/>
          <p:cNvSpPr/>
          <p:nvPr/>
        </p:nvSpPr>
        <p:spPr>
          <a:xfrm>
            <a:off x="548640" y="5559552"/>
            <a:ext cx="10972800" cy="8229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Venus and Earth are almost TWINS in size! Mars is about half the size of Earth. Asteroids are tiny by comparison — but packed with precious metals worth trillions of dollars.</a:t>
            </a:r>
            <a:endParaRPr lang="en-US" sz="120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Mission Control: How a Resource Mission Works</a:t>
            </a:r>
            <a:endParaRPr lang="en-US" sz="1600" dirty="0"/>
          </a:p>
        </p:txBody>
      </p:sp>
      <p:sp>
        <p:nvSpPr>
          <p:cNvPr id="5" name="Text 3"/>
          <p:cNvSpPr/>
          <p:nvPr/>
        </p:nvSpPr>
        <p:spPr>
          <a:xfrm>
            <a:off x="365760" y="749808"/>
            <a:ext cx="11247120" cy="438912"/>
          </a:xfrm>
          <a:prstGeom prst="rect">
            <a:avLst/>
          </a:prstGeom>
          <a:noFill/>
          <a:ln/>
        </p:spPr>
        <p:txBody>
          <a:bodyPr wrap="square" rtlCol="0" anchor="ctr"/>
          <a:lstStyle/>
          <a:p>
            <a:pPr algn="ctr" indent="0" marL="0">
              <a:buNone/>
            </a:pPr>
            <a:r>
              <a:rPr lang="en-US" sz="1300" i="1" dirty="0">
                <a:solidFill>
                  <a:srgbClr val="B0C4D8"/>
                </a:solidFill>
                <a:latin typeface="Calibri" pitchFamily="34" charset="0"/>
                <a:ea typeface="Calibri" pitchFamily="34" charset="-122"/>
                <a:cs typeface="Calibri" pitchFamily="34" charset="-120"/>
              </a:rPr>
              <a:t>Follow the four phases of a future space resource mission:</a:t>
            </a:r>
            <a:endParaRPr lang="en-US" sz="1300" dirty="0"/>
          </a:p>
        </p:txBody>
      </p:sp>
      <p:sp>
        <p:nvSpPr>
          <p:cNvPr id="6" name="Shape 4"/>
          <p:cNvSpPr/>
          <p:nvPr/>
        </p:nvSpPr>
        <p:spPr>
          <a:xfrm>
            <a:off x="365760" y="1353312"/>
            <a:ext cx="5669280" cy="2267712"/>
          </a:xfrm>
          <a:prstGeom prst="roundRect">
            <a:avLst>
              <a:gd name="adj" fmla="val 3226"/>
            </a:avLst>
          </a:prstGeom>
          <a:solidFill>
            <a:srgbClr val="1E2F45"/>
          </a:solidFill>
          <a:ln w="12700">
            <a:solidFill>
              <a:srgbClr val="4CC9F0"/>
            </a:solidFill>
            <a:prstDash val="solid"/>
          </a:ln>
        </p:spPr>
      </p:sp>
      <p:sp>
        <p:nvSpPr>
          <p:cNvPr id="7" name="Shape 5"/>
          <p:cNvSpPr/>
          <p:nvPr/>
        </p:nvSpPr>
        <p:spPr>
          <a:xfrm>
            <a:off x="502920" y="1463040"/>
            <a:ext cx="1554480" cy="256032"/>
          </a:xfrm>
          <a:prstGeom prst="roundRect">
            <a:avLst>
              <a:gd name="adj" fmla="val 50000"/>
            </a:avLst>
          </a:prstGeom>
          <a:solidFill>
            <a:srgbClr val="4CC9F0"/>
          </a:solidFill>
          <a:ln w="12700">
            <a:solidFill>
              <a:srgbClr val="4CC9F0"/>
            </a:solidFill>
            <a:prstDash val="solid"/>
          </a:ln>
        </p:spPr>
      </p:sp>
      <p:sp>
        <p:nvSpPr>
          <p:cNvPr id="8" name="Text 6"/>
          <p:cNvSpPr/>
          <p:nvPr/>
        </p:nvSpPr>
        <p:spPr>
          <a:xfrm>
            <a:off x="502920" y="146304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1</a:t>
            </a:r>
            <a:endParaRPr lang="en-US" sz="900" dirty="0"/>
          </a:p>
        </p:txBody>
      </p:sp>
      <p:sp>
        <p:nvSpPr>
          <p:cNvPr id="9" name="Text 7"/>
          <p:cNvSpPr/>
          <p:nvPr/>
        </p:nvSpPr>
        <p:spPr>
          <a:xfrm>
            <a:off x="5394960" y="1426464"/>
            <a:ext cx="548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194560" y="1481328"/>
            <a:ext cx="320040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Identify the Need</a:t>
            </a:r>
            <a:endParaRPr lang="en-US" sz="1300" dirty="0"/>
          </a:p>
        </p:txBody>
      </p:sp>
      <p:sp>
        <p:nvSpPr>
          <p:cNvPr id="11" name="Text 9"/>
          <p:cNvSpPr/>
          <p:nvPr/>
        </p:nvSpPr>
        <p:spPr>
          <a:xfrm>
            <a:off x="548640" y="1947672"/>
            <a:ext cx="5394960" cy="157276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Scientists study which resources are becoming scarce on Earth. They decide which destination — Mars, Venus, or the asteroid belt — might hold those materials. Telescopes scout from a distance first.</a:t>
            </a:r>
            <a:endParaRPr lang="en-US" sz="1150" dirty="0"/>
          </a:p>
        </p:txBody>
      </p:sp>
      <p:sp>
        <p:nvSpPr>
          <p:cNvPr id="12" name="Shape 10"/>
          <p:cNvSpPr/>
          <p:nvPr/>
        </p:nvSpPr>
        <p:spPr>
          <a:xfrm>
            <a:off x="6309360" y="1353312"/>
            <a:ext cx="5669280" cy="2267712"/>
          </a:xfrm>
          <a:prstGeom prst="roundRect">
            <a:avLst>
              <a:gd name="adj" fmla="val 3226"/>
            </a:avLst>
          </a:prstGeom>
          <a:solidFill>
            <a:srgbClr val="1E2F45"/>
          </a:solidFill>
          <a:ln w="12700">
            <a:solidFill>
              <a:srgbClr val="2DC653"/>
            </a:solidFill>
            <a:prstDash val="solid"/>
          </a:ln>
        </p:spPr>
      </p:sp>
      <p:sp>
        <p:nvSpPr>
          <p:cNvPr id="13" name="Shape 11"/>
          <p:cNvSpPr/>
          <p:nvPr/>
        </p:nvSpPr>
        <p:spPr>
          <a:xfrm>
            <a:off x="6446520" y="1463040"/>
            <a:ext cx="1554480" cy="256032"/>
          </a:xfrm>
          <a:prstGeom prst="roundRect">
            <a:avLst>
              <a:gd name="adj" fmla="val 50000"/>
            </a:avLst>
          </a:prstGeom>
          <a:solidFill>
            <a:srgbClr val="2DC653"/>
          </a:solidFill>
          <a:ln w="12700">
            <a:solidFill>
              <a:srgbClr val="2DC653"/>
            </a:solidFill>
            <a:prstDash val="solid"/>
          </a:ln>
        </p:spPr>
      </p:sp>
      <p:sp>
        <p:nvSpPr>
          <p:cNvPr id="14" name="Text 12"/>
          <p:cNvSpPr/>
          <p:nvPr/>
        </p:nvSpPr>
        <p:spPr>
          <a:xfrm>
            <a:off x="6446520" y="146304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2</a:t>
            </a:r>
            <a:endParaRPr lang="en-US" sz="900" dirty="0"/>
          </a:p>
        </p:txBody>
      </p:sp>
      <p:sp>
        <p:nvSpPr>
          <p:cNvPr id="15" name="Text 13"/>
          <p:cNvSpPr/>
          <p:nvPr/>
        </p:nvSpPr>
        <p:spPr>
          <a:xfrm>
            <a:off x="11338560" y="1426464"/>
            <a:ext cx="548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8138160" y="1481328"/>
            <a:ext cx="3200400" cy="384048"/>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Send Robotic Scouts</a:t>
            </a:r>
            <a:endParaRPr lang="en-US" sz="1300" dirty="0"/>
          </a:p>
        </p:txBody>
      </p:sp>
      <p:sp>
        <p:nvSpPr>
          <p:cNvPr id="17" name="Text 15"/>
          <p:cNvSpPr/>
          <p:nvPr/>
        </p:nvSpPr>
        <p:spPr>
          <a:xfrm>
            <a:off x="6492240" y="1947672"/>
            <a:ext cx="5394960" cy="157276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Uncrewed probes and rovers are launched first — our 'eyes on the ground.' For Venus, drones float through the atmosphere to analyze gases without landing on the dangerous surface.</a:t>
            </a:r>
            <a:endParaRPr lang="en-US" sz="1150" dirty="0"/>
          </a:p>
        </p:txBody>
      </p:sp>
      <p:sp>
        <p:nvSpPr>
          <p:cNvPr id="18" name="Shape 16"/>
          <p:cNvSpPr/>
          <p:nvPr/>
        </p:nvSpPr>
        <p:spPr>
          <a:xfrm>
            <a:off x="365760" y="3776472"/>
            <a:ext cx="5669280" cy="2267712"/>
          </a:xfrm>
          <a:prstGeom prst="roundRect">
            <a:avLst>
              <a:gd name="adj" fmla="val 3226"/>
            </a:avLst>
          </a:prstGeom>
          <a:solidFill>
            <a:srgbClr val="1E2F45"/>
          </a:solidFill>
          <a:ln w="12700">
            <a:solidFill>
              <a:srgbClr val="FFB703"/>
            </a:solidFill>
            <a:prstDash val="solid"/>
          </a:ln>
        </p:spPr>
      </p:sp>
      <p:sp>
        <p:nvSpPr>
          <p:cNvPr id="19" name="Shape 17"/>
          <p:cNvSpPr/>
          <p:nvPr/>
        </p:nvSpPr>
        <p:spPr>
          <a:xfrm>
            <a:off x="502920" y="3886200"/>
            <a:ext cx="1554480" cy="256032"/>
          </a:xfrm>
          <a:prstGeom prst="roundRect">
            <a:avLst>
              <a:gd name="adj" fmla="val 50000"/>
            </a:avLst>
          </a:prstGeom>
          <a:solidFill>
            <a:srgbClr val="FFB703"/>
          </a:solidFill>
          <a:ln w="12700">
            <a:solidFill>
              <a:srgbClr val="FFB703"/>
            </a:solidFill>
            <a:prstDash val="solid"/>
          </a:ln>
        </p:spPr>
      </p:sp>
      <p:sp>
        <p:nvSpPr>
          <p:cNvPr id="20" name="Text 18"/>
          <p:cNvSpPr/>
          <p:nvPr/>
        </p:nvSpPr>
        <p:spPr>
          <a:xfrm>
            <a:off x="502920" y="388620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3</a:t>
            </a:r>
            <a:endParaRPr lang="en-US" sz="900" dirty="0"/>
          </a:p>
        </p:txBody>
      </p:sp>
      <p:sp>
        <p:nvSpPr>
          <p:cNvPr id="21" name="Text 19"/>
          <p:cNvSpPr/>
          <p:nvPr/>
        </p:nvSpPr>
        <p:spPr>
          <a:xfrm>
            <a:off x="5394960" y="3849624"/>
            <a:ext cx="548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2194560" y="3904488"/>
            <a:ext cx="320040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Extract the Resource</a:t>
            </a:r>
            <a:endParaRPr lang="en-US" sz="1300" dirty="0"/>
          </a:p>
        </p:txBody>
      </p:sp>
      <p:sp>
        <p:nvSpPr>
          <p:cNvPr id="23" name="Text 21"/>
          <p:cNvSpPr/>
          <p:nvPr/>
        </p:nvSpPr>
        <p:spPr>
          <a:xfrm>
            <a:off x="548640" y="4370832"/>
            <a:ext cx="5394960" cy="157276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Once scientists confirm a deposit, robotic mining machines drill, scoop, or collect materials. On an asteroid, a spacecraft might chip away at the surface over months or years.</a:t>
            </a:r>
            <a:endParaRPr lang="en-US" sz="1150" dirty="0"/>
          </a:p>
        </p:txBody>
      </p:sp>
      <p:sp>
        <p:nvSpPr>
          <p:cNvPr id="24" name="Shape 22"/>
          <p:cNvSpPr/>
          <p:nvPr/>
        </p:nvSpPr>
        <p:spPr>
          <a:xfrm>
            <a:off x="6309360" y="3776472"/>
            <a:ext cx="5669280" cy="2267712"/>
          </a:xfrm>
          <a:prstGeom prst="roundRect">
            <a:avLst>
              <a:gd name="adj" fmla="val 3226"/>
            </a:avLst>
          </a:prstGeom>
          <a:solidFill>
            <a:srgbClr val="1E2F45"/>
          </a:solidFill>
          <a:ln w="12700">
            <a:solidFill>
              <a:srgbClr val="F4736A"/>
            </a:solidFill>
            <a:prstDash val="solid"/>
          </a:ln>
        </p:spPr>
      </p:sp>
      <p:sp>
        <p:nvSpPr>
          <p:cNvPr id="25" name="Shape 23"/>
          <p:cNvSpPr/>
          <p:nvPr/>
        </p:nvSpPr>
        <p:spPr>
          <a:xfrm>
            <a:off x="6446520" y="3886200"/>
            <a:ext cx="1554480" cy="256032"/>
          </a:xfrm>
          <a:prstGeom prst="roundRect">
            <a:avLst>
              <a:gd name="adj" fmla="val 50000"/>
            </a:avLst>
          </a:prstGeom>
          <a:solidFill>
            <a:srgbClr val="F4736A"/>
          </a:solidFill>
          <a:ln w="12700">
            <a:solidFill>
              <a:srgbClr val="F4736A"/>
            </a:solidFill>
            <a:prstDash val="solid"/>
          </a:ln>
        </p:spPr>
      </p:sp>
      <p:sp>
        <p:nvSpPr>
          <p:cNvPr id="26" name="Text 24"/>
          <p:cNvSpPr/>
          <p:nvPr/>
        </p:nvSpPr>
        <p:spPr>
          <a:xfrm>
            <a:off x="6446520" y="388620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4</a:t>
            </a:r>
            <a:endParaRPr lang="en-US" sz="900" dirty="0"/>
          </a:p>
        </p:txBody>
      </p:sp>
      <p:sp>
        <p:nvSpPr>
          <p:cNvPr id="27" name="Text 25"/>
          <p:cNvSpPr/>
          <p:nvPr/>
        </p:nvSpPr>
        <p:spPr>
          <a:xfrm>
            <a:off x="11338560" y="3849624"/>
            <a:ext cx="548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8" name="Text 26"/>
          <p:cNvSpPr/>
          <p:nvPr/>
        </p:nvSpPr>
        <p:spPr>
          <a:xfrm>
            <a:off x="8138160" y="3904488"/>
            <a:ext cx="3200400" cy="384048"/>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Use Responsibly</a:t>
            </a:r>
            <a:endParaRPr lang="en-US" sz="1300" dirty="0"/>
          </a:p>
        </p:txBody>
      </p:sp>
      <p:sp>
        <p:nvSpPr>
          <p:cNvPr id="29" name="Text 27"/>
          <p:cNvSpPr/>
          <p:nvPr/>
        </p:nvSpPr>
        <p:spPr>
          <a:xfrm>
            <a:off x="6492240" y="4370832"/>
            <a:ext cx="5394960" cy="157276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Resources could be shipped back to Earth or used in space to build spacecraft and fuel stations. Scientists must protect space environments — just like we try to protect Earth's!</a:t>
            </a:r>
            <a:endParaRPr lang="en-US" sz="1150" dirty="0"/>
          </a:p>
        </p:txBody>
      </p:sp>
      <p:sp>
        <p:nvSpPr>
          <p:cNvPr id="30" name="Shape 28"/>
          <p:cNvSpPr/>
          <p:nvPr/>
        </p:nvSpPr>
        <p:spPr>
          <a:xfrm>
            <a:off x="0" y="6629400"/>
            <a:ext cx="12192000" cy="228600"/>
          </a:xfrm>
          <a:prstGeom prst="rect">
            <a:avLst/>
          </a:prstGeom>
          <a:solidFill>
            <a:srgbClr val="162233"/>
          </a:solidFill>
          <a:ln/>
        </p:spPr>
      </p:sp>
      <p:sp>
        <p:nvSpPr>
          <p:cNvPr id="31" name="Text 2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The Moon: Our First Stepping Stone</a:t>
            </a:r>
            <a:endParaRPr lang="en-US" sz="1600" dirty="0"/>
          </a:p>
        </p:txBody>
      </p:sp>
      <p:sp>
        <p:nvSpPr>
          <p:cNvPr id="5" name="Shape 3"/>
          <p:cNvSpPr/>
          <p:nvPr/>
        </p:nvSpPr>
        <p:spPr>
          <a:xfrm>
            <a:off x="365760" y="749808"/>
            <a:ext cx="5212080" cy="5394960"/>
          </a:xfrm>
          <a:prstGeom prst="roundRect">
            <a:avLst>
              <a:gd name="adj" fmla="val 1404"/>
            </a:avLst>
          </a:prstGeom>
          <a:solidFill>
            <a:srgbClr val="0A1520"/>
          </a:solidFill>
          <a:ln w="19050">
            <a:solidFill>
              <a:srgbClr val="4CC9F0"/>
            </a:solidFill>
            <a:prstDash val="dash"/>
          </a:ln>
        </p:spPr>
      </p:sp>
      <p:sp>
        <p:nvSpPr>
          <p:cNvPr id="6" name="Text 4"/>
          <p:cNvSpPr/>
          <p:nvPr/>
        </p:nvSpPr>
        <p:spPr>
          <a:xfrm>
            <a:off x="457200" y="859536"/>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4992624" cy="43434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"NASA Artemis Moon mission astronaut lunar surface crater crater ice exploration"</a:t>
            </a:r>
            <a:endParaRPr lang="en-US" sz="950" dirty="0"/>
          </a:p>
        </p:txBody>
      </p:sp>
      <p:sp>
        <p:nvSpPr>
          <p:cNvPr id="9" name="Text 7"/>
          <p:cNvSpPr/>
          <p:nvPr/>
        </p:nvSpPr>
        <p:spPr>
          <a:xfrm>
            <a:off x="365760" y="6181344"/>
            <a:ext cx="52120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Future astronauts at the Moon's south pole — where water ice hides in shadow</a:t>
            </a:r>
            <a:endParaRPr lang="en-US" sz="900" dirty="0"/>
          </a:p>
        </p:txBody>
      </p:sp>
      <p:sp>
        <p:nvSpPr>
          <p:cNvPr id="10" name="Shape 8"/>
          <p:cNvSpPr/>
          <p:nvPr/>
        </p:nvSpPr>
        <p:spPr>
          <a:xfrm>
            <a:off x="5760720" y="749808"/>
            <a:ext cx="6309360" cy="2468880"/>
          </a:xfrm>
          <a:prstGeom prst="roundRect">
            <a:avLst>
              <a:gd name="adj" fmla="val 2963"/>
            </a:avLst>
          </a:prstGeom>
          <a:solidFill>
            <a:srgbClr val="1E2F45"/>
          </a:solidFill>
          <a:ln w="12700">
            <a:solidFill>
              <a:srgbClr val="FFB703"/>
            </a:solidFill>
            <a:prstDash val="solid"/>
          </a:ln>
        </p:spPr>
      </p:sp>
      <p:sp>
        <p:nvSpPr>
          <p:cNvPr id="11" name="Text 9"/>
          <p:cNvSpPr/>
          <p:nvPr/>
        </p:nvSpPr>
        <p:spPr>
          <a:xfrm>
            <a:off x="5943600" y="822960"/>
            <a:ext cx="6035040" cy="41148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Helium-3: Moon Fuel of the Future</a:t>
            </a:r>
            <a:endParaRPr lang="en-US" sz="1300" dirty="0"/>
          </a:p>
        </p:txBody>
      </p:sp>
      <p:sp>
        <p:nvSpPr>
          <p:cNvPr id="12" name="Text 10"/>
          <p:cNvSpPr/>
          <p:nvPr/>
        </p:nvSpPr>
        <p:spPr>
          <a:xfrm>
            <a:off x="5943600" y="1280160"/>
            <a:ext cx="6035040" cy="18288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The Moon has a rare gas called Helium-3 in its soil, deposited by solar wind. Just 25 tonnes could power the ENTIRE United States for a year — with almost no radioactive waste.</a:t>
            </a:r>
            <a:endParaRPr lang="en-US" sz="1200" dirty="0"/>
          </a:p>
        </p:txBody>
      </p:sp>
      <p:sp>
        <p:nvSpPr>
          <p:cNvPr id="13" name="Shape 11"/>
          <p:cNvSpPr/>
          <p:nvPr/>
        </p:nvSpPr>
        <p:spPr>
          <a:xfrm>
            <a:off x="5760720" y="3364992"/>
            <a:ext cx="6309360" cy="1828800"/>
          </a:xfrm>
          <a:prstGeom prst="roundRect">
            <a:avLst>
              <a:gd name="adj" fmla="val 4000"/>
            </a:avLst>
          </a:prstGeom>
          <a:solidFill>
            <a:srgbClr val="1E2F45"/>
          </a:solidFill>
          <a:ln w="12700">
            <a:solidFill>
              <a:srgbClr val="4CC9F0"/>
            </a:solidFill>
            <a:prstDash val="solid"/>
          </a:ln>
        </p:spPr>
      </p:sp>
      <p:sp>
        <p:nvSpPr>
          <p:cNvPr id="14" name="Text 12"/>
          <p:cNvSpPr/>
          <p:nvPr/>
        </p:nvSpPr>
        <p:spPr>
          <a:xfrm>
            <a:off x="5943600" y="3438144"/>
            <a:ext cx="603504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Moon = 'Gas Station in Space'</a:t>
            </a:r>
            <a:endParaRPr lang="en-US" sz="1300" dirty="0"/>
          </a:p>
        </p:txBody>
      </p:sp>
      <p:sp>
        <p:nvSpPr>
          <p:cNvPr id="15" name="Text 13"/>
          <p:cNvSpPr/>
          <p:nvPr/>
        </p:nvSpPr>
        <p:spPr>
          <a:xfrm>
            <a:off x="5943600" y="3858768"/>
            <a:ext cx="6035040" cy="12618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The Moon's polar craters have water ice in permanent shadow. Future explorers could melt this ice, split it into hydrogen and oxygen, and make rocket fuel RIGHT on the Moon — a refueling station for missions deeper into the solar system!</a:t>
            </a:r>
            <a:endParaRPr lang="en-US" sz="1200" dirty="0"/>
          </a:p>
        </p:txBody>
      </p:sp>
      <p:sp>
        <p:nvSpPr>
          <p:cNvPr id="16" name="Shape 14"/>
          <p:cNvSpPr/>
          <p:nvPr/>
        </p:nvSpPr>
        <p:spPr>
          <a:xfrm>
            <a:off x="5760720" y="5321808"/>
            <a:ext cx="6309360" cy="804672"/>
          </a:xfrm>
          <a:prstGeom prst="roundRect">
            <a:avLst>
              <a:gd name="adj" fmla="val 9091"/>
            </a:avLst>
          </a:prstGeom>
          <a:solidFill>
            <a:srgbClr val="0A2030"/>
          </a:solidFill>
          <a:ln w="12700">
            <a:solidFill>
              <a:srgbClr val="2DC653"/>
            </a:solidFill>
            <a:prstDash val="solid"/>
          </a:ln>
        </p:spPr>
      </p:sp>
      <p:sp>
        <p:nvSpPr>
          <p:cNvPr id="17" name="Text 15"/>
          <p:cNvSpPr/>
          <p:nvPr/>
        </p:nvSpPr>
        <p:spPr>
          <a:xfrm>
            <a:off x="5943600" y="5394960"/>
            <a:ext cx="6035040" cy="658368"/>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NASA's Artemis program is working toward sending astronauts BACK to the Moon — this time to stay and begin this exploration!</a:t>
            </a:r>
            <a:endParaRPr lang="en-US" sz="11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Mars: A World of Hidden Resources</a:t>
            </a:r>
            <a:endParaRPr lang="en-US" sz="1600" dirty="0"/>
          </a:p>
        </p:txBody>
      </p:sp>
      <p:sp>
        <p:nvSpPr>
          <p:cNvPr id="5" name="Shape 3"/>
          <p:cNvSpPr/>
          <p:nvPr/>
        </p:nvSpPr>
        <p:spPr>
          <a:xfrm>
            <a:off x="365760" y="749808"/>
            <a:ext cx="5943600" cy="4114800"/>
          </a:xfrm>
          <a:prstGeom prst="roundRect">
            <a:avLst>
              <a:gd name="adj" fmla="val 1778"/>
            </a:avLst>
          </a:prstGeom>
          <a:solidFill>
            <a:srgbClr val="0A1520"/>
          </a:solidFill>
          <a:ln w="19050">
            <a:solidFill>
              <a:srgbClr val="4CC9F0"/>
            </a:solidFill>
            <a:prstDash val="dash"/>
          </a:ln>
        </p:spPr>
      </p:sp>
      <p:sp>
        <p:nvSpPr>
          <p:cNvPr id="6" name="Text 4"/>
          <p:cNvSpPr/>
          <p:nvPr/>
        </p:nvSpPr>
        <p:spPr>
          <a:xfrm>
            <a:off x="457200" y="859536"/>
            <a:ext cx="57607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7607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5724144" cy="30632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"Mars north polar ice cap NASA water ice frozen red planet aerial"</a:t>
            </a:r>
            <a:endParaRPr lang="en-US" sz="950" dirty="0"/>
          </a:p>
        </p:txBody>
      </p:sp>
      <p:sp>
        <p:nvSpPr>
          <p:cNvPr id="9" name="Text 7"/>
          <p:cNvSpPr/>
          <p:nvPr/>
        </p:nvSpPr>
        <p:spPr>
          <a:xfrm>
            <a:off x="365760" y="4901184"/>
            <a:ext cx="59436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Mars's north polar ice cap — enough water to flood the entire planet!</a:t>
            </a:r>
            <a:endParaRPr lang="en-US" sz="900" dirty="0"/>
          </a:p>
        </p:txBody>
      </p:sp>
      <p:sp>
        <p:nvSpPr>
          <p:cNvPr id="10" name="Shape 8"/>
          <p:cNvSpPr/>
          <p:nvPr/>
        </p:nvSpPr>
        <p:spPr>
          <a:xfrm>
            <a:off x="6492240" y="749808"/>
            <a:ext cx="5669280" cy="1965960"/>
          </a:xfrm>
          <a:prstGeom prst="roundRect">
            <a:avLst>
              <a:gd name="adj" fmla="val 3721"/>
            </a:avLst>
          </a:prstGeom>
          <a:solidFill>
            <a:srgbClr val="1A0A00"/>
          </a:solidFill>
          <a:ln w="12700">
            <a:solidFill>
              <a:srgbClr val="F4736A"/>
            </a:solidFill>
            <a:prstDash val="solid"/>
          </a:ln>
        </p:spPr>
      </p:sp>
      <p:sp>
        <p:nvSpPr>
          <p:cNvPr id="11" name="Text 9"/>
          <p:cNvSpPr/>
          <p:nvPr/>
        </p:nvSpPr>
        <p:spPr>
          <a:xfrm>
            <a:off x="6675120" y="822960"/>
            <a:ext cx="5394960" cy="384048"/>
          </a:xfrm>
          <a:prstGeom prst="rect">
            <a:avLst/>
          </a:prstGeom>
          <a:noFill/>
          <a:ln/>
        </p:spPr>
        <p:txBody>
          <a:bodyPr wrap="square" rtlCol="0" anchor="ctr"/>
          <a:lstStyle/>
          <a:p>
            <a:pPr indent="0" marL="0">
              <a:buNone/>
            </a:pPr>
            <a:r>
              <a:rPr lang="en-US" sz="1400" b="1" dirty="0">
                <a:solidFill>
                  <a:srgbClr val="FFB703"/>
                </a:solidFill>
                <a:latin typeface="Calibri" pitchFamily="34" charset="0"/>
                <a:ea typeface="Calibri" pitchFamily="34" charset="-122"/>
                <a:cs typeface="Calibri" pitchFamily="34" charset="-120"/>
              </a:rPr>
              <a:t>Mind-Blowing Fact 🤯</a:t>
            </a:r>
            <a:endParaRPr lang="en-US" sz="1400" dirty="0"/>
          </a:p>
        </p:txBody>
      </p:sp>
      <p:sp>
        <p:nvSpPr>
          <p:cNvPr id="12" name="Text 10"/>
          <p:cNvSpPr/>
          <p:nvPr/>
        </p:nvSpPr>
        <p:spPr>
          <a:xfrm>
            <a:off x="6675120" y="1243584"/>
            <a:ext cx="5394960" cy="1426464"/>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Mars's north polar ice cap contains enough water ice that if it all melted, it could flood the ENTIRE PLANET in a 35-meter deep ocean!</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Future explorers could: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Melt it for drinking water</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Grow crops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Split water (H₂O) into H₂ + O₂ → rocket fuel!</a:t>
            </a:r>
            <a:endParaRPr lang="en-US" sz="1200" dirty="0"/>
          </a:p>
        </p:txBody>
      </p:sp>
      <p:sp>
        <p:nvSpPr>
          <p:cNvPr id="13" name="Shape 11"/>
          <p:cNvSpPr/>
          <p:nvPr/>
        </p:nvSpPr>
        <p:spPr>
          <a:xfrm>
            <a:off x="6492240" y="2852928"/>
            <a:ext cx="5669280" cy="1965960"/>
          </a:xfrm>
          <a:prstGeom prst="roundRect">
            <a:avLst>
              <a:gd name="adj" fmla="val 3721"/>
            </a:avLst>
          </a:prstGeom>
          <a:solidFill>
            <a:srgbClr val="1E2F45"/>
          </a:solidFill>
          <a:ln w="12700">
            <a:solidFill>
              <a:srgbClr val="2DC653"/>
            </a:solidFill>
            <a:prstDash val="solid"/>
          </a:ln>
        </p:spPr>
      </p:sp>
      <p:sp>
        <p:nvSpPr>
          <p:cNvPr id="14" name="Text 12"/>
          <p:cNvSpPr/>
          <p:nvPr/>
        </p:nvSpPr>
        <p:spPr>
          <a:xfrm>
            <a:off x="6675120" y="2926080"/>
            <a:ext cx="5394960" cy="384048"/>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Mars Mineral Resources:</a:t>
            </a:r>
            <a:endParaRPr lang="en-US" sz="1300" dirty="0"/>
          </a:p>
        </p:txBody>
      </p:sp>
      <p:sp>
        <p:nvSpPr>
          <p:cNvPr id="15" name="Text 13"/>
          <p:cNvSpPr/>
          <p:nvPr/>
        </p:nvSpPr>
        <p:spPr>
          <a:xfrm>
            <a:off x="6675120" y="3346704"/>
            <a:ext cx="5394960" cy="13898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Iron oxide (rust) = gives Mars its red color</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Perchlorate salts in the soil</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Potential rare earth metals used in electronics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Silicate rocks similar to Earth's minerals</a:t>
            </a:r>
            <a:endParaRPr lang="en-US" sz="1200" dirty="0"/>
          </a:p>
        </p:txBody>
      </p:sp>
      <p:sp>
        <p:nvSpPr>
          <p:cNvPr id="16" name="Shape 14"/>
          <p:cNvSpPr/>
          <p:nvPr/>
        </p:nvSpPr>
        <p:spPr>
          <a:xfrm>
            <a:off x="365760" y="4983480"/>
            <a:ext cx="11247120" cy="1115568"/>
          </a:xfrm>
          <a:prstGeom prst="roundRect">
            <a:avLst>
              <a:gd name="adj" fmla="val 6557"/>
            </a:avLst>
          </a:prstGeom>
          <a:solidFill>
            <a:srgbClr val="1E2F45"/>
          </a:solidFill>
          <a:ln w="12700">
            <a:solidFill>
              <a:srgbClr val="FFB703"/>
            </a:solidFill>
            <a:prstDash val="solid"/>
          </a:ln>
        </p:spPr>
      </p:sp>
      <p:sp>
        <p:nvSpPr>
          <p:cNvPr id="17" name="Text 15"/>
          <p:cNvSpPr/>
          <p:nvPr/>
        </p:nvSpPr>
        <p:spPr>
          <a:xfrm>
            <a:off x="548640" y="5056632"/>
            <a:ext cx="10972800" cy="96012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Evidence Reasoning: 'I predict Mars could support future human exploration because... This shows that the resources needed for survival (water, minerals, fuel production) are...'</a:t>
            </a:r>
            <a:endParaRPr lang="en-US" sz="12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Who Owns Space? The Responsible Exploration Question</a:t>
            </a:r>
            <a:endParaRPr lang="en-US" sz="1600" dirty="0"/>
          </a:p>
        </p:txBody>
      </p:sp>
      <p:sp>
        <p:nvSpPr>
          <p:cNvPr id="5" name="Shape 3"/>
          <p:cNvSpPr/>
          <p:nvPr/>
        </p:nvSpPr>
        <p:spPr>
          <a:xfrm>
            <a:off x="365760" y="749808"/>
            <a:ext cx="11247120" cy="1097280"/>
          </a:xfrm>
          <a:prstGeom prst="roundRect">
            <a:avLst>
              <a:gd name="adj" fmla="val 6667"/>
            </a:avLst>
          </a:prstGeom>
          <a:solidFill>
            <a:srgbClr val="1A0A00"/>
          </a:solidFill>
          <a:ln w="12700">
            <a:solidFill>
              <a:srgbClr val="F4736A"/>
            </a:solidFill>
            <a:prstDash val="solid"/>
          </a:ln>
        </p:spPr>
      </p:sp>
      <p:sp>
        <p:nvSpPr>
          <p:cNvPr id="6" name="Text 4"/>
          <p:cNvSpPr/>
          <p:nvPr/>
        </p:nvSpPr>
        <p:spPr>
          <a:xfrm>
            <a:off x="548640" y="822960"/>
            <a:ext cx="10972800" cy="914400"/>
          </a:xfrm>
          <a:prstGeom prst="rect">
            <a:avLst/>
          </a:prstGeom>
          <a:noFill/>
          <a:ln/>
        </p:spPr>
        <p:txBody>
          <a:bodyPr wrap="square" rtlCol="0" anchor="ctr"/>
          <a:lstStyle/>
          <a:p>
            <a:pPr algn="ctr" indent="0" marL="0">
              <a:buNone/>
            </a:pPr>
            <a:r>
              <a:rPr lang="en-US" sz="1400" b="1" dirty="0">
                <a:solidFill>
                  <a:srgbClr val="F4736A"/>
                </a:solidFill>
                <a:latin typeface="Calibri" pitchFamily="34" charset="0"/>
                <a:ea typeface="Calibri" pitchFamily="34" charset="-122"/>
                <a:cs typeface="Calibri" pitchFamily="34" charset="-120"/>
              </a:rPr>
              <a:t>Here's an interesting question: If someone mines gold from an asteroid, who does it belong to? This is a REAL debate happening today!</a:t>
            </a:r>
            <a:endParaRPr lang="en-US" sz="1400" dirty="0"/>
          </a:p>
        </p:txBody>
      </p:sp>
      <p:sp>
        <p:nvSpPr>
          <p:cNvPr id="7" name="Shape 5"/>
          <p:cNvSpPr/>
          <p:nvPr/>
        </p:nvSpPr>
        <p:spPr>
          <a:xfrm>
            <a:off x="365760" y="1993392"/>
            <a:ext cx="5394960" cy="4114800"/>
          </a:xfrm>
          <a:prstGeom prst="roundRect">
            <a:avLst>
              <a:gd name="adj" fmla="val 1778"/>
            </a:avLst>
          </a:prstGeom>
          <a:solidFill>
            <a:srgbClr val="1E2F45"/>
          </a:solidFill>
          <a:ln w="12700">
            <a:solidFill>
              <a:srgbClr val="4CC9F0"/>
            </a:solidFill>
            <a:prstDash val="solid"/>
          </a:ln>
        </p:spPr>
      </p:sp>
      <p:sp>
        <p:nvSpPr>
          <p:cNvPr id="8" name="Text 6"/>
          <p:cNvSpPr/>
          <p:nvPr/>
        </p:nvSpPr>
        <p:spPr>
          <a:xfrm>
            <a:off x="548640" y="2066544"/>
            <a:ext cx="512064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The Outer Space Treaty (1967):</a:t>
            </a:r>
            <a:endParaRPr lang="en-US" sz="1300" dirty="0"/>
          </a:p>
        </p:txBody>
      </p:sp>
      <p:sp>
        <p:nvSpPr>
          <p:cNvPr id="9" name="Text 7"/>
          <p:cNvSpPr/>
          <p:nvPr/>
        </p:nvSpPr>
        <p:spPr>
          <a:xfrm>
            <a:off x="548640" y="2487168"/>
            <a:ext cx="5120640" cy="13716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Most countries in the world agreed: no single country can 'own' a planet, the Moon, or any other space object.</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Space belongs to ALL of humanity — not just one nation.</a:t>
            </a:r>
            <a:endParaRPr lang="en-US" sz="1200" dirty="0"/>
          </a:p>
        </p:txBody>
      </p:sp>
      <p:sp>
        <p:nvSpPr>
          <p:cNvPr id="10" name="Shape 8"/>
          <p:cNvSpPr/>
          <p:nvPr/>
        </p:nvSpPr>
        <p:spPr>
          <a:xfrm>
            <a:off x="548640" y="3913632"/>
            <a:ext cx="5120640" cy="2084832"/>
          </a:xfrm>
          <a:prstGeom prst="roundRect">
            <a:avLst>
              <a:gd name="adj" fmla="val 3509"/>
            </a:avLst>
          </a:prstGeom>
          <a:solidFill>
            <a:srgbClr val="0A1520"/>
          </a:solidFill>
          <a:ln w="19050">
            <a:solidFill>
              <a:srgbClr val="4CC9F0"/>
            </a:solidFill>
            <a:prstDash val="dash"/>
          </a:ln>
        </p:spPr>
      </p:sp>
      <p:sp>
        <p:nvSpPr>
          <p:cNvPr id="11" name="Text 9"/>
          <p:cNvSpPr/>
          <p:nvPr/>
        </p:nvSpPr>
        <p:spPr>
          <a:xfrm>
            <a:off x="640080" y="4023360"/>
            <a:ext cx="49377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640080" y="4462272"/>
            <a:ext cx="49377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3" name="Text 11"/>
          <p:cNvSpPr/>
          <p:nvPr/>
        </p:nvSpPr>
        <p:spPr>
          <a:xfrm>
            <a:off x="658368" y="4754880"/>
            <a:ext cx="4901184" cy="103327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"United Nations Outer Space Treaty signing 1967 international space law diplomacy"</a:t>
            </a:r>
            <a:endParaRPr lang="en-US" sz="950" dirty="0"/>
          </a:p>
        </p:txBody>
      </p:sp>
      <p:sp>
        <p:nvSpPr>
          <p:cNvPr id="14" name="Shape 12"/>
          <p:cNvSpPr/>
          <p:nvPr/>
        </p:nvSpPr>
        <p:spPr>
          <a:xfrm>
            <a:off x="5943600" y="1993392"/>
            <a:ext cx="5760720" cy="4114800"/>
          </a:xfrm>
          <a:prstGeom prst="roundRect">
            <a:avLst>
              <a:gd name="adj" fmla="val 1778"/>
            </a:avLst>
          </a:prstGeom>
          <a:solidFill>
            <a:srgbClr val="1E2F45"/>
          </a:solidFill>
          <a:ln w="12700">
            <a:solidFill>
              <a:srgbClr val="FFB703"/>
            </a:solidFill>
            <a:prstDash val="solid"/>
          </a:ln>
        </p:spPr>
      </p:sp>
      <p:sp>
        <p:nvSpPr>
          <p:cNvPr id="15" name="Text 13"/>
          <p:cNvSpPr/>
          <p:nvPr/>
        </p:nvSpPr>
        <p:spPr>
          <a:xfrm>
            <a:off x="6126480" y="2066544"/>
            <a:ext cx="548640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But What About Space RESOURCES?</a:t>
            </a:r>
            <a:endParaRPr lang="en-US" sz="1300" dirty="0"/>
          </a:p>
        </p:txBody>
      </p:sp>
      <p:sp>
        <p:nvSpPr>
          <p:cNvPr id="16" name="Text 14"/>
          <p:cNvSpPr/>
          <p:nvPr/>
        </p:nvSpPr>
        <p:spPr>
          <a:xfrm>
            <a:off x="6126480" y="2487168"/>
            <a:ext cx="5486400" cy="34930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The treaty doesn't say much about resources EXTRACTED from space.</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In 2015, the US passed a law allowing American companies to KEEP resources they mine from asteroids.</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Other countries are creating their own laws too.</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Scientists and world leaders are working to create international agreements so space resources are shared fairly — and so space doesn't become a new place for conflict.</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This is one of the most important conversations happening in science AND politics today!</a:t>
            </a:r>
            <a:endParaRPr lang="en-US" sz="12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Evidence &amp; Reasoning: Will We Find Resources?</a:t>
            </a:r>
            <a:endParaRPr lang="en-US" sz="1600" dirty="0"/>
          </a:p>
        </p:txBody>
      </p:sp>
      <p:sp>
        <p:nvSpPr>
          <p:cNvPr id="5" name="Shape 3"/>
          <p:cNvSpPr/>
          <p:nvPr/>
        </p:nvSpPr>
        <p:spPr>
          <a:xfrm>
            <a:off x="365760" y="749808"/>
            <a:ext cx="11247120" cy="1828800"/>
          </a:xfrm>
          <a:prstGeom prst="roundRect">
            <a:avLst>
              <a:gd name="adj" fmla="val 4000"/>
            </a:avLst>
          </a:prstGeom>
          <a:solidFill>
            <a:srgbClr val="162233"/>
          </a:solidFill>
          <a:ln w="12700">
            <a:solidFill>
              <a:srgbClr val="FFB703"/>
            </a:solidFill>
            <a:prstDash val="solid"/>
          </a:ln>
        </p:spPr>
      </p:sp>
      <p:sp>
        <p:nvSpPr>
          <p:cNvPr id="6" name="Text 4"/>
          <p:cNvSpPr/>
          <p:nvPr/>
        </p:nvSpPr>
        <p:spPr>
          <a:xfrm>
            <a:off x="530352" y="822960"/>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Space Scientist Discussion</a:t>
            </a:r>
            <a:endParaRPr lang="en-US" sz="1300" dirty="0"/>
          </a:p>
        </p:txBody>
      </p:sp>
      <p:sp>
        <p:nvSpPr>
          <p:cNvPr id="7" name="Text 5"/>
          <p:cNvSpPr/>
          <p:nvPr/>
        </p:nvSpPr>
        <p:spPr>
          <a:xfrm>
            <a:off x="530352" y="1188720"/>
            <a:ext cx="10917936" cy="1280160"/>
          </a:xfrm>
          <a:prstGeom prst="rect">
            <a:avLst/>
          </a:prstGeom>
          <a:noFill/>
          <a:ln/>
        </p:spPr>
        <p:txBody>
          <a:bodyPr wrap="square" rtlCol="0" anchor="t"/>
          <a:lstStyle/>
          <a:p>
            <a:pPr algn="l" indent="0" marL="0">
              <a:buNone/>
            </a:pPr>
            <a:r>
              <a:rPr lang="en-US" sz="1250" i="1" dirty="0">
                <a:solidFill>
                  <a:srgbClr val="FFFFFF"/>
                </a:solidFill>
                <a:latin typeface="Calibri" pitchFamily="34" charset="0"/>
                <a:ea typeface="Calibri" pitchFamily="34" charset="-122"/>
                <a:cs typeface="Calibri" pitchFamily="34" charset="-120"/>
              </a:rPr>
              <a:t>"Think Like a Space Scientist: In Phase 4, scientists must protect other planets' environments. But if no life lives on Mars or an asteroid, does it still matter how we treat those environments? Why or why not?"</a:t>
            </a:r>
            <a:endParaRPr lang="en-US" sz="1250" dirty="0"/>
          </a:p>
        </p:txBody>
      </p:sp>
      <p:sp>
        <p:nvSpPr>
          <p:cNvPr id="8" name="Shape 6"/>
          <p:cNvSpPr/>
          <p:nvPr/>
        </p:nvSpPr>
        <p:spPr>
          <a:xfrm>
            <a:off x="365760" y="2743200"/>
            <a:ext cx="7223760" cy="3154680"/>
          </a:xfrm>
          <a:prstGeom prst="roundRect">
            <a:avLst>
              <a:gd name="adj" fmla="val 2319"/>
            </a:avLst>
          </a:prstGeom>
          <a:solidFill>
            <a:srgbClr val="1E2F45"/>
          </a:solidFill>
          <a:ln w="12700">
            <a:solidFill>
              <a:srgbClr val="4CC9F0"/>
            </a:solidFill>
            <a:prstDash val="solid"/>
          </a:ln>
        </p:spPr>
      </p:sp>
      <p:sp>
        <p:nvSpPr>
          <p:cNvPr id="9" name="Text 7"/>
          <p:cNvSpPr/>
          <p:nvPr/>
        </p:nvSpPr>
        <p:spPr>
          <a:xfrm>
            <a:off x="548640" y="2816352"/>
            <a:ext cx="694944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Evidence You Can Use:</a:t>
            </a:r>
            <a:endParaRPr lang="en-US" sz="1300" dirty="0"/>
          </a:p>
        </p:txBody>
      </p:sp>
      <p:sp>
        <p:nvSpPr>
          <p:cNvPr id="10" name="Text 8"/>
          <p:cNvSpPr/>
          <p:nvPr/>
        </p:nvSpPr>
        <p:spPr>
          <a:xfrm>
            <a:off x="548640" y="3246120"/>
            <a:ext cx="6949440" cy="25146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FOR space resources: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Asteroid belt has more metal than all ever mined on Earth</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Mars has water ice + minerals needed for survival</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Moon has Helium-3 + water ice for rocket fuel</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NASA's Perseverance is already collecting Mars samples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Earth's critical minerals (for phones/batteries) are limited</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CHALLENGES: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Enormous cost and energy to reach space</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No guarantee of safe return</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Legal/political questions about ownership</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Years away from any commercial reality</a:t>
            </a:r>
            <a:endParaRPr lang="en-US" sz="1150" dirty="0"/>
          </a:p>
        </p:txBody>
      </p:sp>
      <p:sp>
        <p:nvSpPr>
          <p:cNvPr id="11" name="Shape 9"/>
          <p:cNvSpPr/>
          <p:nvPr/>
        </p:nvSpPr>
        <p:spPr>
          <a:xfrm>
            <a:off x="7772400" y="2743200"/>
            <a:ext cx="4389120" cy="3154680"/>
          </a:xfrm>
          <a:prstGeom prst="roundRect">
            <a:avLst>
              <a:gd name="adj" fmla="val 2319"/>
            </a:avLst>
          </a:prstGeom>
          <a:solidFill>
            <a:srgbClr val="0A0A1A"/>
          </a:solidFill>
          <a:ln w="12700">
            <a:solidFill>
              <a:srgbClr val="FFB703"/>
            </a:solidFill>
            <a:prstDash val="solid"/>
          </a:ln>
        </p:spPr>
      </p:sp>
      <p:sp>
        <p:nvSpPr>
          <p:cNvPr id="12" name="Text 10"/>
          <p:cNvSpPr/>
          <p:nvPr/>
        </p:nvSpPr>
        <p:spPr>
          <a:xfrm>
            <a:off x="7955280" y="2816352"/>
            <a:ext cx="411480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Evidence Frame:</a:t>
            </a:r>
            <a:endParaRPr lang="en-US" sz="1300" dirty="0"/>
          </a:p>
        </p:txBody>
      </p:sp>
      <p:sp>
        <p:nvSpPr>
          <p:cNvPr id="13" name="Text 11"/>
          <p:cNvSpPr/>
          <p:nvPr/>
        </p:nvSpPr>
        <p:spPr>
          <a:xfrm>
            <a:off x="7955280" y="3246120"/>
            <a:ext cx="4114800" cy="251460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"Using evidence from today's lesson, explain whether you think humans will find the resources they need beyond Earth. Make a claim and back it up with at least TWO specific pieces of evidence."</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Mission Debrief: Quick Self-Check</a:t>
            </a:r>
            <a:endParaRPr lang="en-US" sz="1600" dirty="0"/>
          </a:p>
        </p:txBody>
      </p:sp>
      <p:sp>
        <p:nvSpPr>
          <p:cNvPr id="5" name="Shape 3"/>
          <p:cNvSpPr/>
          <p:nvPr/>
        </p:nvSpPr>
        <p:spPr>
          <a:xfrm>
            <a:off x="365760" y="749808"/>
            <a:ext cx="11247120" cy="1783080"/>
          </a:xfrm>
          <a:prstGeom prst="roundRect">
            <a:avLst>
              <a:gd name="adj" fmla="val 4103"/>
            </a:avLst>
          </a:prstGeom>
          <a:solidFill>
            <a:srgbClr val="1E2F45"/>
          </a:solidFill>
          <a:ln w="12700">
            <a:solidFill>
              <a:srgbClr val="2DC653"/>
            </a:solidFill>
            <a:prstDash val="solid"/>
          </a:ln>
        </p:spPr>
      </p:sp>
      <p:sp>
        <p:nvSpPr>
          <p:cNvPr id="6" name="Text 4"/>
          <p:cNvSpPr/>
          <p:nvPr/>
        </p:nvSpPr>
        <p:spPr>
          <a:xfrm>
            <a:off x="548640" y="822960"/>
            <a:ext cx="1097280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 Why are scientists interested in resources on Mars and in the asteroid belt?</a:t>
            </a:r>
            <a:endParaRPr lang="en-US" sz="1300" dirty="0"/>
          </a:p>
        </p:txBody>
      </p:sp>
      <p:sp>
        <p:nvSpPr>
          <p:cNvPr id="7" name="Text 5"/>
          <p:cNvSpPr/>
          <p:nvPr/>
        </p:nvSpPr>
        <p:spPr>
          <a:xfrm>
            <a:off x="548640" y="1234440"/>
            <a:ext cx="10972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Space resources are easier to collect than Earth resources   B. Earth's resources may not be enough as our population and technology needs grow ✓   C. Scientists are bored and want a new adventure</a:t>
            </a:r>
            <a:endParaRPr lang="en-US" sz="1100" dirty="0"/>
          </a:p>
        </p:txBody>
      </p:sp>
      <p:sp>
        <p:nvSpPr>
          <p:cNvPr id="8" name="Text 6"/>
          <p:cNvSpPr/>
          <p:nvPr/>
        </p:nvSpPr>
        <p:spPr>
          <a:xfrm>
            <a:off x="548640" y="1664208"/>
            <a:ext cx="10972800" cy="804672"/>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Answer: B — As Earth's population grows, we need more resources — and space might hold enough for centuries!</a:t>
            </a:r>
            <a:endParaRPr lang="en-US" sz="1100" dirty="0"/>
          </a:p>
        </p:txBody>
      </p:sp>
      <p:sp>
        <p:nvSpPr>
          <p:cNvPr id="9" name="Shape 7"/>
          <p:cNvSpPr/>
          <p:nvPr/>
        </p:nvSpPr>
        <p:spPr>
          <a:xfrm>
            <a:off x="365760" y="2670048"/>
            <a:ext cx="11247120" cy="1783080"/>
          </a:xfrm>
          <a:prstGeom prst="roundRect">
            <a:avLst>
              <a:gd name="adj" fmla="val 4103"/>
            </a:avLst>
          </a:prstGeom>
          <a:solidFill>
            <a:srgbClr val="1E2F45"/>
          </a:solidFill>
          <a:ln w="12700">
            <a:solidFill>
              <a:srgbClr val="2DC653"/>
            </a:solidFill>
            <a:prstDash val="solid"/>
          </a:ln>
        </p:spPr>
      </p:sp>
      <p:sp>
        <p:nvSpPr>
          <p:cNvPr id="10" name="Text 8"/>
          <p:cNvSpPr/>
          <p:nvPr/>
        </p:nvSpPr>
        <p:spPr>
          <a:xfrm>
            <a:off x="548640" y="2743200"/>
            <a:ext cx="1097280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 Why use drones or balloons to explore Venus instead of landing on its surface?</a:t>
            </a:r>
            <a:endParaRPr lang="en-US" sz="1300" dirty="0"/>
          </a:p>
        </p:txBody>
      </p:sp>
      <p:sp>
        <p:nvSpPr>
          <p:cNvPr id="11" name="Text 9"/>
          <p:cNvSpPr/>
          <p:nvPr/>
        </p:nvSpPr>
        <p:spPr>
          <a:xfrm>
            <a:off x="548640" y="3154680"/>
            <a:ext cx="10972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Venus has no solid ground to land on   B. Venus's surface is extremely hot and hostile — reaching 465°C ✓   C. Venus is too far away for spacecraft to reach the surface</a:t>
            </a:r>
            <a:endParaRPr lang="en-US" sz="1100" dirty="0"/>
          </a:p>
        </p:txBody>
      </p:sp>
      <p:sp>
        <p:nvSpPr>
          <p:cNvPr id="12" name="Text 10"/>
          <p:cNvSpPr/>
          <p:nvPr/>
        </p:nvSpPr>
        <p:spPr>
          <a:xfrm>
            <a:off x="548640" y="3584448"/>
            <a:ext cx="10972800" cy="804672"/>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Answer: B — At 465°C, Venus's surface is hot enough to melt lead — no robot could survive down there!</a:t>
            </a:r>
            <a:endParaRPr lang="en-US" sz="1100" dirty="0"/>
          </a:p>
        </p:txBody>
      </p:sp>
      <p:sp>
        <p:nvSpPr>
          <p:cNvPr id="13" name="Shape 11"/>
          <p:cNvSpPr/>
          <p:nvPr/>
        </p:nvSpPr>
        <p:spPr>
          <a:xfrm>
            <a:off x="365760" y="4590288"/>
            <a:ext cx="11247120" cy="1783080"/>
          </a:xfrm>
          <a:prstGeom prst="roundRect">
            <a:avLst>
              <a:gd name="adj" fmla="val 4103"/>
            </a:avLst>
          </a:prstGeom>
          <a:solidFill>
            <a:srgbClr val="1E2F45"/>
          </a:solidFill>
          <a:ln w="12700">
            <a:solidFill>
              <a:srgbClr val="2DC653"/>
            </a:solidFill>
            <a:prstDash val="solid"/>
          </a:ln>
        </p:spPr>
      </p:sp>
      <p:sp>
        <p:nvSpPr>
          <p:cNvPr id="14" name="Text 12"/>
          <p:cNvSpPr/>
          <p:nvPr/>
        </p:nvSpPr>
        <p:spPr>
          <a:xfrm>
            <a:off x="548640" y="4663440"/>
            <a:ext cx="1097280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What does it mean to explore space 'responsibly'?</a:t>
            </a:r>
            <a:endParaRPr lang="en-US" sz="1300" dirty="0"/>
          </a:p>
        </p:txBody>
      </p:sp>
      <p:sp>
        <p:nvSpPr>
          <p:cNvPr id="15" name="Text 13"/>
          <p:cNvSpPr/>
          <p:nvPr/>
        </p:nvSpPr>
        <p:spPr>
          <a:xfrm>
            <a:off x="548640" y="5074920"/>
            <a:ext cx="10972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Collecting as many resources as possible before other countries get there   B. Never taking any resources from space at all   C. Using resources carefully, sharing benefits fairly, and protecting space environments ✓</a:t>
            </a:r>
            <a:endParaRPr lang="en-US" sz="1100" dirty="0"/>
          </a:p>
        </p:txBody>
      </p:sp>
      <p:sp>
        <p:nvSpPr>
          <p:cNvPr id="16" name="Text 14"/>
          <p:cNvSpPr/>
          <p:nvPr/>
        </p:nvSpPr>
        <p:spPr>
          <a:xfrm>
            <a:off x="548640" y="5504688"/>
            <a:ext cx="10972800" cy="804672"/>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Answer: C — Balancing our needs with protecting the environments of other worlds — just like we try to protect Earth's environments today!</a:t>
            </a:r>
            <a:endParaRPr lang="en-US" sz="11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Assignment: Show What You Know</a:t>
            </a:r>
            <a:endParaRPr lang="en-US" sz="1600" dirty="0"/>
          </a:p>
        </p:txBody>
      </p:sp>
      <p:sp>
        <p:nvSpPr>
          <p:cNvPr id="5" name="Shape 3"/>
          <p:cNvSpPr/>
          <p:nvPr/>
        </p:nvSpPr>
        <p:spPr>
          <a:xfrm>
            <a:off x="365760" y="749808"/>
            <a:ext cx="3566160" cy="5394960"/>
          </a:xfrm>
          <a:prstGeom prst="roundRect">
            <a:avLst>
              <a:gd name="adj" fmla="val 2051"/>
            </a:avLst>
          </a:prstGeom>
          <a:solidFill>
            <a:srgbClr val="1E2F45"/>
          </a:solidFill>
          <a:ln w="12700">
            <a:solidFill>
              <a:srgbClr val="F4736A"/>
            </a:solidFill>
            <a:prstDash val="solid"/>
          </a:ln>
        </p:spPr>
      </p:sp>
      <p:sp>
        <p:nvSpPr>
          <p:cNvPr id="6" name="Text 4"/>
          <p:cNvSpPr/>
          <p:nvPr/>
        </p:nvSpPr>
        <p:spPr>
          <a:xfrm>
            <a:off x="502920" y="822960"/>
            <a:ext cx="3291840" cy="685800"/>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Part A</a:t>
            </a:r>
            <a:endParaRPr lang="en-US" sz="1300" dirty="0"/>
          </a:p>
          <a:p>
            <a:pPr indent="0" marL="0">
              <a:buNone/>
            </a:pPr>
            <a:r>
              <a:rPr lang="en-US" sz="1300" b="1" dirty="0">
                <a:solidFill>
                  <a:srgbClr val="F4736A"/>
                </a:solidFill>
                <a:latin typeface="Calibri" pitchFamily="34" charset="0"/>
                <a:ea typeface="Calibri" pitchFamily="34" charset="-122"/>
                <a:cs typeface="Calibri" pitchFamily="34" charset="-120"/>
              </a:rPr>
              <a:t>Exploration Targets</a:t>
            </a:r>
            <a:endParaRPr lang="en-US" sz="1300" dirty="0"/>
          </a:p>
        </p:txBody>
      </p:sp>
      <p:sp>
        <p:nvSpPr>
          <p:cNvPr id="7" name="Text 5"/>
          <p:cNvSpPr/>
          <p:nvPr/>
        </p:nvSpPr>
        <p:spPr>
          <a:xfrm>
            <a:off x="502920" y="1554480"/>
            <a:ext cx="3291840" cy="4297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Word Bank: Mars, Venus, Asteroid Belt, Rover, Atmosphere, Mining</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Region between Mars &amp; Jupiter filled with metal-rich rocky objects: ___</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Robotic vehicle that explores another planet's surface: ___</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Red Planet that may hold minerals, metals &amp; water ice: ___</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Thick layer of gases around Venus that drones float through: ___</a:t>
            </a:r>
            <a:endParaRPr lang="en-US" sz="1100" dirty="0"/>
          </a:p>
        </p:txBody>
      </p:sp>
      <p:sp>
        <p:nvSpPr>
          <p:cNvPr id="8" name="Shape 6"/>
          <p:cNvSpPr/>
          <p:nvPr/>
        </p:nvSpPr>
        <p:spPr>
          <a:xfrm>
            <a:off x="4069080" y="749808"/>
            <a:ext cx="3840480" cy="5394960"/>
          </a:xfrm>
          <a:prstGeom prst="roundRect">
            <a:avLst>
              <a:gd name="adj" fmla="val 1905"/>
            </a:avLst>
          </a:prstGeom>
          <a:solidFill>
            <a:srgbClr val="1E2F45"/>
          </a:solidFill>
          <a:ln w="12700">
            <a:solidFill>
              <a:srgbClr val="2DC653"/>
            </a:solidFill>
            <a:prstDash val="solid"/>
          </a:ln>
        </p:spPr>
      </p:sp>
      <p:sp>
        <p:nvSpPr>
          <p:cNvPr id="9" name="Text 7"/>
          <p:cNvSpPr/>
          <p:nvPr/>
        </p:nvSpPr>
        <p:spPr>
          <a:xfrm>
            <a:off x="4206240" y="822960"/>
            <a:ext cx="3566160" cy="68580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Part B</a:t>
            </a:r>
            <a:endParaRPr lang="en-US" sz="1300" dirty="0"/>
          </a:p>
          <a:p>
            <a:pPr indent="0" marL="0">
              <a:buNone/>
            </a:pPr>
            <a:r>
              <a:rPr lang="en-US" sz="1300" b="1" dirty="0">
                <a:solidFill>
                  <a:srgbClr val="2DC653"/>
                </a:solidFill>
                <a:latin typeface="Calibri" pitchFamily="34" charset="0"/>
                <a:ea typeface="Calibri" pitchFamily="34" charset="-122"/>
                <a:cs typeface="Calibri" pitchFamily="34" charset="-120"/>
              </a:rPr>
              <a:t>Short Answer</a:t>
            </a:r>
            <a:endParaRPr lang="en-US" sz="1300" dirty="0"/>
          </a:p>
        </p:txBody>
      </p:sp>
      <p:sp>
        <p:nvSpPr>
          <p:cNvPr id="10" name="Text 8"/>
          <p:cNvSpPr/>
          <p:nvPr/>
        </p:nvSpPr>
        <p:spPr>
          <a:xfrm>
            <a:off x="4206240" y="1554480"/>
            <a:ext cx="3566160" cy="4297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Complete sentences + vocab!</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5. Why are scientists interested in resources on Mars or in the asteroid belt? Connect to Earth resources.</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6. Why can't scientists land on Venus's surface? What do they do instead?</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7. Explain 'responsible exploration' using 2+ vocabulary words from today.</a:t>
            </a:r>
            <a:endParaRPr lang="en-US" sz="1100" dirty="0"/>
          </a:p>
        </p:txBody>
      </p:sp>
      <p:sp>
        <p:nvSpPr>
          <p:cNvPr id="11" name="Shape 9"/>
          <p:cNvSpPr/>
          <p:nvPr/>
        </p:nvSpPr>
        <p:spPr>
          <a:xfrm>
            <a:off x="8046720" y="749808"/>
            <a:ext cx="3931920" cy="5394960"/>
          </a:xfrm>
          <a:prstGeom prst="roundRect">
            <a:avLst>
              <a:gd name="adj" fmla="val 1860"/>
            </a:avLst>
          </a:prstGeom>
          <a:solidFill>
            <a:srgbClr val="1E2F45"/>
          </a:solidFill>
          <a:ln w="12700">
            <a:solidFill>
              <a:srgbClr val="4CC9F0"/>
            </a:solidFill>
            <a:prstDash val="solid"/>
          </a:ln>
        </p:spPr>
      </p:sp>
      <p:sp>
        <p:nvSpPr>
          <p:cNvPr id="12" name="Text 10"/>
          <p:cNvSpPr/>
          <p:nvPr/>
        </p:nvSpPr>
        <p:spPr>
          <a:xfrm>
            <a:off x="8183880" y="822960"/>
            <a:ext cx="3657600" cy="68580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Part C</a:t>
            </a:r>
            <a:endParaRPr lang="en-US" sz="1300" dirty="0"/>
          </a:p>
          <a:p>
            <a:pPr indent="0" marL="0">
              <a:buNone/>
            </a:pPr>
            <a:r>
              <a:rPr lang="en-US" sz="1300" b="1" dirty="0">
                <a:solidFill>
                  <a:srgbClr val="4CC9F0"/>
                </a:solidFill>
                <a:latin typeface="Calibri" pitchFamily="34" charset="0"/>
                <a:ea typeface="Calibri" pitchFamily="34" charset="-122"/>
                <a:cs typeface="Calibri" pitchFamily="34" charset="-120"/>
              </a:rPr>
              <a:t>Dream Mission Design</a:t>
            </a:r>
            <a:endParaRPr lang="en-US" sz="1300" dirty="0"/>
          </a:p>
        </p:txBody>
      </p:sp>
      <p:sp>
        <p:nvSpPr>
          <p:cNvPr id="13" name="Text 11"/>
          <p:cNvSpPr/>
          <p:nvPr/>
        </p:nvSpPr>
        <p:spPr>
          <a:xfrm>
            <a:off x="8183880" y="1554480"/>
            <a:ext cx="3657600" cy="4297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Design your own space resource mission!</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Draw a diagram showing:</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Where you're going</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What resource you're collecting</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What tool you'd use (rover, drone, mining robot)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Label 4+ parts using vocabulary!</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Personal Reflection: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'Would you volunteer to be one of the first humans to travel to Mars on a resource mission? You'd be gone for years. Write 2-3 sentences — why or why not?'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CER: Make a claim about space resources and support with 2 evidence pieces.</a:t>
            </a:r>
            <a:endParaRPr lang="en-US" sz="11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might future space exploration help us find the resources we need — and what challenges do we face in using these resources responsibly?"</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 All four exploration targets filled in using the word bank.</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 Questions 5, 6 &amp; 7 in complete sentences with vocabulary words.</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 Dream mission diagram with 4+ labeled vocabulary words + colors.</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Essential Question Response — 2-3 sentences using 3+ vocabulary words.</a:t>
            </a:r>
            <a:endParaRPr lang="en-US" sz="1100" dirty="0"/>
          </a:p>
        </p:txBody>
      </p:sp>
      <p:sp>
        <p:nvSpPr>
          <p:cNvPr id="14" name="Text 12"/>
          <p:cNvSpPr/>
          <p:nvPr/>
        </p:nvSpPr>
        <p:spPr>
          <a:xfrm>
            <a:off x="548640" y="4133088"/>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Personal Reflection — 2-3 sentences on the Mars mission question.</a:t>
            </a:r>
            <a:endParaRPr lang="en-US" sz="1100" dirty="0"/>
          </a:p>
        </p:txBody>
      </p:sp>
      <p:sp>
        <p:nvSpPr>
          <p:cNvPr id="15" name="Text 13"/>
          <p:cNvSpPr/>
          <p:nvPr/>
        </p:nvSpPr>
        <p:spPr>
          <a:xfrm>
            <a:off x="548640" y="448056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CER Response — Claim about space resources + 2 specific evidence pieces.</a:t>
            </a:r>
            <a:endParaRPr lang="en-US" sz="1100" dirty="0"/>
          </a:p>
        </p:txBody>
      </p:sp>
      <p:sp>
        <p:nvSpPr>
          <p:cNvPr id="16" name="Shape 14"/>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7" name="Text 15"/>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8" name="Text 16"/>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Unit Review</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Q1 Earth Science</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Congratulations! You've completed Unit 1 — from minerals and rocks to the resources beneath our feet and beyond Earth itself!</a:t>
            </a:r>
            <a:endParaRPr lang="en-US" sz="1200" dirty="0"/>
          </a:p>
        </p:txBody>
      </p:sp>
      <p:sp>
        <p:nvSpPr>
          <p:cNvPr id="19" name="Shape 17"/>
          <p:cNvSpPr/>
          <p:nvPr/>
        </p:nvSpPr>
        <p:spPr>
          <a:xfrm>
            <a:off x="0" y="5047488"/>
            <a:ext cx="12192000" cy="45720"/>
          </a:xfrm>
          <a:prstGeom prst="rect">
            <a:avLst/>
          </a:prstGeom>
          <a:solidFill>
            <a:srgbClr val="4CC9F0"/>
          </a:solidFill>
          <a:ln/>
        </p:spPr>
      </p:sp>
      <p:sp>
        <p:nvSpPr>
          <p:cNvPr id="20" name="Text 18"/>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8.02  ·  Future Explorations: Seeking Resources Beyond Earth</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2026-07-13T19:54:29Z</dcterms:created>
  <dcterms:modified xsi:type="dcterms:W3CDTF">2026-07-13T19:54:29Z</dcterms:modified>
</cp:coreProperties>
</file>