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arc: seawall vs. mangrove restoration phenomenon → engineering design process → CER Stage 2 with criteria/constraints framing.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Cold call 3-4 students. Don't reveal the answer yet. Record predictions.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row. Ask: which solution better meets our criteria? Which has better tradeoffs?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work in pairs. Encourage productive disagreement — it's okay if different pairs choose different solutions, as long as they can justify with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Exit: In one sentence, explain why engineers must consider BOTH criteria AND constraints.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8503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Building for Safety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208483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engineering solutions reduce the impact of natural hazards?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487168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3-5-ETS1-1 | 3-5-ETS1-2 | 4-ESS3-2 — Engineering design to reduce hazard impacts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235440" y="411480"/>
            <a:ext cx="2651760" cy="2651760"/>
          </a:xfrm>
          <a:prstGeom prst="ellipse">
            <a:avLst/>
          </a:prstGeom>
          <a:solidFill>
            <a:srgbClr val="162233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0" y="10058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dirty="0">
                <a:solidFill>
                  <a:srgbClr val="000000"/>
                </a:solidFill>
              </a:rPr>
              <a:t>🔬</a:t>
            </a:r>
            <a:endParaRPr lang="en-US" sz="680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7406640" cy="1645920"/>
          </a:xfrm>
          <a:prstGeom prst="roundRect">
            <a:avLst>
              <a:gd name="adj" fmla="val 4444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182112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Learning Goals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529584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explain how engineers identify criteria and constraints before designing solutions.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867912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compare two engineering solutions for reducing a natural hazard's impact.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206240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write a claim + evidence about which solution best meets the criteria.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956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need: Science notebook   pencil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17-02  ·  Engineering Building for Safety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Phenomenon: Two Solutions, One Problem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5303520" cy="5029200"/>
          </a:xfrm>
          <a:prstGeom prst="roundRect">
            <a:avLst>
              <a:gd name="adj" fmla="val 1455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54480"/>
            <a:ext cx="5084064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"seawall vs mangrove restoration Florida coastal protection comparison"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577900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Seawall (left) vs. mangrove restoration (right) as coastal protection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52160" y="713232"/>
            <a:ext cx="5943600" cy="5029200"/>
          </a:xfrm>
          <a:prstGeom prst="roundRect">
            <a:avLst>
              <a:gd name="adj" fmla="val 1455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77724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It: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0" y="1170432"/>
            <a:ext cx="5669280" cy="4434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seawall and the mangrove forest are being used to protect a Florida coastline from hurricane damage.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notebook: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do you notice about each solution?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do you predict each one does well?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problems might each one have?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prediction: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predict ___ works better because I notice ___"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17-02  ·  Engineering Building for Safety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Question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162233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04672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engineers decide which solution best reduces the impact of a natural hazard?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871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prediction: "I think engineers choose solutions by ___"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17-02  ·  Engineering Building for Safety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Engineering for Safety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4980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15214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taken to reduce the severity of a hazard's impact before it happens.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69080" y="74980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473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69080" y="74980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777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78808" y="115214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limitation or restriction on a design solution (cost, time, materials, etc.).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63840" y="74980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74980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777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73568" y="115214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dangerous natural event or condition that can cause harm.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30428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2DC6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30428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331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270662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 or plan that addresses a problem and meets the criteria.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69080" y="230428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0096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69080" y="230428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2331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78808" y="270662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change or improve a design based on testing and evidence.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63840" y="230428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473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230428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2331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73568" y="270662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standards or requirements a successful solution must meet.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0" name="Text 2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17-02  ·  Engineering Building for Safety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Engineering Design Process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3749040" cy="2286000"/>
          </a:xfrm>
          <a:prstGeom prst="roundRect">
            <a:avLst>
              <a:gd name="adj" fmla="val 3200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822960"/>
            <a:ext cx="457200" cy="45720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22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8412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Problem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389888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hazard are we solving for? What harm does it cause?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749808"/>
            <a:ext cx="3749040" cy="2286000"/>
          </a:xfrm>
          <a:prstGeom prst="roundRect">
            <a:avLst>
              <a:gd name="adj" fmla="val 3200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1688" y="822960"/>
            <a:ext cx="457200" cy="4572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61688" y="822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8412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&amp; CONSTRAINTS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0" y="1389888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the solution do (criteria)? What limits do we have (constraints)?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0" y="749808"/>
            <a:ext cx="3749040" cy="2286000"/>
          </a:xfrm>
          <a:prstGeom prst="roundRect">
            <a:avLst>
              <a:gd name="adj" fmla="val 3200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9328" y="822960"/>
            <a:ext cx="457200" cy="45720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328" y="822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69680" y="8412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BRAINSTORM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66760" y="1389888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solutions already exist? What evidence supports each?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218688"/>
            <a:ext cx="3749040" cy="2286000"/>
          </a:xfrm>
          <a:prstGeom prst="roundRect">
            <a:avLst>
              <a:gd name="adj" fmla="val 3200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291840"/>
            <a:ext cx="457200" cy="457200"/>
          </a:xfrm>
          <a:prstGeom prst="ellipse">
            <a:avLst/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33101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BUILD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3858768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solution. Build or plan it.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51960" y="3218688"/>
            <a:ext cx="3749040" cy="2286000"/>
          </a:xfrm>
          <a:prstGeom prst="roundRect">
            <a:avLst>
              <a:gd name="adj" fmla="val 3200"/>
            </a:avLst>
          </a:prstGeom>
          <a:solidFill>
            <a:srgbClr val="1E2F45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61688" y="3291840"/>
            <a:ext cx="457200" cy="45720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61688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92040" y="33101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EVALUATE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89120" y="3858768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meet the criteria? Does it fit the constraints?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0" y="3218688"/>
            <a:ext cx="3749040" cy="2286000"/>
          </a:xfrm>
          <a:prstGeom prst="roundRect">
            <a:avLst>
              <a:gd name="adj" fmla="val 3200"/>
            </a:avLst>
          </a:prstGeom>
          <a:solidFill>
            <a:srgbClr val="1E2F45"/>
          </a:solidFill>
          <a:ln w="12700">
            <a:solidFill>
              <a:srgbClr val="E092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39328" y="3291840"/>
            <a:ext cx="457200" cy="457200"/>
          </a:xfrm>
          <a:prstGeom prst="ellipse">
            <a:avLst/>
          </a:prstGeom>
          <a:solidFill>
            <a:srgbClr val="E09200"/>
          </a:solidFill>
          <a:ln w="12700">
            <a:solidFill>
              <a:srgbClr val="E092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39328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869680" y="33101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9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66760" y="3858768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evidence from testing to improve the design.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6" name="Text 3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17-02  ·  Engineering Building for Safety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and Constraints for Coastal Protection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394960" cy="5212080"/>
          </a:xfrm>
          <a:prstGeom prst="roundRect">
            <a:avLst>
              <a:gd name="adj" fmla="val 1404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(must do these things)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Reduce wave and storm surge damage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Protect homes and roads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Maintain or improve ecosystem health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0233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Last at least 20 years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749808"/>
            <a:ext cx="5852160" cy="5212080"/>
          </a:xfrm>
          <a:prstGeom prst="roundRect">
            <a:avLst>
              <a:gd name="adj" fmla="val 1404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8229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(limits and tradeoffs)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26480" y="155448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Budget: limited funding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2359152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Time: must be built before hurricane season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3163824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Materials: what is available locally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3968496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Space: must fit within existing shoreline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4773168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Side effects: cannot harm other ecosystems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17-02  ·  Engineering Building for Safety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Seawall vs. Mangrove Restoration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3749040" cy="475488"/>
          </a:xfrm>
          <a:prstGeom prst="roundRect">
            <a:avLst>
              <a:gd name="adj" fmla="val 15385"/>
            </a:avLst>
          </a:prstGeom>
          <a:solidFill>
            <a:srgbClr val="162233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749808"/>
            <a:ext cx="3749040" cy="475488"/>
          </a:xfrm>
          <a:prstGeom prst="roundRect">
            <a:avLst>
              <a:gd name="adj" fmla="val 15385"/>
            </a:avLst>
          </a:prstGeom>
          <a:solidFill>
            <a:srgbClr val="0096C7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43400" y="777240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SEAWALL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0" y="749808"/>
            <a:ext cx="3749040" cy="475488"/>
          </a:xfrm>
          <a:prstGeom prst="roundRect">
            <a:avLst>
              <a:gd name="adj" fmla="val 15385"/>
            </a:avLst>
          </a:prstGeom>
          <a:solidFill>
            <a:srgbClr val="1A8C3A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0" y="777240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MANGROVE RESTORATION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298448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371600"/>
            <a:ext cx="3474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51960" y="1298448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371600"/>
            <a:ext cx="3474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upfront cost, low maintenance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0" y="1298448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371600"/>
            <a:ext cx="3474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cost, grows over time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258568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331720"/>
            <a:ext cx="3474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51960" y="2258568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2331720"/>
            <a:ext cx="3474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large waves immediately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0" y="2258568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2331720"/>
            <a:ext cx="3474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wave energy by 70-90%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218688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291840"/>
            <a:ext cx="3474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impact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51960" y="3218688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3291840"/>
            <a:ext cx="3474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Disrupts marine life below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0" y="3218688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3291840"/>
            <a:ext cx="3474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habitat, improves water quality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178808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251960"/>
            <a:ext cx="3474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Lifespan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251960" y="4178808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0" y="4251960"/>
            <a:ext cx="3474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50-100 years with repair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29600" y="4178808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66760" y="4251960"/>
            <a:ext cx="3474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Self-sustaining if healthy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5138928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5212080"/>
            <a:ext cx="3474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251960" y="5138928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0" y="5212080"/>
            <a:ext cx="3474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waves, erodes nearby beaches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229600" y="5138928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66760" y="5212080"/>
            <a:ext cx="3474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Sequesters carbon, reduces erosion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42" name="Text 40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17-02  ·  Engineering Building for Safety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Investigation: Rate the Solutions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822960"/>
          </a:xfrm>
          <a:prstGeom prst="roundRect">
            <a:avLst>
              <a:gd name="adj" fmla="val 8889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155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notebook, create a Decision Matrix. Rate each solution 1-3 for each criterion.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11430000" cy="4114800"/>
          </a:xfrm>
          <a:prstGeom prst="roundRect">
            <a:avLst>
              <a:gd name="adj" fmla="val 1778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26771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560320"/>
            <a:ext cx="11210544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"engineering decision matrix template criteria constraints scoring"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587044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matrix: rows = criteria, columns = solutions, cells = scores 1-3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596188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scoring, circle which solution wins overall. Be ready to JUSTIFY with evidence.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17-02  ·  Engineering Building for Safety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Discussion: Which Solution Would YOU Recommend?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2103120"/>
          </a:xfrm>
          <a:prstGeom prst="roundRect">
            <a:avLst>
              <a:gd name="adj" fmla="val 3478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822960"/>
            <a:ext cx="11100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Prompt: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188720"/>
            <a:ext cx="111008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town of Seaside has a $500,000 budget and 6 months before hurricane season. Their beach is eroding and wildlife habitat is declining. Which solution — seawall or mangrove restoration — should they choose? Justify using criteria and constraints.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971800"/>
            <a:ext cx="11430000" cy="1280160"/>
          </a:xfrm>
          <a:prstGeom prst="roundRect">
            <a:avLst>
              <a:gd name="adj" fmla="val 5714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35808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Starters for Scientific Argumentation: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401568"/>
            <a:ext cx="11155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recommend ___ because the evidence shows it meets the criteria of ___."  "I disagree with ___ because the constraint of ___ means ___."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2" name="Text 10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17-02  ·  Engineering Building for Safety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Stage 2: Claim + Evidence — Engineering Solution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394960" cy="5349240"/>
          </a:xfrm>
          <a:prstGeom prst="roundRect">
            <a:avLst>
              <a:gd name="adj" fmla="val 1709"/>
            </a:avLst>
          </a:prstGeom>
          <a:solidFill>
            <a:srgbClr val="0A3D8F"/>
          </a:solidFill>
          <a:ln w="19050">
            <a:solidFill>
              <a:srgbClr val="1A5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49808"/>
            <a:ext cx="5394960" cy="347472"/>
          </a:xfrm>
          <a:prstGeom prst="rect">
            <a:avLst/>
          </a:prstGeom>
          <a:solidFill>
            <a:srgbClr val="1A5FBD"/>
          </a:solidFill>
          <a:ln w="12700">
            <a:solidFill>
              <a:srgbClr val="1A5F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6809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CLAIM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152144"/>
            <a:ext cx="512064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claim that [solution] is the better choice for protecting Seaside's coast because ___."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claim should directly answer the essential question.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0" y="749808"/>
            <a:ext cx="5852160" cy="5349240"/>
          </a:xfrm>
          <a:prstGeom prst="roundRect">
            <a:avLst>
              <a:gd name="adj" fmla="val 1709"/>
            </a:avLst>
          </a:prstGeom>
          <a:solidFill>
            <a:srgbClr val="145C35"/>
          </a:solidFill>
          <a:ln w="19050">
            <a:solidFill>
              <a:srgbClr val="228B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749808"/>
            <a:ext cx="5852160" cy="347472"/>
          </a:xfrm>
          <a:prstGeom prst="rect">
            <a:avLst/>
          </a:prstGeom>
          <a:solidFill>
            <a:srgbClr val="228B50"/>
          </a:solidFill>
          <a:ln w="12700">
            <a:solidFill>
              <a:srgbClr val="228B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768096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EVIDENCE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80760" y="1152144"/>
            <a:ext cx="557784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 pieces of evidence from the comparison chart: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"The data shows that mangroves/seawalls ___"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"According to the criteria, ___ because ___"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must be specific — not just 'it works better.'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17-02  ·  Engineering Building for Safety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CER: Reasoning Coming Next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3566160" cy="5349240"/>
          </a:xfrm>
          <a:prstGeom prst="roundRect">
            <a:avLst>
              <a:gd name="adj" fmla="val 2564"/>
            </a:avLst>
          </a:prstGeom>
          <a:solidFill>
            <a:srgbClr val="0A3D8F"/>
          </a:solidFill>
          <a:ln w="19050">
            <a:solidFill>
              <a:srgbClr val="1A5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49808"/>
            <a:ext cx="3566160" cy="347472"/>
          </a:xfrm>
          <a:prstGeom prst="rect">
            <a:avLst/>
          </a:prstGeom>
          <a:solidFill>
            <a:srgbClr val="1A5FBD"/>
          </a:solidFill>
          <a:ln w="12700">
            <a:solidFill>
              <a:srgbClr val="1A5F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68096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CLAIM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152144"/>
            <a:ext cx="329184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claim that ___ is the better solution because ___.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0" y="749808"/>
            <a:ext cx="3566160" cy="5349240"/>
          </a:xfrm>
          <a:prstGeom prst="roundRect">
            <a:avLst>
              <a:gd name="adj" fmla="val 2564"/>
            </a:avLst>
          </a:prstGeom>
          <a:solidFill>
            <a:srgbClr val="145C35"/>
          </a:solidFill>
          <a:ln w="19050">
            <a:solidFill>
              <a:srgbClr val="228B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749808"/>
            <a:ext cx="3566160" cy="347472"/>
          </a:xfrm>
          <a:prstGeom prst="rect">
            <a:avLst/>
          </a:prstGeom>
          <a:solidFill>
            <a:srgbClr val="228B50"/>
          </a:solidFill>
          <a:ln w="12700">
            <a:solidFill>
              <a:srgbClr val="228B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768096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EVIDENCE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1152144"/>
            <a:ext cx="329184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1: The data shows...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2: According to criteria...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63840" y="749808"/>
            <a:ext cx="3749040" cy="5349240"/>
          </a:xfrm>
          <a:prstGeom prst="roundRect">
            <a:avLst>
              <a:gd name="adj" fmla="val 2439"/>
            </a:avLst>
          </a:prstGeom>
          <a:solidFill>
            <a:srgbClr val="1A1A2A"/>
          </a:solidFill>
          <a:ln w="19050">
            <a:solidFill>
              <a:srgbClr val="3A3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841248"/>
            <a:ext cx="3566160" cy="5166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REASONING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next!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17-02  ·  Engineering Building for Safety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Understanding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269748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 constraint on an engineering solution is: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 goal the solution must meet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0" y="137160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 limit on what the solution can use or do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184708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 type of natural hazard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0" y="184708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 piece of evidence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0" y="3017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630168"/>
            <a:ext cx="11430000" cy="269748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033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Which is an example of a CRITERION for a coastal protection solution?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425196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The project costs less than $500,000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0" y="425196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Must be built in 6 months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472744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Must reduce storm surge damage to homes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0" y="472744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Must use only local materials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0" y="5897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17-02  ·  Engineering Building for Safety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Reflect + Closing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Essential Question Response — Write in your science notebook: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1097280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engineers decide which solution best reduces the impact of a natural hazard?"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2–3 sentences using vocab words from today.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7315200" cy="2560320"/>
          </a:xfrm>
          <a:prstGeom prst="roundRect">
            <a:avLst>
              <a:gd name="adj" fmla="val 2857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5915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What to Turn In: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Evidence-based prediction (notebook)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Decision matrix with scores and justification (notebook)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38144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CER Stage 2: Claim + Evidence for your recommended solution (notebook)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2304288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1A1A3A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2359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Coming Next: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01000" y="27432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18-01: Tech Tools — Microscopes and what they let us see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5047488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512064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work today, scientists! See you next time.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17-02  ·  Engineering Building for Safety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2026-07-14T00:26:52Z</dcterms:created>
  <dcterms:modified xsi:type="dcterms:W3CDTF">2026-07-14T00:26:52Z</dcterms:modified>
</cp:coreProperties>
</file>