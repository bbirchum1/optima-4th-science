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15 — Students transition from life science to Earth/Environmental science. Today introduces the renewable/nonrenewable distinction with real Florida examples. Students will need to use TWO sources of information — practice critical thinking about information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Give 2-3 minutes for individual work. Cold call 3-4 students for their traces. The reveal: 'Did you have to dig something up? Cut down a tree? Catch sunlight or wind? Everything humans use starts somewhere on Earth — and some of those starting places are running out.' That sets up today's big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predictions before revealing the definitions. Key question: the water example vs. coal example. Water: the rain cycle refills it (renewable). Coal: it took 300 million years to form — once you burn it, it's gone on any human timescale (nonrenewable). The key is TIME, not price or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The misconception about renewable = no impact is very common. Push back gently: 'What does a solar farm look like? Does it use land? What if it was built on a forest? Does that have an impact?' The point is that ALL resource use has SOME impact — the question is relative size and how to minimize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Model two-source thinking. Example: 'I want to know how much solar energy Florida produces. Source 1: a news article about a new solar farm. Source 2: the U.S. Energy Information Administration website with actual data. Which is more reliable? Which might have more detail?' The point is not that news is bad, but that two sources together are more reliable than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Walk through the chart left to right. For each resource ask: 'How long does it take to come back?' Sunlight: every day. Wind: constant. Water: days to years (rain cycle). Trees: years to decades. Oil: millions of years. That contrast is the core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resource. Key insight for water: it's technically renewable but only if we use it at the RIGHT RATE. If Florida pumps water out faster than rain refills the aquifer, water starts running short — that's why Florida has rules about how much water can be used. Good connection to the two-sources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statistics help students feel the scale. Ask: if less than 5% of Florida's electricity is solar, but we HAVE the sunshine — what do you think is holding it back? (Cost, infrastructure, politics — this is a real and nuanced question.) Don't answer it, just let students wonder.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during Step 2 — make sure students are actually naming a second source. 'The lesson' is one source. The second can be a family member, a book, a website. The point is triangulating information. Check Step 4 for the 'because' — are they giving actual evidence or just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Highlight that the evidence cites TWO sources explicitly. The reasoning acknowledges a counterargument (oil produces more energy per unit) before explaining why solar still wins overall. This is strong reasoning — it doesn't ignore the other side, it explains why the claim is still supported despite the counterpoint.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a two-sided question. Good science doesn't always have one clear answer — sometimes it's about weighing evidence. A strong CER here would acknowledge both the benefit (phosphate feeds people) and the cost (land damage, water pollution) before taking a position. Watch for students who ignore one side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Q3, ask students to explain why B is correct rather than A. The key phrase is 'much smaller impact' — that's relative, not absolute. Solar still uses materials to manufacture, uses land when deployed, but compared to burning oil, the impact is dramatically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Part B Q7 (two sources). This is the new skill introduced today. For the Evidence Argument, point out that the 'right' answer is to DISAGREE — because renewable resources still have impacts, just smaller ones. The point is nuance, not a simple good/bad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'Name ONE renewable and ONE nonrenewable Florida resource. For each, write one sentence about its environmental impact.' Quick formative check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discussion question has a fascinating answer: burning oil releases ancient SOLAR ENERGY that's been stored underground for 300 million years. Every gallon of gas is 'ancient sunlight.' This is a mind-expanding concept — and it connects fossil fuels back to the Sun as the original energy source for all life and all fuel.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Florida is ranked 3rd in solar potential in the US but only gets 12% from solar now. The gap between potential and reality is a discussion-starter. Ask: what might slow down the shift to more solar? (Cost, land, storage, political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rate concept is the key insight. Students often think renewable = unlimited. Correct this: even renewable resources can be depleted if use rate exceeds restore rate. Timber, groundwater, and fish are all technically renewable but have been depleted. Fossil fuels are nonrenewable because the restore rate is geologically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minutes for students to star or highlight 2 pieces of evidence they plan to use. Remind them: evidence must be specific and observable — a number, a comparison, or a concrete example. Vague evidence (it is bad for the environment) is not scientific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alignment: this CER targets the core distinction between renewable and nonrenewable. Strong responses will mention restore rate, give a specific statistic, and explain why the classification affects decision-making. Weak responses treat this as opinion — redirect to the scientific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Renewable and Nonrenewable Resources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How People Use Earth's Resources — and Which Ones Will Run Out</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4-ESS3-1 / SC.4.E.6.3 — Renewable vs. nonrenewable resources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Tell the difference between renewable and nonrenewable resources</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Give Florida examples of each kind of resource</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Use evidence from two sources to compare a resource's benefits and environmental costs</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Warm-Up: What's in Your Stuff?</a:t>
            </a:r>
            <a:endParaRPr lang="en-US" sz="1600" dirty="0"/>
          </a:p>
        </p:txBody>
      </p:sp>
      <p:sp>
        <p:nvSpPr>
          <p:cNvPr id="5" name="Shape 3"/>
          <p:cNvSpPr/>
          <p:nvPr/>
        </p:nvSpPr>
        <p:spPr>
          <a:xfrm>
            <a:off x="365760" y="749808"/>
            <a:ext cx="11247120" cy="1261872"/>
          </a:xfrm>
          <a:prstGeom prst="roundRect">
            <a:avLst>
              <a:gd name="adj" fmla="val 5797"/>
            </a:avLst>
          </a:prstGeom>
          <a:solidFill>
            <a:srgbClr val="1E2F45"/>
          </a:solidFill>
          <a:ln w="12700">
            <a:solidFill>
              <a:srgbClr val="FFB703"/>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Look around the room. Pick ONE thing — phone, pencil, backpack, juice box, anything.</a:t>
            </a:r>
            <a:endParaRPr lang="en-US" sz="1400" dirty="0"/>
          </a:p>
        </p:txBody>
      </p:sp>
      <p:sp>
        <p:nvSpPr>
          <p:cNvPr id="7" name="Text 5"/>
          <p:cNvSpPr/>
          <p:nvPr/>
        </p:nvSpPr>
        <p:spPr>
          <a:xfrm>
            <a:off x="548640" y="1243584"/>
            <a:ext cx="10972800" cy="65836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In your notebook: list 3 materials it's made from. Then pick ONE material and trace it back — what part of Earth did it start as?</a:t>
            </a:r>
            <a:endParaRPr lang="en-US" sz="1200" dirty="0"/>
          </a:p>
        </p:txBody>
      </p:sp>
      <p:sp>
        <p:nvSpPr>
          <p:cNvPr id="8" name="Shape 6"/>
          <p:cNvSpPr/>
          <p:nvPr/>
        </p:nvSpPr>
        <p:spPr>
          <a:xfrm>
            <a:off x="365760" y="2139696"/>
            <a:ext cx="5303520" cy="2907792"/>
          </a:xfrm>
          <a:prstGeom prst="roundRect">
            <a:avLst>
              <a:gd name="adj" fmla="val 2516"/>
            </a:avLst>
          </a:prstGeom>
          <a:solidFill>
            <a:srgbClr val="0A1520"/>
          </a:solidFill>
          <a:ln w="19050">
            <a:solidFill>
              <a:srgbClr val="4CC9F0"/>
            </a:solidFill>
            <a:prstDash val="dash"/>
          </a:ln>
        </p:spPr>
      </p:sp>
      <p:sp>
        <p:nvSpPr>
          <p:cNvPr id="9" name="Text 7"/>
          <p:cNvSpPr/>
          <p:nvPr/>
        </p:nvSpPr>
        <p:spPr>
          <a:xfrm>
            <a:off x="457200" y="2249424"/>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457200" y="2688336"/>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1" name="Text 9"/>
          <p:cNvSpPr/>
          <p:nvPr/>
        </p:nvSpPr>
        <p:spPr>
          <a:xfrm>
            <a:off x="475488" y="2980944"/>
            <a:ext cx="5084064" cy="18562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"everyday objects materials pencil plastic bottle aluminum can glass wood where do materials come from"</a:t>
            </a:r>
            <a:endParaRPr lang="en-US" sz="950" dirty="0"/>
          </a:p>
        </p:txBody>
      </p:sp>
      <p:sp>
        <p:nvSpPr>
          <p:cNvPr id="12" name="Text 10"/>
          <p:cNvSpPr/>
          <p:nvPr/>
        </p:nvSpPr>
        <p:spPr>
          <a:xfrm>
            <a:off x="365760" y="5084064"/>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Everyday objects — what are they really made from?</a:t>
            </a:r>
            <a:endParaRPr lang="en-US" sz="900" dirty="0"/>
          </a:p>
        </p:txBody>
      </p:sp>
      <p:sp>
        <p:nvSpPr>
          <p:cNvPr id="13" name="Shape 11"/>
          <p:cNvSpPr/>
          <p:nvPr/>
        </p:nvSpPr>
        <p:spPr>
          <a:xfrm>
            <a:off x="5852160" y="2139696"/>
            <a:ext cx="5760720" cy="2907792"/>
          </a:xfrm>
          <a:prstGeom prst="roundRect">
            <a:avLst>
              <a:gd name="adj" fmla="val 2516"/>
            </a:avLst>
          </a:prstGeom>
          <a:solidFill>
            <a:srgbClr val="162233"/>
          </a:solidFill>
          <a:ln w="12700">
            <a:solidFill>
              <a:srgbClr val="4CC9F0"/>
            </a:solidFill>
            <a:prstDash val="solid"/>
          </a:ln>
        </p:spPr>
      </p:sp>
      <p:sp>
        <p:nvSpPr>
          <p:cNvPr id="14" name="Text 12"/>
          <p:cNvSpPr/>
          <p:nvPr/>
        </p:nvSpPr>
        <p:spPr>
          <a:xfrm>
            <a:off x="6035040" y="2212848"/>
            <a:ext cx="539496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Example Trace:</a:t>
            </a:r>
            <a:endParaRPr lang="en-US" sz="1300" dirty="0"/>
          </a:p>
        </p:txBody>
      </p:sp>
      <p:sp>
        <p:nvSpPr>
          <p:cNvPr id="15" name="Text 13"/>
          <p:cNvSpPr/>
          <p:nvPr/>
        </p:nvSpPr>
        <p:spPr>
          <a:xfrm>
            <a:off x="6035040" y="2578608"/>
            <a:ext cx="5394960" cy="230428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Pencil → wood → tree → forest 🌲</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Aluminum can → aluminum metal → mined from earth ⛏️</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Plastic bottle → plastic → oil → drilled from underground 🛢️</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Glass window → glass → silica sand → dug from earth 🏖️</a:t>
            </a:r>
            <a:endParaRPr lang="en-US" sz="1200" dirty="0"/>
          </a:p>
        </p:txBody>
      </p:sp>
      <p:sp>
        <p:nvSpPr>
          <p:cNvPr id="16" name="Shape 14"/>
          <p:cNvSpPr/>
          <p:nvPr/>
        </p:nvSpPr>
        <p:spPr>
          <a:xfrm>
            <a:off x="365760" y="5175504"/>
            <a:ext cx="11247120" cy="347472"/>
          </a:xfrm>
          <a:prstGeom prst="roundRect">
            <a:avLst>
              <a:gd name="adj" fmla="val 23684"/>
            </a:avLst>
          </a:prstGeom>
          <a:solidFill>
            <a:srgbClr val="E09200"/>
          </a:solidFill>
          <a:ln w="19050">
            <a:solidFill>
              <a:srgbClr val="FFB703"/>
            </a:solidFill>
            <a:prstDash val="solid"/>
          </a:ln>
        </p:spPr>
      </p:sp>
      <p:sp>
        <p:nvSpPr>
          <p:cNvPr id="17" name="Text 15"/>
          <p:cNvSpPr/>
          <p:nvPr/>
        </p:nvSpPr>
        <p:spPr>
          <a:xfrm>
            <a:off x="365760" y="5175504"/>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Evidence-Based Prediction</a:t>
            </a:r>
            <a:endParaRPr lang="en-US" sz="1600" dirty="0"/>
          </a:p>
        </p:txBody>
      </p:sp>
      <p:sp>
        <p:nvSpPr>
          <p:cNvPr id="5" name="Shape 3"/>
          <p:cNvSpPr/>
          <p:nvPr/>
        </p:nvSpPr>
        <p:spPr>
          <a:xfrm>
            <a:off x="365760" y="749808"/>
            <a:ext cx="11247120" cy="658368"/>
          </a:xfrm>
          <a:prstGeom prst="roundRect">
            <a:avLst>
              <a:gd name="adj" fmla="val 11111"/>
            </a:avLst>
          </a:prstGeom>
          <a:solidFill>
            <a:srgbClr val="162233"/>
          </a:solidFill>
          <a:ln w="12700">
            <a:solidFill>
              <a:srgbClr val="4CC9F0"/>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Before we split resources into two groups — make a prediction.</a:t>
            </a:r>
            <a:endParaRPr lang="en-US" sz="1400" dirty="0"/>
          </a:p>
        </p:txBody>
      </p:sp>
      <p:sp>
        <p:nvSpPr>
          <p:cNvPr id="7" name="Shape 5"/>
          <p:cNvSpPr/>
          <p:nvPr/>
        </p:nvSpPr>
        <p:spPr>
          <a:xfrm>
            <a:off x="365760" y="1536192"/>
            <a:ext cx="11247120" cy="1115568"/>
          </a:xfrm>
          <a:prstGeom prst="roundRect">
            <a:avLst>
              <a:gd name="adj" fmla="val 6557"/>
            </a:avLst>
          </a:prstGeom>
          <a:solidFill>
            <a:srgbClr val="1E2F45"/>
          </a:solidFill>
          <a:ln w="12700">
            <a:solidFill>
              <a:srgbClr val="FFB703"/>
            </a:solidFill>
            <a:prstDash val="solid"/>
          </a:ln>
        </p:spPr>
      </p:sp>
      <p:sp>
        <p:nvSpPr>
          <p:cNvPr id="8" name="Text 6"/>
          <p:cNvSpPr/>
          <p:nvPr/>
        </p:nvSpPr>
        <p:spPr>
          <a:xfrm>
            <a:off x="548640" y="1609344"/>
            <a:ext cx="1097280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Write in your notebook:</a:t>
            </a:r>
            <a:endParaRPr lang="en-US" sz="1200" dirty="0"/>
          </a:p>
        </p:txBody>
      </p:sp>
      <p:sp>
        <p:nvSpPr>
          <p:cNvPr id="9" name="Text 7"/>
          <p:cNvSpPr/>
          <p:nvPr/>
        </p:nvSpPr>
        <p:spPr>
          <a:xfrm>
            <a:off x="548640" y="1956816"/>
            <a:ext cx="10972800" cy="585216"/>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"I predict sunlight is ___ (renewable/nonrenewable) because ___. I predict oil is ___ because ___."</a:t>
            </a:r>
            <a:endParaRPr lang="en-US" sz="1400" dirty="0"/>
          </a:p>
        </p:txBody>
      </p:sp>
      <p:sp>
        <p:nvSpPr>
          <p:cNvPr id="10" name="Shape 8"/>
          <p:cNvSpPr/>
          <p:nvPr/>
        </p:nvSpPr>
        <p:spPr>
          <a:xfrm>
            <a:off x="365760" y="2779776"/>
            <a:ext cx="11247120" cy="1298448"/>
          </a:xfrm>
          <a:prstGeom prst="roundRect">
            <a:avLst>
              <a:gd name="adj" fmla="val 5634"/>
            </a:avLst>
          </a:prstGeom>
          <a:solidFill>
            <a:srgbClr val="0A1520"/>
          </a:solidFill>
          <a:ln w="12700">
            <a:solidFill>
              <a:srgbClr val="4CC9F0"/>
            </a:solidFill>
            <a:prstDash val="solid"/>
          </a:ln>
        </p:spPr>
      </p:sp>
      <p:sp>
        <p:nvSpPr>
          <p:cNvPr id="11" name="Text 9"/>
          <p:cNvSpPr/>
          <p:nvPr/>
        </p:nvSpPr>
        <p:spPr>
          <a:xfrm>
            <a:off x="548640" y="2852928"/>
            <a:ext cx="1097280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The Big Question:</a:t>
            </a:r>
            <a:endParaRPr lang="en-US" sz="1200" dirty="0"/>
          </a:p>
        </p:txBody>
      </p:sp>
      <p:sp>
        <p:nvSpPr>
          <p:cNvPr id="12" name="Text 10"/>
          <p:cNvSpPr/>
          <p:nvPr/>
        </p:nvSpPr>
        <p:spPr>
          <a:xfrm>
            <a:off x="548640" y="3218688"/>
            <a:ext cx="10972800" cy="749808"/>
          </a:xfrm>
          <a:prstGeom prst="rect">
            <a:avLst/>
          </a:prstGeom>
          <a:noFill/>
          <a:ln/>
        </p:spPr>
        <p:txBody>
          <a:bodyPr wrap="square" rtlCol="0" anchor="ctr"/>
          <a:lstStyle/>
          <a:p>
            <a:pPr indent="0" marL="0">
              <a:buNone/>
            </a:pPr>
            <a:r>
              <a:rPr lang="en-US" sz="1300" i="1" dirty="0">
                <a:solidFill>
                  <a:srgbClr val="B0C4D8"/>
                </a:solidFill>
                <a:latin typeface="Calibri" pitchFamily="34" charset="0"/>
                <a:ea typeface="Calibri" pitchFamily="34" charset="-122"/>
                <a:cs typeface="Calibri" pitchFamily="34" charset="-120"/>
              </a:rPr>
              <a:t>You drink a glass of water. Tomorrow, can you drink another one? You burn a chunk of coal. Tomorrow, is there a new chunk of coal in its place? What's the difference?</a:t>
            </a:r>
            <a:endParaRPr lang="en-US" sz="1300" dirty="0"/>
          </a:p>
        </p:txBody>
      </p:sp>
      <p:sp>
        <p:nvSpPr>
          <p:cNvPr id="13" name="Shape 11"/>
          <p:cNvSpPr/>
          <p:nvPr/>
        </p:nvSpPr>
        <p:spPr>
          <a:xfrm>
            <a:off x="365760" y="4206240"/>
            <a:ext cx="5394960" cy="1389888"/>
          </a:xfrm>
          <a:prstGeom prst="roundRect">
            <a:avLst>
              <a:gd name="adj" fmla="val 5263"/>
            </a:avLst>
          </a:prstGeom>
          <a:solidFill>
            <a:srgbClr val="1E2F45"/>
          </a:solidFill>
          <a:ln w="12700">
            <a:solidFill>
              <a:srgbClr val="2DC653"/>
            </a:solidFill>
            <a:prstDash val="solid"/>
          </a:ln>
        </p:spPr>
      </p:sp>
      <p:sp>
        <p:nvSpPr>
          <p:cNvPr id="14" name="Text 12"/>
          <p:cNvSpPr/>
          <p:nvPr/>
        </p:nvSpPr>
        <p:spPr>
          <a:xfrm>
            <a:off x="548640" y="4279392"/>
            <a:ext cx="5029200" cy="329184"/>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Renewable = comes back</a:t>
            </a:r>
            <a:endParaRPr lang="en-US" sz="1300" dirty="0"/>
          </a:p>
        </p:txBody>
      </p:sp>
      <p:sp>
        <p:nvSpPr>
          <p:cNvPr id="15" name="Text 13"/>
          <p:cNvSpPr/>
          <p:nvPr/>
        </p:nvSpPr>
        <p:spPr>
          <a:xfrm>
            <a:off x="548640" y="4645152"/>
            <a:ext cx="5029200" cy="8046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Fast enough that people can keep using it</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Sunlight, wind, water, trees</a:t>
            </a:r>
            <a:endParaRPr lang="en-US" sz="1200" dirty="0"/>
          </a:p>
        </p:txBody>
      </p:sp>
      <p:sp>
        <p:nvSpPr>
          <p:cNvPr id="16" name="Shape 14"/>
          <p:cNvSpPr/>
          <p:nvPr/>
        </p:nvSpPr>
        <p:spPr>
          <a:xfrm>
            <a:off x="6035040" y="4206240"/>
            <a:ext cx="5394960" cy="1389888"/>
          </a:xfrm>
          <a:prstGeom prst="roundRect">
            <a:avLst>
              <a:gd name="adj" fmla="val 5263"/>
            </a:avLst>
          </a:prstGeom>
          <a:solidFill>
            <a:srgbClr val="1E2F45"/>
          </a:solidFill>
          <a:ln w="12700">
            <a:solidFill>
              <a:srgbClr val="FFB703"/>
            </a:solidFill>
            <a:prstDash val="solid"/>
          </a:ln>
        </p:spPr>
      </p:sp>
      <p:sp>
        <p:nvSpPr>
          <p:cNvPr id="17" name="Text 15"/>
          <p:cNvSpPr/>
          <p:nvPr/>
        </p:nvSpPr>
        <p:spPr>
          <a:xfrm>
            <a:off x="6217920" y="4279392"/>
            <a:ext cx="502920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Nonrenewable = runs out</a:t>
            </a:r>
            <a:endParaRPr lang="en-US" sz="1300" dirty="0"/>
          </a:p>
        </p:txBody>
      </p:sp>
      <p:sp>
        <p:nvSpPr>
          <p:cNvPr id="18" name="Text 16"/>
          <p:cNvSpPr/>
          <p:nvPr/>
        </p:nvSpPr>
        <p:spPr>
          <a:xfrm>
            <a:off x="6217920" y="4645152"/>
            <a:ext cx="5029200" cy="804672"/>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Takes millions of years to form — essentially gone when used</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Oil, coal, limestone, phosphate</a:t>
            </a:r>
            <a:endParaRPr lang="en-US" sz="12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1 of 2</a:t>
            </a:r>
            <a:endParaRPr lang="en-US" sz="1600" dirty="0"/>
          </a:p>
        </p:txBody>
      </p:sp>
      <p:sp>
        <p:nvSpPr>
          <p:cNvPr id="5" name="Shape 3"/>
          <p:cNvSpPr/>
          <p:nvPr/>
        </p:nvSpPr>
        <p:spPr>
          <a:xfrm>
            <a:off x="365760" y="804672"/>
            <a:ext cx="35661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804672"/>
            <a:ext cx="35661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Resource</a:t>
            </a:r>
            <a:endParaRPr lang="en-US" sz="1200" dirty="0"/>
          </a:p>
        </p:txBody>
      </p:sp>
      <p:sp>
        <p:nvSpPr>
          <p:cNvPr id="8" name="Text 6"/>
          <p:cNvSpPr/>
          <p:nvPr/>
        </p:nvSpPr>
        <p:spPr>
          <a:xfrm>
            <a:off x="47548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Something from Earth that people use — like water, sunlight, wood, oil, metal, or stone.</a:t>
            </a:r>
            <a:endParaRPr lang="en-US" sz="1050" dirty="0"/>
          </a:p>
        </p:txBody>
      </p:sp>
      <p:sp>
        <p:nvSpPr>
          <p:cNvPr id="9" name="Shape 7"/>
          <p:cNvSpPr/>
          <p:nvPr/>
        </p:nvSpPr>
        <p:spPr>
          <a:xfrm>
            <a:off x="4114800" y="804672"/>
            <a:ext cx="356616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4114800" y="804672"/>
            <a:ext cx="356616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420624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Renewable</a:t>
            </a:r>
            <a:endParaRPr lang="en-US" sz="1200" dirty="0"/>
          </a:p>
        </p:txBody>
      </p:sp>
      <p:sp>
        <p:nvSpPr>
          <p:cNvPr id="12" name="Text 10"/>
          <p:cNvSpPr/>
          <p:nvPr/>
        </p:nvSpPr>
        <p:spPr>
          <a:xfrm>
            <a:off x="422452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resource that comes back quickly, again and again — like sunlight, wind, fresh water, and growing trees.</a:t>
            </a:r>
            <a:endParaRPr lang="en-US" sz="1050" dirty="0"/>
          </a:p>
        </p:txBody>
      </p:sp>
      <p:sp>
        <p:nvSpPr>
          <p:cNvPr id="13" name="Shape 11"/>
          <p:cNvSpPr/>
          <p:nvPr/>
        </p:nvSpPr>
        <p:spPr>
          <a:xfrm>
            <a:off x="7863840" y="804672"/>
            <a:ext cx="356616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7863840" y="804672"/>
            <a:ext cx="356616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795528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Nonrenewable</a:t>
            </a:r>
            <a:endParaRPr lang="en-US" sz="1200" dirty="0"/>
          </a:p>
        </p:txBody>
      </p:sp>
      <p:sp>
        <p:nvSpPr>
          <p:cNvPr id="16" name="Text 14"/>
          <p:cNvSpPr/>
          <p:nvPr/>
        </p:nvSpPr>
        <p:spPr>
          <a:xfrm>
            <a:off x="797356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resource that takes millions of years to form, so once we use it up, it's essentially gone — like oil, natural gas, and coal.</a:t>
            </a:r>
            <a:endParaRPr lang="en-US" sz="1050" dirty="0"/>
          </a:p>
        </p:txBody>
      </p:sp>
      <p:sp>
        <p:nvSpPr>
          <p:cNvPr id="17" name="Shape 15"/>
          <p:cNvSpPr/>
          <p:nvPr/>
        </p:nvSpPr>
        <p:spPr>
          <a:xfrm>
            <a:off x="365760" y="2304288"/>
            <a:ext cx="3566160" cy="1325880"/>
          </a:xfrm>
          <a:prstGeom prst="roundRect">
            <a:avLst>
              <a:gd name="adj" fmla="val 6897"/>
            </a:avLst>
          </a:prstGeom>
          <a:solidFill>
            <a:srgbClr val="1E2F45"/>
          </a:solidFill>
          <a:ln w="25400">
            <a:solidFill>
              <a:srgbClr val="F4736A"/>
            </a:solidFill>
            <a:prstDash val="solid"/>
          </a:ln>
        </p:spPr>
      </p:sp>
      <p:sp>
        <p:nvSpPr>
          <p:cNvPr id="18" name="Shape 16"/>
          <p:cNvSpPr/>
          <p:nvPr/>
        </p:nvSpPr>
        <p:spPr>
          <a:xfrm>
            <a:off x="365760" y="2304288"/>
            <a:ext cx="3566160" cy="347472"/>
          </a:xfrm>
          <a:prstGeom prst="roundRect">
            <a:avLst>
              <a:gd name="adj" fmla="val 21053"/>
            </a:avLst>
          </a:prstGeom>
          <a:solidFill>
            <a:srgbClr val="F4736A"/>
          </a:solidFill>
          <a:ln w="12700">
            <a:solidFill>
              <a:srgbClr val="F4736A"/>
            </a:solidFill>
            <a:prstDash val="solid"/>
          </a:ln>
        </p:spPr>
      </p:sp>
      <p:sp>
        <p:nvSpPr>
          <p:cNvPr id="19" name="Text 17"/>
          <p:cNvSpPr/>
          <p:nvPr/>
        </p:nvSpPr>
        <p:spPr>
          <a:xfrm>
            <a:off x="457200" y="2331720"/>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p>
        </p:txBody>
      </p:sp>
      <p:sp>
        <p:nvSpPr>
          <p:cNvPr id="20" name="Text 18"/>
          <p:cNvSpPr/>
          <p:nvPr/>
        </p:nvSpPr>
        <p:spPr>
          <a:xfrm>
            <a:off x="475488" y="2706624"/>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 effect, especially on the environment. Burning oil has an impact (air pollution). Using sunlight has a smaller impact.</a:t>
            </a:r>
            <a:endParaRPr lang="en-US" sz="1050" dirty="0"/>
          </a:p>
        </p:txBody>
      </p:sp>
      <p:sp>
        <p:nvSpPr>
          <p:cNvPr id="21" name="Shape 19"/>
          <p:cNvSpPr/>
          <p:nvPr/>
        </p:nvSpPr>
        <p:spPr>
          <a:xfrm>
            <a:off x="4114800" y="2304288"/>
            <a:ext cx="7406640" cy="1325880"/>
          </a:xfrm>
          <a:prstGeom prst="roundRect">
            <a:avLst>
              <a:gd name="adj" fmla="val 5517"/>
            </a:avLst>
          </a:prstGeom>
          <a:solidFill>
            <a:srgbClr val="162233"/>
          </a:solidFill>
          <a:ln w="12700">
            <a:solidFill>
              <a:srgbClr val="F4736A"/>
            </a:solidFill>
            <a:prstDash val="solid"/>
          </a:ln>
        </p:spPr>
      </p:sp>
      <p:sp>
        <p:nvSpPr>
          <p:cNvPr id="22" name="Text 20"/>
          <p:cNvSpPr/>
          <p:nvPr/>
        </p:nvSpPr>
        <p:spPr>
          <a:xfrm>
            <a:off x="4297680" y="2377440"/>
            <a:ext cx="7040880" cy="329184"/>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 Common Misconception: 'Renewable = No Impact'</a:t>
            </a:r>
            <a:endParaRPr lang="en-US" sz="1200" dirty="0"/>
          </a:p>
        </p:txBody>
      </p:sp>
      <p:sp>
        <p:nvSpPr>
          <p:cNvPr id="23" name="Text 21"/>
          <p:cNvSpPr/>
          <p:nvPr/>
        </p:nvSpPr>
        <p:spPr>
          <a:xfrm>
            <a:off x="4297680" y="2743200"/>
            <a:ext cx="7040880" cy="74980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Renewable resources COME BACK — but using them still affects the environment. Solar panels need land. Wind turbines can affect birds. The real question is: how big is the impact, and how can we reduce it?</a:t>
            </a:r>
            <a:endParaRPr lang="en-US" sz="1150" dirty="0"/>
          </a:p>
        </p:txBody>
      </p:sp>
      <p:sp>
        <p:nvSpPr>
          <p:cNvPr id="24" name="Shape 22"/>
          <p:cNvSpPr/>
          <p:nvPr/>
        </p:nvSpPr>
        <p:spPr>
          <a:xfrm>
            <a:off x="365760" y="3767328"/>
            <a:ext cx="11247120" cy="1280160"/>
          </a:xfrm>
          <a:prstGeom prst="roundRect">
            <a:avLst>
              <a:gd name="adj" fmla="val 5714"/>
            </a:avLst>
          </a:prstGeom>
          <a:solidFill>
            <a:srgbClr val="162233"/>
          </a:solidFill>
          <a:ln w="12700">
            <a:solidFill>
              <a:srgbClr val="FFB703"/>
            </a:solidFill>
            <a:prstDash val="solid"/>
          </a:ln>
        </p:spPr>
      </p:sp>
      <p:sp>
        <p:nvSpPr>
          <p:cNvPr id="25" name="Text 23"/>
          <p:cNvSpPr/>
          <p:nvPr/>
        </p:nvSpPr>
        <p:spPr>
          <a:xfrm>
            <a:off x="530352" y="384048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Discussion:</a:t>
            </a:r>
            <a:endParaRPr lang="en-US" sz="1300" dirty="0"/>
          </a:p>
        </p:txBody>
      </p:sp>
      <p:sp>
        <p:nvSpPr>
          <p:cNvPr id="26" name="Text 24"/>
          <p:cNvSpPr/>
          <p:nvPr/>
        </p:nvSpPr>
        <p:spPr>
          <a:xfrm>
            <a:off x="530352" y="4206240"/>
            <a:ext cx="10917936" cy="73152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"A classmate says: 'Solar panels have zero environmental impact.' How would you respond? What would you need to check?"</a:t>
            </a:r>
            <a:endParaRPr lang="en-US" sz="1200" dirty="0"/>
          </a:p>
        </p:txBody>
      </p:sp>
      <p:sp>
        <p:nvSpPr>
          <p:cNvPr id="27" name="Shape 25"/>
          <p:cNvSpPr/>
          <p:nvPr/>
        </p:nvSpPr>
        <p:spPr>
          <a:xfrm>
            <a:off x="0" y="6629400"/>
            <a:ext cx="12192000" cy="228600"/>
          </a:xfrm>
          <a:prstGeom prst="rect">
            <a:avLst/>
          </a:prstGeom>
          <a:solidFill>
            <a:srgbClr val="162233"/>
          </a:solidFill>
          <a:ln/>
        </p:spPr>
      </p:sp>
      <p:sp>
        <p:nvSpPr>
          <p:cNvPr id="28" name="Text 2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2 of 2</a:t>
            </a:r>
            <a:endParaRPr lang="en-US" sz="1600" dirty="0"/>
          </a:p>
        </p:txBody>
      </p:sp>
      <p:sp>
        <p:nvSpPr>
          <p:cNvPr id="5" name="Shape 3"/>
          <p:cNvSpPr/>
          <p:nvPr/>
        </p:nvSpPr>
        <p:spPr>
          <a:xfrm>
            <a:off x="365760" y="804672"/>
            <a:ext cx="5394960" cy="1325880"/>
          </a:xfrm>
          <a:prstGeom prst="roundRect">
            <a:avLst>
              <a:gd name="adj" fmla="val 6897"/>
            </a:avLst>
          </a:prstGeom>
          <a:solidFill>
            <a:srgbClr val="1E2F45"/>
          </a:solidFill>
          <a:ln w="25400">
            <a:solidFill>
              <a:srgbClr val="FFB703"/>
            </a:solidFill>
            <a:prstDash val="solid"/>
          </a:ln>
        </p:spPr>
      </p:sp>
      <p:sp>
        <p:nvSpPr>
          <p:cNvPr id="6" name="Shape 4"/>
          <p:cNvSpPr/>
          <p:nvPr/>
        </p:nvSpPr>
        <p:spPr>
          <a:xfrm>
            <a:off x="365760" y="804672"/>
            <a:ext cx="5394960" cy="347472"/>
          </a:xfrm>
          <a:prstGeom prst="roundRect">
            <a:avLst>
              <a:gd name="adj" fmla="val 21053"/>
            </a:avLst>
          </a:prstGeom>
          <a:solidFill>
            <a:srgbClr val="FFB703"/>
          </a:solidFill>
          <a:ln w="12700">
            <a:solidFill>
              <a:srgbClr val="FFB703"/>
            </a:solidFill>
            <a:prstDash val="solid"/>
          </a:ln>
        </p:spPr>
      </p:sp>
      <p:sp>
        <p:nvSpPr>
          <p:cNvPr id="7" name="Text 5"/>
          <p:cNvSpPr/>
          <p:nvPr/>
        </p:nvSpPr>
        <p:spPr>
          <a:xfrm>
            <a:off x="45720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Fossil Fuel</a:t>
            </a:r>
            <a:endParaRPr lang="en-US" sz="1200" dirty="0"/>
          </a:p>
        </p:txBody>
      </p:sp>
      <p:sp>
        <p:nvSpPr>
          <p:cNvPr id="8" name="Text 6"/>
          <p:cNvSpPr/>
          <p:nvPr/>
        </p:nvSpPr>
        <p:spPr>
          <a:xfrm>
            <a:off x="47548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nonrenewable energy resource — oil, natural gas, or coal — that formed underground from ancient plants and animals over millions of years.</a:t>
            </a:r>
            <a:endParaRPr lang="en-US" sz="1050" dirty="0"/>
          </a:p>
        </p:txBody>
      </p:sp>
      <p:sp>
        <p:nvSpPr>
          <p:cNvPr id="9" name="Shape 7"/>
          <p:cNvSpPr/>
          <p:nvPr/>
        </p:nvSpPr>
        <p:spPr>
          <a:xfrm>
            <a:off x="6035040" y="804672"/>
            <a:ext cx="5394960" cy="1325880"/>
          </a:xfrm>
          <a:prstGeom prst="roundRect">
            <a:avLst>
              <a:gd name="adj" fmla="val 6897"/>
            </a:avLst>
          </a:prstGeom>
          <a:solidFill>
            <a:srgbClr val="1E2F45"/>
          </a:solidFill>
          <a:ln w="25400">
            <a:solidFill>
              <a:srgbClr val="4CC9F0"/>
            </a:solidFill>
            <a:prstDash val="solid"/>
          </a:ln>
        </p:spPr>
      </p:sp>
      <p:sp>
        <p:nvSpPr>
          <p:cNvPr id="10" name="Shape 8"/>
          <p:cNvSpPr/>
          <p:nvPr/>
        </p:nvSpPr>
        <p:spPr>
          <a:xfrm>
            <a:off x="6035040" y="804672"/>
            <a:ext cx="5394960" cy="347472"/>
          </a:xfrm>
          <a:prstGeom prst="roundRect">
            <a:avLst>
              <a:gd name="adj" fmla="val 21053"/>
            </a:avLst>
          </a:prstGeom>
          <a:solidFill>
            <a:srgbClr val="4CC9F0"/>
          </a:solidFill>
          <a:ln w="12700">
            <a:solidFill>
              <a:srgbClr val="4CC9F0"/>
            </a:solidFill>
            <a:prstDash val="solid"/>
          </a:ln>
        </p:spPr>
      </p:sp>
      <p:sp>
        <p:nvSpPr>
          <p:cNvPr id="11" name="Text 9"/>
          <p:cNvSpPr/>
          <p:nvPr/>
        </p:nvSpPr>
        <p:spPr>
          <a:xfrm>
            <a:off x="612648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p:txBody>
      </p:sp>
      <p:sp>
        <p:nvSpPr>
          <p:cNvPr id="12" name="Text 10"/>
          <p:cNvSpPr/>
          <p:nvPr/>
        </p:nvSpPr>
        <p:spPr>
          <a:xfrm>
            <a:off x="614476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Where information comes from. Scientists compare information from at least TWO sources before making a claim.</a:t>
            </a:r>
            <a:endParaRPr lang="en-US" sz="1050" dirty="0"/>
          </a:p>
        </p:txBody>
      </p:sp>
      <p:sp>
        <p:nvSpPr>
          <p:cNvPr id="13" name="Shape 11"/>
          <p:cNvSpPr/>
          <p:nvPr/>
        </p:nvSpPr>
        <p:spPr>
          <a:xfrm>
            <a:off x="365760" y="2304288"/>
            <a:ext cx="11247120" cy="1993392"/>
          </a:xfrm>
          <a:prstGeom prst="roundRect">
            <a:avLst>
              <a:gd name="adj" fmla="val 3670"/>
            </a:avLst>
          </a:prstGeom>
          <a:solidFill>
            <a:srgbClr val="162233"/>
          </a:solidFill>
          <a:ln w="12700">
            <a:solidFill>
              <a:srgbClr val="4CC9F0"/>
            </a:solidFill>
            <a:prstDash val="solid"/>
          </a:ln>
        </p:spPr>
      </p:sp>
      <p:sp>
        <p:nvSpPr>
          <p:cNvPr id="14" name="Text 12"/>
          <p:cNvSpPr/>
          <p:nvPr/>
        </p:nvSpPr>
        <p:spPr>
          <a:xfrm>
            <a:off x="548640" y="2377440"/>
            <a:ext cx="1097280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Why TWO Sources?</a:t>
            </a:r>
            <a:endParaRPr lang="en-US" sz="1300" dirty="0"/>
          </a:p>
        </p:txBody>
      </p:sp>
      <p:sp>
        <p:nvSpPr>
          <p:cNvPr id="15" name="Text 13"/>
          <p:cNvSpPr/>
          <p:nvPr/>
        </p:nvSpPr>
        <p:spPr>
          <a:xfrm>
            <a:off x="548640" y="2743200"/>
            <a:ext cx="10972800" cy="142646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One source can be incomplete, outdated, or even wrong. Two sources help catch mistakes — and they often add up to a more complete picture.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When you read about a resource on a news site, check a government data source too. The PATTERN across both is what counts as solid evidence.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Today's assignment will ask you to compare a resource using info from TWO different places.</a:t>
            </a:r>
            <a:endParaRPr lang="en-US" sz="1200" dirty="0"/>
          </a:p>
        </p:txBody>
      </p:sp>
      <p:sp>
        <p:nvSpPr>
          <p:cNvPr id="16" name="Shape 14"/>
          <p:cNvSpPr/>
          <p:nvPr/>
        </p:nvSpPr>
        <p:spPr>
          <a:xfrm>
            <a:off x="365760" y="4425696"/>
            <a:ext cx="11247120" cy="1261872"/>
          </a:xfrm>
          <a:prstGeom prst="roundRect">
            <a:avLst>
              <a:gd name="adj" fmla="val 5797"/>
            </a:avLst>
          </a:prstGeom>
          <a:solidFill>
            <a:srgbClr val="162233"/>
          </a:solidFill>
          <a:ln w="12700">
            <a:solidFill>
              <a:srgbClr val="FFB703"/>
            </a:solidFill>
            <a:prstDash val="solid"/>
          </a:ln>
        </p:spPr>
      </p:sp>
      <p:sp>
        <p:nvSpPr>
          <p:cNvPr id="17" name="Text 15"/>
          <p:cNvSpPr/>
          <p:nvPr/>
        </p:nvSpPr>
        <p:spPr>
          <a:xfrm>
            <a:off x="530352" y="4498848"/>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About It:</a:t>
            </a:r>
            <a:endParaRPr lang="en-US" sz="1300" dirty="0"/>
          </a:p>
        </p:txBody>
      </p:sp>
      <p:sp>
        <p:nvSpPr>
          <p:cNvPr id="18" name="Text 16"/>
          <p:cNvSpPr/>
          <p:nvPr/>
        </p:nvSpPr>
        <p:spPr>
          <a:xfrm>
            <a:off x="530352" y="4864608"/>
            <a:ext cx="10917936" cy="713232"/>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"What's one place you would look for information about a Florida resource? What's a SECOND, different place you could look? What might each one tell you that the other doesn't?"</a:t>
            </a:r>
            <a:endParaRPr lang="en-US" sz="12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Florida Resources: Renewable vs. Nonrenewable</a:t>
            </a:r>
            <a:endParaRPr lang="en-US" sz="1600" dirty="0"/>
          </a:p>
        </p:txBody>
      </p:sp>
      <p:sp>
        <p:nvSpPr>
          <p:cNvPr id="5" name="Shape 3"/>
          <p:cNvSpPr/>
          <p:nvPr/>
        </p:nvSpPr>
        <p:spPr>
          <a:xfrm>
            <a:off x="365760" y="749808"/>
            <a:ext cx="11247120" cy="4370832"/>
          </a:xfrm>
          <a:prstGeom prst="roundRect">
            <a:avLst>
              <a:gd name="adj" fmla="val 1674"/>
            </a:avLst>
          </a:prstGeom>
          <a:solidFill>
            <a:srgbClr val="0A1520"/>
          </a:solidFill>
          <a:ln w="19050">
            <a:solidFill>
              <a:srgbClr val="4CC9F0"/>
            </a:solidFill>
            <a:prstDash val="dash"/>
          </a:ln>
        </p:spPr>
      </p:sp>
      <p:sp>
        <p:nvSpPr>
          <p:cNvPr id="6" name="Text 4"/>
          <p:cNvSpPr/>
          <p:nvPr/>
        </p:nvSpPr>
        <p:spPr>
          <a:xfrm>
            <a:off x="457200" y="859536"/>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11027664" cy="331927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renewable nonrenewable resources comparison chart solar wind water trees phosphate limestone oil"</a:t>
            </a:r>
            <a:endParaRPr lang="en-US" sz="950" dirty="0"/>
          </a:p>
        </p:txBody>
      </p:sp>
      <p:sp>
        <p:nvSpPr>
          <p:cNvPr id="9" name="Text 7"/>
          <p:cNvSpPr/>
          <p:nvPr/>
        </p:nvSpPr>
        <p:spPr>
          <a:xfrm>
            <a:off x="365760" y="5157216"/>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resources — renewable (left) vs. nonrenewable (right)</a:t>
            </a:r>
            <a:endParaRPr lang="en-US" sz="900" dirty="0"/>
          </a:p>
        </p:txBody>
      </p:sp>
      <p:sp>
        <p:nvSpPr>
          <p:cNvPr id="10" name="Shape 8"/>
          <p:cNvSpPr/>
          <p:nvPr/>
        </p:nvSpPr>
        <p:spPr>
          <a:xfrm>
            <a:off x="365760" y="5248656"/>
            <a:ext cx="11247120" cy="658368"/>
          </a:xfrm>
          <a:prstGeom prst="roundRect">
            <a:avLst>
              <a:gd name="adj" fmla="val 11111"/>
            </a:avLst>
          </a:prstGeom>
          <a:solidFill>
            <a:srgbClr val="162233"/>
          </a:solidFill>
          <a:ln w="12700">
            <a:solidFill>
              <a:srgbClr val="4CC9F0"/>
            </a:solidFill>
            <a:prstDash val="solid"/>
          </a:ln>
        </p:spPr>
      </p:sp>
      <p:sp>
        <p:nvSpPr>
          <p:cNvPr id="11" name="Text 9"/>
          <p:cNvSpPr/>
          <p:nvPr/>
        </p:nvSpPr>
        <p:spPr>
          <a:xfrm>
            <a:off x="548640" y="5321808"/>
            <a:ext cx="10972800" cy="512064"/>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 Observe &amp; Reason: Pick ONE renewable and ONE nonrenewable resource from the chart. Which has a bigger environmental impact when humans use it? What evidence in the chart helps you decide?</a:t>
            </a:r>
            <a:endParaRPr lang="en-US" sz="115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Four Florida Resources — Uses &amp; Impacts</a:t>
            </a:r>
            <a:endParaRPr lang="en-US" sz="1600" dirty="0"/>
          </a:p>
        </p:txBody>
      </p:sp>
      <p:sp>
        <p:nvSpPr>
          <p:cNvPr id="5" name="Shape 3"/>
          <p:cNvSpPr/>
          <p:nvPr/>
        </p:nvSpPr>
        <p:spPr>
          <a:xfrm>
            <a:off x="365760" y="749808"/>
            <a:ext cx="5486400" cy="2578608"/>
          </a:xfrm>
          <a:prstGeom prst="roundRect">
            <a:avLst>
              <a:gd name="adj" fmla="val 2837"/>
            </a:avLst>
          </a:prstGeom>
          <a:solidFill>
            <a:srgbClr val="1E2F45"/>
          </a:solidFill>
          <a:ln w="12700">
            <a:solidFill>
              <a:srgbClr val="2DC653"/>
            </a:solidFill>
            <a:prstDash val="solid"/>
          </a:ln>
        </p:spPr>
      </p:sp>
      <p:sp>
        <p:nvSpPr>
          <p:cNvPr id="6" name="Text 4"/>
          <p:cNvSpPr/>
          <p:nvPr/>
        </p:nvSpPr>
        <p:spPr>
          <a:xfrm>
            <a:off x="548640" y="841248"/>
            <a:ext cx="51206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Sunlight (Solar)</a:t>
            </a:r>
            <a:endParaRPr lang="en-US" sz="1300" dirty="0"/>
          </a:p>
        </p:txBody>
      </p:sp>
      <p:sp>
        <p:nvSpPr>
          <p:cNvPr id="7" name="Shape 5"/>
          <p:cNvSpPr/>
          <p:nvPr/>
        </p:nvSpPr>
        <p:spPr>
          <a:xfrm>
            <a:off x="548640" y="1261872"/>
            <a:ext cx="1554480" cy="256032"/>
          </a:xfrm>
          <a:prstGeom prst="roundRect">
            <a:avLst>
              <a:gd name="adj" fmla="val 50000"/>
            </a:avLst>
          </a:prstGeom>
          <a:solidFill>
            <a:srgbClr val="2DC653"/>
          </a:solidFill>
          <a:ln w="12700">
            <a:solidFill>
              <a:srgbClr val="2DC653"/>
            </a:solidFill>
            <a:prstDash val="solid"/>
          </a:ln>
        </p:spPr>
      </p:sp>
      <p:sp>
        <p:nvSpPr>
          <p:cNvPr id="8" name="Text 6"/>
          <p:cNvSpPr/>
          <p:nvPr/>
        </p:nvSpPr>
        <p:spPr>
          <a:xfrm>
            <a:off x="548640" y="12618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RENEWABLE</a:t>
            </a:r>
            <a:endParaRPr lang="en-US" sz="900" dirty="0"/>
          </a:p>
        </p:txBody>
      </p:sp>
      <p:sp>
        <p:nvSpPr>
          <p:cNvPr id="9" name="Text 7"/>
          <p:cNvSpPr/>
          <p:nvPr/>
        </p:nvSpPr>
        <p:spPr>
          <a:xfrm>
            <a:off x="548640" y="1645920"/>
            <a:ext cx="5120640" cy="91440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Uses: Solar panels → electricity</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Greenhouses → food</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Every plant uses it to grow</a:t>
            </a:r>
            <a:endParaRPr lang="en-US" sz="1050" dirty="0"/>
          </a:p>
        </p:txBody>
      </p:sp>
      <p:sp>
        <p:nvSpPr>
          <p:cNvPr id="10" name="Text 8"/>
          <p:cNvSpPr/>
          <p:nvPr/>
        </p:nvSpPr>
        <p:spPr>
          <a:xfrm>
            <a:off x="548640" y="2578608"/>
            <a:ext cx="5120640" cy="640080"/>
          </a:xfrm>
          <a:prstGeom prst="rect">
            <a:avLst/>
          </a:prstGeom>
          <a:noFill/>
          <a:ln/>
        </p:spPr>
        <p:txBody>
          <a:bodyPr wrap="square" rtlCol="0" anchor="ctr"/>
          <a:lstStyle/>
          <a:p>
            <a:pPr indent="0" marL="0">
              <a:buNone/>
            </a:pPr>
            <a:r>
              <a:rPr lang="en-US" sz="1000" dirty="0">
                <a:solidFill>
                  <a:srgbClr val="F4736A"/>
                </a:solidFill>
                <a:latin typeface="Calibri" pitchFamily="34" charset="0"/>
                <a:ea typeface="Calibri" pitchFamily="34" charset="-122"/>
                <a:cs typeface="Calibri" pitchFamily="34" charset="-120"/>
              </a:rPr>
              <a:t>Impact: Needs land; panels require materials to build; but CO₂-free electricity</a:t>
            </a:r>
            <a:endParaRPr lang="en-US" sz="1000" dirty="0"/>
          </a:p>
        </p:txBody>
      </p:sp>
      <p:sp>
        <p:nvSpPr>
          <p:cNvPr id="11" name="Shape 9"/>
          <p:cNvSpPr/>
          <p:nvPr/>
        </p:nvSpPr>
        <p:spPr>
          <a:xfrm>
            <a:off x="6126480" y="749808"/>
            <a:ext cx="5486400" cy="2578608"/>
          </a:xfrm>
          <a:prstGeom prst="roundRect">
            <a:avLst>
              <a:gd name="adj" fmla="val 2837"/>
            </a:avLst>
          </a:prstGeom>
          <a:solidFill>
            <a:srgbClr val="1E2F45"/>
          </a:solidFill>
          <a:ln w="12700">
            <a:solidFill>
              <a:srgbClr val="4CC9F0"/>
            </a:solidFill>
            <a:prstDash val="solid"/>
          </a:ln>
        </p:spPr>
      </p:sp>
      <p:sp>
        <p:nvSpPr>
          <p:cNvPr id="12" name="Text 10"/>
          <p:cNvSpPr/>
          <p:nvPr/>
        </p:nvSpPr>
        <p:spPr>
          <a:xfrm>
            <a:off x="6309360" y="841248"/>
            <a:ext cx="51206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Fresh Water</a:t>
            </a:r>
            <a:endParaRPr lang="en-US" sz="1300" dirty="0"/>
          </a:p>
        </p:txBody>
      </p:sp>
      <p:sp>
        <p:nvSpPr>
          <p:cNvPr id="13" name="Shape 11"/>
          <p:cNvSpPr/>
          <p:nvPr/>
        </p:nvSpPr>
        <p:spPr>
          <a:xfrm>
            <a:off x="6309360" y="1261872"/>
            <a:ext cx="1554480" cy="256032"/>
          </a:xfrm>
          <a:prstGeom prst="roundRect">
            <a:avLst>
              <a:gd name="adj" fmla="val 50000"/>
            </a:avLst>
          </a:prstGeom>
          <a:solidFill>
            <a:srgbClr val="4CC9F0"/>
          </a:solidFill>
          <a:ln w="12700">
            <a:solidFill>
              <a:srgbClr val="4CC9F0"/>
            </a:solidFill>
            <a:prstDash val="solid"/>
          </a:ln>
        </p:spPr>
      </p:sp>
      <p:sp>
        <p:nvSpPr>
          <p:cNvPr id="14" name="Text 12"/>
          <p:cNvSpPr/>
          <p:nvPr/>
        </p:nvSpPr>
        <p:spPr>
          <a:xfrm>
            <a:off x="6309360" y="12618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RENEWABLE (with care)</a:t>
            </a:r>
            <a:endParaRPr lang="en-US" sz="900" dirty="0"/>
          </a:p>
        </p:txBody>
      </p:sp>
      <p:sp>
        <p:nvSpPr>
          <p:cNvPr id="15" name="Text 13"/>
          <p:cNvSpPr/>
          <p:nvPr/>
        </p:nvSpPr>
        <p:spPr>
          <a:xfrm>
            <a:off x="6309360" y="1645920"/>
            <a:ext cx="5120640" cy="91440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Uses: Drinking water</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Farming irrigation</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Fire protection; swimming</a:t>
            </a:r>
            <a:endParaRPr lang="en-US" sz="1050" dirty="0"/>
          </a:p>
        </p:txBody>
      </p:sp>
      <p:sp>
        <p:nvSpPr>
          <p:cNvPr id="16" name="Text 14"/>
          <p:cNvSpPr/>
          <p:nvPr/>
        </p:nvSpPr>
        <p:spPr>
          <a:xfrm>
            <a:off x="6309360" y="2578608"/>
            <a:ext cx="5120640" cy="640080"/>
          </a:xfrm>
          <a:prstGeom prst="rect">
            <a:avLst/>
          </a:prstGeom>
          <a:noFill/>
          <a:ln/>
        </p:spPr>
        <p:txBody>
          <a:bodyPr wrap="square" rtlCol="0" anchor="ctr"/>
          <a:lstStyle/>
          <a:p>
            <a:pPr indent="0" marL="0">
              <a:buNone/>
            </a:pPr>
            <a:r>
              <a:rPr lang="en-US" sz="1000" dirty="0">
                <a:solidFill>
                  <a:srgbClr val="F4736A"/>
                </a:solidFill>
                <a:latin typeface="Calibri" pitchFamily="34" charset="0"/>
                <a:ea typeface="Calibri" pitchFamily="34" charset="-122"/>
                <a:cs typeface="Calibri" pitchFamily="34" charset="-120"/>
              </a:rPr>
              <a:t>Impact: Pumping too fast drains aquifers; overuse pollutes springs; evaporation in drought</a:t>
            </a:r>
            <a:endParaRPr lang="en-US" sz="1000" dirty="0"/>
          </a:p>
        </p:txBody>
      </p:sp>
      <p:sp>
        <p:nvSpPr>
          <p:cNvPr id="17" name="Shape 15"/>
          <p:cNvSpPr/>
          <p:nvPr/>
        </p:nvSpPr>
        <p:spPr>
          <a:xfrm>
            <a:off x="365760" y="3511296"/>
            <a:ext cx="5486400" cy="2578608"/>
          </a:xfrm>
          <a:prstGeom prst="roundRect">
            <a:avLst>
              <a:gd name="adj" fmla="val 2837"/>
            </a:avLst>
          </a:prstGeom>
          <a:solidFill>
            <a:srgbClr val="1E2F45"/>
          </a:solidFill>
          <a:ln w="12700">
            <a:solidFill>
              <a:srgbClr val="FFB703"/>
            </a:solidFill>
            <a:prstDash val="solid"/>
          </a:ln>
        </p:spPr>
      </p:sp>
      <p:sp>
        <p:nvSpPr>
          <p:cNvPr id="18" name="Text 16"/>
          <p:cNvSpPr/>
          <p:nvPr/>
        </p:nvSpPr>
        <p:spPr>
          <a:xfrm>
            <a:off x="548640" y="3602736"/>
            <a:ext cx="51206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Limestone</a:t>
            </a:r>
            <a:endParaRPr lang="en-US" sz="1300" dirty="0"/>
          </a:p>
        </p:txBody>
      </p:sp>
      <p:sp>
        <p:nvSpPr>
          <p:cNvPr id="19" name="Shape 17"/>
          <p:cNvSpPr/>
          <p:nvPr/>
        </p:nvSpPr>
        <p:spPr>
          <a:xfrm>
            <a:off x="548640" y="4023360"/>
            <a:ext cx="1554480" cy="256032"/>
          </a:xfrm>
          <a:prstGeom prst="roundRect">
            <a:avLst>
              <a:gd name="adj" fmla="val 50000"/>
            </a:avLst>
          </a:prstGeom>
          <a:solidFill>
            <a:srgbClr val="FFB703"/>
          </a:solidFill>
          <a:ln w="12700">
            <a:solidFill>
              <a:srgbClr val="FFB703"/>
            </a:solidFill>
            <a:prstDash val="solid"/>
          </a:ln>
        </p:spPr>
      </p:sp>
      <p:sp>
        <p:nvSpPr>
          <p:cNvPr id="20" name="Text 18"/>
          <p:cNvSpPr/>
          <p:nvPr/>
        </p:nvSpPr>
        <p:spPr>
          <a:xfrm>
            <a:off x="548640" y="40233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NONRENEWABLE</a:t>
            </a:r>
            <a:endParaRPr lang="en-US" sz="900" dirty="0"/>
          </a:p>
        </p:txBody>
      </p:sp>
      <p:sp>
        <p:nvSpPr>
          <p:cNvPr id="21" name="Text 19"/>
          <p:cNvSpPr/>
          <p:nvPr/>
        </p:nvSpPr>
        <p:spPr>
          <a:xfrm>
            <a:off x="548640" y="4407408"/>
            <a:ext cx="5120640" cy="91440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Uses: Cement for roads and buildings</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Lime for farming soil</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Construction everywhere in FL</a:t>
            </a:r>
            <a:endParaRPr lang="en-US" sz="1050" dirty="0"/>
          </a:p>
        </p:txBody>
      </p:sp>
      <p:sp>
        <p:nvSpPr>
          <p:cNvPr id="22" name="Text 20"/>
          <p:cNvSpPr/>
          <p:nvPr/>
        </p:nvSpPr>
        <p:spPr>
          <a:xfrm>
            <a:off x="548640" y="5340096"/>
            <a:ext cx="5120640" cy="640080"/>
          </a:xfrm>
          <a:prstGeom prst="rect">
            <a:avLst/>
          </a:prstGeom>
          <a:noFill/>
          <a:ln/>
        </p:spPr>
        <p:txBody>
          <a:bodyPr wrap="square" rtlCol="0" anchor="ctr"/>
          <a:lstStyle/>
          <a:p>
            <a:pPr indent="0" marL="0">
              <a:buNone/>
            </a:pPr>
            <a:r>
              <a:rPr lang="en-US" sz="1000" dirty="0">
                <a:solidFill>
                  <a:srgbClr val="F4736A"/>
                </a:solidFill>
                <a:latin typeface="Calibri" pitchFamily="34" charset="0"/>
                <a:ea typeface="Calibri" pitchFamily="34" charset="-122"/>
                <a:cs typeface="Calibri" pitchFamily="34" charset="-120"/>
              </a:rPr>
              <a:t>Impact: Mining permanently changes land; can affect underground water flow</a:t>
            </a:r>
            <a:endParaRPr lang="en-US" sz="1000" dirty="0"/>
          </a:p>
        </p:txBody>
      </p:sp>
      <p:sp>
        <p:nvSpPr>
          <p:cNvPr id="23" name="Shape 21"/>
          <p:cNvSpPr/>
          <p:nvPr/>
        </p:nvSpPr>
        <p:spPr>
          <a:xfrm>
            <a:off x="6126480" y="3511296"/>
            <a:ext cx="5486400" cy="2578608"/>
          </a:xfrm>
          <a:prstGeom prst="roundRect">
            <a:avLst>
              <a:gd name="adj" fmla="val 2837"/>
            </a:avLst>
          </a:prstGeom>
          <a:solidFill>
            <a:srgbClr val="1E2F45"/>
          </a:solidFill>
          <a:ln w="12700">
            <a:solidFill>
              <a:srgbClr val="F4736A"/>
            </a:solidFill>
            <a:prstDash val="solid"/>
          </a:ln>
        </p:spPr>
      </p:sp>
      <p:sp>
        <p:nvSpPr>
          <p:cNvPr id="24" name="Text 22"/>
          <p:cNvSpPr/>
          <p:nvPr/>
        </p:nvSpPr>
        <p:spPr>
          <a:xfrm>
            <a:off x="6309360" y="3602736"/>
            <a:ext cx="512064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Phosphate</a:t>
            </a:r>
            <a:endParaRPr lang="en-US" sz="1300" dirty="0"/>
          </a:p>
        </p:txBody>
      </p:sp>
      <p:sp>
        <p:nvSpPr>
          <p:cNvPr id="25" name="Shape 23"/>
          <p:cNvSpPr/>
          <p:nvPr/>
        </p:nvSpPr>
        <p:spPr>
          <a:xfrm>
            <a:off x="6309360" y="4023360"/>
            <a:ext cx="1554480" cy="256032"/>
          </a:xfrm>
          <a:prstGeom prst="roundRect">
            <a:avLst>
              <a:gd name="adj" fmla="val 50000"/>
            </a:avLst>
          </a:prstGeom>
          <a:solidFill>
            <a:srgbClr val="F4736A"/>
          </a:solidFill>
          <a:ln w="12700">
            <a:solidFill>
              <a:srgbClr val="F4736A"/>
            </a:solidFill>
            <a:prstDash val="solid"/>
          </a:ln>
        </p:spPr>
      </p:sp>
      <p:sp>
        <p:nvSpPr>
          <p:cNvPr id="26" name="Text 24"/>
          <p:cNvSpPr/>
          <p:nvPr/>
        </p:nvSpPr>
        <p:spPr>
          <a:xfrm>
            <a:off x="6309360" y="40233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NONRENEWABLE</a:t>
            </a:r>
            <a:endParaRPr lang="en-US" sz="900" dirty="0"/>
          </a:p>
        </p:txBody>
      </p:sp>
      <p:sp>
        <p:nvSpPr>
          <p:cNvPr id="27" name="Text 25"/>
          <p:cNvSpPr/>
          <p:nvPr/>
        </p:nvSpPr>
        <p:spPr>
          <a:xfrm>
            <a:off x="6309360" y="4407408"/>
            <a:ext cx="5120640" cy="91440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Uses: Fertilizer to grow food</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Florida #1 US producer</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Powders for industrial use</a:t>
            </a:r>
            <a:endParaRPr lang="en-US" sz="1050" dirty="0"/>
          </a:p>
        </p:txBody>
      </p:sp>
      <p:sp>
        <p:nvSpPr>
          <p:cNvPr id="28" name="Text 26"/>
          <p:cNvSpPr/>
          <p:nvPr/>
        </p:nvSpPr>
        <p:spPr>
          <a:xfrm>
            <a:off x="6309360" y="5340096"/>
            <a:ext cx="5120640" cy="640080"/>
          </a:xfrm>
          <a:prstGeom prst="rect">
            <a:avLst/>
          </a:prstGeom>
          <a:noFill/>
          <a:ln/>
        </p:spPr>
        <p:txBody>
          <a:bodyPr wrap="square" rtlCol="0" anchor="ctr"/>
          <a:lstStyle/>
          <a:p>
            <a:pPr indent="0" marL="0">
              <a:buNone/>
            </a:pPr>
            <a:r>
              <a:rPr lang="en-US" sz="1000" dirty="0">
                <a:solidFill>
                  <a:srgbClr val="F4736A"/>
                </a:solidFill>
                <a:latin typeface="Calibri" pitchFamily="34" charset="0"/>
                <a:ea typeface="Calibri" pitchFamily="34" charset="-122"/>
                <a:cs typeface="Calibri" pitchFamily="34" charset="-120"/>
              </a:rPr>
              <a:t>Impact: Large land disturbance; water runoff affects rivers; long-lasting changes</a:t>
            </a:r>
            <a:endParaRPr lang="en-US" sz="1000" dirty="0"/>
          </a:p>
        </p:txBody>
      </p:sp>
      <p:sp>
        <p:nvSpPr>
          <p:cNvPr id="29" name="Shape 27"/>
          <p:cNvSpPr/>
          <p:nvPr/>
        </p:nvSpPr>
        <p:spPr>
          <a:xfrm>
            <a:off x="0" y="6629400"/>
            <a:ext cx="12192000" cy="228600"/>
          </a:xfrm>
          <a:prstGeom prst="rect">
            <a:avLst/>
          </a:prstGeom>
          <a:solidFill>
            <a:srgbClr val="162233"/>
          </a:solidFill>
          <a:ln/>
        </p:spPr>
      </p:sp>
      <p:sp>
        <p:nvSpPr>
          <p:cNvPr id="30" name="Text 2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Florida Facts — The Numbers Tell the Story</a:t>
            </a:r>
            <a:endParaRPr lang="en-US" sz="1600" dirty="0"/>
          </a:p>
        </p:txBody>
      </p:sp>
      <p:sp>
        <p:nvSpPr>
          <p:cNvPr id="5" name="Shape 3"/>
          <p:cNvSpPr/>
          <p:nvPr/>
        </p:nvSpPr>
        <p:spPr>
          <a:xfrm>
            <a:off x="365760" y="749808"/>
            <a:ext cx="5394960" cy="2176272"/>
          </a:xfrm>
          <a:prstGeom prst="roundRect">
            <a:avLst>
              <a:gd name="adj" fmla="val 3361"/>
            </a:avLst>
          </a:prstGeom>
          <a:solidFill>
            <a:srgbClr val="0A1A0A"/>
          </a:solidFill>
          <a:ln w="12700">
            <a:solidFill>
              <a:srgbClr val="2DC653"/>
            </a:solidFill>
            <a:prstDash val="solid"/>
          </a:ln>
        </p:spPr>
      </p:sp>
      <p:sp>
        <p:nvSpPr>
          <p:cNvPr id="6" name="Text 4"/>
          <p:cNvSpPr/>
          <p:nvPr/>
        </p:nvSpPr>
        <p:spPr>
          <a:xfrm>
            <a:off x="548640" y="822960"/>
            <a:ext cx="5029200" cy="438912"/>
          </a:xfrm>
          <a:prstGeom prst="rect">
            <a:avLst/>
          </a:prstGeom>
          <a:noFill/>
          <a:ln/>
        </p:spPr>
        <p:txBody>
          <a:bodyPr wrap="square" rtlCol="0" anchor="ctr"/>
          <a:lstStyle/>
          <a:p>
            <a:pPr indent="0" marL="0">
              <a:buNone/>
            </a:pPr>
            <a:r>
              <a:rPr lang="en-US" sz="2000" b="1" dirty="0">
                <a:solidFill>
                  <a:srgbClr val="2DC653"/>
                </a:solidFill>
                <a:latin typeface="Calibri" pitchFamily="34" charset="0"/>
                <a:ea typeface="Calibri" pitchFamily="34" charset="-122"/>
                <a:cs typeface="Calibri" pitchFamily="34" charset="-120"/>
              </a:rPr>
              <a:t>⏱️ 1 Million Years</a:t>
            </a:r>
            <a:endParaRPr lang="en-US" sz="2000" dirty="0"/>
          </a:p>
        </p:txBody>
      </p:sp>
      <p:sp>
        <p:nvSpPr>
          <p:cNvPr id="7" name="Text 5"/>
          <p:cNvSpPr/>
          <p:nvPr/>
        </p:nvSpPr>
        <p:spPr>
          <a:xfrm>
            <a:off x="548640" y="1298448"/>
            <a:ext cx="5029200" cy="14813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...to form a single barrel of oil.</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A car burns through a barrel in about ONE WEEK.</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That's why oil is nonrenewable — not because it's hard to find, but because it takes a million times longer to make than to use.</a:t>
            </a:r>
            <a:endParaRPr lang="en-US" sz="1100" dirty="0"/>
          </a:p>
        </p:txBody>
      </p:sp>
      <p:sp>
        <p:nvSpPr>
          <p:cNvPr id="8" name="Shape 6"/>
          <p:cNvSpPr/>
          <p:nvPr/>
        </p:nvSpPr>
        <p:spPr>
          <a:xfrm>
            <a:off x="6035040" y="749808"/>
            <a:ext cx="5394960" cy="2176272"/>
          </a:xfrm>
          <a:prstGeom prst="roundRect">
            <a:avLst>
              <a:gd name="adj" fmla="val 3361"/>
            </a:avLst>
          </a:prstGeom>
          <a:solidFill>
            <a:srgbClr val="0A0A1A"/>
          </a:solidFill>
          <a:ln w="12700">
            <a:solidFill>
              <a:srgbClr val="FFB703"/>
            </a:solidFill>
            <a:prstDash val="solid"/>
          </a:ln>
        </p:spPr>
      </p:sp>
      <p:sp>
        <p:nvSpPr>
          <p:cNvPr id="9" name="Text 7"/>
          <p:cNvSpPr/>
          <p:nvPr/>
        </p:nvSpPr>
        <p:spPr>
          <a:xfrm>
            <a:off x="6217920" y="822960"/>
            <a:ext cx="5029200" cy="438912"/>
          </a:xfrm>
          <a:prstGeom prst="rect">
            <a:avLst/>
          </a:prstGeom>
          <a:noFill/>
          <a:ln/>
        </p:spPr>
        <p:txBody>
          <a:bodyPr wrap="square" rtlCol="0" anchor="ctr"/>
          <a:lstStyle/>
          <a:p>
            <a:pPr indent="0" marL="0">
              <a:buNone/>
            </a:pPr>
            <a:r>
              <a:rPr lang="en-US" sz="1600" b="1" dirty="0">
                <a:solidFill>
                  <a:srgbClr val="FFB703"/>
                </a:solidFill>
                <a:latin typeface="Calibri" pitchFamily="34" charset="0"/>
                <a:ea typeface="Calibri" pitchFamily="34" charset="-122"/>
                <a:cs typeface="Calibri" pitchFamily="34" charset="-120"/>
              </a:rPr>
              <a:t>75% of U.S. Phosphate</a:t>
            </a:r>
            <a:endParaRPr lang="en-US" sz="1600" dirty="0"/>
          </a:p>
        </p:txBody>
      </p:sp>
      <p:sp>
        <p:nvSpPr>
          <p:cNvPr id="10" name="Text 8"/>
          <p:cNvSpPr/>
          <p:nvPr/>
        </p:nvSpPr>
        <p:spPr>
          <a:xfrm>
            <a:off x="6217920" y="1298448"/>
            <a:ext cx="5029200" cy="14813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...comes from a small section of central Florida. A tiny piece of the state feeds farms across the whole country.</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It's nonrenewable — but Florida's deposits will last decades if mined carefully.</a:t>
            </a:r>
            <a:endParaRPr lang="en-US" sz="1100" dirty="0"/>
          </a:p>
        </p:txBody>
      </p:sp>
      <p:sp>
        <p:nvSpPr>
          <p:cNvPr id="11" name="Shape 9"/>
          <p:cNvSpPr/>
          <p:nvPr/>
        </p:nvSpPr>
        <p:spPr>
          <a:xfrm>
            <a:off x="365760" y="3090672"/>
            <a:ext cx="5394960" cy="2176272"/>
          </a:xfrm>
          <a:prstGeom prst="roundRect">
            <a:avLst>
              <a:gd name="adj" fmla="val 3361"/>
            </a:avLst>
          </a:prstGeom>
          <a:solidFill>
            <a:srgbClr val="1A1505"/>
          </a:solidFill>
          <a:ln w="12700">
            <a:solidFill>
              <a:srgbClr val="FFB703"/>
            </a:solidFill>
            <a:prstDash val="solid"/>
          </a:ln>
        </p:spPr>
      </p:sp>
      <p:sp>
        <p:nvSpPr>
          <p:cNvPr id="12" name="Text 10"/>
          <p:cNvSpPr/>
          <p:nvPr/>
        </p:nvSpPr>
        <p:spPr>
          <a:xfrm>
            <a:off x="548640" y="3163824"/>
            <a:ext cx="5029200" cy="438912"/>
          </a:xfrm>
          <a:prstGeom prst="rect">
            <a:avLst/>
          </a:prstGeom>
          <a:noFill/>
          <a:ln/>
        </p:spPr>
        <p:txBody>
          <a:bodyPr wrap="square" rtlCol="0" anchor="ctr"/>
          <a:lstStyle/>
          <a:p>
            <a:pPr indent="0" marL="0">
              <a:buNone/>
            </a:pPr>
            <a:r>
              <a:rPr lang="en-US" sz="1800" b="1" dirty="0">
                <a:solidFill>
                  <a:srgbClr val="FFB703"/>
                </a:solidFill>
                <a:latin typeface="Calibri" pitchFamily="34" charset="0"/>
                <a:ea typeface="Calibri" pitchFamily="34" charset="-122"/>
                <a:cs typeface="Calibri" pitchFamily="34" charset="-120"/>
              </a:rPr>
              <a:t>&lt; 5% Solar Today</a:t>
            </a:r>
            <a:endParaRPr lang="en-US" sz="1800" dirty="0"/>
          </a:p>
        </p:txBody>
      </p:sp>
      <p:sp>
        <p:nvSpPr>
          <p:cNvPr id="13" name="Text 11"/>
          <p:cNvSpPr/>
          <p:nvPr/>
        </p:nvSpPr>
        <p:spPr>
          <a:xfrm>
            <a:off x="548640" y="3639312"/>
            <a:ext cx="5029200" cy="14813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...of Florida's electricity comes from the sun today — even though solar panels could power most of the state.</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There's a LOT of room to switch from nonrenewable to renewable energy in Florida.</a:t>
            </a:r>
            <a:endParaRPr lang="en-US" sz="1100" dirty="0"/>
          </a:p>
        </p:txBody>
      </p:sp>
      <p:sp>
        <p:nvSpPr>
          <p:cNvPr id="14" name="Shape 12"/>
          <p:cNvSpPr/>
          <p:nvPr/>
        </p:nvSpPr>
        <p:spPr>
          <a:xfrm>
            <a:off x="6035040" y="3090672"/>
            <a:ext cx="5394960" cy="2176272"/>
          </a:xfrm>
          <a:prstGeom prst="roundRect">
            <a:avLst>
              <a:gd name="adj" fmla="val 3361"/>
            </a:avLst>
          </a:prstGeom>
          <a:solidFill>
            <a:srgbClr val="0A1520"/>
          </a:solidFill>
          <a:ln w="12700">
            <a:solidFill>
              <a:srgbClr val="4CC9F0"/>
            </a:solidFill>
            <a:prstDash val="solid"/>
          </a:ln>
        </p:spPr>
      </p:sp>
      <p:sp>
        <p:nvSpPr>
          <p:cNvPr id="15" name="Text 13"/>
          <p:cNvSpPr/>
          <p:nvPr/>
        </p:nvSpPr>
        <p:spPr>
          <a:xfrm>
            <a:off x="6217920" y="3163824"/>
            <a:ext cx="5029200" cy="438912"/>
          </a:xfrm>
          <a:prstGeom prst="rect">
            <a:avLst/>
          </a:prstGeom>
          <a:noFill/>
          <a:ln/>
        </p:spPr>
        <p:txBody>
          <a:bodyPr wrap="square" rtlCol="0" anchor="ctr"/>
          <a:lstStyle/>
          <a:p>
            <a:pPr indent="0" marL="0">
              <a:buNone/>
            </a:pPr>
            <a:r>
              <a:rPr lang="en-US" sz="1600" b="1" dirty="0">
                <a:solidFill>
                  <a:srgbClr val="4CC9F0"/>
                </a:solidFill>
                <a:latin typeface="Calibri" pitchFamily="34" charset="0"/>
                <a:ea typeface="Calibri" pitchFamily="34" charset="-122"/>
                <a:cs typeface="Calibri" pitchFamily="34" charset="-120"/>
              </a:rPr>
              <a:t>Floridan Aquifer</a:t>
            </a:r>
            <a:endParaRPr lang="en-US" sz="1600" dirty="0"/>
          </a:p>
        </p:txBody>
      </p:sp>
      <p:sp>
        <p:nvSpPr>
          <p:cNvPr id="16" name="Text 14"/>
          <p:cNvSpPr/>
          <p:nvPr/>
        </p:nvSpPr>
        <p:spPr>
          <a:xfrm>
            <a:off x="6217920" y="3639312"/>
            <a:ext cx="5029200" cy="148132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One of the most productive underground water systems in the world — but refills SLOWLY from rain. If pumped too fast, levels drop.</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This is why water is renewable only 'with care.'</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Build a Resource Comparison</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Use TWO sources of information — this is required for the assignment!</a:t>
            </a:r>
            <a:endParaRPr lang="en-US" sz="1200" dirty="0"/>
          </a:p>
        </p:txBody>
      </p:sp>
      <p:sp>
        <p:nvSpPr>
          <p:cNvPr id="6" name="Shape 4"/>
          <p:cNvSpPr/>
          <p:nvPr/>
        </p:nvSpPr>
        <p:spPr>
          <a:xfrm>
            <a:off x="365760" y="1115568"/>
            <a:ext cx="11247120" cy="1188720"/>
          </a:xfrm>
          <a:prstGeom prst="roundRect">
            <a:avLst>
              <a:gd name="adj" fmla="val 6154"/>
            </a:avLst>
          </a:prstGeom>
          <a:solidFill>
            <a:srgbClr val="1E2F45"/>
          </a:solidFill>
          <a:ln w="12700">
            <a:solidFill>
              <a:srgbClr val="2DC653"/>
            </a:solidFill>
            <a:prstDash val="solid"/>
          </a:ln>
        </p:spPr>
      </p:sp>
      <p:sp>
        <p:nvSpPr>
          <p:cNvPr id="7" name="Shape 5"/>
          <p:cNvSpPr/>
          <p:nvPr/>
        </p:nvSpPr>
        <p:spPr>
          <a:xfrm>
            <a:off x="502920" y="1188720"/>
            <a:ext cx="1554480" cy="256032"/>
          </a:xfrm>
          <a:prstGeom prst="roundRect">
            <a:avLst>
              <a:gd name="adj" fmla="val 50000"/>
            </a:avLst>
          </a:prstGeom>
          <a:solidFill>
            <a:srgbClr val="1A8C3A"/>
          </a:solidFill>
          <a:ln w="12700">
            <a:solidFill>
              <a:srgbClr val="1A8C3A"/>
            </a:solidFill>
            <a:prstDash val="solid"/>
          </a:ln>
        </p:spPr>
      </p:sp>
      <p:sp>
        <p:nvSpPr>
          <p:cNvPr id="8" name="Text 6"/>
          <p:cNvSpPr/>
          <p:nvPr/>
        </p:nvSpPr>
        <p:spPr>
          <a:xfrm>
            <a:off x="502920" y="11887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2240280" y="1188720"/>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Pick your two resources</a:t>
            </a:r>
            <a:endParaRPr lang="en-US" sz="1300" dirty="0"/>
          </a:p>
        </p:txBody>
      </p:sp>
      <p:sp>
        <p:nvSpPr>
          <p:cNvPr id="10" name="Text 8"/>
          <p:cNvSpPr/>
          <p:nvPr/>
        </p:nvSpPr>
        <p:spPr>
          <a:xfrm>
            <a:off x="2240280" y="1554480"/>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Draw a 2-column chart. One RENEWABLE (solar, wind, fresh water). One NONRENEWABLE (oil, phosphate, limestone).</a:t>
            </a:r>
            <a:endParaRPr lang="en-US" sz="1150" dirty="0"/>
          </a:p>
        </p:txBody>
      </p:sp>
      <p:sp>
        <p:nvSpPr>
          <p:cNvPr id="11" name="Shape 9"/>
          <p:cNvSpPr/>
          <p:nvPr/>
        </p:nvSpPr>
        <p:spPr>
          <a:xfrm>
            <a:off x="365760" y="2414016"/>
            <a:ext cx="11247120" cy="1188720"/>
          </a:xfrm>
          <a:prstGeom prst="roundRect">
            <a:avLst>
              <a:gd name="adj" fmla="val 6154"/>
            </a:avLst>
          </a:prstGeom>
          <a:solidFill>
            <a:srgbClr val="1E2F45"/>
          </a:solidFill>
          <a:ln w="12700">
            <a:solidFill>
              <a:srgbClr val="2DC653"/>
            </a:solidFill>
            <a:prstDash val="solid"/>
          </a:ln>
        </p:spPr>
      </p:sp>
      <p:sp>
        <p:nvSpPr>
          <p:cNvPr id="12" name="Shape 10"/>
          <p:cNvSpPr/>
          <p:nvPr/>
        </p:nvSpPr>
        <p:spPr>
          <a:xfrm>
            <a:off x="502920" y="2487168"/>
            <a:ext cx="1554480" cy="256032"/>
          </a:xfrm>
          <a:prstGeom prst="roundRect">
            <a:avLst>
              <a:gd name="adj" fmla="val 50000"/>
            </a:avLst>
          </a:prstGeom>
          <a:solidFill>
            <a:srgbClr val="1A8C3A"/>
          </a:solidFill>
          <a:ln w="12700">
            <a:solidFill>
              <a:srgbClr val="1A8C3A"/>
            </a:solidFill>
            <a:prstDash val="solid"/>
          </a:ln>
        </p:spPr>
      </p:sp>
      <p:sp>
        <p:nvSpPr>
          <p:cNvPr id="13" name="Text 11"/>
          <p:cNvSpPr/>
          <p:nvPr/>
        </p:nvSpPr>
        <p:spPr>
          <a:xfrm>
            <a:off x="502920" y="24871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2240280" y="2487168"/>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List what people use it for</a:t>
            </a:r>
            <a:endParaRPr lang="en-US" sz="1300" dirty="0"/>
          </a:p>
        </p:txBody>
      </p:sp>
      <p:sp>
        <p:nvSpPr>
          <p:cNvPr id="15" name="Text 13"/>
          <p:cNvSpPr/>
          <p:nvPr/>
        </p:nvSpPr>
        <p:spPr>
          <a:xfrm>
            <a:off x="2240280" y="2852928"/>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At least TWO uses per resource. Use the lesson info as Source 1. Ask a parent, teacher, or look it up as Source 2.</a:t>
            </a:r>
            <a:endParaRPr lang="en-US" sz="1150" dirty="0"/>
          </a:p>
        </p:txBody>
      </p:sp>
      <p:sp>
        <p:nvSpPr>
          <p:cNvPr id="16" name="Shape 14"/>
          <p:cNvSpPr/>
          <p:nvPr/>
        </p:nvSpPr>
        <p:spPr>
          <a:xfrm>
            <a:off x="365760" y="3712464"/>
            <a:ext cx="11247120" cy="1188720"/>
          </a:xfrm>
          <a:prstGeom prst="roundRect">
            <a:avLst>
              <a:gd name="adj" fmla="val 6154"/>
            </a:avLst>
          </a:prstGeom>
          <a:solidFill>
            <a:srgbClr val="1E2F45"/>
          </a:solidFill>
          <a:ln w="12700">
            <a:solidFill>
              <a:srgbClr val="2DC653"/>
            </a:solidFill>
            <a:prstDash val="solid"/>
          </a:ln>
        </p:spPr>
      </p:sp>
      <p:sp>
        <p:nvSpPr>
          <p:cNvPr id="17" name="Shape 15"/>
          <p:cNvSpPr/>
          <p:nvPr/>
        </p:nvSpPr>
        <p:spPr>
          <a:xfrm>
            <a:off x="502920" y="3785616"/>
            <a:ext cx="1554480" cy="256032"/>
          </a:xfrm>
          <a:prstGeom prst="roundRect">
            <a:avLst>
              <a:gd name="adj" fmla="val 50000"/>
            </a:avLst>
          </a:prstGeom>
          <a:solidFill>
            <a:srgbClr val="1A8C3A"/>
          </a:solidFill>
          <a:ln w="12700">
            <a:solidFill>
              <a:srgbClr val="1A8C3A"/>
            </a:solidFill>
            <a:prstDash val="solid"/>
          </a:ln>
        </p:spPr>
      </p:sp>
      <p:sp>
        <p:nvSpPr>
          <p:cNvPr id="18" name="Text 16"/>
          <p:cNvSpPr/>
          <p:nvPr/>
        </p:nvSpPr>
        <p:spPr>
          <a:xfrm>
            <a:off x="502920" y="378561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2240280" y="3785616"/>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List the environmental impact</a:t>
            </a:r>
            <a:endParaRPr lang="en-US" sz="1300" dirty="0"/>
          </a:p>
        </p:txBody>
      </p:sp>
      <p:sp>
        <p:nvSpPr>
          <p:cNvPr id="20" name="Text 18"/>
          <p:cNvSpPr/>
          <p:nvPr/>
        </p:nvSpPr>
        <p:spPr>
          <a:xfrm>
            <a:off x="2240280" y="4151376"/>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ONE specific impact per resource. Don't just say 'bad' — describe what changes: air, land, water, wildlife, etc.</a:t>
            </a:r>
            <a:endParaRPr lang="en-US" sz="1150" dirty="0"/>
          </a:p>
        </p:txBody>
      </p:sp>
      <p:sp>
        <p:nvSpPr>
          <p:cNvPr id="21" name="Shape 19"/>
          <p:cNvSpPr/>
          <p:nvPr/>
        </p:nvSpPr>
        <p:spPr>
          <a:xfrm>
            <a:off x="365760" y="5010912"/>
            <a:ext cx="11247120" cy="1188720"/>
          </a:xfrm>
          <a:prstGeom prst="roundRect">
            <a:avLst>
              <a:gd name="adj" fmla="val 6154"/>
            </a:avLst>
          </a:prstGeom>
          <a:solidFill>
            <a:srgbClr val="1E2F45"/>
          </a:solidFill>
          <a:ln w="12700">
            <a:solidFill>
              <a:srgbClr val="2DC653"/>
            </a:solidFill>
            <a:prstDash val="solid"/>
          </a:ln>
        </p:spPr>
      </p:sp>
      <p:sp>
        <p:nvSpPr>
          <p:cNvPr id="22" name="Shape 20"/>
          <p:cNvSpPr/>
          <p:nvPr/>
        </p:nvSpPr>
        <p:spPr>
          <a:xfrm>
            <a:off x="502920" y="5084064"/>
            <a:ext cx="1554480" cy="256032"/>
          </a:xfrm>
          <a:prstGeom prst="roundRect">
            <a:avLst>
              <a:gd name="adj" fmla="val 50000"/>
            </a:avLst>
          </a:prstGeom>
          <a:solidFill>
            <a:srgbClr val="1A8C3A"/>
          </a:solidFill>
          <a:ln w="12700">
            <a:solidFill>
              <a:srgbClr val="1A8C3A"/>
            </a:solidFill>
            <a:prstDash val="solid"/>
          </a:ln>
        </p:spPr>
      </p:sp>
      <p:sp>
        <p:nvSpPr>
          <p:cNvPr id="23" name="Text 21"/>
          <p:cNvSpPr/>
          <p:nvPr/>
        </p:nvSpPr>
        <p:spPr>
          <a:xfrm>
            <a:off x="502920" y="508406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240280" y="5084064"/>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Make an evidence statement</a:t>
            </a:r>
            <a:endParaRPr lang="en-US" sz="1300" dirty="0"/>
          </a:p>
        </p:txBody>
      </p:sp>
      <p:sp>
        <p:nvSpPr>
          <p:cNvPr id="25" name="Text 23"/>
          <p:cNvSpPr/>
          <p:nvPr/>
        </p:nvSpPr>
        <p:spPr>
          <a:xfrm>
            <a:off x="2240280" y="5449824"/>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'Based on what I learned, ___ has a smaller environmental impact than ___ because…' Cite BOTH sources in your statement.</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Teacher Models First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Is solar energy a better choice than oil for Florida's electricity? Use evidence from two sources.</a:t>
            </a:r>
            <a:endParaRPr lang="en-US" sz="1300" dirty="0"/>
          </a:p>
        </p:txBody>
      </p:sp>
      <p:sp>
        <p:nvSpPr>
          <p:cNvPr id="7" name="Shape 5"/>
          <p:cNvSpPr/>
          <p:nvPr/>
        </p:nvSpPr>
        <p:spPr>
          <a:xfrm>
            <a:off x="365760" y="1463040"/>
            <a:ext cx="3566160" cy="374904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25526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Solar energy has a smaller environmental impact than oil for Florida's electricity, making it a better choice for long-term use.</a:t>
            </a:r>
            <a:endParaRPr lang="en-US" sz="1200" dirty="0"/>
          </a:p>
        </p:txBody>
      </p:sp>
      <p:sp>
        <p:nvSpPr>
          <p:cNvPr id="11" name="Shape 9"/>
          <p:cNvSpPr/>
          <p:nvPr/>
        </p:nvSpPr>
        <p:spPr>
          <a:xfrm>
            <a:off x="4114800" y="1463040"/>
            <a:ext cx="3566160" cy="374904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25526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Source 1 (lesson): Oil is nonrenewable — takes millions of years to form. Solar is renewable — comes from sunlight every day. Source 2 (EIA data): Burning oil produces CO₂ and other pollutants; solar panels produce clean electricity with no combustion.</a:t>
            </a:r>
            <a:endParaRPr lang="en-US" sz="1100" dirty="0"/>
          </a:p>
        </p:txBody>
      </p:sp>
      <p:sp>
        <p:nvSpPr>
          <p:cNvPr id="15" name="Shape 13"/>
          <p:cNvSpPr/>
          <p:nvPr/>
        </p:nvSpPr>
        <p:spPr>
          <a:xfrm>
            <a:off x="7863840" y="1463040"/>
            <a:ext cx="3749040" cy="3749040"/>
          </a:xfrm>
          <a:prstGeom prst="roundRect">
            <a:avLst>
              <a:gd name="adj" fmla="val 2439"/>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2552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Solar wins on both criteria that matter: long-term availability (it's renewable) and environmental impact (no combustion = no air pollution). Oil does produce more energy per unit, but once it's gone, it's gone. Florida has abundant sunlight — making solar especially well-suited for this region.</a:t>
            </a:r>
            <a:endParaRPr lang="en-US" sz="10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Your Turn (Independent)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Should Florida slow down its phosphate mining to protect the environment? Use evidence.</a:t>
            </a:r>
            <a:endParaRPr lang="en-US" sz="1300" dirty="0"/>
          </a:p>
        </p:txBody>
      </p:sp>
      <p:sp>
        <p:nvSpPr>
          <p:cNvPr id="7" name="Shape 5"/>
          <p:cNvSpPr/>
          <p:nvPr/>
        </p:nvSpPr>
        <p:spPr>
          <a:xfrm>
            <a:off x="365760" y="1463040"/>
            <a:ext cx="3566160" cy="365760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163824"/>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Write a clear claim — take a position and state it. (You can argue EITHER way — just support it with evidence.)</a:t>
            </a:r>
            <a:endParaRPr lang="en-US" sz="1150" dirty="0"/>
          </a:p>
        </p:txBody>
      </p:sp>
      <p:sp>
        <p:nvSpPr>
          <p:cNvPr id="11" name="Shape 9"/>
          <p:cNvSpPr/>
          <p:nvPr/>
        </p:nvSpPr>
        <p:spPr>
          <a:xfrm>
            <a:off x="4114800" y="1463040"/>
            <a:ext cx="3566160" cy="365760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163824"/>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Include information from the lesson (Source 1) and at least one other thing you know or learned (Source 2).</a:t>
            </a:r>
            <a:endParaRPr lang="en-US" sz="1150" dirty="0"/>
          </a:p>
        </p:txBody>
      </p:sp>
      <p:sp>
        <p:nvSpPr>
          <p:cNvPr id="15" name="Shape 13"/>
          <p:cNvSpPr/>
          <p:nvPr/>
        </p:nvSpPr>
        <p:spPr>
          <a:xfrm>
            <a:off x="7863840" y="1463040"/>
            <a:ext cx="3749040" cy="3657600"/>
          </a:xfrm>
          <a:prstGeom prst="roundRect">
            <a:avLst>
              <a:gd name="adj" fmla="val 2500"/>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1638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Explain why your evidence supports your claim. Address the tradeoff — phosphate feeds people, but mining has a cost. How do you weigh both sides?</a:t>
            </a:r>
            <a:endParaRPr lang="en-US" sz="1100" dirty="0"/>
          </a:p>
        </p:txBody>
      </p:sp>
      <p:sp>
        <p:nvSpPr>
          <p:cNvPr id="19" name="Shape 17"/>
          <p:cNvSpPr/>
          <p:nvPr/>
        </p:nvSpPr>
        <p:spPr>
          <a:xfrm>
            <a:off x="365760" y="5248656"/>
            <a:ext cx="11247120" cy="658368"/>
          </a:xfrm>
          <a:prstGeom prst="roundRect">
            <a:avLst>
              <a:gd name="adj" fmla="val 11111"/>
            </a:avLst>
          </a:prstGeom>
          <a:solidFill>
            <a:srgbClr val="1A1A2A"/>
          </a:solidFill>
          <a:ln w="12700">
            <a:solidFill>
              <a:srgbClr val="B0C4D8"/>
            </a:solidFill>
            <a:prstDash val="solid"/>
          </a:ln>
        </p:spPr>
      </p:sp>
      <p:sp>
        <p:nvSpPr>
          <p:cNvPr id="20" name="Text 18"/>
          <p:cNvSpPr/>
          <p:nvPr/>
        </p:nvSpPr>
        <p:spPr>
          <a:xfrm>
            <a:off x="548640" y="5321808"/>
            <a:ext cx="10972800" cy="512064"/>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 There's no single right answer here — but your reasoning needs to honestly address BOTH sides of the tradeoff.</a:t>
            </a:r>
            <a:endParaRPr lang="en-US" sz="11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Self-Check — Discuss Together</a:t>
            </a:r>
            <a:endParaRPr lang="en-US" sz="1600" dirty="0"/>
          </a:p>
        </p:txBody>
      </p:sp>
      <p:sp>
        <p:nvSpPr>
          <p:cNvPr id="5" name="Shape 3"/>
          <p:cNvSpPr/>
          <p:nvPr/>
        </p:nvSpPr>
        <p:spPr>
          <a:xfrm>
            <a:off x="365760" y="713232"/>
            <a:ext cx="11247120" cy="1810512"/>
          </a:xfrm>
          <a:prstGeom prst="roundRect">
            <a:avLst>
              <a:gd name="adj" fmla="val 4040"/>
            </a:avLst>
          </a:prstGeom>
          <a:solidFill>
            <a:srgbClr val="1E2F45"/>
          </a:solidFill>
          <a:ln w="12700">
            <a:solidFill>
              <a:srgbClr val="4CC9F0"/>
            </a:solidFill>
            <a:prstDash val="solid"/>
          </a:ln>
        </p:spPr>
      </p:sp>
      <p:sp>
        <p:nvSpPr>
          <p:cNvPr id="6" name="Text 4"/>
          <p:cNvSpPr/>
          <p:nvPr/>
        </p:nvSpPr>
        <p:spPr>
          <a:xfrm>
            <a:off x="548640" y="786384"/>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Q1: Which Florida resource is RENEWABLE?</a:t>
            </a:r>
            <a:endParaRPr lang="en-US" sz="1200" dirty="0"/>
          </a:p>
        </p:txBody>
      </p:sp>
      <p:sp>
        <p:nvSpPr>
          <p:cNvPr id="7" name="Text 5"/>
          <p:cNvSpPr/>
          <p:nvPr/>
        </p:nvSpPr>
        <p:spPr>
          <a:xfrm>
            <a:off x="731520" y="117043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Oil pumped from underground</a:t>
            </a:r>
            <a:endParaRPr lang="en-US" sz="1100" dirty="0"/>
          </a:p>
        </p:txBody>
      </p:sp>
      <p:sp>
        <p:nvSpPr>
          <p:cNvPr id="8" name="Text 6"/>
          <p:cNvSpPr/>
          <p:nvPr/>
        </p:nvSpPr>
        <p:spPr>
          <a:xfrm>
            <a:off x="731520" y="1472184"/>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B) Sunlight ✅</a:t>
            </a:r>
            <a:endParaRPr lang="en-US" sz="1100" dirty="0"/>
          </a:p>
        </p:txBody>
      </p:sp>
      <p:sp>
        <p:nvSpPr>
          <p:cNvPr id="9" name="Text 7"/>
          <p:cNvSpPr/>
          <p:nvPr/>
        </p:nvSpPr>
        <p:spPr>
          <a:xfrm>
            <a:off x="731520" y="1773936"/>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Limestone mined from rock</a:t>
            </a:r>
            <a:endParaRPr lang="en-US" sz="1100" dirty="0"/>
          </a:p>
        </p:txBody>
      </p:sp>
      <p:sp>
        <p:nvSpPr>
          <p:cNvPr id="10" name="Text 8"/>
          <p:cNvSpPr/>
          <p:nvPr/>
        </p:nvSpPr>
        <p:spPr>
          <a:xfrm>
            <a:off x="548640" y="2103120"/>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B — sunlight returns every day.</a:t>
            </a:r>
            <a:endParaRPr lang="en-US" sz="1000" dirty="0"/>
          </a:p>
        </p:txBody>
      </p:sp>
      <p:sp>
        <p:nvSpPr>
          <p:cNvPr id="11" name="Shape 9"/>
          <p:cNvSpPr/>
          <p:nvPr/>
        </p:nvSpPr>
        <p:spPr>
          <a:xfrm>
            <a:off x="365760" y="2651760"/>
            <a:ext cx="11247120" cy="1810512"/>
          </a:xfrm>
          <a:prstGeom prst="roundRect">
            <a:avLst>
              <a:gd name="adj" fmla="val 4040"/>
            </a:avLst>
          </a:prstGeom>
          <a:solidFill>
            <a:srgbClr val="1E2F45"/>
          </a:solidFill>
          <a:ln w="12700">
            <a:solidFill>
              <a:srgbClr val="4CC9F0"/>
            </a:solidFill>
            <a:prstDash val="solid"/>
          </a:ln>
        </p:spPr>
      </p:sp>
      <p:sp>
        <p:nvSpPr>
          <p:cNvPr id="12" name="Text 10"/>
          <p:cNvSpPr/>
          <p:nvPr/>
        </p:nvSpPr>
        <p:spPr>
          <a:xfrm>
            <a:off x="548640" y="272491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Q2: Why are oil, coal, and natural gas called nonrenewable?</a:t>
            </a:r>
            <a:endParaRPr lang="en-US" sz="1200" dirty="0"/>
          </a:p>
        </p:txBody>
      </p:sp>
      <p:sp>
        <p:nvSpPr>
          <p:cNvPr id="13" name="Text 11"/>
          <p:cNvSpPr/>
          <p:nvPr/>
        </p:nvSpPr>
        <p:spPr>
          <a:xfrm>
            <a:off x="731520" y="3108960"/>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Because they are hard to find</a:t>
            </a:r>
            <a:endParaRPr lang="en-US" sz="1100" dirty="0"/>
          </a:p>
        </p:txBody>
      </p:sp>
      <p:sp>
        <p:nvSpPr>
          <p:cNvPr id="14" name="Text 12"/>
          <p:cNvSpPr/>
          <p:nvPr/>
        </p:nvSpPr>
        <p:spPr>
          <a:xfrm>
            <a:off x="731520" y="341071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Because they cost too much</a:t>
            </a:r>
            <a:endParaRPr lang="en-US" sz="1100" dirty="0"/>
          </a:p>
        </p:txBody>
      </p:sp>
      <p:sp>
        <p:nvSpPr>
          <p:cNvPr id="15" name="Text 13"/>
          <p:cNvSpPr/>
          <p:nvPr/>
        </p:nvSpPr>
        <p:spPr>
          <a:xfrm>
            <a:off x="731520" y="3712464"/>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C) Because they take millions of years to form — they cannot come back fast enough ✅</a:t>
            </a:r>
            <a:endParaRPr lang="en-US" sz="1100" dirty="0"/>
          </a:p>
        </p:txBody>
      </p:sp>
      <p:sp>
        <p:nvSpPr>
          <p:cNvPr id="16" name="Text 14"/>
          <p:cNvSpPr/>
          <p:nvPr/>
        </p:nvSpPr>
        <p:spPr>
          <a:xfrm>
            <a:off x="548640" y="4041648"/>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C — it is about TIME, not price or availability.</a:t>
            </a:r>
            <a:endParaRPr lang="en-US" sz="1000" dirty="0"/>
          </a:p>
        </p:txBody>
      </p:sp>
      <p:sp>
        <p:nvSpPr>
          <p:cNvPr id="17" name="Shape 15"/>
          <p:cNvSpPr/>
          <p:nvPr/>
        </p:nvSpPr>
        <p:spPr>
          <a:xfrm>
            <a:off x="365760" y="4590288"/>
            <a:ext cx="11247120" cy="1810512"/>
          </a:xfrm>
          <a:prstGeom prst="roundRect">
            <a:avLst>
              <a:gd name="adj" fmla="val 4040"/>
            </a:avLst>
          </a:prstGeom>
          <a:solidFill>
            <a:srgbClr val="1E2F45"/>
          </a:solidFill>
          <a:ln w="12700">
            <a:solidFill>
              <a:srgbClr val="4CC9F0"/>
            </a:solidFill>
            <a:prstDash val="solid"/>
          </a:ln>
        </p:spPr>
      </p:sp>
      <p:sp>
        <p:nvSpPr>
          <p:cNvPr id="18" name="Text 16"/>
          <p:cNvSpPr/>
          <p:nvPr/>
        </p:nvSpPr>
        <p:spPr>
          <a:xfrm>
            <a:off x="548640" y="4663440"/>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Q3: 'Solar panels have zero environmental impact.' Most accurate response?</a:t>
            </a:r>
            <a:endParaRPr lang="en-US" sz="1200" dirty="0"/>
          </a:p>
        </p:txBody>
      </p:sp>
      <p:sp>
        <p:nvSpPr>
          <p:cNvPr id="19" name="Text 17"/>
          <p:cNvSpPr/>
          <p:nvPr/>
        </p:nvSpPr>
        <p:spPr>
          <a:xfrm>
            <a:off x="731520" y="5047488"/>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Agree — solar is perfect</a:t>
            </a:r>
            <a:endParaRPr lang="en-US" sz="1100" dirty="0"/>
          </a:p>
        </p:txBody>
      </p:sp>
      <p:sp>
        <p:nvSpPr>
          <p:cNvPr id="20" name="Text 18"/>
          <p:cNvSpPr/>
          <p:nvPr/>
        </p:nvSpPr>
        <p:spPr>
          <a:xfrm>
            <a:off x="731520" y="5349240"/>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B) Disagree — solar needs land and resources to build, but impact is much smaller than fossil fuels ✅</a:t>
            </a:r>
            <a:endParaRPr lang="en-US" sz="1100" dirty="0"/>
          </a:p>
        </p:txBody>
      </p:sp>
      <p:sp>
        <p:nvSpPr>
          <p:cNvPr id="21" name="Text 19"/>
          <p:cNvSpPr/>
          <p:nvPr/>
        </p:nvSpPr>
        <p:spPr>
          <a:xfrm>
            <a:off x="731520" y="565099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Disagree — solar causes more pollution than oil</a:t>
            </a:r>
            <a:endParaRPr lang="en-US" sz="1100" dirty="0"/>
          </a:p>
        </p:txBody>
      </p:sp>
      <p:sp>
        <p:nvSpPr>
          <p:cNvPr id="22" name="Text 20"/>
          <p:cNvSpPr/>
          <p:nvPr/>
        </p:nvSpPr>
        <p:spPr>
          <a:xfrm>
            <a:off x="548640" y="5980176"/>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B — renewable ≠ impact-free.</a:t>
            </a:r>
            <a:endParaRPr lang="en-US" sz="10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What to Turn In</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Two-source evidence is the skill focus of this lesson — make sure Part B uses it!</a:t>
            </a:r>
            <a:endParaRPr lang="en-US" sz="1200" dirty="0"/>
          </a:p>
        </p:txBody>
      </p:sp>
      <p:sp>
        <p:nvSpPr>
          <p:cNvPr id="6" name="Shape 4"/>
          <p:cNvSpPr/>
          <p:nvPr/>
        </p:nvSpPr>
        <p:spPr>
          <a:xfrm>
            <a:off x="365760" y="1115568"/>
            <a:ext cx="11247120" cy="1207008"/>
          </a:xfrm>
          <a:prstGeom prst="roundRect">
            <a:avLst>
              <a:gd name="adj" fmla="val 6061"/>
            </a:avLst>
          </a:prstGeom>
          <a:solidFill>
            <a:srgbClr val="1E2F45"/>
          </a:solidFill>
          <a:ln w="12700">
            <a:solidFill>
              <a:srgbClr val="FFB703"/>
            </a:solidFill>
            <a:prstDash val="solid"/>
          </a:ln>
        </p:spPr>
      </p:sp>
      <p:sp>
        <p:nvSpPr>
          <p:cNvPr id="7" name="Shape 5"/>
          <p:cNvSpPr/>
          <p:nvPr/>
        </p:nvSpPr>
        <p:spPr>
          <a:xfrm>
            <a:off x="502920" y="1225296"/>
            <a:ext cx="1554480" cy="256032"/>
          </a:xfrm>
          <a:prstGeom prst="roundRect">
            <a:avLst>
              <a:gd name="adj" fmla="val 50000"/>
            </a:avLst>
          </a:prstGeom>
          <a:solidFill>
            <a:srgbClr val="E09200"/>
          </a:solidFill>
          <a:ln w="12700">
            <a:solidFill>
              <a:srgbClr val="E09200"/>
            </a:solidFill>
            <a:prstDash val="solid"/>
          </a:ln>
        </p:spPr>
      </p:sp>
      <p:sp>
        <p:nvSpPr>
          <p:cNvPr id="8" name="Text 6"/>
          <p:cNvSpPr/>
          <p:nvPr/>
        </p:nvSpPr>
        <p:spPr>
          <a:xfrm>
            <a:off x="50292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 Match the Word</a:t>
            </a:r>
            <a:endParaRPr lang="en-US" sz="900" dirty="0"/>
          </a:p>
        </p:txBody>
      </p:sp>
      <p:sp>
        <p:nvSpPr>
          <p:cNvPr id="9" name="Text 7"/>
          <p:cNvSpPr/>
          <p:nvPr/>
        </p:nvSpPr>
        <p:spPr>
          <a:xfrm>
            <a:off x="2240280" y="1225296"/>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Resource, Renewable, Nonrenewable, Impact — 4 blanks</a:t>
            </a:r>
            <a:endParaRPr lang="en-US" sz="1200" dirty="0"/>
          </a:p>
        </p:txBody>
      </p:sp>
      <p:sp>
        <p:nvSpPr>
          <p:cNvPr id="10" name="Shape 8"/>
          <p:cNvSpPr/>
          <p:nvPr/>
        </p:nvSpPr>
        <p:spPr>
          <a:xfrm>
            <a:off x="9784080" y="1225296"/>
            <a:ext cx="1554480" cy="256032"/>
          </a:xfrm>
          <a:prstGeom prst="roundRect">
            <a:avLst>
              <a:gd name="adj" fmla="val 50000"/>
            </a:avLst>
          </a:prstGeom>
          <a:solidFill>
            <a:srgbClr val="243A52"/>
          </a:solidFill>
          <a:ln w="12700">
            <a:solidFill>
              <a:srgbClr val="243A52"/>
            </a:solidFill>
            <a:prstDash val="solid"/>
          </a:ln>
        </p:spPr>
      </p:sp>
      <p:sp>
        <p:nvSpPr>
          <p:cNvPr id="11" name="Text 9"/>
          <p:cNvSpPr/>
          <p:nvPr/>
        </p:nvSpPr>
        <p:spPr>
          <a:xfrm>
            <a:off x="978408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4-5</a:t>
            </a:r>
            <a:endParaRPr lang="en-US" sz="900" dirty="0"/>
          </a:p>
        </p:txBody>
      </p:sp>
      <p:sp>
        <p:nvSpPr>
          <p:cNvPr id="12" name="Shape 10"/>
          <p:cNvSpPr/>
          <p:nvPr/>
        </p:nvSpPr>
        <p:spPr>
          <a:xfrm>
            <a:off x="365760" y="2450592"/>
            <a:ext cx="11247120" cy="1207008"/>
          </a:xfrm>
          <a:prstGeom prst="roundRect">
            <a:avLst>
              <a:gd name="adj" fmla="val 6061"/>
            </a:avLst>
          </a:prstGeom>
          <a:solidFill>
            <a:srgbClr val="1E2F45"/>
          </a:solidFill>
          <a:ln w="12700">
            <a:solidFill>
              <a:srgbClr val="FFB703"/>
            </a:solidFill>
            <a:prstDash val="solid"/>
          </a:ln>
        </p:spPr>
      </p:sp>
      <p:sp>
        <p:nvSpPr>
          <p:cNvPr id="13" name="Shape 11"/>
          <p:cNvSpPr/>
          <p:nvPr/>
        </p:nvSpPr>
        <p:spPr>
          <a:xfrm>
            <a:off x="502920" y="2560320"/>
            <a:ext cx="1554480" cy="256032"/>
          </a:xfrm>
          <a:prstGeom prst="roundRect">
            <a:avLst>
              <a:gd name="adj" fmla="val 50000"/>
            </a:avLst>
          </a:prstGeom>
          <a:solidFill>
            <a:srgbClr val="E09200"/>
          </a:solidFill>
          <a:ln w="12700">
            <a:solidFill>
              <a:srgbClr val="E09200"/>
            </a:solidFill>
            <a:prstDash val="solid"/>
          </a:ln>
        </p:spPr>
      </p:sp>
      <p:sp>
        <p:nvSpPr>
          <p:cNvPr id="14" name="Text 12"/>
          <p:cNvSpPr/>
          <p:nvPr/>
        </p:nvSpPr>
        <p:spPr>
          <a:xfrm>
            <a:off x="50292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 Short Answer (Q5-7)</a:t>
            </a:r>
            <a:endParaRPr lang="en-US" sz="900" dirty="0"/>
          </a:p>
        </p:txBody>
      </p:sp>
      <p:sp>
        <p:nvSpPr>
          <p:cNvPr id="15" name="Text 13"/>
          <p:cNvSpPr/>
          <p:nvPr/>
        </p:nvSpPr>
        <p:spPr>
          <a:xfrm>
            <a:off x="2240280" y="2560320"/>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Pick a Florida resource + uses + impact; explain renewable vs nonrenewable with examples; explain why scientists use TWO sources</a:t>
            </a:r>
            <a:endParaRPr lang="en-US" sz="1200" dirty="0"/>
          </a:p>
        </p:txBody>
      </p:sp>
      <p:sp>
        <p:nvSpPr>
          <p:cNvPr id="16" name="Shape 14"/>
          <p:cNvSpPr/>
          <p:nvPr/>
        </p:nvSpPr>
        <p:spPr>
          <a:xfrm>
            <a:off x="9784080" y="2560320"/>
            <a:ext cx="1554480" cy="256032"/>
          </a:xfrm>
          <a:prstGeom prst="roundRect">
            <a:avLst>
              <a:gd name="adj" fmla="val 50000"/>
            </a:avLst>
          </a:prstGeom>
          <a:solidFill>
            <a:srgbClr val="243A52"/>
          </a:solidFill>
          <a:ln w="12700">
            <a:solidFill>
              <a:srgbClr val="243A52"/>
            </a:solidFill>
            <a:prstDash val="solid"/>
          </a:ln>
        </p:spPr>
      </p:sp>
      <p:sp>
        <p:nvSpPr>
          <p:cNvPr id="17" name="Text 15"/>
          <p:cNvSpPr/>
          <p:nvPr/>
        </p:nvSpPr>
        <p:spPr>
          <a:xfrm>
            <a:off x="978408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6-9</a:t>
            </a:r>
            <a:endParaRPr lang="en-US" sz="900" dirty="0"/>
          </a:p>
        </p:txBody>
      </p:sp>
      <p:sp>
        <p:nvSpPr>
          <p:cNvPr id="18" name="Shape 16"/>
          <p:cNvSpPr/>
          <p:nvPr/>
        </p:nvSpPr>
        <p:spPr>
          <a:xfrm>
            <a:off x="365760" y="3785616"/>
            <a:ext cx="11247120" cy="1207008"/>
          </a:xfrm>
          <a:prstGeom prst="roundRect">
            <a:avLst>
              <a:gd name="adj" fmla="val 6061"/>
            </a:avLst>
          </a:prstGeom>
          <a:solidFill>
            <a:srgbClr val="1E2F45"/>
          </a:solidFill>
          <a:ln w="12700">
            <a:solidFill>
              <a:srgbClr val="FFB703"/>
            </a:solidFill>
            <a:prstDash val="solid"/>
          </a:ln>
        </p:spPr>
      </p:sp>
      <p:sp>
        <p:nvSpPr>
          <p:cNvPr id="19" name="Shape 17"/>
          <p:cNvSpPr/>
          <p:nvPr/>
        </p:nvSpPr>
        <p:spPr>
          <a:xfrm>
            <a:off x="502920" y="3895344"/>
            <a:ext cx="1554480" cy="256032"/>
          </a:xfrm>
          <a:prstGeom prst="roundRect">
            <a:avLst>
              <a:gd name="adj" fmla="val 50000"/>
            </a:avLst>
          </a:prstGeom>
          <a:solidFill>
            <a:srgbClr val="E09200"/>
          </a:solidFill>
          <a:ln w="12700">
            <a:solidFill>
              <a:srgbClr val="E09200"/>
            </a:solidFill>
            <a:prstDash val="solid"/>
          </a:ln>
        </p:spPr>
      </p:sp>
      <p:sp>
        <p:nvSpPr>
          <p:cNvPr id="20" name="Text 18"/>
          <p:cNvSpPr/>
          <p:nvPr/>
        </p:nvSpPr>
        <p:spPr>
          <a:xfrm>
            <a:off x="50292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Evidence Argument</a:t>
            </a:r>
            <a:endParaRPr lang="en-US" sz="900" dirty="0"/>
          </a:p>
        </p:txBody>
      </p:sp>
      <p:sp>
        <p:nvSpPr>
          <p:cNvPr id="21" name="Text 19"/>
          <p:cNvSpPr/>
          <p:nvPr/>
        </p:nvSpPr>
        <p:spPr>
          <a:xfrm>
            <a:off x="2240280" y="3895344"/>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'All renewable = good, all nonrenewable = bad.' Agree or disagree? 2 pieces of evidence from the lesson.</a:t>
            </a:r>
            <a:endParaRPr lang="en-US" sz="1200" dirty="0"/>
          </a:p>
        </p:txBody>
      </p:sp>
      <p:sp>
        <p:nvSpPr>
          <p:cNvPr id="22" name="Shape 20"/>
          <p:cNvSpPr/>
          <p:nvPr/>
        </p:nvSpPr>
        <p:spPr>
          <a:xfrm>
            <a:off x="9784080" y="3895344"/>
            <a:ext cx="1554480" cy="256032"/>
          </a:xfrm>
          <a:prstGeom prst="roundRect">
            <a:avLst>
              <a:gd name="adj" fmla="val 50000"/>
            </a:avLst>
          </a:prstGeom>
          <a:solidFill>
            <a:srgbClr val="243A52"/>
          </a:solidFill>
          <a:ln w="12700">
            <a:solidFill>
              <a:srgbClr val="243A52"/>
            </a:solidFill>
            <a:prstDash val="solid"/>
          </a:ln>
        </p:spPr>
      </p:sp>
      <p:sp>
        <p:nvSpPr>
          <p:cNvPr id="23" name="Text 21"/>
          <p:cNvSpPr/>
          <p:nvPr/>
        </p:nvSpPr>
        <p:spPr>
          <a:xfrm>
            <a:off x="978408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10-11</a:t>
            </a:r>
            <a:endParaRPr lang="en-US" sz="900" dirty="0"/>
          </a:p>
        </p:txBody>
      </p:sp>
      <p:sp>
        <p:nvSpPr>
          <p:cNvPr id="24" name="Shape 22"/>
          <p:cNvSpPr/>
          <p:nvPr/>
        </p:nvSpPr>
        <p:spPr>
          <a:xfrm>
            <a:off x="365760" y="5120640"/>
            <a:ext cx="11247120" cy="1207008"/>
          </a:xfrm>
          <a:prstGeom prst="roundRect">
            <a:avLst>
              <a:gd name="adj" fmla="val 6061"/>
            </a:avLst>
          </a:prstGeom>
          <a:solidFill>
            <a:srgbClr val="1E2F45"/>
          </a:solidFill>
          <a:ln w="12700">
            <a:solidFill>
              <a:srgbClr val="FFB703"/>
            </a:solidFill>
            <a:prstDash val="solid"/>
          </a:ln>
        </p:spPr>
      </p:sp>
      <p:sp>
        <p:nvSpPr>
          <p:cNvPr id="25" name="Shape 23"/>
          <p:cNvSpPr/>
          <p:nvPr/>
        </p:nvSpPr>
        <p:spPr>
          <a:xfrm>
            <a:off x="502920" y="5230368"/>
            <a:ext cx="1554480" cy="256032"/>
          </a:xfrm>
          <a:prstGeom prst="roundRect">
            <a:avLst>
              <a:gd name="adj" fmla="val 50000"/>
            </a:avLst>
          </a:prstGeom>
          <a:solidFill>
            <a:srgbClr val="E09200"/>
          </a:solidFill>
          <a:ln w="12700">
            <a:solidFill>
              <a:srgbClr val="E09200"/>
            </a:solidFill>
            <a:prstDash val="solid"/>
          </a:ln>
        </p:spPr>
      </p:sp>
      <p:sp>
        <p:nvSpPr>
          <p:cNvPr id="26" name="Text 24"/>
          <p:cNvSpPr/>
          <p:nvPr/>
        </p:nvSpPr>
        <p:spPr>
          <a:xfrm>
            <a:off x="50292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C — Food Chain Drawing</a:t>
            </a:r>
            <a:endParaRPr lang="en-US" sz="900" dirty="0"/>
          </a:p>
        </p:txBody>
      </p:sp>
      <p:sp>
        <p:nvSpPr>
          <p:cNvPr id="27" name="Text 25"/>
          <p:cNvSpPr/>
          <p:nvPr/>
        </p:nvSpPr>
        <p:spPr>
          <a:xfrm>
            <a:off x="2240280" y="5230368"/>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Draw a NEW Florida food chain — Sun + 1 producer + 2 consumers + labeled energy arrows.</a:t>
            </a:r>
            <a:endParaRPr lang="en-US" sz="1200" dirty="0"/>
          </a:p>
        </p:txBody>
      </p:sp>
      <p:sp>
        <p:nvSpPr>
          <p:cNvPr id="28" name="Shape 26"/>
          <p:cNvSpPr/>
          <p:nvPr/>
        </p:nvSpPr>
        <p:spPr>
          <a:xfrm>
            <a:off x="9784080" y="5230368"/>
            <a:ext cx="1554480" cy="256032"/>
          </a:xfrm>
          <a:prstGeom prst="roundRect">
            <a:avLst>
              <a:gd name="adj" fmla="val 50000"/>
            </a:avLst>
          </a:prstGeom>
          <a:solidFill>
            <a:srgbClr val="243A52"/>
          </a:solidFill>
          <a:ln w="12700">
            <a:solidFill>
              <a:srgbClr val="243A52"/>
            </a:solidFill>
            <a:prstDash val="solid"/>
          </a:ln>
        </p:spPr>
      </p:sp>
      <p:sp>
        <p:nvSpPr>
          <p:cNvPr id="29" name="Text 27"/>
          <p:cNvSpPr/>
          <p:nvPr/>
        </p:nvSpPr>
        <p:spPr>
          <a:xfrm>
            <a:off x="978408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6-8</a:t>
            </a:r>
            <a:endParaRPr lang="en-US" sz="90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do people use Earth's resources — and which ones will run out?"</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All 4 vocab blanks (Resource, Renewable, Nonrenewable, Impact)</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Q5-7 in complete sentences with lesson vocabulary</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Evidence Argument: Claim about renewable/nonrenewable + 2 pieces of evidence</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Florida food chain — Sun + 1 producer + 2 consumers + labeled energy arrows</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15.02 — Data Task: Local Resources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Why are some Florida resources found in one place and not another? Read a resource map and use patterns as evidence.</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Fossil Fuels — Why They Formed and Why They Matter</a:t>
            </a:r>
            <a:endParaRPr lang="en-US" sz="1600" dirty="0"/>
          </a:p>
        </p:txBody>
      </p:sp>
      <p:sp>
        <p:nvSpPr>
          <p:cNvPr id="5" name="Shape 3"/>
          <p:cNvSpPr/>
          <p:nvPr/>
        </p:nvSpPr>
        <p:spPr>
          <a:xfrm>
            <a:off x="365760" y="749808"/>
            <a:ext cx="11247120" cy="658368"/>
          </a:xfrm>
          <a:prstGeom prst="roundRect">
            <a:avLst>
              <a:gd name="adj" fmla="val 11111"/>
            </a:avLst>
          </a:prstGeom>
          <a:solidFill>
            <a:srgbClr val="1E2F45"/>
          </a:solidFill>
          <a:ln w="12700">
            <a:solidFill>
              <a:srgbClr val="FFB703"/>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Oil, coal, and natural gas are called FOSSIL FUELS because they formed from ancient living things.</a:t>
            </a:r>
            <a:endParaRPr lang="en-US" sz="1400" dirty="0"/>
          </a:p>
        </p:txBody>
      </p:sp>
      <p:sp>
        <p:nvSpPr>
          <p:cNvPr id="7" name="Shape 5"/>
          <p:cNvSpPr/>
          <p:nvPr/>
        </p:nvSpPr>
        <p:spPr>
          <a:xfrm>
            <a:off x="365760" y="1536192"/>
            <a:ext cx="5303520" cy="3364992"/>
          </a:xfrm>
          <a:prstGeom prst="roundRect">
            <a:avLst>
              <a:gd name="adj" fmla="val 2174"/>
            </a:avLst>
          </a:prstGeom>
          <a:solidFill>
            <a:srgbClr val="0A1520"/>
          </a:solidFill>
          <a:ln w="19050">
            <a:solidFill>
              <a:srgbClr val="4CC9F0"/>
            </a:solidFill>
            <a:prstDash val="dash"/>
          </a:ln>
        </p:spPr>
      </p:sp>
      <p:sp>
        <p:nvSpPr>
          <p:cNvPr id="8" name="Text 6"/>
          <p:cNvSpPr/>
          <p:nvPr/>
        </p:nvSpPr>
        <p:spPr>
          <a:xfrm>
            <a:off x="457200" y="1645920"/>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084832"/>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377440"/>
            <a:ext cx="5084064" cy="23134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"fossil fuel formation oil coal natural gas ancient plants animals underground geological diagram"</a:t>
            </a:r>
            <a:endParaRPr lang="en-US" sz="950" dirty="0"/>
          </a:p>
        </p:txBody>
      </p:sp>
      <p:sp>
        <p:nvSpPr>
          <p:cNvPr id="11" name="Text 9"/>
          <p:cNvSpPr/>
          <p:nvPr/>
        </p:nvSpPr>
        <p:spPr>
          <a:xfrm>
            <a:off x="365760" y="4937760"/>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How fossil fuels form — millions of years of pressure and heat on ancient organisms</a:t>
            </a:r>
            <a:endParaRPr lang="en-US" sz="900" dirty="0"/>
          </a:p>
        </p:txBody>
      </p:sp>
      <p:sp>
        <p:nvSpPr>
          <p:cNvPr id="12" name="Shape 10"/>
          <p:cNvSpPr/>
          <p:nvPr/>
        </p:nvSpPr>
        <p:spPr>
          <a:xfrm>
            <a:off x="5852160" y="1536192"/>
            <a:ext cx="5760720" cy="1572768"/>
          </a:xfrm>
          <a:prstGeom prst="roundRect">
            <a:avLst>
              <a:gd name="adj" fmla="val 4651"/>
            </a:avLst>
          </a:prstGeom>
          <a:solidFill>
            <a:srgbClr val="1E2F45"/>
          </a:solidFill>
          <a:ln w="12700">
            <a:solidFill>
              <a:srgbClr val="FFB703"/>
            </a:solidFill>
            <a:prstDash val="solid"/>
          </a:ln>
        </p:spPr>
      </p:sp>
      <p:sp>
        <p:nvSpPr>
          <p:cNvPr id="13" name="Text 11"/>
          <p:cNvSpPr/>
          <p:nvPr/>
        </p:nvSpPr>
        <p:spPr>
          <a:xfrm>
            <a:off x="6035040" y="1609344"/>
            <a:ext cx="539496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How Fossil Fuels Form:</a:t>
            </a:r>
            <a:endParaRPr lang="en-US" sz="1300" dirty="0"/>
          </a:p>
        </p:txBody>
      </p:sp>
      <p:sp>
        <p:nvSpPr>
          <p:cNvPr id="14" name="Text 12"/>
          <p:cNvSpPr/>
          <p:nvPr/>
        </p:nvSpPr>
        <p:spPr>
          <a:xfrm>
            <a:off x="6035040" y="1975104"/>
            <a:ext cx="5394960" cy="100584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1. Ancient plants and animals die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2. Layers of sediment bury them</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3. Over MILLIONS of years: heat + pressure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4. Organic material transforms into oil, gas, or coal</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5. Humans drill or mine to extract it</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6. Once burned: the energy is gone. So is the carbon.</a:t>
            </a:r>
            <a:endParaRPr lang="en-US" sz="1150" dirty="0"/>
          </a:p>
        </p:txBody>
      </p:sp>
      <p:sp>
        <p:nvSpPr>
          <p:cNvPr id="15" name="Shape 13"/>
          <p:cNvSpPr/>
          <p:nvPr/>
        </p:nvSpPr>
        <p:spPr>
          <a:xfrm>
            <a:off x="5852160" y="3236976"/>
            <a:ext cx="5760720" cy="1664208"/>
          </a:xfrm>
          <a:prstGeom prst="roundRect">
            <a:avLst>
              <a:gd name="adj" fmla="val 4396"/>
            </a:avLst>
          </a:prstGeom>
          <a:solidFill>
            <a:srgbClr val="1A0A05"/>
          </a:solidFill>
          <a:ln w="12700">
            <a:solidFill>
              <a:srgbClr val="F4736A"/>
            </a:solidFill>
            <a:prstDash val="solid"/>
          </a:ln>
        </p:spPr>
      </p:sp>
      <p:sp>
        <p:nvSpPr>
          <p:cNvPr id="16" name="Text 14"/>
          <p:cNvSpPr/>
          <p:nvPr/>
        </p:nvSpPr>
        <p:spPr>
          <a:xfrm>
            <a:off x="6035040" y="3310128"/>
            <a:ext cx="5394960" cy="329184"/>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The Time Problem:</a:t>
            </a:r>
            <a:endParaRPr lang="en-US" sz="1300" dirty="0"/>
          </a:p>
        </p:txBody>
      </p:sp>
      <p:sp>
        <p:nvSpPr>
          <p:cNvPr id="17" name="Text 15"/>
          <p:cNvSpPr/>
          <p:nvPr/>
        </p:nvSpPr>
        <p:spPr>
          <a:xfrm>
            <a:off x="6035040" y="3675888"/>
            <a:ext cx="5394960" cy="10972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Formation: ~300 million years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Car burns 1 barrel: ~1 week</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That time difference — 300 million years vs. 1 week — is WHY fossil fuels are nonrenewable. They can't possibly come back fast enough to replace what we use.</a:t>
            </a:r>
            <a:endParaRPr lang="en-US" sz="1200" dirty="0"/>
          </a:p>
        </p:txBody>
      </p:sp>
      <p:sp>
        <p:nvSpPr>
          <p:cNvPr id="18" name="Shape 16"/>
          <p:cNvSpPr/>
          <p:nvPr/>
        </p:nvSpPr>
        <p:spPr>
          <a:xfrm>
            <a:off x="365760" y="5029200"/>
            <a:ext cx="11247120" cy="877824"/>
          </a:xfrm>
          <a:prstGeom prst="roundRect">
            <a:avLst>
              <a:gd name="adj" fmla="val 8333"/>
            </a:avLst>
          </a:prstGeom>
          <a:solidFill>
            <a:srgbClr val="162233"/>
          </a:solidFill>
          <a:ln w="12700">
            <a:solidFill>
              <a:srgbClr val="FFB703"/>
            </a:solidFill>
            <a:prstDash val="solid"/>
          </a:ln>
        </p:spPr>
      </p:sp>
      <p:sp>
        <p:nvSpPr>
          <p:cNvPr id="19" name="Text 17"/>
          <p:cNvSpPr/>
          <p:nvPr/>
        </p:nvSpPr>
        <p:spPr>
          <a:xfrm>
            <a:off x="530352" y="5102352"/>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Discussion:</a:t>
            </a:r>
            <a:endParaRPr lang="en-US" sz="1300" dirty="0"/>
          </a:p>
        </p:txBody>
      </p:sp>
      <p:sp>
        <p:nvSpPr>
          <p:cNvPr id="20" name="Text 18"/>
          <p:cNvSpPr/>
          <p:nvPr/>
        </p:nvSpPr>
        <p:spPr>
          <a:xfrm>
            <a:off x="530352" y="5468112"/>
            <a:ext cx="10917936" cy="32918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If ancient plants captured energy from the sun millions of years ago, and that energy is still stored in oil today — what does burning oil actually release?</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Two-Source Practice — Comparing Information</a:t>
            </a:r>
            <a:endParaRPr lang="en-US" sz="1600" dirty="0"/>
          </a:p>
        </p:txBody>
      </p:sp>
      <p:sp>
        <p:nvSpPr>
          <p:cNvPr id="5" name="Shape 3"/>
          <p:cNvSpPr/>
          <p:nvPr/>
        </p:nvSpPr>
        <p:spPr>
          <a:xfrm>
            <a:off x="365760" y="749808"/>
            <a:ext cx="11247120" cy="621792"/>
          </a:xfrm>
          <a:prstGeom prst="roundRect">
            <a:avLst>
              <a:gd name="adj" fmla="val 11765"/>
            </a:avLst>
          </a:prstGeom>
          <a:solidFill>
            <a:srgbClr val="162233"/>
          </a:solidFill>
          <a:ln w="12700">
            <a:solidFill>
              <a:srgbClr val="4CC9F0"/>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Scientists compare at least TWO sources before making a claim. Practice this skill now.</a:t>
            </a:r>
            <a:endParaRPr lang="en-US" sz="1300" dirty="0"/>
          </a:p>
        </p:txBody>
      </p:sp>
      <p:sp>
        <p:nvSpPr>
          <p:cNvPr id="7" name="Shape 5"/>
          <p:cNvSpPr/>
          <p:nvPr/>
        </p:nvSpPr>
        <p:spPr>
          <a:xfrm>
            <a:off x="365760" y="1499616"/>
            <a:ext cx="5394960" cy="2852928"/>
          </a:xfrm>
          <a:prstGeom prst="roundRect">
            <a:avLst>
              <a:gd name="adj" fmla="val 2564"/>
            </a:avLst>
          </a:prstGeom>
          <a:solidFill>
            <a:srgbClr val="1E2F45"/>
          </a:solidFill>
          <a:ln w="12700">
            <a:solidFill>
              <a:srgbClr val="2DC653"/>
            </a:solidFill>
            <a:prstDash val="solid"/>
          </a:ln>
        </p:spPr>
      </p:sp>
      <p:sp>
        <p:nvSpPr>
          <p:cNvPr id="8" name="Text 6"/>
          <p:cNvSpPr/>
          <p:nvPr/>
        </p:nvSpPr>
        <p:spPr>
          <a:xfrm>
            <a:off x="548640" y="1572768"/>
            <a:ext cx="50292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Source 1: News Article (2024)</a:t>
            </a:r>
            <a:endParaRPr lang="en-US" sz="1200" dirty="0"/>
          </a:p>
        </p:txBody>
      </p:sp>
      <p:sp>
        <p:nvSpPr>
          <p:cNvPr id="9" name="Shape 7"/>
          <p:cNvSpPr/>
          <p:nvPr/>
        </p:nvSpPr>
        <p:spPr>
          <a:xfrm>
            <a:off x="0" y="6629400"/>
            <a:ext cx="12192000" cy="228600"/>
          </a:xfrm>
          <a:prstGeom prst="rect">
            <a:avLst/>
          </a:prstGeom>
          <a:solidFill>
            <a:srgbClr val="162233"/>
          </a:solidFill>
          <a:ln/>
        </p:spPr>
      </p:sp>
      <p:sp>
        <p:nvSpPr>
          <p:cNvPr id="10" name="Text 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Florida Energy Sources: What Does the Data Say?</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2DC65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Florida gets energy from many sources. Which are renewable? Which are nonrenewable?</a:t>
            </a:r>
            <a:endParaRPr lang="en-US" sz="1300" dirty="0"/>
          </a:p>
        </p:txBody>
      </p:sp>
      <p:sp>
        <p:nvSpPr>
          <p:cNvPr id="7" name="Shape 5"/>
          <p:cNvSpPr/>
          <p:nvPr/>
        </p:nvSpPr>
        <p:spPr>
          <a:xfrm>
            <a:off x="365760" y="1463040"/>
            <a:ext cx="3474720" cy="2926080"/>
          </a:xfrm>
          <a:prstGeom prst="roundRect">
            <a:avLst>
              <a:gd name="adj" fmla="val 2500"/>
            </a:avLst>
          </a:prstGeom>
          <a:solidFill>
            <a:srgbClr val="1E2F45"/>
          </a:solidFill>
          <a:ln w="12700">
            <a:solidFill>
              <a:srgbClr val="F4736A"/>
            </a:solidFill>
            <a:prstDash val="solid"/>
          </a:ln>
        </p:spPr>
      </p:sp>
      <p:sp>
        <p:nvSpPr>
          <p:cNvPr id="8" name="Text 6"/>
          <p:cNvSpPr/>
          <p:nvPr/>
        </p:nvSpPr>
        <p:spPr>
          <a:xfrm>
            <a:off x="548640" y="1536192"/>
            <a:ext cx="3200400" cy="384048"/>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Natural Gas: 74%</a:t>
            </a:r>
            <a:endParaRPr lang="en-US" sz="1400" dirty="0"/>
          </a:p>
        </p:txBody>
      </p:sp>
      <p:sp>
        <p:nvSpPr>
          <p:cNvPr id="9" name="Text 7"/>
          <p:cNvSpPr/>
          <p:nvPr/>
        </p:nvSpPr>
        <p:spPr>
          <a:xfrm>
            <a:off x="548640" y="1975104"/>
            <a:ext cx="3200400" cy="9144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Nonrenewable — burned once, gone forever. Forms over millions of years underground.</a:t>
            </a:r>
            <a:endParaRPr lang="en-US" sz="1100" dirty="0"/>
          </a:p>
        </p:txBody>
      </p:sp>
      <p:sp>
        <p:nvSpPr>
          <p:cNvPr id="10" name="Shape 8"/>
          <p:cNvSpPr/>
          <p:nvPr/>
        </p:nvSpPr>
        <p:spPr>
          <a:xfrm>
            <a:off x="4023360" y="1463040"/>
            <a:ext cx="3474720" cy="2926080"/>
          </a:xfrm>
          <a:prstGeom prst="roundRect">
            <a:avLst>
              <a:gd name="adj" fmla="val 2500"/>
            </a:avLst>
          </a:prstGeom>
          <a:solidFill>
            <a:srgbClr val="1E2F45"/>
          </a:solidFill>
          <a:ln w="12700">
            <a:solidFill>
              <a:srgbClr val="2DC653"/>
            </a:solidFill>
            <a:prstDash val="solid"/>
          </a:ln>
        </p:spPr>
      </p:sp>
      <p:sp>
        <p:nvSpPr>
          <p:cNvPr id="11" name="Text 9"/>
          <p:cNvSpPr/>
          <p:nvPr/>
        </p:nvSpPr>
        <p:spPr>
          <a:xfrm>
            <a:off x="4206240" y="1536192"/>
            <a:ext cx="3200400" cy="384048"/>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Solar + Wind: 12%</a:t>
            </a:r>
            <a:endParaRPr lang="en-US" sz="1400" dirty="0"/>
          </a:p>
        </p:txBody>
      </p:sp>
      <p:sp>
        <p:nvSpPr>
          <p:cNvPr id="12" name="Text 10"/>
          <p:cNvSpPr/>
          <p:nvPr/>
        </p:nvSpPr>
        <p:spPr>
          <a:xfrm>
            <a:off x="4206240" y="1975104"/>
            <a:ext cx="3200400" cy="9144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Renewable — restored naturally. Sun and wind keep coming back. Florida has huge solar potential.</a:t>
            </a:r>
            <a:endParaRPr lang="en-US" sz="1100" dirty="0"/>
          </a:p>
        </p:txBody>
      </p:sp>
      <p:sp>
        <p:nvSpPr>
          <p:cNvPr id="13" name="Shape 11"/>
          <p:cNvSpPr/>
          <p:nvPr/>
        </p:nvSpPr>
        <p:spPr>
          <a:xfrm>
            <a:off x="7680960" y="1463040"/>
            <a:ext cx="3657600" cy="2926080"/>
          </a:xfrm>
          <a:prstGeom prst="roundRect">
            <a:avLst>
              <a:gd name="adj" fmla="val 2500"/>
            </a:avLst>
          </a:prstGeom>
          <a:solidFill>
            <a:srgbClr val="1E2F45"/>
          </a:solidFill>
          <a:ln w="12700">
            <a:solidFill>
              <a:srgbClr val="FFB703"/>
            </a:solidFill>
            <a:prstDash val="solid"/>
          </a:ln>
        </p:spPr>
      </p:sp>
      <p:sp>
        <p:nvSpPr>
          <p:cNvPr id="14" name="Text 12"/>
          <p:cNvSpPr/>
          <p:nvPr/>
        </p:nvSpPr>
        <p:spPr>
          <a:xfrm>
            <a:off x="7863840" y="1536192"/>
            <a:ext cx="3291840" cy="384048"/>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Nuclear: 13%</a:t>
            </a:r>
            <a:endParaRPr lang="en-US" sz="1400" dirty="0"/>
          </a:p>
        </p:txBody>
      </p:sp>
      <p:sp>
        <p:nvSpPr>
          <p:cNvPr id="15" name="Text 13"/>
          <p:cNvSpPr/>
          <p:nvPr/>
        </p:nvSpPr>
        <p:spPr>
          <a:xfrm>
            <a:off x="7863840" y="1975104"/>
            <a:ext cx="3291840" cy="91440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Special case: uranium is nonrenewable but produces no air pollution. Scientists debate its role.</a:t>
            </a:r>
            <a:endParaRPr lang="en-US" sz="1100" dirty="0"/>
          </a:p>
        </p:txBody>
      </p:sp>
      <p:sp>
        <p:nvSpPr>
          <p:cNvPr id="16" name="Shape 14"/>
          <p:cNvSpPr/>
          <p:nvPr/>
        </p:nvSpPr>
        <p:spPr>
          <a:xfrm>
            <a:off x="365760" y="4535424"/>
            <a:ext cx="11247120" cy="877824"/>
          </a:xfrm>
          <a:prstGeom prst="roundRect">
            <a:avLst>
              <a:gd name="adj" fmla="val 8333"/>
            </a:avLst>
          </a:prstGeom>
          <a:solidFill>
            <a:srgbClr val="162233"/>
          </a:solidFill>
          <a:ln w="12700">
            <a:solidFill>
              <a:srgbClr val="FFB703"/>
            </a:solidFill>
            <a:prstDash val="solid"/>
          </a:ln>
        </p:spPr>
      </p:sp>
      <p:sp>
        <p:nvSpPr>
          <p:cNvPr id="17" name="Text 15"/>
          <p:cNvSpPr/>
          <p:nvPr/>
        </p:nvSpPr>
        <p:spPr>
          <a:xfrm>
            <a:off x="530352" y="4608576"/>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Data Question:</a:t>
            </a:r>
            <a:endParaRPr lang="en-US" sz="1300" dirty="0"/>
          </a:p>
        </p:txBody>
      </p:sp>
      <p:sp>
        <p:nvSpPr>
          <p:cNvPr id="18" name="Text 16"/>
          <p:cNvSpPr/>
          <p:nvPr/>
        </p:nvSpPr>
        <p:spPr>
          <a:xfrm>
            <a:off x="530352" y="4974336"/>
            <a:ext cx="10917936" cy="32918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If Florida increased solar to 50% and reduced natural gas to 37% — what would change about the state's energy supply?</a:t>
            </a:r>
            <a:endParaRPr lang="en-US" sz="12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What Makes a Resource Use Sustainable?</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Sustainability is about RATE — how fast we use vs. how fast it restores.</a:t>
            </a:r>
            <a:endParaRPr lang="en-US" sz="1300" dirty="0"/>
          </a:p>
        </p:txBody>
      </p:sp>
      <p:sp>
        <p:nvSpPr>
          <p:cNvPr id="7" name="Shape 5"/>
          <p:cNvSpPr/>
          <p:nvPr/>
        </p:nvSpPr>
        <p:spPr>
          <a:xfrm>
            <a:off x="365760" y="1463040"/>
            <a:ext cx="5394960" cy="2194560"/>
          </a:xfrm>
          <a:prstGeom prst="roundRect">
            <a:avLst>
              <a:gd name="adj" fmla="val 3333"/>
            </a:avLst>
          </a:prstGeom>
          <a:solidFill>
            <a:srgbClr val="1E2F45"/>
          </a:solidFill>
          <a:ln w="12700">
            <a:solidFill>
              <a:srgbClr val="2DC653"/>
            </a:solidFill>
            <a:prstDash val="solid"/>
          </a:ln>
        </p:spPr>
      </p:sp>
      <p:sp>
        <p:nvSpPr>
          <p:cNvPr id="8" name="Text 6"/>
          <p:cNvSpPr/>
          <p:nvPr/>
        </p:nvSpPr>
        <p:spPr>
          <a:xfrm>
            <a:off x="548640" y="1536192"/>
            <a:ext cx="5029200" cy="38404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SUSTAINABLE: Use Rate &lt; Restore Rate</a:t>
            </a:r>
            <a:endParaRPr lang="en-US" sz="1200" dirty="0"/>
          </a:p>
        </p:txBody>
      </p:sp>
      <p:sp>
        <p:nvSpPr>
          <p:cNvPr id="9" name="Text 7"/>
          <p:cNvSpPr/>
          <p:nvPr/>
        </p:nvSpPr>
        <p:spPr>
          <a:xfrm>
            <a:off x="548640" y="1975104"/>
            <a:ext cx="5029200" cy="1463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Example: A forest where 1 tree is cut for every 2 planted. The supply stays steady over time.</a:t>
            </a:r>
            <a:endParaRPr lang="en-US" sz="1100" dirty="0"/>
          </a:p>
        </p:txBody>
      </p:sp>
      <p:sp>
        <p:nvSpPr>
          <p:cNvPr id="10" name="Shape 8"/>
          <p:cNvSpPr/>
          <p:nvPr/>
        </p:nvSpPr>
        <p:spPr>
          <a:xfrm>
            <a:off x="5943600" y="1463040"/>
            <a:ext cx="5394960" cy="2194560"/>
          </a:xfrm>
          <a:prstGeom prst="roundRect">
            <a:avLst>
              <a:gd name="adj" fmla="val 3333"/>
            </a:avLst>
          </a:prstGeom>
          <a:solidFill>
            <a:srgbClr val="1E2F45"/>
          </a:solidFill>
          <a:ln w="12700">
            <a:solidFill>
              <a:srgbClr val="F4736A"/>
            </a:solidFill>
            <a:prstDash val="solid"/>
          </a:ln>
        </p:spPr>
      </p:sp>
      <p:sp>
        <p:nvSpPr>
          <p:cNvPr id="11" name="Text 9"/>
          <p:cNvSpPr/>
          <p:nvPr/>
        </p:nvSpPr>
        <p:spPr>
          <a:xfrm>
            <a:off x="6126480" y="1536192"/>
            <a:ext cx="5029200" cy="384048"/>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UNSUSTAINABLE: Use Rate &gt; Restore Rate</a:t>
            </a:r>
            <a:endParaRPr lang="en-US" sz="1200" dirty="0"/>
          </a:p>
        </p:txBody>
      </p:sp>
      <p:sp>
        <p:nvSpPr>
          <p:cNvPr id="12" name="Text 10"/>
          <p:cNvSpPr/>
          <p:nvPr/>
        </p:nvSpPr>
        <p:spPr>
          <a:xfrm>
            <a:off x="6126480" y="1975104"/>
            <a:ext cx="5029200" cy="1463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Example: Pumping groundwater faster than rain can refill it. The aquifer level drops each year.</a:t>
            </a:r>
            <a:endParaRPr lang="en-US" sz="1100" dirty="0"/>
          </a:p>
        </p:txBody>
      </p:sp>
      <p:sp>
        <p:nvSpPr>
          <p:cNvPr id="13" name="Shape 11"/>
          <p:cNvSpPr/>
          <p:nvPr/>
        </p:nvSpPr>
        <p:spPr>
          <a:xfrm>
            <a:off x="365760" y="3803904"/>
            <a:ext cx="11247120" cy="1389888"/>
          </a:xfrm>
          <a:prstGeom prst="roundRect">
            <a:avLst>
              <a:gd name="adj" fmla="val 5263"/>
            </a:avLst>
          </a:prstGeom>
          <a:solidFill>
            <a:srgbClr val="1E2F45"/>
          </a:solidFill>
          <a:ln w="12700">
            <a:solidFill>
              <a:srgbClr val="4CC9F0"/>
            </a:solidFill>
            <a:prstDash val="solid"/>
          </a:ln>
        </p:spPr>
      </p:sp>
      <p:sp>
        <p:nvSpPr>
          <p:cNvPr id="14" name="Text 12"/>
          <p:cNvSpPr/>
          <p:nvPr/>
        </p:nvSpPr>
        <p:spPr>
          <a:xfrm>
            <a:off x="548640" y="3877056"/>
            <a:ext cx="10972800" cy="1243584"/>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Florida case: The Floridan Aquifer supplies drinking water to millions. If pumping outpaces recharge, the water level drops and saltwater can intrude from the coast — making the water undrinkable.</a:t>
            </a:r>
            <a:endParaRPr lang="en-US" sz="12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Pre-CER: What Evidence Have We Gathered?</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Review the key evidence before writing your CER. Pick the strongest facts you observed.</a:t>
            </a:r>
            <a:endParaRPr lang="en-US" sz="1300" dirty="0"/>
          </a:p>
        </p:txBody>
      </p:sp>
      <p:sp>
        <p:nvSpPr>
          <p:cNvPr id="7" name="Shape 5"/>
          <p:cNvSpPr/>
          <p:nvPr/>
        </p:nvSpPr>
        <p:spPr>
          <a:xfrm>
            <a:off x="365760" y="1463040"/>
            <a:ext cx="11247120" cy="640080"/>
          </a:xfrm>
          <a:prstGeom prst="roundRect">
            <a:avLst>
              <a:gd name="adj" fmla="val 11429"/>
            </a:avLst>
          </a:prstGeom>
          <a:solidFill>
            <a:srgbClr val="1E2F45"/>
          </a:solidFill>
          <a:ln w="12700">
            <a:solidFill>
              <a:srgbClr val="4CC9F0"/>
            </a:solidFill>
            <a:prstDash val="solid"/>
          </a:ln>
        </p:spPr>
      </p:sp>
      <p:sp>
        <p:nvSpPr>
          <p:cNvPr id="8" name="Text 6"/>
          <p:cNvSpPr/>
          <p:nvPr/>
        </p:nvSpPr>
        <p:spPr>
          <a:xfrm>
            <a:off x="548640" y="1536192"/>
            <a:ext cx="10972800" cy="49377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Fossil fuels form over 300+ million years but burn in hours. The restore rate is essentially zero.</a:t>
            </a:r>
            <a:endParaRPr lang="en-US" sz="1150" dirty="0"/>
          </a:p>
        </p:txBody>
      </p:sp>
      <p:sp>
        <p:nvSpPr>
          <p:cNvPr id="9" name="Shape 7"/>
          <p:cNvSpPr/>
          <p:nvPr/>
        </p:nvSpPr>
        <p:spPr>
          <a:xfrm>
            <a:off x="365760" y="2176272"/>
            <a:ext cx="11247120" cy="640080"/>
          </a:xfrm>
          <a:prstGeom prst="roundRect">
            <a:avLst>
              <a:gd name="adj" fmla="val 11429"/>
            </a:avLst>
          </a:prstGeom>
          <a:solidFill>
            <a:srgbClr val="1E2F45"/>
          </a:solidFill>
          <a:ln w="12700">
            <a:solidFill>
              <a:srgbClr val="4CC9F0"/>
            </a:solidFill>
            <a:prstDash val="solid"/>
          </a:ln>
        </p:spPr>
      </p:sp>
      <p:sp>
        <p:nvSpPr>
          <p:cNvPr id="10" name="Text 8"/>
          <p:cNvSpPr/>
          <p:nvPr/>
        </p:nvSpPr>
        <p:spPr>
          <a:xfrm>
            <a:off x="548640" y="2249424"/>
            <a:ext cx="10972800" cy="49377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Florida gets 74% of electricity from natural gas — a nonrenewable fuel.</a:t>
            </a:r>
            <a:endParaRPr lang="en-US" sz="1150" dirty="0"/>
          </a:p>
        </p:txBody>
      </p:sp>
      <p:sp>
        <p:nvSpPr>
          <p:cNvPr id="11" name="Shape 9"/>
          <p:cNvSpPr/>
          <p:nvPr/>
        </p:nvSpPr>
        <p:spPr>
          <a:xfrm>
            <a:off x="365760" y="2889504"/>
            <a:ext cx="11247120" cy="640080"/>
          </a:xfrm>
          <a:prstGeom prst="roundRect">
            <a:avLst>
              <a:gd name="adj" fmla="val 11429"/>
            </a:avLst>
          </a:prstGeom>
          <a:solidFill>
            <a:srgbClr val="1E2F45"/>
          </a:solidFill>
          <a:ln w="12700">
            <a:solidFill>
              <a:srgbClr val="4CC9F0"/>
            </a:solidFill>
            <a:prstDash val="solid"/>
          </a:ln>
        </p:spPr>
      </p:sp>
      <p:sp>
        <p:nvSpPr>
          <p:cNvPr id="12" name="Text 10"/>
          <p:cNvSpPr/>
          <p:nvPr/>
        </p:nvSpPr>
        <p:spPr>
          <a:xfrm>
            <a:off x="548640" y="2962656"/>
            <a:ext cx="10972800" cy="49377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Solar and wind are renewed daily by the sun and Earth processes — supply never runs out.</a:t>
            </a:r>
            <a:endParaRPr lang="en-US" sz="1150" dirty="0"/>
          </a:p>
        </p:txBody>
      </p:sp>
      <p:sp>
        <p:nvSpPr>
          <p:cNvPr id="13" name="Shape 11"/>
          <p:cNvSpPr/>
          <p:nvPr/>
        </p:nvSpPr>
        <p:spPr>
          <a:xfrm>
            <a:off x="365760" y="3602736"/>
            <a:ext cx="11247120" cy="640080"/>
          </a:xfrm>
          <a:prstGeom prst="roundRect">
            <a:avLst>
              <a:gd name="adj" fmla="val 11429"/>
            </a:avLst>
          </a:prstGeom>
          <a:solidFill>
            <a:srgbClr val="1E2F45"/>
          </a:solidFill>
          <a:ln w="12700">
            <a:solidFill>
              <a:srgbClr val="4CC9F0"/>
            </a:solidFill>
            <a:prstDash val="solid"/>
          </a:ln>
        </p:spPr>
      </p:sp>
      <p:sp>
        <p:nvSpPr>
          <p:cNvPr id="14" name="Text 12"/>
          <p:cNvSpPr/>
          <p:nvPr/>
        </p:nvSpPr>
        <p:spPr>
          <a:xfrm>
            <a:off x="548640" y="3675888"/>
            <a:ext cx="10972800" cy="49377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Sustainable use means use rate is less than or equal to restore rate.</a:t>
            </a:r>
            <a:endParaRPr lang="en-US" sz="1150" dirty="0"/>
          </a:p>
        </p:txBody>
      </p:sp>
      <p:sp>
        <p:nvSpPr>
          <p:cNvPr id="15" name="Shape 13"/>
          <p:cNvSpPr/>
          <p:nvPr/>
        </p:nvSpPr>
        <p:spPr>
          <a:xfrm>
            <a:off x="365760" y="4315968"/>
            <a:ext cx="11247120" cy="640080"/>
          </a:xfrm>
          <a:prstGeom prst="roundRect">
            <a:avLst>
              <a:gd name="adj" fmla="val 11429"/>
            </a:avLst>
          </a:prstGeom>
          <a:solidFill>
            <a:srgbClr val="1E2F45"/>
          </a:solidFill>
          <a:ln w="12700">
            <a:solidFill>
              <a:srgbClr val="4CC9F0"/>
            </a:solidFill>
            <a:prstDash val="solid"/>
          </a:ln>
        </p:spPr>
      </p:sp>
      <p:sp>
        <p:nvSpPr>
          <p:cNvPr id="16" name="Text 14"/>
          <p:cNvSpPr/>
          <p:nvPr/>
        </p:nvSpPr>
        <p:spPr>
          <a:xfrm>
            <a:off x="548640" y="4389120"/>
            <a:ext cx="10972800" cy="49377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Even renewable resources can be depleted if overused faster than they restore.</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Assignment: CER — Renewable vs. Nonrenewable</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Assignment: Write a complete CER using evidence from today's lesson.</a:t>
            </a:r>
            <a:endParaRPr lang="en-US" sz="1300" dirty="0"/>
          </a:p>
        </p:txBody>
      </p:sp>
      <p:sp>
        <p:nvSpPr>
          <p:cNvPr id="7" name="Shape 5"/>
          <p:cNvSpPr/>
          <p:nvPr/>
        </p:nvSpPr>
        <p:spPr>
          <a:xfrm>
            <a:off x="365760" y="1463040"/>
            <a:ext cx="11247120" cy="1316736"/>
          </a:xfrm>
          <a:prstGeom prst="roundRect">
            <a:avLst>
              <a:gd name="adj" fmla="val 5556"/>
            </a:avLst>
          </a:prstGeom>
          <a:solidFill>
            <a:srgbClr val="1E2F45"/>
          </a:solidFill>
          <a:ln w="12700">
            <a:solidFill>
              <a:srgbClr val="FFB703"/>
            </a:solidFill>
            <a:prstDash val="solid"/>
          </a:ln>
        </p:spPr>
      </p:sp>
      <p:sp>
        <p:nvSpPr>
          <p:cNvPr id="8" name="Text 6"/>
          <p:cNvSpPr/>
          <p:nvPr/>
        </p:nvSpPr>
        <p:spPr>
          <a:xfrm>
            <a:off x="548640" y="1536192"/>
            <a:ext cx="10972800" cy="1170432"/>
          </a:xfrm>
          <a:prstGeom prst="rect">
            <a:avLst/>
          </a:prstGeom>
          <a:noFill/>
          <a:ln/>
        </p:spPr>
        <p:txBody>
          <a:bodyPr wrap="square" rtlCol="0" anchor="ctr"/>
          <a:lstStyle/>
          <a:p>
            <a:pPr indent="0" marL="0">
              <a:buNone/>
            </a:pPr>
            <a:r>
              <a:rPr lang="en-US" sz="1200" dirty="0">
                <a:solidFill>
                  <a:srgbClr val="FFB703"/>
                </a:solidFill>
                <a:latin typeface="Calibri" pitchFamily="34" charset="0"/>
                <a:ea typeface="Calibri" pitchFamily="34" charset="-122"/>
                <a:cs typeface="Calibri" pitchFamily="34" charset="-120"/>
              </a:rPr>
              <a:t>PROMPT: A student says fossil fuels and solar energy are both useful, so they should be treated the same way. Using what you learned, explain why scientists classify them differently.</a:t>
            </a:r>
            <a:endParaRPr lang="en-US" sz="1200" dirty="0"/>
          </a:p>
        </p:txBody>
      </p:sp>
      <p:sp>
        <p:nvSpPr>
          <p:cNvPr id="9" name="Shape 7"/>
          <p:cNvSpPr/>
          <p:nvPr/>
        </p:nvSpPr>
        <p:spPr>
          <a:xfrm>
            <a:off x="365760" y="2926080"/>
            <a:ext cx="3566160" cy="2377440"/>
          </a:xfrm>
          <a:prstGeom prst="roundRect">
            <a:avLst>
              <a:gd name="adj" fmla="val 3846"/>
            </a:avLst>
          </a:prstGeom>
          <a:solidFill>
            <a:srgbClr val="0A3D8F"/>
          </a:solidFill>
          <a:ln w="19050">
            <a:solidFill>
              <a:srgbClr val="1A5FBD"/>
            </a:solidFill>
            <a:prstDash val="solid"/>
          </a:ln>
        </p:spPr>
      </p:sp>
      <p:sp>
        <p:nvSpPr>
          <p:cNvPr id="10" name="Shape 8"/>
          <p:cNvSpPr/>
          <p:nvPr/>
        </p:nvSpPr>
        <p:spPr>
          <a:xfrm>
            <a:off x="365760" y="2926080"/>
            <a:ext cx="3566160" cy="347472"/>
          </a:xfrm>
          <a:prstGeom prst="rect">
            <a:avLst/>
          </a:prstGeom>
          <a:solidFill>
            <a:srgbClr val="1A5FBD"/>
          </a:solidFill>
          <a:ln w="12700">
            <a:solidFill>
              <a:srgbClr val="1A5FBD"/>
            </a:solidFill>
            <a:prstDash val="solid"/>
          </a:ln>
        </p:spPr>
      </p:sp>
      <p:sp>
        <p:nvSpPr>
          <p:cNvPr id="11" name="Text 9"/>
          <p:cNvSpPr/>
          <p:nvPr/>
        </p:nvSpPr>
        <p:spPr>
          <a:xfrm>
            <a:off x="45720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2" name="Text 10"/>
          <p:cNvSpPr/>
          <p:nvPr/>
        </p:nvSpPr>
        <p:spPr>
          <a:xfrm>
            <a:off x="50292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State whether fossil fuels and solar should be treated the same or differently, and why.</a:t>
            </a:r>
            <a:endParaRPr lang="en-US" sz="1050" dirty="0"/>
          </a:p>
        </p:txBody>
      </p:sp>
      <p:sp>
        <p:nvSpPr>
          <p:cNvPr id="13" name="Shape 11"/>
          <p:cNvSpPr/>
          <p:nvPr/>
        </p:nvSpPr>
        <p:spPr>
          <a:xfrm>
            <a:off x="4114800" y="2926080"/>
            <a:ext cx="3566160" cy="2377440"/>
          </a:xfrm>
          <a:prstGeom prst="roundRect">
            <a:avLst>
              <a:gd name="adj" fmla="val 3846"/>
            </a:avLst>
          </a:prstGeom>
          <a:solidFill>
            <a:srgbClr val="145C35"/>
          </a:solidFill>
          <a:ln w="19050">
            <a:solidFill>
              <a:srgbClr val="228B50"/>
            </a:solidFill>
            <a:prstDash val="solid"/>
          </a:ln>
        </p:spPr>
      </p:sp>
      <p:sp>
        <p:nvSpPr>
          <p:cNvPr id="14" name="Shape 12"/>
          <p:cNvSpPr/>
          <p:nvPr/>
        </p:nvSpPr>
        <p:spPr>
          <a:xfrm>
            <a:off x="4114800" y="2926080"/>
            <a:ext cx="3566160" cy="347472"/>
          </a:xfrm>
          <a:prstGeom prst="rect">
            <a:avLst/>
          </a:prstGeom>
          <a:solidFill>
            <a:srgbClr val="228B50"/>
          </a:solidFill>
          <a:ln w="12700">
            <a:solidFill>
              <a:srgbClr val="228B50"/>
            </a:solidFill>
            <a:prstDash val="solid"/>
          </a:ln>
        </p:spPr>
      </p:sp>
      <p:sp>
        <p:nvSpPr>
          <p:cNvPr id="15" name="Text 13"/>
          <p:cNvSpPr/>
          <p:nvPr/>
        </p:nvSpPr>
        <p:spPr>
          <a:xfrm>
            <a:off x="420624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6" name="Text 14"/>
          <p:cNvSpPr/>
          <p:nvPr/>
        </p:nvSpPr>
        <p:spPr>
          <a:xfrm>
            <a:off x="425196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Use at least 2 specific facts from the lesson (formation time, restore rate, Florida data).</a:t>
            </a:r>
            <a:endParaRPr lang="en-US" sz="1050" dirty="0"/>
          </a:p>
        </p:txBody>
      </p:sp>
      <p:sp>
        <p:nvSpPr>
          <p:cNvPr id="17" name="Shape 15"/>
          <p:cNvSpPr/>
          <p:nvPr/>
        </p:nvSpPr>
        <p:spPr>
          <a:xfrm>
            <a:off x="7863840" y="2926080"/>
            <a:ext cx="3566160" cy="2377440"/>
          </a:xfrm>
          <a:prstGeom prst="roundRect">
            <a:avLst>
              <a:gd name="adj" fmla="val 3846"/>
            </a:avLst>
          </a:prstGeom>
          <a:solidFill>
            <a:srgbClr val="7A3200"/>
          </a:solidFill>
          <a:ln w="19050">
            <a:solidFill>
              <a:srgbClr val="B04A00"/>
            </a:solidFill>
            <a:prstDash val="solid"/>
          </a:ln>
        </p:spPr>
      </p:sp>
      <p:sp>
        <p:nvSpPr>
          <p:cNvPr id="18" name="Shape 16"/>
          <p:cNvSpPr/>
          <p:nvPr/>
        </p:nvSpPr>
        <p:spPr>
          <a:xfrm>
            <a:off x="7863840" y="2926080"/>
            <a:ext cx="3566160" cy="347472"/>
          </a:xfrm>
          <a:prstGeom prst="rect">
            <a:avLst/>
          </a:prstGeom>
          <a:solidFill>
            <a:srgbClr val="B04A00"/>
          </a:solidFill>
          <a:ln w="12700">
            <a:solidFill>
              <a:srgbClr val="B04A00"/>
            </a:solidFill>
            <a:prstDash val="solid"/>
          </a:ln>
        </p:spPr>
      </p:sp>
      <p:sp>
        <p:nvSpPr>
          <p:cNvPr id="19" name="Text 17"/>
          <p:cNvSpPr/>
          <p:nvPr/>
        </p:nvSpPr>
        <p:spPr>
          <a:xfrm>
            <a:off x="7955280" y="294436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20" name="Text 18"/>
          <p:cNvSpPr/>
          <p:nvPr/>
        </p:nvSpPr>
        <p:spPr>
          <a:xfrm>
            <a:off x="8001000" y="3328416"/>
            <a:ext cx="3291840" cy="18836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Explain how your evidence proves that the classification matters for how we use each resource.</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15.01  ·  Renewable and Nonrenewable Resources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2026-07-13T20:40:19Z</dcterms:created>
  <dcterms:modified xsi:type="dcterms:W3CDTF">2026-07-13T20:40:19Z</dcterms:modified>
</cp:coreProperties>
</file>